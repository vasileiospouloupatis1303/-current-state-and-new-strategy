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94" r:id="rId5"/>
  </p:sldMasterIdLst>
  <p:notesMasterIdLst>
    <p:notesMasterId r:id="rId20"/>
  </p:notesMasterIdLst>
  <p:handoutMasterIdLst>
    <p:handoutMasterId r:id="rId21"/>
  </p:handoutMasterIdLst>
  <p:sldIdLst>
    <p:sldId id="256" r:id="rId6"/>
    <p:sldId id="2147483277" r:id="rId7"/>
    <p:sldId id="2147483278" r:id="rId8"/>
    <p:sldId id="2147483279" r:id="rId9"/>
    <p:sldId id="261" r:id="rId10"/>
    <p:sldId id="2147483206" r:id="rId11"/>
    <p:sldId id="2147483254" r:id="rId12"/>
    <p:sldId id="260" r:id="rId13"/>
    <p:sldId id="263" r:id="rId14"/>
    <p:sldId id="2147483208" r:id="rId15"/>
    <p:sldId id="2147483223" r:id="rId16"/>
    <p:sldId id="2147483194" r:id="rId17"/>
    <p:sldId id="2147483241" r:id="rId18"/>
    <p:sldId id="4149" r:id="rId19"/>
  </p:sldIdLst>
  <p:sldSz cx="9144000" cy="5143500" type="screen16x9"/>
  <p:notesSz cx="6858000" cy="91440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AF44BC-110A-9ABD-94CC-CE7CCB82C80C}" name="Ntouniadaki Anthi" initials="AN" userId="S::adouniadaki@eurobank.gr::d4c5c8d7-3e48-4005-9f3f-aa96dd6f91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A"/>
    <a:srgbClr val="EA002A"/>
    <a:srgbClr val="009DD9"/>
    <a:srgbClr val="D7FBFD"/>
    <a:srgbClr val="EEF7FC"/>
    <a:srgbClr val="0BD0D9"/>
    <a:srgbClr val="0C2036"/>
    <a:srgbClr val="E9F5FB"/>
    <a:srgbClr val="50BBDD"/>
    <a:srgbClr val="9BE9F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00" autoAdjust="0"/>
    <p:restoredTop sz="94660"/>
  </p:normalViewPr>
  <p:slideViewPr>
    <p:cSldViewPr snapToGrid="0">
      <p:cViewPr varScale="1">
        <p:scale>
          <a:sx n="100" d="100"/>
          <a:sy n="100" d="100"/>
        </p:scale>
        <p:origin x="58"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gs" Target="tags/tag1.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file:///C:\Users\istrongylis\AppData\Local\Microsoft\Windows\INetCache\Content.Outlook\G8F7RCAM\&#913;&#931;&#922;&#919;&#931;&#919;%20&#913;&#933;&#926;&#919;&#931;&#919;&#931;%20&#917;&#928;&#921;&#932;&#927;&#922;%20CL%203.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l-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CL!$B$3:$B$7</c:f>
              <c:strCache>
                <c:ptCount val="5"/>
                <c:pt idx="0">
                  <c:v>2020</c:v>
                </c:pt>
                <c:pt idx="1">
                  <c:v>2021</c:v>
                </c:pt>
                <c:pt idx="2">
                  <c:v>2022</c:v>
                </c:pt>
                <c:pt idx="3">
                  <c:v>2023</c:v>
                </c:pt>
                <c:pt idx="4">
                  <c:v>10M 2024</c:v>
                </c:pt>
              </c:strCache>
            </c:strRef>
          </c:cat>
          <c:val>
            <c:numRef>
              <c:f>CL!$C$3:$C$7</c:f>
              <c:numCache>
                <c:formatCode>General</c:formatCode>
                <c:ptCount val="5"/>
                <c:pt idx="0">
                  <c:v>67.8</c:v>
                </c:pt>
                <c:pt idx="1">
                  <c:v>134</c:v>
                </c:pt>
                <c:pt idx="2">
                  <c:v>176.7</c:v>
                </c:pt>
                <c:pt idx="3">
                  <c:v>213.3</c:v>
                </c:pt>
                <c:pt idx="4">
                  <c:v>206.3</c:v>
                </c:pt>
              </c:numCache>
            </c:numRef>
          </c:val>
          <c:extLst>
            <c:ext xmlns:c16="http://schemas.microsoft.com/office/drawing/2014/chart" uri="{C3380CC4-5D6E-409C-BE32-E72D297353CC}">
              <c16:uniqueId val="{00000000-D2A8-4498-9EFA-B0139CFC4BFD}"/>
            </c:ext>
          </c:extLst>
        </c:ser>
        <c:dLbls>
          <c:showLegendKey val="0"/>
          <c:showVal val="0"/>
          <c:showCatName val="0"/>
          <c:showSerName val="0"/>
          <c:showPercent val="0"/>
          <c:showBubbleSize val="0"/>
        </c:dLbls>
        <c:gapWidth val="89"/>
        <c:overlap val="-27"/>
        <c:axId val="609059487"/>
        <c:axId val="609059967"/>
      </c:barChart>
      <c:catAx>
        <c:axId val="609059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l-GR"/>
          </a:p>
        </c:txPr>
        <c:crossAx val="609059967"/>
        <c:crosses val="autoZero"/>
        <c:auto val="1"/>
        <c:lblAlgn val="ctr"/>
        <c:lblOffset val="100"/>
        <c:noMultiLvlLbl val="0"/>
      </c:catAx>
      <c:valAx>
        <c:axId val="609059967"/>
        <c:scaling>
          <c:orientation val="minMax"/>
        </c:scaling>
        <c:delete val="1"/>
        <c:axPos val="l"/>
        <c:numFmt formatCode="General" sourceLinked="1"/>
        <c:majorTickMark val="none"/>
        <c:minorTickMark val="none"/>
        <c:tickLblPos val="nextTo"/>
        <c:crossAx val="6090594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l-G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Sheet2!$U$43</c:f>
              <c:strCache>
                <c:ptCount val="1"/>
                <c:pt idx="0">
                  <c:v>2022</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j-lt"/>
                    <a:ea typeface="+mn-ea"/>
                    <a:cs typeface="+mn-cs"/>
                  </a:defRPr>
                </a:pPr>
                <a:endParaRPr lang="el-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Sheet2!$V$42:$W$42</c:f>
              <c:strCache>
                <c:ptCount val="2"/>
                <c:pt idx="0">
                  <c:v>Branch (#)</c:v>
                </c:pt>
                <c:pt idx="1">
                  <c:v>e&amp;m Banking (#)</c:v>
                </c:pt>
              </c:strCache>
            </c:strRef>
          </c:cat>
          <c:val>
            <c:numRef>
              <c:f>Sheet2!$V$43:$W$43</c:f>
              <c:numCache>
                <c:formatCode>0.00%</c:formatCode>
                <c:ptCount val="2"/>
                <c:pt idx="0">
                  <c:v>0.63419999999999999</c:v>
                </c:pt>
                <c:pt idx="1">
                  <c:v>0.36070000000000002</c:v>
                </c:pt>
              </c:numCache>
            </c:numRef>
          </c:val>
          <c:extLst>
            <c:ext xmlns:c16="http://schemas.microsoft.com/office/drawing/2014/chart" uri="{C3380CC4-5D6E-409C-BE32-E72D297353CC}">
              <c16:uniqueId val="{00000000-4421-46EC-9C8E-7CEF3310BBC7}"/>
            </c:ext>
          </c:extLst>
        </c:ser>
        <c:ser>
          <c:idx val="1"/>
          <c:order val="1"/>
          <c:tx>
            <c:strRef>
              <c:f>Sheet2!$U$44</c:f>
              <c:strCache>
                <c:ptCount val="1"/>
                <c:pt idx="0">
                  <c:v>2023</c:v>
                </c:pt>
              </c:strCache>
            </c:strRef>
          </c:tx>
          <c:spPr>
            <a:solidFill>
              <a:srgbClr val="0F6FC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j-lt"/>
                    <a:ea typeface="+mn-ea"/>
                    <a:cs typeface="+mn-cs"/>
                  </a:defRPr>
                </a:pPr>
                <a:endParaRPr lang="el-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Sheet2!$V$42:$W$42</c:f>
              <c:strCache>
                <c:ptCount val="2"/>
                <c:pt idx="0">
                  <c:v>Branch (#)</c:v>
                </c:pt>
                <c:pt idx="1">
                  <c:v>e&amp;m Banking (#)</c:v>
                </c:pt>
              </c:strCache>
            </c:strRef>
          </c:cat>
          <c:val>
            <c:numRef>
              <c:f>Sheet2!$V$44:$W$44</c:f>
              <c:numCache>
                <c:formatCode>0.00%</c:formatCode>
                <c:ptCount val="2"/>
                <c:pt idx="0">
                  <c:v>0.51529999999999998</c:v>
                </c:pt>
                <c:pt idx="1">
                  <c:v>0.44900000000000001</c:v>
                </c:pt>
              </c:numCache>
            </c:numRef>
          </c:val>
          <c:extLst>
            <c:ext xmlns:c16="http://schemas.microsoft.com/office/drawing/2014/chart" uri="{C3380CC4-5D6E-409C-BE32-E72D297353CC}">
              <c16:uniqueId val="{00000001-4421-46EC-9C8E-7CEF3310BBC7}"/>
            </c:ext>
          </c:extLst>
        </c:ser>
        <c:ser>
          <c:idx val="2"/>
          <c:order val="2"/>
          <c:tx>
            <c:strRef>
              <c:f>Sheet2!$U$45</c:f>
              <c:strCache>
                <c:ptCount val="1"/>
                <c:pt idx="0">
                  <c:v>2024 YtD</c:v>
                </c:pt>
              </c:strCache>
            </c:strRef>
          </c:tx>
          <c:spPr>
            <a:solidFill>
              <a:srgbClr val="DBEFF9"/>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j-lt"/>
                      <a:ea typeface="+mn-ea"/>
                      <a:cs typeface="+mn-cs"/>
                    </a:defRPr>
                  </a:pPr>
                  <a:endParaRPr lang="el-GR"/>
                </a:p>
              </c:txPr>
              <c:dLblPos val="outEnd"/>
              <c:showLegendKey val="0"/>
              <c:showVal val="1"/>
              <c:showCatName val="0"/>
              <c:showSerName val="0"/>
              <c:showPercent val="0"/>
              <c:showBubbleSize val="0"/>
              <c:extLst>
                <c:ext xmlns:c16="http://schemas.microsoft.com/office/drawing/2014/chart" uri="{C3380CC4-5D6E-409C-BE32-E72D297353CC}">
                  <c16:uniqueId val="{00000003-4421-46EC-9C8E-7CEF3310BBC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j-lt"/>
                    <a:ea typeface="+mn-ea"/>
                    <a:cs typeface="+mn-cs"/>
                  </a:defRPr>
                </a:pPr>
                <a:endParaRPr lang="el-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Sheet2!$V$42:$W$42</c:f>
              <c:strCache>
                <c:ptCount val="2"/>
                <c:pt idx="0">
                  <c:v>Branch (#)</c:v>
                </c:pt>
                <c:pt idx="1">
                  <c:v>e&amp;m Banking (#)</c:v>
                </c:pt>
              </c:strCache>
            </c:strRef>
          </c:cat>
          <c:val>
            <c:numRef>
              <c:f>Sheet2!$V$45:$W$45</c:f>
              <c:numCache>
                <c:formatCode>0.00%</c:formatCode>
                <c:ptCount val="2"/>
                <c:pt idx="0">
                  <c:v>0.44890000000000002</c:v>
                </c:pt>
                <c:pt idx="1">
                  <c:v>0.50600000000000001</c:v>
                </c:pt>
              </c:numCache>
            </c:numRef>
          </c:val>
          <c:extLst>
            <c:ext xmlns:c16="http://schemas.microsoft.com/office/drawing/2014/chart" uri="{C3380CC4-5D6E-409C-BE32-E72D297353CC}">
              <c16:uniqueId val="{00000002-4421-46EC-9C8E-7CEF3310BBC7}"/>
            </c:ext>
          </c:extLst>
        </c:ser>
        <c:dLbls>
          <c:showLegendKey val="0"/>
          <c:showVal val="0"/>
          <c:showCatName val="0"/>
          <c:showSerName val="0"/>
          <c:showPercent val="0"/>
          <c:showBubbleSize val="0"/>
        </c:dLbls>
        <c:gapWidth val="219"/>
        <c:overlap val="-27"/>
        <c:axId val="639070367"/>
        <c:axId val="639068447"/>
      </c:barChart>
      <c:catAx>
        <c:axId val="6390703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j-lt"/>
                <a:ea typeface="+mn-ea"/>
                <a:cs typeface="+mn-cs"/>
              </a:defRPr>
            </a:pPr>
            <a:endParaRPr lang="el-GR"/>
          </a:p>
        </c:txPr>
        <c:crossAx val="639068447"/>
        <c:crosses val="autoZero"/>
        <c:auto val="1"/>
        <c:lblAlgn val="ctr"/>
        <c:lblOffset val="100"/>
        <c:noMultiLvlLbl val="0"/>
      </c:catAx>
      <c:valAx>
        <c:axId val="639068447"/>
        <c:scaling>
          <c:orientation val="minMax"/>
        </c:scaling>
        <c:delete val="1"/>
        <c:axPos val="l"/>
        <c:numFmt formatCode="0.00%" sourceLinked="1"/>
        <c:majorTickMark val="none"/>
        <c:minorTickMark val="none"/>
        <c:tickLblPos val="nextTo"/>
        <c:crossAx val="6390703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j-lt"/>
              <a:ea typeface="+mn-ea"/>
              <a:cs typeface="+mn-cs"/>
            </a:defRPr>
          </a:pPr>
          <a:endParaRPr lang="el-GR"/>
        </a:p>
      </c:txPr>
    </c:legend>
    <c:plotVisOnly val="1"/>
    <c:dispBlanksAs val="gap"/>
    <c:showDLblsOverMax val="0"/>
  </c:chart>
  <c:spPr>
    <a:noFill/>
    <a:ln>
      <a:noFill/>
    </a:ln>
    <a:effectLst/>
  </c:spPr>
  <c:txPr>
    <a:bodyPr/>
    <a:lstStyle/>
    <a:p>
      <a:pPr>
        <a:defRPr/>
      </a:pPr>
      <a:endParaRPr lang="el-G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CF3AF0-5CC4-0A49-A0B5-6C6BA6C79F7E}" type="datetime1">
              <a:rPr lang="en-US" smtClean="0"/>
              <a:t>7/6/2026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83BC7A2-F7F6-504B-9F37-42FF69C1A84C}" type="slidenum">
              <a:rPr lang="en-US" smtClean="0"/>
              <a:t>‹#›</a:t>
            </a:fld>
            <a:endParaRPr lang="en-US"/>
          </a:p>
        </p:txBody>
      </p:sp>
    </p:spTree>
    <p:extLst>
      <p:ext uri="{BB962C8B-B14F-4D97-AF65-F5344CB8AC3E}">
        <p14:creationId xmlns:p14="http://schemas.microsoft.com/office/powerpoint/2010/main" val="160661275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945BA8-0388-6E48-9532-FB618723A6FA}" type="datetime1">
              <a:rPr lang="en-US" smtClean="0"/>
              <a:t>7/6/2026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1F1E16-EAD9-4D43-9220-03E47454E195}" type="slidenum">
              <a:rPr lang="en-US" smtClean="0"/>
              <a:t>‹#›</a:t>
            </a:fld>
            <a:endParaRPr lang="en-US"/>
          </a:p>
        </p:txBody>
      </p:sp>
    </p:spTree>
    <p:extLst>
      <p:ext uri="{BB962C8B-B14F-4D97-AF65-F5344CB8AC3E}">
        <p14:creationId xmlns:p14="http://schemas.microsoft.com/office/powerpoint/2010/main" val="304314473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lending is a profitable business line for the Bank, with around €30 million net profit in 2025 and strong new production momentum.
The storyline is simple: market leadership is protected not by a single product, but by a repeatable growth model built on digital journeys, propositions and commercial excellence.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note: This slide combines the strategic objective and the operational delivery of the first growth pillar. The key message is that digital customer journeys are not only a channel improvement, but a growth enabler. We are redesigning the way propositions are displayed, prioritized and personalized, while also simplifying the application process and increasing automation. The impact is visible through stronger digital penetration, high auto-decision levels and strong NPS across digital and physical channels.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note: This slide shows the second pillar of our consumer loans strategy. The key point is that our offering is not one-size-fits-all. We have built segment-based propositions around low-risk and high-value customer groups: Public Sector, Group Sales and Personal Banking. My Fast Loan is shown separately because it is not just a fast loan variant; it is a pre-advised, analytics-driven proposition that supports personalization and digital conversion. Going forward, we will continue to expand with cards in pre-advised journeys, active credit limit management, risk-based pricing, top-up loans and open-line concepts.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commercialization pillar ensures that the output of the first two pillars actually translates into sales.
The objective is to move from campaign-by-campaign execution to an always-on and personalized commercial engine.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strategy is not one-size-fits-all.
We focus on low-risk and high-value segments where we can combine attractive pricing with disciplined risk and profitability.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message: we are not dependent on the cycle alone.
We have a structured growth model and we are investing in the capabilities that will allow us to sustain leadership.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tx1"/>
        </a:solidFill>
        <a:effectLst/>
      </p:bgPr>
    </p:bg>
    <p:spTree>
      <p:nvGrpSpPr>
        <p:cNvPr id="1" name=""/>
        <p:cNvGrpSpPr/>
        <p:nvPr/>
      </p:nvGrpSpPr>
      <p:grpSpPr>
        <a:xfrm>
          <a:off x="0" y="0"/>
          <a:ext cx="0" cy="0"/>
          <a:chOff x="0" y="0"/>
          <a:chExt cx="0" cy="0"/>
        </a:xfrm>
      </p:grpSpPr>
      <p:sp>
        <p:nvSpPr>
          <p:cNvPr id="13" name="Text Placeholder 2"/>
          <p:cNvSpPr>
            <a:spLocks noGrp="1"/>
          </p:cNvSpPr>
          <p:nvPr>
            <p:ph type="body" idx="11"/>
          </p:nvPr>
        </p:nvSpPr>
        <p:spPr>
          <a:xfrm>
            <a:off x="329061" y="1241140"/>
            <a:ext cx="6403435" cy="273896"/>
          </a:xfrm>
          <a:prstGeom prst="rect">
            <a:avLst/>
          </a:prstGeom>
        </p:spPr>
        <p:txBody>
          <a:bodyPr lIns="0" tIns="0" rIns="0" bIns="0" anchor="t" anchorCtr="0">
            <a:noAutofit/>
          </a:bodyPr>
          <a:lstStyle>
            <a:lvl1pPr marL="0" indent="0" algn="l">
              <a:lnSpc>
                <a:spcPts val="2724"/>
              </a:lnSpc>
              <a:buNone/>
              <a:defRPr sz="2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8" name="Text Placeholder 2">
            <a:extLst>
              <a:ext uri="{FF2B5EF4-FFF2-40B4-BE49-F238E27FC236}">
                <a16:creationId xmlns:a16="http://schemas.microsoft.com/office/drawing/2014/main" id="{BE3A1B37-4C33-494E-81DA-990F51BAF98F}"/>
              </a:ext>
            </a:extLst>
          </p:cNvPr>
          <p:cNvSpPr>
            <a:spLocks noGrp="1"/>
          </p:cNvSpPr>
          <p:nvPr>
            <p:ph type="body" idx="14"/>
          </p:nvPr>
        </p:nvSpPr>
        <p:spPr>
          <a:xfrm>
            <a:off x="329061" y="1572831"/>
            <a:ext cx="6403435" cy="265496"/>
          </a:xfrm>
          <a:prstGeom prst="rect">
            <a:avLst/>
          </a:prstGeom>
        </p:spPr>
        <p:txBody>
          <a:bodyPr lIns="0" tIns="0" rIns="0" bIns="0" anchor="t" anchorCtr="0">
            <a:noAutofit/>
          </a:bodyPr>
          <a:lstStyle>
            <a:lvl1pPr marL="0" indent="0" algn="l">
              <a:lnSpc>
                <a:spcPts val="2024"/>
              </a:lnSpc>
              <a:buNone/>
              <a:defRPr sz="18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28" name="Picture 27">
            <a:extLst>
              <a:ext uri="{FF2B5EF4-FFF2-40B4-BE49-F238E27FC236}">
                <a16:creationId xmlns:a16="http://schemas.microsoft.com/office/drawing/2014/main" id="{32D5AA07-2420-7C4D-8993-058DCE758907}"/>
              </a:ext>
            </a:extLst>
          </p:cNvPr>
          <p:cNvPicPr>
            <a:picLocks noChangeAspect="1"/>
          </p:cNvPicPr>
          <p:nvPr userDrawn="1"/>
        </p:nvPicPr>
        <p:blipFill>
          <a:blip r:embed="rId2"/>
          <a:stretch>
            <a:fillRect/>
          </a:stretch>
        </p:blipFill>
        <p:spPr>
          <a:xfrm>
            <a:off x="5701556" y="338296"/>
            <a:ext cx="3111089" cy="419902"/>
          </a:xfrm>
          <a:prstGeom prst="rect">
            <a:avLst/>
          </a:prstGeom>
        </p:spPr>
      </p:pic>
      <p:pic>
        <p:nvPicPr>
          <p:cNvPr id="34" name="Picture 33"/>
          <p:cNvPicPr>
            <a:picLocks noChangeAspect="1"/>
          </p:cNvPicPr>
          <p:nvPr userDrawn="1"/>
        </p:nvPicPr>
        <p:blipFill rotWithShape="1">
          <a:blip r:embed="rId3">
            <a:extLst>
              <a:ext uri="{28A0092B-C50C-407E-A947-70E740481C1C}">
                <a14:useLocalDpi xmlns:a14="http://schemas.microsoft.com/office/drawing/2010/main" val="0"/>
              </a:ext>
            </a:extLst>
          </a:blip>
          <a:srcRect t="68025" b="8122"/>
          <a:stretch/>
        </p:blipFill>
        <p:spPr>
          <a:xfrm>
            <a:off x="0" y="3506861"/>
            <a:ext cx="9144000" cy="1636643"/>
          </a:xfrm>
          <a:prstGeom prst="rect">
            <a:avLst/>
          </a:prstGeom>
        </p:spPr>
      </p:pic>
      <p:pic>
        <p:nvPicPr>
          <p:cNvPr id="35" name="Picture 34">
            <a:extLst>
              <a:ext uri="{FF2B5EF4-FFF2-40B4-BE49-F238E27FC236}">
                <a16:creationId xmlns:a16="http://schemas.microsoft.com/office/drawing/2014/main" id="{75FDDA22-DBC3-FD4D-901B-CB3243036769}"/>
              </a:ext>
            </a:extLst>
          </p:cNvPr>
          <p:cNvPicPr>
            <a:picLocks noChangeAspect="1"/>
          </p:cNvPicPr>
          <p:nvPr userDrawn="1"/>
        </p:nvPicPr>
        <p:blipFill>
          <a:blip r:embed="rId4"/>
          <a:stretch>
            <a:fillRect/>
          </a:stretch>
        </p:blipFill>
        <p:spPr>
          <a:xfrm>
            <a:off x="0" y="3760435"/>
            <a:ext cx="9144000" cy="91440"/>
          </a:xfrm>
          <a:prstGeom prst="rect">
            <a:avLst/>
          </a:prstGeom>
        </p:spPr>
      </p:pic>
      <p:sp>
        <p:nvSpPr>
          <p:cNvPr id="9" name="Text Placeholder 2">
            <a:extLst>
              <a:ext uri="{FF2B5EF4-FFF2-40B4-BE49-F238E27FC236}">
                <a16:creationId xmlns:a16="http://schemas.microsoft.com/office/drawing/2014/main" id="{BE3A1B37-4C33-494E-81DA-990F51BAF98F}"/>
              </a:ext>
            </a:extLst>
          </p:cNvPr>
          <p:cNvSpPr>
            <a:spLocks noGrp="1"/>
          </p:cNvSpPr>
          <p:nvPr>
            <p:ph type="body" idx="15"/>
          </p:nvPr>
        </p:nvSpPr>
        <p:spPr>
          <a:xfrm>
            <a:off x="4631485" y="2702172"/>
            <a:ext cx="1910985" cy="623746"/>
          </a:xfrm>
          <a:prstGeom prst="rect">
            <a:avLst/>
          </a:prstGeom>
        </p:spPr>
        <p:txBody>
          <a:bodyPr lIns="0" tIns="0" rIns="0" bIns="0" anchor="t" anchorCtr="0">
            <a:noAutofit/>
          </a:bodyPr>
          <a:lstStyle>
            <a:lvl1pPr marL="0" indent="0" algn="l">
              <a:lnSpc>
                <a:spcPts val="2024"/>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BE3A1B37-4C33-494E-81DA-990F51BAF98F}"/>
              </a:ext>
            </a:extLst>
          </p:cNvPr>
          <p:cNvSpPr>
            <a:spLocks noGrp="1"/>
          </p:cNvSpPr>
          <p:nvPr>
            <p:ph type="body" idx="16"/>
          </p:nvPr>
        </p:nvSpPr>
        <p:spPr>
          <a:xfrm>
            <a:off x="6626189" y="2706506"/>
            <a:ext cx="1910985" cy="623746"/>
          </a:xfrm>
          <a:prstGeom prst="rect">
            <a:avLst/>
          </a:prstGeom>
        </p:spPr>
        <p:txBody>
          <a:bodyPr lIns="0" tIns="0" rIns="0" bIns="0" anchor="t" anchorCtr="0">
            <a:noAutofit/>
          </a:bodyPr>
          <a:lstStyle>
            <a:lvl1pPr marL="0" indent="0" algn="l">
              <a:lnSpc>
                <a:spcPts val="2024"/>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2220177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1">
    <p:bg>
      <p:bgPr>
        <a:solidFill>
          <a:schemeClr val="bg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EE623A0-BD16-2E4C-BD4B-C2DC787EF41C}"/>
              </a:ext>
            </a:extLst>
          </p:cNvPr>
          <p:cNvPicPr>
            <a:picLocks noChangeAspect="1"/>
          </p:cNvPicPr>
          <p:nvPr userDrawn="1"/>
        </p:nvPicPr>
        <p:blipFill>
          <a:blip r:embed="rId2"/>
          <a:stretch>
            <a:fillRect/>
          </a:stretch>
        </p:blipFill>
        <p:spPr>
          <a:xfrm>
            <a:off x="7676942" y="338297"/>
            <a:ext cx="1135703" cy="153285"/>
          </a:xfrm>
          <a:prstGeom prst="rect">
            <a:avLst/>
          </a:prstGeom>
        </p:spPr>
      </p:pic>
      <p:sp>
        <p:nvSpPr>
          <p:cNvPr id="22" name="Text Placeholder 3">
            <a:extLst>
              <a:ext uri="{FF2B5EF4-FFF2-40B4-BE49-F238E27FC236}">
                <a16:creationId xmlns:a16="http://schemas.microsoft.com/office/drawing/2014/main" id="{041ECE60-3954-494A-BB6A-38F46E3B12DE}"/>
              </a:ext>
            </a:extLst>
          </p:cNvPr>
          <p:cNvSpPr>
            <a:spLocks noGrp="1"/>
          </p:cNvSpPr>
          <p:nvPr>
            <p:ph type="body" sz="quarter" idx="52"/>
          </p:nvPr>
        </p:nvSpPr>
        <p:spPr>
          <a:xfrm>
            <a:off x="236357" y="4789456"/>
            <a:ext cx="5855207" cy="150634"/>
          </a:xfrm>
        </p:spPr>
        <p:txBody>
          <a:bodyPr>
            <a:noAutofit/>
          </a:bodyPr>
          <a:lstStyle>
            <a:lvl1pPr algn="l">
              <a:lnSpc>
                <a:spcPts val="680"/>
              </a:lnSpc>
              <a:spcAft>
                <a:spcPts val="450"/>
              </a:spcAft>
              <a:defRPr sz="648" b="0" i="0" baseline="0">
                <a:solidFill>
                  <a:schemeClr val="tx1"/>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pic>
        <p:nvPicPr>
          <p:cNvPr id="13" name="Picture 12">
            <a:extLst>
              <a:ext uri="{FF2B5EF4-FFF2-40B4-BE49-F238E27FC236}">
                <a16:creationId xmlns:a16="http://schemas.microsoft.com/office/drawing/2014/main" id="{5B4AA33B-7B78-9C44-ADD8-2ED83043DAD8}"/>
              </a:ext>
            </a:extLst>
          </p:cNvPr>
          <p:cNvPicPr>
            <a:picLocks noChangeAspect="1"/>
          </p:cNvPicPr>
          <p:nvPr userDrawn="1"/>
        </p:nvPicPr>
        <p:blipFill>
          <a:blip r:embed="rId3"/>
          <a:stretch>
            <a:fillRect/>
          </a:stretch>
        </p:blipFill>
        <p:spPr>
          <a:xfrm>
            <a:off x="0" y="603566"/>
            <a:ext cx="9144000" cy="45720"/>
          </a:xfrm>
          <a:prstGeom prst="rect">
            <a:avLst/>
          </a:prstGeom>
        </p:spPr>
      </p:pic>
      <p:sp>
        <p:nvSpPr>
          <p:cNvPr id="11" name="Text Placeholder 2">
            <a:extLst>
              <a:ext uri="{FF2B5EF4-FFF2-40B4-BE49-F238E27FC236}">
                <a16:creationId xmlns:a16="http://schemas.microsoft.com/office/drawing/2014/main" id="{1D9F6A77-466C-2840-96F4-2DF0971A763E}"/>
              </a:ext>
            </a:extLst>
          </p:cNvPr>
          <p:cNvSpPr>
            <a:spLocks noGrp="1"/>
          </p:cNvSpPr>
          <p:nvPr>
            <p:ph type="body" idx="16"/>
          </p:nvPr>
        </p:nvSpPr>
        <p:spPr>
          <a:xfrm>
            <a:off x="324621" y="1962082"/>
            <a:ext cx="2787003" cy="181877"/>
          </a:xfrm>
          <a:prstGeom prst="rect">
            <a:avLst/>
          </a:prstGeom>
        </p:spPr>
        <p:txBody>
          <a:bodyPr lIns="0" tIns="0" rIns="0" bIns="0" anchor="t" anchorCtr="0">
            <a:noAutofit/>
          </a:bodyPr>
          <a:lstStyle>
            <a:lvl1pPr marL="0" indent="0" algn="l">
              <a:lnSpc>
                <a:spcPts val="10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A0F4EBE1-12D9-4749-96C8-27E4A47D6A7F}"/>
              </a:ext>
            </a:extLst>
          </p:cNvPr>
          <p:cNvSpPr>
            <a:spLocks noGrp="1"/>
          </p:cNvSpPr>
          <p:nvPr>
            <p:ph type="body" idx="55"/>
          </p:nvPr>
        </p:nvSpPr>
        <p:spPr>
          <a:xfrm>
            <a:off x="324621" y="2416256"/>
            <a:ext cx="2787003" cy="1515350"/>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EED2C98C-43E1-2047-828B-BD7E50B2E390}"/>
              </a:ext>
            </a:extLst>
          </p:cNvPr>
          <p:cNvSpPr>
            <a:spLocks noGrp="1"/>
          </p:cNvSpPr>
          <p:nvPr>
            <p:ph type="body" idx="56" hasCustomPrompt="1"/>
          </p:nvPr>
        </p:nvSpPr>
        <p:spPr>
          <a:xfrm>
            <a:off x="3304560" y="1962082"/>
            <a:ext cx="2787003" cy="181877"/>
          </a:xfrm>
          <a:prstGeom prst="rect">
            <a:avLst/>
          </a:prstGeom>
        </p:spPr>
        <p:txBody>
          <a:bodyPr lIns="0" tIns="0" rIns="0" bIns="0" anchor="t" anchorCtr="0">
            <a:noAutofit/>
          </a:bodyPr>
          <a:lstStyle>
            <a:lvl1pPr marL="0" indent="0" algn="l">
              <a:lnSpc>
                <a:spcPts val="10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8" name="Text Placeholder 2">
            <a:extLst>
              <a:ext uri="{FF2B5EF4-FFF2-40B4-BE49-F238E27FC236}">
                <a16:creationId xmlns:a16="http://schemas.microsoft.com/office/drawing/2014/main" id="{176A6FAC-7E02-B74F-9631-905D103783B5}"/>
              </a:ext>
            </a:extLst>
          </p:cNvPr>
          <p:cNvSpPr>
            <a:spLocks noGrp="1"/>
          </p:cNvSpPr>
          <p:nvPr>
            <p:ph type="body" idx="57"/>
          </p:nvPr>
        </p:nvSpPr>
        <p:spPr>
          <a:xfrm>
            <a:off x="3304560" y="2416256"/>
            <a:ext cx="2787003" cy="1515350"/>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9" name="Text Placeholder 2">
            <a:extLst>
              <a:ext uri="{FF2B5EF4-FFF2-40B4-BE49-F238E27FC236}">
                <a16:creationId xmlns:a16="http://schemas.microsoft.com/office/drawing/2014/main" id="{E6DF6CD4-8CD4-704C-A62B-0487B53AFF80}"/>
              </a:ext>
            </a:extLst>
          </p:cNvPr>
          <p:cNvSpPr>
            <a:spLocks noGrp="1"/>
          </p:cNvSpPr>
          <p:nvPr>
            <p:ph type="body" idx="15"/>
          </p:nvPr>
        </p:nvSpPr>
        <p:spPr>
          <a:xfrm>
            <a:off x="324623" y="378847"/>
            <a:ext cx="6120567" cy="149584"/>
          </a:xfrm>
          <a:prstGeom prst="rect">
            <a:avLst/>
          </a:prstGeom>
        </p:spPr>
        <p:txBody>
          <a:bodyPr lIns="0" tIns="0" rIns="0" bIns="0" anchor="t" anchorCtr="0">
            <a:noAutofit/>
          </a:bodyPr>
          <a:lstStyle>
            <a:lvl1pPr marL="0" indent="0" algn="l">
              <a:lnSpc>
                <a:spcPts val="10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34BBF55F-62CF-5E4C-9BB2-DA21A3F3D9EA}"/>
              </a:ext>
            </a:extLst>
          </p:cNvPr>
          <p:cNvSpPr>
            <a:spLocks noGrp="1"/>
          </p:cNvSpPr>
          <p:nvPr>
            <p:ph type="body" idx="54" hasCustomPrompt="1"/>
          </p:nvPr>
        </p:nvSpPr>
        <p:spPr>
          <a:xfrm>
            <a:off x="324620" y="1003032"/>
            <a:ext cx="7352320" cy="196037"/>
          </a:xfrm>
          <a:prstGeom prst="rect">
            <a:avLst/>
          </a:prstGeom>
        </p:spPr>
        <p:txBody>
          <a:bodyPr lIns="0" tIns="0" rIns="0" bIns="0" anchor="t" anchorCtr="0">
            <a:noAutofit/>
          </a:bodyPr>
          <a:lstStyle>
            <a:lvl1pPr marL="0" indent="0" algn="l">
              <a:lnSpc>
                <a:spcPct val="100000"/>
              </a:lnSpc>
              <a:buNone/>
              <a:defRPr sz="1400" b="1" i="0">
                <a:solidFill>
                  <a:srgbClr val="EA002A"/>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a:p>
            <a:pPr lvl="0"/>
            <a:endParaRPr lang="en-US"/>
          </a:p>
        </p:txBody>
      </p:sp>
      <p:sp>
        <p:nvSpPr>
          <p:cNvPr id="23" name="Text Placeholder 2">
            <a:extLst>
              <a:ext uri="{FF2B5EF4-FFF2-40B4-BE49-F238E27FC236}">
                <a16:creationId xmlns:a16="http://schemas.microsoft.com/office/drawing/2014/main" id="{34BBF55F-62CF-5E4C-9BB2-DA21A3F3D9EA}"/>
              </a:ext>
            </a:extLst>
          </p:cNvPr>
          <p:cNvSpPr>
            <a:spLocks noGrp="1"/>
          </p:cNvSpPr>
          <p:nvPr>
            <p:ph type="body" idx="58" hasCustomPrompt="1"/>
          </p:nvPr>
        </p:nvSpPr>
        <p:spPr>
          <a:xfrm>
            <a:off x="324619" y="1356774"/>
            <a:ext cx="7352320" cy="419933"/>
          </a:xfrm>
          <a:prstGeom prst="rect">
            <a:avLst/>
          </a:prstGeom>
        </p:spPr>
        <p:txBody>
          <a:bodyPr lIns="0" tIns="0" rIns="0" bIns="0" anchor="t" anchorCtr="0">
            <a:noAutofit/>
          </a:bodyPr>
          <a:lstStyle>
            <a:lvl1pPr marL="0" indent="0" algn="l">
              <a:lnSpc>
                <a:spcPct val="100000"/>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a:p>
            <a:pPr lvl="0"/>
            <a:endParaRPr lang="en-US"/>
          </a:p>
        </p:txBody>
      </p:sp>
    </p:spTree>
    <p:extLst>
      <p:ext uri="{BB962C8B-B14F-4D97-AF65-F5344CB8AC3E}">
        <p14:creationId xmlns:p14="http://schemas.microsoft.com/office/powerpoint/2010/main" val="166133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2">
    <p:bg>
      <p:bgPr>
        <a:solidFill>
          <a:schemeClr val="bg1"/>
        </a:solidFill>
        <a:effectLst/>
      </p:bgPr>
    </p:bg>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1D9F6A77-466C-2840-96F4-2DF0971A763E}"/>
              </a:ext>
            </a:extLst>
          </p:cNvPr>
          <p:cNvSpPr>
            <a:spLocks noGrp="1"/>
          </p:cNvSpPr>
          <p:nvPr>
            <p:ph type="body" idx="16"/>
          </p:nvPr>
        </p:nvSpPr>
        <p:spPr>
          <a:xfrm>
            <a:off x="5963420" y="1031128"/>
            <a:ext cx="2787003" cy="181877"/>
          </a:xfrm>
          <a:prstGeom prst="rect">
            <a:avLst/>
          </a:prstGeom>
        </p:spPr>
        <p:txBody>
          <a:bodyPr lIns="0" tIns="0" rIns="0" bIns="0" anchor="t" anchorCtr="0">
            <a:noAutofit/>
          </a:bodyPr>
          <a:lstStyle>
            <a:lvl1pPr marL="0" indent="0" algn="l">
              <a:lnSpc>
                <a:spcPts val="10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20" name="Picture 19">
            <a:extLst>
              <a:ext uri="{FF2B5EF4-FFF2-40B4-BE49-F238E27FC236}">
                <a16:creationId xmlns:a16="http://schemas.microsoft.com/office/drawing/2014/main" id="{9EE623A0-BD16-2E4C-BD4B-C2DC787EF41C}"/>
              </a:ext>
            </a:extLst>
          </p:cNvPr>
          <p:cNvPicPr>
            <a:picLocks noChangeAspect="1"/>
          </p:cNvPicPr>
          <p:nvPr userDrawn="1"/>
        </p:nvPicPr>
        <p:blipFill>
          <a:blip r:embed="rId2"/>
          <a:stretch>
            <a:fillRect/>
          </a:stretch>
        </p:blipFill>
        <p:spPr>
          <a:xfrm>
            <a:off x="7676942" y="338297"/>
            <a:ext cx="1135703" cy="153285"/>
          </a:xfrm>
          <a:prstGeom prst="rect">
            <a:avLst/>
          </a:prstGeom>
        </p:spPr>
      </p:pic>
      <p:sp>
        <p:nvSpPr>
          <p:cNvPr id="22" name="Text Placeholder 3">
            <a:extLst>
              <a:ext uri="{FF2B5EF4-FFF2-40B4-BE49-F238E27FC236}">
                <a16:creationId xmlns:a16="http://schemas.microsoft.com/office/drawing/2014/main" id="{041ECE60-3954-494A-BB6A-38F46E3B12DE}"/>
              </a:ext>
            </a:extLst>
          </p:cNvPr>
          <p:cNvSpPr>
            <a:spLocks noGrp="1"/>
          </p:cNvSpPr>
          <p:nvPr>
            <p:ph type="body" sz="quarter" idx="52"/>
          </p:nvPr>
        </p:nvSpPr>
        <p:spPr>
          <a:xfrm>
            <a:off x="236357" y="4789456"/>
            <a:ext cx="5855207" cy="150634"/>
          </a:xfrm>
        </p:spPr>
        <p:txBody>
          <a:bodyPr>
            <a:noAutofit/>
          </a:bodyPr>
          <a:lstStyle>
            <a:lvl1pPr algn="l">
              <a:lnSpc>
                <a:spcPts val="680"/>
              </a:lnSpc>
              <a:spcAft>
                <a:spcPts val="450"/>
              </a:spcAft>
              <a:defRPr sz="648" b="0" i="0" baseline="0">
                <a:solidFill>
                  <a:schemeClr val="tx1"/>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sp>
        <p:nvSpPr>
          <p:cNvPr id="25" name="Text Placeholder 2">
            <a:extLst>
              <a:ext uri="{FF2B5EF4-FFF2-40B4-BE49-F238E27FC236}">
                <a16:creationId xmlns:a16="http://schemas.microsoft.com/office/drawing/2014/main" id="{9CC4FC86-F28C-4247-BD48-F0322B233E33}"/>
              </a:ext>
            </a:extLst>
          </p:cNvPr>
          <p:cNvSpPr>
            <a:spLocks noGrp="1"/>
          </p:cNvSpPr>
          <p:nvPr>
            <p:ph type="body" idx="54"/>
          </p:nvPr>
        </p:nvSpPr>
        <p:spPr>
          <a:xfrm>
            <a:off x="324621" y="1003032"/>
            <a:ext cx="5245219" cy="3298203"/>
          </a:xfrm>
          <a:prstGeom prst="rect">
            <a:avLst/>
          </a:prstGeom>
        </p:spPr>
        <p:txBody>
          <a:bodyPr lIns="0" tIns="0" rIns="0" bIns="0" anchor="t" anchorCtr="0">
            <a:noAutofit/>
          </a:bodyPr>
          <a:lstStyle>
            <a:lvl1pPr marL="0" indent="0" algn="l">
              <a:lnSpc>
                <a:spcPct val="100000"/>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l-GR"/>
          </a:p>
        </p:txBody>
      </p:sp>
      <p:sp>
        <p:nvSpPr>
          <p:cNvPr id="28" name="Text Placeholder 2">
            <a:extLst>
              <a:ext uri="{FF2B5EF4-FFF2-40B4-BE49-F238E27FC236}">
                <a16:creationId xmlns:a16="http://schemas.microsoft.com/office/drawing/2014/main" id="{A0F4EBE1-12D9-4749-96C8-27E4A47D6A7F}"/>
              </a:ext>
            </a:extLst>
          </p:cNvPr>
          <p:cNvSpPr>
            <a:spLocks noGrp="1"/>
          </p:cNvSpPr>
          <p:nvPr>
            <p:ph type="body" idx="55"/>
          </p:nvPr>
        </p:nvSpPr>
        <p:spPr>
          <a:xfrm>
            <a:off x="5963420" y="1215738"/>
            <a:ext cx="2787003" cy="813827"/>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0" name="Text Placeholder 2">
            <a:extLst>
              <a:ext uri="{FF2B5EF4-FFF2-40B4-BE49-F238E27FC236}">
                <a16:creationId xmlns:a16="http://schemas.microsoft.com/office/drawing/2014/main" id="{EED2C98C-43E1-2047-828B-BD7E50B2E390}"/>
              </a:ext>
            </a:extLst>
          </p:cNvPr>
          <p:cNvSpPr>
            <a:spLocks noGrp="1"/>
          </p:cNvSpPr>
          <p:nvPr>
            <p:ph type="body" idx="56" hasCustomPrompt="1"/>
          </p:nvPr>
        </p:nvSpPr>
        <p:spPr>
          <a:xfrm>
            <a:off x="5963421" y="2278174"/>
            <a:ext cx="2787003" cy="181877"/>
          </a:xfrm>
          <a:prstGeom prst="rect">
            <a:avLst/>
          </a:prstGeom>
        </p:spPr>
        <p:txBody>
          <a:bodyPr lIns="0" tIns="0" rIns="0" bIns="0" anchor="t" anchorCtr="0">
            <a:noAutofit/>
          </a:bodyPr>
          <a:lstStyle>
            <a:lvl1pPr marL="0" indent="0" algn="l">
              <a:lnSpc>
                <a:spcPts val="10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1" name="Text Placeholder 2">
            <a:extLst>
              <a:ext uri="{FF2B5EF4-FFF2-40B4-BE49-F238E27FC236}">
                <a16:creationId xmlns:a16="http://schemas.microsoft.com/office/drawing/2014/main" id="{176A6FAC-7E02-B74F-9631-905D103783B5}"/>
              </a:ext>
            </a:extLst>
          </p:cNvPr>
          <p:cNvSpPr>
            <a:spLocks noGrp="1"/>
          </p:cNvSpPr>
          <p:nvPr>
            <p:ph type="body" idx="57"/>
          </p:nvPr>
        </p:nvSpPr>
        <p:spPr>
          <a:xfrm>
            <a:off x="5963421" y="2462780"/>
            <a:ext cx="2787003" cy="1515350"/>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7B9C5D12-5A8D-284F-998C-F2B43316984D}"/>
              </a:ext>
            </a:extLst>
          </p:cNvPr>
          <p:cNvSpPr>
            <a:spLocks noGrp="1"/>
          </p:cNvSpPr>
          <p:nvPr>
            <p:ph type="body" idx="15"/>
          </p:nvPr>
        </p:nvSpPr>
        <p:spPr>
          <a:xfrm>
            <a:off x="324623" y="378847"/>
            <a:ext cx="6120567" cy="149584"/>
          </a:xfrm>
          <a:prstGeom prst="rect">
            <a:avLst/>
          </a:prstGeom>
        </p:spPr>
        <p:txBody>
          <a:bodyPr lIns="0" tIns="0" rIns="0" bIns="0" anchor="t" anchorCtr="0">
            <a:noAutofit/>
          </a:bodyPr>
          <a:lstStyle>
            <a:lvl1pPr marL="0" indent="0" algn="l">
              <a:lnSpc>
                <a:spcPts val="10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13" name="Picture 12">
            <a:extLst>
              <a:ext uri="{FF2B5EF4-FFF2-40B4-BE49-F238E27FC236}">
                <a16:creationId xmlns:a16="http://schemas.microsoft.com/office/drawing/2014/main" id="{6E249032-F0A7-9440-AECF-D92B149D7FEA}"/>
              </a:ext>
            </a:extLst>
          </p:cNvPr>
          <p:cNvPicPr>
            <a:picLocks noChangeAspect="1"/>
          </p:cNvPicPr>
          <p:nvPr userDrawn="1"/>
        </p:nvPicPr>
        <p:blipFill>
          <a:blip r:embed="rId3"/>
          <a:stretch>
            <a:fillRect/>
          </a:stretch>
        </p:blipFill>
        <p:spPr>
          <a:xfrm>
            <a:off x="0" y="603566"/>
            <a:ext cx="9144000" cy="45720"/>
          </a:xfrm>
          <a:prstGeom prst="rect">
            <a:avLst/>
          </a:prstGeom>
        </p:spPr>
      </p:pic>
    </p:spTree>
    <p:extLst>
      <p:ext uri="{BB962C8B-B14F-4D97-AF65-F5344CB8AC3E}">
        <p14:creationId xmlns:p14="http://schemas.microsoft.com/office/powerpoint/2010/main" val="661299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image 1">
    <p:bg>
      <p:bgPr>
        <a:solidFill>
          <a:schemeClr val="bg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EE623A0-BD16-2E4C-BD4B-C2DC787EF41C}"/>
              </a:ext>
            </a:extLst>
          </p:cNvPr>
          <p:cNvPicPr>
            <a:picLocks noChangeAspect="1"/>
          </p:cNvPicPr>
          <p:nvPr userDrawn="1"/>
        </p:nvPicPr>
        <p:blipFill>
          <a:blip r:embed="rId2"/>
          <a:stretch>
            <a:fillRect/>
          </a:stretch>
        </p:blipFill>
        <p:spPr>
          <a:xfrm>
            <a:off x="7676942" y="338297"/>
            <a:ext cx="1135703" cy="153285"/>
          </a:xfrm>
          <a:prstGeom prst="rect">
            <a:avLst/>
          </a:prstGeom>
        </p:spPr>
      </p:pic>
      <p:sp>
        <p:nvSpPr>
          <p:cNvPr id="22" name="Text Placeholder 3">
            <a:extLst>
              <a:ext uri="{FF2B5EF4-FFF2-40B4-BE49-F238E27FC236}">
                <a16:creationId xmlns:a16="http://schemas.microsoft.com/office/drawing/2014/main" id="{041ECE60-3954-494A-BB6A-38F46E3B12DE}"/>
              </a:ext>
            </a:extLst>
          </p:cNvPr>
          <p:cNvSpPr>
            <a:spLocks noGrp="1"/>
          </p:cNvSpPr>
          <p:nvPr>
            <p:ph type="body" sz="quarter" idx="52"/>
          </p:nvPr>
        </p:nvSpPr>
        <p:spPr>
          <a:xfrm>
            <a:off x="236357" y="4789456"/>
            <a:ext cx="5855207" cy="150634"/>
          </a:xfrm>
        </p:spPr>
        <p:txBody>
          <a:bodyPr>
            <a:noAutofit/>
          </a:bodyPr>
          <a:lstStyle>
            <a:lvl1pPr algn="l">
              <a:lnSpc>
                <a:spcPts val="680"/>
              </a:lnSpc>
              <a:spcAft>
                <a:spcPts val="450"/>
              </a:spcAft>
              <a:defRPr sz="648" b="0" i="0" baseline="0">
                <a:solidFill>
                  <a:schemeClr val="tx1"/>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sp>
        <p:nvSpPr>
          <p:cNvPr id="12" name="Picture Placeholder 18">
            <a:extLst>
              <a:ext uri="{FF2B5EF4-FFF2-40B4-BE49-F238E27FC236}">
                <a16:creationId xmlns:a16="http://schemas.microsoft.com/office/drawing/2014/main" id="{BA0AF2ED-731E-4349-B4EA-19B4A8010F78}"/>
              </a:ext>
            </a:extLst>
          </p:cNvPr>
          <p:cNvSpPr>
            <a:spLocks noGrp="1"/>
          </p:cNvSpPr>
          <p:nvPr>
            <p:ph type="pic" sz="quarter" idx="13"/>
          </p:nvPr>
        </p:nvSpPr>
        <p:spPr>
          <a:xfrm>
            <a:off x="320095" y="1043127"/>
            <a:ext cx="1890447" cy="2512380"/>
          </a:xfrm>
        </p:spPr>
        <p:txBody>
          <a:bodyPr/>
          <a:lstStyle/>
          <a:p>
            <a:endParaRPr lang="en-US"/>
          </a:p>
        </p:txBody>
      </p:sp>
      <p:sp>
        <p:nvSpPr>
          <p:cNvPr id="13" name="Text Placeholder 2">
            <a:extLst>
              <a:ext uri="{FF2B5EF4-FFF2-40B4-BE49-F238E27FC236}">
                <a16:creationId xmlns:a16="http://schemas.microsoft.com/office/drawing/2014/main" id="{4A231106-A901-7942-915C-D6D8E1FF9BCB}"/>
              </a:ext>
            </a:extLst>
          </p:cNvPr>
          <p:cNvSpPr>
            <a:spLocks noGrp="1"/>
          </p:cNvSpPr>
          <p:nvPr>
            <p:ph type="body" idx="54"/>
          </p:nvPr>
        </p:nvSpPr>
        <p:spPr>
          <a:xfrm>
            <a:off x="2530635" y="1003028"/>
            <a:ext cx="6282008" cy="3227181"/>
          </a:xfrm>
          <a:prstGeom prst="rect">
            <a:avLst/>
          </a:prstGeom>
        </p:spPr>
        <p:txBody>
          <a:bodyPr lIns="0" tIns="0" rIns="0" bIns="0" anchor="t" anchorCtr="0">
            <a:noAutofit/>
          </a:bodyPr>
          <a:lstStyle>
            <a:lvl1pPr marL="0" indent="0" algn="l">
              <a:lnSpc>
                <a:spcPct val="100000"/>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6" name="Text Placeholder 3">
            <a:extLst>
              <a:ext uri="{FF2B5EF4-FFF2-40B4-BE49-F238E27FC236}">
                <a16:creationId xmlns:a16="http://schemas.microsoft.com/office/drawing/2014/main" id="{34C4D9F2-3F67-C74C-8A63-525EA7EDA68D}"/>
              </a:ext>
            </a:extLst>
          </p:cNvPr>
          <p:cNvSpPr>
            <a:spLocks noGrp="1"/>
          </p:cNvSpPr>
          <p:nvPr>
            <p:ph type="body" sz="quarter" idx="55"/>
          </p:nvPr>
        </p:nvSpPr>
        <p:spPr>
          <a:xfrm>
            <a:off x="226876" y="3582006"/>
            <a:ext cx="1983664" cy="421831"/>
          </a:xfrm>
        </p:spPr>
        <p:txBody>
          <a:bodyPr>
            <a:noAutofit/>
          </a:bodyPr>
          <a:lstStyle>
            <a:lvl1pPr algn="l">
              <a:lnSpc>
                <a:spcPts val="680"/>
              </a:lnSpc>
              <a:spcAft>
                <a:spcPts val="450"/>
              </a:spcAft>
              <a:defRPr sz="800" b="0" i="0" baseline="0">
                <a:solidFill>
                  <a:srgbClr val="021342"/>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sp>
        <p:nvSpPr>
          <p:cNvPr id="10" name="Text Placeholder 2">
            <a:extLst>
              <a:ext uri="{FF2B5EF4-FFF2-40B4-BE49-F238E27FC236}">
                <a16:creationId xmlns:a16="http://schemas.microsoft.com/office/drawing/2014/main" id="{BC004AD7-A8BD-D745-B18C-ADDD14AF126F}"/>
              </a:ext>
            </a:extLst>
          </p:cNvPr>
          <p:cNvSpPr>
            <a:spLocks noGrp="1"/>
          </p:cNvSpPr>
          <p:nvPr>
            <p:ph type="body" idx="15"/>
          </p:nvPr>
        </p:nvSpPr>
        <p:spPr>
          <a:xfrm>
            <a:off x="324623" y="378847"/>
            <a:ext cx="6120567" cy="149584"/>
          </a:xfrm>
          <a:prstGeom prst="rect">
            <a:avLst/>
          </a:prstGeom>
        </p:spPr>
        <p:txBody>
          <a:bodyPr lIns="0" tIns="0" rIns="0" bIns="0" anchor="t" anchorCtr="0">
            <a:noAutofit/>
          </a:bodyPr>
          <a:lstStyle>
            <a:lvl1pPr marL="0" indent="0" algn="l">
              <a:lnSpc>
                <a:spcPts val="10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11" name="Picture 10">
            <a:extLst>
              <a:ext uri="{FF2B5EF4-FFF2-40B4-BE49-F238E27FC236}">
                <a16:creationId xmlns:a16="http://schemas.microsoft.com/office/drawing/2014/main" id="{113551A4-1080-A04C-B7E1-1E7B9E0494A7}"/>
              </a:ext>
            </a:extLst>
          </p:cNvPr>
          <p:cNvPicPr>
            <a:picLocks noChangeAspect="1"/>
          </p:cNvPicPr>
          <p:nvPr userDrawn="1"/>
        </p:nvPicPr>
        <p:blipFill>
          <a:blip r:embed="rId3"/>
          <a:stretch>
            <a:fillRect/>
          </a:stretch>
        </p:blipFill>
        <p:spPr>
          <a:xfrm>
            <a:off x="0" y="603566"/>
            <a:ext cx="9144000" cy="45720"/>
          </a:xfrm>
          <a:prstGeom prst="rect">
            <a:avLst/>
          </a:prstGeom>
        </p:spPr>
      </p:pic>
    </p:spTree>
    <p:extLst>
      <p:ext uri="{BB962C8B-B14F-4D97-AF65-F5344CB8AC3E}">
        <p14:creationId xmlns:p14="http://schemas.microsoft.com/office/powerpoint/2010/main" val="20805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image 2">
    <p:bg>
      <p:bgPr>
        <a:solidFill>
          <a:schemeClr val="bg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EE623A0-BD16-2E4C-BD4B-C2DC787EF41C}"/>
              </a:ext>
            </a:extLst>
          </p:cNvPr>
          <p:cNvPicPr>
            <a:picLocks noChangeAspect="1"/>
          </p:cNvPicPr>
          <p:nvPr userDrawn="1"/>
        </p:nvPicPr>
        <p:blipFill>
          <a:blip r:embed="rId2"/>
          <a:stretch>
            <a:fillRect/>
          </a:stretch>
        </p:blipFill>
        <p:spPr>
          <a:xfrm>
            <a:off x="7676942" y="338297"/>
            <a:ext cx="1135703" cy="153285"/>
          </a:xfrm>
          <a:prstGeom prst="rect">
            <a:avLst/>
          </a:prstGeom>
        </p:spPr>
      </p:pic>
      <p:sp>
        <p:nvSpPr>
          <p:cNvPr id="22" name="Text Placeholder 3">
            <a:extLst>
              <a:ext uri="{FF2B5EF4-FFF2-40B4-BE49-F238E27FC236}">
                <a16:creationId xmlns:a16="http://schemas.microsoft.com/office/drawing/2014/main" id="{041ECE60-3954-494A-BB6A-38F46E3B12DE}"/>
              </a:ext>
            </a:extLst>
          </p:cNvPr>
          <p:cNvSpPr>
            <a:spLocks noGrp="1"/>
          </p:cNvSpPr>
          <p:nvPr>
            <p:ph type="body" sz="quarter" idx="52"/>
          </p:nvPr>
        </p:nvSpPr>
        <p:spPr>
          <a:xfrm>
            <a:off x="236357" y="4789456"/>
            <a:ext cx="5855207" cy="150634"/>
          </a:xfrm>
        </p:spPr>
        <p:txBody>
          <a:bodyPr>
            <a:noAutofit/>
          </a:bodyPr>
          <a:lstStyle>
            <a:lvl1pPr algn="l">
              <a:lnSpc>
                <a:spcPts val="680"/>
              </a:lnSpc>
              <a:spcAft>
                <a:spcPts val="450"/>
              </a:spcAft>
              <a:defRPr sz="648" b="0" i="0" baseline="0">
                <a:solidFill>
                  <a:schemeClr val="tx1"/>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sp>
        <p:nvSpPr>
          <p:cNvPr id="12" name="Picture Placeholder 18">
            <a:extLst>
              <a:ext uri="{FF2B5EF4-FFF2-40B4-BE49-F238E27FC236}">
                <a16:creationId xmlns:a16="http://schemas.microsoft.com/office/drawing/2014/main" id="{BA0AF2ED-731E-4349-B4EA-19B4A8010F78}"/>
              </a:ext>
            </a:extLst>
          </p:cNvPr>
          <p:cNvSpPr>
            <a:spLocks noGrp="1"/>
          </p:cNvSpPr>
          <p:nvPr>
            <p:ph type="pic" sz="quarter" idx="13"/>
          </p:nvPr>
        </p:nvSpPr>
        <p:spPr>
          <a:xfrm>
            <a:off x="320093" y="1043127"/>
            <a:ext cx="2849235" cy="1597980"/>
          </a:xfrm>
        </p:spPr>
        <p:txBody>
          <a:bodyPr/>
          <a:lstStyle/>
          <a:p>
            <a:endParaRPr lang="en-US"/>
          </a:p>
        </p:txBody>
      </p:sp>
      <p:sp>
        <p:nvSpPr>
          <p:cNvPr id="13" name="Text Placeholder 2">
            <a:extLst>
              <a:ext uri="{FF2B5EF4-FFF2-40B4-BE49-F238E27FC236}">
                <a16:creationId xmlns:a16="http://schemas.microsoft.com/office/drawing/2014/main" id="{4A231106-A901-7942-915C-D6D8E1FF9BCB}"/>
              </a:ext>
            </a:extLst>
          </p:cNvPr>
          <p:cNvSpPr>
            <a:spLocks noGrp="1"/>
          </p:cNvSpPr>
          <p:nvPr>
            <p:ph type="body" idx="54"/>
          </p:nvPr>
        </p:nvSpPr>
        <p:spPr>
          <a:xfrm>
            <a:off x="3635407" y="1003028"/>
            <a:ext cx="5177236" cy="3227181"/>
          </a:xfrm>
          <a:prstGeom prst="rect">
            <a:avLst/>
          </a:prstGeom>
        </p:spPr>
        <p:txBody>
          <a:bodyPr lIns="0" tIns="0" rIns="0" bIns="0" anchor="t" anchorCtr="0">
            <a:noAutofit/>
          </a:bodyPr>
          <a:lstStyle>
            <a:lvl1pPr marL="0" indent="0" algn="l">
              <a:lnSpc>
                <a:spcPct val="100000"/>
              </a:lnSpc>
              <a:buNone/>
              <a:defRPr sz="108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6" name="Text Placeholder 3">
            <a:extLst>
              <a:ext uri="{FF2B5EF4-FFF2-40B4-BE49-F238E27FC236}">
                <a16:creationId xmlns:a16="http://schemas.microsoft.com/office/drawing/2014/main" id="{0BC2419A-EF24-BC46-96BB-47FF4B93C0E3}"/>
              </a:ext>
            </a:extLst>
          </p:cNvPr>
          <p:cNvSpPr>
            <a:spLocks noGrp="1"/>
          </p:cNvSpPr>
          <p:nvPr>
            <p:ph type="body" sz="quarter" idx="55"/>
          </p:nvPr>
        </p:nvSpPr>
        <p:spPr>
          <a:xfrm>
            <a:off x="226877" y="2667602"/>
            <a:ext cx="2849235" cy="303421"/>
          </a:xfrm>
        </p:spPr>
        <p:txBody>
          <a:bodyPr>
            <a:noAutofit/>
          </a:bodyPr>
          <a:lstStyle>
            <a:lvl1pPr algn="l">
              <a:lnSpc>
                <a:spcPts val="680"/>
              </a:lnSpc>
              <a:spcAft>
                <a:spcPts val="450"/>
              </a:spcAft>
              <a:defRPr sz="800" b="0" i="0" baseline="0">
                <a:solidFill>
                  <a:srgbClr val="021342"/>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sp>
        <p:nvSpPr>
          <p:cNvPr id="10" name="Text Placeholder 2">
            <a:extLst>
              <a:ext uri="{FF2B5EF4-FFF2-40B4-BE49-F238E27FC236}">
                <a16:creationId xmlns:a16="http://schemas.microsoft.com/office/drawing/2014/main" id="{C7335AED-4ADC-C94B-B047-4A64693D9181}"/>
              </a:ext>
            </a:extLst>
          </p:cNvPr>
          <p:cNvSpPr>
            <a:spLocks noGrp="1"/>
          </p:cNvSpPr>
          <p:nvPr>
            <p:ph type="body" idx="15"/>
          </p:nvPr>
        </p:nvSpPr>
        <p:spPr>
          <a:xfrm>
            <a:off x="324623" y="378847"/>
            <a:ext cx="6120567" cy="149584"/>
          </a:xfrm>
          <a:prstGeom prst="rect">
            <a:avLst/>
          </a:prstGeom>
        </p:spPr>
        <p:txBody>
          <a:bodyPr lIns="0" tIns="0" rIns="0" bIns="0" anchor="t" anchorCtr="0">
            <a:noAutofit/>
          </a:bodyPr>
          <a:lstStyle>
            <a:lvl1pPr marL="0" indent="0" algn="l">
              <a:lnSpc>
                <a:spcPts val="10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11" name="Picture 10">
            <a:extLst>
              <a:ext uri="{FF2B5EF4-FFF2-40B4-BE49-F238E27FC236}">
                <a16:creationId xmlns:a16="http://schemas.microsoft.com/office/drawing/2014/main" id="{4A1B4F15-80D9-1C47-8387-CB3029164EC0}"/>
              </a:ext>
            </a:extLst>
          </p:cNvPr>
          <p:cNvPicPr>
            <a:picLocks noChangeAspect="1"/>
          </p:cNvPicPr>
          <p:nvPr userDrawn="1"/>
        </p:nvPicPr>
        <p:blipFill>
          <a:blip r:embed="rId3"/>
          <a:stretch>
            <a:fillRect/>
          </a:stretch>
        </p:blipFill>
        <p:spPr>
          <a:xfrm>
            <a:off x="0" y="603566"/>
            <a:ext cx="9144000" cy="45720"/>
          </a:xfrm>
          <a:prstGeom prst="rect">
            <a:avLst/>
          </a:prstGeom>
        </p:spPr>
      </p:pic>
    </p:spTree>
    <p:extLst>
      <p:ext uri="{BB962C8B-B14F-4D97-AF65-F5344CB8AC3E}">
        <p14:creationId xmlns:p14="http://schemas.microsoft.com/office/powerpoint/2010/main" val="161048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image 3">
    <p:bg>
      <p:bgPr>
        <a:solidFill>
          <a:schemeClr val="bg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EE623A0-BD16-2E4C-BD4B-C2DC787EF41C}"/>
              </a:ext>
            </a:extLst>
          </p:cNvPr>
          <p:cNvPicPr>
            <a:picLocks noChangeAspect="1"/>
          </p:cNvPicPr>
          <p:nvPr userDrawn="1"/>
        </p:nvPicPr>
        <p:blipFill>
          <a:blip r:embed="rId2"/>
          <a:stretch>
            <a:fillRect/>
          </a:stretch>
        </p:blipFill>
        <p:spPr>
          <a:xfrm>
            <a:off x="7676942" y="338297"/>
            <a:ext cx="1135703" cy="153285"/>
          </a:xfrm>
          <a:prstGeom prst="rect">
            <a:avLst/>
          </a:prstGeom>
        </p:spPr>
      </p:pic>
      <p:sp>
        <p:nvSpPr>
          <p:cNvPr id="22" name="Text Placeholder 3">
            <a:extLst>
              <a:ext uri="{FF2B5EF4-FFF2-40B4-BE49-F238E27FC236}">
                <a16:creationId xmlns:a16="http://schemas.microsoft.com/office/drawing/2014/main" id="{041ECE60-3954-494A-BB6A-38F46E3B12DE}"/>
              </a:ext>
            </a:extLst>
          </p:cNvPr>
          <p:cNvSpPr>
            <a:spLocks noGrp="1"/>
          </p:cNvSpPr>
          <p:nvPr>
            <p:ph type="body" sz="quarter" idx="52"/>
          </p:nvPr>
        </p:nvSpPr>
        <p:spPr>
          <a:xfrm>
            <a:off x="236357" y="4789456"/>
            <a:ext cx="5855207" cy="150634"/>
          </a:xfrm>
        </p:spPr>
        <p:txBody>
          <a:bodyPr>
            <a:noAutofit/>
          </a:bodyPr>
          <a:lstStyle>
            <a:lvl1pPr algn="l">
              <a:lnSpc>
                <a:spcPts val="680"/>
              </a:lnSpc>
              <a:spcAft>
                <a:spcPts val="450"/>
              </a:spcAft>
              <a:defRPr sz="648" b="0" i="0" baseline="0">
                <a:solidFill>
                  <a:srgbClr val="021342"/>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sp>
        <p:nvSpPr>
          <p:cNvPr id="13" name="Text Placeholder 2">
            <a:extLst>
              <a:ext uri="{FF2B5EF4-FFF2-40B4-BE49-F238E27FC236}">
                <a16:creationId xmlns:a16="http://schemas.microsoft.com/office/drawing/2014/main" id="{4A231106-A901-7942-915C-D6D8E1FF9BCB}"/>
              </a:ext>
            </a:extLst>
          </p:cNvPr>
          <p:cNvSpPr>
            <a:spLocks noGrp="1"/>
          </p:cNvSpPr>
          <p:nvPr>
            <p:ph type="body" idx="54"/>
          </p:nvPr>
        </p:nvSpPr>
        <p:spPr>
          <a:xfrm>
            <a:off x="4714045" y="1003032"/>
            <a:ext cx="4098599" cy="1359171"/>
          </a:xfrm>
          <a:prstGeom prst="rect">
            <a:avLst/>
          </a:prstGeom>
        </p:spPr>
        <p:txBody>
          <a:bodyPr lIns="0" tIns="0" rIns="0" bIns="0" anchor="t" anchorCtr="0">
            <a:noAutofit/>
          </a:bodyPr>
          <a:lstStyle>
            <a:lvl1pPr marL="0" indent="0" algn="l">
              <a:lnSpc>
                <a:spcPct val="100000"/>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5" name="Picture Placeholder 18">
            <a:extLst>
              <a:ext uri="{FF2B5EF4-FFF2-40B4-BE49-F238E27FC236}">
                <a16:creationId xmlns:a16="http://schemas.microsoft.com/office/drawing/2014/main" id="{196C3C81-88FE-F647-A211-301CCF191FA8}"/>
              </a:ext>
            </a:extLst>
          </p:cNvPr>
          <p:cNvSpPr>
            <a:spLocks noGrp="1"/>
          </p:cNvSpPr>
          <p:nvPr>
            <p:ph type="pic" sz="quarter" idx="55"/>
          </p:nvPr>
        </p:nvSpPr>
        <p:spPr>
          <a:xfrm>
            <a:off x="310755" y="1937661"/>
            <a:ext cx="4098599" cy="1875301"/>
          </a:xfrm>
        </p:spPr>
        <p:txBody>
          <a:bodyPr/>
          <a:lstStyle/>
          <a:p>
            <a:endParaRPr lang="en-US"/>
          </a:p>
        </p:txBody>
      </p:sp>
      <p:sp>
        <p:nvSpPr>
          <p:cNvPr id="17" name="Text Placeholder 2">
            <a:extLst>
              <a:ext uri="{FF2B5EF4-FFF2-40B4-BE49-F238E27FC236}">
                <a16:creationId xmlns:a16="http://schemas.microsoft.com/office/drawing/2014/main" id="{28F61B18-89E3-C54F-B463-28576605093B}"/>
              </a:ext>
            </a:extLst>
          </p:cNvPr>
          <p:cNvSpPr>
            <a:spLocks noGrp="1"/>
          </p:cNvSpPr>
          <p:nvPr>
            <p:ph type="body" idx="56"/>
          </p:nvPr>
        </p:nvSpPr>
        <p:spPr>
          <a:xfrm>
            <a:off x="310757" y="1003029"/>
            <a:ext cx="4098599" cy="239846"/>
          </a:xfrm>
          <a:prstGeom prst="rect">
            <a:avLst/>
          </a:prstGeom>
        </p:spPr>
        <p:txBody>
          <a:bodyPr lIns="0" tIns="0" rIns="0" bIns="0" anchor="t" anchorCtr="0">
            <a:noAutofit/>
          </a:bodyPr>
          <a:lstStyle>
            <a:lvl1pPr marL="0" indent="0" algn="l">
              <a:lnSpc>
                <a:spcPts val="17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8EAED0B6-74D4-CA46-90D8-2C29B4DB2902}"/>
              </a:ext>
            </a:extLst>
          </p:cNvPr>
          <p:cNvSpPr>
            <a:spLocks noGrp="1"/>
          </p:cNvSpPr>
          <p:nvPr>
            <p:ph type="body" idx="57"/>
          </p:nvPr>
        </p:nvSpPr>
        <p:spPr>
          <a:xfrm>
            <a:off x="310755" y="1260155"/>
            <a:ext cx="4098597" cy="198535"/>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D8B6E37D-2CFC-A748-A1A0-F633C78AD27D}"/>
              </a:ext>
            </a:extLst>
          </p:cNvPr>
          <p:cNvSpPr>
            <a:spLocks noGrp="1"/>
          </p:cNvSpPr>
          <p:nvPr>
            <p:ph type="body" idx="15"/>
          </p:nvPr>
        </p:nvSpPr>
        <p:spPr>
          <a:xfrm>
            <a:off x="324623" y="378847"/>
            <a:ext cx="6120567" cy="149584"/>
          </a:xfrm>
          <a:prstGeom prst="rect">
            <a:avLst/>
          </a:prstGeom>
        </p:spPr>
        <p:txBody>
          <a:bodyPr lIns="0" tIns="0" rIns="0" bIns="0" anchor="t" anchorCtr="0">
            <a:noAutofit/>
          </a:bodyPr>
          <a:lstStyle>
            <a:lvl1pPr marL="0" indent="0" algn="l">
              <a:lnSpc>
                <a:spcPts val="10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F60809DF-854D-A740-B47B-A514B1AE07A6}"/>
              </a:ext>
            </a:extLst>
          </p:cNvPr>
          <p:cNvPicPr>
            <a:picLocks noChangeAspect="1"/>
          </p:cNvPicPr>
          <p:nvPr userDrawn="1"/>
        </p:nvPicPr>
        <p:blipFill>
          <a:blip r:embed="rId3"/>
          <a:stretch>
            <a:fillRect/>
          </a:stretch>
        </p:blipFill>
        <p:spPr>
          <a:xfrm>
            <a:off x="0" y="603566"/>
            <a:ext cx="9144000" cy="45720"/>
          </a:xfrm>
          <a:prstGeom prst="rect">
            <a:avLst/>
          </a:prstGeom>
        </p:spPr>
      </p:pic>
    </p:spTree>
    <p:extLst>
      <p:ext uri="{BB962C8B-B14F-4D97-AF65-F5344CB8AC3E}">
        <p14:creationId xmlns:p14="http://schemas.microsoft.com/office/powerpoint/2010/main" val="3120997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02134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85FF3D-5BF4-1047-A44E-51D7DFC65758}"/>
              </a:ext>
            </a:extLst>
          </p:cNvPr>
          <p:cNvPicPr>
            <a:picLocks noChangeAspect="1"/>
          </p:cNvPicPr>
          <p:nvPr userDrawn="1"/>
        </p:nvPicPr>
        <p:blipFill>
          <a:blip r:embed="rId2"/>
          <a:srcRect/>
          <a:stretch/>
        </p:blipFill>
        <p:spPr>
          <a:xfrm>
            <a:off x="7683497" y="338297"/>
            <a:ext cx="1122587" cy="153285"/>
          </a:xfrm>
          <a:prstGeom prst="rect">
            <a:avLst/>
          </a:prstGeom>
        </p:spPr>
      </p:pic>
      <p:sp>
        <p:nvSpPr>
          <p:cNvPr id="8" name="Text Placeholder 2">
            <a:extLst>
              <a:ext uri="{FF2B5EF4-FFF2-40B4-BE49-F238E27FC236}">
                <a16:creationId xmlns:a16="http://schemas.microsoft.com/office/drawing/2014/main" id="{42407248-6709-A54F-99BA-E8D16AA388ED}"/>
              </a:ext>
            </a:extLst>
          </p:cNvPr>
          <p:cNvSpPr>
            <a:spLocks noGrp="1"/>
          </p:cNvSpPr>
          <p:nvPr>
            <p:ph type="body" idx="17"/>
          </p:nvPr>
        </p:nvSpPr>
        <p:spPr>
          <a:xfrm>
            <a:off x="320097" y="1211869"/>
            <a:ext cx="8299471" cy="1552565"/>
          </a:xfrm>
          <a:prstGeom prst="rect">
            <a:avLst/>
          </a:prstGeom>
        </p:spPr>
        <p:txBody>
          <a:bodyPr lIns="0" tIns="0" rIns="0" bIns="0" anchor="t" anchorCtr="0">
            <a:noAutofit/>
          </a:bodyPr>
          <a:lstStyle>
            <a:lvl1pPr marL="0" indent="0" algn="l">
              <a:lnSpc>
                <a:spcPct val="100000"/>
              </a:lnSpc>
              <a:buNone/>
              <a:defRPr sz="3000" b="0" i="0">
                <a:solidFill>
                  <a:schemeClr val="bg1"/>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Text Placeholder 2">
            <a:extLst>
              <a:ext uri="{FF2B5EF4-FFF2-40B4-BE49-F238E27FC236}">
                <a16:creationId xmlns:a16="http://schemas.microsoft.com/office/drawing/2014/main" id="{021F8FDA-E976-474A-BAB2-C23C8FA2ED39}"/>
              </a:ext>
            </a:extLst>
          </p:cNvPr>
          <p:cNvSpPr>
            <a:spLocks noGrp="1"/>
          </p:cNvSpPr>
          <p:nvPr>
            <p:ph type="body" idx="16"/>
          </p:nvPr>
        </p:nvSpPr>
        <p:spPr>
          <a:xfrm>
            <a:off x="320097" y="609954"/>
            <a:ext cx="5116999" cy="94571"/>
          </a:xfrm>
          <a:prstGeom prst="rect">
            <a:avLst/>
          </a:prstGeom>
        </p:spPr>
        <p:txBody>
          <a:bodyPr lIns="0" tIns="0" rIns="0" bIns="0" anchor="t" anchorCtr="0">
            <a:noAutofit/>
          </a:bodyPr>
          <a:lstStyle>
            <a:lvl1pPr marL="0" indent="0" algn="l">
              <a:lnSpc>
                <a:spcPts val="824"/>
              </a:lnSpc>
              <a:buNone/>
              <a:defRPr sz="1100" b="1" i="0">
                <a:solidFill>
                  <a:schemeClr val="bg1"/>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90832589-CDCB-B142-A0A1-F0D9304D7892}"/>
              </a:ext>
            </a:extLst>
          </p:cNvPr>
          <p:cNvSpPr>
            <a:spLocks noGrp="1"/>
          </p:cNvSpPr>
          <p:nvPr>
            <p:ph type="body" idx="15"/>
          </p:nvPr>
        </p:nvSpPr>
        <p:spPr>
          <a:xfrm>
            <a:off x="320098" y="397010"/>
            <a:ext cx="5116999" cy="149584"/>
          </a:xfrm>
          <a:prstGeom prst="rect">
            <a:avLst/>
          </a:prstGeom>
        </p:spPr>
        <p:txBody>
          <a:bodyPr lIns="0" tIns="0" rIns="0" bIns="0" anchor="t" anchorCtr="0">
            <a:noAutofit/>
          </a:bodyPr>
          <a:lstStyle>
            <a:lvl1pPr marL="0" indent="0" algn="l">
              <a:lnSpc>
                <a:spcPts val="1024"/>
              </a:lnSpc>
              <a:buNone/>
              <a:defRPr sz="1600" b="0" i="0">
                <a:solidFill>
                  <a:schemeClr val="bg1"/>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pic>
        <p:nvPicPr>
          <p:cNvPr id="10" name="Picture Placeholder 10">
            <a:extLst>
              <a:ext uri="{FF2B5EF4-FFF2-40B4-BE49-F238E27FC236}">
                <a16:creationId xmlns:a16="http://schemas.microsoft.com/office/drawing/2014/main" id="{2DB7746C-9D3B-C840-9EC5-E9264AF6B2B2}"/>
              </a:ext>
            </a:extLst>
          </p:cNvPr>
          <p:cNvPicPr>
            <a:picLocks noChangeAspect="1"/>
          </p:cNvPicPr>
          <p:nvPr userDrawn="1"/>
        </p:nvPicPr>
        <p:blipFill>
          <a:blip r:embed="rId3"/>
          <a:srcRect t="241" b="241"/>
          <a:stretch/>
        </p:blipFill>
        <p:spPr>
          <a:xfrm>
            <a:off x="320095" y="3904133"/>
            <a:ext cx="8485991" cy="910039"/>
          </a:xfrm>
          <a:prstGeom prst="rect">
            <a:avLst/>
          </a:prstGeom>
        </p:spPr>
      </p:pic>
    </p:spTree>
    <p:extLst>
      <p:ext uri="{BB962C8B-B14F-4D97-AF65-F5344CB8AC3E}">
        <p14:creationId xmlns:p14="http://schemas.microsoft.com/office/powerpoint/2010/main" val="181206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ck cover">
    <p:bg>
      <p:bgPr>
        <a:solidFill>
          <a:srgbClr val="021342"/>
        </a:solidFill>
        <a:effectLst/>
      </p:bgPr>
    </p:bg>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4C1BF629-C3A3-EE4F-A748-7B8C43DAAB2A}"/>
              </a:ext>
            </a:extLst>
          </p:cNvPr>
          <p:cNvSpPr>
            <a:spLocks noGrp="1"/>
          </p:cNvSpPr>
          <p:nvPr>
            <p:ph type="body" sz="quarter" idx="52"/>
          </p:nvPr>
        </p:nvSpPr>
        <p:spPr>
          <a:xfrm>
            <a:off x="2160948" y="4517162"/>
            <a:ext cx="4822104" cy="150634"/>
          </a:xfrm>
        </p:spPr>
        <p:txBody>
          <a:bodyPr>
            <a:noAutofit/>
          </a:bodyPr>
          <a:lstStyle>
            <a:lvl1pPr algn="ctr">
              <a:lnSpc>
                <a:spcPts val="680"/>
              </a:lnSpc>
              <a:spcAft>
                <a:spcPts val="450"/>
              </a:spcAft>
              <a:defRPr sz="900" b="0" i="0" baseline="0">
                <a:solidFill>
                  <a:schemeClr val="bg1"/>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pic>
        <p:nvPicPr>
          <p:cNvPr id="4" name="Picture 3" descr="A picture containing text, clipart&#10;&#10;Description automatically generated">
            <a:extLst>
              <a:ext uri="{FF2B5EF4-FFF2-40B4-BE49-F238E27FC236}">
                <a16:creationId xmlns:a16="http://schemas.microsoft.com/office/drawing/2014/main" id="{1D2A400F-5C5F-5F4E-A93D-0B182B5BB0B0}"/>
              </a:ext>
            </a:extLst>
          </p:cNvPr>
          <p:cNvPicPr>
            <a:picLocks noChangeAspect="1"/>
          </p:cNvPicPr>
          <p:nvPr userDrawn="1"/>
        </p:nvPicPr>
        <p:blipFill>
          <a:blip r:embed="rId2"/>
          <a:stretch>
            <a:fillRect/>
          </a:stretch>
        </p:blipFill>
        <p:spPr>
          <a:xfrm>
            <a:off x="2893963" y="2178428"/>
            <a:ext cx="3356079" cy="458261"/>
          </a:xfrm>
          <a:prstGeom prst="rect">
            <a:avLst/>
          </a:prstGeom>
        </p:spPr>
      </p:pic>
    </p:spTree>
    <p:extLst>
      <p:ext uri="{BB962C8B-B14F-4D97-AF65-F5344CB8AC3E}">
        <p14:creationId xmlns:p14="http://schemas.microsoft.com/office/powerpoint/2010/main" val="11668650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solidFill>
          <a:schemeClr val="tx1"/>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32D5AA07-2420-7C4D-8993-058DCE758907}"/>
              </a:ext>
            </a:extLst>
          </p:cNvPr>
          <p:cNvPicPr>
            <a:picLocks noChangeAspect="1"/>
          </p:cNvPicPr>
          <p:nvPr userDrawn="1"/>
        </p:nvPicPr>
        <p:blipFill>
          <a:blip r:embed="rId2"/>
          <a:stretch>
            <a:fillRect/>
          </a:stretch>
        </p:blipFill>
        <p:spPr>
          <a:xfrm>
            <a:off x="7676940" y="338296"/>
            <a:ext cx="1135702" cy="153285"/>
          </a:xfrm>
          <a:prstGeom prst="rect">
            <a:avLst/>
          </a:prstGeom>
        </p:spPr>
      </p:pic>
      <p:pic>
        <p:nvPicPr>
          <p:cNvPr id="15" name="Picture 14">
            <a:extLst>
              <a:ext uri="{FF2B5EF4-FFF2-40B4-BE49-F238E27FC236}">
                <a16:creationId xmlns:a16="http://schemas.microsoft.com/office/drawing/2014/main" id="{110A1543-583F-0341-98B3-942696795DCD}"/>
              </a:ext>
            </a:extLst>
          </p:cNvPr>
          <p:cNvPicPr>
            <a:picLocks noChangeAspect="1"/>
          </p:cNvPicPr>
          <p:nvPr userDrawn="1"/>
        </p:nvPicPr>
        <p:blipFill>
          <a:blip r:embed="rId3"/>
          <a:stretch>
            <a:fillRect/>
          </a:stretch>
        </p:blipFill>
        <p:spPr>
          <a:xfrm>
            <a:off x="0" y="3923868"/>
            <a:ext cx="9144000" cy="91440"/>
          </a:xfrm>
          <a:prstGeom prst="rect">
            <a:avLst/>
          </a:prstGeom>
        </p:spPr>
      </p:pic>
      <p:sp>
        <p:nvSpPr>
          <p:cNvPr id="10" name="Text Placeholder 2">
            <a:extLst>
              <a:ext uri="{FF2B5EF4-FFF2-40B4-BE49-F238E27FC236}">
                <a16:creationId xmlns:a16="http://schemas.microsoft.com/office/drawing/2014/main" id="{021F8FDA-E976-474A-BAB2-C23C8FA2ED39}"/>
              </a:ext>
            </a:extLst>
          </p:cNvPr>
          <p:cNvSpPr>
            <a:spLocks noGrp="1"/>
          </p:cNvSpPr>
          <p:nvPr>
            <p:ph type="body" idx="16"/>
          </p:nvPr>
        </p:nvSpPr>
        <p:spPr>
          <a:xfrm>
            <a:off x="561528" y="2190572"/>
            <a:ext cx="5116999" cy="344443"/>
          </a:xfrm>
          <a:prstGeom prst="rect">
            <a:avLst/>
          </a:prstGeom>
        </p:spPr>
        <p:txBody>
          <a:bodyPr lIns="0" tIns="0" rIns="0" bIns="0" anchor="t" anchorCtr="0">
            <a:noAutofit/>
          </a:bodyPr>
          <a:lstStyle>
            <a:lvl1pPr marL="0" indent="0" algn="l">
              <a:lnSpc>
                <a:spcPts val="8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90832589-CDCB-B142-A0A1-F0D9304D7892}"/>
              </a:ext>
            </a:extLst>
          </p:cNvPr>
          <p:cNvSpPr>
            <a:spLocks noGrp="1"/>
          </p:cNvSpPr>
          <p:nvPr>
            <p:ph type="body" idx="15"/>
          </p:nvPr>
        </p:nvSpPr>
        <p:spPr>
          <a:xfrm>
            <a:off x="554440" y="1436498"/>
            <a:ext cx="5116999" cy="388403"/>
          </a:xfrm>
          <a:prstGeom prst="rect">
            <a:avLst/>
          </a:prstGeom>
        </p:spPr>
        <p:txBody>
          <a:bodyPr lIns="0" tIns="0" rIns="0" bIns="0" anchor="t" anchorCtr="0">
            <a:noAutofit/>
          </a:bodyPr>
          <a:lstStyle>
            <a:lvl1pPr marL="0" indent="0" algn="l">
              <a:lnSpc>
                <a:spcPts val="1024"/>
              </a:lnSpc>
              <a:buNone/>
              <a:defRPr sz="20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021F8FDA-E976-474A-BAB2-C23C8FA2ED39}"/>
              </a:ext>
            </a:extLst>
          </p:cNvPr>
          <p:cNvSpPr>
            <a:spLocks noGrp="1"/>
          </p:cNvSpPr>
          <p:nvPr>
            <p:ph type="body" idx="17"/>
          </p:nvPr>
        </p:nvSpPr>
        <p:spPr>
          <a:xfrm>
            <a:off x="4953454" y="4380978"/>
            <a:ext cx="1759464" cy="763524"/>
          </a:xfrm>
          <a:prstGeom prst="rect">
            <a:avLst/>
          </a:prstGeom>
        </p:spPr>
        <p:txBody>
          <a:bodyPr lIns="0" tIns="0" rIns="0" bIns="0" anchor="t" anchorCtr="0">
            <a:noAutofit/>
          </a:bodyPr>
          <a:lstStyle>
            <a:lvl1pPr marL="0" indent="0" algn="l">
              <a:lnSpc>
                <a:spcPts val="824"/>
              </a:lnSpc>
              <a:buNone/>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021F8FDA-E976-474A-BAB2-C23C8FA2ED39}"/>
              </a:ext>
            </a:extLst>
          </p:cNvPr>
          <p:cNvSpPr>
            <a:spLocks noGrp="1"/>
          </p:cNvSpPr>
          <p:nvPr>
            <p:ph type="body" idx="18"/>
          </p:nvPr>
        </p:nvSpPr>
        <p:spPr>
          <a:xfrm>
            <a:off x="6948158" y="4380978"/>
            <a:ext cx="1759464" cy="763524"/>
          </a:xfrm>
          <a:prstGeom prst="rect">
            <a:avLst/>
          </a:prstGeom>
        </p:spPr>
        <p:txBody>
          <a:bodyPr lIns="0" tIns="0" rIns="0" bIns="0" anchor="t" anchorCtr="0">
            <a:noAutofit/>
          </a:bodyPr>
          <a:lstStyle>
            <a:lvl1pPr marL="0" indent="0" algn="l">
              <a:lnSpc>
                <a:spcPts val="824"/>
              </a:lnSpc>
              <a:buNone/>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00897203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1">
    <p:bg>
      <p:bgPr>
        <a:solidFill>
          <a:schemeClr val="bg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9EE623A0-BD16-2E4C-BD4B-C2DC787EF41C}"/>
              </a:ext>
            </a:extLst>
          </p:cNvPr>
          <p:cNvPicPr>
            <a:picLocks noChangeAspect="1"/>
          </p:cNvPicPr>
          <p:nvPr userDrawn="1"/>
        </p:nvPicPr>
        <p:blipFill>
          <a:blip r:embed="rId2"/>
          <a:stretch>
            <a:fillRect/>
          </a:stretch>
        </p:blipFill>
        <p:spPr>
          <a:xfrm>
            <a:off x="7676940" y="168367"/>
            <a:ext cx="1135702" cy="153285"/>
          </a:xfrm>
          <a:prstGeom prst="rect">
            <a:avLst/>
          </a:prstGeom>
        </p:spPr>
      </p:pic>
      <p:sp>
        <p:nvSpPr>
          <p:cNvPr id="22" name="Text Placeholder 3">
            <a:extLst>
              <a:ext uri="{FF2B5EF4-FFF2-40B4-BE49-F238E27FC236}">
                <a16:creationId xmlns:a16="http://schemas.microsoft.com/office/drawing/2014/main" id="{041ECE60-3954-494A-BB6A-38F46E3B12DE}"/>
              </a:ext>
            </a:extLst>
          </p:cNvPr>
          <p:cNvSpPr>
            <a:spLocks noGrp="1"/>
          </p:cNvSpPr>
          <p:nvPr>
            <p:ph type="body" sz="quarter" idx="52"/>
          </p:nvPr>
        </p:nvSpPr>
        <p:spPr>
          <a:xfrm>
            <a:off x="236354" y="4789456"/>
            <a:ext cx="5855207" cy="150634"/>
          </a:xfrm>
        </p:spPr>
        <p:txBody>
          <a:bodyPr>
            <a:noAutofit/>
          </a:bodyPr>
          <a:lstStyle>
            <a:lvl1pPr algn="l">
              <a:lnSpc>
                <a:spcPts val="680"/>
              </a:lnSpc>
              <a:spcAft>
                <a:spcPts val="450"/>
              </a:spcAft>
              <a:defRPr sz="648" b="0" i="0" baseline="0">
                <a:solidFill>
                  <a:schemeClr val="tx1"/>
                </a:solidFill>
                <a:latin typeface="Eurobank Sans Light" panose="02000503000000020003" pitchFamily="2" charset="0"/>
                <a:cs typeface="Eurobank Sans Light" panose="02000503000000020003" pitchFamily="2" charset="0"/>
              </a:defRPr>
            </a:lvl1pPr>
            <a:lvl2pPr algn="ctr">
              <a:lnSpc>
                <a:spcPct val="120000"/>
              </a:lnSpc>
              <a:defRPr sz="675"/>
            </a:lvl2pPr>
          </a:lstStyle>
          <a:p>
            <a:pPr lvl="0"/>
            <a:r>
              <a:rPr lang="en-US"/>
              <a:t>Click to edit Master text styles</a:t>
            </a:r>
          </a:p>
        </p:txBody>
      </p:sp>
      <p:pic>
        <p:nvPicPr>
          <p:cNvPr id="13" name="Picture 12">
            <a:extLst>
              <a:ext uri="{FF2B5EF4-FFF2-40B4-BE49-F238E27FC236}">
                <a16:creationId xmlns:a16="http://schemas.microsoft.com/office/drawing/2014/main" id="{5B4AA33B-7B78-9C44-ADD8-2ED83043DAD8}"/>
              </a:ext>
            </a:extLst>
          </p:cNvPr>
          <p:cNvPicPr>
            <a:picLocks noChangeAspect="1"/>
          </p:cNvPicPr>
          <p:nvPr userDrawn="1"/>
        </p:nvPicPr>
        <p:blipFill>
          <a:blip r:embed="rId3"/>
          <a:stretch>
            <a:fillRect/>
          </a:stretch>
        </p:blipFill>
        <p:spPr>
          <a:xfrm>
            <a:off x="0" y="433637"/>
            <a:ext cx="9144000" cy="45720"/>
          </a:xfrm>
          <a:prstGeom prst="rect">
            <a:avLst/>
          </a:prstGeom>
        </p:spPr>
      </p:pic>
      <p:sp>
        <p:nvSpPr>
          <p:cNvPr id="21" name="Text Placeholder 2">
            <a:extLst>
              <a:ext uri="{FF2B5EF4-FFF2-40B4-BE49-F238E27FC236}">
                <a16:creationId xmlns:a16="http://schemas.microsoft.com/office/drawing/2014/main" id="{1D9F6A77-466C-2840-96F4-2DF0971A763E}"/>
              </a:ext>
            </a:extLst>
          </p:cNvPr>
          <p:cNvSpPr>
            <a:spLocks noGrp="1"/>
          </p:cNvSpPr>
          <p:nvPr>
            <p:ph type="body" idx="16"/>
          </p:nvPr>
        </p:nvSpPr>
        <p:spPr>
          <a:xfrm>
            <a:off x="324620" y="1962079"/>
            <a:ext cx="2787003" cy="181877"/>
          </a:xfrm>
          <a:prstGeom prst="rect">
            <a:avLst/>
          </a:prstGeom>
        </p:spPr>
        <p:txBody>
          <a:bodyPr lIns="0" tIns="0" rIns="0" bIns="0" anchor="t" anchorCtr="0">
            <a:noAutofit/>
          </a:bodyPr>
          <a:lstStyle>
            <a:lvl1pPr marL="0" indent="0" algn="l">
              <a:lnSpc>
                <a:spcPts val="10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3" name="Text Placeholder 2">
            <a:extLst>
              <a:ext uri="{FF2B5EF4-FFF2-40B4-BE49-F238E27FC236}">
                <a16:creationId xmlns:a16="http://schemas.microsoft.com/office/drawing/2014/main" id="{EED2C98C-43E1-2047-828B-BD7E50B2E390}"/>
              </a:ext>
            </a:extLst>
          </p:cNvPr>
          <p:cNvSpPr>
            <a:spLocks noGrp="1"/>
          </p:cNvSpPr>
          <p:nvPr>
            <p:ph type="body" idx="56" hasCustomPrompt="1"/>
          </p:nvPr>
        </p:nvSpPr>
        <p:spPr>
          <a:xfrm>
            <a:off x="3304558" y="1962079"/>
            <a:ext cx="2787003" cy="181877"/>
          </a:xfrm>
          <a:prstGeom prst="rect">
            <a:avLst/>
          </a:prstGeom>
        </p:spPr>
        <p:txBody>
          <a:bodyPr lIns="0" tIns="0" rIns="0" bIns="0" anchor="t" anchorCtr="0">
            <a:noAutofit/>
          </a:bodyPr>
          <a:lstStyle>
            <a:lvl1pPr marL="0" indent="0" algn="l">
              <a:lnSpc>
                <a:spcPts val="1024"/>
              </a:lnSpc>
              <a:buNone/>
              <a:defRPr sz="1400" b="1"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4" name="Text Placeholder 2">
            <a:extLst>
              <a:ext uri="{FF2B5EF4-FFF2-40B4-BE49-F238E27FC236}">
                <a16:creationId xmlns:a16="http://schemas.microsoft.com/office/drawing/2014/main" id="{176A6FAC-7E02-B74F-9631-905D103783B5}"/>
              </a:ext>
            </a:extLst>
          </p:cNvPr>
          <p:cNvSpPr>
            <a:spLocks noGrp="1"/>
          </p:cNvSpPr>
          <p:nvPr>
            <p:ph type="body" idx="57"/>
          </p:nvPr>
        </p:nvSpPr>
        <p:spPr>
          <a:xfrm>
            <a:off x="3304559" y="2416256"/>
            <a:ext cx="2787002" cy="1515350"/>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5" name="Text Placeholder 2">
            <a:extLst>
              <a:ext uri="{FF2B5EF4-FFF2-40B4-BE49-F238E27FC236}">
                <a16:creationId xmlns:a16="http://schemas.microsoft.com/office/drawing/2014/main" id="{34BBF55F-62CF-5E4C-9BB2-DA21A3F3D9EA}"/>
              </a:ext>
            </a:extLst>
          </p:cNvPr>
          <p:cNvSpPr>
            <a:spLocks noGrp="1"/>
          </p:cNvSpPr>
          <p:nvPr>
            <p:ph type="body" idx="54" hasCustomPrompt="1"/>
          </p:nvPr>
        </p:nvSpPr>
        <p:spPr>
          <a:xfrm>
            <a:off x="324620" y="1003028"/>
            <a:ext cx="7352320" cy="196037"/>
          </a:xfrm>
          <a:prstGeom prst="rect">
            <a:avLst/>
          </a:prstGeom>
        </p:spPr>
        <p:txBody>
          <a:bodyPr lIns="0" tIns="0" rIns="0" bIns="0" anchor="t" anchorCtr="0">
            <a:noAutofit/>
          </a:bodyPr>
          <a:lstStyle>
            <a:lvl1pPr marL="0" indent="0" algn="l">
              <a:lnSpc>
                <a:spcPct val="100000"/>
              </a:lnSpc>
              <a:buNone/>
              <a:defRPr sz="1400" b="1" i="0">
                <a:solidFill>
                  <a:srgbClr val="EA002A"/>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a:p>
            <a:pPr lvl="0"/>
            <a:endParaRPr lang="en-US"/>
          </a:p>
        </p:txBody>
      </p:sp>
      <p:sp>
        <p:nvSpPr>
          <p:cNvPr id="26" name="Text Placeholder 2">
            <a:extLst>
              <a:ext uri="{FF2B5EF4-FFF2-40B4-BE49-F238E27FC236}">
                <a16:creationId xmlns:a16="http://schemas.microsoft.com/office/drawing/2014/main" id="{34BBF55F-62CF-5E4C-9BB2-DA21A3F3D9EA}"/>
              </a:ext>
            </a:extLst>
          </p:cNvPr>
          <p:cNvSpPr>
            <a:spLocks noGrp="1"/>
          </p:cNvSpPr>
          <p:nvPr>
            <p:ph type="body" idx="58" hasCustomPrompt="1"/>
          </p:nvPr>
        </p:nvSpPr>
        <p:spPr>
          <a:xfrm>
            <a:off x="324619" y="1356770"/>
            <a:ext cx="7352320" cy="419933"/>
          </a:xfrm>
          <a:prstGeom prst="rect">
            <a:avLst/>
          </a:prstGeom>
        </p:spPr>
        <p:txBody>
          <a:bodyPr lIns="0" tIns="0" rIns="0" bIns="0" anchor="t" anchorCtr="0">
            <a:noAutofit/>
          </a:bodyPr>
          <a:lstStyle>
            <a:lvl1pPr marL="0" indent="0" algn="l">
              <a:lnSpc>
                <a:spcPct val="100000"/>
              </a:lnSpc>
              <a:buNone/>
              <a:defRPr sz="1100" b="0" i="0">
                <a:solidFill>
                  <a:srgbClr val="021342"/>
                </a:solidFill>
                <a:latin typeface="Eurobank Sans Light" panose="02000503000000020003" pitchFamily="2" charset="0"/>
                <a:cs typeface="Eurobank Sans Light" panose="02000503000000020003"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a:p>
            <a:pPr lvl="0"/>
            <a:endParaRPr lang="en-US"/>
          </a:p>
        </p:txBody>
      </p:sp>
      <p:sp>
        <p:nvSpPr>
          <p:cNvPr id="27" name="Text Placeholder 2">
            <a:extLst>
              <a:ext uri="{FF2B5EF4-FFF2-40B4-BE49-F238E27FC236}">
                <a16:creationId xmlns:a16="http://schemas.microsoft.com/office/drawing/2014/main" id="{E6DF6CD4-8CD4-704C-A62B-0487B53AFF80}"/>
              </a:ext>
            </a:extLst>
          </p:cNvPr>
          <p:cNvSpPr>
            <a:spLocks noGrp="1"/>
          </p:cNvSpPr>
          <p:nvPr>
            <p:ph type="body" idx="15"/>
          </p:nvPr>
        </p:nvSpPr>
        <p:spPr>
          <a:xfrm>
            <a:off x="324620" y="208918"/>
            <a:ext cx="6120567" cy="149584"/>
          </a:xfrm>
          <a:prstGeom prst="rect">
            <a:avLst/>
          </a:prstGeom>
        </p:spPr>
        <p:txBody>
          <a:bodyPr lIns="0" tIns="0" rIns="0" bIns="0" anchor="t" anchorCtr="0">
            <a:noAutofit/>
          </a:bodyPr>
          <a:lstStyle>
            <a:lvl1pPr marL="0" indent="0" algn="l">
              <a:lnSpc>
                <a:spcPts val="1024"/>
              </a:lnSpc>
              <a:buNone/>
              <a:defRPr sz="16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9" name="Text Placeholder 2">
            <a:extLst>
              <a:ext uri="{FF2B5EF4-FFF2-40B4-BE49-F238E27FC236}">
                <a16:creationId xmlns:a16="http://schemas.microsoft.com/office/drawing/2014/main" id="{A0F4EBE1-12D9-4749-96C8-27E4A47D6A7F}"/>
              </a:ext>
            </a:extLst>
          </p:cNvPr>
          <p:cNvSpPr>
            <a:spLocks noGrp="1"/>
          </p:cNvSpPr>
          <p:nvPr>
            <p:ph type="body" idx="55"/>
          </p:nvPr>
        </p:nvSpPr>
        <p:spPr>
          <a:xfrm>
            <a:off x="324621" y="2416256"/>
            <a:ext cx="2787002" cy="1515350"/>
          </a:xfrm>
          <a:prstGeom prst="rect">
            <a:avLst/>
          </a:prstGeom>
        </p:spPr>
        <p:txBody>
          <a:bodyPr lIns="0" tIns="0" rIns="0" bIns="0" anchor="t" anchorCtr="0">
            <a:noAutofit/>
          </a:bodyPr>
          <a:lstStyle>
            <a:lvl1pPr marL="171450" indent="-171450" algn="l">
              <a:lnSpc>
                <a:spcPts val="1180"/>
              </a:lnSpc>
              <a:buFont typeface="Arial" panose="020B0604020202020204" pitchFamily="34" charset="0"/>
              <a:buChar char="•"/>
              <a:defRPr sz="1100" b="0" i="0">
                <a:solidFill>
                  <a:srgbClr val="021342"/>
                </a:solidFill>
                <a:latin typeface="Eurobank Sans" panose="02000503000000020004" pitchFamily="2" charset="0"/>
                <a:cs typeface="Eurobank Sans" panose="02000503000000020004" pitchFamily="2"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67686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ck cov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729417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438912"/>
            <a:ext cx="4560570" cy="0"/>
          </a:xfrm>
          <a:prstGeom prst="line">
            <a:avLst/>
          </a:prstGeom>
          <a:noFill/>
          <a:ln w="26670">
            <a:solidFill>
              <a:srgbClr val="E4002B"/>
            </a:solidFill>
            <a:prstDash val="solid"/>
          </a:ln>
        </p:spPr>
        <p:txBody>
          <a:bodyPr/>
          <a:lstStyle/>
          <a:p>
            <a:endParaRPr lang="el-GR" sz="1350"/>
          </a:p>
        </p:txBody>
      </p:sp>
      <p:sp>
        <p:nvSpPr>
          <p:cNvPr id="3" name="Shape 1"/>
          <p:cNvSpPr/>
          <p:nvPr/>
        </p:nvSpPr>
        <p:spPr>
          <a:xfrm>
            <a:off x="4560570" y="438912"/>
            <a:ext cx="4581144" cy="0"/>
          </a:xfrm>
          <a:prstGeom prst="line">
            <a:avLst/>
          </a:prstGeom>
          <a:noFill/>
          <a:ln w="26670">
            <a:solidFill>
              <a:srgbClr val="081E49"/>
            </a:solidFill>
            <a:prstDash val="solid"/>
          </a:ln>
        </p:spPr>
        <p:txBody>
          <a:bodyPr/>
          <a:lstStyle/>
          <a:p>
            <a:endParaRPr lang="el-GR" sz="1350"/>
          </a:p>
        </p:txBody>
      </p:sp>
      <p:sp>
        <p:nvSpPr>
          <p:cNvPr id="4" name="Text 2"/>
          <p:cNvSpPr/>
          <p:nvPr/>
        </p:nvSpPr>
        <p:spPr>
          <a:xfrm>
            <a:off x="7667244" y="123444"/>
            <a:ext cx="1165860" cy="205740"/>
          </a:xfrm>
          <a:prstGeom prst="rect">
            <a:avLst/>
          </a:prstGeom>
          <a:noFill/>
          <a:ln/>
        </p:spPr>
        <p:txBody>
          <a:bodyPr wrap="square" lIns="0" tIns="0" rIns="0" bIns="0" rtlCol="0" anchor="ctr"/>
          <a:lstStyle/>
          <a:p>
            <a:pPr marL="0" indent="0">
              <a:buNone/>
            </a:pPr>
            <a:r>
              <a:rPr lang="en-US" sz="1050" b="1" dirty="0">
                <a:solidFill>
                  <a:srgbClr val="081E49"/>
                </a:solidFill>
                <a:latin typeface="Arial" pitchFamily="34" charset="0"/>
                <a:ea typeface="Arial" pitchFamily="34" charset="-122"/>
                <a:cs typeface="Arial" pitchFamily="34" charset="-120"/>
              </a:rPr>
              <a:t>△ EUROBANK</a:t>
            </a:r>
            <a:endParaRPr lang="en-US" sz="1050" dirty="0"/>
          </a:p>
        </p:txBody>
      </p:sp>
      <p:sp>
        <p:nvSpPr>
          <p:cNvPr id="25" name="Slide Number Placeholder 0"/>
          <p:cNvSpPr>
            <a:spLocks noGrp="1"/>
          </p:cNvSpPr>
          <p:nvPr>
            <p:ph type="sldNum" sz="quarter" idx="4294967295"/>
          </p:nvPr>
        </p:nvSpPr>
        <p:spPr>
          <a:xfrm>
            <a:off x="8743950" y="4855464"/>
            <a:ext cx="600000" cy="225000"/>
          </a:xfrm>
          <a:prstGeom prst="rect">
            <a:avLst/>
          </a:prstGeom>
          <a:extLst>
            <a:ext uri="{C572A759-6A51-4108-AA02-DFA0A04FC94B}">
              <ma14:wrappingTextBoxFlag xmlns="" xmlns:ma14="http://schemas.microsoft.com/office/mac/drawingml/2011/main" val="0"/>
            </a:ext>
          </a:extLst>
        </p:spPr>
        <p:txBody>
          <a:bodyPr/>
          <a:lstStyle>
            <a:lvl1pPr>
              <a:defRPr sz="600">
                <a:solidFill>
                  <a:srgbClr val="081E49"/>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39128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1.xml"/><Relationship Id="rId7" Type="http://schemas.openxmlformats.org/officeDocument/2006/relationships/oleObject" Target="../embeddings/oleObject2.bin"/><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3.xml"/><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731B29-6DB5-BF64-4B10-B57FB9A9ACEA}"/>
              </a:ext>
            </a:extLst>
          </p:cNvPr>
          <p:cNvGraphicFramePr>
            <a:graphicFrameLocks/>
          </p:cNvGraphicFramePr>
          <p:nvPr userDrawn="1">
            <p:custDataLst>
              <p:tags r:id="rId10"/>
            </p:custDataLst>
            <p:extLst>
              <p:ext uri="{D42A27DB-BD31-4B8C-83A1-F6EECF244321}">
                <p14:modId xmlns:p14="http://schemas.microsoft.com/office/powerpoint/2010/main" val="12988911"/>
              </p:ext>
            </p:ext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11" imgW="425" imgH="424" progId="TCLayout.ActiveDocument.1">
                  <p:embed/>
                </p:oleObj>
              </mc:Choice>
              <mc:Fallback>
                <p:oleObj name="think-cell Slide" r:id="rId11" imgW="425" imgH="424" progId="TCLayout.ActiveDocument.1">
                  <p:embed/>
                  <p:pic>
                    <p:nvPicPr>
                      <p:cNvPr id="2" name="think-cell data - do not delete" hidden="1">
                        <a:extLst>
                          <a:ext uri="{FF2B5EF4-FFF2-40B4-BE49-F238E27FC236}">
                            <a16:creationId xmlns:a16="http://schemas.microsoft.com/office/drawing/2014/main" id="{5F731B29-6DB5-BF64-4B10-B57FB9A9ACEA}"/>
                          </a:ext>
                        </a:extLst>
                      </p:cNvPr>
                      <p:cNvPicPr/>
                      <p:nvPr/>
                    </p:nvPicPr>
                    <p:blipFill>
                      <a:blip r:embed="rId12"/>
                      <a:stretch>
                        <a:fillRect/>
                      </a:stretch>
                    </p:blipFill>
                    <p:spPr>
                      <a:xfrm>
                        <a:off x="1590" y="1588"/>
                        <a:ext cx="1588" cy="1588"/>
                      </a:xfrm>
                      <a:prstGeom prst="rect">
                        <a:avLst/>
                      </a:prstGeom>
                    </p:spPr>
                  </p:pic>
                </p:oleObj>
              </mc:Fallback>
            </mc:AlternateContent>
          </a:graphicData>
        </a:graphic>
      </p:graphicFrame>
      <p:sp>
        <p:nvSpPr>
          <p:cNvPr id="14" name="Text Placeholder 2"/>
          <p:cNvSpPr>
            <a:spLocks noGrp="1"/>
          </p:cNvSpPr>
          <p:nvPr>
            <p:ph type="body" idx="1"/>
          </p:nvPr>
        </p:nvSpPr>
        <p:spPr>
          <a:xfrm>
            <a:off x="659381" y="664619"/>
            <a:ext cx="8027419" cy="17117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CBF6958-6402-9F4D-92D0-A53768217DE5}"/>
              </a:ext>
            </a:extLst>
          </p:cNvPr>
          <p:cNvSpPr txBox="1">
            <a:spLocks/>
          </p:cNvSpPr>
          <p:nvPr userDrawn="1"/>
        </p:nvSpPr>
        <p:spPr>
          <a:xfrm>
            <a:off x="8449349" y="4914151"/>
            <a:ext cx="458299" cy="185479"/>
          </a:xfrm>
          <a:prstGeom prst="rect">
            <a:avLst/>
          </a:prstGeom>
        </p:spPr>
        <p:txBody>
          <a:bodyPr>
            <a:noAutofit/>
          </a:bodyPr>
          <a:lstStyle>
            <a:lvl1pPr marL="0" indent="0" algn="r" defTabSz="342900" rtl="0" eaLnBrk="1" latinLnBrk="0" hangingPunct="1">
              <a:lnSpc>
                <a:spcPts val="680"/>
              </a:lnSpc>
              <a:spcBef>
                <a:spcPct val="20000"/>
              </a:spcBef>
              <a:spcAft>
                <a:spcPts val="450"/>
              </a:spcAft>
              <a:buFontTx/>
              <a:buNone/>
              <a:defRPr sz="648" b="0" i="0" kern="1200" baseline="0">
                <a:solidFill>
                  <a:srgbClr val="021342"/>
                </a:solidFill>
                <a:latin typeface="Eurobank Sans" panose="02000503000000020004" pitchFamily="2" charset="0"/>
                <a:ea typeface="+mn-ea"/>
                <a:cs typeface="Eurobank Sans" panose="02000503000000020004" pitchFamily="2" charset="0"/>
              </a:defRPr>
            </a:lvl1pPr>
            <a:lvl2pPr marL="0" indent="0" algn="ctr" defTabSz="342900" rtl="0" eaLnBrk="1" latinLnBrk="0" hangingPunct="1">
              <a:lnSpc>
                <a:spcPct val="120000"/>
              </a:lnSpc>
              <a:spcBef>
                <a:spcPct val="20000"/>
              </a:spcBef>
              <a:spcAft>
                <a:spcPts val="675"/>
              </a:spcAft>
              <a:buFontTx/>
              <a:buNone/>
              <a:defRPr sz="675" b="0" i="0" kern="1200">
                <a:solidFill>
                  <a:schemeClr val="tx1"/>
                </a:solidFill>
                <a:latin typeface="Averta Std PE" pitchFamily="2" charset="0"/>
                <a:ea typeface="+mn-ea"/>
                <a:cs typeface="Averta Std PE" pitchFamily="2" charset="0"/>
              </a:defRPr>
            </a:lvl2pPr>
            <a:lvl3pPr marL="0" indent="0" algn="l" defTabSz="342900" rtl="0" eaLnBrk="1" latinLnBrk="0" hangingPunct="1">
              <a:spcBef>
                <a:spcPct val="20000"/>
              </a:spcBef>
              <a:buFontTx/>
              <a:buNone/>
              <a:defRPr sz="1125" b="0" i="0" kern="1200">
                <a:solidFill>
                  <a:schemeClr val="tx1"/>
                </a:solidFill>
                <a:latin typeface="Averta Std PE" pitchFamily="2" charset="0"/>
                <a:ea typeface="+mn-ea"/>
                <a:cs typeface="Averta Std PE" pitchFamily="2" charset="0"/>
              </a:defRPr>
            </a:lvl3pPr>
            <a:lvl4pPr marL="12001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4pPr>
            <a:lvl5pPr marL="15430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fld id="{91F18546-E4DE-EB46-B75F-9A19B9F1E3B9}" type="slidenum">
              <a:rPr lang="en-US" sz="648" b="1" i="0" smtClean="0">
                <a:latin typeface="Eurobank Sans" panose="02000503000000020004" pitchFamily="2" charset="0"/>
              </a:rPr>
              <a:pPr/>
              <a:t>‹#›</a:t>
            </a:fld>
            <a:endParaRPr lang="en-US" sz="648" b="1" i="0">
              <a:latin typeface="Eurobank Sans" panose="02000503000000020004" pitchFamily="2" charset="0"/>
            </a:endParaRPr>
          </a:p>
        </p:txBody>
      </p:sp>
    </p:spTree>
    <p:extLst>
      <p:ext uri="{BB962C8B-B14F-4D97-AF65-F5344CB8AC3E}">
        <p14:creationId xmlns:p14="http://schemas.microsoft.com/office/powerpoint/2010/main" val="1744113478"/>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71" r:id="rId3"/>
    <p:sldLayoutId id="2147483673" r:id="rId4"/>
    <p:sldLayoutId id="2147483674" r:id="rId5"/>
    <p:sldLayoutId id="2147483678" r:id="rId6"/>
    <p:sldLayoutId id="2147483670" r:id="rId7"/>
    <p:sldLayoutId id="2147483677" r:id="rId8"/>
  </p:sldLayoutIdLst>
  <p:hf hdr="0" ftr="0" dt="0"/>
  <p:txStyles>
    <p:titleStyle>
      <a:lvl1pPr algn="l" defTabSz="342900" rtl="0" eaLnBrk="1" latinLnBrk="0" hangingPunct="1">
        <a:spcBef>
          <a:spcPct val="0"/>
        </a:spcBef>
        <a:buNone/>
        <a:defRPr sz="825" kern="1200" baseline="0">
          <a:solidFill>
            <a:schemeClr val="bg1"/>
          </a:solidFill>
          <a:latin typeface="Cera GR Bold"/>
          <a:ea typeface="+mj-ea"/>
          <a:cs typeface="+mj-cs"/>
        </a:defRPr>
      </a:lvl1pPr>
    </p:titleStyle>
    <p:bodyStyle>
      <a:lvl1pPr marL="0" indent="0" algn="l" defTabSz="342900" rtl="0" eaLnBrk="1" latinLnBrk="0" hangingPunct="1">
        <a:spcBef>
          <a:spcPct val="20000"/>
        </a:spcBef>
        <a:spcAft>
          <a:spcPts val="1125"/>
        </a:spcAft>
        <a:buFontTx/>
        <a:buNone/>
        <a:defRPr sz="1500" b="1" i="0" kern="1200" baseline="0">
          <a:solidFill>
            <a:schemeClr val="tx1"/>
          </a:solidFill>
          <a:latin typeface="Averta Std PE Extrabold" pitchFamily="2" charset="0"/>
          <a:ea typeface="+mn-ea"/>
          <a:cs typeface="Averta Std PE Extrabold" pitchFamily="2" charset="0"/>
        </a:defRPr>
      </a:lvl1pPr>
      <a:lvl2pPr marL="0" indent="0" algn="l" defTabSz="342900" rtl="0" eaLnBrk="1" latinLnBrk="0" hangingPunct="1">
        <a:spcBef>
          <a:spcPct val="20000"/>
        </a:spcBef>
        <a:spcAft>
          <a:spcPts val="675"/>
        </a:spcAft>
        <a:buFontTx/>
        <a:buNone/>
        <a:defRPr sz="1275" b="0" i="0" kern="1200">
          <a:solidFill>
            <a:schemeClr val="tx1"/>
          </a:solidFill>
          <a:latin typeface="Averta Std PE" pitchFamily="2" charset="0"/>
          <a:ea typeface="+mn-ea"/>
          <a:cs typeface="Averta Std PE" pitchFamily="2" charset="0"/>
        </a:defRPr>
      </a:lvl2pPr>
      <a:lvl3pPr marL="0" indent="0" algn="l" defTabSz="342900" rtl="0" eaLnBrk="1" latinLnBrk="0" hangingPunct="1">
        <a:spcBef>
          <a:spcPct val="20000"/>
        </a:spcBef>
        <a:buFontTx/>
        <a:buNone/>
        <a:defRPr sz="1125" b="0" i="0" kern="1200">
          <a:solidFill>
            <a:schemeClr val="tx1"/>
          </a:solidFill>
          <a:latin typeface="Averta Std PE" pitchFamily="2" charset="0"/>
          <a:ea typeface="+mn-ea"/>
          <a:cs typeface="Averta Std PE" pitchFamily="2" charset="0"/>
        </a:defRPr>
      </a:lvl3pPr>
      <a:lvl4pPr marL="12001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4pPr>
      <a:lvl5pPr marL="15430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F9F2436-563F-1773-5BAB-DD12B0027E49}"/>
              </a:ext>
            </a:extLst>
          </p:cNvPr>
          <p:cNvGraphicFramePr>
            <a:graphicFrameLocks noChangeAspect="1"/>
          </p:cNvGraphicFramePr>
          <p:nvPr userDrawn="1">
            <p:custDataLst>
              <p:tags r:id="rId6"/>
            </p:custDataLst>
            <p:extLst>
              <p:ext uri="{D42A27DB-BD31-4B8C-83A1-F6EECF244321}">
                <p14:modId xmlns:p14="http://schemas.microsoft.com/office/powerpoint/2010/main" val="22373107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5" imgH="424" progId="TCLayout.ActiveDocument.1">
                  <p:embed/>
                </p:oleObj>
              </mc:Choice>
              <mc:Fallback>
                <p:oleObj name="think-cell Slide" r:id="rId7" imgW="425" imgH="42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4" name="Text Placeholder 2"/>
          <p:cNvSpPr>
            <a:spLocks noGrp="1"/>
          </p:cNvSpPr>
          <p:nvPr>
            <p:ph type="body" idx="1"/>
          </p:nvPr>
        </p:nvSpPr>
        <p:spPr>
          <a:xfrm>
            <a:off x="659382" y="664615"/>
            <a:ext cx="8027418" cy="17117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CBF6958-6402-9F4D-92D0-A53768217DE5}"/>
              </a:ext>
            </a:extLst>
          </p:cNvPr>
          <p:cNvSpPr txBox="1">
            <a:spLocks/>
          </p:cNvSpPr>
          <p:nvPr userDrawn="1"/>
        </p:nvSpPr>
        <p:spPr>
          <a:xfrm>
            <a:off x="8449347" y="4789456"/>
            <a:ext cx="458299" cy="185479"/>
          </a:xfrm>
          <a:prstGeom prst="rect">
            <a:avLst/>
          </a:prstGeom>
        </p:spPr>
        <p:txBody>
          <a:bodyPr>
            <a:noAutofit/>
          </a:bodyPr>
          <a:lstStyle>
            <a:lvl1pPr marL="0" indent="0" algn="r" defTabSz="342900" rtl="0" eaLnBrk="1" latinLnBrk="0" hangingPunct="1">
              <a:lnSpc>
                <a:spcPts val="680"/>
              </a:lnSpc>
              <a:spcBef>
                <a:spcPct val="20000"/>
              </a:spcBef>
              <a:spcAft>
                <a:spcPts val="450"/>
              </a:spcAft>
              <a:buFontTx/>
              <a:buNone/>
              <a:defRPr sz="648" b="0" i="0" kern="1200" baseline="0">
                <a:solidFill>
                  <a:srgbClr val="021342"/>
                </a:solidFill>
                <a:latin typeface="Eurobank Sans" panose="02000503000000020004" pitchFamily="2" charset="0"/>
                <a:ea typeface="+mn-ea"/>
                <a:cs typeface="Eurobank Sans" panose="02000503000000020004" pitchFamily="2" charset="0"/>
              </a:defRPr>
            </a:lvl1pPr>
            <a:lvl2pPr marL="0" indent="0" algn="ctr" defTabSz="342900" rtl="0" eaLnBrk="1" latinLnBrk="0" hangingPunct="1">
              <a:lnSpc>
                <a:spcPct val="120000"/>
              </a:lnSpc>
              <a:spcBef>
                <a:spcPct val="20000"/>
              </a:spcBef>
              <a:spcAft>
                <a:spcPts val="675"/>
              </a:spcAft>
              <a:buFontTx/>
              <a:buNone/>
              <a:defRPr sz="675" b="0" i="0" kern="1200">
                <a:solidFill>
                  <a:schemeClr val="tx1"/>
                </a:solidFill>
                <a:latin typeface="Averta Std PE" pitchFamily="2" charset="0"/>
                <a:ea typeface="+mn-ea"/>
                <a:cs typeface="Averta Std PE" pitchFamily="2" charset="0"/>
              </a:defRPr>
            </a:lvl2pPr>
            <a:lvl3pPr marL="0" indent="0" algn="l" defTabSz="342900" rtl="0" eaLnBrk="1" latinLnBrk="0" hangingPunct="1">
              <a:spcBef>
                <a:spcPct val="20000"/>
              </a:spcBef>
              <a:buFontTx/>
              <a:buNone/>
              <a:defRPr sz="1125" b="0" i="0" kern="1200">
                <a:solidFill>
                  <a:schemeClr val="tx1"/>
                </a:solidFill>
                <a:latin typeface="Averta Std PE" pitchFamily="2" charset="0"/>
                <a:ea typeface="+mn-ea"/>
                <a:cs typeface="Averta Std PE" pitchFamily="2" charset="0"/>
              </a:defRPr>
            </a:lvl3pPr>
            <a:lvl4pPr marL="12001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4pPr>
            <a:lvl5pPr marL="15430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fld id="{91F18546-E4DE-EB46-B75F-9A19B9F1E3B9}" type="slidenum">
              <a:rPr lang="en-US" b="1" i="0" smtClean="0">
                <a:latin typeface="Eurobank Sans" panose="02000503000000020004" pitchFamily="2" charset="0"/>
              </a:rPr>
              <a:pPr/>
              <a:t>‹#›</a:t>
            </a:fld>
            <a:endParaRPr lang="en-US" b="1" i="0">
              <a:latin typeface="Eurobank Sans" panose="02000503000000020004" pitchFamily="2" charset="0"/>
            </a:endParaRPr>
          </a:p>
        </p:txBody>
      </p:sp>
    </p:spTree>
    <p:extLst>
      <p:ext uri="{BB962C8B-B14F-4D97-AF65-F5344CB8AC3E}">
        <p14:creationId xmlns:p14="http://schemas.microsoft.com/office/powerpoint/2010/main" val="194001865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726" r:id="rId4"/>
  </p:sldLayoutIdLst>
  <p:hf hdr="0" ftr="0" dt="0"/>
  <p:txStyles>
    <p:titleStyle>
      <a:lvl1pPr algn="l" defTabSz="342900" rtl="0" eaLnBrk="1" latinLnBrk="0" hangingPunct="1">
        <a:spcBef>
          <a:spcPct val="0"/>
        </a:spcBef>
        <a:buNone/>
        <a:defRPr sz="825" kern="1200" baseline="0">
          <a:solidFill>
            <a:schemeClr val="bg1"/>
          </a:solidFill>
          <a:latin typeface="Cera GR Bold"/>
          <a:ea typeface="+mj-ea"/>
          <a:cs typeface="+mj-cs"/>
        </a:defRPr>
      </a:lvl1pPr>
    </p:titleStyle>
    <p:bodyStyle>
      <a:lvl1pPr marL="0" indent="0" algn="l" defTabSz="342900" rtl="0" eaLnBrk="1" latinLnBrk="0" hangingPunct="1">
        <a:spcBef>
          <a:spcPct val="20000"/>
        </a:spcBef>
        <a:spcAft>
          <a:spcPts val="1125"/>
        </a:spcAft>
        <a:buFontTx/>
        <a:buNone/>
        <a:defRPr sz="1500" b="1" i="0" kern="1200" baseline="0">
          <a:solidFill>
            <a:schemeClr val="tx1"/>
          </a:solidFill>
          <a:latin typeface="Averta Std PE Extrabold" pitchFamily="2" charset="0"/>
          <a:ea typeface="+mn-ea"/>
          <a:cs typeface="Averta Std PE Extrabold" pitchFamily="2" charset="0"/>
        </a:defRPr>
      </a:lvl1pPr>
      <a:lvl2pPr marL="0" indent="0" algn="l" defTabSz="342900" rtl="0" eaLnBrk="1" latinLnBrk="0" hangingPunct="1">
        <a:spcBef>
          <a:spcPct val="20000"/>
        </a:spcBef>
        <a:spcAft>
          <a:spcPts val="675"/>
        </a:spcAft>
        <a:buFontTx/>
        <a:buNone/>
        <a:defRPr sz="1275" b="0" i="0" kern="1200">
          <a:solidFill>
            <a:schemeClr val="tx1"/>
          </a:solidFill>
          <a:latin typeface="Averta Std PE" pitchFamily="2" charset="0"/>
          <a:ea typeface="+mn-ea"/>
          <a:cs typeface="Averta Std PE" pitchFamily="2" charset="0"/>
        </a:defRPr>
      </a:lvl2pPr>
      <a:lvl3pPr marL="0" indent="0" algn="l" defTabSz="342900" rtl="0" eaLnBrk="1" latinLnBrk="0" hangingPunct="1">
        <a:spcBef>
          <a:spcPct val="20000"/>
        </a:spcBef>
        <a:buFontTx/>
        <a:buNone/>
        <a:defRPr sz="1125" b="0" i="0" kern="1200">
          <a:solidFill>
            <a:schemeClr val="tx1"/>
          </a:solidFill>
          <a:latin typeface="Averta Std PE" pitchFamily="2" charset="0"/>
          <a:ea typeface="+mn-ea"/>
          <a:cs typeface="Averta Std PE" pitchFamily="2" charset="0"/>
        </a:defRPr>
      </a:lvl3pPr>
      <a:lvl4pPr marL="12001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4pPr>
      <a:lvl5pPr marL="15430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0.xml"/><Relationship Id="rId5" Type="http://schemas.openxmlformats.org/officeDocument/2006/relationships/image" Target="../media/image25.jpg"/><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3" Type="http://schemas.openxmlformats.org/officeDocument/2006/relationships/image" Target="../media/image27.svg"/><Relationship Id="rId7" Type="http://schemas.openxmlformats.org/officeDocument/2006/relationships/hyperlink" Target="https://www.eurobank.gr/el/retail/proionta-upiresies/proionta/daneia/katanalotika" TargetMode="External"/><Relationship Id="rId12" Type="http://schemas.openxmlformats.org/officeDocument/2006/relationships/image" Target="../media/image35.png"/><Relationship Id="rId2" Type="http://schemas.openxmlformats.org/officeDocument/2006/relationships/image" Target="../media/image26.svg"/><Relationship Id="rId1" Type="http://schemas.openxmlformats.org/officeDocument/2006/relationships/slideLayout" Target="../slideLayouts/slideLayout10.xml"/><Relationship Id="rId6" Type="http://schemas.openxmlformats.org/officeDocument/2006/relationships/image" Target="../media/image30.svg"/><Relationship Id="rId11" Type="http://schemas.openxmlformats.org/officeDocument/2006/relationships/image" Target="../media/image34.png"/><Relationship Id="rId5" Type="http://schemas.openxmlformats.org/officeDocument/2006/relationships/image" Target="../media/image29.svg"/><Relationship Id="rId10" Type="http://schemas.openxmlformats.org/officeDocument/2006/relationships/image" Target="../media/image33.png"/><Relationship Id="rId4" Type="http://schemas.openxmlformats.org/officeDocument/2006/relationships/image" Target="../media/image28.svg"/><Relationship Id="rId9" Type="http://schemas.openxmlformats.org/officeDocument/2006/relationships/image" Target="../media/image32.svg"/></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1752" y="1170432"/>
            <a:ext cx="5852160" cy="347472"/>
          </a:xfrm>
          <a:prstGeom prst="rect">
            <a:avLst/>
          </a:prstGeom>
          <a:noFill/>
        </p:spPr>
        <p:txBody>
          <a:bodyPr wrap="square" lIns="0" tIns="0" rIns="0" bIns="0" anchor="t">
            <a:spAutoFit/>
          </a:bodyPr>
          <a:lstStyle/>
          <a:p>
            <a:pPr algn="l"/>
            <a:r>
              <a:rPr sz="1800" b="1">
                <a:solidFill>
                  <a:srgbClr val="001F54"/>
                </a:solidFill>
                <a:latin typeface="Eurobank Sans"/>
              </a:rPr>
              <a:t>SSM Workshop on Credit Granting &amp; Pricing</a:t>
            </a:r>
          </a:p>
        </p:txBody>
      </p:sp>
      <p:sp>
        <p:nvSpPr>
          <p:cNvPr id="6" name="TextBox 5"/>
          <p:cNvSpPr txBox="1"/>
          <p:nvPr/>
        </p:nvSpPr>
        <p:spPr>
          <a:xfrm>
            <a:off x="301752" y="1581912"/>
            <a:ext cx="5852160" cy="274320"/>
          </a:xfrm>
          <a:prstGeom prst="rect">
            <a:avLst/>
          </a:prstGeom>
          <a:noFill/>
        </p:spPr>
        <p:txBody>
          <a:bodyPr wrap="square" lIns="0" tIns="0" rIns="0" bIns="0" anchor="t">
            <a:spAutoFit/>
          </a:bodyPr>
          <a:lstStyle/>
          <a:p>
            <a:pPr algn="l"/>
            <a:r>
              <a:rPr sz="1300" b="0" dirty="0">
                <a:solidFill>
                  <a:srgbClr val="001F54"/>
                </a:solidFill>
                <a:latin typeface="Eurobank Sans"/>
              </a:rPr>
              <a:t>Day 1 Retail | Section 2: Acquiring the client</a:t>
            </a:r>
          </a:p>
        </p:txBody>
      </p:sp>
      <p:sp>
        <p:nvSpPr>
          <p:cNvPr id="7" name="TextBox 6"/>
          <p:cNvSpPr txBox="1"/>
          <p:nvPr/>
        </p:nvSpPr>
        <p:spPr>
          <a:xfrm>
            <a:off x="301752" y="1883664"/>
            <a:ext cx="5852160" cy="161583"/>
          </a:xfrm>
          <a:prstGeom prst="rect">
            <a:avLst/>
          </a:prstGeom>
          <a:noFill/>
        </p:spPr>
        <p:txBody>
          <a:bodyPr wrap="square" lIns="0" tIns="0" rIns="0" bIns="0" anchor="t">
            <a:spAutoFit/>
          </a:bodyPr>
          <a:lstStyle/>
          <a:p>
            <a:pPr algn="l"/>
            <a:r>
              <a:rPr sz="1050" b="1" dirty="0">
                <a:solidFill>
                  <a:srgbClr val="37414B"/>
                </a:solidFill>
                <a:latin typeface="Eurobank Sans"/>
              </a:rPr>
              <a:t>Skeleton deck</a:t>
            </a:r>
          </a:p>
        </p:txBody>
      </p:sp>
      <p:sp>
        <p:nvSpPr>
          <p:cNvPr id="8" name="TextBox 7"/>
          <p:cNvSpPr txBox="1"/>
          <p:nvPr/>
        </p:nvSpPr>
        <p:spPr>
          <a:xfrm>
            <a:off x="301752" y="2578608"/>
            <a:ext cx="3291840" cy="402336"/>
          </a:xfrm>
          <a:prstGeom prst="rect">
            <a:avLst/>
          </a:prstGeom>
          <a:noFill/>
        </p:spPr>
        <p:txBody>
          <a:bodyPr wrap="square" lIns="0" tIns="0" rIns="0" bIns="0" anchor="t">
            <a:spAutoFit/>
          </a:bodyPr>
          <a:lstStyle/>
          <a:p>
            <a:pPr algn="l"/>
            <a:r>
              <a:rPr sz="750" b="1">
                <a:solidFill>
                  <a:srgbClr val="E0002C"/>
                </a:solidFill>
                <a:latin typeface="Eurobank Sans"/>
              </a:rPr>
              <a:t>September 2026
WORK IN PROGRESS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23444"/>
            <a:ext cx="6515100" cy="246888"/>
          </a:xfrm>
          <a:prstGeom prst="rect">
            <a:avLst/>
          </a:prstGeom>
          <a:noFill/>
          <a:ln/>
        </p:spPr>
        <p:txBody>
          <a:bodyPr wrap="square" lIns="0" tIns="0" rIns="0" bIns="0" rtlCol="0" anchor="ctr"/>
          <a:lstStyle/>
          <a:p>
            <a:r>
              <a:rPr lang="en-US" sz="1575" dirty="0">
                <a:solidFill>
                  <a:srgbClr val="081E49"/>
                </a:solidFill>
                <a:latin typeface="Arial" pitchFamily="34" charset="0"/>
                <a:ea typeface="Arial" pitchFamily="34" charset="-122"/>
                <a:cs typeface="Arial" pitchFamily="34" charset="-120"/>
              </a:rPr>
              <a:t>Consumer Loans Growth Strategy</a:t>
            </a:r>
            <a:endParaRPr lang="en-US" sz="1575" dirty="0"/>
          </a:p>
        </p:txBody>
      </p:sp>
      <p:sp>
        <p:nvSpPr>
          <p:cNvPr id="3" name="Text 1"/>
          <p:cNvSpPr/>
          <p:nvPr/>
        </p:nvSpPr>
        <p:spPr>
          <a:xfrm>
            <a:off x="606071" y="2554605"/>
            <a:ext cx="8092440" cy="480060"/>
          </a:xfrm>
          <a:prstGeom prst="rect">
            <a:avLst/>
          </a:prstGeom>
          <a:noFill/>
          <a:ln/>
        </p:spPr>
        <p:txBody>
          <a:bodyPr wrap="square" lIns="476" tIns="476" rIns="476" bIns="476" rtlCol="0" anchor="ctr">
            <a:noAutofit/>
          </a:bodyPr>
          <a:lstStyle/>
          <a:p>
            <a:pPr algn="ctr"/>
            <a:r>
              <a:rPr lang="en-US" sz="1700" b="1" dirty="0">
                <a:solidFill>
                  <a:srgbClr val="081E49"/>
                </a:solidFill>
              </a:rPr>
              <a:t>Growth is driven by three strategic pillars: digital journeys, customer-focused propositions and commercial excellence</a:t>
            </a:r>
            <a:endParaRPr lang="en-US" sz="1700" dirty="0"/>
          </a:p>
        </p:txBody>
      </p:sp>
      <p:sp>
        <p:nvSpPr>
          <p:cNvPr id="5" name="Text 3"/>
          <p:cNvSpPr/>
          <p:nvPr/>
        </p:nvSpPr>
        <p:spPr>
          <a:xfrm>
            <a:off x="685800" y="1705171"/>
            <a:ext cx="1440180" cy="288036"/>
          </a:xfrm>
          <a:prstGeom prst="rect">
            <a:avLst/>
          </a:prstGeom>
          <a:noFill/>
          <a:ln/>
        </p:spPr>
        <p:txBody>
          <a:bodyPr wrap="square" lIns="0" tIns="0" rIns="0" bIns="0" rtlCol="0" anchor="ctr"/>
          <a:lstStyle/>
          <a:p>
            <a:pPr algn="ctr"/>
            <a:r>
              <a:rPr lang="en-US" sz="1650" b="1" dirty="0">
                <a:solidFill>
                  <a:srgbClr val="005B9E"/>
                </a:solidFill>
              </a:rPr>
              <a:t>~30%</a:t>
            </a:r>
            <a:endParaRPr lang="en-US" sz="1650" dirty="0"/>
          </a:p>
        </p:txBody>
      </p:sp>
      <p:sp>
        <p:nvSpPr>
          <p:cNvPr id="6" name="Text 4"/>
          <p:cNvSpPr/>
          <p:nvPr/>
        </p:nvSpPr>
        <p:spPr>
          <a:xfrm>
            <a:off x="685800" y="2034355"/>
            <a:ext cx="1440180" cy="246888"/>
          </a:xfrm>
          <a:prstGeom prst="rect">
            <a:avLst/>
          </a:prstGeom>
          <a:noFill/>
          <a:ln/>
        </p:spPr>
        <p:txBody>
          <a:bodyPr wrap="square" lIns="0" tIns="0" rIns="0" bIns="0" rtlCol="0" anchor="ctr">
            <a:normAutofit/>
          </a:bodyPr>
          <a:lstStyle/>
          <a:p>
            <a:pPr algn="ctr"/>
            <a:r>
              <a:rPr lang="en-US" sz="660" dirty="0">
                <a:solidFill>
                  <a:srgbClr val="1C273A"/>
                </a:solidFill>
              </a:rPr>
              <a:t>consumer loan new production market share</a:t>
            </a:r>
            <a:endParaRPr lang="en-US" sz="660" dirty="0"/>
          </a:p>
        </p:txBody>
      </p:sp>
      <p:sp>
        <p:nvSpPr>
          <p:cNvPr id="7" name="Text 5"/>
          <p:cNvSpPr/>
          <p:nvPr/>
        </p:nvSpPr>
        <p:spPr>
          <a:xfrm>
            <a:off x="2263140" y="1705171"/>
            <a:ext cx="1440180" cy="288036"/>
          </a:xfrm>
          <a:prstGeom prst="rect">
            <a:avLst/>
          </a:prstGeom>
          <a:noFill/>
          <a:ln/>
        </p:spPr>
        <p:txBody>
          <a:bodyPr wrap="square" lIns="0" tIns="0" rIns="0" bIns="0" rtlCol="0" anchor="ctr"/>
          <a:lstStyle/>
          <a:p>
            <a:pPr algn="ctr"/>
            <a:r>
              <a:rPr lang="en-US" sz="1650" b="1" dirty="0">
                <a:solidFill>
                  <a:srgbClr val="005B9E"/>
                </a:solidFill>
              </a:rPr>
              <a:t>+106%</a:t>
            </a:r>
            <a:endParaRPr lang="en-US" sz="1650" dirty="0"/>
          </a:p>
        </p:txBody>
      </p:sp>
      <p:sp>
        <p:nvSpPr>
          <p:cNvPr id="8" name="Text 6"/>
          <p:cNvSpPr/>
          <p:nvPr/>
        </p:nvSpPr>
        <p:spPr>
          <a:xfrm>
            <a:off x="2263140" y="2034355"/>
            <a:ext cx="1440180" cy="246888"/>
          </a:xfrm>
          <a:prstGeom prst="rect">
            <a:avLst/>
          </a:prstGeom>
          <a:noFill/>
          <a:ln/>
        </p:spPr>
        <p:txBody>
          <a:bodyPr wrap="square" lIns="0" tIns="0" rIns="0" bIns="0" rtlCol="0" anchor="ctr">
            <a:normAutofit/>
          </a:bodyPr>
          <a:lstStyle/>
          <a:p>
            <a:pPr algn="ctr"/>
            <a:r>
              <a:rPr lang="en-US" sz="660" dirty="0">
                <a:solidFill>
                  <a:srgbClr val="1C273A"/>
                </a:solidFill>
              </a:rPr>
              <a:t>increase in disbursements from 2021 to 2025</a:t>
            </a:r>
            <a:endParaRPr lang="en-US" sz="660" dirty="0"/>
          </a:p>
        </p:txBody>
      </p:sp>
      <p:sp>
        <p:nvSpPr>
          <p:cNvPr id="9" name="Text 7"/>
          <p:cNvSpPr/>
          <p:nvPr/>
        </p:nvSpPr>
        <p:spPr>
          <a:xfrm>
            <a:off x="3840480" y="1705171"/>
            <a:ext cx="1303020" cy="288036"/>
          </a:xfrm>
          <a:prstGeom prst="rect">
            <a:avLst/>
          </a:prstGeom>
          <a:noFill/>
          <a:ln/>
        </p:spPr>
        <p:txBody>
          <a:bodyPr wrap="square" lIns="0" tIns="0" rIns="0" bIns="0" rtlCol="0" anchor="ctr"/>
          <a:lstStyle/>
          <a:p>
            <a:pPr algn="ctr"/>
            <a:r>
              <a:rPr lang="en-US" sz="1650" b="1" dirty="0">
                <a:solidFill>
                  <a:srgbClr val="005B9E"/>
                </a:solidFill>
              </a:rPr>
              <a:t>32%</a:t>
            </a:r>
            <a:endParaRPr lang="en-US" sz="1650" dirty="0"/>
          </a:p>
        </p:txBody>
      </p:sp>
      <p:sp>
        <p:nvSpPr>
          <p:cNvPr id="10" name="Text 8"/>
          <p:cNvSpPr/>
          <p:nvPr/>
        </p:nvSpPr>
        <p:spPr>
          <a:xfrm>
            <a:off x="3840480" y="2034355"/>
            <a:ext cx="1303020" cy="246888"/>
          </a:xfrm>
          <a:prstGeom prst="rect">
            <a:avLst/>
          </a:prstGeom>
          <a:noFill/>
          <a:ln/>
        </p:spPr>
        <p:txBody>
          <a:bodyPr wrap="square" lIns="0" tIns="0" rIns="0" bIns="0" rtlCol="0" anchor="ctr">
            <a:normAutofit/>
          </a:bodyPr>
          <a:lstStyle/>
          <a:p>
            <a:pPr algn="ctr"/>
            <a:r>
              <a:rPr lang="en-US" sz="660" dirty="0">
                <a:solidFill>
                  <a:srgbClr val="1C273A"/>
                </a:solidFill>
              </a:rPr>
              <a:t>digital contribution by value</a:t>
            </a:r>
            <a:endParaRPr lang="en-US" sz="660" dirty="0"/>
          </a:p>
        </p:txBody>
      </p:sp>
      <p:sp>
        <p:nvSpPr>
          <p:cNvPr id="11" name="Text 9"/>
          <p:cNvSpPr/>
          <p:nvPr/>
        </p:nvSpPr>
        <p:spPr>
          <a:xfrm>
            <a:off x="5246370" y="1705171"/>
            <a:ext cx="1303020" cy="288036"/>
          </a:xfrm>
          <a:prstGeom prst="rect">
            <a:avLst/>
          </a:prstGeom>
          <a:noFill/>
          <a:ln/>
        </p:spPr>
        <p:txBody>
          <a:bodyPr wrap="square" lIns="0" tIns="0" rIns="0" bIns="0" rtlCol="0" anchor="ctr"/>
          <a:lstStyle/>
          <a:p>
            <a:pPr algn="ctr"/>
            <a:r>
              <a:rPr lang="en-US" sz="1650" b="1" dirty="0">
                <a:solidFill>
                  <a:srgbClr val="005B9E"/>
                </a:solidFill>
              </a:rPr>
              <a:t>54%</a:t>
            </a:r>
            <a:endParaRPr lang="en-US" sz="1650" dirty="0"/>
          </a:p>
        </p:txBody>
      </p:sp>
      <p:sp>
        <p:nvSpPr>
          <p:cNvPr id="12" name="Text 10"/>
          <p:cNvSpPr/>
          <p:nvPr/>
        </p:nvSpPr>
        <p:spPr>
          <a:xfrm>
            <a:off x="5246370" y="2034355"/>
            <a:ext cx="1303020" cy="246888"/>
          </a:xfrm>
          <a:prstGeom prst="rect">
            <a:avLst/>
          </a:prstGeom>
          <a:noFill/>
          <a:ln/>
        </p:spPr>
        <p:txBody>
          <a:bodyPr wrap="square" lIns="0" tIns="0" rIns="0" bIns="0" rtlCol="0" anchor="ctr">
            <a:normAutofit/>
          </a:bodyPr>
          <a:lstStyle/>
          <a:p>
            <a:pPr algn="ctr"/>
            <a:r>
              <a:rPr lang="en-US" sz="660" dirty="0">
                <a:solidFill>
                  <a:srgbClr val="1C273A"/>
                </a:solidFill>
              </a:rPr>
              <a:t>digital contribution by volume</a:t>
            </a:r>
            <a:endParaRPr lang="en-US" sz="660" dirty="0"/>
          </a:p>
        </p:txBody>
      </p:sp>
      <p:sp>
        <p:nvSpPr>
          <p:cNvPr id="13" name="Text 11"/>
          <p:cNvSpPr/>
          <p:nvPr/>
        </p:nvSpPr>
        <p:spPr>
          <a:xfrm>
            <a:off x="6686550" y="1705171"/>
            <a:ext cx="1200150" cy="288036"/>
          </a:xfrm>
          <a:prstGeom prst="rect">
            <a:avLst/>
          </a:prstGeom>
          <a:noFill/>
          <a:ln/>
        </p:spPr>
        <p:txBody>
          <a:bodyPr wrap="square" lIns="0" tIns="0" rIns="0" bIns="0" rtlCol="0" anchor="ctr"/>
          <a:lstStyle/>
          <a:p>
            <a:pPr algn="ctr"/>
            <a:r>
              <a:rPr lang="en-US" sz="1650" b="1" dirty="0">
                <a:solidFill>
                  <a:srgbClr val="005B9E"/>
                </a:solidFill>
              </a:rPr>
              <a:t>~€30m</a:t>
            </a:r>
            <a:endParaRPr lang="en-US" sz="1650" dirty="0"/>
          </a:p>
        </p:txBody>
      </p:sp>
      <p:sp>
        <p:nvSpPr>
          <p:cNvPr id="14" name="Text 12"/>
          <p:cNvSpPr/>
          <p:nvPr/>
        </p:nvSpPr>
        <p:spPr>
          <a:xfrm>
            <a:off x="6686550" y="2034355"/>
            <a:ext cx="1200150" cy="246888"/>
          </a:xfrm>
          <a:prstGeom prst="rect">
            <a:avLst/>
          </a:prstGeom>
          <a:noFill/>
          <a:ln/>
        </p:spPr>
        <p:txBody>
          <a:bodyPr wrap="square" lIns="0" tIns="0" rIns="0" bIns="0" rtlCol="0" anchor="ctr">
            <a:normAutofit/>
          </a:bodyPr>
          <a:lstStyle/>
          <a:p>
            <a:pPr algn="ctr"/>
            <a:r>
              <a:rPr lang="en-US" sz="660" dirty="0">
                <a:solidFill>
                  <a:srgbClr val="1C273A"/>
                </a:solidFill>
              </a:rPr>
              <a:t>net profit in 2025</a:t>
            </a:r>
            <a:endParaRPr lang="en-US" sz="660" dirty="0"/>
          </a:p>
        </p:txBody>
      </p:sp>
      <p:sp>
        <p:nvSpPr>
          <p:cNvPr id="25" name="Text 23"/>
          <p:cNvSpPr/>
          <p:nvPr/>
        </p:nvSpPr>
        <p:spPr>
          <a:xfrm>
            <a:off x="356616" y="4855464"/>
            <a:ext cx="3771900" cy="109728"/>
          </a:xfrm>
          <a:prstGeom prst="rect">
            <a:avLst/>
          </a:prstGeom>
          <a:noFill/>
          <a:ln/>
        </p:spPr>
        <p:txBody>
          <a:bodyPr wrap="square" lIns="0" tIns="0" rIns="0" bIns="0" rtlCol="0" anchor="ctr"/>
          <a:lstStyle/>
          <a:p>
            <a:r>
              <a:rPr lang="en-US" sz="563" dirty="0">
                <a:solidFill>
                  <a:srgbClr val="6E7A8A"/>
                </a:solidFill>
              </a:rPr>
              <a:t>Consumer Loans Growth Strategy</a:t>
            </a:r>
            <a:endParaRPr lang="en-US" sz="563" dirty="0"/>
          </a:p>
        </p:txBody>
      </p:sp>
      <p:sp>
        <p:nvSpPr>
          <p:cNvPr id="26"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081E49"/>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2</a:t>
            </a:fld>
            <a:endParaRPr lang="en-US"/>
          </a:p>
        </p:txBody>
      </p:sp>
      <p:sp>
        <p:nvSpPr>
          <p:cNvPr id="28" name="Shape 3">
            <a:extLst>
              <a:ext uri="{FF2B5EF4-FFF2-40B4-BE49-F238E27FC236}">
                <a16:creationId xmlns:a16="http://schemas.microsoft.com/office/drawing/2014/main" id="{F575E6BE-8134-7F28-F905-F8C4166F7832}"/>
              </a:ext>
            </a:extLst>
          </p:cNvPr>
          <p:cNvSpPr/>
          <p:nvPr/>
        </p:nvSpPr>
        <p:spPr>
          <a:xfrm>
            <a:off x="548640" y="3528632"/>
            <a:ext cx="2057400" cy="0"/>
          </a:xfrm>
          <a:prstGeom prst="line">
            <a:avLst/>
          </a:prstGeom>
          <a:noFill/>
          <a:ln w="63500">
            <a:solidFill>
              <a:srgbClr val="005B9E"/>
            </a:solidFill>
            <a:prstDash val="solid"/>
          </a:ln>
        </p:spPr>
        <p:txBody>
          <a:bodyPr/>
          <a:lstStyle/>
          <a:p>
            <a:endParaRPr lang="el-GR" sz="1350"/>
          </a:p>
        </p:txBody>
      </p:sp>
      <p:sp>
        <p:nvSpPr>
          <p:cNvPr id="29" name="Text 4">
            <a:extLst>
              <a:ext uri="{FF2B5EF4-FFF2-40B4-BE49-F238E27FC236}">
                <a16:creationId xmlns:a16="http://schemas.microsoft.com/office/drawing/2014/main" id="{B5FC0594-9E50-E249-E447-FA71996A39EE}"/>
              </a:ext>
            </a:extLst>
          </p:cNvPr>
          <p:cNvSpPr/>
          <p:nvPr/>
        </p:nvSpPr>
        <p:spPr>
          <a:xfrm>
            <a:off x="548640" y="3686366"/>
            <a:ext cx="2057400" cy="164592"/>
          </a:xfrm>
          <a:prstGeom prst="rect">
            <a:avLst/>
          </a:prstGeom>
          <a:noFill/>
          <a:ln/>
        </p:spPr>
        <p:txBody>
          <a:bodyPr wrap="square" lIns="0" tIns="0" rIns="0" bIns="0" rtlCol="0" anchor="ctr"/>
          <a:lstStyle/>
          <a:p>
            <a:pPr algn="ctr"/>
            <a:r>
              <a:rPr lang="en-US" sz="750" b="1" dirty="0">
                <a:solidFill>
                  <a:srgbClr val="E4002B"/>
                </a:solidFill>
              </a:rPr>
              <a:t>Pillar I</a:t>
            </a:r>
            <a:endParaRPr lang="en-US" sz="750" dirty="0"/>
          </a:p>
        </p:txBody>
      </p:sp>
      <p:sp>
        <p:nvSpPr>
          <p:cNvPr id="30" name="Text 5">
            <a:extLst>
              <a:ext uri="{FF2B5EF4-FFF2-40B4-BE49-F238E27FC236}">
                <a16:creationId xmlns:a16="http://schemas.microsoft.com/office/drawing/2014/main" id="{D96ECDB1-4949-7820-CFFB-74FBA38965F9}"/>
              </a:ext>
            </a:extLst>
          </p:cNvPr>
          <p:cNvSpPr/>
          <p:nvPr/>
        </p:nvSpPr>
        <p:spPr>
          <a:xfrm>
            <a:off x="548640" y="3953828"/>
            <a:ext cx="2057400" cy="377190"/>
          </a:xfrm>
          <a:prstGeom prst="rect">
            <a:avLst/>
          </a:prstGeom>
          <a:noFill/>
          <a:ln/>
        </p:spPr>
        <p:txBody>
          <a:bodyPr wrap="square" lIns="0" tIns="0" rIns="0" bIns="0" rtlCol="0" anchor="ctr">
            <a:normAutofit/>
          </a:bodyPr>
          <a:lstStyle/>
          <a:p>
            <a:pPr algn="ctr"/>
            <a:r>
              <a:rPr lang="en-US" sz="1275" b="1" dirty="0">
                <a:solidFill>
                  <a:srgbClr val="081E49"/>
                </a:solidFill>
              </a:rPr>
              <a:t>Digital Customer Journeys</a:t>
            </a:r>
            <a:endParaRPr lang="en-US" sz="1275" dirty="0"/>
          </a:p>
        </p:txBody>
      </p:sp>
      <p:sp>
        <p:nvSpPr>
          <p:cNvPr id="31" name="Text 6">
            <a:extLst>
              <a:ext uri="{FF2B5EF4-FFF2-40B4-BE49-F238E27FC236}">
                <a16:creationId xmlns:a16="http://schemas.microsoft.com/office/drawing/2014/main" id="{E3195F87-5411-4021-A493-A6A220A68CF9}"/>
              </a:ext>
            </a:extLst>
          </p:cNvPr>
          <p:cNvSpPr/>
          <p:nvPr/>
        </p:nvSpPr>
        <p:spPr>
          <a:xfrm>
            <a:off x="651510" y="4509326"/>
            <a:ext cx="1851660" cy="411480"/>
          </a:xfrm>
          <a:prstGeom prst="rect">
            <a:avLst/>
          </a:prstGeom>
          <a:noFill/>
          <a:ln/>
        </p:spPr>
        <p:txBody>
          <a:bodyPr wrap="square" lIns="0" tIns="0" rIns="0" bIns="0" rtlCol="0" anchor="ctr">
            <a:normAutofit/>
          </a:bodyPr>
          <a:lstStyle/>
          <a:p>
            <a:pPr algn="ctr"/>
            <a:r>
              <a:rPr lang="en-US" sz="788" dirty="0">
                <a:solidFill>
                  <a:srgbClr val="1C273A"/>
                </a:solidFill>
              </a:rPr>
              <a:t>Operationalize personalization across digital and physical touchpoints</a:t>
            </a:r>
            <a:endParaRPr lang="en-US" sz="788" dirty="0"/>
          </a:p>
        </p:txBody>
      </p:sp>
      <p:sp>
        <p:nvSpPr>
          <p:cNvPr id="32" name="Shape 7">
            <a:extLst>
              <a:ext uri="{FF2B5EF4-FFF2-40B4-BE49-F238E27FC236}">
                <a16:creationId xmlns:a16="http://schemas.microsoft.com/office/drawing/2014/main" id="{0A9663A2-559C-2168-130E-607D3139A01A}"/>
              </a:ext>
            </a:extLst>
          </p:cNvPr>
          <p:cNvSpPr/>
          <p:nvPr/>
        </p:nvSpPr>
        <p:spPr>
          <a:xfrm>
            <a:off x="3291840" y="3528632"/>
            <a:ext cx="2057400" cy="0"/>
          </a:xfrm>
          <a:prstGeom prst="line">
            <a:avLst/>
          </a:prstGeom>
          <a:noFill/>
          <a:ln w="63500">
            <a:solidFill>
              <a:srgbClr val="0E6DAE"/>
            </a:solidFill>
            <a:prstDash val="solid"/>
          </a:ln>
        </p:spPr>
        <p:txBody>
          <a:bodyPr/>
          <a:lstStyle/>
          <a:p>
            <a:endParaRPr lang="el-GR" sz="1350"/>
          </a:p>
        </p:txBody>
      </p:sp>
      <p:sp>
        <p:nvSpPr>
          <p:cNvPr id="33" name="Text 8">
            <a:extLst>
              <a:ext uri="{FF2B5EF4-FFF2-40B4-BE49-F238E27FC236}">
                <a16:creationId xmlns:a16="http://schemas.microsoft.com/office/drawing/2014/main" id="{0D90C7D2-A89B-09FC-DF18-7B8D5F5A8464}"/>
              </a:ext>
            </a:extLst>
          </p:cNvPr>
          <p:cNvSpPr/>
          <p:nvPr/>
        </p:nvSpPr>
        <p:spPr>
          <a:xfrm>
            <a:off x="3291840" y="3686366"/>
            <a:ext cx="2057400" cy="164592"/>
          </a:xfrm>
          <a:prstGeom prst="rect">
            <a:avLst/>
          </a:prstGeom>
          <a:noFill/>
          <a:ln/>
        </p:spPr>
        <p:txBody>
          <a:bodyPr wrap="square" lIns="0" tIns="0" rIns="0" bIns="0" rtlCol="0" anchor="ctr"/>
          <a:lstStyle/>
          <a:p>
            <a:pPr algn="ctr"/>
            <a:r>
              <a:rPr lang="en-US" sz="750" b="1" dirty="0">
                <a:solidFill>
                  <a:srgbClr val="E4002B"/>
                </a:solidFill>
              </a:rPr>
              <a:t>Pillar II</a:t>
            </a:r>
            <a:endParaRPr lang="en-US" sz="750" dirty="0"/>
          </a:p>
        </p:txBody>
      </p:sp>
      <p:sp>
        <p:nvSpPr>
          <p:cNvPr id="34" name="Text 9">
            <a:extLst>
              <a:ext uri="{FF2B5EF4-FFF2-40B4-BE49-F238E27FC236}">
                <a16:creationId xmlns:a16="http://schemas.microsoft.com/office/drawing/2014/main" id="{4D685B6A-03CC-3DEA-189C-D6218467201A}"/>
              </a:ext>
            </a:extLst>
          </p:cNvPr>
          <p:cNvSpPr/>
          <p:nvPr/>
        </p:nvSpPr>
        <p:spPr>
          <a:xfrm>
            <a:off x="3291840" y="3953828"/>
            <a:ext cx="2057400" cy="377190"/>
          </a:xfrm>
          <a:prstGeom prst="rect">
            <a:avLst/>
          </a:prstGeom>
          <a:noFill/>
          <a:ln/>
        </p:spPr>
        <p:txBody>
          <a:bodyPr wrap="square" lIns="0" tIns="0" rIns="0" bIns="0" rtlCol="0" anchor="ctr">
            <a:normAutofit lnSpcReduction="10000"/>
          </a:bodyPr>
          <a:lstStyle/>
          <a:p>
            <a:pPr algn="ctr"/>
            <a:r>
              <a:rPr lang="en-US" sz="1275" b="1" dirty="0">
                <a:solidFill>
                  <a:srgbClr val="081E49"/>
                </a:solidFill>
              </a:rPr>
              <a:t>Customer-focused Product Proposition</a:t>
            </a:r>
            <a:endParaRPr lang="en-US" sz="1275" dirty="0"/>
          </a:p>
        </p:txBody>
      </p:sp>
      <p:sp>
        <p:nvSpPr>
          <p:cNvPr id="35" name="Text 10">
            <a:extLst>
              <a:ext uri="{FF2B5EF4-FFF2-40B4-BE49-F238E27FC236}">
                <a16:creationId xmlns:a16="http://schemas.microsoft.com/office/drawing/2014/main" id="{4B0C3C14-332F-76BB-4CB6-1CC6CB50FA8C}"/>
              </a:ext>
            </a:extLst>
          </p:cNvPr>
          <p:cNvSpPr/>
          <p:nvPr/>
        </p:nvSpPr>
        <p:spPr>
          <a:xfrm>
            <a:off x="3394710" y="4509326"/>
            <a:ext cx="1851660" cy="411480"/>
          </a:xfrm>
          <a:prstGeom prst="rect">
            <a:avLst/>
          </a:prstGeom>
          <a:noFill/>
          <a:ln/>
        </p:spPr>
        <p:txBody>
          <a:bodyPr wrap="square" lIns="0" tIns="0" rIns="0" bIns="0" rtlCol="0" anchor="ctr">
            <a:normAutofit/>
          </a:bodyPr>
          <a:lstStyle/>
          <a:p>
            <a:pPr algn="ctr"/>
            <a:r>
              <a:rPr lang="en-US" sz="788" dirty="0">
                <a:solidFill>
                  <a:srgbClr val="1C273A"/>
                </a:solidFill>
              </a:rPr>
              <a:t>Tailor products and pricing to low-risk / high-value segments</a:t>
            </a:r>
            <a:endParaRPr lang="en-US" sz="788" dirty="0"/>
          </a:p>
        </p:txBody>
      </p:sp>
      <p:sp>
        <p:nvSpPr>
          <p:cNvPr id="36" name="Shape 11">
            <a:extLst>
              <a:ext uri="{FF2B5EF4-FFF2-40B4-BE49-F238E27FC236}">
                <a16:creationId xmlns:a16="http://schemas.microsoft.com/office/drawing/2014/main" id="{7C87C7E4-F408-A73D-DE4E-C7644A6F1E32}"/>
              </a:ext>
            </a:extLst>
          </p:cNvPr>
          <p:cNvSpPr/>
          <p:nvPr/>
        </p:nvSpPr>
        <p:spPr>
          <a:xfrm>
            <a:off x="6035040" y="3528632"/>
            <a:ext cx="2057400" cy="0"/>
          </a:xfrm>
          <a:prstGeom prst="line">
            <a:avLst/>
          </a:prstGeom>
          <a:noFill/>
          <a:ln w="63500">
            <a:solidFill>
              <a:srgbClr val="023052"/>
            </a:solidFill>
            <a:prstDash val="solid"/>
          </a:ln>
        </p:spPr>
        <p:txBody>
          <a:bodyPr/>
          <a:lstStyle/>
          <a:p>
            <a:endParaRPr lang="el-GR" sz="1350"/>
          </a:p>
        </p:txBody>
      </p:sp>
      <p:sp>
        <p:nvSpPr>
          <p:cNvPr id="37" name="Text 12">
            <a:extLst>
              <a:ext uri="{FF2B5EF4-FFF2-40B4-BE49-F238E27FC236}">
                <a16:creationId xmlns:a16="http://schemas.microsoft.com/office/drawing/2014/main" id="{408C3B47-E789-70B3-0CD7-2A614DE82998}"/>
              </a:ext>
            </a:extLst>
          </p:cNvPr>
          <p:cNvSpPr/>
          <p:nvPr/>
        </p:nvSpPr>
        <p:spPr>
          <a:xfrm>
            <a:off x="6035040" y="3686366"/>
            <a:ext cx="2057400" cy="164592"/>
          </a:xfrm>
          <a:prstGeom prst="rect">
            <a:avLst/>
          </a:prstGeom>
          <a:noFill/>
          <a:ln/>
        </p:spPr>
        <p:txBody>
          <a:bodyPr wrap="square" lIns="0" tIns="0" rIns="0" bIns="0" rtlCol="0" anchor="ctr"/>
          <a:lstStyle/>
          <a:p>
            <a:pPr algn="ctr"/>
            <a:r>
              <a:rPr lang="en-US" sz="750" b="1" dirty="0">
                <a:solidFill>
                  <a:srgbClr val="E4002B"/>
                </a:solidFill>
              </a:rPr>
              <a:t>Pillar III</a:t>
            </a:r>
            <a:endParaRPr lang="en-US" sz="750" dirty="0"/>
          </a:p>
        </p:txBody>
      </p:sp>
      <p:sp>
        <p:nvSpPr>
          <p:cNvPr id="38" name="Text 13">
            <a:extLst>
              <a:ext uri="{FF2B5EF4-FFF2-40B4-BE49-F238E27FC236}">
                <a16:creationId xmlns:a16="http://schemas.microsoft.com/office/drawing/2014/main" id="{63F3BA6B-066F-9A32-6EA9-88C40CF50258}"/>
              </a:ext>
            </a:extLst>
          </p:cNvPr>
          <p:cNvSpPr/>
          <p:nvPr/>
        </p:nvSpPr>
        <p:spPr>
          <a:xfrm>
            <a:off x="6035040" y="3953828"/>
            <a:ext cx="2057400" cy="377190"/>
          </a:xfrm>
          <a:prstGeom prst="rect">
            <a:avLst/>
          </a:prstGeom>
          <a:noFill/>
          <a:ln/>
        </p:spPr>
        <p:txBody>
          <a:bodyPr wrap="square" lIns="0" tIns="0" rIns="0" bIns="0" rtlCol="0" anchor="ctr">
            <a:normAutofit/>
          </a:bodyPr>
          <a:lstStyle/>
          <a:p>
            <a:pPr algn="ctr"/>
            <a:r>
              <a:rPr lang="en-US" sz="1275" b="1" dirty="0">
                <a:solidFill>
                  <a:srgbClr val="081E49"/>
                </a:solidFill>
              </a:rPr>
              <a:t>Commercial Excellence</a:t>
            </a:r>
            <a:endParaRPr lang="en-US" sz="1275" dirty="0"/>
          </a:p>
        </p:txBody>
      </p:sp>
      <p:sp>
        <p:nvSpPr>
          <p:cNvPr id="39" name="Text 14">
            <a:extLst>
              <a:ext uri="{FF2B5EF4-FFF2-40B4-BE49-F238E27FC236}">
                <a16:creationId xmlns:a16="http://schemas.microsoft.com/office/drawing/2014/main" id="{D7CEE6C9-CBBE-3734-8D3D-F15684612BF6}"/>
              </a:ext>
            </a:extLst>
          </p:cNvPr>
          <p:cNvSpPr/>
          <p:nvPr/>
        </p:nvSpPr>
        <p:spPr>
          <a:xfrm>
            <a:off x="6137910" y="4509326"/>
            <a:ext cx="1851660" cy="411480"/>
          </a:xfrm>
          <a:prstGeom prst="rect">
            <a:avLst/>
          </a:prstGeom>
          <a:noFill/>
          <a:ln/>
        </p:spPr>
        <p:txBody>
          <a:bodyPr wrap="square" lIns="0" tIns="0" rIns="0" bIns="0" rtlCol="0" anchor="ctr">
            <a:normAutofit/>
          </a:bodyPr>
          <a:lstStyle/>
          <a:p>
            <a:pPr algn="ctr"/>
            <a:r>
              <a:rPr lang="en-US" sz="788" dirty="0">
                <a:solidFill>
                  <a:srgbClr val="1C273A"/>
                </a:solidFill>
              </a:rPr>
              <a:t>Use analytics and always-on campaigns to convert demand into sales</a:t>
            </a:r>
            <a:endParaRPr lang="en-US" sz="788" dirty="0"/>
          </a:p>
        </p:txBody>
      </p:sp>
      <p:sp>
        <p:nvSpPr>
          <p:cNvPr id="40" name="Shape 15">
            <a:extLst>
              <a:ext uri="{FF2B5EF4-FFF2-40B4-BE49-F238E27FC236}">
                <a16:creationId xmlns:a16="http://schemas.microsoft.com/office/drawing/2014/main" id="{F45CEE4B-D72D-8248-9CEA-BBFD8B6DAD94}"/>
              </a:ext>
            </a:extLst>
          </p:cNvPr>
          <p:cNvSpPr/>
          <p:nvPr/>
        </p:nvSpPr>
        <p:spPr>
          <a:xfrm>
            <a:off x="1680210" y="5287518"/>
            <a:ext cx="5863590" cy="0"/>
          </a:xfrm>
          <a:prstGeom prst="line">
            <a:avLst/>
          </a:prstGeom>
          <a:noFill/>
          <a:ln w="19050">
            <a:solidFill>
              <a:srgbClr val="E5EAF0"/>
            </a:solidFill>
            <a:prstDash val="solid"/>
          </a:ln>
        </p:spPr>
        <p:txBody>
          <a:bodyPr/>
          <a:lstStyle/>
          <a:p>
            <a:endParaRPr lang="el-GR" sz="1350"/>
          </a:p>
        </p:txBody>
      </p:sp>
      <p:sp>
        <p:nvSpPr>
          <p:cNvPr id="41" name="Text 2">
            <a:extLst>
              <a:ext uri="{FF2B5EF4-FFF2-40B4-BE49-F238E27FC236}">
                <a16:creationId xmlns:a16="http://schemas.microsoft.com/office/drawing/2014/main" id="{9D6516BC-1E68-2F6C-A848-B6F00E8337E0}"/>
              </a:ext>
            </a:extLst>
          </p:cNvPr>
          <p:cNvSpPr/>
          <p:nvPr/>
        </p:nvSpPr>
        <p:spPr>
          <a:xfrm>
            <a:off x="356616" y="800011"/>
            <a:ext cx="8161020" cy="246888"/>
          </a:xfrm>
          <a:prstGeom prst="rect">
            <a:avLst/>
          </a:prstGeom>
          <a:noFill/>
          <a:ln/>
        </p:spPr>
        <p:txBody>
          <a:bodyPr wrap="square" lIns="0" tIns="0" rIns="0" bIns="0" rtlCol="0" anchor="ctr"/>
          <a:lstStyle/>
          <a:p>
            <a:pPr algn="ctr"/>
            <a:r>
              <a:rPr lang="en-US" sz="1700" b="1" dirty="0">
                <a:solidFill>
                  <a:srgbClr val="081E49"/>
                </a:solidFill>
              </a:rPr>
              <a:t>Consumer lending is a profitable growth engine, driven by market leadership and strong digital contribution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23444"/>
            <a:ext cx="6103620" cy="233172"/>
          </a:xfrm>
          <a:prstGeom prst="rect">
            <a:avLst/>
          </a:prstGeom>
          <a:noFill/>
          <a:ln/>
        </p:spPr>
        <p:txBody>
          <a:bodyPr wrap="square" lIns="0" tIns="0" rIns="0" bIns="0" rtlCol="0" anchor="ctr">
            <a:normAutofit/>
          </a:bodyPr>
          <a:lstStyle/>
          <a:p>
            <a:r>
              <a:rPr lang="en-US" sz="1463" dirty="0">
                <a:solidFill>
                  <a:srgbClr val="061C46"/>
                </a:solidFill>
              </a:rPr>
              <a:t>Consumer Loans Strategic Initiatives: Customer Journeys</a:t>
            </a:r>
            <a:endParaRPr lang="en-US" sz="1463" dirty="0"/>
          </a:p>
        </p:txBody>
      </p:sp>
      <p:sp>
        <p:nvSpPr>
          <p:cNvPr id="3" name="Text 1"/>
          <p:cNvSpPr/>
          <p:nvPr/>
        </p:nvSpPr>
        <p:spPr>
          <a:xfrm>
            <a:off x="480060" y="589788"/>
            <a:ext cx="2983230" cy="164592"/>
          </a:xfrm>
          <a:prstGeom prst="rect">
            <a:avLst/>
          </a:prstGeom>
          <a:noFill/>
          <a:ln/>
        </p:spPr>
        <p:txBody>
          <a:bodyPr wrap="square" lIns="0" tIns="0" rIns="0" bIns="0" rtlCol="0" anchor="ctr"/>
          <a:lstStyle/>
          <a:p>
            <a:r>
              <a:rPr lang="en-US" sz="900" b="1" dirty="0">
                <a:solidFill>
                  <a:srgbClr val="E4002B"/>
                </a:solidFill>
              </a:rPr>
              <a:t>Pillar I: Digital Customer Journeys</a:t>
            </a:r>
            <a:endParaRPr lang="en-US" sz="900" dirty="0"/>
          </a:p>
        </p:txBody>
      </p:sp>
      <p:sp>
        <p:nvSpPr>
          <p:cNvPr id="4" name="Text 2"/>
          <p:cNvSpPr/>
          <p:nvPr/>
        </p:nvSpPr>
        <p:spPr>
          <a:xfrm>
            <a:off x="480060" y="781812"/>
            <a:ext cx="6446520" cy="178308"/>
          </a:xfrm>
          <a:prstGeom prst="rect">
            <a:avLst/>
          </a:prstGeom>
          <a:noFill/>
          <a:ln/>
        </p:spPr>
        <p:txBody>
          <a:bodyPr wrap="square" lIns="0" tIns="0" rIns="0" bIns="0" rtlCol="0" anchor="ctr">
            <a:normAutofit/>
          </a:bodyPr>
          <a:lstStyle/>
          <a:p>
            <a:r>
              <a:rPr lang="en-US" sz="975" b="1" dirty="0">
                <a:solidFill>
                  <a:srgbClr val="061C46"/>
                </a:solidFill>
              </a:rPr>
              <a:t>Deliver the right consumer loan proposition to the right customer across every touchpoint</a:t>
            </a:r>
            <a:endParaRPr lang="en-US" sz="975" dirty="0"/>
          </a:p>
        </p:txBody>
      </p:sp>
      <p:sp>
        <p:nvSpPr>
          <p:cNvPr id="5" name="Text 3"/>
          <p:cNvSpPr/>
          <p:nvPr/>
        </p:nvSpPr>
        <p:spPr>
          <a:xfrm>
            <a:off x="480060" y="1014984"/>
            <a:ext cx="7475220" cy="192024"/>
          </a:xfrm>
          <a:prstGeom prst="rect">
            <a:avLst/>
          </a:prstGeom>
          <a:noFill/>
          <a:ln/>
        </p:spPr>
        <p:txBody>
          <a:bodyPr wrap="square" lIns="0" tIns="0" rIns="0" bIns="0" rtlCol="0" anchor="ctr">
            <a:normAutofit/>
          </a:bodyPr>
          <a:lstStyle/>
          <a:p>
            <a:r>
              <a:rPr lang="en-US" sz="840" dirty="0">
                <a:solidFill>
                  <a:srgbClr val="667589"/>
                </a:solidFill>
              </a:rPr>
              <a:t>Operationalize personalization by redesigning the digital journey and simplifying the path from need recognition to application.</a:t>
            </a:r>
            <a:endParaRPr lang="en-US" sz="840" dirty="0"/>
          </a:p>
        </p:txBody>
      </p:sp>
      <p:sp>
        <p:nvSpPr>
          <p:cNvPr id="6" name="Shape 4"/>
          <p:cNvSpPr/>
          <p:nvPr/>
        </p:nvSpPr>
        <p:spPr>
          <a:xfrm>
            <a:off x="493776" y="1405890"/>
            <a:ext cx="2160270" cy="0"/>
          </a:xfrm>
          <a:prstGeom prst="line">
            <a:avLst/>
          </a:prstGeom>
          <a:noFill/>
          <a:ln w="38100">
            <a:solidFill>
              <a:srgbClr val="0066A6"/>
            </a:solidFill>
            <a:prstDash val="solid"/>
          </a:ln>
        </p:spPr>
        <p:txBody>
          <a:bodyPr/>
          <a:lstStyle/>
          <a:p>
            <a:endParaRPr lang="el-GR" sz="1350"/>
          </a:p>
        </p:txBody>
      </p:sp>
      <p:sp>
        <p:nvSpPr>
          <p:cNvPr id="7" name="Text 5"/>
          <p:cNvSpPr/>
          <p:nvPr/>
        </p:nvSpPr>
        <p:spPr>
          <a:xfrm>
            <a:off x="493776" y="1488186"/>
            <a:ext cx="2160270" cy="150876"/>
          </a:xfrm>
          <a:prstGeom prst="rect">
            <a:avLst/>
          </a:prstGeom>
          <a:noFill/>
          <a:ln/>
        </p:spPr>
        <p:txBody>
          <a:bodyPr wrap="square" lIns="0" tIns="0" rIns="0" bIns="0" rtlCol="0" anchor="ctr">
            <a:normAutofit/>
          </a:bodyPr>
          <a:lstStyle/>
          <a:p>
            <a:pPr algn="ctr"/>
            <a:r>
              <a:rPr lang="en-US" sz="788" b="1" dirty="0">
                <a:solidFill>
                  <a:srgbClr val="061C46"/>
                </a:solidFill>
              </a:rPr>
              <a:t>Personalized digital proposition</a:t>
            </a:r>
            <a:endParaRPr lang="en-US" sz="788" dirty="0"/>
          </a:p>
        </p:txBody>
      </p:sp>
      <p:sp>
        <p:nvSpPr>
          <p:cNvPr id="8" name="Shape 6"/>
          <p:cNvSpPr/>
          <p:nvPr/>
        </p:nvSpPr>
        <p:spPr>
          <a:xfrm>
            <a:off x="528066" y="1728216"/>
            <a:ext cx="973836" cy="397764"/>
          </a:xfrm>
          <a:prstGeom prst="roundRect">
            <a:avLst>
              <a:gd name="adj" fmla="val 6897"/>
            </a:avLst>
          </a:prstGeom>
          <a:solidFill>
            <a:srgbClr val="F1F3F5"/>
          </a:solidFill>
          <a:ln w="12700">
            <a:solidFill>
              <a:srgbClr val="F1F3F5"/>
            </a:solidFill>
            <a:prstDash val="solid"/>
          </a:ln>
        </p:spPr>
        <p:txBody>
          <a:bodyPr/>
          <a:lstStyle/>
          <a:p>
            <a:endParaRPr lang="el-GR" sz="1350"/>
          </a:p>
        </p:txBody>
      </p:sp>
      <p:sp>
        <p:nvSpPr>
          <p:cNvPr id="9" name="Text 7"/>
          <p:cNvSpPr/>
          <p:nvPr/>
        </p:nvSpPr>
        <p:spPr>
          <a:xfrm>
            <a:off x="596646" y="1796796"/>
            <a:ext cx="836676" cy="260604"/>
          </a:xfrm>
          <a:prstGeom prst="rect">
            <a:avLst/>
          </a:prstGeom>
          <a:noFill/>
          <a:ln/>
        </p:spPr>
        <p:txBody>
          <a:bodyPr wrap="square" lIns="0" tIns="0" rIns="0" bIns="0" rtlCol="0" anchor="ctr">
            <a:normAutofit/>
          </a:bodyPr>
          <a:lstStyle/>
          <a:p>
            <a:pPr algn="ctr"/>
            <a:r>
              <a:rPr lang="en-US" sz="825" b="1" dirty="0">
                <a:solidFill>
                  <a:srgbClr val="061C46"/>
                </a:solidFill>
              </a:rPr>
              <a:t>Personalized</a:t>
            </a:r>
            <a:endParaRPr lang="en-US" sz="825" dirty="0"/>
          </a:p>
          <a:p>
            <a:pPr algn="ctr"/>
            <a:r>
              <a:rPr lang="en-US" sz="825" b="1" dirty="0">
                <a:solidFill>
                  <a:srgbClr val="061C46"/>
                </a:solidFill>
              </a:rPr>
              <a:t>proposal</a:t>
            </a:r>
            <a:endParaRPr lang="en-US" sz="825" dirty="0"/>
          </a:p>
        </p:txBody>
      </p:sp>
      <p:sp>
        <p:nvSpPr>
          <p:cNvPr id="10" name="Shape 8"/>
          <p:cNvSpPr/>
          <p:nvPr/>
        </p:nvSpPr>
        <p:spPr>
          <a:xfrm>
            <a:off x="1611630" y="1728216"/>
            <a:ext cx="973836" cy="397764"/>
          </a:xfrm>
          <a:prstGeom prst="roundRect">
            <a:avLst>
              <a:gd name="adj" fmla="val 6897"/>
            </a:avLst>
          </a:prstGeom>
          <a:solidFill>
            <a:srgbClr val="F1F3F5"/>
          </a:solidFill>
          <a:ln w="12700">
            <a:solidFill>
              <a:srgbClr val="F1F3F5"/>
            </a:solidFill>
            <a:prstDash val="solid"/>
          </a:ln>
        </p:spPr>
        <p:txBody>
          <a:bodyPr/>
          <a:lstStyle/>
          <a:p>
            <a:endParaRPr lang="el-GR" sz="1350"/>
          </a:p>
        </p:txBody>
      </p:sp>
      <p:sp>
        <p:nvSpPr>
          <p:cNvPr id="11" name="Text 9"/>
          <p:cNvSpPr/>
          <p:nvPr/>
        </p:nvSpPr>
        <p:spPr>
          <a:xfrm>
            <a:off x="1680210" y="1796796"/>
            <a:ext cx="836676" cy="260604"/>
          </a:xfrm>
          <a:prstGeom prst="rect">
            <a:avLst/>
          </a:prstGeom>
          <a:noFill/>
          <a:ln/>
        </p:spPr>
        <p:txBody>
          <a:bodyPr wrap="square" lIns="0" tIns="0" rIns="0" bIns="0" rtlCol="0" anchor="ctr">
            <a:normAutofit/>
          </a:bodyPr>
          <a:lstStyle/>
          <a:p>
            <a:pPr algn="ctr"/>
            <a:r>
              <a:rPr lang="en-US" sz="825" b="1" dirty="0">
                <a:solidFill>
                  <a:srgbClr val="061C46"/>
                </a:solidFill>
              </a:rPr>
              <a:t>Tiles ordering</a:t>
            </a:r>
            <a:endParaRPr lang="en-US" sz="825" dirty="0"/>
          </a:p>
        </p:txBody>
      </p:sp>
      <p:sp>
        <p:nvSpPr>
          <p:cNvPr id="12" name="Shape 10"/>
          <p:cNvSpPr/>
          <p:nvPr/>
        </p:nvSpPr>
        <p:spPr>
          <a:xfrm>
            <a:off x="528066" y="2276856"/>
            <a:ext cx="973836" cy="397764"/>
          </a:xfrm>
          <a:prstGeom prst="roundRect">
            <a:avLst>
              <a:gd name="adj" fmla="val 6897"/>
            </a:avLst>
          </a:prstGeom>
          <a:solidFill>
            <a:srgbClr val="F1F3F5"/>
          </a:solidFill>
          <a:ln w="12700">
            <a:solidFill>
              <a:srgbClr val="F1F3F5"/>
            </a:solidFill>
            <a:prstDash val="solid"/>
          </a:ln>
        </p:spPr>
        <p:txBody>
          <a:bodyPr/>
          <a:lstStyle/>
          <a:p>
            <a:endParaRPr lang="el-GR" sz="1350"/>
          </a:p>
        </p:txBody>
      </p:sp>
      <p:sp>
        <p:nvSpPr>
          <p:cNvPr id="13" name="Text 11"/>
          <p:cNvSpPr/>
          <p:nvPr/>
        </p:nvSpPr>
        <p:spPr>
          <a:xfrm>
            <a:off x="596646" y="2345436"/>
            <a:ext cx="836676" cy="260604"/>
          </a:xfrm>
          <a:prstGeom prst="rect">
            <a:avLst/>
          </a:prstGeom>
          <a:noFill/>
          <a:ln/>
        </p:spPr>
        <p:txBody>
          <a:bodyPr wrap="square" lIns="0" tIns="0" rIns="0" bIns="0" rtlCol="0" anchor="ctr">
            <a:normAutofit/>
          </a:bodyPr>
          <a:lstStyle/>
          <a:p>
            <a:pPr algn="ctr"/>
            <a:r>
              <a:rPr lang="en-US" sz="825" b="1" dirty="0">
                <a:solidFill>
                  <a:srgbClr val="061C46"/>
                </a:solidFill>
              </a:rPr>
              <a:t>Always-on</a:t>
            </a:r>
            <a:endParaRPr lang="en-US" sz="825" dirty="0"/>
          </a:p>
          <a:p>
            <a:pPr algn="ctr"/>
            <a:r>
              <a:rPr lang="en-US" sz="825" b="1" dirty="0">
                <a:solidFill>
                  <a:srgbClr val="061C46"/>
                </a:solidFill>
              </a:rPr>
              <a:t>pre-advised limits</a:t>
            </a:r>
            <a:endParaRPr lang="en-US" sz="825" dirty="0"/>
          </a:p>
        </p:txBody>
      </p:sp>
      <p:sp>
        <p:nvSpPr>
          <p:cNvPr id="14" name="Shape 12"/>
          <p:cNvSpPr/>
          <p:nvPr/>
        </p:nvSpPr>
        <p:spPr>
          <a:xfrm>
            <a:off x="1611630" y="2276856"/>
            <a:ext cx="973836" cy="397764"/>
          </a:xfrm>
          <a:prstGeom prst="roundRect">
            <a:avLst>
              <a:gd name="adj" fmla="val 6897"/>
            </a:avLst>
          </a:prstGeom>
          <a:solidFill>
            <a:srgbClr val="F1F3F5"/>
          </a:solidFill>
          <a:ln w="12700">
            <a:solidFill>
              <a:srgbClr val="F1F3F5"/>
            </a:solidFill>
            <a:prstDash val="solid"/>
          </a:ln>
        </p:spPr>
        <p:txBody>
          <a:bodyPr/>
          <a:lstStyle/>
          <a:p>
            <a:endParaRPr lang="el-GR" sz="1350"/>
          </a:p>
        </p:txBody>
      </p:sp>
      <p:sp>
        <p:nvSpPr>
          <p:cNvPr id="15" name="Text 13"/>
          <p:cNvSpPr/>
          <p:nvPr/>
        </p:nvSpPr>
        <p:spPr>
          <a:xfrm>
            <a:off x="1680210" y="2345436"/>
            <a:ext cx="836676" cy="260604"/>
          </a:xfrm>
          <a:prstGeom prst="rect">
            <a:avLst/>
          </a:prstGeom>
          <a:noFill/>
          <a:ln/>
        </p:spPr>
        <p:txBody>
          <a:bodyPr wrap="square" lIns="0" tIns="0" rIns="0" bIns="0" rtlCol="0" anchor="ctr">
            <a:normAutofit/>
          </a:bodyPr>
          <a:lstStyle/>
          <a:p>
            <a:pPr algn="ctr"/>
            <a:r>
              <a:rPr lang="en-US" sz="825" b="1" dirty="0">
                <a:solidFill>
                  <a:srgbClr val="061C46"/>
                </a:solidFill>
              </a:rPr>
              <a:t>Wizard tool</a:t>
            </a:r>
            <a:endParaRPr lang="en-US" sz="825" dirty="0"/>
          </a:p>
        </p:txBody>
      </p:sp>
      <p:sp>
        <p:nvSpPr>
          <p:cNvPr id="16" name="Text 14"/>
          <p:cNvSpPr/>
          <p:nvPr/>
        </p:nvSpPr>
        <p:spPr>
          <a:xfrm>
            <a:off x="548640" y="2894076"/>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17" name="Text 15"/>
          <p:cNvSpPr/>
          <p:nvPr/>
        </p:nvSpPr>
        <p:spPr>
          <a:xfrm>
            <a:off x="699516" y="2887218"/>
            <a:ext cx="2057400" cy="274320"/>
          </a:xfrm>
          <a:prstGeom prst="rect">
            <a:avLst/>
          </a:prstGeom>
          <a:noFill/>
          <a:ln/>
        </p:spPr>
        <p:txBody>
          <a:bodyPr wrap="square" lIns="0" tIns="0" rIns="0" bIns="0" rtlCol="0" anchor="ctr">
            <a:normAutofit/>
          </a:bodyPr>
          <a:lstStyle/>
          <a:p>
            <a:r>
              <a:rPr lang="en-US" sz="668" dirty="0">
                <a:solidFill>
                  <a:srgbClr val="263446"/>
                </a:solidFill>
              </a:rPr>
              <a:t>Dynamic, parametric and prioritized display of eligible propositions through e-banking and m-banking.</a:t>
            </a:r>
            <a:endParaRPr lang="en-US" sz="668" dirty="0"/>
          </a:p>
        </p:txBody>
      </p:sp>
      <p:sp>
        <p:nvSpPr>
          <p:cNvPr id="18" name="Text 16"/>
          <p:cNvSpPr/>
          <p:nvPr/>
        </p:nvSpPr>
        <p:spPr>
          <a:xfrm>
            <a:off x="548640" y="3264408"/>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19" name="Text 17"/>
          <p:cNvSpPr/>
          <p:nvPr/>
        </p:nvSpPr>
        <p:spPr>
          <a:xfrm>
            <a:off x="699516" y="3257550"/>
            <a:ext cx="2057400" cy="274320"/>
          </a:xfrm>
          <a:prstGeom prst="rect">
            <a:avLst/>
          </a:prstGeom>
          <a:noFill/>
          <a:ln/>
        </p:spPr>
        <p:txBody>
          <a:bodyPr wrap="square" lIns="0" tIns="0" rIns="0" bIns="0" rtlCol="0" anchor="ctr">
            <a:normAutofit/>
          </a:bodyPr>
          <a:lstStyle/>
          <a:p>
            <a:r>
              <a:rPr lang="en-US" sz="668" dirty="0">
                <a:solidFill>
                  <a:srgbClr val="263446"/>
                </a:solidFill>
              </a:rPr>
              <a:t>Personalized amounts, installments and pricing across dashboard, product tiles, pages and online wizard.</a:t>
            </a:r>
            <a:endParaRPr lang="en-US" sz="668" dirty="0"/>
          </a:p>
        </p:txBody>
      </p:sp>
      <p:sp>
        <p:nvSpPr>
          <p:cNvPr id="20" name="Shape 18"/>
          <p:cNvSpPr/>
          <p:nvPr/>
        </p:nvSpPr>
        <p:spPr>
          <a:xfrm>
            <a:off x="2914650" y="1405890"/>
            <a:ext cx="2160270" cy="0"/>
          </a:xfrm>
          <a:prstGeom prst="line">
            <a:avLst/>
          </a:prstGeom>
          <a:noFill/>
          <a:ln w="38100">
            <a:solidFill>
              <a:srgbClr val="0066A6"/>
            </a:solidFill>
            <a:prstDash val="solid"/>
          </a:ln>
        </p:spPr>
        <p:txBody>
          <a:bodyPr/>
          <a:lstStyle/>
          <a:p>
            <a:endParaRPr lang="el-GR" sz="1350"/>
          </a:p>
        </p:txBody>
      </p:sp>
      <p:sp>
        <p:nvSpPr>
          <p:cNvPr id="21" name="Text 19"/>
          <p:cNvSpPr/>
          <p:nvPr/>
        </p:nvSpPr>
        <p:spPr>
          <a:xfrm>
            <a:off x="2914650" y="1488186"/>
            <a:ext cx="2160270" cy="150876"/>
          </a:xfrm>
          <a:prstGeom prst="rect">
            <a:avLst/>
          </a:prstGeom>
          <a:noFill/>
          <a:ln/>
        </p:spPr>
        <p:txBody>
          <a:bodyPr wrap="square" lIns="0" tIns="0" rIns="0" bIns="0" rtlCol="0" anchor="ctr">
            <a:normAutofit/>
          </a:bodyPr>
          <a:lstStyle/>
          <a:p>
            <a:pPr algn="ctr"/>
            <a:r>
              <a:rPr lang="en-US" sz="788" b="1" dirty="0">
                <a:solidFill>
                  <a:srgbClr val="061C46"/>
                </a:solidFill>
              </a:rPr>
              <a:t>Simplified loan application process</a:t>
            </a:r>
            <a:endParaRPr lang="en-US" sz="788" dirty="0"/>
          </a:p>
        </p:txBody>
      </p:sp>
      <p:sp>
        <p:nvSpPr>
          <p:cNvPr id="22" name="Text 20"/>
          <p:cNvSpPr/>
          <p:nvPr/>
        </p:nvSpPr>
        <p:spPr>
          <a:xfrm>
            <a:off x="2983230" y="1789938"/>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23" name="Text 21"/>
          <p:cNvSpPr/>
          <p:nvPr/>
        </p:nvSpPr>
        <p:spPr>
          <a:xfrm>
            <a:off x="3134106" y="1783080"/>
            <a:ext cx="1988820" cy="178308"/>
          </a:xfrm>
          <a:prstGeom prst="rect">
            <a:avLst/>
          </a:prstGeom>
          <a:noFill/>
          <a:ln/>
        </p:spPr>
        <p:txBody>
          <a:bodyPr wrap="square" lIns="0" tIns="0" rIns="0" bIns="0" rtlCol="0" anchor="ctr">
            <a:normAutofit fontScale="92500"/>
          </a:bodyPr>
          <a:lstStyle/>
          <a:p>
            <a:r>
              <a:rPr lang="en-US" sz="668" dirty="0">
                <a:solidFill>
                  <a:srgbClr val="263446"/>
                </a:solidFill>
              </a:rPr>
              <a:t>One-stop shop for loans across branches and digital channels.</a:t>
            </a:r>
            <a:endParaRPr lang="en-US" sz="668" dirty="0"/>
          </a:p>
        </p:txBody>
      </p:sp>
      <p:sp>
        <p:nvSpPr>
          <p:cNvPr id="24" name="Text 22"/>
          <p:cNvSpPr/>
          <p:nvPr/>
        </p:nvSpPr>
        <p:spPr>
          <a:xfrm>
            <a:off x="2983230" y="2043684"/>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25" name="Text 23"/>
          <p:cNvSpPr/>
          <p:nvPr/>
        </p:nvSpPr>
        <p:spPr>
          <a:xfrm>
            <a:off x="3134106" y="2036826"/>
            <a:ext cx="1988820" cy="164592"/>
          </a:xfrm>
          <a:prstGeom prst="rect">
            <a:avLst/>
          </a:prstGeom>
          <a:noFill/>
          <a:ln/>
        </p:spPr>
        <p:txBody>
          <a:bodyPr wrap="square" lIns="0" tIns="0" rIns="0" bIns="0" rtlCol="0" anchor="ctr">
            <a:normAutofit/>
          </a:bodyPr>
          <a:lstStyle/>
          <a:p>
            <a:r>
              <a:rPr lang="en-US" sz="668" dirty="0">
                <a:solidFill>
                  <a:srgbClr val="263446"/>
                </a:solidFill>
              </a:rPr>
              <a:t>Digital signature through digital box.</a:t>
            </a:r>
            <a:endParaRPr lang="en-US" sz="668" dirty="0"/>
          </a:p>
        </p:txBody>
      </p:sp>
      <p:sp>
        <p:nvSpPr>
          <p:cNvPr id="26" name="Text 24"/>
          <p:cNvSpPr/>
          <p:nvPr/>
        </p:nvSpPr>
        <p:spPr>
          <a:xfrm>
            <a:off x="2983230" y="2297430"/>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27" name="Text 25"/>
          <p:cNvSpPr/>
          <p:nvPr/>
        </p:nvSpPr>
        <p:spPr>
          <a:xfrm>
            <a:off x="3134106" y="2290572"/>
            <a:ext cx="1988820" cy="246888"/>
          </a:xfrm>
          <a:prstGeom prst="rect">
            <a:avLst/>
          </a:prstGeom>
          <a:noFill/>
          <a:ln/>
        </p:spPr>
        <p:txBody>
          <a:bodyPr wrap="square" lIns="0" tIns="0" rIns="0" bIns="0" rtlCol="0" anchor="ctr">
            <a:normAutofit/>
          </a:bodyPr>
          <a:lstStyle/>
          <a:p>
            <a:r>
              <a:rPr lang="en-US" sz="668" dirty="0">
                <a:solidFill>
                  <a:srgbClr val="263446"/>
                </a:solidFill>
              </a:rPr>
              <a:t>Auto-retrieve financial and customer data for existing customers.</a:t>
            </a:r>
            <a:endParaRPr lang="en-US" sz="668" dirty="0"/>
          </a:p>
        </p:txBody>
      </p:sp>
      <p:sp>
        <p:nvSpPr>
          <p:cNvPr id="28" name="Text 26"/>
          <p:cNvSpPr/>
          <p:nvPr/>
        </p:nvSpPr>
        <p:spPr>
          <a:xfrm>
            <a:off x="2983230" y="2626614"/>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29" name="Text 27"/>
          <p:cNvSpPr/>
          <p:nvPr/>
        </p:nvSpPr>
        <p:spPr>
          <a:xfrm>
            <a:off x="3134106" y="2619756"/>
            <a:ext cx="1988820" cy="164592"/>
          </a:xfrm>
          <a:prstGeom prst="rect">
            <a:avLst/>
          </a:prstGeom>
          <a:noFill/>
          <a:ln/>
        </p:spPr>
        <p:txBody>
          <a:bodyPr wrap="square" lIns="0" tIns="0" rIns="0" bIns="0" rtlCol="0" anchor="ctr">
            <a:normAutofit/>
          </a:bodyPr>
          <a:lstStyle/>
          <a:p>
            <a:r>
              <a:rPr lang="en-US" sz="668" dirty="0">
                <a:solidFill>
                  <a:srgbClr val="263446"/>
                </a:solidFill>
              </a:rPr>
              <a:t>Checker simplification at branch level.</a:t>
            </a:r>
            <a:endParaRPr lang="en-US" sz="668" dirty="0"/>
          </a:p>
        </p:txBody>
      </p:sp>
      <p:sp>
        <p:nvSpPr>
          <p:cNvPr id="30" name="Text 28"/>
          <p:cNvSpPr/>
          <p:nvPr/>
        </p:nvSpPr>
        <p:spPr>
          <a:xfrm>
            <a:off x="2983230" y="2880360"/>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31" name="Text 29"/>
          <p:cNvSpPr/>
          <p:nvPr/>
        </p:nvSpPr>
        <p:spPr>
          <a:xfrm>
            <a:off x="3134106" y="2873502"/>
            <a:ext cx="1988820" cy="192024"/>
          </a:xfrm>
          <a:prstGeom prst="rect">
            <a:avLst/>
          </a:prstGeom>
          <a:noFill/>
          <a:ln/>
        </p:spPr>
        <p:txBody>
          <a:bodyPr wrap="square" lIns="0" tIns="0" rIns="0" bIns="0" rtlCol="0" anchor="ctr">
            <a:normAutofit/>
          </a:bodyPr>
          <a:lstStyle/>
          <a:p>
            <a:r>
              <a:rPr lang="en-US" sz="668" dirty="0">
                <a:solidFill>
                  <a:srgbClr val="263446"/>
                </a:solidFill>
              </a:rPr>
              <a:t>Automated decisions to improve speed and scalability.</a:t>
            </a:r>
            <a:endParaRPr lang="en-US" sz="668" dirty="0"/>
          </a:p>
        </p:txBody>
      </p:sp>
      <p:sp>
        <p:nvSpPr>
          <p:cNvPr id="32" name="Text 30"/>
          <p:cNvSpPr/>
          <p:nvPr/>
        </p:nvSpPr>
        <p:spPr>
          <a:xfrm>
            <a:off x="2983230" y="3147822"/>
            <a:ext cx="102870" cy="102870"/>
          </a:xfrm>
          <a:prstGeom prst="rect">
            <a:avLst/>
          </a:prstGeom>
          <a:noFill/>
          <a:ln/>
        </p:spPr>
        <p:txBody>
          <a:bodyPr wrap="square" lIns="0" tIns="0" rIns="0" bIns="0" rtlCol="0" anchor="ctr"/>
          <a:lstStyle/>
          <a:p>
            <a:r>
              <a:rPr lang="en-US" sz="563" dirty="0">
                <a:solidFill>
                  <a:srgbClr val="0066A6"/>
                </a:solidFill>
              </a:rPr>
              <a:t>○</a:t>
            </a:r>
            <a:endParaRPr lang="en-US" sz="563" dirty="0"/>
          </a:p>
        </p:txBody>
      </p:sp>
      <p:sp>
        <p:nvSpPr>
          <p:cNvPr id="33" name="Text 31"/>
          <p:cNvSpPr/>
          <p:nvPr/>
        </p:nvSpPr>
        <p:spPr>
          <a:xfrm>
            <a:off x="3134106" y="3140964"/>
            <a:ext cx="1988820" cy="192024"/>
          </a:xfrm>
          <a:prstGeom prst="rect">
            <a:avLst/>
          </a:prstGeom>
          <a:noFill/>
          <a:ln/>
        </p:spPr>
        <p:txBody>
          <a:bodyPr wrap="square" lIns="0" tIns="0" rIns="0" bIns="0" rtlCol="0" anchor="ctr">
            <a:normAutofit/>
          </a:bodyPr>
          <a:lstStyle/>
          <a:p>
            <a:r>
              <a:rPr lang="en-US" sz="668" dirty="0">
                <a:solidFill>
                  <a:srgbClr val="263446"/>
                </a:solidFill>
              </a:rPr>
              <a:t>Remote servicing through e-gov.gr where applicable.</a:t>
            </a:r>
            <a:endParaRPr lang="en-US" sz="668" dirty="0"/>
          </a:p>
        </p:txBody>
      </p:sp>
      <p:sp>
        <p:nvSpPr>
          <p:cNvPr id="34" name="Shape 32"/>
          <p:cNvSpPr/>
          <p:nvPr/>
        </p:nvSpPr>
        <p:spPr>
          <a:xfrm>
            <a:off x="5335524" y="1385316"/>
            <a:ext cx="3326130" cy="2674620"/>
          </a:xfrm>
          <a:prstGeom prst="roundRect">
            <a:avLst>
              <a:gd name="adj" fmla="val 1282"/>
            </a:avLst>
          </a:prstGeom>
          <a:solidFill>
            <a:srgbClr val="F1F3F5"/>
          </a:solidFill>
          <a:ln w="12700">
            <a:solidFill>
              <a:srgbClr val="F1F3F5"/>
            </a:solidFill>
            <a:prstDash val="solid"/>
          </a:ln>
        </p:spPr>
        <p:txBody>
          <a:bodyPr/>
          <a:lstStyle/>
          <a:p>
            <a:endParaRPr lang="el-GR" sz="1350"/>
          </a:p>
        </p:txBody>
      </p:sp>
      <p:sp>
        <p:nvSpPr>
          <p:cNvPr id="35" name="Text 33"/>
          <p:cNvSpPr/>
          <p:nvPr/>
        </p:nvSpPr>
        <p:spPr>
          <a:xfrm>
            <a:off x="5520690" y="1522476"/>
            <a:ext cx="1645920" cy="164592"/>
          </a:xfrm>
          <a:prstGeom prst="rect">
            <a:avLst/>
          </a:prstGeom>
          <a:noFill/>
          <a:ln/>
        </p:spPr>
        <p:txBody>
          <a:bodyPr wrap="square" lIns="0" tIns="0" rIns="0" bIns="0" rtlCol="0" anchor="ctr"/>
          <a:lstStyle/>
          <a:p>
            <a:r>
              <a:rPr lang="en-US" sz="840" b="1" dirty="0">
                <a:solidFill>
                  <a:srgbClr val="E4002B"/>
                </a:solidFill>
              </a:rPr>
              <a:t>Performance indicators</a:t>
            </a:r>
            <a:endParaRPr lang="en-US" sz="840" dirty="0"/>
          </a:p>
        </p:txBody>
      </p:sp>
      <p:sp>
        <p:nvSpPr>
          <p:cNvPr id="36" name="Text 34"/>
          <p:cNvSpPr/>
          <p:nvPr/>
        </p:nvSpPr>
        <p:spPr>
          <a:xfrm>
            <a:off x="5520690" y="1865376"/>
            <a:ext cx="1316736" cy="150876"/>
          </a:xfrm>
          <a:prstGeom prst="rect">
            <a:avLst/>
          </a:prstGeom>
          <a:noFill/>
          <a:ln/>
        </p:spPr>
        <p:txBody>
          <a:bodyPr wrap="square" lIns="0" tIns="0" rIns="0" bIns="0" rtlCol="0" anchor="ctr">
            <a:normAutofit/>
          </a:bodyPr>
          <a:lstStyle/>
          <a:p>
            <a:r>
              <a:rPr lang="en-US" sz="915" b="1" dirty="0">
                <a:solidFill>
                  <a:srgbClr val="061C46"/>
                </a:solidFill>
              </a:rPr>
              <a:t>Auto Decisions</a:t>
            </a:r>
            <a:endParaRPr lang="en-US" sz="915" dirty="0"/>
          </a:p>
        </p:txBody>
      </p:sp>
      <p:sp>
        <p:nvSpPr>
          <p:cNvPr id="37" name="Text 35"/>
          <p:cNvSpPr/>
          <p:nvPr/>
        </p:nvSpPr>
        <p:spPr>
          <a:xfrm>
            <a:off x="7269480" y="1837944"/>
            <a:ext cx="582930" cy="205740"/>
          </a:xfrm>
          <a:prstGeom prst="rect">
            <a:avLst/>
          </a:prstGeom>
          <a:noFill/>
          <a:ln/>
        </p:spPr>
        <p:txBody>
          <a:bodyPr wrap="square" lIns="0" tIns="0" rIns="0" bIns="0" rtlCol="0" anchor="ctr"/>
          <a:lstStyle/>
          <a:p>
            <a:pPr algn="ctr"/>
            <a:r>
              <a:rPr lang="en-US" sz="1215" b="1" dirty="0">
                <a:solidFill>
                  <a:srgbClr val="061C46"/>
                </a:solidFill>
              </a:rPr>
              <a:t>81%</a:t>
            </a:r>
            <a:endParaRPr lang="en-US" sz="1215" dirty="0"/>
          </a:p>
        </p:txBody>
      </p:sp>
      <p:sp>
        <p:nvSpPr>
          <p:cNvPr id="38" name="Shape 36"/>
          <p:cNvSpPr/>
          <p:nvPr/>
        </p:nvSpPr>
        <p:spPr>
          <a:xfrm>
            <a:off x="7893558" y="1885950"/>
            <a:ext cx="123444" cy="102870"/>
          </a:xfrm>
          <a:prstGeom prst="triangle">
            <a:avLst/>
          </a:prstGeom>
          <a:solidFill>
            <a:srgbClr val="007A3D"/>
          </a:solidFill>
          <a:ln w="12700">
            <a:solidFill>
              <a:srgbClr val="007A3D"/>
            </a:solidFill>
            <a:prstDash val="solid"/>
          </a:ln>
        </p:spPr>
        <p:txBody>
          <a:bodyPr/>
          <a:lstStyle/>
          <a:p>
            <a:endParaRPr lang="el-GR" sz="1350"/>
          </a:p>
        </p:txBody>
      </p:sp>
      <p:sp>
        <p:nvSpPr>
          <p:cNvPr id="39" name="Text 37"/>
          <p:cNvSpPr/>
          <p:nvPr/>
        </p:nvSpPr>
        <p:spPr>
          <a:xfrm>
            <a:off x="7002018" y="2125980"/>
            <a:ext cx="1131570" cy="233172"/>
          </a:xfrm>
          <a:prstGeom prst="rect">
            <a:avLst/>
          </a:prstGeom>
          <a:noFill/>
          <a:ln/>
        </p:spPr>
        <p:txBody>
          <a:bodyPr wrap="square" lIns="0" tIns="0" rIns="0" bIns="0" rtlCol="0" anchor="ctr">
            <a:normAutofit/>
          </a:bodyPr>
          <a:lstStyle/>
          <a:p>
            <a:pPr algn="ctr"/>
            <a:r>
              <a:rPr lang="en-US" sz="630" dirty="0">
                <a:solidFill>
                  <a:srgbClr val="263446"/>
                </a:solidFill>
              </a:rPr>
              <a:t>average for all products</a:t>
            </a:r>
            <a:endParaRPr lang="en-US" sz="630" dirty="0"/>
          </a:p>
        </p:txBody>
      </p:sp>
      <p:sp>
        <p:nvSpPr>
          <p:cNvPr id="40" name="Text 38"/>
          <p:cNvSpPr/>
          <p:nvPr/>
        </p:nvSpPr>
        <p:spPr>
          <a:xfrm>
            <a:off x="6412230" y="2194560"/>
            <a:ext cx="480060" cy="123444"/>
          </a:xfrm>
          <a:prstGeom prst="rect">
            <a:avLst/>
          </a:prstGeom>
          <a:noFill/>
          <a:ln/>
        </p:spPr>
        <p:txBody>
          <a:bodyPr wrap="square" lIns="0" tIns="0" rIns="0" bIns="0" rtlCol="0" anchor="ctr"/>
          <a:lstStyle/>
          <a:p>
            <a:pPr algn="ctr"/>
            <a:r>
              <a:rPr lang="en-US" sz="600" dirty="0">
                <a:solidFill>
                  <a:srgbClr val="263446"/>
                </a:solidFill>
              </a:rPr>
              <a:t>Oct ’24</a:t>
            </a:r>
            <a:endParaRPr lang="en-US" sz="600" dirty="0"/>
          </a:p>
        </p:txBody>
      </p:sp>
      <p:sp>
        <p:nvSpPr>
          <p:cNvPr id="41" name="Shape 39"/>
          <p:cNvSpPr/>
          <p:nvPr/>
        </p:nvSpPr>
        <p:spPr>
          <a:xfrm>
            <a:off x="5486400" y="2496312"/>
            <a:ext cx="2990088" cy="0"/>
          </a:xfrm>
          <a:prstGeom prst="line">
            <a:avLst/>
          </a:prstGeom>
          <a:noFill/>
          <a:ln w="10160">
            <a:solidFill>
              <a:srgbClr val="D7DDE4"/>
            </a:solidFill>
            <a:prstDash val="solid"/>
          </a:ln>
        </p:spPr>
        <p:txBody>
          <a:bodyPr/>
          <a:lstStyle/>
          <a:p>
            <a:endParaRPr lang="el-GR" sz="1350"/>
          </a:p>
        </p:txBody>
      </p:sp>
      <p:sp>
        <p:nvSpPr>
          <p:cNvPr id="42" name="Text 40"/>
          <p:cNvSpPr/>
          <p:nvPr/>
        </p:nvSpPr>
        <p:spPr>
          <a:xfrm>
            <a:off x="5520690" y="2660904"/>
            <a:ext cx="1440180" cy="164592"/>
          </a:xfrm>
          <a:prstGeom prst="rect">
            <a:avLst/>
          </a:prstGeom>
          <a:noFill/>
          <a:ln/>
        </p:spPr>
        <p:txBody>
          <a:bodyPr wrap="square" lIns="0" tIns="0" rIns="0" bIns="0" rtlCol="0" anchor="ctr"/>
          <a:lstStyle/>
          <a:p>
            <a:r>
              <a:rPr lang="en-US" sz="915" b="1" dirty="0">
                <a:solidFill>
                  <a:srgbClr val="061C46"/>
                </a:solidFill>
              </a:rPr>
              <a:t>Digital Penetration</a:t>
            </a:r>
            <a:endParaRPr lang="en-US" sz="915" dirty="0"/>
          </a:p>
        </p:txBody>
      </p:sp>
      <p:sp>
        <p:nvSpPr>
          <p:cNvPr id="43" name="Text 41"/>
          <p:cNvSpPr/>
          <p:nvPr/>
        </p:nvSpPr>
        <p:spPr>
          <a:xfrm>
            <a:off x="5520690" y="2948940"/>
            <a:ext cx="1748790" cy="123444"/>
          </a:xfrm>
          <a:prstGeom prst="rect">
            <a:avLst/>
          </a:prstGeom>
          <a:noFill/>
          <a:ln/>
        </p:spPr>
        <p:txBody>
          <a:bodyPr wrap="square" lIns="0" tIns="0" rIns="0" bIns="0" rtlCol="0" anchor="ctr"/>
          <a:lstStyle/>
          <a:p>
            <a:r>
              <a:rPr lang="en-US" sz="608" dirty="0">
                <a:solidFill>
                  <a:srgbClr val="263446"/>
                </a:solidFill>
              </a:rPr>
              <a:t>YTD 2024 | Digital &amp; Hybrid Sales</a:t>
            </a:r>
            <a:endParaRPr lang="en-US" sz="608" dirty="0"/>
          </a:p>
        </p:txBody>
      </p:sp>
      <p:sp>
        <p:nvSpPr>
          <p:cNvPr id="44" name="Text 42"/>
          <p:cNvSpPr/>
          <p:nvPr/>
        </p:nvSpPr>
        <p:spPr>
          <a:xfrm>
            <a:off x="7420356" y="2880360"/>
            <a:ext cx="493776" cy="150876"/>
          </a:xfrm>
          <a:prstGeom prst="rect">
            <a:avLst/>
          </a:prstGeom>
          <a:noFill/>
          <a:ln/>
        </p:spPr>
        <p:txBody>
          <a:bodyPr wrap="square" lIns="0" tIns="0" rIns="0" bIns="0" rtlCol="0" anchor="ctr"/>
          <a:lstStyle/>
          <a:p>
            <a:pPr algn="ctr"/>
            <a:r>
              <a:rPr lang="en-US" sz="1005" b="1" dirty="0">
                <a:solidFill>
                  <a:srgbClr val="061C46"/>
                </a:solidFill>
              </a:rPr>
              <a:t>71%</a:t>
            </a:r>
            <a:endParaRPr lang="en-US" sz="1005" dirty="0"/>
          </a:p>
        </p:txBody>
      </p:sp>
      <p:sp>
        <p:nvSpPr>
          <p:cNvPr id="45" name="Text 43"/>
          <p:cNvSpPr/>
          <p:nvPr/>
        </p:nvSpPr>
        <p:spPr>
          <a:xfrm>
            <a:off x="5795010" y="3209544"/>
            <a:ext cx="1474470" cy="123444"/>
          </a:xfrm>
          <a:prstGeom prst="rect">
            <a:avLst/>
          </a:prstGeom>
          <a:noFill/>
          <a:ln/>
        </p:spPr>
        <p:txBody>
          <a:bodyPr wrap="square" lIns="0" tIns="0" rIns="0" bIns="0" rtlCol="0" anchor="ctr"/>
          <a:lstStyle/>
          <a:p>
            <a:r>
              <a:rPr lang="en-US" sz="608" dirty="0">
                <a:solidFill>
                  <a:srgbClr val="263446"/>
                </a:solidFill>
              </a:rPr>
              <a:t>YTD 2024 | Digital Sales</a:t>
            </a:r>
            <a:endParaRPr lang="en-US" sz="608" dirty="0"/>
          </a:p>
        </p:txBody>
      </p:sp>
      <p:sp>
        <p:nvSpPr>
          <p:cNvPr id="46" name="Text 44"/>
          <p:cNvSpPr/>
          <p:nvPr/>
        </p:nvSpPr>
        <p:spPr>
          <a:xfrm>
            <a:off x="7420356" y="3147822"/>
            <a:ext cx="493776" cy="150876"/>
          </a:xfrm>
          <a:prstGeom prst="rect">
            <a:avLst/>
          </a:prstGeom>
          <a:noFill/>
          <a:ln/>
        </p:spPr>
        <p:txBody>
          <a:bodyPr wrap="square" lIns="0" tIns="0" rIns="0" bIns="0" rtlCol="0" anchor="ctr"/>
          <a:lstStyle/>
          <a:p>
            <a:pPr algn="ctr"/>
            <a:r>
              <a:rPr lang="en-US" sz="1005" b="1" dirty="0">
                <a:solidFill>
                  <a:srgbClr val="061C46"/>
                </a:solidFill>
              </a:rPr>
              <a:t>51%</a:t>
            </a:r>
            <a:endParaRPr lang="en-US" sz="1005" dirty="0"/>
          </a:p>
        </p:txBody>
      </p:sp>
      <p:sp>
        <p:nvSpPr>
          <p:cNvPr id="47" name="Shape 45"/>
          <p:cNvSpPr/>
          <p:nvPr/>
        </p:nvSpPr>
        <p:spPr>
          <a:xfrm>
            <a:off x="5486400" y="3456432"/>
            <a:ext cx="2990088" cy="0"/>
          </a:xfrm>
          <a:prstGeom prst="line">
            <a:avLst/>
          </a:prstGeom>
          <a:noFill/>
          <a:ln w="10160">
            <a:solidFill>
              <a:srgbClr val="D7DDE4"/>
            </a:solidFill>
            <a:prstDash val="solid"/>
          </a:ln>
        </p:spPr>
        <p:txBody>
          <a:bodyPr/>
          <a:lstStyle/>
          <a:p>
            <a:endParaRPr lang="el-GR" sz="1350"/>
          </a:p>
        </p:txBody>
      </p:sp>
      <p:sp>
        <p:nvSpPr>
          <p:cNvPr id="48" name="Text 46"/>
          <p:cNvSpPr/>
          <p:nvPr/>
        </p:nvSpPr>
        <p:spPr>
          <a:xfrm>
            <a:off x="6412230" y="3655314"/>
            <a:ext cx="480060" cy="178308"/>
          </a:xfrm>
          <a:prstGeom prst="rect">
            <a:avLst/>
          </a:prstGeom>
          <a:noFill/>
          <a:ln/>
        </p:spPr>
        <p:txBody>
          <a:bodyPr wrap="square" lIns="0" tIns="0" rIns="0" bIns="0" rtlCol="0" anchor="ctr"/>
          <a:lstStyle/>
          <a:p>
            <a:pPr algn="ctr"/>
            <a:r>
              <a:rPr lang="en-US" sz="1028" b="1" dirty="0">
                <a:solidFill>
                  <a:srgbClr val="061C46"/>
                </a:solidFill>
              </a:rPr>
              <a:t>NPS</a:t>
            </a:r>
            <a:endParaRPr lang="en-US" sz="1028" dirty="0"/>
          </a:p>
        </p:txBody>
      </p:sp>
      <p:sp>
        <p:nvSpPr>
          <p:cNvPr id="49" name="Text 47"/>
          <p:cNvSpPr/>
          <p:nvPr/>
        </p:nvSpPr>
        <p:spPr>
          <a:xfrm>
            <a:off x="6995160" y="3627882"/>
            <a:ext cx="754380" cy="205740"/>
          </a:xfrm>
          <a:prstGeom prst="rect">
            <a:avLst/>
          </a:prstGeom>
          <a:noFill/>
          <a:ln/>
        </p:spPr>
        <p:txBody>
          <a:bodyPr wrap="square" lIns="0" tIns="0" rIns="0" bIns="0" rtlCol="0" anchor="ctr"/>
          <a:lstStyle/>
          <a:p>
            <a:pPr algn="ctr"/>
            <a:r>
              <a:rPr lang="en-US" sz="1163" b="1" dirty="0">
                <a:solidFill>
                  <a:srgbClr val="061C46"/>
                </a:solidFill>
              </a:rPr>
              <a:t>73 - 76</a:t>
            </a:r>
            <a:endParaRPr lang="en-US" sz="1163" dirty="0"/>
          </a:p>
        </p:txBody>
      </p:sp>
      <p:sp>
        <p:nvSpPr>
          <p:cNvPr id="50" name="Shape 48"/>
          <p:cNvSpPr/>
          <p:nvPr/>
        </p:nvSpPr>
        <p:spPr>
          <a:xfrm>
            <a:off x="7818120" y="3669030"/>
            <a:ext cx="123444" cy="102870"/>
          </a:xfrm>
          <a:prstGeom prst="triangle">
            <a:avLst/>
          </a:prstGeom>
          <a:solidFill>
            <a:srgbClr val="007A3D"/>
          </a:solidFill>
          <a:ln w="12700">
            <a:solidFill>
              <a:srgbClr val="007A3D"/>
            </a:solidFill>
            <a:prstDash val="solid"/>
          </a:ln>
        </p:spPr>
        <p:txBody>
          <a:bodyPr/>
          <a:lstStyle/>
          <a:p>
            <a:endParaRPr lang="el-GR" sz="1350"/>
          </a:p>
        </p:txBody>
      </p:sp>
      <p:sp>
        <p:nvSpPr>
          <p:cNvPr id="51" name="Text 49"/>
          <p:cNvSpPr/>
          <p:nvPr/>
        </p:nvSpPr>
        <p:spPr>
          <a:xfrm>
            <a:off x="6892290" y="3909060"/>
            <a:ext cx="377190" cy="109728"/>
          </a:xfrm>
          <a:prstGeom prst="rect">
            <a:avLst/>
          </a:prstGeom>
          <a:noFill/>
          <a:ln/>
        </p:spPr>
        <p:txBody>
          <a:bodyPr wrap="square" lIns="0" tIns="0" rIns="0" bIns="0" rtlCol="0" anchor="ctr"/>
          <a:lstStyle/>
          <a:p>
            <a:pPr algn="ctr"/>
            <a:r>
              <a:rPr lang="en-US" sz="630" dirty="0">
                <a:solidFill>
                  <a:srgbClr val="263446"/>
                </a:solidFill>
              </a:rPr>
              <a:t>digital</a:t>
            </a:r>
            <a:endParaRPr lang="en-US" sz="630" dirty="0"/>
          </a:p>
        </p:txBody>
      </p:sp>
      <p:sp>
        <p:nvSpPr>
          <p:cNvPr id="52" name="Text 50"/>
          <p:cNvSpPr/>
          <p:nvPr/>
        </p:nvSpPr>
        <p:spPr>
          <a:xfrm>
            <a:off x="7379208" y="3909060"/>
            <a:ext cx="452628" cy="109728"/>
          </a:xfrm>
          <a:prstGeom prst="rect">
            <a:avLst/>
          </a:prstGeom>
          <a:noFill/>
          <a:ln/>
        </p:spPr>
        <p:txBody>
          <a:bodyPr wrap="square" lIns="0" tIns="0" rIns="0" bIns="0" rtlCol="0" anchor="ctr"/>
          <a:lstStyle/>
          <a:p>
            <a:pPr algn="ctr"/>
            <a:r>
              <a:rPr lang="en-US" sz="630" dirty="0">
                <a:solidFill>
                  <a:srgbClr val="263446"/>
                </a:solidFill>
              </a:rPr>
              <a:t>physical</a:t>
            </a:r>
            <a:endParaRPr lang="en-US" sz="630" dirty="0"/>
          </a:p>
        </p:txBody>
      </p:sp>
      <p:sp>
        <p:nvSpPr>
          <p:cNvPr id="53" name="Text 51"/>
          <p:cNvSpPr/>
          <p:nvPr/>
        </p:nvSpPr>
        <p:spPr>
          <a:xfrm>
            <a:off x="493776" y="4443984"/>
            <a:ext cx="1028700" cy="123444"/>
          </a:xfrm>
          <a:prstGeom prst="rect">
            <a:avLst/>
          </a:prstGeom>
          <a:noFill/>
          <a:ln/>
        </p:spPr>
        <p:txBody>
          <a:bodyPr wrap="square" lIns="0" tIns="0" rIns="0" bIns="0" rtlCol="0" anchor="ctr"/>
          <a:lstStyle/>
          <a:p>
            <a:r>
              <a:rPr lang="en-US" sz="645" b="1" dirty="0">
                <a:solidFill>
                  <a:srgbClr val="E4002B"/>
                </a:solidFill>
              </a:rPr>
              <a:t>Business impact</a:t>
            </a:r>
            <a:endParaRPr lang="en-US" sz="645" dirty="0"/>
          </a:p>
        </p:txBody>
      </p:sp>
      <p:sp>
        <p:nvSpPr>
          <p:cNvPr id="54" name="Shape 52"/>
          <p:cNvSpPr/>
          <p:nvPr/>
        </p:nvSpPr>
        <p:spPr>
          <a:xfrm>
            <a:off x="1405890" y="4608576"/>
            <a:ext cx="973836" cy="0"/>
          </a:xfrm>
          <a:prstGeom prst="line">
            <a:avLst/>
          </a:prstGeom>
          <a:noFill/>
          <a:ln w="33020">
            <a:solidFill>
              <a:srgbClr val="0066A6"/>
            </a:solidFill>
            <a:prstDash val="solid"/>
          </a:ln>
        </p:spPr>
        <p:txBody>
          <a:bodyPr/>
          <a:lstStyle/>
          <a:p>
            <a:endParaRPr lang="el-GR" sz="1350"/>
          </a:p>
        </p:txBody>
      </p:sp>
      <p:sp>
        <p:nvSpPr>
          <p:cNvPr id="55" name="Text 53"/>
          <p:cNvSpPr/>
          <p:nvPr/>
        </p:nvSpPr>
        <p:spPr>
          <a:xfrm>
            <a:off x="1159002" y="4704588"/>
            <a:ext cx="1474470" cy="144018"/>
          </a:xfrm>
          <a:prstGeom prst="rect">
            <a:avLst/>
          </a:prstGeom>
          <a:noFill/>
          <a:ln/>
        </p:spPr>
        <p:txBody>
          <a:bodyPr wrap="square" lIns="0" tIns="0" rIns="0" bIns="0" rtlCol="0" anchor="ctr">
            <a:normAutofit/>
          </a:bodyPr>
          <a:lstStyle/>
          <a:p>
            <a:pPr algn="ctr"/>
            <a:r>
              <a:rPr lang="en-US" sz="698" b="1" dirty="0">
                <a:solidFill>
                  <a:srgbClr val="061C46"/>
                </a:solidFill>
              </a:rPr>
              <a:t>Higher conversion</a:t>
            </a:r>
            <a:endParaRPr lang="en-US" sz="698" dirty="0"/>
          </a:p>
        </p:txBody>
      </p:sp>
      <p:sp>
        <p:nvSpPr>
          <p:cNvPr id="56" name="Shape 54"/>
          <p:cNvSpPr/>
          <p:nvPr/>
        </p:nvSpPr>
        <p:spPr>
          <a:xfrm>
            <a:off x="3120390" y="4608576"/>
            <a:ext cx="973836" cy="0"/>
          </a:xfrm>
          <a:prstGeom prst="line">
            <a:avLst/>
          </a:prstGeom>
          <a:noFill/>
          <a:ln w="33020">
            <a:solidFill>
              <a:srgbClr val="0066A6"/>
            </a:solidFill>
            <a:prstDash val="solid"/>
          </a:ln>
        </p:spPr>
        <p:txBody>
          <a:bodyPr/>
          <a:lstStyle/>
          <a:p>
            <a:endParaRPr lang="el-GR" sz="1350"/>
          </a:p>
        </p:txBody>
      </p:sp>
      <p:sp>
        <p:nvSpPr>
          <p:cNvPr id="57" name="Text 55"/>
          <p:cNvSpPr/>
          <p:nvPr/>
        </p:nvSpPr>
        <p:spPr>
          <a:xfrm>
            <a:off x="2873502" y="4704588"/>
            <a:ext cx="1474470" cy="144018"/>
          </a:xfrm>
          <a:prstGeom prst="rect">
            <a:avLst/>
          </a:prstGeom>
          <a:noFill/>
          <a:ln/>
        </p:spPr>
        <p:txBody>
          <a:bodyPr wrap="square" lIns="0" tIns="0" rIns="0" bIns="0" rtlCol="0" anchor="ctr">
            <a:normAutofit/>
          </a:bodyPr>
          <a:lstStyle/>
          <a:p>
            <a:pPr algn="ctr"/>
            <a:r>
              <a:rPr lang="en-US" sz="698" b="1" dirty="0">
                <a:solidFill>
                  <a:srgbClr val="061C46"/>
                </a:solidFill>
              </a:rPr>
              <a:t>Better customer experience</a:t>
            </a:r>
            <a:endParaRPr lang="en-US" sz="698" dirty="0"/>
          </a:p>
        </p:txBody>
      </p:sp>
      <p:sp>
        <p:nvSpPr>
          <p:cNvPr id="58" name="Shape 56"/>
          <p:cNvSpPr/>
          <p:nvPr/>
        </p:nvSpPr>
        <p:spPr>
          <a:xfrm>
            <a:off x="4834890" y="4608576"/>
            <a:ext cx="973836" cy="0"/>
          </a:xfrm>
          <a:prstGeom prst="line">
            <a:avLst/>
          </a:prstGeom>
          <a:noFill/>
          <a:ln w="33020">
            <a:solidFill>
              <a:srgbClr val="0066A6"/>
            </a:solidFill>
            <a:prstDash val="solid"/>
          </a:ln>
        </p:spPr>
        <p:txBody>
          <a:bodyPr/>
          <a:lstStyle/>
          <a:p>
            <a:endParaRPr lang="el-GR" sz="1350"/>
          </a:p>
        </p:txBody>
      </p:sp>
      <p:sp>
        <p:nvSpPr>
          <p:cNvPr id="59" name="Text 57"/>
          <p:cNvSpPr/>
          <p:nvPr/>
        </p:nvSpPr>
        <p:spPr>
          <a:xfrm>
            <a:off x="4588002" y="4704588"/>
            <a:ext cx="1474470" cy="144018"/>
          </a:xfrm>
          <a:prstGeom prst="rect">
            <a:avLst/>
          </a:prstGeom>
          <a:noFill/>
          <a:ln/>
        </p:spPr>
        <p:txBody>
          <a:bodyPr wrap="square" lIns="0" tIns="0" rIns="0" bIns="0" rtlCol="0" anchor="ctr">
            <a:normAutofit/>
          </a:bodyPr>
          <a:lstStyle/>
          <a:p>
            <a:pPr algn="ctr"/>
            <a:r>
              <a:rPr lang="en-US" sz="698" b="1" dirty="0">
                <a:solidFill>
                  <a:srgbClr val="061C46"/>
                </a:solidFill>
              </a:rPr>
              <a:t>Lower acquisition cost</a:t>
            </a:r>
            <a:endParaRPr lang="en-US" sz="698" dirty="0"/>
          </a:p>
        </p:txBody>
      </p:sp>
      <p:sp>
        <p:nvSpPr>
          <p:cNvPr id="60" name="Shape 58"/>
          <p:cNvSpPr/>
          <p:nvPr/>
        </p:nvSpPr>
        <p:spPr>
          <a:xfrm>
            <a:off x="6549390" y="4608576"/>
            <a:ext cx="973836" cy="0"/>
          </a:xfrm>
          <a:prstGeom prst="line">
            <a:avLst/>
          </a:prstGeom>
          <a:noFill/>
          <a:ln w="33020">
            <a:solidFill>
              <a:srgbClr val="0066A6"/>
            </a:solidFill>
            <a:prstDash val="solid"/>
          </a:ln>
        </p:spPr>
        <p:txBody>
          <a:bodyPr/>
          <a:lstStyle/>
          <a:p>
            <a:endParaRPr lang="el-GR" sz="1350"/>
          </a:p>
        </p:txBody>
      </p:sp>
      <p:sp>
        <p:nvSpPr>
          <p:cNvPr id="61" name="Text 59"/>
          <p:cNvSpPr/>
          <p:nvPr/>
        </p:nvSpPr>
        <p:spPr>
          <a:xfrm>
            <a:off x="6302502" y="4704588"/>
            <a:ext cx="1474470" cy="144018"/>
          </a:xfrm>
          <a:prstGeom prst="rect">
            <a:avLst/>
          </a:prstGeom>
          <a:noFill/>
          <a:ln/>
        </p:spPr>
        <p:txBody>
          <a:bodyPr wrap="square" lIns="0" tIns="0" rIns="0" bIns="0" rtlCol="0" anchor="ctr">
            <a:normAutofit/>
          </a:bodyPr>
          <a:lstStyle/>
          <a:p>
            <a:pPr algn="ctr"/>
            <a:r>
              <a:rPr lang="en-US" sz="698" b="1" dirty="0">
                <a:solidFill>
                  <a:srgbClr val="061C46"/>
                </a:solidFill>
              </a:rPr>
              <a:t>Greater scalability</a:t>
            </a:r>
            <a:endParaRPr lang="en-US" sz="698" dirty="0"/>
          </a:p>
        </p:txBody>
      </p:sp>
      <p:sp>
        <p:nvSpPr>
          <p:cNvPr id="62" name="Text 60"/>
          <p:cNvSpPr/>
          <p:nvPr/>
        </p:nvSpPr>
        <p:spPr>
          <a:xfrm>
            <a:off x="356616" y="4855464"/>
            <a:ext cx="2880360" cy="109728"/>
          </a:xfrm>
          <a:prstGeom prst="rect">
            <a:avLst/>
          </a:prstGeom>
          <a:noFill/>
          <a:ln/>
        </p:spPr>
        <p:txBody>
          <a:bodyPr wrap="square" lIns="0" tIns="0" rIns="0" bIns="0" rtlCol="0" anchor="ctr"/>
          <a:lstStyle/>
          <a:p>
            <a:r>
              <a:rPr lang="en-US" sz="525" dirty="0">
                <a:solidFill>
                  <a:srgbClr val="667589"/>
                </a:solidFill>
              </a:rPr>
              <a:t>Consumer Loans Growth Strategy</a:t>
            </a:r>
            <a:endParaRPr lang="en-US" sz="525" dirty="0"/>
          </a:p>
        </p:txBody>
      </p:sp>
      <p:sp>
        <p:nvSpPr>
          <p:cNvPr id="63"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061C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3</a:t>
            </a:fld>
            <a:endParaRPr lang="en-US"/>
          </a:p>
        </p:txBody>
      </p:sp>
      <p:sp>
        <p:nvSpPr>
          <p:cNvPr id="64" name="Text 8">
            <a:extLst>
              <a:ext uri="{FF2B5EF4-FFF2-40B4-BE49-F238E27FC236}">
                <a16:creationId xmlns:a16="http://schemas.microsoft.com/office/drawing/2014/main" id="{68879204-0944-74EF-98DE-93ABE32C91F9}"/>
              </a:ext>
            </a:extLst>
          </p:cNvPr>
          <p:cNvSpPr/>
          <p:nvPr/>
        </p:nvSpPr>
        <p:spPr>
          <a:xfrm>
            <a:off x="699516" y="3633597"/>
            <a:ext cx="2057400" cy="274319"/>
          </a:xfrm>
          <a:prstGeom prst="rect">
            <a:avLst/>
          </a:prstGeom>
          <a:noFill/>
          <a:ln/>
        </p:spPr>
        <p:txBody>
          <a:bodyPr wrap="square" lIns="0" tIns="0" rIns="0" bIns="0" rtlCol="0" anchor="ctr">
            <a:normAutofit/>
          </a:bodyPr>
          <a:lstStyle/>
          <a:p>
            <a:r>
              <a:rPr lang="en-US" sz="675" dirty="0">
                <a:solidFill>
                  <a:srgbClr val="1C273A"/>
                </a:solidFill>
              </a:rPr>
              <a:t>Customers see the products they are eligible for, based on profile, previous activity and business priority.</a:t>
            </a:r>
            <a:endParaRPr lang="en-US" sz="675" dirty="0"/>
          </a:p>
        </p:txBody>
      </p:sp>
      <p:sp>
        <p:nvSpPr>
          <p:cNvPr id="65" name="Text 12">
            <a:extLst>
              <a:ext uri="{FF2B5EF4-FFF2-40B4-BE49-F238E27FC236}">
                <a16:creationId xmlns:a16="http://schemas.microsoft.com/office/drawing/2014/main" id="{3D704B9F-C362-D9C7-FA55-8977118D8AC3}"/>
              </a:ext>
            </a:extLst>
          </p:cNvPr>
          <p:cNvSpPr/>
          <p:nvPr/>
        </p:nvSpPr>
        <p:spPr>
          <a:xfrm>
            <a:off x="699516" y="4011931"/>
            <a:ext cx="2098548" cy="336042"/>
          </a:xfrm>
          <a:prstGeom prst="rect">
            <a:avLst/>
          </a:prstGeom>
          <a:noFill/>
          <a:ln/>
        </p:spPr>
        <p:txBody>
          <a:bodyPr wrap="square" lIns="0" tIns="0" rIns="0" bIns="0" rtlCol="0" anchor="ctr">
            <a:normAutofit/>
          </a:bodyPr>
          <a:lstStyle/>
          <a:p>
            <a:r>
              <a:rPr lang="en-US" sz="675" dirty="0">
                <a:solidFill>
                  <a:srgbClr val="1C273A"/>
                </a:solidFill>
              </a:rPr>
              <a:t>“Find the loan that suits me” wizard guides customers to the most relevant proposition using business rules and customer responses.</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23444"/>
            <a:ext cx="6103620" cy="233172"/>
          </a:xfrm>
          <a:prstGeom prst="rect">
            <a:avLst/>
          </a:prstGeom>
          <a:noFill/>
          <a:ln/>
        </p:spPr>
        <p:txBody>
          <a:bodyPr wrap="square" lIns="0" tIns="0" rIns="0" bIns="0" rtlCol="0" anchor="ctr">
            <a:normAutofit/>
          </a:bodyPr>
          <a:lstStyle/>
          <a:p>
            <a:r>
              <a:rPr lang="en-US" sz="1463" dirty="0">
                <a:solidFill>
                  <a:srgbClr val="061C46"/>
                </a:solidFill>
              </a:rPr>
              <a:t>Consumer Loans Strategic Initiatives: Offering</a:t>
            </a:r>
            <a:endParaRPr lang="en-US" sz="1463" dirty="0"/>
          </a:p>
        </p:txBody>
      </p:sp>
      <p:sp>
        <p:nvSpPr>
          <p:cNvPr id="3" name="Text 1"/>
          <p:cNvSpPr/>
          <p:nvPr/>
        </p:nvSpPr>
        <p:spPr>
          <a:xfrm>
            <a:off x="480060" y="589788"/>
            <a:ext cx="2948940" cy="164592"/>
          </a:xfrm>
          <a:prstGeom prst="rect">
            <a:avLst/>
          </a:prstGeom>
          <a:noFill/>
          <a:ln/>
        </p:spPr>
        <p:txBody>
          <a:bodyPr wrap="square" lIns="0" tIns="0" rIns="0" bIns="0" rtlCol="0" anchor="ctr"/>
          <a:lstStyle/>
          <a:p>
            <a:r>
              <a:rPr lang="en-US" sz="900" b="1" dirty="0">
                <a:solidFill>
                  <a:srgbClr val="E4002B"/>
                </a:solidFill>
              </a:rPr>
              <a:t>Pillar II: Customer-focused Product Proposition</a:t>
            </a:r>
            <a:endParaRPr lang="en-US" sz="900" dirty="0"/>
          </a:p>
        </p:txBody>
      </p:sp>
      <p:sp>
        <p:nvSpPr>
          <p:cNvPr id="4" name="Text 2"/>
          <p:cNvSpPr/>
          <p:nvPr/>
        </p:nvSpPr>
        <p:spPr>
          <a:xfrm>
            <a:off x="480060" y="781812"/>
            <a:ext cx="7749540" cy="205740"/>
          </a:xfrm>
          <a:prstGeom prst="rect">
            <a:avLst/>
          </a:prstGeom>
          <a:noFill/>
          <a:ln/>
        </p:spPr>
        <p:txBody>
          <a:bodyPr wrap="square" lIns="0" tIns="0" rIns="0" bIns="0" rtlCol="0" anchor="ctr">
            <a:normAutofit/>
          </a:bodyPr>
          <a:lstStyle/>
          <a:p>
            <a:r>
              <a:rPr lang="en-US" sz="990" b="1" dirty="0">
                <a:solidFill>
                  <a:srgbClr val="061C46"/>
                </a:solidFill>
              </a:rPr>
              <a:t>Expand the product range and tailor features, pricing and servicing to the specific needs and risk profile of each segment.</a:t>
            </a:r>
            <a:endParaRPr lang="en-US" sz="990" dirty="0"/>
          </a:p>
        </p:txBody>
      </p:sp>
      <p:sp>
        <p:nvSpPr>
          <p:cNvPr id="5" name="Text 3"/>
          <p:cNvSpPr/>
          <p:nvPr/>
        </p:nvSpPr>
        <p:spPr>
          <a:xfrm>
            <a:off x="651510" y="1316735"/>
            <a:ext cx="2736342" cy="178297"/>
          </a:xfrm>
          <a:prstGeom prst="rect">
            <a:avLst/>
          </a:prstGeom>
          <a:noFill/>
          <a:ln/>
        </p:spPr>
        <p:txBody>
          <a:bodyPr wrap="square" lIns="0" tIns="0" rIns="0" bIns="0" rtlCol="0" anchor="ctr"/>
          <a:lstStyle/>
          <a:p>
            <a:r>
              <a:rPr lang="en-US" sz="788" b="1" dirty="0">
                <a:solidFill>
                  <a:srgbClr val="E4002B"/>
                </a:solidFill>
              </a:rPr>
              <a:t>Segment-based &amp; purpose-led propositions </a:t>
            </a:r>
            <a:endParaRPr lang="en-US" sz="788" dirty="0"/>
          </a:p>
        </p:txBody>
      </p:sp>
      <p:sp>
        <p:nvSpPr>
          <p:cNvPr id="6" name="Shape 4"/>
          <p:cNvSpPr/>
          <p:nvPr/>
        </p:nvSpPr>
        <p:spPr>
          <a:xfrm>
            <a:off x="651510" y="1632204"/>
            <a:ext cx="589788" cy="0"/>
          </a:xfrm>
          <a:prstGeom prst="line">
            <a:avLst/>
          </a:prstGeom>
          <a:noFill/>
          <a:ln w="44450">
            <a:solidFill>
              <a:srgbClr val="0066A6"/>
            </a:solidFill>
            <a:prstDash val="solid"/>
          </a:ln>
        </p:spPr>
        <p:txBody>
          <a:bodyPr/>
          <a:lstStyle/>
          <a:p>
            <a:endParaRPr lang="el-GR" sz="1350"/>
          </a:p>
        </p:txBody>
      </p:sp>
      <p:sp>
        <p:nvSpPr>
          <p:cNvPr id="7" name="Text 5"/>
          <p:cNvSpPr/>
          <p:nvPr/>
        </p:nvSpPr>
        <p:spPr>
          <a:xfrm>
            <a:off x="1351026" y="1556766"/>
            <a:ext cx="1062990" cy="150876"/>
          </a:xfrm>
          <a:prstGeom prst="rect">
            <a:avLst/>
          </a:prstGeom>
          <a:noFill/>
          <a:ln/>
        </p:spPr>
        <p:txBody>
          <a:bodyPr wrap="square" lIns="0" tIns="0" rIns="0" bIns="0" rtlCol="0" anchor="ctr">
            <a:normAutofit/>
          </a:bodyPr>
          <a:lstStyle/>
          <a:p>
            <a:r>
              <a:rPr lang="en-US" sz="713" b="1" dirty="0">
                <a:solidFill>
                  <a:srgbClr val="061C46"/>
                </a:solidFill>
              </a:rPr>
              <a:t>Public Sector</a:t>
            </a:r>
            <a:endParaRPr lang="en-US" sz="713" dirty="0"/>
          </a:p>
        </p:txBody>
      </p:sp>
      <p:sp>
        <p:nvSpPr>
          <p:cNvPr id="8" name="Text 6"/>
          <p:cNvSpPr/>
          <p:nvPr/>
        </p:nvSpPr>
        <p:spPr>
          <a:xfrm>
            <a:off x="2530602" y="1549908"/>
            <a:ext cx="2153412" cy="192024"/>
          </a:xfrm>
          <a:prstGeom prst="rect">
            <a:avLst/>
          </a:prstGeom>
          <a:noFill/>
          <a:ln/>
        </p:spPr>
        <p:txBody>
          <a:bodyPr wrap="square" lIns="0" tIns="0" rIns="0" bIns="0" rtlCol="0" anchor="ctr">
            <a:normAutofit/>
          </a:bodyPr>
          <a:lstStyle/>
          <a:p>
            <a:r>
              <a:rPr lang="en-US" sz="585" dirty="0">
                <a:solidFill>
                  <a:srgbClr val="263446"/>
                </a:solidFill>
              </a:rPr>
              <a:t>Payroll deduction; low defaults and attractive pricing.</a:t>
            </a:r>
            <a:endParaRPr lang="en-US" sz="585" dirty="0"/>
          </a:p>
        </p:txBody>
      </p:sp>
      <p:sp>
        <p:nvSpPr>
          <p:cNvPr id="9" name="Shape 7"/>
          <p:cNvSpPr/>
          <p:nvPr/>
        </p:nvSpPr>
        <p:spPr>
          <a:xfrm>
            <a:off x="651510" y="1872234"/>
            <a:ext cx="589788" cy="0"/>
          </a:xfrm>
          <a:prstGeom prst="line">
            <a:avLst/>
          </a:prstGeom>
          <a:noFill/>
          <a:ln w="44450">
            <a:solidFill>
              <a:srgbClr val="003250"/>
            </a:solidFill>
            <a:prstDash val="solid"/>
          </a:ln>
        </p:spPr>
        <p:txBody>
          <a:bodyPr/>
          <a:lstStyle/>
          <a:p>
            <a:endParaRPr lang="el-GR" sz="1350"/>
          </a:p>
        </p:txBody>
      </p:sp>
      <p:sp>
        <p:nvSpPr>
          <p:cNvPr id="10" name="Text 8"/>
          <p:cNvSpPr/>
          <p:nvPr/>
        </p:nvSpPr>
        <p:spPr>
          <a:xfrm>
            <a:off x="1351026" y="1796796"/>
            <a:ext cx="1062990" cy="150876"/>
          </a:xfrm>
          <a:prstGeom prst="rect">
            <a:avLst/>
          </a:prstGeom>
          <a:noFill/>
          <a:ln/>
        </p:spPr>
        <p:txBody>
          <a:bodyPr wrap="square" lIns="0" tIns="0" rIns="0" bIns="0" rtlCol="0" anchor="ctr">
            <a:normAutofit/>
          </a:bodyPr>
          <a:lstStyle/>
          <a:p>
            <a:r>
              <a:rPr lang="en-US" sz="713" b="1" dirty="0">
                <a:solidFill>
                  <a:srgbClr val="061C46"/>
                </a:solidFill>
              </a:rPr>
              <a:t>Group Sales</a:t>
            </a:r>
            <a:endParaRPr lang="en-US" sz="713" dirty="0"/>
          </a:p>
        </p:txBody>
      </p:sp>
      <p:sp>
        <p:nvSpPr>
          <p:cNvPr id="11" name="Text 9"/>
          <p:cNvSpPr/>
          <p:nvPr/>
        </p:nvSpPr>
        <p:spPr>
          <a:xfrm>
            <a:off x="2530602" y="1789938"/>
            <a:ext cx="2153412" cy="192024"/>
          </a:xfrm>
          <a:prstGeom prst="rect">
            <a:avLst/>
          </a:prstGeom>
          <a:noFill/>
          <a:ln/>
        </p:spPr>
        <p:txBody>
          <a:bodyPr wrap="square" lIns="0" tIns="0" rIns="0" bIns="0" rtlCol="0" anchor="ctr">
            <a:normAutofit/>
          </a:bodyPr>
          <a:lstStyle/>
          <a:p>
            <a:r>
              <a:rPr lang="en-US" sz="585" dirty="0">
                <a:solidFill>
                  <a:srgbClr val="263446"/>
                </a:solidFill>
              </a:rPr>
              <a:t>Payroll relationship; repayment aligned with salary date.</a:t>
            </a:r>
            <a:endParaRPr lang="en-US" sz="585" dirty="0"/>
          </a:p>
        </p:txBody>
      </p:sp>
      <p:sp>
        <p:nvSpPr>
          <p:cNvPr id="13" name="Shape 11"/>
          <p:cNvSpPr/>
          <p:nvPr/>
        </p:nvSpPr>
        <p:spPr>
          <a:xfrm>
            <a:off x="4882896" y="1632204"/>
            <a:ext cx="589788" cy="0"/>
          </a:xfrm>
          <a:prstGeom prst="line">
            <a:avLst/>
          </a:prstGeom>
          <a:noFill/>
          <a:ln w="44450">
            <a:solidFill>
              <a:srgbClr val="003250"/>
            </a:solidFill>
            <a:prstDash val="solid"/>
          </a:ln>
        </p:spPr>
        <p:txBody>
          <a:bodyPr/>
          <a:lstStyle/>
          <a:p>
            <a:endParaRPr lang="el-GR" sz="1350"/>
          </a:p>
        </p:txBody>
      </p:sp>
      <p:sp>
        <p:nvSpPr>
          <p:cNvPr id="14" name="Text 12"/>
          <p:cNvSpPr/>
          <p:nvPr/>
        </p:nvSpPr>
        <p:spPr>
          <a:xfrm>
            <a:off x="5582412" y="1556766"/>
            <a:ext cx="1062990" cy="150876"/>
          </a:xfrm>
          <a:prstGeom prst="rect">
            <a:avLst/>
          </a:prstGeom>
          <a:noFill/>
          <a:ln/>
        </p:spPr>
        <p:txBody>
          <a:bodyPr wrap="square" lIns="0" tIns="0" rIns="0" bIns="0" rtlCol="0" anchor="ctr">
            <a:normAutofit/>
          </a:bodyPr>
          <a:lstStyle/>
          <a:p>
            <a:r>
              <a:rPr lang="en-US" sz="713" b="1" dirty="0">
                <a:solidFill>
                  <a:srgbClr val="061C46"/>
                </a:solidFill>
              </a:rPr>
              <a:t>PB Prime/ Cash Plus</a:t>
            </a:r>
            <a:endParaRPr lang="en-US" sz="713" dirty="0"/>
          </a:p>
        </p:txBody>
      </p:sp>
      <p:sp>
        <p:nvSpPr>
          <p:cNvPr id="15" name="Text 13"/>
          <p:cNvSpPr/>
          <p:nvPr/>
        </p:nvSpPr>
        <p:spPr>
          <a:xfrm>
            <a:off x="6761988" y="1549908"/>
            <a:ext cx="2153412" cy="192024"/>
          </a:xfrm>
          <a:prstGeom prst="rect">
            <a:avLst/>
          </a:prstGeom>
          <a:noFill/>
          <a:ln/>
        </p:spPr>
        <p:txBody>
          <a:bodyPr wrap="square" lIns="0" tIns="0" rIns="0" bIns="0" rtlCol="0" anchor="ctr">
            <a:normAutofit/>
          </a:bodyPr>
          <a:lstStyle/>
          <a:p>
            <a:r>
              <a:rPr lang="en-US" sz="585" dirty="0">
                <a:solidFill>
                  <a:srgbClr val="263446"/>
                </a:solidFill>
              </a:rPr>
              <a:t>Affluent customers; tailored limits and preferential pricing.</a:t>
            </a:r>
            <a:endParaRPr lang="en-US" sz="585" dirty="0"/>
          </a:p>
        </p:txBody>
      </p:sp>
      <p:sp>
        <p:nvSpPr>
          <p:cNvPr id="16" name="Shape 14"/>
          <p:cNvSpPr/>
          <p:nvPr/>
        </p:nvSpPr>
        <p:spPr>
          <a:xfrm>
            <a:off x="4882896" y="1872234"/>
            <a:ext cx="589788" cy="0"/>
          </a:xfrm>
          <a:prstGeom prst="line">
            <a:avLst/>
          </a:prstGeom>
          <a:noFill/>
          <a:ln w="44450">
            <a:solidFill>
              <a:srgbClr val="E4002B"/>
            </a:solidFill>
            <a:prstDash val="solid"/>
          </a:ln>
        </p:spPr>
        <p:txBody>
          <a:bodyPr/>
          <a:lstStyle/>
          <a:p>
            <a:endParaRPr lang="el-GR" sz="1350"/>
          </a:p>
        </p:txBody>
      </p:sp>
      <p:sp>
        <p:nvSpPr>
          <p:cNvPr id="17" name="Text 15"/>
          <p:cNvSpPr/>
          <p:nvPr/>
        </p:nvSpPr>
        <p:spPr>
          <a:xfrm>
            <a:off x="5582412" y="1796796"/>
            <a:ext cx="1062990" cy="150876"/>
          </a:xfrm>
          <a:prstGeom prst="rect">
            <a:avLst/>
          </a:prstGeom>
          <a:noFill/>
          <a:ln/>
        </p:spPr>
        <p:txBody>
          <a:bodyPr wrap="square" lIns="0" tIns="0" rIns="0" bIns="0" rtlCol="0" anchor="ctr">
            <a:normAutofit/>
          </a:bodyPr>
          <a:lstStyle/>
          <a:p>
            <a:r>
              <a:rPr lang="en-US" sz="713" b="1" dirty="0">
                <a:solidFill>
                  <a:srgbClr val="061C46"/>
                </a:solidFill>
              </a:rPr>
              <a:t>Green / Student Purpose</a:t>
            </a:r>
            <a:endParaRPr lang="en-US" sz="713" dirty="0"/>
          </a:p>
        </p:txBody>
      </p:sp>
      <p:sp>
        <p:nvSpPr>
          <p:cNvPr id="18" name="Text 16"/>
          <p:cNvSpPr/>
          <p:nvPr/>
        </p:nvSpPr>
        <p:spPr>
          <a:xfrm>
            <a:off x="6761988" y="1789938"/>
            <a:ext cx="2153412" cy="192024"/>
          </a:xfrm>
          <a:prstGeom prst="rect">
            <a:avLst/>
          </a:prstGeom>
          <a:noFill/>
          <a:ln/>
        </p:spPr>
        <p:txBody>
          <a:bodyPr wrap="square" lIns="0" tIns="0" rIns="0" bIns="0" rtlCol="0" anchor="ctr">
            <a:normAutofit/>
          </a:bodyPr>
          <a:lstStyle/>
          <a:p>
            <a:r>
              <a:rPr lang="en-US" sz="585" dirty="0">
                <a:solidFill>
                  <a:srgbClr val="263446"/>
                </a:solidFill>
              </a:rPr>
              <a:t>Specific needs, differentiation and expanded coverage.</a:t>
            </a:r>
            <a:endParaRPr lang="en-US" sz="585" dirty="0"/>
          </a:p>
        </p:txBody>
      </p:sp>
      <p:sp>
        <p:nvSpPr>
          <p:cNvPr id="19" name="Text 17"/>
          <p:cNvSpPr/>
          <p:nvPr/>
        </p:nvSpPr>
        <p:spPr>
          <a:xfrm>
            <a:off x="480060" y="2180844"/>
            <a:ext cx="2194560" cy="164592"/>
          </a:xfrm>
          <a:prstGeom prst="rect">
            <a:avLst/>
          </a:prstGeom>
          <a:noFill/>
          <a:ln/>
        </p:spPr>
        <p:txBody>
          <a:bodyPr wrap="square" lIns="0" tIns="0" rIns="0" bIns="0" rtlCol="0" anchor="ctr"/>
          <a:lstStyle/>
          <a:p>
            <a:r>
              <a:rPr lang="en-US" sz="863" b="1" dirty="0">
                <a:solidFill>
                  <a:srgbClr val="061C46"/>
                </a:solidFill>
              </a:rPr>
              <a:t>Delivered product propositions</a:t>
            </a:r>
            <a:endParaRPr lang="en-US" sz="863" dirty="0"/>
          </a:p>
        </p:txBody>
      </p:sp>
      <p:sp>
        <p:nvSpPr>
          <p:cNvPr id="20" name="Shape 18"/>
          <p:cNvSpPr/>
          <p:nvPr/>
        </p:nvSpPr>
        <p:spPr>
          <a:xfrm>
            <a:off x="493776" y="2441448"/>
            <a:ext cx="1371600" cy="1577340"/>
          </a:xfrm>
          <a:prstGeom prst="roundRect">
            <a:avLst>
              <a:gd name="adj" fmla="val 4000"/>
            </a:avLst>
          </a:prstGeom>
          <a:solidFill>
            <a:srgbClr val="F8F9FB"/>
          </a:solidFill>
          <a:ln w="8890">
            <a:solidFill>
              <a:srgbClr val="D7DDE4"/>
            </a:solidFill>
            <a:prstDash val="solid"/>
          </a:ln>
        </p:spPr>
        <p:txBody>
          <a:bodyPr/>
          <a:lstStyle/>
          <a:p>
            <a:endParaRPr lang="el-GR" sz="1350"/>
          </a:p>
        </p:txBody>
      </p:sp>
      <p:sp>
        <p:nvSpPr>
          <p:cNvPr id="21" name="Shape 19"/>
          <p:cNvSpPr/>
          <p:nvPr/>
        </p:nvSpPr>
        <p:spPr>
          <a:xfrm>
            <a:off x="617220" y="2564892"/>
            <a:ext cx="1124712" cy="0"/>
          </a:xfrm>
          <a:prstGeom prst="line">
            <a:avLst/>
          </a:prstGeom>
          <a:noFill/>
          <a:ln w="38100">
            <a:solidFill>
              <a:srgbClr val="0066A6"/>
            </a:solidFill>
            <a:prstDash val="solid"/>
          </a:ln>
        </p:spPr>
        <p:txBody>
          <a:bodyPr/>
          <a:lstStyle/>
          <a:p>
            <a:endParaRPr lang="el-GR" sz="1350"/>
          </a:p>
        </p:txBody>
      </p:sp>
      <p:sp>
        <p:nvSpPr>
          <p:cNvPr id="22" name="Text 20"/>
          <p:cNvSpPr/>
          <p:nvPr/>
        </p:nvSpPr>
        <p:spPr>
          <a:xfrm>
            <a:off x="617220" y="2688336"/>
            <a:ext cx="1124712" cy="164592"/>
          </a:xfrm>
          <a:prstGeom prst="rect">
            <a:avLst/>
          </a:prstGeom>
          <a:noFill/>
          <a:ln/>
        </p:spPr>
        <p:txBody>
          <a:bodyPr wrap="square" lIns="0" tIns="0" rIns="0" bIns="0" rtlCol="0" anchor="ctr">
            <a:normAutofit/>
          </a:bodyPr>
          <a:lstStyle/>
          <a:p>
            <a:pPr algn="ctr"/>
            <a:r>
              <a:rPr lang="en-US" sz="863" b="1" dirty="0">
                <a:solidFill>
                  <a:srgbClr val="061C46"/>
                </a:solidFill>
              </a:rPr>
              <a:t>Fast Loans</a:t>
            </a:r>
            <a:endParaRPr lang="en-US" sz="863" dirty="0"/>
          </a:p>
        </p:txBody>
      </p:sp>
      <p:sp>
        <p:nvSpPr>
          <p:cNvPr id="23" name="Text 21"/>
          <p:cNvSpPr/>
          <p:nvPr/>
        </p:nvSpPr>
        <p:spPr>
          <a:xfrm>
            <a:off x="617220" y="2866644"/>
            <a:ext cx="1124712" cy="137160"/>
          </a:xfrm>
          <a:prstGeom prst="rect">
            <a:avLst/>
          </a:prstGeom>
          <a:noFill/>
          <a:ln/>
        </p:spPr>
        <p:txBody>
          <a:bodyPr wrap="square" lIns="0" tIns="0" rIns="0" bIns="0" rtlCol="0" anchor="ctr">
            <a:normAutofit/>
          </a:bodyPr>
          <a:lstStyle/>
          <a:p>
            <a:pPr algn="ctr"/>
            <a:r>
              <a:rPr lang="en-US" sz="668" dirty="0">
                <a:solidFill>
                  <a:srgbClr val="061C46"/>
                </a:solidFill>
              </a:rPr>
              <a:t>12.0% of disbursements</a:t>
            </a:r>
            <a:endParaRPr lang="en-US" sz="668" dirty="0"/>
          </a:p>
        </p:txBody>
      </p:sp>
      <p:sp>
        <p:nvSpPr>
          <p:cNvPr id="24" name="Text 22"/>
          <p:cNvSpPr/>
          <p:nvPr/>
        </p:nvSpPr>
        <p:spPr>
          <a:xfrm>
            <a:off x="685800" y="3044952"/>
            <a:ext cx="987552" cy="164592"/>
          </a:xfrm>
          <a:prstGeom prst="rect">
            <a:avLst/>
          </a:prstGeom>
          <a:noFill/>
          <a:ln/>
        </p:spPr>
        <p:txBody>
          <a:bodyPr wrap="square" lIns="0" tIns="0" rIns="0" bIns="0" rtlCol="0" anchor="ctr">
            <a:normAutofit/>
          </a:bodyPr>
          <a:lstStyle/>
          <a:p>
            <a:pPr algn="ctr"/>
            <a:r>
              <a:rPr lang="en-US" sz="570" b="1" dirty="0">
                <a:solidFill>
                  <a:srgbClr val="E4002B"/>
                </a:solidFill>
              </a:rPr>
              <a:t>Speed &amp; simplicity</a:t>
            </a:r>
            <a:endParaRPr lang="en-US" sz="570" dirty="0"/>
          </a:p>
        </p:txBody>
      </p:sp>
      <p:sp>
        <p:nvSpPr>
          <p:cNvPr id="25" name="Text 23"/>
          <p:cNvSpPr/>
          <p:nvPr/>
        </p:nvSpPr>
        <p:spPr>
          <a:xfrm>
            <a:off x="644652" y="3284982"/>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26" name="Text 24"/>
          <p:cNvSpPr/>
          <p:nvPr/>
        </p:nvSpPr>
        <p:spPr>
          <a:xfrm>
            <a:off x="768096" y="3264408"/>
            <a:ext cx="973836" cy="192024"/>
          </a:xfrm>
          <a:prstGeom prst="rect">
            <a:avLst/>
          </a:prstGeom>
          <a:noFill/>
          <a:ln/>
        </p:spPr>
        <p:txBody>
          <a:bodyPr wrap="square" lIns="0" tIns="0" rIns="0" bIns="0" rtlCol="0" anchor="ctr">
            <a:normAutofit/>
          </a:bodyPr>
          <a:lstStyle/>
          <a:p>
            <a:r>
              <a:rPr lang="en-US" sz="578" dirty="0">
                <a:solidFill>
                  <a:srgbClr val="263446"/>
                </a:solidFill>
              </a:rPr>
              <a:t>Small loan amount; minimum documentation.</a:t>
            </a:r>
            <a:endParaRPr lang="en-US" sz="578" dirty="0"/>
          </a:p>
        </p:txBody>
      </p:sp>
      <p:sp>
        <p:nvSpPr>
          <p:cNvPr id="27" name="Text 25"/>
          <p:cNvSpPr/>
          <p:nvPr/>
        </p:nvSpPr>
        <p:spPr>
          <a:xfrm>
            <a:off x="644652" y="3518154"/>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28" name="Text 26"/>
          <p:cNvSpPr/>
          <p:nvPr/>
        </p:nvSpPr>
        <p:spPr>
          <a:xfrm>
            <a:off x="768096" y="3497580"/>
            <a:ext cx="973836" cy="192024"/>
          </a:xfrm>
          <a:prstGeom prst="rect">
            <a:avLst/>
          </a:prstGeom>
          <a:noFill/>
          <a:ln/>
        </p:spPr>
        <p:txBody>
          <a:bodyPr wrap="square" lIns="0" tIns="0" rIns="0" bIns="0" rtlCol="0" anchor="ctr">
            <a:normAutofit/>
          </a:bodyPr>
          <a:lstStyle/>
          <a:p>
            <a:r>
              <a:rPr lang="en-US" sz="578" dirty="0">
                <a:solidFill>
                  <a:srgbClr val="263446"/>
                </a:solidFill>
              </a:rPr>
              <a:t>Automation rate &gt;90% and time-to-money up to 15 min.</a:t>
            </a:r>
            <a:endParaRPr lang="en-US" sz="578" dirty="0"/>
          </a:p>
        </p:txBody>
      </p:sp>
      <p:sp>
        <p:nvSpPr>
          <p:cNvPr id="29" name="Text 27"/>
          <p:cNvSpPr/>
          <p:nvPr/>
        </p:nvSpPr>
        <p:spPr>
          <a:xfrm>
            <a:off x="644652" y="3751326"/>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30" name="Text 28"/>
          <p:cNvSpPr/>
          <p:nvPr/>
        </p:nvSpPr>
        <p:spPr>
          <a:xfrm>
            <a:off x="768096" y="3730752"/>
            <a:ext cx="973836" cy="192024"/>
          </a:xfrm>
          <a:prstGeom prst="rect">
            <a:avLst/>
          </a:prstGeom>
          <a:noFill/>
          <a:ln/>
        </p:spPr>
        <p:txBody>
          <a:bodyPr wrap="square" lIns="0" tIns="0" rIns="0" bIns="0" rtlCol="0" anchor="ctr">
            <a:normAutofit/>
          </a:bodyPr>
          <a:lstStyle/>
          <a:p>
            <a:r>
              <a:rPr lang="en-US" sz="578" dirty="0">
                <a:solidFill>
                  <a:srgbClr val="263446"/>
                </a:solidFill>
              </a:rPr>
              <a:t>Best-selling product via Mobile App.</a:t>
            </a:r>
            <a:endParaRPr lang="en-US" sz="578" dirty="0"/>
          </a:p>
        </p:txBody>
      </p:sp>
      <p:sp>
        <p:nvSpPr>
          <p:cNvPr id="31" name="Shape 29"/>
          <p:cNvSpPr/>
          <p:nvPr/>
        </p:nvSpPr>
        <p:spPr>
          <a:xfrm>
            <a:off x="2016252" y="2441448"/>
            <a:ext cx="1371600" cy="1577340"/>
          </a:xfrm>
          <a:prstGeom prst="roundRect">
            <a:avLst>
              <a:gd name="adj" fmla="val 4000"/>
            </a:avLst>
          </a:prstGeom>
          <a:solidFill>
            <a:srgbClr val="F8F9FB"/>
          </a:solidFill>
          <a:ln w="8890">
            <a:solidFill>
              <a:srgbClr val="D7DDE4"/>
            </a:solidFill>
            <a:prstDash val="solid"/>
          </a:ln>
        </p:spPr>
        <p:txBody>
          <a:bodyPr/>
          <a:lstStyle/>
          <a:p>
            <a:endParaRPr lang="el-GR" sz="1350"/>
          </a:p>
        </p:txBody>
      </p:sp>
      <p:sp>
        <p:nvSpPr>
          <p:cNvPr id="32" name="Shape 30"/>
          <p:cNvSpPr/>
          <p:nvPr/>
        </p:nvSpPr>
        <p:spPr>
          <a:xfrm>
            <a:off x="2139696" y="2564892"/>
            <a:ext cx="1124712" cy="0"/>
          </a:xfrm>
          <a:prstGeom prst="line">
            <a:avLst/>
          </a:prstGeom>
          <a:noFill/>
          <a:ln w="38100">
            <a:solidFill>
              <a:srgbClr val="E4002B"/>
            </a:solidFill>
            <a:prstDash val="solid"/>
          </a:ln>
        </p:spPr>
        <p:txBody>
          <a:bodyPr/>
          <a:lstStyle/>
          <a:p>
            <a:endParaRPr lang="el-GR" sz="1350"/>
          </a:p>
        </p:txBody>
      </p:sp>
      <p:sp>
        <p:nvSpPr>
          <p:cNvPr id="33" name="Text 31"/>
          <p:cNvSpPr/>
          <p:nvPr/>
        </p:nvSpPr>
        <p:spPr>
          <a:xfrm>
            <a:off x="2139696" y="2688336"/>
            <a:ext cx="1124712" cy="164592"/>
          </a:xfrm>
          <a:prstGeom prst="rect">
            <a:avLst/>
          </a:prstGeom>
          <a:noFill/>
          <a:ln/>
        </p:spPr>
        <p:txBody>
          <a:bodyPr wrap="square" lIns="0" tIns="0" rIns="0" bIns="0" rtlCol="0" anchor="ctr">
            <a:normAutofit/>
          </a:bodyPr>
          <a:lstStyle/>
          <a:p>
            <a:pPr algn="ctr"/>
            <a:r>
              <a:rPr lang="en-US" sz="863" b="1" dirty="0">
                <a:solidFill>
                  <a:srgbClr val="061C46"/>
                </a:solidFill>
              </a:rPr>
              <a:t>My Fast Loan</a:t>
            </a:r>
            <a:endParaRPr lang="en-US" sz="863" dirty="0"/>
          </a:p>
        </p:txBody>
      </p:sp>
      <p:sp>
        <p:nvSpPr>
          <p:cNvPr id="34" name="Text 32"/>
          <p:cNvSpPr/>
          <p:nvPr/>
        </p:nvSpPr>
        <p:spPr>
          <a:xfrm>
            <a:off x="2139696" y="2866644"/>
            <a:ext cx="1124712" cy="137160"/>
          </a:xfrm>
          <a:prstGeom prst="rect">
            <a:avLst/>
          </a:prstGeom>
          <a:noFill/>
          <a:ln/>
        </p:spPr>
        <p:txBody>
          <a:bodyPr wrap="square" lIns="0" tIns="0" rIns="0" bIns="0" rtlCol="0" anchor="ctr">
            <a:normAutofit/>
          </a:bodyPr>
          <a:lstStyle/>
          <a:p>
            <a:pPr algn="ctr"/>
            <a:r>
              <a:rPr lang="en-US" sz="668" dirty="0">
                <a:solidFill>
                  <a:srgbClr val="061C46"/>
                </a:solidFill>
              </a:rPr>
              <a:t>pre-advised limits</a:t>
            </a:r>
            <a:endParaRPr lang="en-US" sz="668" dirty="0"/>
          </a:p>
        </p:txBody>
      </p:sp>
      <p:sp>
        <p:nvSpPr>
          <p:cNvPr id="35" name="Text 33"/>
          <p:cNvSpPr/>
          <p:nvPr/>
        </p:nvSpPr>
        <p:spPr>
          <a:xfrm>
            <a:off x="2208276" y="3044952"/>
            <a:ext cx="987552" cy="164592"/>
          </a:xfrm>
          <a:prstGeom prst="rect">
            <a:avLst/>
          </a:prstGeom>
          <a:noFill/>
          <a:ln/>
        </p:spPr>
        <p:txBody>
          <a:bodyPr wrap="square" lIns="0" tIns="0" rIns="0" bIns="0" rtlCol="0" anchor="ctr">
            <a:normAutofit/>
          </a:bodyPr>
          <a:lstStyle/>
          <a:p>
            <a:pPr algn="ctr"/>
            <a:r>
              <a:rPr lang="en-US" sz="570" b="1" dirty="0">
                <a:solidFill>
                  <a:srgbClr val="E4002B"/>
                </a:solidFill>
              </a:rPr>
              <a:t>Personalized digital offer</a:t>
            </a:r>
            <a:endParaRPr lang="en-US" sz="570" dirty="0"/>
          </a:p>
        </p:txBody>
      </p:sp>
      <p:sp>
        <p:nvSpPr>
          <p:cNvPr id="36" name="Text 34"/>
          <p:cNvSpPr/>
          <p:nvPr/>
        </p:nvSpPr>
        <p:spPr>
          <a:xfrm>
            <a:off x="2167128" y="3284982"/>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37" name="Text 35"/>
          <p:cNvSpPr/>
          <p:nvPr/>
        </p:nvSpPr>
        <p:spPr>
          <a:xfrm>
            <a:off x="2290572" y="3264408"/>
            <a:ext cx="973836" cy="192024"/>
          </a:xfrm>
          <a:prstGeom prst="rect">
            <a:avLst/>
          </a:prstGeom>
          <a:noFill/>
          <a:ln/>
        </p:spPr>
        <p:txBody>
          <a:bodyPr wrap="square" lIns="0" tIns="0" rIns="0" bIns="0" rtlCol="0" anchor="ctr">
            <a:normAutofit fontScale="92500"/>
          </a:bodyPr>
          <a:lstStyle/>
          <a:p>
            <a:r>
              <a:rPr lang="en-US" sz="578" dirty="0">
                <a:solidFill>
                  <a:srgbClr val="263446"/>
                </a:solidFill>
              </a:rPr>
              <a:t>Preselected customers with limits based on advanced analytics.</a:t>
            </a:r>
            <a:endParaRPr lang="en-US" sz="578" dirty="0"/>
          </a:p>
        </p:txBody>
      </p:sp>
      <p:sp>
        <p:nvSpPr>
          <p:cNvPr id="38" name="Text 36"/>
          <p:cNvSpPr/>
          <p:nvPr/>
        </p:nvSpPr>
        <p:spPr>
          <a:xfrm>
            <a:off x="2167128" y="3518154"/>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39" name="Text 37"/>
          <p:cNvSpPr/>
          <p:nvPr/>
        </p:nvSpPr>
        <p:spPr>
          <a:xfrm>
            <a:off x="2290572" y="3497580"/>
            <a:ext cx="973836" cy="192024"/>
          </a:xfrm>
          <a:prstGeom prst="rect">
            <a:avLst/>
          </a:prstGeom>
          <a:noFill/>
          <a:ln/>
        </p:spPr>
        <p:txBody>
          <a:bodyPr wrap="square" lIns="0" tIns="0" rIns="0" bIns="0" rtlCol="0" anchor="ctr">
            <a:normAutofit/>
          </a:bodyPr>
          <a:lstStyle/>
          <a:p>
            <a:r>
              <a:rPr lang="en-US" sz="578" dirty="0">
                <a:solidFill>
                  <a:srgbClr val="263446"/>
                </a:solidFill>
              </a:rPr>
              <a:t>Personalized amount, instalment and pricing displayed digitally.</a:t>
            </a:r>
            <a:endParaRPr lang="en-US" sz="578" dirty="0"/>
          </a:p>
        </p:txBody>
      </p:sp>
      <p:sp>
        <p:nvSpPr>
          <p:cNvPr id="40" name="Text 38"/>
          <p:cNvSpPr/>
          <p:nvPr/>
        </p:nvSpPr>
        <p:spPr>
          <a:xfrm>
            <a:off x="2167128" y="3751326"/>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41" name="Text 39"/>
          <p:cNvSpPr/>
          <p:nvPr/>
        </p:nvSpPr>
        <p:spPr>
          <a:xfrm>
            <a:off x="2290572" y="3730752"/>
            <a:ext cx="973836" cy="192024"/>
          </a:xfrm>
          <a:prstGeom prst="rect">
            <a:avLst/>
          </a:prstGeom>
          <a:noFill/>
          <a:ln/>
        </p:spPr>
        <p:txBody>
          <a:bodyPr wrap="square" lIns="0" tIns="0" rIns="0" bIns="0" rtlCol="0" anchor="ctr">
            <a:normAutofit/>
          </a:bodyPr>
          <a:lstStyle/>
          <a:p>
            <a:r>
              <a:rPr lang="en-US" sz="578" dirty="0">
                <a:solidFill>
                  <a:srgbClr val="263446"/>
                </a:solidFill>
              </a:rPr>
              <a:t>Supports higher conversion with targeted eligibility.</a:t>
            </a:r>
            <a:endParaRPr lang="en-US" sz="578" dirty="0"/>
          </a:p>
        </p:txBody>
      </p:sp>
      <p:sp>
        <p:nvSpPr>
          <p:cNvPr id="42" name="Shape 40"/>
          <p:cNvSpPr/>
          <p:nvPr/>
        </p:nvSpPr>
        <p:spPr>
          <a:xfrm>
            <a:off x="3538728" y="2441448"/>
            <a:ext cx="1371600" cy="1577340"/>
          </a:xfrm>
          <a:prstGeom prst="roundRect">
            <a:avLst>
              <a:gd name="adj" fmla="val 4000"/>
            </a:avLst>
          </a:prstGeom>
          <a:solidFill>
            <a:srgbClr val="F8F9FB"/>
          </a:solidFill>
          <a:ln w="8890">
            <a:solidFill>
              <a:srgbClr val="D7DDE4"/>
            </a:solidFill>
            <a:prstDash val="solid"/>
          </a:ln>
        </p:spPr>
        <p:txBody>
          <a:bodyPr/>
          <a:lstStyle/>
          <a:p>
            <a:endParaRPr lang="el-GR" sz="1350"/>
          </a:p>
        </p:txBody>
      </p:sp>
      <p:sp>
        <p:nvSpPr>
          <p:cNvPr id="43" name="Shape 41"/>
          <p:cNvSpPr/>
          <p:nvPr/>
        </p:nvSpPr>
        <p:spPr>
          <a:xfrm>
            <a:off x="3662172" y="2564892"/>
            <a:ext cx="1124712" cy="0"/>
          </a:xfrm>
          <a:prstGeom prst="line">
            <a:avLst/>
          </a:prstGeom>
          <a:noFill/>
          <a:ln w="38100">
            <a:solidFill>
              <a:srgbClr val="0066A6"/>
            </a:solidFill>
            <a:prstDash val="solid"/>
          </a:ln>
        </p:spPr>
        <p:txBody>
          <a:bodyPr/>
          <a:lstStyle/>
          <a:p>
            <a:endParaRPr lang="el-GR" sz="1350"/>
          </a:p>
        </p:txBody>
      </p:sp>
      <p:sp>
        <p:nvSpPr>
          <p:cNvPr id="44" name="Text 42"/>
          <p:cNvSpPr/>
          <p:nvPr/>
        </p:nvSpPr>
        <p:spPr>
          <a:xfrm>
            <a:off x="3662172" y="2688336"/>
            <a:ext cx="1124712" cy="164592"/>
          </a:xfrm>
          <a:prstGeom prst="rect">
            <a:avLst/>
          </a:prstGeom>
          <a:noFill/>
          <a:ln/>
        </p:spPr>
        <p:txBody>
          <a:bodyPr wrap="square" lIns="0" tIns="0" rIns="0" bIns="0" rtlCol="0" anchor="ctr">
            <a:normAutofit/>
          </a:bodyPr>
          <a:lstStyle/>
          <a:p>
            <a:pPr algn="ctr"/>
            <a:r>
              <a:rPr lang="en-US" sz="863" b="1" dirty="0">
                <a:solidFill>
                  <a:srgbClr val="061C46"/>
                </a:solidFill>
              </a:rPr>
              <a:t>Public Sector Loan</a:t>
            </a:r>
            <a:endParaRPr lang="en-US" sz="863" dirty="0"/>
          </a:p>
        </p:txBody>
      </p:sp>
      <p:sp>
        <p:nvSpPr>
          <p:cNvPr id="45" name="Text 43"/>
          <p:cNvSpPr/>
          <p:nvPr/>
        </p:nvSpPr>
        <p:spPr>
          <a:xfrm>
            <a:off x="3662172" y="2866644"/>
            <a:ext cx="1124712" cy="137160"/>
          </a:xfrm>
          <a:prstGeom prst="rect">
            <a:avLst/>
          </a:prstGeom>
          <a:noFill/>
          <a:ln/>
        </p:spPr>
        <p:txBody>
          <a:bodyPr wrap="square" lIns="0" tIns="0" rIns="0" bIns="0" rtlCol="0" anchor="ctr">
            <a:normAutofit/>
          </a:bodyPr>
          <a:lstStyle/>
          <a:p>
            <a:pPr algn="ctr"/>
            <a:r>
              <a:rPr lang="en-US" sz="668" dirty="0">
                <a:solidFill>
                  <a:srgbClr val="061C46"/>
                </a:solidFill>
              </a:rPr>
              <a:t>26.2% of disbursements</a:t>
            </a:r>
            <a:endParaRPr lang="en-US" sz="668" dirty="0"/>
          </a:p>
        </p:txBody>
      </p:sp>
      <p:sp>
        <p:nvSpPr>
          <p:cNvPr id="46" name="Text 44"/>
          <p:cNvSpPr/>
          <p:nvPr/>
        </p:nvSpPr>
        <p:spPr>
          <a:xfrm>
            <a:off x="3730752" y="3044952"/>
            <a:ext cx="987552" cy="164592"/>
          </a:xfrm>
          <a:prstGeom prst="rect">
            <a:avLst/>
          </a:prstGeom>
          <a:noFill/>
          <a:ln/>
        </p:spPr>
        <p:txBody>
          <a:bodyPr wrap="square" lIns="0" tIns="0" rIns="0" bIns="0" rtlCol="0" anchor="ctr">
            <a:normAutofit/>
          </a:bodyPr>
          <a:lstStyle/>
          <a:p>
            <a:pPr algn="ctr"/>
            <a:r>
              <a:rPr lang="en-US" sz="570" b="1" dirty="0">
                <a:solidFill>
                  <a:srgbClr val="E4002B"/>
                </a:solidFill>
              </a:rPr>
              <a:t>Unique market offering</a:t>
            </a:r>
            <a:endParaRPr lang="en-US" sz="570" dirty="0"/>
          </a:p>
        </p:txBody>
      </p:sp>
      <p:sp>
        <p:nvSpPr>
          <p:cNvPr id="47" name="Text 45"/>
          <p:cNvSpPr/>
          <p:nvPr/>
        </p:nvSpPr>
        <p:spPr>
          <a:xfrm>
            <a:off x="3689604" y="3284982"/>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48" name="Text 46"/>
          <p:cNvSpPr/>
          <p:nvPr/>
        </p:nvSpPr>
        <p:spPr>
          <a:xfrm>
            <a:off x="3813048" y="3264408"/>
            <a:ext cx="973836" cy="192024"/>
          </a:xfrm>
          <a:prstGeom prst="rect">
            <a:avLst/>
          </a:prstGeom>
          <a:noFill/>
          <a:ln/>
        </p:spPr>
        <p:txBody>
          <a:bodyPr wrap="square" lIns="0" tIns="0" rIns="0" bIns="0" rtlCol="0" anchor="ctr">
            <a:normAutofit/>
          </a:bodyPr>
          <a:lstStyle/>
          <a:p>
            <a:r>
              <a:rPr lang="en-US" sz="578" dirty="0">
                <a:solidFill>
                  <a:srgbClr val="263446"/>
                </a:solidFill>
              </a:rPr>
              <a:t>Installments paid directly from Public Agencies.</a:t>
            </a:r>
            <a:endParaRPr lang="en-US" sz="578" dirty="0"/>
          </a:p>
        </p:txBody>
      </p:sp>
      <p:sp>
        <p:nvSpPr>
          <p:cNvPr id="49" name="Text 47"/>
          <p:cNvSpPr/>
          <p:nvPr/>
        </p:nvSpPr>
        <p:spPr>
          <a:xfrm>
            <a:off x="3689604" y="3518154"/>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50" name="Text 48"/>
          <p:cNvSpPr/>
          <p:nvPr/>
        </p:nvSpPr>
        <p:spPr>
          <a:xfrm>
            <a:off x="3813048" y="3497580"/>
            <a:ext cx="973836" cy="192024"/>
          </a:xfrm>
          <a:prstGeom prst="rect">
            <a:avLst/>
          </a:prstGeom>
          <a:noFill/>
          <a:ln/>
        </p:spPr>
        <p:txBody>
          <a:bodyPr wrap="square" lIns="0" tIns="0" rIns="0" bIns="0" rtlCol="0" anchor="ctr">
            <a:normAutofit/>
          </a:bodyPr>
          <a:lstStyle/>
          <a:p>
            <a:r>
              <a:rPr lang="en-US" sz="578" dirty="0">
                <a:solidFill>
                  <a:srgbClr val="263446"/>
                </a:solidFill>
              </a:rPr>
              <a:t>Excellent performance and low default rates.</a:t>
            </a:r>
            <a:endParaRPr lang="en-US" sz="578" dirty="0"/>
          </a:p>
        </p:txBody>
      </p:sp>
      <p:sp>
        <p:nvSpPr>
          <p:cNvPr id="51" name="Text 49"/>
          <p:cNvSpPr/>
          <p:nvPr/>
        </p:nvSpPr>
        <p:spPr>
          <a:xfrm>
            <a:off x="3689604" y="3751326"/>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52" name="Text 50"/>
          <p:cNvSpPr/>
          <p:nvPr/>
        </p:nvSpPr>
        <p:spPr>
          <a:xfrm>
            <a:off x="3813048" y="3730752"/>
            <a:ext cx="973836" cy="192024"/>
          </a:xfrm>
          <a:prstGeom prst="rect">
            <a:avLst/>
          </a:prstGeom>
          <a:noFill/>
          <a:ln/>
        </p:spPr>
        <p:txBody>
          <a:bodyPr wrap="square" lIns="0" tIns="0" rIns="0" bIns="0" rtlCol="0" anchor="ctr">
            <a:normAutofit/>
          </a:bodyPr>
          <a:lstStyle/>
          <a:p>
            <a:r>
              <a:rPr lang="en-US" sz="578" dirty="0">
                <a:solidFill>
                  <a:srgbClr val="263446"/>
                </a:solidFill>
              </a:rPr>
              <a:t>&gt;70% approval rate.</a:t>
            </a:r>
            <a:endParaRPr lang="en-US" sz="578" dirty="0"/>
          </a:p>
        </p:txBody>
      </p:sp>
      <p:sp>
        <p:nvSpPr>
          <p:cNvPr id="53" name="Shape 51"/>
          <p:cNvSpPr/>
          <p:nvPr/>
        </p:nvSpPr>
        <p:spPr>
          <a:xfrm>
            <a:off x="5061204" y="2441448"/>
            <a:ext cx="1371600" cy="1577340"/>
          </a:xfrm>
          <a:prstGeom prst="roundRect">
            <a:avLst>
              <a:gd name="adj" fmla="val 4000"/>
            </a:avLst>
          </a:prstGeom>
          <a:solidFill>
            <a:srgbClr val="F8F9FB"/>
          </a:solidFill>
          <a:ln w="8890">
            <a:solidFill>
              <a:srgbClr val="D7DDE4"/>
            </a:solidFill>
            <a:prstDash val="solid"/>
          </a:ln>
        </p:spPr>
        <p:txBody>
          <a:bodyPr/>
          <a:lstStyle/>
          <a:p>
            <a:endParaRPr lang="el-GR" sz="1350"/>
          </a:p>
        </p:txBody>
      </p:sp>
      <p:sp>
        <p:nvSpPr>
          <p:cNvPr id="54" name="Shape 52"/>
          <p:cNvSpPr/>
          <p:nvPr/>
        </p:nvSpPr>
        <p:spPr>
          <a:xfrm>
            <a:off x="5184648" y="2564892"/>
            <a:ext cx="1124712" cy="0"/>
          </a:xfrm>
          <a:prstGeom prst="line">
            <a:avLst/>
          </a:prstGeom>
          <a:noFill/>
          <a:ln w="38100">
            <a:solidFill>
              <a:srgbClr val="003250"/>
            </a:solidFill>
            <a:prstDash val="solid"/>
          </a:ln>
        </p:spPr>
        <p:txBody>
          <a:bodyPr/>
          <a:lstStyle/>
          <a:p>
            <a:endParaRPr lang="el-GR" sz="1350"/>
          </a:p>
        </p:txBody>
      </p:sp>
      <p:sp>
        <p:nvSpPr>
          <p:cNvPr id="55" name="Text 53"/>
          <p:cNvSpPr/>
          <p:nvPr/>
        </p:nvSpPr>
        <p:spPr>
          <a:xfrm>
            <a:off x="5184648" y="2688336"/>
            <a:ext cx="1124712" cy="164592"/>
          </a:xfrm>
          <a:prstGeom prst="rect">
            <a:avLst/>
          </a:prstGeom>
          <a:noFill/>
          <a:ln/>
        </p:spPr>
        <p:txBody>
          <a:bodyPr wrap="square" lIns="0" tIns="0" rIns="0" bIns="0" rtlCol="0" anchor="ctr">
            <a:normAutofit/>
          </a:bodyPr>
          <a:lstStyle/>
          <a:p>
            <a:pPr algn="ctr"/>
            <a:r>
              <a:rPr lang="en-US" sz="863" b="1" dirty="0">
                <a:solidFill>
                  <a:srgbClr val="061C46"/>
                </a:solidFill>
              </a:rPr>
              <a:t>Group Sales Loan</a:t>
            </a:r>
            <a:endParaRPr lang="en-US" sz="863" dirty="0"/>
          </a:p>
        </p:txBody>
      </p:sp>
      <p:sp>
        <p:nvSpPr>
          <p:cNvPr id="56" name="Text 54"/>
          <p:cNvSpPr/>
          <p:nvPr/>
        </p:nvSpPr>
        <p:spPr>
          <a:xfrm>
            <a:off x="5184648" y="2866644"/>
            <a:ext cx="1124712" cy="137160"/>
          </a:xfrm>
          <a:prstGeom prst="rect">
            <a:avLst/>
          </a:prstGeom>
          <a:noFill/>
          <a:ln/>
        </p:spPr>
        <p:txBody>
          <a:bodyPr wrap="square" lIns="0" tIns="0" rIns="0" bIns="0" rtlCol="0" anchor="ctr">
            <a:normAutofit/>
          </a:bodyPr>
          <a:lstStyle/>
          <a:p>
            <a:pPr algn="ctr"/>
            <a:r>
              <a:rPr lang="en-US" sz="668" dirty="0">
                <a:solidFill>
                  <a:srgbClr val="061C46"/>
                </a:solidFill>
              </a:rPr>
              <a:t>40.8% of disbursements</a:t>
            </a:r>
            <a:endParaRPr lang="en-US" sz="668" dirty="0"/>
          </a:p>
        </p:txBody>
      </p:sp>
      <p:sp>
        <p:nvSpPr>
          <p:cNvPr id="57" name="Text 55"/>
          <p:cNvSpPr/>
          <p:nvPr/>
        </p:nvSpPr>
        <p:spPr>
          <a:xfrm>
            <a:off x="5253228" y="3044952"/>
            <a:ext cx="987552" cy="164592"/>
          </a:xfrm>
          <a:prstGeom prst="rect">
            <a:avLst/>
          </a:prstGeom>
          <a:noFill/>
          <a:ln/>
        </p:spPr>
        <p:txBody>
          <a:bodyPr wrap="square" lIns="0" tIns="0" rIns="0" bIns="0" rtlCol="0" anchor="ctr">
            <a:normAutofit/>
          </a:bodyPr>
          <a:lstStyle/>
          <a:p>
            <a:pPr algn="ctr"/>
            <a:r>
              <a:rPr lang="en-US" sz="570" b="1" dirty="0">
                <a:solidFill>
                  <a:srgbClr val="E4002B"/>
                </a:solidFill>
              </a:rPr>
              <a:t>Payroll-based proposition</a:t>
            </a:r>
            <a:endParaRPr lang="en-US" sz="570" dirty="0"/>
          </a:p>
        </p:txBody>
      </p:sp>
      <p:sp>
        <p:nvSpPr>
          <p:cNvPr id="58" name="Text 56"/>
          <p:cNvSpPr/>
          <p:nvPr/>
        </p:nvSpPr>
        <p:spPr>
          <a:xfrm>
            <a:off x="5212080" y="3284982"/>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59" name="Text 57"/>
          <p:cNvSpPr/>
          <p:nvPr/>
        </p:nvSpPr>
        <p:spPr>
          <a:xfrm>
            <a:off x="5335524" y="3264408"/>
            <a:ext cx="973836" cy="192024"/>
          </a:xfrm>
          <a:prstGeom prst="rect">
            <a:avLst/>
          </a:prstGeom>
          <a:noFill/>
          <a:ln/>
        </p:spPr>
        <p:txBody>
          <a:bodyPr wrap="square" lIns="0" tIns="0" rIns="0" bIns="0" rtlCol="0" anchor="ctr">
            <a:normAutofit/>
          </a:bodyPr>
          <a:lstStyle/>
          <a:p>
            <a:r>
              <a:rPr lang="en-US" sz="578" dirty="0">
                <a:solidFill>
                  <a:srgbClr val="263446"/>
                </a:solidFill>
              </a:rPr>
              <a:t>For Group Sales customers with salary account relationship.</a:t>
            </a:r>
            <a:endParaRPr lang="en-US" sz="578" dirty="0"/>
          </a:p>
        </p:txBody>
      </p:sp>
      <p:sp>
        <p:nvSpPr>
          <p:cNvPr id="60" name="Text 58"/>
          <p:cNvSpPr/>
          <p:nvPr/>
        </p:nvSpPr>
        <p:spPr>
          <a:xfrm>
            <a:off x="5212080" y="3518154"/>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61" name="Text 59"/>
          <p:cNvSpPr/>
          <p:nvPr/>
        </p:nvSpPr>
        <p:spPr>
          <a:xfrm>
            <a:off x="5335524" y="3497580"/>
            <a:ext cx="973836" cy="192024"/>
          </a:xfrm>
          <a:prstGeom prst="rect">
            <a:avLst/>
          </a:prstGeom>
          <a:noFill/>
          <a:ln/>
        </p:spPr>
        <p:txBody>
          <a:bodyPr wrap="square" lIns="0" tIns="0" rIns="0" bIns="0" rtlCol="0" anchor="ctr">
            <a:normAutofit/>
          </a:bodyPr>
          <a:lstStyle/>
          <a:p>
            <a:r>
              <a:rPr lang="en-US" sz="578" dirty="0">
                <a:solidFill>
                  <a:srgbClr val="263446"/>
                </a:solidFill>
              </a:rPr>
              <a:t>Installments synced with payroll date.</a:t>
            </a:r>
            <a:endParaRPr lang="en-US" sz="578" dirty="0"/>
          </a:p>
        </p:txBody>
      </p:sp>
      <p:sp>
        <p:nvSpPr>
          <p:cNvPr id="62" name="Text 60"/>
          <p:cNvSpPr/>
          <p:nvPr/>
        </p:nvSpPr>
        <p:spPr>
          <a:xfrm>
            <a:off x="5212080" y="3751326"/>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63" name="Text 61"/>
          <p:cNvSpPr/>
          <p:nvPr/>
        </p:nvSpPr>
        <p:spPr>
          <a:xfrm>
            <a:off x="5335524" y="3730752"/>
            <a:ext cx="973836" cy="192024"/>
          </a:xfrm>
          <a:prstGeom prst="rect">
            <a:avLst/>
          </a:prstGeom>
          <a:noFill/>
          <a:ln/>
        </p:spPr>
        <p:txBody>
          <a:bodyPr wrap="square" lIns="0" tIns="0" rIns="0" bIns="0" rtlCol="0" anchor="ctr">
            <a:normAutofit/>
          </a:bodyPr>
          <a:lstStyle/>
          <a:p>
            <a:r>
              <a:rPr lang="en-US" sz="578" dirty="0">
                <a:solidFill>
                  <a:srgbClr val="263446"/>
                </a:solidFill>
              </a:rPr>
              <a:t>Highest contribution to new disbursements.</a:t>
            </a:r>
            <a:endParaRPr lang="en-US" sz="578" dirty="0"/>
          </a:p>
        </p:txBody>
      </p:sp>
      <p:sp>
        <p:nvSpPr>
          <p:cNvPr id="64" name="Shape 62"/>
          <p:cNvSpPr/>
          <p:nvPr/>
        </p:nvSpPr>
        <p:spPr>
          <a:xfrm>
            <a:off x="6583680" y="2441448"/>
            <a:ext cx="973836" cy="1577340"/>
          </a:xfrm>
          <a:prstGeom prst="roundRect">
            <a:avLst>
              <a:gd name="adj" fmla="val 5634"/>
            </a:avLst>
          </a:prstGeom>
          <a:solidFill>
            <a:srgbClr val="F8F9FB"/>
          </a:solidFill>
          <a:ln w="8890">
            <a:solidFill>
              <a:srgbClr val="D7DDE4"/>
            </a:solidFill>
            <a:prstDash val="solid"/>
          </a:ln>
        </p:spPr>
        <p:txBody>
          <a:bodyPr/>
          <a:lstStyle/>
          <a:p>
            <a:endParaRPr lang="el-GR" sz="1350"/>
          </a:p>
        </p:txBody>
      </p:sp>
      <p:sp>
        <p:nvSpPr>
          <p:cNvPr id="65" name="Shape 63"/>
          <p:cNvSpPr/>
          <p:nvPr/>
        </p:nvSpPr>
        <p:spPr>
          <a:xfrm>
            <a:off x="6707124" y="2564892"/>
            <a:ext cx="726948" cy="0"/>
          </a:xfrm>
          <a:prstGeom prst="line">
            <a:avLst/>
          </a:prstGeom>
          <a:noFill/>
          <a:ln w="38100">
            <a:solidFill>
              <a:srgbClr val="003250"/>
            </a:solidFill>
            <a:prstDash val="solid"/>
          </a:ln>
        </p:spPr>
        <p:txBody>
          <a:bodyPr/>
          <a:lstStyle/>
          <a:p>
            <a:endParaRPr lang="el-GR" sz="1350"/>
          </a:p>
        </p:txBody>
      </p:sp>
      <p:sp>
        <p:nvSpPr>
          <p:cNvPr id="66" name="Text 64"/>
          <p:cNvSpPr/>
          <p:nvPr/>
        </p:nvSpPr>
        <p:spPr>
          <a:xfrm>
            <a:off x="6707124" y="2688336"/>
            <a:ext cx="726948" cy="164592"/>
          </a:xfrm>
          <a:prstGeom prst="rect">
            <a:avLst/>
          </a:prstGeom>
          <a:noFill/>
          <a:ln/>
        </p:spPr>
        <p:txBody>
          <a:bodyPr wrap="square" lIns="0" tIns="0" rIns="0" bIns="0" rtlCol="0" anchor="ctr">
            <a:normAutofit/>
          </a:bodyPr>
          <a:lstStyle/>
          <a:p>
            <a:pPr algn="ctr"/>
            <a:r>
              <a:rPr lang="en-US" sz="863" b="1" dirty="0">
                <a:solidFill>
                  <a:srgbClr val="061C46"/>
                </a:solidFill>
              </a:rPr>
              <a:t>PB Prime</a:t>
            </a:r>
            <a:endParaRPr lang="en-US" sz="863" dirty="0"/>
          </a:p>
        </p:txBody>
      </p:sp>
      <p:sp>
        <p:nvSpPr>
          <p:cNvPr id="67" name="Text 65"/>
          <p:cNvSpPr/>
          <p:nvPr/>
        </p:nvSpPr>
        <p:spPr>
          <a:xfrm>
            <a:off x="6707124" y="2866644"/>
            <a:ext cx="726948" cy="137160"/>
          </a:xfrm>
          <a:prstGeom prst="rect">
            <a:avLst/>
          </a:prstGeom>
          <a:noFill/>
          <a:ln/>
        </p:spPr>
        <p:txBody>
          <a:bodyPr wrap="square" lIns="0" tIns="0" rIns="0" bIns="0" rtlCol="0" anchor="ctr">
            <a:normAutofit/>
          </a:bodyPr>
          <a:lstStyle/>
          <a:p>
            <a:pPr algn="ctr"/>
            <a:r>
              <a:rPr lang="en-US" sz="668" dirty="0">
                <a:solidFill>
                  <a:srgbClr val="061C46"/>
                </a:solidFill>
              </a:rPr>
              <a:t>7.4%</a:t>
            </a:r>
            <a:endParaRPr lang="en-US" sz="668" dirty="0"/>
          </a:p>
        </p:txBody>
      </p:sp>
      <p:sp>
        <p:nvSpPr>
          <p:cNvPr id="68" name="Text 66"/>
          <p:cNvSpPr/>
          <p:nvPr/>
        </p:nvSpPr>
        <p:spPr>
          <a:xfrm>
            <a:off x="6775704" y="3044952"/>
            <a:ext cx="589788" cy="164592"/>
          </a:xfrm>
          <a:prstGeom prst="rect">
            <a:avLst/>
          </a:prstGeom>
          <a:noFill/>
          <a:ln/>
        </p:spPr>
        <p:txBody>
          <a:bodyPr wrap="square" lIns="0" tIns="0" rIns="0" bIns="0" rtlCol="0" anchor="ctr">
            <a:normAutofit/>
          </a:bodyPr>
          <a:lstStyle/>
          <a:p>
            <a:pPr algn="ctr"/>
            <a:r>
              <a:rPr lang="en-US" sz="570" b="1" dirty="0">
                <a:solidFill>
                  <a:srgbClr val="E4002B"/>
                </a:solidFill>
              </a:rPr>
              <a:t>Affluent</a:t>
            </a:r>
            <a:endParaRPr lang="en-US" sz="570" dirty="0"/>
          </a:p>
        </p:txBody>
      </p:sp>
      <p:sp>
        <p:nvSpPr>
          <p:cNvPr id="69" name="Text 67"/>
          <p:cNvSpPr/>
          <p:nvPr/>
        </p:nvSpPr>
        <p:spPr>
          <a:xfrm>
            <a:off x="6734556" y="3284982"/>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70" name="Text 68"/>
          <p:cNvSpPr/>
          <p:nvPr/>
        </p:nvSpPr>
        <p:spPr>
          <a:xfrm>
            <a:off x="6858000" y="3264408"/>
            <a:ext cx="576072" cy="192024"/>
          </a:xfrm>
          <a:prstGeom prst="rect">
            <a:avLst/>
          </a:prstGeom>
          <a:noFill/>
          <a:ln/>
        </p:spPr>
        <p:txBody>
          <a:bodyPr wrap="square" lIns="0" tIns="0" rIns="0" bIns="0" rtlCol="0" anchor="ctr">
            <a:normAutofit/>
          </a:bodyPr>
          <a:lstStyle/>
          <a:p>
            <a:r>
              <a:rPr lang="en-US" sz="578" dirty="0">
                <a:solidFill>
                  <a:srgbClr val="263446"/>
                </a:solidFill>
              </a:rPr>
              <a:t>Exclusive to PB Prime customers.</a:t>
            </a:r>
            <a:endParaRPr lang="en-US" sz="578" dirty="0"/>
          </a:p>
        </p:txBody>
      </p:sp>
      <p:sp>
        <p:nvSpPr>
          <p:cNvPr id="71" name="Text 69"/>
          <p:cNvSpPr/>
          <p:nvPr/>
        </p:nvSpPr>
        <p:spPr>
          <a:xfrm>
            <a:off x="6734556" y="3518154"/>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72" name="Text 70"/>
          <p:cNvSpPr/>
          <p:nvPr/>
        </p:nvSpPr>
        <p:spPr>
          <a:xfrm>
            <a:off x="6858000" y="3497580"/>
            <a:ext cx="576072" cy="192024"/>
          </a:xfrm>
          <a:prstGeom prst="rect">
            <a:avLst/>
          </a:prstGeom>
          <a:noFill/>
          <a:ln/>
        </p:spPr>
        <p:txBody>
          <a:bodyPr wrap="square" lIns="0" tIns="0" rIns="0" bIns="0" rtlCol="0" anchor="ctr">
            <a:normAutofit/>
          </a:bodyPr>
          <a:lstStyle/>
          <a:p>
            <a:r>
              <a:rPr lang="en-US" sz="578" dirty="0">
                <a:solidFill>
                  <a:srgbClr val="263446"/>
                </a:solidFill>
              </a:rPr>
              <a:t>Favorable pricing.</a:t>
            </a:r>
            <a:endParaRPr lang="en-US" sz="578" dirty="0"/>
          </a:p>
        </p:txBody>
      </p:sp>
      <p:sp>
        <p:nvSpPr>
          <p:cNvPr id="73" name="Text 71"/>
          <p:cNvSpPr/>
          <p:nvPr/>
        </p:nvSpPr>
        <p:spPr>
          <a:xfrm>
            <a:off x="6734556" y="3751326"/>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74" name="Text 72"/>
          <p:cNvSpPr/>
          <p:nvPr/>
        </p:nvSpPr>
        <p:spPr>
          <a:xfrm>
            <a:off x="6858000" y="3730752"/>
            <a:ext cx="576072" cy="192024"/>
          </a:xfrm>
          <a:prstGeom prst="rect">
            <a:avLst/>
          </a:prstGeom>
          <a:noFill/>
          <a:ln/>
        </p:spPr>
        <p:txBody>
          <a:bodyPr wrap="square" lIns="0" tIns="0" rIns="0" bIns="0" rtlCol="0" anchor="ctr">
            <a:normAutofit/>
          </a:bodyPr>
          <a:lstStyle/>
          <a:p>
            <a:r>
              <a:rPr lang="en-US" sz="578" dirty="0">
                <a:solidFill>
                  <a:srgbClr val="263446"/>
                </a:solidFill>
              </a:rPr>
              <a:t>&gt;83% approval rates.</a:t>
            </a:r>
            <a:endParaRPr lang="en-US" sz="578" dirty="0"/>
          </a:p>
        </p:txBody>
      </p:sp>
      <p:sp>
        <p:nvSpPr>
          <p:cNvPr id="75" name="Shape 73"/>
          <p:cNvSpPr/>
          <p:nvPr/>
        </p:nvSpPr>
        <p:spPr>
          <a:xfrm>
            <a:off x="7687818" y="2441448"/>
            <a:ext cx="973836" cy="1577340"/>
          </a:xfrm>
          <a:prstGeom prst="roundRect">
            <a:avLst>
              <a:gd name="adj" fmla="val 5634"/>
            </a:avLst>
          </a:prstGeom>
          <a:solidFill>
            <a:srgbClr val="F8F9FB"/>
          </a:solidFill>
          <a:ln w="8890">
            <a:solidFill>
              <a:srgbClr val="D7DDE4"/>
            </a:solidFill>
            <a:prstDash val="solid"/>
          </a:ln>
        </p:spPr>
        <p:txBody>
          <a:bodyPr/>
          <a:lstStyle/>
          <a:p>
            <a:endParaRPr lang="el-GR" sz="1350"/>
          </a:p>
        </p:txBody>
      </p:sp>
      <p:sp>
        <p:nvSpPr>
          <p:cNvPr id="76" name="Shape 74"/>
          <p:cNvSpPr/>
          <p:nvPr/>
        </p:nvSpPr>
        <p:spPr>
          <a:xfrm>
            <a:off x="7811262" y="2564892"/>
            <a:ext cx="726948" cy="0"/>
          </a:xfrm>
          <a:prstGeom prst="line">
            <a:avLst/>
          </a:prstGeom>
          <a:noFill/>
          <a:ln w="38100">
            <a:solidFill>
              <a:srgbClr val="0066A6"/>
            </a:solidFill>
            <a:prstDash val="solid"/>
          </a:ln>
        </p:spPr>
        <p:txBody>
          <a:bodyPr/>
          <a:lstStyle/>
          <a:p>
            <a:endParaRPr lang="el-GR" sz="1350"/>
          </a:p>
        </p:txBody>
      </p:sp>
      <p:sp>
        <p:nvSpPr>
          <p:cNvPr id="77" name="Text 75"/>
          <p:cNvSpPr/>
          <p:nvPr/>
        </p:nvSpPr>
        <p:spPr>
          <a:xfrm>
            <a:off x="7811262" y="2688336"/>
            <a:ext cx="726948" cy="164592"/>
          </a:xfrm>
          <a:prstGeom prst="rect">
            <a:avLst/>
          </a:prstGeom>
          <a:noFill/>
          <a:ln/>
        </p:spPr>
        <p:txBody>
          <a:bodyPr wrap="square" lIns="0" tIns="0" rIns="0" bIns="0" rtlCol="0" anchor="ctr">
            <a:normAutofit/>
          </a:bodyPr>
          <a:lstStyle/>
          <a:p>
            <a:pPr algn="ctr"/>
            <a:r>
              <a:rPr lang="en-US" sz="863" b="1" dirty="0">
                <a:solidFill>
                  <a:srgbClr val="061C46"/>
                </a:solidFill>
              </a:rPr>
              <a:t>Cash Plus</a:t>
            </a:r>
            <a:endParaRPr lang="en-US" sz="863" dirty="0"/>
          </a:p>
        </p:txBody>
      </p:sp>
      <p:sp>
        <p:nvSpPr>
          <p:cNvPr id="78" name="Text 76"/>
          <p:cNvSpPr/>
          <p:nvPr/>
        </p:nvSpPr>
        <p:spPr>
          <a:xfrm>
            <a:off x="7811262" y="2866644"/>
            <a:ext cx="726948" cy="137160"/>
          </a:xfrm>
          <a:prstGeom prst="rect">
            <a:avLst/>
          </a:prstGeom>
          <a:noFill/>
          <a:ln/>
        </p:spPr>
        <p:txBody>
          <a:bodyPr wrap="square" lIns="0" tIns="0" rIns="0" bIns="0" rtlCol="0" anchor="ctr">
            <a:normAutofit/>
          </a:bodyPr>
          <a:lstStyle/>
          <a:p>
            <a:pPr algn="ctr"/>
            <a:r>
              <a:rPr lang="en-US" sz="668" dirty="0">
                <a:solidFill>
                  <a:srgbClr val="061C46"/>
                </a:solidFill>
              </a:rPr>
              <a:t>1.0%</a:t>
            </a:r>
            <a:endParaRPr lang="en-US" sz="668" dirty="0"/>
          </a:p>
        </p:txBody>
      </p:sp>
      <p:sp>
        <p:nvSpPr>
          <p:cNvPr id="79" name="Text 77"/>
          <p:cNvSpPr/>
          <p:nvPr/>
        </p:nvSpPr>
        <p:spPr>
          <a:xfrm>
            <a:off x="7879842" y="3044952"/>
            <a:ext cx="589788" cy="164592"/>
          </a:xfrm>
          <a:prstGeom prst="rect">
            <a:avLst/>
          </a:prstGeom>
          <a:noFill/>
          <a:ln/>
        </p:spPr>
        <p:txBody>
          <a:bodyPr wrap="square" lIns="0" tIns="0" rIns="0" bIns="0" rtlCol="0" anchor="ctr">
            <a:normAutofit/>
          </a:bodyPr>
          <a:lstStyle/>
          <a:p>
            <a:pPr algn="ctr"/>
            <a:r>
              <a:rPr lang="en-US" sz="570" b="1" dirty="0">
                <a:solidFill>
                  <a:srgbClr val="E4002B"/>
                </a:solidFill>
              </a:rPr>
              <a:t>PB Standard</a:t>
            </a:r>
            <a:endParaRPr lang="en-US" sz="570" dirty="0"/>
          </a:p>
        </p:txBody>
      </p:sp>
      <p:sp>
        <p:nvSpPr>
          <p:cNvPr id="80" name="Text 78"/>
          <p:cNvSpPr/>
          <p:nvPr/>
        </p:nvSpPr>
        <p:spPr>
          <a:xfrm>
            <a:off x="7838694" y="3284982"/>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81" name="Text 79"/>
          <p:cNvSpPr/>
          <p:nvPr/>
        </p:nvSpPr>
        <p:spPr>
          <a:xfrm>
            <a:off x="7962138" y="3264408"/>
            <a:ext cx="576072" cy="192024"/>
          </a:xfrm>
          <a:prstGeom prst="rect">
            <a:avLst/>
          </a:prstGeom>
          <a:noFill/>
          <a:ln/>
        </p:spPr>
        <p:txBody>
          <a:bodyPr wrap="square" lIns="0" tIns="0" rIns="0" bIns="0" rtlCol="0" anchor="ctr">
            <a:normAutofit fontScale="92500"/>
          </a:bodyPr>
          <a:lstStyle/>
          <a:p>
            <a:r>
              <a:rPr lang="en-US" sz="578" dirty="0">
                <a:solidFill>
                  <a:srgbClr val="263446"/>
                </a:solidFill>
              </a:rPr>
              <a:t>Exclusive to PB Standard customers.</a:t>
            </a:r>
            <a:endParaRPr lang="en-US" sz="578" dirty="0"/>
          </a:p>
        </p:txBody>
      </p:sp>
      <p:sp>
        <p:nvSpPr>
          <p:cNvPr id="82" name="Text 80"/>
          <p:cNvSpPr/>
          <p:nvPr/>
        </p:nvSpPr>
        <p:spPr>
          <a:xfrm>
            <a:off x="7838694" y="3518154"/>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83" name="Text 81"/>
          <p:cNvSpPr/>
          <p:nvPr/>
        </p:nvSpPr>
        <p:spPr>
          <a:xfrm>
            <a:off x="7962138" y="3497580"/>
            <a:ext cx="576072" cy="192024"/>
          </a:xfrm>
          <a:prstGeom prst="rect">
            <a:avLst/>
          </a:prstGeom>
          <a:noFill/>
          <a:ln/>
        </p:spPr>
        <p:txBody>
          <a:bodyPr wrap="square" lIns="0" tIns="0" rIns="0" bIns="0" rtlCol="0" anchor="ctr">
            <a:normAutofit/>
          </a:bodyPr>
          <a:lstStyle/>
          <a:p>
            <a:r>
              <a:rPr lang="en-US" sz="578" dirty="0">
                <a:solidFill>
                  <a:srgbClr val="263446"/>
                </a:solidFill>
              </a:rPr>
              <a:t>Targeted pricing by profile.</a:t>
            </a:r>
            <a:endParaRPr lang="en-US" sz="578" dirty="0"/>
          </a:p>
        </p:txBody>
      </p:sp>
      <p:sp>
        <p:nvSpPr>
          <p:cNvPr id="84" name="Text 82"/>
          <p:cNvSpPr/>
          <p:nvPr/>
        </p:nvSpPr>
        <p:spPr>
          <a:xfrm>
            <a:off x="7838694" y="3751326"/>
            <a:ext cx="82296" cy="82296"/>
          </a:xfrm>
          <a:prstGeom prst="rect">
            <a:avLst/>
          </a:prstGeom>
          <a:noFill/>
          <a:ln/>
        </p:spPr>
        <p:txBody>
          <a:bodyPr wrap="square" lIns="0" tIns="0" rIns="0" bIns="0" rtlCol="0" anchor="ctr"/>
          <a:lstStyle/>
          <a:p>
            <a:r>
              <a:rPr lang="en-US" sz="488" dirty="0">
                <a:solidFill>
                  <a:srgbClr val="E4002B"/>
                </a:solidFill>
              </a:rPr>
              <a:t>▪</a:t>
            </a:r>
            <a:endParaRPr lang="en-US" sz="488" dirty="0"/>
          </a:p>
        </p:txBody>
      </p:sp>
      <p:sp>
        <p:nvSpPr>
          <p:cNvPr id="85" name="Text 83"/>
          <p:cNvSpPr/>
          <p:nvPr/>
        </p:nvSpPr>
        <p:spPr>
          <a:xfrm>
            <a:off x="7962138" y="3730752"/>
            <a:ext cx="576072" cy="192024"/>
          </a:xfrm>
          <a:prstGeom prst="rect">
            <a:avLst/>
          </a:prstGeom>
          <a:noFill/>
          <a:ln/>
        </p:spPr>
        <p:txBody>
          <a:bodyPr wrap="square" lIns="0" tIns="0" rIns="0" bIns="0" rtlCol="0" anchor="ctr">
            <a:normAutofit/>
          </a:bodyPr>
          <a:lstStyle/>
          <a:p>
            <a:r>
              <a:rPr lang="en-US" sz="578" dirty="0">
                <a:solidFill>
                  <a:srgbClr val="263446"/>
                </a:solidFill>
              </a:rPr>
              <a:t>High approval rates.</a:t>
            </a:r>
            <a:endParaRPr lang="en-US" sz="578" dirty="0"/>
          </a:p>
        </p:txBody>
      </p:sp>
      <p:sp>
        <p:nvSpPr>
          <p:cNvPr id="86" name="Text 84"/>
          <p:cNvSpPr/>
          <p:nvPr/>
        </p:nvSpPr>
        <p:spPr>
          <a:xfrm>
            <a:off x="493776" y="4197096"/>
            <a:ext cx="1179576" cy="137160"/>
          </a:xfrm>
          <a:prstGeom prst="rect">
            <a:avLst/>
          </a:prstGeom>
          <a:noFill/>
          <a:ln/>
        </p:spPr>
        <p:txBody>
          <a:bodyPr wrap="square" lIns="0" tIns="0" rIns="0" bIns="0" rtlCol="0" anchor="ctr"/>
          <a:lstStyle/>
          <a:p>
            <a:r>
              <a:rPr lang="en-US" sz="660" b="1" dirty="0">
                <a:solidFill>
                  <a:srgbClr val="E4002B"/>
                </a:solidFill>
              </a:rPr>
              <a:t>Next-wave propositions</a:t>
            </a:r>
            <a:endParaRPr lang="en-US" sz="660" dirty="0"/>
          </a:p>
        </p:txBody>
      </p:sp>
      <p:sp>
        <p:nvSpPr>
          <p:cNvPr id="87" name="Shape 85"/>
          <p:cNvSpPr/>
          <p:nvPr/>
        </p:nvSpPr>
        <p:spPr>
          <a:xfrm>
            <a:off x="480060" y="4389119"/>
            <a:ext cx="8161020" cy="233172"/>
          </a:xfrm>
          <a:prstGeom prst="roundRect">
            <a:avLst>
              <a:gd name="adj" fmla="val 14706"/>
            </a:avLst>
          </a:prstGeom>
          <a:solidFill>
            <a:srgbClr val="EAF4FB"/>
          </a:solidFill>
          <a:ln w="12700">
            <a:solidFill>
              <a:srgbClr val="EAF4FB"/>
            </a:solidFill>
            <a:prstDash val="solid"/>
          </a:ln>
        </p:spPr>
        <p:txBody>
          <a:bodyPr/>
          <a:lstStyle/>
          <a:p>
            <a:endParaRPr lang="el-GR" sz="1350"/>
          </a:p>
        </p:txBody>
      </p:sp>
      <p:sp>
        <p:nvSpPr>
          <p:cNvPr id="88" name="Text 86"/>
          <p:cNvSpPr/>
          <p:nvPr/>
        </p:nvSpPr>
        <p:spPr>
          <a:xfrm>
            <a:off x="651510" y="4457700"/>
            <a:ext cx="7852410" cy="96012"/>
          </a:xfrm>
          <a:prstGeom prst="rect">
            <a:avLst/>
          </a:prstGeom>
          <a:noFill/>
          <a:ln/>
        </p:spPr>
        <p:txBody>
          <a:bodyPr wrap="square" lIns="0" tIns="0" rIns="0" bIns="0" rtlCol="0" anchor="ctr">
            <a:normAutofit/>
          </a:bodyPr>
          <a:lstStyle/>
          <a:p>
            <a:pPr algn="ctr"/>
            <a:r>
              <a:rPr lang="en-US" sz="608" dirty="0">
                <a:solidFill>
                  <a:srgbClr val="061C46"/>
                </a:solidFill>
              </a:rPr>
              <a:t>……….</a:t>
            </a:r>
            <a:endParaRPr lang="en-US" sz="608" dirty="0"/>
          </a:p>
        </p:txBody>
      </p:sp>
      <p:sp>
        <p:nvSpPr>
          <p:cNvPr id="89" name="Text 87"/>
          <p:cNvSpPr/>
          <p:nvPr/>
        </p:nvSpPr>
        <p:spPr>
          <a:xfrm>
            <a:off x="356616" y="4855464"/>
            <a:ext cx="2880360" cy="109728"/>
          </a:xfrm>
          <a:prstGeom prst="rect">
            <a:avLst/>
          </a:prstGeom>
          <a:noFill/>
          <a:ln/>
        </p:spPr>
        <p:txBody>
          <a:bodyPr wrap="square" lIns="0" tIns="0" rIns="0" bIns="0" rtlCol="0" anchor="ctr"/>
          <a:lstStyle/>
          <a:p>
            <a:r>
              <a:rPr lang="en-US" sz="525" dirty="0">
                <a:solidFill>
                  <a:srgbClr val="667589"/>
                </a:solidFill>
              </a:rPr>
              <a:t>Consumer Loans Growth Strategy</a:t>
            </a:r>
            <a:endParaRPr lang="en-US" sz="525" dirty="0"/>
          </a:p>
        </p:txBody>
      </p:sp>
      <p:sp>
        <p:nvSpPr>
          <p:cNvPr id="90"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061C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23444"/>
            <a:ext cx="6515100" cy="246888"/>
          </a:xfrm>
          <a:prstGeom prst="rect">
            <a:avLst/>
          </a:prstGeom>
          <a:noFill/>
          <a:ln/>
        </p:spPr>
        <p:txBody>
          <a:bodyPr wrap="square" lIns="0" tIns="0" rIns="0" bIns="0" rtlCol="0" anchor="ctr"/>
          <a:lstStyle/>
          <a:p>
            <a:r>
              <a:rPr lang="en-US" sz="1575" dirty="0">
                <a:solidFill>
                  <a:srgbClr val="081E49"/>
                </a:solidFill>
                <a:latin typeface="Arial" pitchFamily="34" charset="0"/>
                <a:ea typeface="Arial" pitchFamily="34" charset="-122"/>
                <a:cs typeface="Arial" pitchFamily="34" charset="-120"/>
              </a:rPr>
              <a:t>Pillar III: Commercial Excellence</a:t>
            </a:r>
            <a:endParaRPr lang="en-US" sz="1575" dirty="0"/>
          </a:p>
        </p:txBody>
      </p:sp>
      <p:sp>
        <p:nvSpPr>
          <p:cNvPr id="3" name="Text 1"/>
          <p:cNvSpPr/>
          <p:nvPr/>
        </p:nvSpPr>
        <p:spPr>
          <a:xfrm>
            <a:off x="356616" y="576072"/>
            <a:ext cx="6515100" cy="192024"/>
          </a:xfrm>
          <a:prstGeom prst="rect">
            <a:avLst/>
          </a:prstGeom>
          <a:noFill/>
          <a:ln/>
        </p:spPr>
        <p:txBody>
          <a:bodyPr wrap="square" lIns="0" tIns="0" rIns="0" bIns="0" rtlCol="0" anchor="ctr"/>
          <a:lstStyle/>
          <a:p>
            <a:r>
              <a:rPr lang="en-US" sz="788" dirty="0">
                <a:solidFill>
                  <a:srgbClr val="6E7A8A"/>
                </a:solidFill>
                <a:latin typeface="Arial" pitchFamily="34" charset="0"/>
                <a:ea typeface="Arial" pitchFamily="34" charset="-122"/>
                <a:cs typeface="Arial" pitchFamily="34" charset="-120"/>
              </a:rPr>
              <a:t>Turn journeys and propositions into measurable sales through analytics and personalization</a:t>
            </a:r>
            <a:endParaRPr lang="en-US" sz="788" dirty="0"/>
          </a:p>
        </p:txBody>
      </p:sp>
      <p:sp>
        <p:nvSpPr>
          <p:cNvPr id="4" name="Text 2"/>
          <p:cNvSpPr/>
          <p:nvPr/>
        </p:nvSpPr>
        <p:spPr>
          <a:xfrm>
            <a:off x="534924" y="795528"/>
            <a:ext cx="1783080" cy="164592"/>
          </a:xfrm>
          <a:prstGeom prst="rect">
            <a:avLst/>
          </a:prstGeom>
          <a:noFill/>
          <a:ln/>
        </p:spPr>
        <p:txBody>
          <a:bodyPr wrap="square" lIns="0" tIns="0" rIns="0" bIns="0" rtlCol="0" anchor="ctr"/>
          <a:lstStyle/>
          <a:p>
            <a:r>
              <a:rPr lang="en-US" sz="713" b="1" dirty="0">
                <a:solidFill>
                  <a:srgbClr val="E4002B"/>
                </a:solidFill>
              </a:rPr>
              <a:t>Objective</a:t>
            </a:r>
            <a:endParaRPr lang="en-US" sz="713" dirty="0"/>
          </a:p>
        </p:txBody>
      </p:sp>
      <p:sp>
        <p:nvSpPr>
          <p:cNvPr id="5" name="Text 3"/>
          <p:cNvSpPr/>
          <p:nvPr/>
        </p:nvSpPr>
        <p:spPr>
          <a:xfrm>
            <a:off x="534924" y="1028700"/>
            <a:ext cx="7955280" cy="288036"/>
          </a:xfrm>
          <a:prstGeom prst="rect">
            <a:avLst/>
          </a:prstGeom>
          <a:noFill/>
          <a:ln/>
        </p:spPr>
        <p:txBody>
          <a:bodyPr wrap="square" lIns="0" tIns="0" rIns="0" bIns="0" rtlCol="0" anchor="ctr">
            <a:normAutofit fontScale="92500"/>
          </a:bodyPr>
          <a:lstStyle/>
          <a:p>
            <a:r>
              <a:rPr lang="en-US" sz="1200" b="1" dirty="0">
                <a:solidFill>
                  <a:srgbClr val="081E49"/>
                </a:solidFill>
              </a:rPr>
              <a:t>Create an omni-channel commercial engine where each customer sees the most relevant lending proposition at the right moment.</a:t>
            </a:r>
            <a:endParaRPr lang="en-US" sz="1200" dirty="0"/>
          </a:p>
        </p:txBody>
      </p:sp>
      <p:sp>
        <p:nvSpPr>
          <p:cNvPr id="6" name="Text 4"/>
          <p:cNvSpPr/>
          <p:nvPr/>
        </p:nvSpPr>
        <p:spPr>
          <a:xfrm>
            <a:off x="534924" y="1563624"/>
            <a:ext cx="1783080" cy="164592"/>
          </a:xfrm>
          <a:prstGeom prst="rect">
            <a:avLst/>
          </a:prstGeom>
          <a:noFill/>
          <a:ln/>
        </p:spPr>
        <p:txBody>
          <a:bodyPr wrap="square" lIns="0" tIns="0" rIns="0" bIns="0" rtlCol="0" anchor="ctr"/>
          <a:lstStyle/>
          <a:p>
            <a:r>
              <a:rPr lang="en-US" sz="713" b="1" dirty="0">
                <a:solidFill>
                  <a:srgbClr val="E4002B"/>
                </a:solidFill>
              </a:rPr>
              <a:t>Key capabilities</a:t>
            </a:r>
            <a:endParaRPr lang="en-US" sz="713" dirty="0"/>
          </a:p>
        </p:txBody>
      </p:sp>
      <p:sp>
        <p:nvSpPr>
          <p:cNvPr id="7" name="Shape 5"/>
          <p:cNvSpPr/>
          <p:nvPr/>
        </p:nvSpPr>
        <p:spPr>
          <a:xfrm>
            <a:off x="651510" y="1954530"/>
            <a:ext cx="788670" cy="0"/>
          </a:xfrm>
          <a:prstGeom prst="line">
            <a:avLst/>
          </a:prstGeom>
          <a:noFill/>
          <a:ln w="44450">
            <a:solidFill>
              <a:srgbClr val="005B9E"/>
            </a:solidFill>
            <a:prstDash val="solid"/>
          </a:ln>
        </p:spPr>
        <p:txBody>
          <a:bodyPr/>
          <a:lstStyle/>
          <a:p>
            <a:endParaRPr lang="el-GR" sz="1350"/>
          </a:p>
        </p:txBody>
      </p:sp>
      <p:sp>
        <p:nvSpPr>
          <p:cNvPr id="8" name="Text 6"/>
          <p:cNvSpPr/>
          <p:nvPr/>
        </p:nvSpPr>
        <p:spPr>
          <a:xfrm>
            <a:off x="1577340" y="1865376"/>
            <a:ext cx="1611630" cy="171450"/>
          </a:xfrm>
          <a:prstGeom prst="rect">
            <a:avLst/>
          </a:prstGeom>
          <a:noFill/>
          <a:ln/>
        </p:spPr>
        <p:txBody>
          <a:bodyPr wrap="square" lIns="0" tIns="0" rIns="0" bIns="0" rtlCol="0" anchor="ctr">
            <a:normAutofit/>
          </a:bodyPr>
          <a:lstStyle/>
          <a:p>
            <a:r>
              <a:rPr lang="en-US" sz="923" b="1" dirty="0">
                <a:solidFill>
                  <a:srgbClr val="081E49"/>
                </a:solidFill>
              </a:rPr>
              <a:t>35+ automated campaigns</a:t>
            </a:r>
            <a:endParaRPr lang="en-US" sz="923" dirty="0"/>
          </a:p>
        </p:txBody>
      </p:sp>
      <p:sp>
        <p:nvSpPr>
          <p:cNvPr id="9" name="Text 7"/>
          <p:cNvSpPr/>
          <p:nvPr/>
        </p:nvSpPr>
        <p:spPr>
          <a:xfrm>
            <a:off x="3271266" y="1865376"/>
            <a:ext cx="1405890" cy="192024"/>
          </a:xfrm>
          <a:prstGeom prst="rect">
            <a:avLst/>
          </a:prstGeom>
          <a:noFill/>
          <a:ln/>
        </p:spPr>
        <p:txBody>
          <a:bodyPr wrap="square" lIns="0" tIns="0" rIns="0" bIns="0" rtlCol="0" anchor="ctr">
            <a:normAutofit/>
          </a:bodyPr>
          <a:lstStyle/>
          <a:p>
            <a:r>
              <a:rPr lang="en-US" sz="728" dirty="0">
                <a:solidFill>
                  <a:srgbClr val="1C273A"/>
                </a:solidFill>
              </a:rPr>
              <a:t>always-on activity across channels</a:t>
            </a:r>
            <a:endParaRPr lang="en-US" sz="728" dirty="0"/>
          </a:p>
        </p:txBody>
      </p:sp>
      <p:sp>
        <p:nvSpPr>
          <p:cNvPr id="10" name="Shape 8"/>
          <p:cNvSpPr/>
          <p:nvPr/>
        </p:nvSpPr>
        <p:spPr>
          <a:xfrm>
            <a:off x="4903470" y="1954530"/>
            <a:ext cx="788670" cy="0"/>
          </a:xfrm>
          <a:prstGeom prst="line">
            <a:avLst/>
          </a:prstGeom>
          <a:noFill/>
          <a:ln w="44450">
            <a:solidFill>
              <a:srgbClr val="023052"/>
            </a:solidFill>
            <a:prstDash val="solid"/>
          </a:ln>
        </p:spPr>
        <p:txBody>
          <a:bodyPr/>
          <a:lstStyle/>
          <a:p>
            <a:endParaRPr lang="el-GR" sz="1350"/>
          </a:p>
        </p:txBody>
      </p:sp>
      <p:sp>
        <p:nvSpPr>
          <p:cNvPr id="11" name="Text 9"/>
          <p:cNvSpPr/>
          <p:nvPr/>
        </p:nvSpPr>
        <p:spPr>
          <a:xfrm>
            <a:off x="5829300" y="1865376"/>
            <a:ext cx="1611630" cy="171450"/>
          </a:xfrm>
          <a:prstGeom prst="rect">
            <a:avLst/>
          </a:prstGeom>
          <a:noFill/>
          <a:ln/>
        </p:spPr>
        <p:txBody>
          <a:bodyPr wrap="square" lIns="0" tIns="0" rIns="0" bIns="0" rtlCol="0" anchor="ctr">
            <a:normAutofit/>
          </a:bodyPr>
          <a:lstStyle/>
          <a:p>
            <a:r>
              <a:rPr lang="en-US" sz="923" b="1" dirty="0">
                <a:solidFill>
                  <a:srgbClr val="081E49"/>
                </a:solidFill>
              </a:rPr>
              <a:t>Real-time decisioning</a:t>
            </a:r>
            <a:endParaRPr lang="en-US" sz="923" dirty="0"/>
          </a:p>
        </p:txBody>
      </p:sp>
      <p:sp>
        <p:nvSpPr>
          <p:cNvPr id="12" name="Text 10"/>
          <p:cNvSpPr/>
          <p:nvPr/>
        </p:nvSpPr>
        <p:spPr>
          <a:xfrm>
            <a:off x="7523226" y="1865376"/>
            <a:ext cx="1405890" cy="192024"/>
          </a:xfrm>
          <a:prstGeom prst="rect">
            <a:avLst/>
          </a:prstGeom>
          <a:noFill/>
          <a:ln/>
        </p:spPr>
        <p:txBody>
          <a:bodyPr wrap="square" lIns="0" tIns="0" rIns="0" bIns="0" rtlCol="0" anchor="ctr">
            <a:normAutofit/>
          </a:bodyPr>
          <a:lstStyle/>
          <a:p>
            <a:r>
              <a:rPr lang="en-US" sz="728" dirty="0">
                <a:solidFill>
                  <a:srgbClr val="1C273A"/>
                </a:solidFill>
              </a:rPr>
              <a:t>right offer at the moment of need</a:t>
            </a:r>
            <a:endParaRPr lang="en-US" sz="728" dirty="0"/>
          </a:p>
        </p:txBody>
      </p:sp>
      <p:sp>
        <p:nvSpPr>
          <p:cNvPr id="13" name="Shape 11"/>
          <p:cNvSpPr/>
          <p:nvPr/>
        </p:nvSpPr>
        <p:spPr>
          <a:xfrm>
            <a:off x="651510" y="2544318"/>
            <a:ext cx="788670" cy="0"/>
          </a:xfrm>
          <a:prstGeom prst="line">
            <a:avLst/>
          </a:prstGeom>
          <a:noFill/>
          <a:ln w="44450">
            <a:solidFill>
              <a:srgbClr val="005B9E"/>
            </a:solidFill>
            <a:prstDash val="solid"/>
          </a:ln>
        </p:spPr>
        <p:txBody>
          <a:bodyPr/>
          <a:lstStyle/>
          <a:p>
            <a:endParaRPr lang="el-GR" sz="1350"/>
          </a:p>
        </p:txBody>
      </p:sp>
      <p:sp>
        <p:nvSpPr>
          <p:cNvPr id="14" name="Text 12"/>
          <p:cNvSpPr/>
          <p:nvPr/>
        </p:nvSpPr>
        <p:spPr>
          <a:xfrm>
            <a:off x="1577340" y="2455164"/>
            <a:ext cx="1611630" cy="171450"/>
          </a:xfrm>
          <a:prstGeom prst="rect">
            <a:avLst/>
          </a:prstGeom>
          <a:noFill/>
          <a:ln/>
        </p:spPr>
        <p:txBody>
          <a:bodyPr wrap="square" lIns="0" tIns="0" rIns="0" bIns="0" rtlCol="0" anchor="ctr">
            <a:normAutofit/>
          </a:bodyPr>
          <a:lstStyle/>
          <a:p>
            <a:r>
              <a:rPr lang="en-US" sz="923" b="1" dirty="0">
                <a:solidFill>
                  <a:srgbClr val="081E49"/>
                </a:solidFill>
              </a:rPr>
              <a:t>Personalized digital assets</a:t>
            </a:r>
            <a:endParaRPr lang="en-US" sz="923" dirty="0"/>
          </a:p>
        </p:txBody>
      </p:sp>
      <p:sp>
        <p:nvSpPr>
          <p:cNvPr id="15" name="Text 13"/>
          <p:cNvSpPr/>
          <p:nvPr/>
        </p:nvSpPr>
        <p:spPr>
          <a:xfrm>
            <a:off x="3271266" y="2455164"/>
            <a:ext cx="1405890" cy="192024"/>
          </a:xfrm>
          <a:prstGeom prst="rect">
            <a:avLst/>
          </a:prstGeom>
          <a:noFill/>
          <a:ln/>
        </p:spPr>
        <p:txBody>
          <a:bodyPr wrap="square" lIns="0" tIns="0" rIns="0" bIns="0" rtlCol="0" anchor="ctr">
            <a:normAutofit fontScale="92500" lnSpcReduction="10000"/>
          </a:bodyPr>
          <a:lstStyle/>
          <a:p>
            <a:r>
              <a:rPr lang="en-US" sz="728" dirty="0">
                <a:solidFill>
                  <a:srgbClr val="1C273A"/>
                </a:solidFill>
              </a:rPr>
              <a:t>dashboard, floating banners and push notifications</a:t>
            </a:r>
            <a:endParaRPr lang="en-US" sz="728" dirty="0"/>
          </a:p>
        </p:txBody>
      </p:sp>
      <p:sp>
        <p:nvSpPr>
          <p:cNvPr id="16" name="Shape 14"/>
          <p:cNvSpPr/>
          <p:nvPr/>
        </p:nvSpPr>
        <p:spPr>
          <a:xfrm>
            <a:off x="4903470" y="2544318"/>
            <a:ext cx="788670" cy="0"/>
          </a:xfrm>
          <a:prstGeom prst="line">
            <a:avLst/>
          </a:prstGeom>
          <a:noFill/>
          <a:ln w="44450">
            <a:solidFill>
              <a:srgbClr val="023052"/>
            </a:solidFill>
            <a:prstDash val="solid"/>
          </a:ln>
        </p:spPr>
        <p:txBody>
          <a:bodyPr/>
          <a:lstStyle/>
          <a:p>
            <a:endParaRPr lang="el-GR" sz="1350"/>
          </a:p>
        </p:txBody>
      </p:sp>
      <p:sp>
        <p:nvSpPr>
          <p:cNvPr id="17" name="Text 15"/>
          <p:cNvSpPr/>
          <p:nvPr/>
        </p:nvSpPr>
        <p:spPr>
          <a:xfrm>
            <a:off x="5829300" y="2455164"/>
            <a:ext cx="1611630" cy="171450"/>
          </a:xfrm>
          <a:prstGeom prst="rect">
            <a:avLst/>
          </a:prstGeom>
          <a:noFill/>
          <a:ln/>
        </p:spPr>
        <p:txBody>
          <a:bodyPr wrap="square" lIns="0" tIns="0" rIns="0" bIns="0" rtlCol="0" anchor="ctr">
            <a:normAutofit/>
          </a:bodyPr>
          <a:lstStyle/>
          <a:p>
            <a:r>
              <a:rPr lang="en-US" sz="923" b="1" dirty="0">
                <a:solidFill>
                  <a:srgbClr val="081E49"/>
                </a:solidFill>
              </a:rPr>
              <a:t>Closed-loop actions</a:t>
            </a:r>
            <a:endParaRPr lang="en-US" sz="923" dirty="0"/>
          </a:p>
        </p:txBody>
      </p:sp>
      <p:sp>
        <p:nvSpPr>
          <p:cNvPr id="18" name="Text 16"/>
          <p:cNvSpPr/>
          <p:nvPr/>
        </p:nvSpPr>
        <p:spPr>
          <a:xfrm>
            <a:off x="7523226" y="2455164"/>
            <a:ext cx="1405890" cy="192024"/>
          </a:xfrm>
          <a:prstGeom prst="rect">
            <a:avLst/>
          </a:prstGeom>
          <a:noFill/>
          <a:ln/>
        </p:spPr>
        <p:txBody>
          <a:bodyPr wrap="square" lIns="0" tIns="0" rIns="0" bIns="0" rtlCol="0" anchor="ctr">
            <a:normAutofit fontScale="92500" lnSpcReduction="10000"/>
          </a:bodyPr>
          <a:lstStyle/>
          <a:p>
            <a:r>
              <a:rPr lang="en-US" sz="728" dirty="0">
                <a:solidFill>
                  <a:srgbClr val="1C273A"/>
                </a:solidFill>
              </a:rPr>
              <a:t>abandoners and approved-not-signed follow-up</a:t>
            </a:r>
            <a:endParaRPr lang="en-US" sz="728" dirty="0"/>
          </a:p>
        </p:txBody>
      </p:sp>
      <p:sp>
        <p:nvSpPr>
          <p:cNvPr id="19" name="Shape 17"/>
          <p:cNvSpPr/>
          <p:nvPr/>
        </p:nvSpPr>
        <p:spPr>
          <a:xfrm>
            <a:off x="651510" y="3134106"/>
            <a:ext cx="788670" cy="0"/>
          </a:xfrm>
          <a:prstGeom prst="line">
            <a:avLst/>
          </a:prstGeom>
          <a:noFill/>
          <a:ln w="44450">
            <a:solidFill>
              <a:srgbClr val="005B9E"/>
            </a:solidFill>
            <a:prstDash val="solid"/>
          </a:ln>
        </p:spPr>
        <p:txBody>
          <a:bodyPr/>
          <a:lstStyle/>
          <a:p>
            <a:endParaRPr lang="el-GR" sz="1350"/>
          </a:p>
        </p:txBody>
      </p:sp>
      <p:sp>
        <p:nvSpPr>
          <p:cNvPr id="20" name="Text 18"/>
          <p:cNvSpPr/>
          <p:nvPr/>
        </p:nvSpPr>
        <p:spPr>
          <a:xfrm>
            <a:off x="1577340" y="3044952"/>
            <a:ext cx="1611630" cy="171450"/>
          </a:xfrm>
          <a:prstGeom prst="rect">
            <a:avLst/>
          </a:prstGeom>
          <a:noFill/>
          <a:ln/>
        </p:spPr>
        <p:txBody>
          <a:bodyPr wrap="square" lIns="0" tIns="0" rIns="0" bIns="0" rtlCol="0" anchor="ctr">
            <a:normAutofit/>
          </a:bodyPr>
          <a:lstStyle/>
          <a:p>
            <a:r>
              <a:rPr lang="en-US" sz="923" b="1" dirty="0">
                <a:solidFill>
                  <a:srgbClr val="081E49"/>
                </a:solidFill>
              </a:rPr>
              <a:t>Test &amp; learn</a:t>
            </a:r>
            <a:endParaRPr lang="en-US" sz="923" dirty="0"/>
          </a:p>
        </p:txBody>
      </p:sp>
      <p:sp>
        <p:nvSpPr>
          <p:cNvPr id="21" name="Text 19"/>
          <p:cNvSpPr/>
          <p:nvPr/>
        </p:nvSpPr>
        <p:spPr>
          <a:xfrm>
            <a:off x="3271266" y="3044952"/>
            <a:ext cx="1405890" cy="192024"/>
          </a:xfrm>
          <a:prstGeom prst="rect">
            <a:avLst/>
          </a:prstGeom>
          <a:noFill/>
          <a:ln/>
        </p:spPr>
        <p:txBody>
          <a:bodyPr wrap="square" lIns="0" tIns="0" rIns="0" bIns="0" rtlCol="0" anchor="ctr">
            <a:normAutofit fontScale="92500" lnSpcReduction="10000"/>
          </a:bodyPr>
          <a:lstStyle/>
          <a:p>
            <a:r>
              <a:rPr lang="en-US" sz="728" dirty="0">
                <a:solidFill>
                  <a:srgbClr val="1C273A"/>
                </a:solidFill>
              </a:rPr>
              <a:t>lean creative outperformed traditional BTL material</a:t>
            </a:r>
            <a:endParaRPr lang="en-US" sz="728" dirty="0"/>
          </a:p>
        </p:txBody>
      </p:sp>
      <p:sp>
        <p:nvSpPr>
          <p:cNvPr id="22" name="Shape 20"/>
          <p:cNvSpPr/>
          <p:nvPr/>
        </p:nvSpPr>
        <p:spPr>
          <a:xfrm>
            <a:off x="4903470" y="3134106"/>
            <a:ext cx="788670" cy="0"/>
          </a:xfrm>
          <a:prstGeom prst="line">
            <a:avLst/>
          </a:prstGeom>
          <a:noFill/>
          <a:ln w="44450">
            <a:solidFill>
              <a:srgbClr val="023052"/>
            </a:solidFill>
            <a:prstDash val="solid"/>
          </a:ln>
        </p:spPr>
        <p:txBody>
          <a:bodyPr/>
          <a:lstStyle/>
          <a:p>
            <a:endParaRPr lang="el-GR" sz="1350"/>
          </a:p>
        </p:txBody>
      </p:sp>
      <p:sp>
        <p:nvSpPr>
          <p:cNvPr id="23" name="Text 21"/>
          <p:cNvSpPr/>
          <p:nvPr/>
        </p:nvSpPr>
        <p:spPr>
          <a:xfrm>
            <a:off x="5829300" y="3044952"/>
            <a:ext cx="1611630" cy="171450"/>
          </a:xfrm>
          <a:prstGeom prst="rect">
            <a:avLst/>
          </a:prstGeom>
          <a:noFill/>
          <a:ln/>
        </p:spPr>
        <p:txBody>
          <a:bodyPr wrap="square" lIns="0" tIns="0" rIns="0" bIns="0" rtlCol="0" anchor="ctr">
            <a:normAutofit/>
          </a:bodyPr>
          <a:lstStyle/>
          <a:p>
            <a:r>
              <a:rPr lang="en-US" sz="923" b="1" dirty="0">
                <a:solidFill>
                  <a:srgbClr val="081E49"/>
                </a:solidFill>
              </a:rPr>
              <a:t>Risk….?????</a:t>
            </a:r>
            <a:endParaRPr lang="en-US" sz="923" dirty="0"/>
          </a:p>
        </p:txBody>
      </p:sp>
      <p:sp>
        <p:nvSpPr>
          <p:cNvPr id="24" name="Text 22"/>
          <p:cNvSpPr/>
          <p:nvPr/>
        </p:nvSpPr>
        <p:spPr>
          <a:xfrm>
            <a:off x="7523226" y="3044952"/>
            <a:ext cx="1405890" cy="192024"/>
          </a:xfrm>
          <a:prstGeom prst="rect">
            <a:avLst/>
          </a:prstGeom>
          <a:noFill/>
          <a:ln/>
        </p:spPr>
        <p:txBody>
          <a:bodyPr wrap="square" lIns="0" tIns="0" rIns="0" bIns="0" rtlCol="0" anchor="ctr">
            <a:normAutofit/>
          </a:bodyPr>
          <a:lstStyle/>
          <a:p>
            <a:r>
              <a:rPr lang="en-US" sz="728" dirty="0">
                <a:solidFill>
                  <a:srgbClr val="1C273A"/>
                </a:solidFill>
              </a:rPr>
              <a:t>…….</a:t>
            </a:r>
            <a:endParaRPr lang="en-US" sz="728" dirty="0"/>
          </a:p>
        </p:txBody>
      </p:sp>
      <p:sp>
        <p:nvSpPr>
          <p:cNvPr id="25" name="Text 23"/>
          <p:cNvSpPr/>
          <p:nvPr/>
        </p:nvSpPr>
        <p:spPr>
          <a:xfrm>
            <a:off x="534924" y="3682148"/>
            <a:ext cx="1783080" cy="164592"/>
          </a:xfrm>
          <a:prstGeom prst="rect">
            <a:avLst/>
          </a:prstGeom>
          <a:noFill/>
          <a:ln/>
        </p:spPr>
        <p:txBody>
          <a:bodyPr wrap="square" lIns="0" tIns="0" rIns="0" bIns="0" rtlCol="0" anchor="ctr"/>
          <a:lstStyle/>
          <a:p>
            <a:r>
              <a:rPr lang="en-US" sz="713" b="1" dirty="0">
                <a:solidFill>
                  <a:srgbClr val="E4002B"/>
                </a:solidFill>
              </a:rPr>
              <a:t>Business impact</a:t>
            </a:r>
            <a:endParaRPr lang="en-US" sz="713" dirty="0"/>
          </a:p>
        </p:txBody>
      </p:sp>
      <p:sp>
        <p:nvSpPr>
          <p:cNvPr id="26" name="Text 24"/>
          <p:cNvSpPr/>
          <p:nvPr/>
        </p:nvSpPr>
        <p:spPr>
          <a:xfrm>
            <a:off x="651510" y="3942752"/>
            <a:ext cx="7612380" cy="288036"/>
          </a:xfrm>
          <a:prstGeom prst="rect">
            <a:avLst/>
          </a:prstGeom>
          <a:noFill/>
          <a:ln/>
        </p:spPr>
        <p:txBody>
          <a:bodyPr wrap="square" lIns="0" tIns="0" rIns="0" bIns="0" rtlCol="0" anchor="ctr">
            <a:normAutofit/>
          </a:bodyPr>
          <a:lstStyle/>
          <a:p>
            <a:r>
              <a:rPr lang="en-US" sz="915" b="1" dirty="0">
                <a:solidFill>
                  <a:srgbClr val="081E49"/>
                </a:solidFill>
              </a:rPr>
              <a:t>Higher conversion, stronger digital share, better cross-sell and more efficient acquisition through data-driven commercialization.</a:t>
            </a:r>
            <a:endParaRPr lang="en-US" sz="915" dirty="0"/>
          </a:p>
        </p:txBody>
      </p:sp>
      <p:sp>
        <p:nvSpPr>
          <p:cNvPr id="27" name="Text 25"/>
          <p:cNvSpPr/>
          <p:nvPr/>
        </p:nvSpPr>
        <p:spPr>
          <a:xfrm>
            <a:off x="202311" y="4902274"/>
            <a:ext cx="3771900" cy="109728"/>
          </a:xfrm>
          <a:prstGeom prst="rect">
            <a:avLst/>
          </a:prstGeom>
          <a:noFill/>
          <a:ln/>
        </p:spPr>
        <p:txBody>
          <a:bodyPr wrap="square" lIns="0" tIns="0" rIns="0" bIns="0" rtlCol="0" anchor="ctr"/>
          <a:lstStyle/>
          <a:p>
            <a:r>
              <a:rPr lang="en-US" sz="563" dirty="0">
                <a:solidFill>
                  <a:srgbClr val="6E7A8A"/>
                </a:solidFill>
              </a:rPr>
              <a:t>Consumer Loans Growth Strategy</a:t>
            </a:r>
            <a:endParaRPr lang="en-US" sz="563" dirty="0"/>
          </a:p>
        </p:txBody>
      </p:sp>
      <p:sp>
        <p:nvSpPr>
          <p:cNvPr id="28"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081E49"/>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5</a:t>
            </a:fld>
            <a:endParaRPr lang="en-US"/>
          </a:p>
        </p:txBody>
      </p:sp>
      <p:sp>
        <p:nvSpPr>
          <p:cNvPr id="29" name="Text 84">
            <a:extLst>
              <a:ext uri="{FF2B5EF4-FFF2-40B4-BE49-F238E27FC236}">
                <a16:creationId xmlns:a16="http://schemas.microsoft.com/office/drawing/2014/main" id="{F5E69B6E-C733-0C10-4108-950F70BDB70F}"/>
              </a:ext>
            </a:extLst>
          </p:cNvPr>
          <p:cNvSpPr/>
          <p:nvPr/>
        </p:nvSpPr>
        <p:spPr>
          <a:xfrm>
            <a:off x="493776" y="4298697"/>
            <a:ext cx="1179576" cy="137160"/>
          </a:xfrm>
          <a:prstGeom prst="rect">
            <a:avLst/>
          </a:prstGeom>
          <a:noFill/>
          <a:ln/>
        </p:spPr>
        <p:txBody>
          <a:bodyPr wrap="square" lIns="0" tIns="0" rIns="0" bIns="0" rtlCol="0" anchor="ctr"/>
          <a:lstStyle/>
          <a:p>
            <a:r>
              <a:rPr lang="en-US" sz="660" b="1" dirty="0">
                <a:solidFill>
                  <a:srgbClr val="E4002B"/>
                </a:solidFill>
              </a:rPr>
              <a:t>Next-wave propositions</a:t>
            </a:r>
            <a:endParaRPr lang="en-US" sz="660" dirty="0"/>
          </a:p>
        </p:txBody>
      </p:sp>
      <p:sp>
        <p:nvSpPr>
          <p:cNvPr id="30" name="Shape 85">
            <a:extLst>
              <a:ext uri="{FF2B5EF4-FFF2-40B4-BE49-F238E27FC236}">
                <a16:creationId xmlns:a16="http://schemas.microsoft.com/office/drawing/2014/main" id="{EA821DAE-F1B3-BFC4-09D3-1F8584862B73}"/>
              </a:ext>
            </a:extLst>
          </p:cNvPr>
          <p:cNvSpPr/>
          <p:nvPr/>
        </p:nvSpPr>
        <p:spPr>
          <a:xfrm>
            <a:off x="480060" y="4490720"/>
            <a:ext cx="8161020" cy="233172"/>
          </a:xfrm>
          <a:prstGeom prst="roundRect">
            <a:avLst>
              <a:gd name="adj" fmla="val 14706"/>
            </a:avLst>
          </a:prstGeom>
          <a:solidFill>
            <a:srgbClr val="EAF4FB"/>
          </a:solidFill>
          <a:ln w="12700">
            <a:solidFill>
              <a:srgbClr val="EAF4FB"/>
            </a:solidFill>
            <a:prstDash val="solid"/>
          </a:ln>
        </p:spPr>
        <p:txBody>
          <a:bodyPr/>
          <a:lstStyle/>
          <a:p>
            <a:r>
              <a:rPr lang="en-US" sz="1400" b="1" dirty="0">
                <a:solidFill>
                  <a:srgbClr val="081E49"/>
                </a:solidFill>
              </a:rPr>
              <a:t>GenAI in customer journeys?</a:t>
            </a:r>
            <a:endParaRPr lang="en-US" sz="1400" dirty="0"/>
          </a:p>
        </p:txBody>
      </p:sp>
      <p:sp>
        <p:nvSpPr>
          <p:cNvPr id="31" name="Text 86">
            <a:extLst>
              <a:ext uri="{FF2B5EF4-FFF2-40B4-BE49-F238E27FC236}">
                <a16:creationId xmlns:a16="http://schemas.microsoft.com/office/drawing/2014/main" id="{62AF45A3-363E-27BF-F561-1B152A8AE5E6}"/>
              </a:ext>
            </a:extLst>
          </p:cNvPr>
          <p:cNvSpPr/>
          <p:nvPr/>
        </p:nvSpPr>
        <p:spPr>
          <a:xfrm>
            <a:off x="651510" y="4559301"/>
            <a:ext cx="7852410" cy="96012"/>
          </a:xfrm>
          <a:prstGeom prst="rect">
            <a:avLst/>
          </a:prstGeom>
          <a:noFill/>
          <a:ln/>
        </p:spPr>
        <p:txBody>
          <a:bodyPr wrap="square" lIns="0" tIns="0" rIns="0" bIns="0" rtlCol="0" anchor="ctr">
            <a:normAutofit/>
          </a:bodyPr>
          <a:lstStyle/>
          <a:p>
            <a:pPr algn="ctr"/>
            <a:r>
              <a:rPr lang="en-US" sz="608" dirty="0">
                <a:solidFill>
                  <a:srgbClr val="061C46"/>
                </a:solidFill>
              </a:rPr>
              <a:t>……….</a:t>
            </a:r>
            <a:endParaRPr lang="en-US" sz="60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A99A25A5-EFF5-D35A-CD7F-090A8396C95F}"/>
              </a:ext>
            </a:extLst>
          </p:cNvPr>
          <p:cNvSpPr>
            <a:spLocks noGrp="1"/>
          </p:cNvSpPr>
          <p:nvPr>
            <p:ph type="body" idx="15"/>
          </p:nvPr>
        </p:nvSpPr>
        <p:spPr>
          <a:xfrm>
            <a:off x="323850" y="209550"/>
            <a:ext cx="6121400" cy="149225"/>
          </a:xfrm>
        </p:spPr>
        <p:txBody>
          <a:bodyPr/>
          <a:lstStyle/>
          <a:p>
            <a:r>
              <a:rPr lang="en-US"/>
              <a:t>ERB Disbursements Consumer Loans</a:t>
            </a:r>
            <a:endParaRPr lang="el-GR"/>
          </a:p>
        </p:txBody>
      </p:sp>
      <p:graphicFrame>
        <p:nvGraphicFramePr>
          <p:cNvPr id="6" name="Chart 5">
            <a:extLst>
              <a:ext uri="{FF2B5EF4-FFF2-40B4-BE49-F238E27FC236}">
                <a16:creationId xmlns:a16="http://schemas.microsoft.com/office/drawing/2014/main" id="{9D873CAD-B762-A79C-9F74-5045E577202C}"/>
              </a:ext>
            </a:extLst>
          </p:cNvPr>
          <p:cNvGraphicFramePr>
            <a:graphicFrameLocks/>
          </p:cNvGraphicFramePr>
          <p:nvPr/>
        </p:nvGraphicFramePr>
        <p:xfrm>
          <a:off x="1264784" y="1226751"/>
          <a:ext cx="3499318" cy="178152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Box 189">
            <a:extLst>
              <a:ext uri="{FF2B5EF4-FFF2-40B4-BE49-F238E27FC236}">
                <a16:creationId xmlns:a16="http://schemas.microsoft.com/office/drawing/2014/main" id="{636BD03A-F3E8-331B-DC64-D565CAA0C453}"/>
              </a:ext>
            </a:extLst>
          </p:cNvPr>
          <p:cNvSpPr txBox="1">
            <a:spLocks noChangeArrowheads="1"/>
          </p:cNvSpPr>
          <p:nvPr>
            <p:custDataLst>
              <p:tags r:id="rId1"/>
            </p:custDataLst>
          </p:nvPr>
        </p:nvSpPr>
        <p:spPr bwMode="auto">
          <a:xfrm>
            <a:off x="1529122" y="1128568"/>
            <a:ext cx="2935301" cy="369332"/>
          </a:xfrm>
          <a:prstGeom prst="rect">
            <a:avLst/>
          </a:prstGeom>
          <a:noFill/>
          <a:ln>
            <a:noFill/>
          </a:ln>
          <a:effectLst>
            <a:prstShdw prst="shdw17" dist="17961" dir="2700000">
              <a:srgbClr val="5B9BD5">
                <a:gamma/>
                <a:shade val="60000"/>
                <a:invGamma/>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2060"/>
                </a:solidFill>
                <a:effectLst/>
                <a:uLnTx/>
                <a:uFillTx/>
                <a:latin typeface="Eurobank Sans"/>
                <a:ea typeface="+mn-ea"/>
                <a:cs typeface="Arial"/>
              </a:rPr>
              <a:t>ERB Consumer Loans</a:t>
            </a:r>
            <a:r>
              <a:rPr kumimoji="0" lang="el-GR" sz="1200" b="1" i="0" u="none" strike="noStrike" kern="0" cap="none" spc="0" normalizeH="0" baseline="0" noProof="0">
                <a:ln>
                  <a:noFill/>
                </a:ln>
                <a:solidFill>
                  <a:srgbClr val="002060"/>
                </a:solidFill>
                <a:effectLst/>
                <a:uLnTx/>
                <a:uFillTx/>
                <a:latin typeface="Eurobank Sans"/>
                <a:ea typeface="+mn-ea"/>
                <a:cs typeface="Arial"/>
              </a:rPr>
              <a:t> </a:t>
            </a:r>
            <a:r>
              <a:rPr kumimoji="0" lang="en-US" sz="1200" b="1" i="0" u="none" strike="noStrike" kern="0" cap="none" spc="0" normalizeH="0" baseline="0" noProof="0">
                <a:ln>
                  <a:noFill/>
                </a:ln>
                <a:solidFill>
                  <a:srgbClr val="002060"/>
                </a:solidFill>
                <a:effectLst/>
                <a:uLnTx/>
                <a:uFillTx/>
                <a:latin typeface="Eurobank Sans"/>
                <a:ea typeface="+mn-ea"/>
                <a:cs typeface="Arial"/>
              </a:rPr>
              <a:t>New Disbursements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2060"/>
                </a:solidFill>
                <a:effectLst/>
                <a:uLnTx/>
                <a:uFillTx/>
                <a:latin typeface="Eurobank Sans"/>
                <a:ea typeface="+mn-ea"/>
                <a:cs typeface="Arial"/>
              </a:rPr>
              <a:t>(</a:t>
            </a:r>
            <a:r>
              <a:rPr kumimoji="0" lang="el-GR" sz="1200" b="0" i="0" u="none" strike="noStrike" kern="0" cap="none" spc="0" normalizeH="0" baseline="0" noProof="0">
                <a:ln>
                  <a:noFill/>
                </a:ln>
                <a:solidFill>
                  <a:srgbClr val="002060"/>
                </a:solidFill>
                <a:effectLst/>
                <a:uLnTx/>
                <a:uFillTx/>
                <a:latin typeface="Eurobank Sans"/>
                <a:ea typeface="+mn-ea"/>
                <a:cs typeface="Arial"/>
              </a:rPr>
              <a:t>€</a:t>
            </a:r>
            <a:r>
              <a:rPr kumimoji="0" lang="en-US" sz="1200" b="0" i="0" u="none" strike="noStrike" kern="0" cap="none" spc="0" normalizeH="0" baseline="0" noProof="0">
                <a:ln>
                  <a:noFill/>
                </a:ln>
                <a:solidFill>
                  <a:srgbClr val="002060"/>
                </a:solidFill>
                <a:effectLst/>
                <a:uLnTx/>
                <a:uFillTx/>
                <a:latin typeface="Eurobank Sans"/>
                <a:ea typeface="+mn-ea"/>
                <a:cs typeface="Arial"/>
              </a:rPr>
              <a:t>m</a:t>
            </a:r>
            <a:r>
              <a:rPr kumimoji="0" lang="el-GR" sz="1200" b="0" i="0" u="none" strike="noStrike" kern="0" cap="none" spc="0" normalizeH="0" baseline="0" noProof="0">
                <a:ln>
                  <a:noFill/>
                </a:ln>
                <a:solidFill>
                  <a:srgbClr val="002060"/>
                </a:solidFill>
                <a:effectLst/>
                <a:uLnTx/>
                <a:uFillTx/>
                <a:latin typeface="Eurobank Sans"/>
                <a:ea typeface="+mn-ea"/>
                <a:cs typeface="Arial"/>
              </a:rPr>
              <a:t>)</a:t>
            </a:r>
            <a:endParaRPr kumimoji="0" lang="en-US" sz="1200" b="0" i="0" u="none" strike="noStrike" kern="0" cap="none" spc="0" normalizeH="0" baseline="0" noProof="0">
              <a:ln>
                <a:noFill/>
              </a:ln>
              <a:solidFill>
                <a:prstClr val="black">
                  <a:lumMod val="50000"/>
                  <a:lumOff val="50000"/>
                </a:prstClr>
              </a:solidFill>
              <a:effectLst/>
              <a:uLnTx/>
              <a:uFillTx/>
              <a:latin typeface="Eurobank Sans"/>
              <a:ea typeface="+mn-ea"/>
              <a:cs typeface="Calibri"/>
            </a:endParaRPr>
          </a:p>
        </p:txBody>
      </p:sp>
      <p:sp>
        <p:nvSpPr>
          <p:cNvPr id="14" name="TextBox 13">
            <a:extLst>
              <a:ext uri="{FF2B5EF4-FFF2-40B4-BE49-F238E27FC236}">
                <a16:creationId xmlns:a16="http://schemas.microsoft.com/office/drawing/2014/main" id="{25774DCD-CE98-AC87-8608-755CAF2D82B0}"/>
              </a:ext>
            </a:extLst>
          </p:cNvPr>
          <p:cNvSpPr txBox="1"/>
          <p:nvPr/>
        </p:nvSpPr>
        <p:spPr>
          <a:xfrm>
            <a:off x="5704646" y="1359400"/>
            <a:ext cx="1824326" cy="276999"/>
          </a:xfrm>
          <a:prstGeom prst="rect">
            <a:avLst/>
          </a:prstGeom>
          <a:noFill/>
        </p:spPr>
        <p:txBody>
          <a:bodyPr wrap="square" rtlCol="0">
            <a:spAutoFit/>
          </a:bodyPr>
          <a:lstStyle>
            <a:defPPr>
              <a:defRPr lang="en-US"/>
            </a:defPPr>
            <a:lvl1pPr marL="0" marR="0" lvl="0" indent="0" defTabSz="914400" fontAlgn="auto">
              <a:lnSpc>
                <a:spcPct val="100000"/>
              </a:lnSpc>
              <a:spcBef>
                <a:spcPts val="0"/>
              </a:spcBef>
              <a:spcAft>
                <a:spcPts val="0"/>
              </a:spcAft>
              <a:buClrTx/>
              <a:buSzTx/>
              <a:buFontTx/>
              <a:buNone/>
              <a:tabLst/>
              <a:defRPr kumimoji="0" sz="1200" b="1" i="0" strike="noStrike" kern="0" cap="none" spc="0" normalizeH="0" baseline="0">
                <a:ln>
                  <a:noFill/>
                </a:ln>
                <a:solidFill>
                  <a:srgbClr val="021342"/>
                </a:solidFill>
                <a:effectLst/>
                <a:uLnTx/>
                <a:uFillTx/>
                <a:latin typeface="+mj-lt"/>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2060"/>
                </a:solidFill>
                <a:effectLst/>
                <a:uLnTx/>
                <a:uFillTx/>
                <a:latin typeface="Eurobank Sans"/>
                <a:ea typeface="+mn-ea"/>
                <a:cs typeface="+mn-cs"/>
              </a:rPr>
              <a:t>Highlights</a:t>
            </a:r>
            <a:endParaRPr kumimoji="0" lang="el-GR" sz="1200" b="1" i="0" u="none" strike="noStrike" kern="0" cap="none" spc="0" normalizeH="0" baseline="0" noProof="0">
              <a:ln>
                <a:noFill/>
              </a:ln>
              <a:solidFill>
                <a:srgbClr val="002060"/>
              </a:solidFill>
              <a:effectLst/>
              <a:uLnTx/>
              <a:uFillTx/>
              <a:latin typeface="Eurobank Sans"/>
              <a:ea typeface="+mn-ea"/>
              <a:cs typeface="+mn-cs"/>
            </a:endParaRPr>
          </a:p>
        </p:txBody>
      </p:sp>
      <p:sp>
        <p:nvSpPr>
          <p:cNvPr id="15" name="TextBox 14">
            <a:extLst>
              <a:ext uri="{FF2B5EF4-FFF2-40B4-BE49-F238E27FC236}">
                <a16:creationId xmlns:a16="http://schemas.microsoft.com/office/drawing/2014/main" id="{8BB4138A-C336-2F54-CCB4-255E03F305E2}"/>
              </a:ext>
            </a:extLst>
          </p:cNvPr>
          <p:cNvSpPr txBox="1"/>
          <p:nvPr/>
        </p:nvSpPr>
        <p:spPr>
          <a:xfrm>
            <a:off x="5160623" y="1636399"/>
            <a:ext cx="3640477" cy="3130857"/>
          </a:xfrm>
          <a:prstGeom prst="rect">
            <a:avLst/>
          </a:prstGeom>
          <a:noFill/>
        </p:spPr>
        <p:txBody>
          <a:bodyPr wrap="square" rtlCol="0">
            <a:spAutoFit/>
          </a:bodyPr>
          <a:lstStyle/>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Leading position between the 4 systemic banks.</a:t>
            </a: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Continuous YoY increase of new disbursements of over 15%, in the last 4 years.</a:t>
            </a:r>
          </a:p>
          <a:p>
            <a:pPr marL="0" marR="0" lvl="0" indent="0" algn="l" defTabSz="457200" rtl="0" eaLnBrk="1" fontAlgn="auto" latinLnBrk="0" hangingPunct="1">
              <a:lnSpc>
                <a:spcPct val="12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Almost doubling total disbursed amounts from 2021 to 2024.</a:t>
            </a: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67% of new production consists of Payroll Loans.</a:t>
            </a: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More than 50% of Consumer Loans originate from digital channels.</a:t>
            </a: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92075" marR="0" lvl="0" indent="-92075"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Consumer Loan OBs stand at ~</a:t>
            </a:r>
            <a:r>
              <a:rPr kumimoji="0" lang="el-GR"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a:t>
            </a: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560m.</a:t>
            </a:r>
          </a:p>
          <a:p>
            <a:pPr marL="36000" marR="0" lvl="0" indent="0" algn="l" defTabSz="457200" rtl="0" eaLnBrk="1" fontAlgn="auto" latinLnBrk="0" hangingPunct="1">
              <a:lnSpc>
                <a:spcPct val="120000"/>
              </a:lnSpc>
              <a:spcBef>
                <a:spcPts val="0"/>
              </a:spcBef>
              <a:spcAft>
                <a:spcPts val="0"/>
              </a:spcAft>
              <a:buClrTx/>
              <a:buSzTx/>
              <a:buFontTx/>
              <a:buNone/>
              <a:tabLst/>
              <a:defRPr/>
            </a:pPr>
            <a:endParaRPr kumimoji="0" lang="el-GR" sz="1100" b="0" i="0" u="none" strike="noStrike" kern="1200" cap="none" spc="0" normalizeH="0" baseline="0" noProof="0" err="1">
              <a:ln>
                <a:noFill/>
              </a:ln>
              <a:solidFill>
                <a:srgbClr val="021342"/>
              </a:solidFill>
              <a:effectLst/>
              <a:uLnTx/>
              <a:uFillTx/>
              <a:latin typeface="Eurobank Sans"/>
              <a:ea typeface="+mn-ea"/>
              <a:cs typeface="Averta Std PE Extrabold" pitchFamily="2" charset="0"/>
            </a:endParaRPr>
          </a:p>
        </p:txBody>
      </p:sp>
      <p:sp>
        <p:nvSpPr>
          <p:cNvPr id="16" name="TextBox 15">
            <a:extLst>
              <a:ext uri="{FF2B5EF4-FFF2-40B4-BE49-F238E27FC236}">
                <a16:creationId xmlns:a16="http://schemas.microsoft.com/office/drawing/2014/main" id="{242E826A-8A10-AC77-21E3-DFF1D85ABB25}"/>
              </a:ext>
            </a:extLst>
          </p:cNvPr>
          <p:cNvSpPr txBox="1"/>
          <p:nvPr/>
        </p:nvSpPr>
        <p:spPr>
          <a:xfrm>
            <a:off x="-200618" y="4859495"/>
            <a:ext cx="1729740" cy="233910"/>
          </a:xfrm>
          <a:prstGeom prst="rect">
            <a:avLst/>
          </a:prstGeom>
          <a:noFill/>
        </p:spPr>
        <p:txBody>
          <a:bodyPr wrap="square" rtlCol="0">
            <a:spAutoFit/>
          </a:bodyPr>
          <a:lstStyle/>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50000"/>
                    <a:lumOff val="50000"/>
                  </a:prstClr>
                </a:solidFill>
                <a:effectLst/>
                <a:uLnTx/>
                <a:uFillTx/>
                <a:latin typeface="Eurobank Sans"/>
                <a:ea typeface="+mn-ea"/>
                <a:cs typeface="Averta Std PE Extrabold" pitchFamily="2" charset="0"/>
              </a:rPr>
              <a:t>Data as of Oct 2024</a:t>
            </a:r>
            <a:endParaRPr kumimoji="0" lang="el-GR" sz="800" b="0" i="1" u="none" strike="noStrike" kern="1200" cap="none" spc="0" normalizeH="0" baseline="0" noProof="0" err="1">
              <a:ln>
                <a:noFill/>
              </a:ln>
              <a:solidFill>
                <a:prstClr val="black">
                  <a:lumMod val="50000"/>
                  <a:lumOff val="50000"/>
                </a:prstClr>
              </a:solidFill>
              <a:effectLst/>
              <a:uLnTx/>
              <a:uFillTx/>
              <a:latin typeface="Eurobank Sans"/>
              <a:ea typeface="+mn-ea"/>
              <a:cs typeface="Averta Std PE Extrabold" pitchFamily="2" charset="0"/>
            </a:endParaRPr>
          </a:p>
        </p:txBody>
      </p:sp>
      <p:sp>
        <p:nvSpPr>
          <p:cNvPr id="19" name="TextBox 18">
            <a:extLst>
              <a:ext uri="{FF2B5EF4-FFF2-40B4-BE49-F238E27FC236}">
                <a16:creationId xmlns:a16="http://schemas.microsoft.com/office/drawing/2014/main" id="{D024D245-4ACC-6AE8-F4F6-35879B063A31}"/>
              </a:ext>
            </a:extLst>
          </p:cNvPr>
          <p:cNvSpPr txBox="1"/>
          <p:nvPr/>
        </p:nvSpPr>
        <p:spPr>
          <a:xfrm>
            <a:off x="0" y="610751"/>
            <a:ext cx="9144000" cy="340093"/>
          </a:xfrm>
          <a:prstGeom prst="rect">
            <a:avLst/>
          </a:prstGeom>
          <a:solidFill>
            <a:schemeClr val="bg1">
              <a:lumMod val="95000"/>
            </a:schemeClr>
          </a:solidFill>
        </p:spPr>
        <p:txBody>
          <a:bodyPr wrap="square">
            <a:spAutoFit/>
          </a:bodyPr>
          <a:lstStyle/>
          <a:p>
            <a:pPr marL="0" marR="0" lvl="0" indent="0" algn="ctr" defTabSz="457200"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342"/>
                </a:solidFill>
                <a:effectLst/>
                <a:uLnTx/>
                <a:uFillTx/>
                <a:latin typeface="Eurobank Sans"/>
                <a:ea typeface="+mn-ea"/>
                <a:cs typeface="Averta Std PE Extrabold" pitchFamily="2" charset="0"/>
              </a:rPr>
              <a:t>CL Growth Transformation Pillar </a:t>
            </a: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2021-2023</a:t>
            </a:r>
            <a:endParaRPr kumimoji="0" lang="en-US" sz="14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p:txBody>
      </p:sp>
    </p:spTree>
    <p:extLst>
      <p:ext uri="{BB962C8B-B14F-4D97-AF65-F5344CB8AC3E}">
        <p14:creationId xmlns:p14="http://schemas.microsoft.com/office/powerpoint/2010/main" val="4188571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2C62A-0C68-37A7-691D-2D240EB0172D}"/>
            </a:ext>
          </a:extLst>
        </p:cNvPr>
        <p:cNvGrpSpPr/>
        <p:nvPr/>
      </p:nvGrpSpPr>
      <p:grpSpPr>
        <a:xfrm>
          <a:off x="0" y="0"/>
          <a:ext cx="0" cy="0"/>
          <a:chOff x="0" y="0"/>
          <a:chExt cx="0" cy="0"/>
        </a:xfrm>
      </p:grpSpPr>
      <p:sp>
        <p:nvSpPr>
          <p:cNvPr id="12" name="Text Placeholder 1">
            <a:extLst>
              <a:ext uri="{FF2B5EF4-FFF2-40B4-BE49-F238E27FC236}">
                <a16:creationId xmlns:a16="http://schemas.microsoft.com/office/drawing/2014/main" id="{A9303C48-13EF-7C82-E8C1-F5BDC450FF49}"/>
              </a:ext>
            </a:extLst>
          </p:cNvPr>
          <p:cNvSpPr>
            <a:spLocks noGrp="1"/>
          </p:cNvSpPr>
          <p:nvPr>
            <p:ph type="body" idx="15"/>
          </p:nvPr>
        </p:nvSpPr>
        <p:spPr/>
        <p:txBody>
          <a:bodyPr>
            <a:noAutofit/>
          </a:bodyPr>
          <a:lstStyle/>
          <a:p>
            <a:r>
              <a:rPr lang="en-US"/>
              <a:t>Consumer Loans - Strategic Pillars</a:t>
            </a:r>
            <a:endParaRPr lang="x-none"/>
          </a:p>
        </p:txBody>
      </p:sp>
      <p:sp>
        <p:nvSpPr>
          <p:cNvPr id="3" name="object 6">
            <a:extLst>
              <a:ext uri="{FF2B5EF4-FFF2-40B4-BE49-F238E27FC236}">
                <a16:creationId xmlns:a16="http://schemas.microsoft.com/office/drawing/2014/main" id="{757E1841-61C9-73F0-A1F4-2E8C7DCE01BB}"/>
              </a:ext>
            </a:extLst>
          </p:cNvPr>
          <p:cNvSpPr/>
          <p:nvPr/>
        </p:nvSpPr>
        <p:spPr>
          <a:xfrm>
            <a:off x="2232693" y="2865567"/>
            <a:ext cx="2127585" cy="503608"/>
          </a:xfrm>
          <a:prstGeom prst="roundRect">
            <a:avLst/>
          </a:prstGeom>
          <a:solidFill>
            <a:srgbClr val="00589A"/>
          </a:solidFill>
          <a:effectLst/>
        </p:spPr>
        <p:txBody>
          <a:bodyPr wrap="square" lIns="72000" tIns="36000" rIns="72000" bIns="3600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Calibri"/>
                <a:ea typeface="+mn-ea"/>
                <a:cs typeface="+mn-cs"/>
              </a:rPr>
              <a:t>Offering: </a:t>
            </a:r>
            <a:r>
              <a:rPr kumimoji="0" lang="en-US" sz="1100" b="0" i="0" u="none" strike="noStrike" kern="1200" cap="none" spc="0" normalizeH="0" baseline="0" noProof="0">
                <a:ln>
                  <a:noFill/>
                </a:ln>
                <a:solidFill>
                  <a:prstClr val="white"/>
                </a:solidFill>
                <a:effectLst/>
                <a:uLnTx/>
                <a:uFillTx/>
                <a:latin typeface="Calibri"/>
                <a:ea typeface="+mn-ea"/>
                <a:cs typeface="+mn-cs"/>
              </a:rPr>
              <a:t>Expand across channels &amp; cover all segment needs</a:t>
            </a:r>
          </a:p>
        </p:txBody>
      </p:sp>
      <p:sp>
        <p:nvSpPr>
          <p:cNvPr id="4" name="object 7">
            <a:extLst>
              <a:ext uri="{FF2B5EF4-FFF2-40B4-BE49-F238E27FC236}">
                <a16:creationId xmlns:a16="http://schemas.microsoft.com/office/drawing/2014/main" id="{44CFA0CE-37F8-754F-D71F-8A2742811C87}"/>
              </a:ext>
            </a:extLst>
          </p:cNvPr>
          <p:cNvSpPr/>
          <p:nvPr/>
        </p:nvSpPr>
        <p:spPr>
          <a:xfrm>
            <a:off x="2232693" y="3470375"/>
            <a:ext cx="2127585" cy="503609"/>
          </a:xfrm>
          <a:prstGeom prst="roundRect">
            <a:avLst/>
          </a:prstGeom>
          <a:solidFill>
            <a:srgbClr val="004376"/>
          </a:solidFill>
          <a:effectLst/>
        </p:spPr>
        <p:txBody>
          <a:bodyPr wrap="square" lIns="72000" tIns="36000" rIns="72000" bIns="3600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Calibri"/>
                <a:ea typeface="+mn-ea"/>
                <a:cs typeface="+mn-cs"/>
              </a:rPr>
              <a:t>Journeys: </a:t>
            </a:r>
            <a:r>
              <a:rPr kumimoji="0" lang="en-US" sz="1100" b="0" i="0" u="none" strike="noStrike" kern="1200" cap="none" spc="0" normalizeH="0" baseline="0" noProof="0">
                <a:ln>
                  <a:noFill/>
                </a:ln>
                <a:solidFill>
                  <a:prstClr val="white"/>
                </a:solidFill>
                <a:effectLst/>
                <a:uLnTx/>
                <a:uFillTx/>
                <a:latin typeface="Calibri"/>
                <a:ea typeface="+mn-ea"/>
                <a:cs typeface="+mn-cs"/>
              </a:rPr>
              <a:t>Restructure CL Journey Capitalizing Always on </a:t>
            </a:r>
          </a:p>
        </p:txBody>
      </p:sp>
      <p:sp>
        <p:nvSpPr>
          <p:cNvPr id="5" name="object 8">
            <a:extLst>
              <a:ext uri="{FF2B5EF4-FFF2-40B4-BE49-F238E27FC236}">
                <a16:creationId xmlns:a16="http://schemas.microsoft.com/office/drawing/2014/main" id="{7EB0D404-812E-C442-EF4A-B4BE0772628A}"/>
              </a:ext>
            </a:extLst>
          </p:cNvPr>
          <p:cNvSpPr/>
          <p:nvPr/>
        </p:nvSpPr>
        <p:spPr>
          <a:xfrm>
            <a:off x="4398280" y="3118566"/>
            <a:ext cx="1324429" cy="0"/>
          </a:xfrm>
          <a:custGeom>
            <a:avLst/>
            <a:gdLst/>
            <a:ahLst/>
            <a:cxnLst/>
            <a:rect l="l" t="t" r="r" b="b"/>
            <a:pathLst>
              <a:path w="2533015">
                <a:moveTo>
                  <a:pt x="2532761" y="0"/>
                </a:moveTo>
                <a:lnTo>
                  <a:pt x="0" y="0"/>
                </a:lnTo>
              </a:path>
            </a:pathLst>
          </a:custGeom>
          <a:ln w="38100">
            <a:solidFill>
              <a:srgbClr val="3E79B4"/>
            </a:solidFill>
            <a:prstDash val="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10">
            <a:extLst>
              <a:ext uri="{FF2B5EF4-FFF2-40B4-BE49-F238E27FC236}">
                <a16:creationId xmlns:a16="http://schemas.microsoft.com/office/drawing/2014/main" id="{85B394F6-32F1-63B4-4138-89C1D2A86099}"/>
              </a:ext>
            </a:extLst>
          </p:cNvPr>
          <p:cNvSpPr/>
          <p:nvPr/>
        </p:nvSpPr>
        <p:spPr>
          <a:xfrm>
            <a:off x="4951692" y="2639527"/>
            <a:ext cx="2127585" cy="2124931"/>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11">
            <a:extLst>
              <a:ext uri="{FF2B5EF4-FFF2-40B4-BE49-F238E27FC236}">
                <a16:creationId xmlns:a16="http://schemas.microsoft.com/office/drawing/2014/main" id="{E5038406-C7EB-1AF5-BCC6-BAE01A7A9C1C}"/>
              </a:ext>
            </a:extLst>
          </p:cNvPr>
          <p:cNvSpPr/>
          <p:nvPr/>
        </p:nvSpPr>
        <p:spPr>
          <a:xfrm>
            <a:off x="4951692" y="2637668"/>
            <a:ext cx="2127585" cy="2126923"/>
          </a:xfrm>
          <a:custGeom>
            <a:avLst/>
            <a:gdLst/>
            <a:ahLst/>
            <a:cxnLst/>
            <a:rect l="l" t="t" r="r" b="b"/>
            <a:pathLst>
              <a:path w="4069079" h="4067810">
                <a:moveTo>
                  <a:pt x="4069079" y="2033777"/>
                </a:moveTo>
                <a:lnTo>
                  <a:pt x="4068524" y="1985773"/>
                </a:lnTo>
                <a:lnTo>
                  <a:pt x="4066865" y="1938041"/>
                </a:lnTo>
                <a:lnTo>
                  <a:pt x="4064116" y="1890594"/>
                </a:lnTo>
                <a:lnTo>
                  <a:pt x="4060287" y="1843444"/>
                </a:lnTo>
                <a:lnTo>
                  <a:pt x="4055392" y="1796603"/>
                </a:lnTo>
                <a:lnTo>
                  <a:pt x="4049443" y="1750083"/>
                </a:lnTo>
                <a:lnTo>
                  <a:pt x="4042452" y="1703897"/>
                </a:lnTo>
                <a:lnTo>
                  <a:pt x="4034431" y="1658057"/>
                </a:lnTo>
                <a:lnTo>
                  <a:pt x="4025393" y="1612574"/>
                </a:lnTo>
                <a:lnTo>
                  <a:pt x="4015349" y="1567462"/>
                </a:lnTo>
                <a:lnTo>
                  <a:pt x="4004311" y="1522733"/>
                </a:lnTo>
                <a:lnTo>
                  <a:pt x="3992293" y="1478398"/>
                </a:lnTo>
                <a:lnTo>
                  <a:pt x="3979306" y="1434470"/>
                </a:lnTo>
                <a:lnTo>
                  <a:pt x="3965362" y="1390960"/>
                </a:lnTo>
                <a:lnTo>
                  <a:pt x="3950474" y="1347883"/>
                </a:lnTo>
                <a:lnTo>
                  <a:pt x="3934654" y="1305248"/>
                </a:lnTo>
                <a:lnTo>
                  <a:pt x="3917914" y="1263069"/>
                </a:lnTo>
                <a:lnTo>
                  <a:pt x="3900266" y="1221359"/>
                </a:lnTo>
                <a:lnTo>
                  <a:pt x="3881722" y="1180128"/>
                </a:lnTo>
                <a:lnTo>
                  <a:pt x="3862295" y="1139389"/>
                </a:lnTo>
                <a:lnTo>
                  <a:pt x="3841997" y="1099156"/>
                </a:lnTo>
                <a:lnTo>
                  <a:pt x="3820841" y="1059438"/>
                </a:lnTo>
                <a:lnTo>
                  <a:pt x="3798837" y="1020250"/>
                </a:lnTo>
                <a:lnTo>
                  <a:pt x="3775999" y="981603"/>
                </a:lnTo>
                <a:lnTo>
                  <a:pt x="3752339" y="943509"/>
                </a:lnTo>
                <a:lnTo>
                  <a:pt x="3727868" y="905981"/>
                </a:lnTo>
                <a:lnTo>
                  <a:pt x="3702600" y="869031"/>
                </a:lnTo>
                <a:lnTo>
                  <a:pt x="3676546" y="832670"/>
                </a:lnTo>
                <a:lnTo>
                  <a:pt x="3649718" y="796912"/>
                </a:lnTo>
                <a:lnTo>
                  <a:pt x="3622130" y="761768"/>
                </a:lnTo>
                <a:lnTo>
                  <a:pt x="3593792" y="727251"/>
                </a:lnTo>
                <a:lnTo>
                  <a:pt x="3564718" y="693373"/>
                </a:lnTo>
                <a:lnTo>
                  <a:pt x="3534919" y="660146"/>
                </a:lnTo>
                <a:lnTo>
                  <a:pt x="3504407" y="627582"/>
                </a:lnTo>
                <a:lnTo>
                  <a:pt x="3473195" y="595693"/>
                </a:lnTo>
                <a:lnTo>
                  <a:pt x="3441296" y="564492"/>
                </a:lnTo>
                <a:lnTo>
                  <a:pt x="3408720" y="533991"/>
                </a:lnTo>
                <a:lnTo>
                  <a:pt x="3375481" y="504202"/>
                </a:lnTo>
                <a:lnTo>
                  <a:pt x="3341591" y="475137"/>
                </a:lnTo>
                <a:lnTo>
                  <a:pt x="3307062" y="446809"/>
                </a:lnTo>
                <a:lnTo>
                  <a:pt x="3271905" y="419230"/>
                </a:lnTo>
                <a:lnTo>
                  <a:pt x="3236134" y="392411"/>
                </a:lnTo>
                <a:lnTo>
                  <a:pt x="3199761" y="366366"/>
                </a:lnTo>
                <a:lnTo>
                  <a:pt x="3162797" y="341106"/>
                </a:lnTo>
                <a:lnTo>
                  <a:pt x="3125255" y="316643"/>
                </a:lnTo>
                <a:lnTo>
                  <a:pt x="3087147" y="292991"/>
                </a:lnTo>
                <a:lnTo>
                  <a:pt x="3048485" y="270160"/>
                </a:lnTo>
                <a:lnTo>
                  <a:pt x="3009282" y="248163"/>
                </a:lnTo>
                <a:lnTo>
                  <a:pt x="2969550" y="227013"/>
                </a:lnTo>
                <a:lnTo>
                  <a:pt x="2929301" y="206721"/>
                </a:lnTo>
                <a:lnTo>
                  <a:pt x="2888547" y="187301"/>
                </a:lnTo>
                <a:lnTo>
                  <a:pt x="2847300" y="168763"/>
                </a:lnTo>
                <a:lnTo>
                  <a:pt x="2805573" y="151120"/>
                </a:lnTo>
                <a:lnTo>
                  <a:pt x="2763377" y="134385"/>
                </a:lnTo>
                <a:lnTo>
                  <a:pt x="2720726" y="118570"/>
                </a:lnTo>
                <a:lnTo>
                  <a:pt x="2677631" y="103686"/>
                </a:lnTo>
                <a:lnTo>
                  <a:pt x="2634104" y="89747"/>
                </a:lnTo>
                <a:lnTo>
                  <a:pt x="2590158" y="76764"/>
                </a:lnTo>
                <a:lnTo>
                  <a:pt x="2545805" y="64749"/>
                </a:lnTo>
                <a:lnTo>
                  <a:pt x="2501057" y="53715"/>
                </a:lnTo>
                <a:lnTo>
                  <a:pt x="2455926" y="43674"/>
                </a:lnTo>
                <a:lnTo>
                  <a:pt x="2410424" y="34638"/>
                </a:lnTo>
                <a:lnTo>
                  <a:pt x="2364565" y="26619"/>
                </a:lnTo>
                <a:lnTo>
                  <a:pt x="2318359" y="19630"/>
                </a:lnTo>
                <a:lnTo>
                  <a:pt x="2271819" y="13683"/>
                </a:lnTo>
                <a:lnTo>
                  <a:pt x="2224958" y="8789"/>
                </a:lnTo>
                <a:lnTo>
                  <a:pt x="2177787" y="4962"/>
                </a:lnTo>
                <a:lnTo>
                  <a:pt x="2130319" y="2213"/>
                </a:lnTo>
                <a:lnTo>
                  <a:pt x="2082566" y="555"/>
                </a:lnTo>
                <a:lnTo>
                  <a:pt x="2034539" y="0"/>
                </a:lnTo>
                <a:lnTo>
                  <a:pt x="1986513" y="555"/>
                </a:lnTo>
                <a:lnTo>
                  <a:pt x="1938760" y="2213"/>
                </a:lnTo>
                <a:lnTo>
                  <a:pt x="1891292" y="4962"/>
                </a:lnTo>
                <a:lnTo>
                  <a:pt x="1844121" y="8789"/>
                </a:lnTo>
                <a:lnTo>
                  <a:pt x="1797260" y="13683"/>
                </a:lnTo>
                <a:lnTo>
                  <a:pt x="1750720" y="19630"/>
                </a:lnTo>
                <a:lnTo>
                  <a:pt x="1704514" y="26619"/>
                </a:lnTo>
                <a:lnTo>
                  <a:pt x="1658655" y="34638"/>
                </a:lnTo>
                <a:lnTo>
                  <a:pt x="1613153" y="43674"/>
                </a:lnTo>
                <a:lnTo>
                  <a:pt x="1568022" y="53715"/>
                </a:lnTo>
                <a:lnTo>
                  <a:pt x="1523274" y="64749"/>
                </a:lnTo>
                <a:lnTo>
                  <a:pt x="1478921" y="76764"/>
                </a:lnTo>
                <a:lnTo>
                  <a:pt x="1434975" y="89747"/>
                </a:lnTo>
                <a:lnTo>
                  <a:pt x="1391448" y="103686"/>
                </a:lnTo>
                <a:lnTo>
                  <a:pt x="1348353" y="118570"/>
                </a:lnTo>
                <a:lnTo>
                  <a:pt x="1305702" y="134385"/>
                </a:lnTo>
                <a:lnTo>
                  <a:pt x="1263506" y="151120"/>
                </a:lnTo>
                <a:lnTo>
                  <a:pt x="1221779" y="168763"/>
                </a:lnTo>
                <a:lnTo>
                  <a:pt x="1180532" y="187301"/>
                </a:lnTo>
                <a:lnTo>
                  <a:pt x="1139778" y="206721"/>
                </a:lnTo>
                <a:lnTo>
                  <a:pt x="1099529" y="227013"/>
                </a:lnTo>
                <a:lnTo>
                  <a:pt x="1059797" y="248163"/>
                </a:lnTo>
                <a:lnTo>
                  <a:pt x="1020594" y="270160"/>
                </a:lnTo>
                <a:lnTo>
                  <a:pt x="981932" y="292991"/>
                </a:lnTo>
                <a:lnTo>
                  <a:pt x="943824" y="316643"/>
                </a:lnTo>
                <a:lnTo>
                  <a:pt x="906282" y="341106"/>
                </a:lnTo>
                <a:lnTo>
                  <a:pt x="869318" y="366366"/>
                </a:lnTo>
                <a:lnTo>
                  <a:pt x="832945" y="392411"/>
                </a:lnTo>
                <a:lnTo>
                  <a:pt x="797174" y="419230"/>
                </a:lnTo>
                <a:lnTo>
                  <a:pt x="762017" y="446809"/>
                </a:lnTo>
                <a:lnTo>
                  <a:pt x="727488" y="475137"/>
                </a:lnTo>
                <a:lnTo>
                  <a:pt x="693598" y="504202"/>
                </a:lnTo>
                <a:lnTo>
                  <a:pt x="660359" y="533991"/>
                </a:lnTo>
                <a:lnTo>
                  <a:pt x="627783" y="564492"/>
                </a:lnTo>
                <a:lnTo>
                  <a:pt x="595883" y="595693"/>
                </a:lnTo>
                <a:lnTo>
                  <a:pt x="564672" y="627582"/>
                </a:lnTo>
                <a:lnTo>
                  <a:pt x="534160" y="660146"/>
                </a:lnTo>
                <a:lnTo>
                  <a:pt x="504361" y="693373"/>
                </a:lnTo>
                <a:lnTo>
                  <a:pt x="475287" y="727251"/>
                </a:lnTo>
                <a:lnTo>
                  <a:pt x="446949" y="761768"/>
                </a:lnTo>
                <a:lnTo>
                  <a:pt x="419361" y="796912"/>
                </a:lnTo>
                <a:lnTo>
                  <a:pt x="392533" y="832670"/>
                </a:lnTo>
                <a:lnTo>
                  <a:pt x="366479" y="869031"/>
                </a:lnTo>
                <a:lnTo>
                  <a:pt x="341211" y="905981"/>
                </a:lnTo>
                <a:lnTo>
                  <a:pt x="316740" y="943509"/>
                </a:lnTo>
                <a:lnTo>
                  <a:pt x="293080" y="981603"/>
                </a:lnTo>
                <a:lnTo>
                  <a:pt x="270242" y="1020250"/>
                </a:lnTo>
                <a:lnTo>
                  <a:pt x="248238" y="1059438"/>
                </a:lnTo>
                <a:lnTo>
                  <a:pt x="227082" y="1099156"/>
                </a:lnTo>
                <a:lnTo>
                  <a:pt x="206784" y="1139389"/>
                </a:lnTo>
                <a:lnTo>
                  <a:pt x="187357" y="1180128"/>
                </a:lnTo>
                <a:lnTo>
                  <a:pt x="168813" y="1221359"/>
                </a:lnTo>
                <a:lnTo>
                  <a:pt x="151165" y="1263069"/>
                </a:lnTo>
                <a:lnTo>
                  <a:pt x="134425" y="1305248"/>
                </a:lnTo>
                <a:lnTo>
                  <a:pt x="118605" y="1347883"/>
                </a:lnTo>
                <a:lnTo>
                  <a:pt x="103717" y="1390960"/>
                </a:lnTo>
                <a:lnTo>
                  <a:pt x="89773" y="1434470"/>
                </a:lnTo>
                <a:lnTo>
                  <a:pt x="76786" y="1478398"/>
                </a:lnTo>
                <a:lnTo>
                  <a:pt x="64768" y="1522733"/>
                </a:lnTo>
                <a:lnTo>
                  <a:pt x="53730" y="1567462"/>
                </a:lnTo>
                <a:lnTo>
                  <a:pt x="43686" y="1612574"/>
                </a:lnTo>
                <a:lnTo>
                  <a:pt x="34648" y="1658057"/>
                </a:lnTo>
                <a:lnTo>
                  <a:pt x="26627" y="1703897"/>
                </a:lnTo>
                <a:lnTo>
                  <a:pt x="19636" y="1750083"/>
                </a:lnTo>
                <a:lnTo>
                  <a:pt x="13687" y="1796603"/>
                </a:lnTo>
                <a:lnTo>
                  <a:pt x="8792" y="1843444"/>
                </a:lnTo>
                <a:lnTo>
                  <a:pt x="4963" y="1890594"/>
                </a:lnTo>
                <a:lnTo>
                  <a:pt x="2214" y="1938041"/>
                </a:lnTo>
                <a:lnTo>
                  <a:pt x="555" y="1985773"/>
                </a:lnTo>
                <a:lnTo>
                  <a:pt x="0" y="2033777"/>
                </a:lnTo>
                <a:lnTo>
                  <a:pt x="555" y="2081782"/>
                </a:lnTo>
                <a:lnTo>
                  <a:pt x="2214" y="2129514"/>
                </a:lnTo>
                <a:lnTo>
                  <a:pt x="4963" y="2176961"/>
                </a:lnTo>
                <a:lnTo>
                  <a:pt x="8792" y="2224111"/>
                </a:lnTo>
                <a:lnTo>
                  <a:pt x="13687" y="2270952"/>
                </a:lnTo>
                <a:lnTo>
                  <a:pt x="19636" y="2317472"/>
                </a:lnTo>
                <a:lnTo>
                  <a:pt x="26627" y="2363658"/>
                </a:lnTo>
                <a:lnTo>
                  <a:pt x="34648" y="2409498"/>
                </a:lnTo>
                <a:lnTo>
                  <a:pt x="43686" y="2454981"/>
                </a:lnTo>
                <a:lnTo>
                  <a:pt x="53730" y="2500093"/>
                </a:lnTo>
                <a:lnTo>
                  <a:pt x="64768" y="2544822"/>
                </a:lnTo>
                <a:lnTo>
                  <a:pt x="76786" y="2589157"/>
                </a:lnTo>
                <a:lnTo>
                  <a:pt x="89773" y="2633085"/>
                </a:lnTo>
                <a:lnTo>
                  <a:pt x="103717" y="2676595"/>
                </a:lnTo>
                <a:lnTo>
                  <a:pt x="118605" y="2719672"/>
                </a:lnTo>
                <a:lnTo>
                  <a:pt x="134425" y="2762307"/>
                </a:lnTo>
                <a:lnTo>
                  <a:pt x="151165" y="2804486"/>
                </a:lnTo>
                <a:lnTo>
                  <a:pt x="168813" y="2846196"/>
                </a:lnTo>
                <a:lnTo>
                  <a:pt x="187357" y="2887427"/>
                </a:lnTo>
                <a:lnTo>
                  <a:pt x="206784" y="2928166"/>
                </a:lnTo>
                <a:lnTo>
                  <a:pt x="227082" y="2968399"/>
                </a:lnTo>
                <a:lnTo>
                  <a:pt x="248238" y="3008117"/>
                </a:lnTo>
                <a:lnTo>
                  <a:pt x="270242" y="3047305"/>
                </a:lnTo>
                <a:lnTo>
                  <a:pt x="293080" y="3085952"/>
                </a:lnTo>
                <a:lnTo>
                  <a:pt x="316740" y="3124046"/>
                </a:lnTo>
                <a:lnTo>
                  <a:pt x="341211" y="3161574"/>
                </a:lnTo>
                <a:lnTo>
                  <a:pt x="366479" y="3198524"/>
                </a:lnTo>
                <a:lnTo>
                  <a:pt x="392533" y="3234885"/>
                </a:lnTo>
                <a:lnTo>
                  <a:pt x="419361" y="3270643"/>
                </a:lnTo>
                <a:lnTo>
                  <a:pt x="446949" y="3305787"/>
                </a:lnTo>
                <a:lnTo>
                  <a:pt x="475287" y="3340304"/>
                </a:lnTo>
                <a:lnTo>
                  <a:pt x="504361" y="3374182"/>
                </a:lnTo>
                <a:lnTo>
                  <a:pt x="534160" y="3407409"/>
                </a:lnTo>
                <a:lnTo>
                  <a:pt x="564672" y="3439973"/>
                </a:lnTo>
                <a:lnTo>
                  <a:pt x="595884" y="3471862"/>
                </a:lnTo>
                <a:lnTo>
                  <a:pt x="627783" y="3503063"/>
                </a:lnTo>
                <a:lnTo>
                  <a:pt x="660359" y="3533564"/>
                </a:lnTo>
                <a:lnTo>
                  <a:pt x="693598" y="3563353"/>
                </a:lnTo>
                <a:lnTo>
                  <a:pt x="727488" y="3592418"/>
                </a:lnTo>
                <a:lnTo>
                  <a:pt x="762017" y="3620746"/>
                </a:lnTo>
                <a:lnTo>
                  <a:pt x="797174" y="3648325"/>
                </a:lnTo>
                <a:lnTo>
                  <a:pt x="832945" y="3675144"/>
                </a:lnTo>
                <a:lnTo>
                  <a:pt x="869318" y="3701189"/>
                </a:lnTo>
                <a:lnTo>
                  <a:pt x="906282" y="3726449"/>
                </a:lnTo>
                <a:lnTo>
                  <a:pt x="943824" y="3750912"/>
                </a:lnTo>
                <a:lnTo>
                  <a:pt x="981932" y="3774564"/>
                </a:lnTo>
                <a:lnTo>
                  <a:pt x="1020594" y="3797395"/>
                </a:lnTo>
                <a:lnTo>
                  <a:pt x="1059797" y="3819392"/>
                </a:lnTo>
                <a:lnTo>
                  <a:pt x="1099529" y="3840542"/>
                </a:lnTo>
                <a:lnTo>
                  <a:pt x="1139778" y="3860834"/>
                </a:lnTo>
                <a:lnTo>
                  <a:pt x="1180532" y="3880254"/>
                </a:lnTo>
                <a:lnTo>
                  <a:pt x="1221779" y="3898792"/>
                </a:lnTo>
                <a:lnTo>
                  <a:pt x="1263506" y="3916435"/>
                </a:lnTo>
                <a:lnTo>
                  <a:pt x="1305702" y="3933170"/>
                </a:lnTo>
                <a:lnTo>
                  <a:pt x="1348353" y="3948985"/>
                </a:lnTo>
                <a:lnTo>
                  <a:pt x="1391448" y="3963869"/>
                </a:lnTo>
                <a:lnTo>
                  <a:pt x="1434975" y="3977808"/>
                </a:lnTo>
                <a:lnTo>
                  <a:pt x="1478921" y="3990791"/>
                </a:lnTo>
                <a:lnTo>
                  <a:pt x="1523274" y="4002806"/>
                </a:lnTo>
                <a:lnTo>
                  <a:pt x="1568022" y="4013840"/>
                </a:lnTo>
                <a:lnTo>
                  <a:pt x="1613153" y="4023881"/>
                </a:lnTo>
                <a:lnTo>
                  <a:pt x="1658655" y="4032917"/>
                </a:lnTo>
                <a:lnTo>
                  <a:pt x="1704514" y="4040936"/>
                </a:lnTo>
                <a:lnTo>
                  <a:pt x="1750720" y="4047925"/>
                </a:lnTo>
                <a:lnTo>
                  <a:pt x="1797260" y="4053872"/>
                </a:lnTo>
                <a:lnTo>
                  <a:pt x="1844121" y="4058766"/>
                </a:lnTo>
                <a:lnTo>
                  <a:pt x="1891292" y="4062593"/>
                </a:lnTo>
                <a:lnTo>
                  <a:pt x="1938760" y="4065342"/>
                </a:lnTo>
                <a:lnTo>
                  <a:pt x="1986513" y="4067000"/>
                </a:lnTo>
                <a:lnTo>
                  <a:pt x="2034539" y="4067555"/>
                </a:lnTo>
                <a:lnTo>
                  <a:pt x="2082566" y="4067000"/>
                </a:lnTo>
                <a:lnTo>
                  <a:pt x="2130319" y="4065342"/>
                </a:lnTo>
                <a:lnTo>
                  <a:pt x="2177787" y="4062593"/>
                </a:lnTo>
                <a:lnTo>
                  <a:pt x="2224958" y="4058766"/>
                </a:lnTo>
                <a:lnTo>
                  <a:pt x="2271819" y="4053872"/>
                </a:lnTo>
                <a:lnTo>
                  <a:pt x="2318359" y="4047925"/>
                </a:lnTo>
                <a:lnTo>
                  <a:pt x="2364565" y="4040936"/>
                </a:lnTo>
                <a:lnTo>
                  <a:pt x="2410424" y="4032917"/>
                </a:lnTo>
                <a:lnTo>
                  <a:pt x="2455926" y="4023881"/>
                </a:lnTo>
                <a:lnTo>
                  <a:pt x="2501057" y="4013840"/>
                </a:lnTo>
                <a:lnTo>
                  <a:pt x="2545805" y="4002806"/>
                </a:lnTo>
                <a:lnTo>
                  <a:pt x="2590158" y="3990791"/>
                </a:lnTo>
                <a:lnTo>
                  <a:pt x="2634104" y="3977808"/>
                </a:lnTo>
                <a:lnTo>
                  <a:pt x="2677631" y="3963869"/>
                </a:lnTo>
                <a:lnTo>
                  <a:pt x="2720726" y="3948985"/>
                </a:lnTo>
                <a:lnTo>
                  <a:pt x="2763377" y="3933170"/>
                </a:lnTo>
                <a:lnTo>
                  <a:pt x="2805573" y="3916435"/>
                </a:lnTo>
                <a:lnTo>
                  <a:pt x="2847300" y="3898792"/>
                </a:lnTo>
                <a:lnTo>
                  <a:pt x="2888547" y="3880254"/>
                </a:lnTo>
                <a:lnTo>
                  <a:pt x="2929301" y="3860834"/>
                </a:lnTo>
                <a:lnTo>
                  <a:pt x="2969550" y="3840542"/>
                </a:lnTo>
                <a:lnTo>
                  <a:pt x="3009282" y="3819392"/>
                </a:lnTo>
                <a:lnTo>
                  <a:pt x="3048485" y="3797395"/>
                </a:lnTo>
                <a:lnTo>
                  <a:pt x="3087147" y="3774564"/>
                </a:lnTo>
                <a:lnTo>
                  <a:pt x="3125255" y="3750912"/>
                </a:lnTo>
                <a:lnTo>
                  <a:pt x="3162797" y="3726449"/>
                </a:lnTo>
                <a:lnTo>
                  <a:pt x="3199761" y="3701189"/>
                </a:lnTo>
                <a:lnTo>
                  <a:pt x="3236134" y="3675144"/>
                </a:lnTo>
                <a:lnTo>
                  <a:pt x="3271905" y="3648325"/>
                </a:lnTo>
                <a:lnTo>
                  <a:pt x="3307062" y="3620746"/>
                </a:lnTo>
                <a:lnTo>
                  <a:pt x="3341591" y="3592418"/>
                </a:lnTo>
                <a:lnTo>
                  <a:pt x="3375481" y="3563353"/>
                </a:lnTo>
                <a:lnTo>
                  <a:pt x="3408720" y="3533564"/>
                </a:lnTo>
                <a:lnTo>
                  <a:pt x="3441296" y="3503063"/>
                </a:lnTo>
                <a:lnTo>
                  <a:pt x="3473196" y="3471862"/>
                </a:lnTo>
                <a:lnTo>
                  <a:pt x="3504407" y="3439973"/>
                </a:lnTo>
                <a:lnTo>
                  <a:pt x="3534919" y="3407409"/>
                </a:lnTo>
                <a:lnTo>
                  <a:pt x="3564718" y="3374182"/>
                </a:lnTo>
                <a:lnTo>
                  <a:pt x="3593792" y="3340304"/>
                </a:lnTo>
                <a:lnTo>
                  <a:pt x="3622130" y="3305787"/>
                </a:lnTo>
                <a:lnTo>
                  <a:pt x="3649718" y="3270643"/>
                </a:lnTo>
                <a:lnTo>
                  <a:pt x="3676546" y="3234885"/>
                </a:lnTo>
                <a:lnTo>
                  <a:pt x="3702600" y="3198524"/>
                </a:lnTo>
                <a:lnTo>
                  <a:pt x="3727868" y="3161574"/>
                </a:lnTo>
                <a:lnTo>
                  <a:pt x="3752339" y="3124046"/>
                </a:lnTo>
                <a:lnTo>
                  <a:pt x="3775999" y="3085952"/>
                </a:lnTo>
                <a:lnTo>
                  <a:pt x="3798837" y="3047305"/>
                </a:lnTo>
                <a:lnTo>
                  <a:pt x="3820841" y="3008117"/>
                </a:lnTo>
                <a:lnTo>
                  <a:pt x="3841997" y="2968399"/>
                </a:lnTo>
                <a:lnTo>
                  <a:pt x="3862295" y="2928166"/>
                </a:lnTo>
                <a:lnTo>
                  <a:pt x="3881722" y="2887427"/>
                </a:lnTo>
                <a:lnTo>
                  <a:pt x="3900266" y="2846196"/>
                </a:lnTo>
                <a:lnTo>
                  <a:pt x="3917914" y="2804486"/>
                </a:lnTo>
                <a:lnTo>
                  <a:pt x="3934654" y="2762307"/>
                </a:lnTo>
                <a:lnTo>
                  <a:pt x="3950474" y="2719672"/>
                </a:lnTo>
                <a:lnTo>
                  <a:pt x="3965362" y="2676595"/>
                </a:lnTo>
                <a:lnTo>
                  <a:pt x="3979306" y="2633085"/>
                </a:lnTo>
                <a:lnTo>
                  <a:pt x="3992293" y="2589157"/>
                </a:lnTo>
                <a:lnTo>
                  <a:pt x="4004311" y="2544822"/>
                </a:lnTo>
                <a:lnTo>
                  <a:pt x="4015349" y="2500093"/>
                </a:lnTo>
                <a:lnTo>
                  <a:pt x="4025393" y="2454981"/>
                </a:lnTo>
                <a:lnTo>
                  <a:pt x="4034431" y="2409498"/>
                </a:lnTo>
                <a:lnTo>
                  <a:pt x="4042452" y="2363658"/>
                </a:lnTo>
                <a:lnTo>
                  <a:pt x="4049443" y="2317472"/>
                </a:lnTo>
                <a:lnTo>
                  <a:pt x="4055392" y="2270952"/>
                </a:lnTo>
                <a:lnTo>
                  <a:pt x="4060287" y="2224111"/>
                </a:lnTo>
                <a:lnTo>
                  <a:pt x="4064116" y="2176961"/>
                </a:lnTo>
                <a:lnTo>
                  <a:pt x="4066865" y="2129514"/>
                </a:lnTo>
                <a:lnTo>
                  <a:pt x="4068524" y="2081782"/>
                </a:lnTo>
                <a:lnTo>
                  <a:pt x="4069079" y="2033777"/>
                </a:lnTo>
                <a:close/>
              </a:path>
            </a:pathLst>
          </a:custGeom>
          <a:ln w="6096">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2">
            <a:extLst>
              <a:ext uri="{FF2B5EF4-FFF2-40B4-BE49-F238E27FC236}">
                <a16:creationId xmlns:a16="http://schemas.microsoft.com/office/drawing/2014/main" id="{8F71AC64-1E0C-D740-8FD2-B09859A232AB}"/>
              </a:ext>
            </a:extLst>
          </p:cNvPr>
          <p:cNvSpPr/>
          <p:nvPr/>
        </p:nvSpPr>
        <p:spPr>
          <a:xfrm>
            <a:off x="4951756" y="2637732"/>
            <a:ext cx="1094671" cy="2126923"/>
          </a:xfrm>
          <a:custGeom>
            <a:avLst/>
            <a:gdLst/>
            <a:ahLst/>
            <a:cxnLst/>
            <a:rect l="l" t="t" r="r" b="b"/>
            <a:pathLst>
              <a:path w="2093595" h="4067810">
                <a:moveTo>
                  <a:pt x="2010011" y="0"/>
                </a:moveTo>
                <a:lnTo>
                  <a:pt x="1962244" y="1102"/>
                </a:lnTo>
                <a:lnTo>
                  <a:pt x="1914749" y="3298"/>
                </a:lnTo>
                <a:lnTo>
                  <a:pt x="1867538" y="6576"/>
                </a:lnTo>
                <a:lnTo>
                  <a:pt x="1820625" y="10923"/>
                </a:lnTo>
                <a:lnTo>
                  <a:pt x="1774021" y="16328"/>
                </a:lnTo>
                <a:lnTo>
                  <a:pt x="1727739" y="22779"/>
                </a:lnTo>
                <a:lnTo>
                  <a:pt x="1681791" y="30263"/>
                </a:lnTo>
                <a:lnTo>
                  <a:pt x="1636189" y="38769"/>
                </a:lnTo>
                <a:lnTo>
                  <a:pt x="1590946" y="48284"/>
                </a:lnTo>
                <a:lnTo>
                  <a:pt x="1546074" y="58797"/>
                </a:lnTo>
                <a:lnTo>
                  <a:pt x="1501585" y="70294"/>
                </a:lnTo>
                <a:lnTo>
                  <a:pt x="1457492" y="82765"/>
                </a:lnTo>
                <a:lnTo>
                  <a:pt x="1413808" y="96197"/>
                </a:lnTo>
                <a:lnTo>
                  <a:pt x="1370543" y="110578"/>
                </a:lnTo>
                <a:lnTo>
                  <a:pt x="1327712" y="125896"/>
                </a:lnTo>
                <a:lnTo>
                  <a:pt x="1285326" y="142139"/>
                </a:lnTo>
                <a:lnTo>
                  <a:pt x="1243397" y="159295"/>
                </a:lnTo>
                <a:lnTo>
                  <a:pt x="1201939" y="177351"/>
                </a:lnTo>
                <a:lnTo>
                  <a:pt x="1160962" y="196296"/>
                </a:lnTo>
                <a:lnTo>
                  <a:pt x="1120481" y="216118"/>
                </a:lnTo>
                <a:lnTo>
                  <a:pt x="1080506" y="236805"/>
                </a:lnTo>
                <a:lnTo>
                  <a:pt x="1041050" y="258344"/>
                </a:lnTo>
                <a:lnTo>
                  <a:pt x="1002127" y="280723"/>
                </a:lnTo>
                <a:lnTo>
                  <a:pt x="963747" y="303931"/>
                </a:lnTo>
                <a:lnTo>
                  <a:pt x="925923" y="327955"/>
                </a:lnTo>
                <a:lnTo>
                  <a:pt x="888669" y="352784"/>
                </a:lnTo>
                <a:lnTo>
                  <a:pt x="851995" y="378404"/>
                </a:lnTo>
                <a:lnTo>
                  <a:pt x="815915" y="404805"/>
                </a:lnTo>
                <a:lnTo>
                  <a:pt x="780440" y="431974"/>
                </a:lnTo>
                <a:lnTo>
                  <a:pt x="745584" y="459899"/>
                </a:lnTo>
                <a:lnTo>
                  <a:pt x="711358" y="488567"/>
                </a:lnTo>
                <a:lnTo>
                  <a:pt x="677775" y="517968"/>
                </a:lnTo>
                <a:lnTo>
                  <a:pt x="644848" y="548089"/>
                </a:lnTo>
                <a:lnTo>
                  <a:pt x="612587" y="578917"/>
                </a:lnTo>
                <a:lnTo>
                  <a:pt x="581007" y="610441"/>
                </a:lnTo>
                <a:lnTo>
                  <a:pt x="550119" y="642648"/>
                </a:lnTo>
                <a:lnTo>
                  <a:pt x="519935" y="675527"/>
                </a:lnTo>
                <a:lnTo>
                  <a:pt x="490469" y="709066"/>
                </a:lnTo>
                <a:lnTo>
                  <a:pt x="461732" y="743252"/>
                </a:lnTo>
                <a:lnTo>
                  <a:pt x="433736" y="778073"/>
                </a:lnTo>
                <a:lnTo>
                  <a:pt x="406494" y="813517"/>
                </a:lnTo>
                <a:lnTo>
                  <a:pt x="380019" y="849573"/>
                </a:lnTo>
                <a:lnTo>
                  <a:pt x="354323" y="886228"/>
                </a:lnTo>
                <a:lnTo>
                  <a:pt x="329417" y="923470"/>
                </a:lnTo>
                <a:lnTo>
                  <a:pt x="305315" y="961287"/>
                </a:lnTo>
                <a:lnTo>
                  <a:pt x="282029" y="999667"/>
                </a:lnTo>
                <a:lnTo>
                  <a:pt x="259570" y="1038598"/>
                </a:lnTo>
                <a:lnTo>
                  <a:pt x="237953" y="1078068"/>
                </a:lnTo>
                <a:lnTo>
                  <a:pt x="217188" y="1118064"/>
                </a:lnTo>
                <a:lnTo>
                  <a:pt x="197288" y="1158575"/>
                </a:lnTo>
                <a:lnTo>
                  <a:pt x="178266" y="1199589"/>
                </a:lnTo>
                <a:lnTo>
                  <a:pt x="160133" y="1241093"/>
                </a:lnTo>
                <a:lnTo>
                  <a:pt x="142903" y="1283076"/>
                </a:lnTo>
                <a:lnTo>
                  <a:pt x="126588" y="1325526"/>
                </a:lnTo>
                <a:lnTo>
                  <a:pt x="111199" y="1368429"/>
                </a:lnTo>
                <a:lnTo>
                  <a:pt x="96750" y="1411775"/>
                </a:lnTo>
                <a:lnTo>
                  <a:pt x="83252" y="1455551"/>
                </a:lnTo>
                <a:lnTo>
                  <a:pt x="70718" y="1499746"/>
                </a:lnTo>
                <a:lnTo>
                  <a:pt x="59161" y="1544346"/>
                </a:lnTo>
                <a:lnTo>
                  <a:pt x="48592" y="1589341"/>
                </a:lnTo>
                <a:lnTo>
                  <a:pt x="39024" y="1634717"/>
                </a:lnTo>
                <a:lnTo>
                  <a:pt x="30470" y="1680463"/>
                </a:lnTo>
                <a:lnTo>
                  <a:pt x="22942" y="1726568"/>
                </a:lnTo>
                <a:lnTo>
                  <a:pt x="16451" y="1773018"/>
                </a:lnTo>
                <a:lnTo>
                  <a:pt x="11011" y="1819801"/>
                </a:lnTo>
                <a:lnTo>
                  <a:pt x="6634" y="1866907"/>
                </a:lnTo>
                <a:lnTo>
                  <a:pt x="3332" y="1914322"/>
                </a:lnTo>
                <a:lnTo>
                  <a:pt x="1118" y="1962034"/>
                </a:lnTo>
                <a:lnTo>
                  <a:pt x="3" y="2010032"/>
                </a:lnTo>
                <a:lnTo>
                  <a:pt x="0" y="2058043"/>
                </a:lnTo>
                <a:lnTo>
                  <a:pt x="1102" y="2105794"/>
                </a:lnTo>
                <a:lnTo>
                  <a:pt x="3300" y="2153272"/>
                </a:lnTo>
                <a:lnTo>
                  <a:pt x="6579" y="2200466"/>
                </a:lnTo>
                <a:lnTo>
                  <a:pt x="10929" y="2247363"/>
                </a:lnTo>
                <a:lnTo>
                  <a:pt x="16336" y="2293951"/>
                </a:lnTo>
                <a:lnTo>
                  <a:pt x="22790" y="2340217"/>
                </a:lnTo>
                <a:lnTo>
                  <a:pt x="30278" y="2386149"/>
                </a:lnTo>
                <a:lnTo>
                  <a:pt x="38787" y="2431735"/>
                </a:lnTo>
                <a:lnTo>
                  <a:pt x="48306" y="2476962"/>
                </a:lnTo>
                <a:lnTo>
                  <a:pt x="58823" y="2521818"/>
                </a:lnTo>
                <a:lnTo>
                  <a:pt x="70326" y="2566291"/>
                </a:lnTo>
                <a:lnTo>
                  <a:pt x="82802" y="2610368"/>
                </a:lnTo>
                <a:lnTo>
                  <a:pt x="96239" y="2654037"/>
                </a:lnTo>
                <a:lnTo>
                  <a:pt x="110626" y="2697285"/>
                </a:lnTo>
                <a:lnTo>
                  <a:pt x="125951" y="2740101"/>
                </a:lnTo>
                <a:lnTo>
                  <a:pt x="142201" y="2782472"/>
                </a:lnTo>
                <a:lnTo>
                  <a:pt x="159363" y="2824385"/>
                </a:lnTo>
                <a:lnTo>
                  <a:pt x="177427" y="2865829"/>
                </a:lnTo>
                <a:lnTo>
                  <a:pt x="196380" y="2906790"/>
                </a:lnTo>
                <a:lnTo>
                  <a:pt x="216211" y="2947257"/>
                </a:lnTo>
                <a:lnTo>
                  <a:pt x="236905" y="2987217"/>
                </a:lnTo>
                <a:lnTo>
                  <a:pt x="258453" y="3026658"/>
                </a:lnTo>
                <a:lnTo>
                  <a:pt x="280842" y="3065567"/>
                </a:lnTo>
                <a:lnTo>
                  <a:pt x="304059" y="3103932"/>
                </a:lnTo>
                <a:lnTo>
                  <a:pt x="328093" y="3141742"/>
                </a:lnTo>
                <a:lnTo>
                  <a:pt x="352932" y="3178982"/>
                </a:lnTo>
                <a:lnTo>
                  <a:pt x="378562" y="3215642"/>
                </a:lnTo>
                <a:lnTo>
                  <a:pt x="404974" y="3251709"/>
                </a:lnTo>
                <a:lnTo>
                  <a:pt x="432154" y="3287170"/>
                </a:lnTo>
                <a:lnTo>
                  <a:pt x="460090" y="3322013"/>
                </a:lnTo>
                <a:lnTo>
                  <a:pt x="488770" y="3356226"/>
                </a:lnTo>
                <a:lnTo>
                  <a:pt x="518182" y="3389796"/>
                </a:lnTo>
                <a:lnTo>
                  <a:pt x="548314" y="3422711"/>
                </a:lnTo>
                <a:lnTo>
                  <a:pt x="579155" y="3454959"/>
                </a:lnTo>
                <a:lnTo>
                  <a:pt x="610691" y="3486527"/>
                </a:lnTo>
                <a:lnTo>
                  <a:pt x="642911" y="3517403"/>
                </a:lnTo>
                <a:lnTo>
                  <a:pt x="675803" y="3547575"/>
                </a:lnTo>
                <a:lnTo>
                  <a:pt x="709354" y="3577030"/>
                </a:lnTo>
                <a:lnTo>
                  <a:pt x="743553" y="3605756"/>
                </a:lnTo>
                <a:lnTo>
                  <a:pt x="778388" y="3633741"/>
                </a:lnTo>
                <a:lnTo>
                  <a:pt x="813846" y="3660972"/>
                </a:lnTo>
                <a:lnTo>
                  <a:pt x="849916" y="3687437"/>
                </a:lnTo>
                <a:lnTo>
                  <a:pt x="886585" y="3713124"/>
                </a:lnTo>
                <a:lnTo>
                  <a:pt x="923841" y="3738019"/>
                </a:lnTo>
                <a:lnTo>
                  <a:pt x="961672" y="3762112"/>
                </a:lnTo>
                <a:lnTo>
                  <a:pt x="1000067" y="3785389"/>
                </a:lnTo>
                <a:lnTo>
                  <a:pt x="1039012" y="3807839"/>
                </a:lnTo>
                <a:lnTo>
                  <a:pt x="1078497" y="3829448"/>
                </a:lnTo>
                <a:lnTo>
                  <a:pt x="1118508" y="3850205"/>
                </a:lnTo>
                <a:lnTo>
                  <a:pt x="1159034" y="3870097"/>
                </a:lnTo>
                <a:lnTo>
                  <a:pt x="1200063" y="3889111"/>
                </a:lnTo>
                <a:lnTo>
                  <a:pt x="1241583" y="3907237"/>
                </a:lnTo>
                <a:lnTo>
                  <a:pt x="1283581" y="3924460"/>
                </a:lnTo>
                <a:lnTo>
                  <a:pt x="1326046" y="3940769"/>
                </a:lnTo>
                <a:lnTo>
                  <a:pt x="1368965" y="3956152"/>
                </a:lnTo>
                <a:lnTo>
                  <a:pt x="1412327" y="3970595"/>
                </a:lnTo>
                <a:lnTo>
                  <a:pt x="1456119" y="3984088"/>
                </a:lnTo>
                <a:lnTo>
                  <a:pt x="1500329" y="3996617"/>
                </a:lnTo>
                <a:lnTo>
                  <a:pt x="1544946" y="4008169"/>
                </a:lnTo>
                <a:lnTo>
                  <a:pt x="1589956" y="4018734"/>
                </a:lnTo>
                <a:lnTo>
                  <a:pt x="1635349" y="4028298"/>
                </a:lnTo>
                <a:lnTo>
                  <a:pt x="1681111" y="4036849"/>
                </a:lnTo>
                <a:lnTo>
                  <a:pt x="1727232" y="4044375"/>
                </a:lnTo>
                <a:lnTo>
                  <a:pt x="1773698" y="4050862"/>
                </a:lnTo>
                <a:lnTo>
                  <a:pt x="1820498" y="4056300"/>
                </a:lnTo>
                <a:lnTo>
                  <a:pt x="1867620" y="4060676"/>
                </a:lnTo>
                <a:lnTo>
                  <a:pt x="1915051" y="4063977"/>
                </a:lnTo>
                <a:lnTo>
                  <a:pt x="1962780" y="4066191"/>
                </a:lnTo>
                <a:lnTo>
                  <a:pt x="2010794" y="4067305"/>
                </a:lnTo>
                <a:lnTo>
                  <a:pt x="2031368" y="4067418"/>
                </a:lnTo>
                <a:lnTo>
                  <a:pt x="2051942" y="4067353"/>
                </a:lnTo>
                <a:lnTo>
                  <a:pt x="2072516" y="4067073"/>
                </a:lnTo>
                <a:lnTo>
                  <a:pt x="2093090" y="4066543"/>
                </a:lnTo>
                <a:lnTo>
                  <a:pt x="2034416" y="2033654"/>
                </a:lnTo>
                <a:lnTo>
                  <a:pt x="2058038" y="3"/>
                </a:lnTo>
                <a:lnTo>
                  <a:pt x="2010011" y="0"/>
                </a:lnTo>
                <a:close/>
              </a:path>
            </a:pathLst>
          </a:custGeom>
          <a:solidFill>
            <a:srgbClr val="00589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3">
            <a:extLst>
              <a:ext uri="{FF2B5EF4-FFF2-40B4-BE49-F238E27FC236}">
                <a16:creationId xmlns:a16="http://schemas.microsoft.com/office/drawing/2014/main" id="{151178CA-3A1B-7C5D-511E-FBB4DA51657C}"/>
              </a:ext>
            </a:extLst>
          </p:cNvPr>
          <p:cNvSpPr/>
          <p:nvPr/>
        </p:nvSpPr>
        <p:spPr>
          <a:xfrm>
            <a:off x="4398280" y="3717796"/>
            <a:ext cx="1230799" cy="0"/>
          </a:xfrm>
          <a:custGeom>
            <a:avLst/>
            <a:gdLst/>
            <a:ahLst/>
            <a:cxnLst/>
            <a:rect l="l" t="t" r="r" b="b"/>
            <a:pathLst>
              <a:path w="2353945">
                <a:moveTo>
                  <a:pt x="2353437" y="0"/>
                </a:moveTo>
                <a:lnTo>
                  <a:pt x="0" y="0"/>
                </a:lnTo>
              </a:path>
            </a:pathLst>
          </a:custGeom>
          <a:ln w="38100">
            <a:solidFill>
              <a:srgbClr val="004376"/>
            </a:solidFill>
            <a:prstDash val="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4">
            <a:extLst>
              <a:ext uri="{FF2B5EF4-FFF2-40B4-BE49-F238E27FC236}">
                <a16:creationId xmlns:a16="http://schemas.microsoft.com/office/drawing/2014/main" id="{CDF50DA7-00F3-3259-4AB0-057226262B4C}"/>
              </a:ext>
            </a:extLst>
          </p:cNvPr>
          <p:cNvSpPr/>
          <p:nvPr/>
        </p:nvSpPr>
        <p:spPr>
          <a:xfrm>
            <a:off x="5087156" y="2772335"/>
            <a:ext cx="1854267" cy="1855064"/>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15">
            <a:extLst>
              <a:ext uri="{FF2B5EF4-FFF2-40B4-BE49-F238E27FC236}">
                <a16:creationId xmlns:a16="http://schemas.microsoft.com/office/drawing/2014/main" id="{58DFD6DF-DE39-3A8E-E229-E6A233A60436}"/>
              </a:ext>
            </a:extLst>
          </p:cNvPr>
          <p:cNvSpPr/>
          <p:nvPr/>
        </p:nvSpPr>
        <p:spPr>
          <a:xfrm>
            <a:off x="5140544" y="2825724"/>
            <a:ext cx="1749880" cy="1750677"/>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16">
            <a:extLst>
              <a:ext uri="{FF2B5EF4-FFF2-40B4-BE49-F238E27FC236}">
                <a16:creationId xmlns:a16="http://schemas.microsoft.com/office/drawing/2014/main" id="{2C66BCD3-CC4A-F394-8E68-55E0DA7356F7}"/>
              </a:ext>
            </a:extLst>
          </p:cNvPr>
          <p:cNvSpPr/>
          <p:nvPr/>
        </p:nvSpPr>
        <p:spPr>
          <a:xfrm>
            <a:off x="5140544" y="2825724"/>
            <a:ext cx="1750079" cy="1750743"/>
          </a:xfrm>
          <a:custGeom>
            <a:avLst/>
            <a:gdLst/>
            <a:ahLst/>
            <a:cxnLst/>
            <a:rect l="l" t="t" r="r" b="b"/>
            <a:pathLst>
              <a:path w="3347084" h="3348354">
                <a:moveTo>
                  <a:pt x="3346704" y="1674114"/>
                </a:moveTo>
                <a:lnTo>
                  <a:pt x="3346015" y="1625617"/>
                </a:lnTo>
                <a:lnTo>
                  <a:pt x="3343961" y="1577463"/>
                </a:lnTo>
                <a:lnTo>
                  <a:pt x="3340561" y="1529668"/>
                </a:lnTo>
                <a:lnTo>
                  <a:pt x="3335834" y="1482253"/>
                </a:lnTo>
                <a:lnTo>
                  <a:pt x="3329797" y="1435236"/>
                </a:lnTo>
                <a:lnTo>
                  <a:pt x="3322470" y="1388635"/>
                </a:lnTo>
                <a:lnTo>
                  <a:pt x="3313871" y="1342468"/>
                </a:lnTo>
                <a:lnTo>
                  <a:pt x="3304018" y="1296756"/>
                </a:lnTo>
                <a:lnTo>
                  <a:pt x="3292931" y="1251515"/>
                </a:lnTo>
                <a:lnTo>
                  <a:pt x="3280628" y="1206765"/>
                </a:lnTo>
                <a:lnTo>
                  <a:pt x="3267127" y="1162524"/>
                </a:lnTo>
                <a:lnTo>
                  <a:pt x="3252448" y="1118811"/>
                </a:lnTo>
                <a:lnTo>
                  <a:pt x="3236608" y="1075645"/>
                </a:lnTo>
                <a:lnTo>
                  <a:pt x="3219627" y="1033044"/>
                </a:lnTo>
                <a:lnTo>
                  <a:pt x="3201522" y="991027"/>
                </a:lnTo>
                <a:lnTo>
                  <a:pt x="3182313" y="949612"/>
                </a:lnTo>
                <a:lnTo>
                  <a:pt x="3162018" y="908818"/>
                </a:lnTo>
                <a:lnTo>
                  <a:pt x="3140656" y="868664"/>
                </a:lnTo>
                <a:lnTo>
                  <a:pt x="3118245" y="829168"/>
                </a:lnTo>
                <a:lnTo>
                  <a:pt x="3094804" y="790349"/>
                </a:lnTo>
                <a:lnTo>
                  <a:pt x="3070351" y="752226"/>
                </a:lnTo>
                <a:lnTo>
                  <a:pt x="3044906" y="714816"/>
                </a:lnTo>
                <a:lnTo>
                  <a:pt x="3018486" y="678140"/>
                </a:lnTo>
                <a:lnTo>
                  <a:pt x="2991111" y="642214"/>
                </a:lnTo>
                <a:lnTo>
                  <a:pt x="2962799" y="607059"/>
                </a:lnTo>
                <a:lnTo>
                  <a:pt x="2933568" y="572692"/>
                </a:lnTo>
                <a:lnTo>
                  <a:pt x="2903437" y="539132"/>
                </a:lnTo>
                <a:lnTo>
                  <a:pt x="2872425" y="506398"/>
                </a:lnTo>
                <a:lnTo>
                  <a:pt x="2840551" y="474508"/>
                </a:lnTo>
                <a:lnTo>
                  <a:pt x="2807832" y="443482"/>
                </a:lnTo>
                <a:lnTo>
                  <a:pt x="2774288" y="413337"/>
                </a:lnTo>
                <a:lnTo>
                  <a:pt x="2739937" y="384092"/>
                </a:lnTo>
                <a:lnTo>
                  <a:pt x="2704798" y="355766"/>
                </a:lnTo>
                <a:lnTo>
                  <a:pt x="2668889" y="328378"/>
                </a:lnTo>
                <a:lnTo>
                  <a:pt x="2632229" y="301946"/>
                </a:lnTo>
                <a:lnTo>
                  <a:pt x="2594837" y="276488"/>
                </a:lnTo>
                <a:lnTo>
                  <a:pt x="2556731" y="252024"/>
                </a:lnTo>
                <a:lnTo>
                  <a:pt x="2517930" y="228571"/>
                </a:lnTo>
                <a:lnTo>
                  <a:pt x="2478452" y="206149"/>
                </a:lnTo>
                <a:lnTo>
                  <a:pt x="2438316" y="184777"/>
                </a:lnTo>
                <a:lnTo>
                  <a:pt x="2397540" y="164472"/>
                </a:lnTo>
                <a:lnTo>
                  <a:pt x="2356144" y="145253"/>
                </a:lnTo>
                <a:lnTo>
                  <a:pt x="2314146" y="127140"/>
                </a:lnTo>
                <a:lnTo>
                  <a:pt x="2271564" y="110150"/>
                </a:lnTo>
                <a:lnTo>
                  <a:pt x="2228417" y="94302"/>
                </a:lnTo>
                <a:lnTo>
                  <a:pt x="2184723" y="79615"/>
                </a:lnTo>
                <a:lnTo>
                  <a:pt x="2140502" y="66108"/>
                </a:lnTo>
                <a:lnTo>
                  <a:pt x="2095771" y="53799"/>
                </a:lnTo>
                <a:lnTo>
                  <a:pt x="2050550" y="42706"/>
                </a:lnTo>
                <a:lnTo>
                  <a:pt x="2004857" y="32849"/>
                </a:lnTo>
                <a:lnTo>
                  <a:pt x="1958710" y="24245"/>
                </a:lnTo>
                <a:lnTo>
                  <a:pt x="1912129" y="16914"/>
                </a:lnTo>
                <a:lnTo>
                  <a:pt x="1865132" y="10875"/>
                </a:lnTo>
                <a:lnTo>
                  <a:pt x="1817736" y="6145"/>
                </a:lnTo>
                <a:lnTo>
                  <a:pt x="1769962" y="2743"/>
                </a:lnTo>
                <a:lnTo>
                  <a:pt x="1721828" y="689"/>
                </a:lnTo>
                <a:lnTo>
                  <a:pt x="1673352" y="0"/>
                </a:lnTo>
                <a:lnTo>
                  <a:pt x="1624875" y="689"/>
                </a:lnTo>
                <a:lnTo>
                  <a:pt x="1576741" y="2743"/>
                </a:lnTo>
                <a:lnTo>
                  <a:pt x="1528967" y="6145"/>
                </a:lnTo>
                <a:lnTo>
                  <a:pt x="1481571" y="10875"/>
                </a:lnTo>
                <a:lnTo>
                  <a:pt x="1434574" y="16914"/>
                </a:lnTo>
                <a:lnTo>
                  <a:pt x="1387993" y="24245"/>
                </a:lnTo>
                <a:lnTo>
                  <a:pt x="1341846" y="32849"/>
                </a:lnTo>
                <a:lnTo>
                  <a:pt x="1296153" y="42706"/>
                </a:lnTo>
                <a:lnTo>
                  <a:pt x="1250932" y="53799"/>
                </a:lnTo>
                <a:lnTo>
                  <a:pt x="1206201" y="66108"/>
                </a:lnTo>
                <a:lnTo>
                  <a:pt x="1161980" y="79615"/>
                </a:lnTo>
                <a:lnTo>
                  <a:pt x="1118286" y="94302"/>
                </a:lnTo>
                <a:lnTo>
                  <a:pt x="1075139" y="110150"/>
                </a:lnTo>
                <a:lnTo>
                  <a:pt x="1032557" y="127140"/>
                </a:lnTo>
                <a:lnTo>
                  <a:pt x="990559" y="145253"/>
                </a:lnTo>
                <a:lnTo>
                  <a:pt x="949163" y="164472"/>
                </a:lnTo>
                <a:lnTo>
                  <a:pt x="908387" y="184777"/>
                </a:lnTo>
                <a:lnTo>
                  <a:pt x="868251" y="206149"/>
                </a:lnTo>
                <a:lnTo>
                  <a:pt x="828773" y="228571"/>
                </a:lnTo>
                <a:lnTo>
                  <a:pt x="789972" y="252024"/>
                </a:lnTo>
                <a:lnTo>
                  <a:pt x="751866" y="276488"/>
                </a:lnTo>
                <a:lnTo>
                  <a:pt x="714474" y="301946"/>
                </a:lnTo>
                <a:lnTo>
                  <a:pt x="677814" y="328378"/>
                </a:lnTo>
                <a:lnTo>
                  <a:pt x="641905" y="355766"/>
                </a:lnTo>
                <a:lnTo>
                  <a:pt x="606766" y="384092"/>
                </a:lnTo>
                <a:lnTo>
                  <a:pt x="572415" y="413337"/>
                </a:lnTo>
                <a:lnTo>
                  <a:pt x="538871" y="443482"/>
                </a:lnTo>
                <a:lnTo>
                  <a:pt x="506152" y="474508"/>
                </a:lnTo>
                <a:lnTo>
                  <a:pt x="474278" y="506398"/>
                </a:lnTo>
                <a:lnTo>
                  <a:pt x="443266" y="539132"/>
                </a:lnTo>
                <a:lnTo>
                  <a:pt x="413135" y="572692"/>
                </a:lnTo>
                <a:lnTo>
                  <a:pt x="383904" y="607059"/>
                </a:lnTo>
                <a:lnTo>
                  <a:pt x="355592" y="642214"/>
                </a:lnTo>
                <a:lnTo>
                  <a:pt x="328217" y="678140"/>
                </a:lnTo>
                <a:lnTo>
                  <a:pt x="301797" y="714816"/>
                </a:lnTo>
                <a:lnTo>
                  <a:pt x="276352" y="752226"/>
                </a:lnTo>
                <a:lnTo>
                  <a:pt x="251899" y="790349"/>
                </a:lnTo>
                <a:lnTo>
                  <a:pt x="228458" y="829168"/>
                </a:lnTo>
                <a:lnTo>
                  <a:pt x="206047" y="868664"/>
                </a:lnTo>
                <a:lnTo>
                  <a:pt x="184685" y="908818"/>
                </a:lnTo>
                <a:lnTo>
                  <a:pt x="164390" y="949612"/>
                </a:lnTo>
                <a:lnTo>
                  <a:pt x="145181" y="991027"/>
                </a:lnTo>
                <a:lnTo>
                  <a:pt x="127076" y="1033044"/>
                </a:lnTo>
                <a:lnTo>
                  <a:pt x="110095" y="1075645"/>
                </a:lnTo>
                <a:lnTo>
                  <a:pt x="94255" y="1118811"/>
                </a:lnTo>
                <a:lnTo>
                  <a:pt x="79576" y="1162524"/>
                </a:lnTo>
                <a:lnTo>
                  <a:pt x="66075" y="1206765"/>
                </a:lnTo>
                <a:lnTo>
                  <a:pt x="53772" y="1251515"/>
                </a:lnTo>
                <a:lnTo>
                  <a:pt x="42685" y="1296756"/>
                </a:lnTo>
                <a:lnTo>
                  <a:pt x="32832" y="1342468"/>
                </a:lnTo>
                <a:lnTo>
                  <a:pt x="24233" y="1388635"/>
                </a:lnTo>
                <a:lnTo>
                  <a:pt x="16906" y="1435236"/>
                </a:lnTo>
                <a:lnTo>
                  <a:pt x="10869" y="1482253"/>
                </a:lnTo>
                <a:lnTo>
                  <a:pt x="6142" y="1529668"/>
                </a:lnTo>
                <a:lnTo>
                  <a:pt x="2742" y="1577463"/>
                </a:lnTo>
                <a:lnTo>
                  <a:pt x="688" y="1625617"/>
                </a:lnTo>
                <a:lnTo>
                  <a:pt x="0" y="1674114"/>
                </a:lnTo>
                <a:lnTo>
                  <a:pt x="688" y="1722610"/>
                </a:lnTo>
                <a:lnTo>
                  <a:pt x="2742" y="1770764"/>
                </a:lnTo>
                <a:lnTo>
                  <a:pt x="6142" y="1818559"/>
                </a:lnTo>
                <a:lnTo>
                  <a:pt x="10869" y="1865974"/>
                </a:lnTo>
                <a:lnTo>
                  <a:pt x="16906" y="1912991"/>
                </a:lnTo>
                <a:lnTo>
                  <a:pt x="24233" y="1959592"/>
                </a:lnTo>
                <a:lnTo>
                  <a:pt x="32832" y="2005759"/>
                </a:lnTo>
                <a:lnTo>
                  <a:pt x="42685" y="2051471"/>
                </a:lnTo>
                <a:lnTo>
                  <a:pt x="53772" y="2096712"/>
                </a:lnTo>
                <a:lnTo>
                  <a:pt x="66075" y="2141462"/>
                </a:lnTo>
                <a:lnTo>
                  <a:pt x="79576" y="2185703"/>
                </a:lnTo>
                <a:lnTo>
                  <a:pt x="94255" y="2229416"/>
                </a:lnTo>
                <a:lnTo>
                  <a:pt x="110095" y="2272582"/>
                </a:lnTo>
                <a:lnTo>
                  <a:pt x="127076" y="2315183"/>
                </a:lnTo>
                <a:lnTo>
                  <a:pt x="145181" y="2357200"/>
                </a:lnTo>
                <a:lnTo>
                  <a:pt x="164390" y="2398615"/>
                </a:lnTo>
                <a:lnTo>
                  <a:pt x="184685" y="2439409"/>
                </a:lnTo>
                <a:lnTo>
                  <a:pt x="206047" y="2479563"/>
                </a:lnTo>
                <a:lnTo>
                  <a:pt x="228458" y="2519059"/>
                </a:lnTo>
                <a:lnTo>
                  <a:pt x="251899" y="2557878"/>
                </a:lnTo>
                <a:lnTo>
                  <a:pt x="276352" y="2596001"/>
                </a:lnTo>
                <a:lnTo>
                  <a:pt x="301797" y="2633411"/>
                </a:lnTo>
                <a:lnTo>
                  <a:pt x="328217" y="2670087"/>
                </a:lnTo>
                <a:lnTo>
                  <a:pt x="355592" y="2706013"/>
                </a:lnTo>
                <a:lnTo>
                  <a:pt x="383904" y="2741168"/>
                </a:lnTo>
                <a:lnTo>
                  <a:pt x="413135" y="2775535"/>
                </a:lnTo>
                <a:lnTo>
                  <a:pt x="443266" y="2809095"/>
                </a:lnTo>
                <a:lnTo>
                  <a:pt x="474278" y="2841829"/>
                </a:lnTo>
                <a:lnTo>
                  <a:pt x="506152" y="2873719"/>
                </a:lnTo>
                <a:lnTo>
                  <a:pt x="538871" y="2904745"/>
                </a:lnTo>
                <a:lnTo>
                  <a:pt x="572415" y="2934890"/>
                </a:lnTo>
                <a:lnTo>
                  <a:pt x="606766" y="2964135"/>
                </a:lnTo>
                <a:lnTo>
                  <a:pt x="641905" y="2992461"/>
                </a:lnTo>
                <a:lnTo>
                  <a:pt x="677814" y="3019849"/>
                </a:lnTo>
                <a:lnTo>
                  <a:pt x="714474" y="3046281"/>
                </a:lnTo>
                <a:lnTo>
                  <a:pt x="751866" y="3071739"/>
                </a:lnTo>
                <a:lnTo>
                  <a:pt x="789972" y="3096203"/>
                </a:lnTo>
                <a:lnTo>
                  <a:pt x="828773" y="3119656"/>
                </a:lnTo>
                <a:lnTo>
                  <a:pt x="868251" y="3142078"/>
                </a:lnTo>
                <a:lnTo>
                  <a:pt x="908387" y="3163450"/>
                </a:lnTo>
                <a:lnTo>
                  <a:pt x="949163" y="3183755"/>
                </a:lnTo>
                <a:lnTo>
                  <a:pt x="990559" y="3202974"/>
                </a:lnTo>
                <a:lnTo>
                  <a:pt x="1032557" y="3221087"/>
                </a:lnTo>
                <a:lnTo>
                  <a:pt x="1075139" y="3238077"/>
                </a:lnTo>
                <a:lnTo>
                  <a:pt x="1118286" y="3253925"/>
                </a:lnTo>
                <a:lnTo>
                  <a:pt x="1161980" y="3268612"/>
                </a:lnTo>
                <a:lnTo>
                  <a:pt x="1206201" y="3282119"/>
                </a:lnTo>
                <a:lnTo>
                  <a:pt x="1250932" y="3294428"/>
                </a:lnTo>
                <a:lnTo>
                  <a:pt x="1296153" y="3305521"/>
                </a:lnTo>
                <a:lnTo>
                  <a:pt x="1341846" y="3315378"/>
                </a:lnTo>
                <a:lnTo>
                  <a:pt x="1387993" y="3323982"/>
                </a:lnTo>
                <a:lnTo>
                  <a:pt x="1434574" y="3331313"/>
                </a:lnTo>
                <a:lnTo>
                  <a:pt x="1481571" y="3337352"/>
                </a:lnTo>
                <a:lnTo>
                  <a:pt x="1528967" y="3342082"/>
                </a:lnTo>
                <a:lnTo>
                  <a:pt x="1576741" y="3345484"/>
                </a:lnTo>
                <a:lnTo>
                  <a:pt x="1624875" y="3347538"/>
                </a:lnTo>
                <a:lnTo>
                  <a:pt x="1673352" y="3348228"/>
                </a:lnTo>
                <a:lnTo>
                  <a:pt x="1721828" y="3347538"/>
                </a:lnTo>
                <a:lnTo>
                  <a:pt x="1769962" y="3345484"/>
                </a:lnTo>
                <a:lnTo>
                  <a:pt x="1817736" y="3342082"/>
                </a:lnTo>
                <a:lnTo>
                  <a:pt x="1865132" y="3337352"/>
                </a:lnTo>
                <a:lnTo>
                  <a:pt x="1912129" y="3331313"/>
                </a:lnTo>
                <a:lnTo>
                  <a:pt x="1958710" y="3323982"/>
                </a:lnTo>
                <a:lnTo>
                  <a:pt x="2004857" y="3315378"/>
                </a:lnTo>
                <a:lnTo>
                  <a:pt x="2050550" y="3305521"/>
                </a:lnTo>
                <a:lnTo>
                  <a:pt x="2095771" y="3294428"/>
                </a:lnTo>
                <a:lnTo>
                  <a:pt x="2140502" y="3282119"/>
                </a:lnTo>
                <a:lnTo>
                  <a:pt x="2184723" y="3268612"/>
                </a:lnTo>
                <a:lnTo>
                  <a:pt x="2228417" y="3253925"/>
                </a:lnTo>
                <a:lnTo>
                  <a:pt x="2271564" y="3238077"/>
                </a:lnTo>
                <a:lnTo>
                  <a:pt x="2314146" y="3221087"/>
                </a:lnTo>
                <a:lnTo>
                  <a:pt x="2356144" y="3202974"/>
                </a:lnTo>
                <a:lnTo>
                  <a:pt x="2397540" y="3183755"/>
                </a:lnTo>
                <a:lnTo>
                  <a:pt x="2438316" y="3163450"/>
                </a:lnTo>
                <a:lnTo>
                  <a:pt x="2478452" y="3142078"/>
                </a:lnTo>
                <a:lnTo>
                  <a:pt x="2517930" y="3119656"/>
                </a:lnTo>
                <a:lnTo>
                  <a:pt x="2556731" y="3096203"/>
                </a:lnTo>
                <a:lnTo>
                  <a:pt x="2594837" y="3071739"/>
                </a:lnTo>
                <a:lnTo>
                  <a:pt x="2632229" y="3046281"/>
                </a:lnTo>
                <a:lnTo>
                  <a:pt x="2668889" y="3019849"/>
                </a:lnTo>
                <a:lnTo>
                  <a:pt x="2704798" y="2992461"/>
                </a:lnTo>
                <a:lnTo>
                  <a:pt x="2739937" y="2964135"/>
                </a:lnTo>
                <a:lnTo>
                  <a:pt x="2774288" y="2934890"/>
                </a:lnTo>
                <a:lnTo>
                  <a:pt x="2807832" y="2904745"/>
                </a:lnTo>
                <a:lnTo>
                  <a:pt x="2840551" y="2873719"/>
                </a:lnTo>
                <a:lnTo>
                  <a:pt x="2872425" y="2841829"/>
                </a:lnTo>
                <a:lnTo>
                  <a:pt x="2903437" y="2809095"/>
                </a:lnTo>
                <a:lnTo>
                  <a:pt x="2933568" y="2775535"/>
                </a:lnTo>
                <a:lnTo>
                  <a:pt x="2962799" y="2741168"/>
                </a:lnTo>
                <a:lnTo>
                  <a:pt x="2991111" y="2706013"/>
                </a:lnTo>
                <a:lnTo>
                  <a:pt x="3018486" y="2670087"/>
                </a:lnTo>
                <a:lnTo>
                  <a:pt x="3044906" y="2633411"/>
                </a:lnTo>
                <a:lnTo>
                  <a:pt x="3070351" y="2596001"/>
                </a:lnTo>
                <a:lnTo>
                  <a:pt x="3094804" y="2557878"/>
                </a:lnTo>
                <a:lnTo>
                  <a:pt x="3118245" y="2519059"/>
                </a:lnTo>
                <a:lnTo>
                  <a:pt x="3140656" y="2479563"/>
                </a:lnTo>
                <a:lnTo>
                  <a:pt x="3162018" y="2439409"/>
                </a:lnTo>
                <a:lnTo>
                  <a:pt x="3182313" y="2398615"/>
                </a:lnTo>
                <a:lnTo>
                  <a:pt x="3201522" y="2357200"/>
                </a:lnTo>
                <a:lnTo>
                  <a:pt x="3219627" y="2315183"/>
                </a:lnTo>
                <a:lnTo>
                  <a:pt x="3236608" y="2272582"/>
                </a:lnTo>
                <a:lnTo>
                  <a:pt x="3252448" y="2229416"/>
                </a:lnTo>
                <a:lnTo>
                  <a:pt x="3267127" y="2185703"/>
                </a:lnTo>
                <a:lnTo>
                  <a:pt x="3280628" y="2141462"/>
                </a:lnTo>
                <a:lnTo>
                  <a:pt x="3292931" y="2096712"/>
                </a:lnTo>
                <a:lnTo>
                  <a:pt x="3304018" y="2051471"/>
                </a:lnTo>
                <a:lnTo>
                  <a:pt x="3313871" y="2005759"/>
                </a:lnTo>
                <a:lnTo>
                  <a:pt x="3322470" y="1959592"/>
                </a:lnTo>
                <a:lnTo>
                  <a:pt x="3329797" y="1912991"/>
                </a:lnTo>
                <a:lnTo>
                  <a:pt x="3335834" y="1865974"/>
                </a:lnTo>
                <a:lnTo>
                  <a:pt x="3340561" y="1818559"/>
                </a:lnTo>
                <a:lnTo>
                  <a:pt x="3343961" y="1770764"/>
                </a:lnTo>
                <a:lnTo>
                  <a:pt x="3346015" y="1722610"/>
                </a:lnTo>
                <a:lnTo>
                  <a:pt x="3346704" y="1674114"/>
                </a:lnTo>
                <a:close/>
              </a:path>
            </a:pathLst>
          </a:custGeom>
          <a:ln w="6096">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17">
            <a:extLst>
              <a:ext uri="{FF2B5EF4-FFF2-40B4-BE49-F238E27FC236}">
                <a16:creationId xmlns:a16="http://schemas.microsoft.com/office/drawing/2014/main" id="{24C60800-A5C3-41E0-F159-2FC678ABCA1E}"/>
              </a:ext>
            </a:extLst>
          </p:cNvPr>
          <p:cNvSpPr/>
          <p:nvPr/>
        </p:nvSpPr>
        <p:spPr>
          <a:xfrm>
            <a:off x="5140637" y="2825816"/>
            <a:ext cx="898115" cy="1750743"/>
          </a:xfrm>
          <a:custGeom>
            <a:avLst/>
            <a:gdLst/>
            <a:ahLst/>
            <a:cxnLst/>
            <a:rect l="l" t="t" r="r" b="b"/>
            <a:pathLst>
              <a:path w="1717675" h="3348354">
                <a:moveTo>
                  <a:pt x="1651111" y="0"/>
                </a:moveTo>
                <a:lnTo>
                  <a:pt x="1602950" y="1293"/>
                </a:lnTo>
                <a:lnTo>
                  <a:pt x="1555129" y="3938"/>
                </a:lnTo>
                <a:lnTo>
                  <a:pt x="1507666" y="7918"/>
                </a:lnTo>
                <a:lnTo>
                  <a:pt x="1460580" y="13213"/>
                </a:lnTo>
                <a:lnTo>
                  <a:pt x="1413890" y="19806"/>
                </a:lnTo>
                <a:lnTo>
                  <a:pt x="1367614" y="27678"/>
                </a:lnTo>
                <a:lnTo>
                  <a:pt x="1321772" y="36810"/>
                </a:lnTo>
                <a:lnTo>
                  <a:pt x="1276383" y="47185"/>
                </a:lnTo>
                <a:lnTo>
                  <a:pt x="1231465" y="58784"/>
                </a:lnTo>
                <a:lnTo>
                  <a:pt x="1187037" y="71589"/>
                </a:lnTo>
                <a:lnTo>
                  <a:pt x="1143119" y="85582"/>
                </a:lnTo>
                <a:lnTo>
                  <a:pt x="1099728" y="100744"/>
                </a:lnTo>
                <a:lnTo>
                  <a:pt x="1056885" y="117056"/>
                </a:lnTo>
                <a:lnTo>
                  <a:pt x="1014607" y="134502"/>
                </a:lnTo>
                <a:lnTo>
                  <a:pt x="972914" y="153061"/>
                </a:lnTo>
                <a:lnTo>
                  <a:pt x="931824" y="172717"/>
                </a:lnTo>
                <a:lnTo>
                  <a:pt x="891358" y="193450"/>
                </a:lnTo>
                <a:lnTo>
                  <a:pt x="851532" y="215243"/>
                </a:lnTo>
                <a:lnTo>
                  <a:pt x="812367" y="238077"/>
                </a:lnTo>
                <a:lnTo>
                  <a:pt x="773881" y="261933"/>
                </a:lnTo>
                <a:lnTo>
                  <a:pt x="736093" y="286795"/>
                </a:lnTo>
                <a:lnTo>
                  <a:pt x="699022" y="312642"/>
                </a:lnTo>
                <a:lnTo>
                  <a:pt x="662687" y="339457"/>
                </a:lnTo>
                <a:lnTo>
                  <a:pt x="627106" y="367222"/>
                </a:lnTo>
                <a:lnTo>
                  <a:pt x="592300" y="395918"/>
                </a:lnTo>
                <a:lnTo>
                  <a:pt x="558285" y="425527"/>
                </a:lnTo>
                <a:lnTo>
                  <a:pt x="525083" y="456030"/>
                </a:lnTo>
                <a:lnTo>
                  <a:pt x="492710" y="487410"/>
                </a:lnTo>
                <a:lnTo>
                  <a:pt x="461187" y="519648"/>
                </a:lnTo>
                <a:lnTo>
                  <a:pt x="430532" y="552726"/>
                </a:lnTo>
                <a:lnTo>
                  <a:pt x="400763" y="586625"/>
                </a:lnTo>
                <a:lnTo>
                  <a:pt x="371901" y="621327"/>
                </a:lnTo>
                <a:lnTo>
                  <a:pt x="343963" y="656814"/>
                </a:lnTo>
                <a:lnTo>
                  <a:pt x="316969" y="693068"/>
                </a:lnTo>
                <a:lnTo>
                  <a:pt x="290938" y="730070"/>
                </a:lnTo>
                <a:lnTo>
                  <a:pt x="265888" y="767801"/>
                </a:lnTo>
                <a:lnTo>
                  <a:pt x="241838" y="806245"/>
                </a:lnTo>
                <a:lnTo>
                  <a:pt x="218807" y="845381"/>
                </a:lnTo>
                <a:lnTo>
                  <a:pt x="196815" y="885193"/>
                </a:lnTo>
                <a:lnTo>
                  <a:pt x="175880" y="925661"/>
                </a:lnTo>
                <a:lnTo>
                  <a:pt x="156020" y="966767"/>
                </a:lnTo>
                <a:lnTo>
                  <a:pt x="137255" y="1008494"/>
                </a:lnTo>
                <a:lnTo>
                  <a:pt x="119604" y="1050822"/>
                </a:lnTo>
                <a:lnTo>
                  <a:pt x="103085" y="1093734"/>
                </a:lnTo>
                <a:lnTo>
                  <a:pt x="87718" y="1137211"/>
                </a:lnTo>
                <a:lnTo>
                  <a:pt x="73521" y="1181235"/>
                </a:lnTo>
                <a:lnTo>
                  <a:pt x="60514" y="1225787"/>
                </a:lnTo>
                <a:lnTo>
                  <a:pt x="48714" y="1270849"/>
                </a:lnTo>
                <a:lnTo>
                  <a:pt x="38142" y="1316404"/>
                </a:lnTo>
                <a:lnTo>
                  <a:pt x="28815" y="1362432"/>
                </a:lnTo>
                <a:lnTo>
                  <a:pt x="20753" y="1408915"/>
                </a:lnTo>
                <a:lnTo>
                  <a:pt x="13975" y="1455836"/>
                </a:lnTo>
                <a:lnTo>
                  <a:pt x="8500" y="1503175"/>
                </a:lnTo>
                <a:lnTo>
                  <a:pt x="4345" y="1550914"/>
                </a:lnTo>
                <a:lnTo>
                  <a:pt x="1532" y="1599036"/>
                </a:lnTo>
                <a:lnTo>
                  <a:pt x="77" y="1647521"/>
                </a:lnTo>
                <a:lnTo>
                  <a:pt x="0" y="1696021"/>
                </a:lnTo>
                <a:lnTo>
                  <a:pt x="1292" y="1744202"/>
                </a:lnTo>
                <a:lnTo>
                  <a:pt x="3937" y="1792043"/>
                </a:lnTo>
                <a:lnTo>
                  <a:pt x="7915" y="1839526"/>
                </a:lnTo>
                <a:lnTo>
                  <a:pt x="13208" y="1886632"/>
                </a:lnTo>
                <a:lnTo>
                  <a:pt x="19798" y="1933342"/>
                </a:lnTo>
                <a:lnTo>
                  <a:pt x="27667" y="1979637"/>
                </a:lnTo>
                <a:lnTo>
                  <a:pt x="36795" y="2025499"/>
                </a:lnTo>
                <a:lnTo>
                  <a:pt x="47166" y="2070908"/>
                </a:lnTo>
                <a:lnTo>
                  <a:pt x="58761" y="2115845"/>
                </a:lnTo>
                <a:lnTo>
                  <a:pt x="71561" y="2160292"/>
                </a:lnTo>
                <a:lnTo>
                  <a:pt x="85548" y="2204230"/>
                </a:lnTo>
                <a:lnTo>
                  <a:pt x="100704" y="2247640"/>
                </a:lnTo>
                <a:lnTo>
                  <a:pt x="117011" y="2290502"/>
                </a:lnTo>
                <a:lnTo>
                  <a:pt x="134449" y="2332799"/>
                </a:lnTo>
                <a:lnTo>
                  <a:pt x="153001" y="2374510"/>
                </a:lnTo>
                <a:lnTo>
                  <a:pt x="172649" y="2415618"/>
                </a:lnTo>
                <a:lnTo>
                  <a:pt x="193374" y="2456103"/>
                </a:lnTo>
                <a:lnTo>
                  <a:pt x="215159" y="2495947"/>
                </a:lnTo>
                <a:lnTo>
                  <a:pt x="237983" y="2535130"/>
                </a:lnTo>
                <a:lnTo>
                  <a:pt x="261830" y="2573633"/>
                </a:lnTo>
                <a:lnTo>
                  <a:pt x="286681" y="2611438"/>
                </a:lnTo>
                <a:lnTo>
                  <a:pt x="312518" y="2648526"/>
                </a:lnTo>
                <a:lnTo>
                  <a:pt x="339322" y="2684878"/>
                </a:lnTo>
                <a:lnTo>
                  <a:pt x="367075" y="2720475"/>
                </a:lnTo>
                <a:lnTo>
                  <a:pt x="395759" y="2755297"/>
                </a:lnTo>
                <a:lnTo>
                  <a:pt x="425356" y="2789327"/>
                </a:lnTo>
                <a:lnTo>
                  <a:pt x="455847" y="2822545"/>
                </a:lnTo>
                <a:lnTo>
                  <a:pt x="487213" y="2854933"/>
                </a:lnTo>
                <a:lnTo>
                  <a:pt x="519437" y="2886471"/>
                </a:lnTo>
                <a:lnTo>
                  <a:pt x="552501" y="2917141"/>
                </a:lnTo>
                <a:lnTo>
                  <a:pt x="586385" y="2946923"/>
                </a:lnTo>
                <a:lnTo>
                  <a:pt x="621072" y="2975799"/>
                </a:lnTo>
                <a:lnTo>
                  <a:pt x="656543" y="3003750"/>
                </a:lnTo>
                <a:lnTo>
                  <a:pt x="692781" y="3030756"/>
                </a:lnTo>
                <a:lnTo>
                  <a:pt x="729766" y="3056800"/>
                </a:lnTo>
                <a:lnTo>
                  <a:pt x="767480" y="3081862"/>
                </a:lnTo>
                <a:lnTo>
                  <a:pt x="805906" y="3105923"/>
                </a:lnTo>
                <a:lnTo>
                  <a:pt x="845025" y="3128964"/>
                </a:lnTo>
                <a:lnTo>
                  <a:pt x="884818" y="3150967"/>
                </a:lnTo>
                <a:lnTo>
                  <a:pt x="925267" y="3171913"/>
                </a:lnTo>
                <a:lnTo>
                  <a:pt x="966354" y="3191782"/>
                </a:lnTo>
                <a:lnTo>
                  <a:pt x="1008060" y="3210555"/>
                </a:lnTo>
                <a:lnTo>
                  <a:pt x="1050368" y="3228215"/>
                </a:lnTo>
                <a:lnTo>
                  <a:pt x="1093259" y="3244741"/>
                </a:lnTo>
                <a:lnTo>
                  <a:pt x="1136715" y="3260116"/>
                </a:lnTo>
                <a:lnTo>
                  <a:pt x="1180717" y="3274319"/>
                </a:lnTo>
                <a:lnTo>
                  <a:pt x="1225247" y="3287333"/>
                </a:lnTo>
                <a:lnTo>
                  <a:pt x="1270287" y="3299138"/>
                </a:lnTo>
                <a:lnTo>
                  <a:pt x="1315818" y="3309715"/>
                </a:lnTo>
                <a:lnTo>
                  <a:pt x="1361822" y="3319046"/>
                </a:lnTo>
                <a:lnTo>
                  <a:pt x="1408281" y="3327112"/>
                </a:lnTo>
                <a:lnTo>
                  <a:pt x="1455177" y="3333893"/>
                </a:lnTo>
                <a:lnTo>
                  <a:pt x="1502491" y="3339371"/>
                </a:lnTo>
                <a:lnTo>
                  <a:pt x="1550205" y="3343527"/>
                </a:lnTo>
                <a:lnTo>
                  <a:pt x="1598300" y="3346342"/>
                </a:lnTo>
                <a:lnTo>
                  <a:pt x="1646759" y="3347797"/>
                </a:lnTo>
                <a:lnTo>
                  <a:pt x="1664456" y="3347987"/>
                </a:lnTo>
                <a:lnTo>
                  <a:pt x="1682129" y="3347987"/>
                </a:lnTo>
                <a:lnTo>
                  <a:pt x="1699801" y="3347797"/>
                </a:lnTo>
                <a:lnTo>
                  <a:pt x="1717498" y="3347416"/>
                </a:lnTo>
                <a:lnTo>
                  <a:pt x="1673175" y="1673937"/>
                </a:lnTo>
                <a:lnTo>
                  <a:pt x="1699591" y="77"/>
                </a:lnTo>
                <a:lnTo>
                  <a:pt x="1651111" y="0"/>
                </a:lnTo>
                <a:close/>
              </a:path>
            </a:pathLst>
          </a:custGeom>
          <a:solidFill>
            <a:srgbClr val="0043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bject 18">
            <a:extLst>
              <a:ext uri="{FF2B5EF4-FFF2-40B4-BE49-F238E27FC236}">
                <a16:creationId xmlns:a16="http://schemas.microsoft.com/office/drawing/2014/main" id="{D5A46CE5-B0E7-66B7-4E2D-1A2C2484F25A}"/>
              </a:ext>
            </a:extLst>
          </p:cNvPr>
          <p:cNvSpPr/>
          <p:nvPr/>
        </p:nvSpPr>
        <p:spPr>
          <a:xfrm>
            <a:off x="4348876" y="4317027"/>
            <a:ext cx="1355307" cy="0"/>
          </a:xfrm>
          <a:custGeom>
            <a:avLst/>
            <a:gdLst/>
            <a:ahLst/>
            <a:cxnLst/>
            <a:rect l="l" t="t" r="r" b="b"/>
            <a:pathLst>
              <a:path w="2592070">
                <a:moveTo>
                  <a:pt x="2591942" y="0"/>
                </a:moveTo>
                <a:lnTo>
                  <a:pt x="0" y="0"/>
                </a:lnTo>
              </a:path>
            </a:pathLst>
          </a:custGeom>
          <a:ln w="38100">
            <a:solidFill>
              <a:srgbClr val="002846"/>
            </a:solidFill>
            <a:prstDash val="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19">
            <a:extLst>
              <a:ext uri="{FF2B5EF4-FFF2-40B4-BE49-F238E27FC236}">
                <a16:creationId xmlns:a16="http://schemas.microsoft.com/office/drawing/2014/main" id="{69053772-F36E-2C4D-07A3-B54E8F9CC325}"/>
              </a:ext>
            </a:extLst>
          </p:cNvPr>
          <p:cNvSpPr/>
          <p:nvPr/>
        </p:nvSpPr>
        <p:spPr>
          <a:xfrm>
            <a:off x="5279196" y="2965173"/>
            <a:ext cx="1470185" cy="1470186"/>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0">
            <a:extLst>
              <a:ext uri="{FF2B5EF4-FFF2-40B4-BE49-F238E27FC236}">
                <a16:creationId xmlns:a16="http://schemas.microsoft.com/office/drawing/2014/main" id="{0949D319-1BA8-9371-EFE0-7DC85669736E}"/>
              </a:ext>
            </a:extLst>
          </p:cNvPr>
          <p:cNvSpPr/>
          <p:nvPr/>
        </p:nvSpPr>
        <p:spPr>
          <a:xfrm>
            <a:off x="5328601" y="3014578"/>
            <a:ext cx="1373767" cy="1373768"/>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21">
            <a:extLst>
              <a:ext uri="{FF2B5EF4-FFF2-40B4-BE49-F238E27FC236}">
                <a16:creationId xmlns:a16="http://schemas.microsoft.com/office/drawing/2014/main" id="{8BDBB463-B201-88ED-AB55-745471563290}"/>
              </a:ext>
            </a:extLst>
          </p:cNvPr>
          <p:cNvSpPr/>
          <p:nvPr/>
        </p:nvSpPr>
        <p:spPr>
          <a:xfrm>
            <a:off x="5328601" y="3014578"/>
            <a:ext cx="1373900" cy="1373900"/>
          </a:xfrm>
          <a:custGeom>
            <a:avLst/>
            <a:gdLst/>
            <a:ahLst/>
            <a:cxnLst/>
            <a:rect l="l" t="t" r="r" b="b"/>
            <a:pathLst>
              <a:path w="2627629" h="2627629">
                <a:moveTo>
                  <a:pt x="2627376" y="1313688"/>
                </a:moveTo>
                <a:lnTo>
                  <a:pt x="2626509" y="1265526"/>
                </a:lnTo>
                <a:lnTo>
                  <a:pt x="2623930" y="1217801"/>
                </a:lnTo>
                <a:lnTo>
                  <a:pt x="2619667" y="1170543"/>
                </a:lnTo>
                <a:lnTo>
                  <a:pt x="2613751" y="1123781"/>
                </a:lnTo>
                <a:lnTo>
                  <a:pt x="2606211" y="1077545"/>
                </a:lnTo>
                <a:lnTo>
                  <a:pt x="2597077" y="1031864"/>
                </a:lnTo>
                <a:lnTo>
                  <a:pt x="2586378" y="986769"/>
                </a:lnTo>
                <a:lnTo>
                  <a:pt x="2574144" y="942288"/>
                </a:lnTo>
                <a:lnTo>
                  <a:pt x="2560405" y="898452"/>
                </a:lnTo>
                <a:lnTo>
                  <a:pt x="2545190" y="855291"/>
                </a:lnTo>
                <a:lnTo>
                  <a:pt x="2528530" y="812833"/>
                </a:lnTo>
                <a:lnTo>
                  <a:pt x="2510453" y="771109"/>
                </a:lnTo>
                <a:lnTo>
                  <a:pt x="2490990" y="730148"/>
                </a:lnTo>
                <a:lnTo>
                  <a:pt x="2470170" y="689980"/>
                </a:lnTo>
                <a:lnTo>
                  <a:pt x="2448023" y="650635"/>
                </a:lnTo>
                <a:lnTo>
                  <a:pt x="2424579" y="612142"/>
                </a:lnTo>
                <a:lnTo>
                  <a:pt x="2399866" y="574531"/>
                </a:lnTo>
                <a:lnTo>
                  <a:pt x="2373916" y="537831"/>
                </a:lnTo>
                <a:lnTo>
                  <a:pt x="2346757" y="502073"/>
                </a:lnTo>
                <a:lnTo>
                  <a:pt x="2318420" y="467286"/>
                </a:lnTo>
                <a:lnTo>
                  <a:pt x="2288933" y="433500"/>
                </a:lnTo>
                <a:lnTo>
                  <a:pt x="2258327" y="400744"/>
                </a:lnTo>
                <a:lnTo>
                  <a:pt x="2226631" y="369048"/>
                </a:lnTo>
                <a:lnTo>
                  <a:pt x="2193875" y="338442"/>
                </a:lnTo>
                <a:lnTo>
                  <a:pt x="2160089" y="308955"/>
                </a:lnTo>
                <a:lnTo>
                  <a:pt x="2125302" y="280618"/>
                </a:lnTo>
                <a:lnTo>
                  <a:pt x="2089544" y="253459"/>
                </a:lnTo>
                <a:lnTo>
                  <a:pt x="2052844" y="227509"/>
                </a:lnTo>
                <a:lnTo>
                  <a:pt x="2015233" y="202796"/>
                </a:lnTo>
                <a:lnTo>
                  <a:pt x="1976740" y="179352"/>
                </a:lnTo>
                <a:lnTo>
                  <a:pt x="1937395" y="157205"/>
                </a:lnTo>
                <a:lnTo>
                  <a:pt x="1897227" y="136385"/>
                </a:lnTo>
                <a:lnTo>
                  <a:pt x="1856266" y="116922"/>
                </a:lnTo>
                <a:lnTo>
                  <a:pt x="1814542" y="98845"/>
                </a:lnTo>
                <a:lnTo>
                  <a:pt x="1772084" y="82185"/>
                </a:lnTo>
                <a:lnTo>
                  <a:pt x="1728923" y="66970"/>
                </a:lnTo>
                <a:lnTo>
                  <a:pt x="1685087" y="53231"/>
                </a:lnTo>
                <a:lnTo>
                  <a:pt x="1640606" y="40997"/>
                </a:lnTo>
                <a:lnTo>
                  <a:pt x="1595511" y="30298"/>
                </a:lnTo>
                <a:lnTo>
                  <a:pt x="1549830" y="21164"/>
                </a:lnTo>
                <a:lnTo>
                  <a:pt x="1503594" y="13624"/>
                </a:lnTo>
                <a:lnTo>
                  <a:pt x="1456832" y="7708"/>
                </a:lnTo>
                <a:lnTo>
                  <a:pt x="1409574" y="3445"/>
                </a:lnTo>
                <a:lnTo>
                  <a:pt x="1361849" y="866"/>
                </a:lnTo>
                <a:lnTo>
                  <a:pt x="1313687" y="0"/>
                </a:lnTo>
                <a:lnTo>
                  <a:pt x="1265526" y="866"/>
                </a:lnTo>
                <a:lnTo>
                  <a:pt x="1217801" y="3445"/>
                </a:lnTo>
                <a:lnTo>
                  <a:pt x="1170543" y="7708"/>
                </a:lnTo>
                <a:lnTo>
                  <a:pt x="1123781" y="13624"/>
                </a:lnTo>
                <a:lnTo>
                  <a:pt x="1077545" y="21164"/>
                </a:lnTo>
                <a:lnTo>
                  <a:pt x="1031864" y="30298"/>
                </a:lnTo>
                <a:lnTo>
                  <a:pt x="986769" y="40997"/>
                </a:lnTo>
                <a:lnTo>
                  <a:pt x="942288" y="53231"/>
                </a:lnTo>
                <a:lnTo>
                  <a:pt x="898452" y="66970"/>
                </a:lnTo>
                <a:lnTo>
                  <a:pt x="855291" y="82185"/>
                </a:lnTo>
                <a:lnTo>
                  <a:pt x="812833" y="98845"/>
                </a:lnTo>
                <a:lnTo>
                  <a:pt x="771109" y="116922"/>
                </a:lnTo>
                <a:lnTo>
                  <a:pt x="730148" y="136385"/>
                </a:lnTo>
                <a:lnTo>
                  <a:pt x="689980" y="157205"/>
                </a:lnTo>
                <a:lnTo>
                  <a:pt x="650635" y="179352"/>
                </a:lnTo>
                <a:lnTo>
                  <a:pt x="612142" y="202796"/>
                </a:lnTo>
                <a:lnTo>
                  <a:pt x="574531" y="227509"/>
                </a:lnTo>
                <a:lnTo>
                  <a:pt x="537831" y="253459"/>
                </a:lnTo>
                <a:lnTo>
                  <a:pt x="502073" y="280618"/>
                </a:lnTo>
                <a:lnTo>
                  <a:pt x="467286" y="308955"/>
                </a:lnTo>
                <a:lnTo>
                  <a:pt x="433500" y="338442"/>
                </a:lnTo>
                <a:lnTo>
                  <a:pt x="400744" y="369048"/>
                </a:lnTo>
                <a:lnTo>
                  <a:pt x="369048" y="400744"/>
                </a:lnTo>
                <a:lnTo>
                  <a:pt x="338442" y="433500"/>
                </a:lnTo>
                <a:lnTo>
                  <a:pt x="308955" y="467286"/>
                </a:lnTo>
                <a:lnTo>
                  <a:pt x="280618" y="502073"/>
                </a:lnTo>
                <a:lnTo>
                  <a:pt x="253459" y="537831"/>
                </a:lnTo>
                <a:lnTo>
                  <a:pt x="227509" y="574531"/>
                </a:lnTo>
                <a:lnTo>
                  <a:pt x="202796" y="612142"/>
                </a:lnTo>
                <a:lnTo>
                  <a:pt x="179352" y="650635"/>
                </a:lnTo>
                <a:lnTo>
                  <a:pt x="157205" y="689980"/>
                </a:lnTo>
                <a:lnTo>
                  <a:pt x="136385" y="730148"/>
                </a:lnTo>
                <a:lnTo>
                  <a:pt x="116922" y="771109"/>
                </a:lnTo>
                <a:lnTo>
                  <a:pt x="98845" y="812833"/>
                </a:lnTo>
                <a:lnTo>
                  <a:pt x="82185" y="855291"/>
                </a:lnTo>
                <a:lnTo>
                  <a:pt x="66970" y="898452"/>
                </a:lnTo>
                <a:lnTo>
                  <a:pt x="53231" y="942288"/>
                </a:lnTo>
                <a:lnTo>
                  <a:pt x="40997" y="986769"/>
                </a:lnTo>
                <a:lnTo>
                  <a:pt x="30298" y="1031864"/>
                </a:lnTo>
                <a:lnTo>
                  <a:pt x="21164" y="1077545"/>
                </a:lnTo>
                <a:lnTo>
                  <a:pt x="13624" y="1123781"/>
                </a:lnTo>
                <a:lnTo>
                  <a:pt x="7708" y="1170543"/>
                </a:lnTo>
                <a:lnTo>
                  <a:pt x="3445" y="1217801"/>
                </a:lnTo>
                <a:lnTo>
                  <a:pt x="866" y="1265526"/>
                </a:lnTo>
                <a:lnTo>
                  <a:pt x="0" y="1313688"/>
                </a:lnTo>
                <a:lnTo>
                  <a:pt x="866" y="1361849"/>
                </a:lnTo>
                <a:lnTo>
                  <a:pt x="3445" y="1409574"/>
                </a:lnTo>
                <a:lnTo>
                  <a:pt x="7708" y="1456832"/>
                </a:lnTo>
                <a:lnTo>
                  <a:pt x="13624" y="1503594"/>
                </a:lnTo>
                <a:lnTo>
                  <a:pt x="21164" y="1549830"/>
                </a:lnTo>
                <a:lnTo>
                  <a:pt x="30298" y="1595511"/>
                </a:lnTo>
                <a:lnTo>
                  <a:pt x="40997" y="1640606"/>
                </a:lnTo>
                <a:lnTo>
                  <a:pt x="53231" y="1685087"/>
                </a:lnTo>
                <a:lnTo>
                  <a:pt x="66970" y="1728923"/>
                </a:lnTo>
                <a:lnTo>
                  <a:pt x="82185" y="1772084"/>
                </a:lnTo>
                <a:lnTo>
                  <a:pt x="98845" y="1814542"/>
                </a:lnTo>
                <a:lnTo>
                  <a:pt x="116922" y="1856266"/>
                </a:lnTo>
                <a:lnTo>
                  <a:pt x="136385" y="1897227"/>
                </a:lnTo>
                <a:lnTo>
                  <a:pt x="157205" y="1937395"/>
                </a:lnTo>
                <a:lnTo>
                  <a:pt x="179352" y="1976740"/>
                </a:lnTo>
                <a:lnTo>
                  <a:pt x="202796" y="2015233"/>
                </a:lnTo>
                <a:lnTo>
                  <a:pt x="227509" y="2052844"/>
                </a:lnTo>
                <a:lnTo>
                  <a:pt x="253459" y="2089544"/>
                </a:lnTo>
                <a:lnTo>
                  <a:pt x="280618" y="2125302"/>
                </a:lnTo>
                <a:lnTo>
                  <a:pt x="308955" y="2160089"/>
                </a:lnTo>
                <a:lnTo>
                  <a:pt x="338442" y="2193875"/>
                </a:lnTo>
                <a:lnTo>
                  <a:pt x="369048" y="2226631"/>
                </a:lnTo>
                <a:lnTo>
                  <a:pt x="400744" y="2258327"/>
                </a:lnTo>
                <a:lnTo>
                  <a:pt x="433500" y="2288933"/>
                </a:lnTo>
                <a:lnTo>
                  <a:pt x="467286" y="2318420"/>
                </a:lnTo>
                <a:lnTo>
                  <a:pt x="502073" y="2346757"/>
                </a:lnTo>
                <a:lnTo>
                  <a:pt x="537831" y="2373916"/>
                </a:lnTo>
                <a:lnTo>
                  <a:pt x="574531" y="2399866"/>
                </a:lnTo>
                <a:lnTo>
                  <a:pt x="612142" y="2424579"/>
                </a:lnTo>
                <a:lnTo>
                  <a:pt x="650635" y="2448023"/>
                </a:lnTo>
                <a:lnTo>
                  <a:pt x="689980" y="2470170"/>
                </a:lnTo>
                <a:lnTo>
                  <a:pt x="730148" y="2490990"/>
                </a:lnTo>
                <a:lnTo>
                  <a:pt x="771109" y="2510453"/>
                </a:lnTo>
                <a:lnTo>
                  <a:pt x="812833" y="2528530"/>
                </a:lnTo>
                <a:lnTo>
                  <a:pt x="855291" y="2545190"/>
                </a:lnTo>
                <a:lnTo>
                  <a:pt x="898452" y="2560405"/>
                </a:lnTo>
                <a:lnTo>
                  <a:pt x="942288" y="2574144"/>
                </a:lnTo>
                <a:lnTo>
                  <a:pt x="986769" y="2586378"/>
                </a:lnTo>
                <a:lnTo>
                  <a:pt x="1031864" y="2597077"/>
                </a:lnTo>
                <a:lnTo>
                  <a:pt x="1077545" y="2606211"/>
                </a:lnTo>
                <a:lnTo>
                  <a:pt x="1123781" y="2613751"/>
                </a:lnTo>
                <a:lnTo>
                  <a:pt x="1170543" y="2619667"/>
                </a:lnTo>
                <a:lnTo>
                  <a:pt x="1217801" y="2623930"/>
                </a:lnTo>
                <a:lnTo>
                  <a:pt x="1265526" y="2626509"/>
                </a:lnTo>
                <a:lnTo>
                  <a:pt x="1313687" y="2627376"/>
                </a:lnTo>
                <a:lnTo>
                  <a:pt x="1361849" y="2626509"/>
                </a:lnTo>
                <a:lnTo>
                  <a:pt x="1409574" y="2623930"/>
                </a:lnTo>
                <a:lnTo>
                  <a:pt x="1456832" y="2619667"/>
                </a:lnTo>
                <a:lnTo>
                  <a:pt x="1503594" y="2613751"/>
                </a:lnTo>
                <a:lnTo>
                  <a:pt x="1549830" y="2606211"/>
                </a:lnTo>
                <a:lnTo>
                  <a:pt x="1595511" y="2597077"/>
                </a:lnTo>
                <a:lnTo>
                  <a:pt x="1640606" y="2586378"/>
                </a:lnTo>
                <a:lnTo>
                  <a:pt x="1685087" y="2574144"/>
                </a:lnTo>
                <a:lnTo>
                  <a:pt x="1728923" y="2560405"/>
                </a:lnTo>
                <a:lnTo>
                  <a:pt x="1772084" y="2545190"/>
                </a:lnTo>
                <a:lnTo>
                  <a:pt x="1814542" y="2528530"/>
                </a:lnTo>
                <a:lnTo>
                  <a:pt x="1856266" y="2510453"/>
                </a:lnTo>
                <a:lnTo>
                  <a:pt x="1897227" y="2490990"/>
                </a:lnTo>
                <a:lnTo>
                  <a:pt x="1937395" y="2470170"/>
                </a:lnTo>
                <a:lnTo>
                  <a:pt x="1976740" y="2448023"/>
                </a:lnTo>
                <a:lnTo>
                  <a:pt x="2015233" y="2424579"/>
                </a:lnTo>
                <a:lnTo>
                  <a:pt x="2052844" y="2399866"/>
                </a:lnTo>
                <a:lnTo>
                  <a:pt x="2089544" y="2373916"/>
                </a:lnTo>
                <a:lnTo>
                  <a:pt x="2125302" y="2346757"/>
                </a:lnTo>
                <a:lnTo>
                  <a:pt x="2160089" y="2318420"/>
                </a:lnTo>
                <a:lnTo>
                  <a:pt x="2193875" y="2288933"/>
                </a:lnTo>
                <a:lnTo>
                  <a:pt x="2226631" y="2258327"/>
                </a:lnTo>
                <a:lnTo>
                  <a:pt x="2258327" y="2226631"/>
                </a:lnTo>
                <a:lnTo>
                  <a:pt x="2288933" y="2193875"/>
                </a:lnTo>
                <a:lnTo>
                  <a:pt x="2318420" y="2160089"/>
                </a:lnTo>
                <a:lnTo>
                  <a:pt x="2346757" y="2125302"/>
                </a:lnTo>
                <a:lnTo>
                  <a:pt x="2373916" y="2089544"/>
                </a:lnTo>
                <a:lnTo>
                  <a:pt x="2399866" y="2052844"/>
                </a:lnTo>
                <a:lnTo>
                  <a:pt x="2424579" y="2015233"/>
                </a:lnTo>
                <a:lnTo>
                  <a:pt x="2448023" y="1976740"/>
                </a:lnTo>
                <a:lnTo>
                  <a:pt x="2470170" y="1937395"/>
                </a:lnTo>
                <a:lnTo>
                  <a:pt x="2490990" y="1897227"/>
                </a:lnTo>
                <a:lnTo>
                  <a:pt x="2510453" y="1856266"/>
                </a:lnTo>
                <a:lnTo>
                  <a:pt x="2528530" y="1814542"/>
                </a:lnTo>
                <a:lnTo>
                  <a:pt x="2545190" y="1772084"/>
                </a:lnTo>
                <a:lnTo>
                  <a:pt x="2560405" y="1728923"/>
                </a:lnTo>
                <a:lnTo>
                  <a:pt x="2574144" y="1685087"/>
                </a:lnTo>
                <a:lnTo>
                  <a:pt x="2586378" y="1640606"/>
                </a:lnTo>
                <a:lnTo>
                  <a:pt x="2597077" y="1595511"/>
                </a:lnTo>
                <a:lnTo>
                  <a:pt x="2606211" y="1549830"/>
                </a:lnTo>
                <a:lnTo>
                  <a:pt x="2613751" y="1503594"/>
                </a:lnTo>
                <a:lnTo>
                  <a:pt x="2619667" y="1456832"/>
                </a:lnTo>
                <a:lnTo>
                  <a:pt x="2623930" y="1409574"/>
                </a:lnTo>
                <a:lnTo>
                  <a:pt x="2626509" y="1361849"/>
                </a:lnTo>
                <a:lnTo>
                  <a:pt x="2627376" y="1313688"/>
                </a:lnTo>
                <a:close/>
              </a:path>
            </a:pathLst>
          </a:custGeom>
          <a:ln w="6096">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22">
            <a:extLst>
              <a:ext uri="{FF2B5EF4-FFF2-40B4-BE49-F238E27FC236}">
                <a16:creationId xmlns:a16="http://schemas.microsoft.com/office/drawing/2014/main" id="{A2E83A5A-614C-6738-BBAF-F8D97C2813BD}"/>
              </a:ext>
            </a:extLst>
          </p:cNvPr>
          <p:cNvSpPr/>
          <p:nvPr/>
        </p:nvSpPr>
        <p:spPr>
          <a:xfrm>
            <a:off x="5328601" y="3014578"/>
            <a:ext cx="702555" cy="1373900"/>
          </a:xfrm>
          <a:custGeom>
            <a:avLst/>
            <a:gdLst/>
            <a:ahLst/>
            <a:cxnLst/>
            <a:rect l="l" t="t" r="r" b="b"/>
            <a:pathLst>
              <a:path w="1343659" h="2627629">
                <a:moveTo>
                  <a:pt x="1322704" y="0"/>
                </a:moveTo>
                <a:lnTo>
                  <a:pt x="1274537" y="537"/>
                </a:lnTo>
                <a:lnTo>
                  <a:pt x="1226794" y="2791"/>
                </a:lnTo>
                <a:lnTo>
                  <a:pt x="1179507" y="6732"/>
                </a:lnTo>
                <a:lnTo>
                  <a:pt x="1132704" y="12329"/>
                </a:lnTo>
                <a:lnTo>
                  <a:pt x="1086416" y="19555"/>
                </a:lnTo>
                <a:lnTo>
                  <a:pt x="1040672" y="28378"/>
                </a:lnTo>
                <a:lnTo>
                  <a:pt x="995503" y="38770"/>
                </a:lnTo>
                <a:lnTo>
                  <a:pt x="950938" y="50702"/>
                </a:lnTo>
                <a:lnTo>
                  <a:pt x="907007" y="64143"/>
                </a:lnTo>
                <a:lnTo>
                  <a:pt x="863740" y="79064"/>
                </a:lnTo>
                <a:lnTo>
                  <a:pt x="821168" y="95436"/>
                </a:lnTo>
                <a:lnTo>
                  <a:pt x="779319" y="113229"/>
                </a:lnTo>
                <a:lnTo>
                  <a:pt x="738224" y="132414"/>
                </a:lnTo>
                <a:lnTo>
                  <a:pt x="697912" y="152961"/>
                </a:lnTo>
                <a:lnTo>
                  <a:pt x="658415" y="174841"/>
                </a:lnTo>
                <a:lnTo>
                  <a:pt x="619760" y="198024"/>
                </a:lnTo>
                <a:lnTo>
                  <a:pt x="581979" y="222481"/>
                </a:lnTo>
                <a:lnTo>
                  <a:pt x="545101" y="248182"/>
                </a:lnTo>
                <a:lnTo>
                  <a:pt x="509156" y="275098"/>
                </a:lnTo>
                <a:lnTo>
                  <a:pt x="474174" y="303199"/>
                </a:lnTo>
                <a:lnTo>
                  <a:pt x="440185" y="332456"/>
                </a:lnTo>
                <a:lnTo>
                  <a:pt x="407218" y="362839"/>
                </a:lnTo>
                <a:lnTo>
                  <a:pt x="375304" y="394319"/>
                </a:lnTo>
                <a:lnTo>
                  <a:pt x="344473" y="426866"/>
                </a:lnTo>
                <a:lnTo>
                  <a:pt x="314754" y="460451"/>
                </a:lnTo>
                <a:lnTo>
                  <a:pt x="286177" y="495045"/>
                </a:lnTo>
                <a:lnTo>
                  <a:pt x="258773" y="530617"/>
                </a:lnTo>
                <a:lnTo>
                  <a:pt x="232570" y="567138"/>
                </a:lnTo>
                <a:lnTo>
                  <a:pt x="207600" y="604579"/>
                </a:lnTo>
                <a:lnTo>
                  <a:pt x="183891" y="642911"/>
                </a:lnTo>
                <a:lnTo>
                  <a:pt x="161474" y="682104"/>
                </a:lnTo>
                <a:lnTo>
                  <a:pt x="140378" y="722127"/>
                </a:lnTo>
                <a:lnTo>
                  <a:pt x="120634" y="762953"/>
                </a:lnTo>
                <a:lnTo>
                  <a:pt x="102272" y="804551"/>
                </a:lnTo>
                <a:lnTo>
                  <a:pt x="85320" y="846892"/>
                </a:lnTo>
                <a:lnTo>
                  <a:pt x="69810" y="889946"/>
                </a:lnTo>
                <a:lnTo>
                  <a:pt x="55771" y="933685"/>
                </a:lnTo>
                <a:lnTo>
                  <a:pt x="43232" y="978077"/>
                </a:lnTo>
                <a:lnTo>
                  <a:pt x="32225" y="1023095"/>
                </a:lnTo>
                <a:lnTo>
                  <a:pt x="22778" y="1068707"/>
                </a:lnTo>
                <a:lnTo>
                  <a:pt x="14921" y="1114886"/>
                </a:lnTo>
                <a:lnTo>
                  <a:pt x="8686" y="1161601"/>
                </a:lnTo>
                <a:lnTo>
                  <a:pt x="4100" y="1208824"/>
                </a:lnTo>
                <a:lnTo>
                  <a:pt x="1195" y="1256523"/>
                </a:lnTo>
                <a:lnTo>
                  <a:pt x="0" y="1304671"/>
                </a:lnTo>
                <a:lnTo>
                  <a:pt x="537" y="1352838"/>
                </a:lnTo>
                <a:lnTo>
                  <a:pt x="2791" y="1400581"/>
                </a:lnTo>
                <a:lnTo>
                  <a:pt x="6732" y="1447868"/>
                </a:lnTo>
                <a:lnTo>
                  <a:pt x="12329" y="1494671"/>
                </a:lnTo>
                <a:lnTo>
                  <a:pt x="19555" y="1540959"/>
                </a:lnTo>
                <a:lnTo>
                  <a:pt x="28378" y="1586703"/>
                </a:lnTo>
                <a:lnTo>
                  <a:pt x="38770" y="1631872"/>
                </a:lnTo>
                <a:lnTo>
                  <a:pt x="50702" y="1676437"/>
                </a:lnTo>
                <a:lnTo>
                  <a:pt x="64143" y="1720368"/>
                </a:lnTo>
                <a:lnTo>
                  <a:pt x="79064" y="1763635"/>
                </a:lnTo>
                <a:lnTo>
                  <a:pt x="95436" y="1806207"/>
                </a:lnTo>
                <a:lnTo>
                  <a:pt x="113229" y="1848056"/>
                </a:lnTo>
                <a:lnTo>
                  <a:pt x="132414" y="1889151"/>
                </a:lnTo>
                <a:lnTo>
                  <a:pt x="152961" y="1929463"/>
                </a:lnTo>
                <a:lnTo>
                  <a:pt x="174841" y="1968960"/>
                </a:lnTo>
                <a:lnTo>
                  <a:pt x="198024" y="2007615"/>
                </a:lnTo>
                <a:lnTo>
                  <a:pt x="222481" y="2045396"/>
                </a:lnTo>
                <a:lnTo>
                  <a:pt x="248182" y="2082274"/>
                </a:lnTo>
                <a:lnTo>
                  <a:pt x="275098" y="2118219"/>
                </a:lnTo>
                <a:lnTo>
                  <a:pt x="303199" y="2153201"/>
                </a:lnTo>
                <a:lnTo>
                  <a:pt x="332456" y="2187190"/>
                </a:lnTo>
                <a:lnTo>
                  <a:pt x="362839" y="2220157"/>
                </a:lnTo>
                <a:lnTo>
                  <a:pt x="394319" y="2252071"/>
                </a:lnTo>
                <a:lnTo>
                  <a:pt x="426866" y="2282902"/>
                </a:lnTo>
                <a:lnTo>
                  <a:pt x="460451" y="2312621"/>
                </a:lnTo>
                <a:lnTo>
                  <a:pt x="495045" y="2341198"/>
                </a:lnTo>
                <a:lnTo>
                  <a:pt x="530617" y="2368602"/>
                </a:lnTo>
                <a:lnTo>
                  <a:pt x="567138" y="2394805"/>
                </a:lnTo>
                <a:lnTo>
                  <a:pt x="604579" y="2419775"/>
                </a:lnTo>
                <a:lnTo>
                  <a:pt x="642911" y="2443484"/>
                </a:lnTo>
                <a:lnTo>
                  <a:pt x="682104" y="2465901"/>
                </a:lnTo>
                <a:lnTo>
                  <a:pt x="722127" y="2486997"/>
                </a:lnTo>
                <a:lnTo>
                  <a:pt x="762953" y="2506741"/>
                </a:lnTo>
                <a:lnTo>
                  <a:pt x="804551" y="2525103"/>
                </a:lnTo>
                <a:lnTo>
                  <a:pt x="846892" y="2542055"/>
                </a:lnTo>
                <a:lnTo>
                  <a:pt x="889946" y="2557565"/>
                </a:lnTo>
                <a:lnTo>
                  <a:pt x="933685" y="2571604"/>
                </a:lnTo>
                <a:lnTo>
                  <a:pt x="978077" y="2584143"/>
                </a:lnTo>
                <a:lnTo>
                  <a:pt x="1023095" y="2595150"/>
                </a:lnTo>
                <a:lnTo>
                  <a:pt x="1068707" y="2604597"/>
                </a:lnTo>
                <a:lnTo>
                  <a:pt x="1114886" y="2612454"/>
                </a:lnTo>
                <a:lnTo>
                  <a:pt x="1161601" y="2618689"/>
                </a:lnTo>
                <a:lnTo>
                  <a:pt x="1208824" y="2623275"/>
                </a:lnTo>
                <a:lnTo>
                  <a:pt x="1256523" y="2626180"/>
                </a:lnTo>
                <a:lnTo>
                  <a:pt x="1304671" y="2627376"/>
                </a:lnTo>
                <a:lnTo>
                  <a:pt x="1333656" y="2627215"/>
                </a:lnTo>
                <a:lnTo>
                  <a:pt x="1343278" y="2626995"/>
                </a:lnTo>
                <a:lnTo>
                  <a:pt x="1313687" y="1313688"/>
                </a:lnTo>
                <a:lnTo>
                  <a:pt x="1322704" y="0"/>
                </a:lnTo>
                <a:close/>
              </a:path>
            </a:pathLst>
          </a:custGeom>
          <a:solidFill>
            <a:srgbClr val="00284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23">
            <a:extLst>
              <a:ext uri="{FF2B5EF4-FFF2-40B4-BE49-F238E27FC236}">
                <a16:creationId xmlns:a16="http://schemas.microsoft.com/office/drawing/2014/main" id="{39982948-5337-8390-F0DD-E2D6D1AD3186}"/>
              </a:ext>
            </a:extLst>
          </p:cNvPr>
          <p:cNvSpPr/>
          <p:nvPr/>
        </p:nvSpPr>
        <p:spPr>
          <a:xfrm>
            <a:off x="5470440" y="3156417"/>
            <a:ext cx="1087698" cy="1087698"/>
          </a:xfrm>
          <a:prstGeom prst="rect">
            <a:avLst/>
          </a:prstGeom>
          <a:blipFill>
            <a:blip r:embed="rId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object 24">
            <a:extLst>
              <a:ext uri="{FF2B5EF4-FFF2-40B4-BE49-F238E27FC236}">
                <a16:creationId xmlns:a16="http://schemas.microsoft.com/office/drawing/2014/main" id="{7457D996-BC75-D2AB-6F15-30B108811724}"/>
              </a:ext>
            </a:extLst>
          </p:cNvPr>
          <p:cNvSpPr/>
          <p:nvPr/>
        </p:nvSpPr>
        <p:spPr>
          <a:xfrm>
            <a:off x="5516657" y="3202633"/>
            <a:ext cx="997654" cy="997655"/>
          </a:xfrm>
          <a:prstGeom prst="rect">
            <a:avLst/>
          </a:prstGeom>
          <a:blipFill>
            <a:blip r:embed="rId8"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object 25">
            <a:extLst>
              <a:ext uri="{FF2B5EF4-FFF2-40B4-BE49-F238E27FC236}">
                <a16:creationId xmlns:a16="http://schemas.microsoft.com/office/drawing/2014/main" id="{5B805198-DDB1-D93F-D82F-20AC6BEF7AA7}"/>
              </a:ext>
            </a:extLst>
          </p:cNvPr>
          <p:cNvSpPr/>
          <p:nvPr/>
        </p:nvSpPr>
        <p:spPr>
          <a:xfrm>
            <a:off x="5516657" y="3202633"/>
            <a:ext cx="997721" cy="997721"/>
          </a:xfrm>
          <a:custGeom>
            <a:avLst/>
            <a:gdLst/>
            <a:ahLst/>
            <a:cxnLst/>
            <a:rect l="l" t="t" r="r" b="b"/>
            <a:pathLst>
              <a:path w="1908175" h="1908175">
                <a:moveTo>
                  <a:pt x="1908048" y="954024"/>
                </a:moveTo>
                <a:lnTo>
                  <a:pt x="1906880" y="906406"/>
                </a:lnTo>
                <a:lnTo>
                  <a:pt x="1903414" y="859392"/>
                </a:lnTo>
                <a:lnTo>
                  <a:pt x="1897704" y="813038"/>
                </a:lnTo>
                <a:lnTo>
                  <a:pt x="1889805" y="767398"/>
                </a:lnTo>
                <a:lnTo>
                  <a:pt x="1879771" y="722526"/>
                </a:lnTo>
                <a:lnTo>
                  <a:pt x="1867657" y="678478"/>
                </a:lnTo>
                <a:lnTo>
                  <a:pt x="1853518" y="635307"/>
                </a:lnTo>
                <a:lnTo>
                  <a:pt x="1837409" y="593069"/>
                </a:lnTo>
                <a:lnTo>
                  <a:pt x="1819383" y="551818"/>
                </a:lnTo>
                <a:lnTo>
                  <a:pt x="1799496" y="511609"/>
                </a:lnTo>
                <a:lnTo>
                  <a:pt x="1777802" y="472496"/>
                </a:lnTo>
                <a:lnTo>
                  <a:pt x="1754356" y="434534"/>
                </a:lnTo>
                <a:lnTo>
                  <a:pt x="1729212" y="397778"/>
                </a:lnTo>
                <a:lnTo>
                  <a:pt x="1702426" y="362282"/>
                </a:lnTo>
                <a:lnTo>
                  <a:pt x="1674052" y="328101"/>
                </a:lnTo>
                <a:lnTo>
                  <a:pt x="1644144" y="295290"/>
                </a:lnTo>
                <a:lnTo>
                  <a:pt x="1612757" y="263903"/>
                </a:lnTo>
                <a:lnTo>
                  <a:pt x="1579946" y="233995"/>
                </a:lnTo>
                <a:lnTo>
                  <a:pt x="1545765" y="205621"/>
                </a:lnTo>
                <a:lnTo>
                  <a:pt x="1510269" y="178835"/>
                </a:lnTo>
                <a:lnTo>
                  <a:pt x="1473513" y="153691"/>
                </a:lnTo>
                <a:lnTo>
                  <a:pt x="1435551" y="130245"/>
                </a:lnTo>
                <a:lnTo>
                  <a:pt x="1396438" y="108551"/>
                </a:lnTo>
                <a:lnTo>
                  <a:pt x="1356229" y="88664"/>
                </a:lnTo>
                <a:lnTo>
                  <a:pt x="1314978" y="70638"/>
                </a:lnTo>
                <a:lnTo>
                  <a:pt x="1272740" y="54529"/>
                </a:lnTo>
                <a:lnTo>
                  <a:pt x="1229569" y="40390"/>
                </a:lnTo>
                <a:lnTo>
                  <a:pt x="1185521" y="28276"/>
                </a:lnTo>
                <a:lnTo>
                  <a:pt x="1140649" y="18242"/>
                </a:lnTo>
                <a:lnTo>
                  <a:pt x="1095009" y="10343"/>
                </a:lnTo>
                <a:lnTo>
                  <a:pt x="1048655" y="4633"/>
                </a:lnTo>
                <a:lnTo>
                  <a:pt x="1001641" y="1167"/>
                </a:lnTo>
                <a:lnTo>
                  <a:pt x="954024" y="0"/>
                </a:lnTo>
                <a:lnTo>
                  <a:pt x="906406" y="1167"/>
                </a:lnTo>
                <a:lnTo>
                  <a:pt x="859392" y="4633"/>
                </a:lnTo>
                <a:lnTo>
                  <a:pt x="813038" y="10343"/>
                </a:lnTo>
                <a:lnTo>
                  <a:pt x="767398" y="18242"/>
                </a:lnTo>
                <a:lnTo>
                  <a:pt x="722526" y="28276"/>
                </a:lnTo>
                <a:lnTo>
                  <a:pt x="678478" y="40390"/>
                </a:lnTo>
                <a:lnTo>
                  <a:pt x="635307" y="54529"/>
                </a:lnTo>
                <a:lnTo>
                  <a:pt x="593069" y="70638"/>
                </a:lnTo>
                <a:lnTo>
                  <a:pt x="551818" y="88664"/>
                </a:lnTo>
                <a:lnTo>
                  <a:pt x="511609" y="108551"/>
                </a:lnTo>
                <a:lnTo>
                  <a:pt x="472496" y="130245"/>
                </a:lnTo>
                <a:lnTo>
                  <a:pt x="434534" y="153691"/>
                </a:lnTo>
                <a:lnTo>
                  <a:pt x="397778" y="178835"/>
                </a:lnTo>
                <a:lnTo>
                  <a:pt x="362282" y="205621"/>
                </a:lnTo>
                <a:lnTo>
                  <a:pt x="328101" y="233995"/>
                </a:lnTo>
                <a:lnTo>
                  <a:pt x="295290" y="263903"/>
                </a:lnTo>
                <a:lnTo>
                  <a:pt x="263903" y="295290"/>
                </a:lnTo>
                <a:lnTo>
                  <a:pt x="233995" y="328101"/>
                </a:lnTo>
                <a:lnTo>
                  <a:pt x="205621" y="362282"/>
                </a:lnTo>
                <a:lnTo>
                  <a:pt x="178835" y="397778"/>
                </a:lnTo>
                <a:lnTo>
                  <a:pt x="153691" y="434534"/>
                </a:lnTo>
                <a:lnTo>
                  <a:pt x="130245" y="472496"/>
                </a:lnTo>
                <a:lnTo>
                  <a:pt x="108551" y="511609"/>
                </a:lnTo>
                <a:lnTo>
                  <a:pt x="88664" y="551818"/>
                </a:lnTo>
                <a:lnTo>
                  <a:pt x="70638" y="593069"/>
                </a:lnTo>
                <a:lnTo>
                  <a:pt x="54529" y="635307"/>
                </a:lnTo>
                <a:lnTo>
                  <a:pt x="40390" y="678478"/>
                </a:lnTo>
                <a:lnTo>
                  <a:pt x="28276" y="722526"/>
                </a:lnTo>
                <a:lnTo>
                  <a:pt x="18242" y="767398"/>
                </a:lnTo>
                <a:lnTo>
                  <a:pt x="10343" y="813038"/>
                </a:lnTo>
                <a:lnTo>
                  <a:pt x="4633" y="859392"/>
                </a:lnTo>
                <a:lnTo>
                  <a:pt x="1167" y="906406"/>
                </a:lnTo>
                <a:lnTo>
                  <a:pt x="0" y="954024"/>
                </a:lnTo>
                <a:lnTo>
                  <a:pt x="1167" y="1001641"/>
                </a:lnTo>
                <a:lnTo>
                  <a:pt x="4633" y="1048655"/>
                </a:lnTo>
                <a:lnTo>
                  <a:pt x="10343" y="1095009"/>
                </a:lnTo>
                <a:lnTo>
                  <a:pt x="18242" y="1140649"/>
                </a:lnTo>
                <a:lnTo>
                  <a:pt x="28276" y="1185521"/>
                </a:lnTo>
                <a:lnTo>
                  <a:pt x="40390" y="1229569"/>
                </a:lnTo>
                <a:lnTo>
                  <a:pt x="54529" y="1272740"/>
                </a:lnTo>
                <a:lnTo>
                  <a:pt x="70638" y="1314978"/>
                </a:lnTo>
                <a:lnTo>
                  <a:pt x="88664" y="1356229"/>
                </a:lnTo>
                <a:lnTo>
                  <a:pt x="108551" y="1396438"/>
                </a:lnTo>
                <a:lnTo>
                  <a:pt x="130245" y="1435551"/>
                </a:lnTo>
                <a:lnTo>
                  <a:pt x="153691" y="1473513"/>
                </a:lnTo>
                <a:lnTo>
                  <a:pt x="178835" y="1510269"/>
                </a:lnTo>
                <a:lnTo>
                  <a:pt x="205621" y="1545765"/>
                </a:lnTo>
                <a:lnTo>
                  <a:pt x="233995" y="1579946"/>
                </a:lnTo>
                <a:lnTo>
                  <a:pt x="263903" y="1612757"/>
                </a:lnTo>
                <a:lnTo>
                  <a:pt x="295290" y="1644144"/>
                </a:lnTo>
                <a:lnTo>
                  <a:pt x="328101" y="1674052"/>
                </a:lnTo>
                <a:lnTo>
                  <a:pt x="362282" y="1702426"/>
                </a:lnTo>
                <a:lnTo>
                  <a:pt x="397778" y="1729212"/>
                </a:lnTo>
                <a:lnTo>
                  <a:pt x="434534" y="1754356"/>
                </a:lnTo>
                <a:lnTo>
                  <a:pt x="472496" y="1777802"/>
                </a:lnTo>
                <a:lnTo>
                  <a:pt x="511609" y="1799496"/>
                </a:lnTo>
                <a:lnTo>
                  <a:pt x="551818" y="1819383"/>
                </a:lnTo>
                <a:lnTo>
                  <a:pt x="593069" y="1837409"/>
                </a:lnTo>
                <a:lnTo>
                  <a:pt x="635307" y="1853518"/>
                </a:lnTo>
                <a:lnTo>
                  <a:pt x="678478" y="1867657"/>
                </a:lnTo>
                <a:lnTo>
                  <a:pt x="722526" y="1879771"/>
                </a:lnTo>
                <a:lnTo>
                  <a:pt x="767398" y="1889805"/>
                </a:lnTo>
                <a:lnTo>
                  <a:pt x="813038" y="1897704"/>
                </a:lnTo>
                <a:lnTo>
                  <a:pt x="859392" y="1903414"/>
                </a:lnTo>
                <a:lnTo>
                  <a:pt x="906406" y="1906880"/>
                </a:lnTo>
                <a:lnTo>
                  <a:pt x="954024" y="1908048"/>
                </a:lnTo>
                <a:lnTo>
                  <a:pt x="1001641" y="1906880"/>
                </a:lnTo>
                <a:lnTo>
                  <a:pt x="1048655" y="1903414"/>
                </a:lnTo>
                <a:lnTo>
                  <a:pt x="1095009" y="1897704"/>
                </a:lnTo>
                <a:lnTo>
                  <a:pt x="1140649" y="1889805"/>
                </a:lnTo>
                <a:lnTo>
                  <a:pt x="1185521" y="1879771"/>
                </a:lnTo>
                <a:lnTo>
                  <a:pt x="1229569" y="1867657"/>
                </a:lnTo>
                <a:lnTo>
                  <a:pt x="1272740" y="1853518"/>
                </a:lnTo>
                <a:lnTo>
                  <a:pt x="1314978" y="1837409"/>
                </a:lnTo>
                <a:lnTo>
                  <a:pt x="1356229" y="1819383"/>
                </a:lnTo>
                <a:lnTo>
                  <a:pt x="1396438" y="1799496"/>
                </a:lnTo>
                <a:lnTo>
                  <a:pt x="1435551" y="1777802"/>
                </a:lnTo>
                <a:lnTo>
                  <a:pt x="1473513" y="1754356"/>
                </a:lnTo>
                <a:lnTo>
                  <a:pt x="1510269" y="1729212"/>
                </a:lnTo>
                <a:lnTo>
                  <a:pt x="1545765" y="1702426"/>
                </a:lnTo>
                <a:lnTo>
                  <a:pt x="1579946" y="1674052"/>
                </a:lnTo>
                <a:lnTo>
                  <a:pt x="1612757" y="1644144"/>
                </a:lnTo>
                <a:lnTo>
                  <a:pt x="1644144" y="1612757"/>
                </a:lnTo>
                <a:lnTo>
                  <a:pt x="1674052" y="1579946"/>
                </a:lnTo>
                <a:lnTo>
                  <a:pt x="1702426" y="1545765"/>
                </a:lnTo>
                <a:lnTo>
                  <a:pt x="1729212" y="1510269"/>
                </a:lnTo>
                <a:lnTo>
                  <a:pt x="1754356" y="1473513"/>
                </a:lnTo>
                <a:lnTo>
                  <a:pt x="1777802" y="1435551"/>
                </a:lnTo>
                <a:lnTo>
                  <a:pt x="1799496" y="1396438"/>
                </a:lnTo>
                <a:lnTo>
                  <a:pt x="1819383" y="1356229"/>
                </a:lnTo>
                <a:lnTo>
                  <a:pt x="1837409" y="1314978"/>
                </a:lnTo>
                <a:lnTo>
                  <a:pt x="1853518" y="1272740"/>
                </a:lnTo>
                <a:lnTo>
                  <a:pt x="1867657" y="1229569"/>
                </a:lnTo>
                <a:lnTo>
                  <a:pt x="1879771" y="1185521"/>
                </a:lnTo>
                <a:lnTo>
                  <a:pt x="1889805" y="1140649"/>
                </a:lnTo>
                <a:lnTo>
                  <a:pt x="1897704" y="1095009"/>
                </a:lnTo>
                <a:lnTo>
                  <a:pt x="1903414" y="1048655"/>
                </a:lnTo>
                <a:lnTo>
                  <a:pt x="1906880" y="1001641"/>
                </a:lnTo>
                <a:lnTo>
                  <a:pt x="1908048" y="954024"/>
                </a:lnTo>
                <a:close/>
              </a:path>
            </a:pathLst>
          </a:custGeom>
          <a:ln w="6096">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object 26">
            <a:extLst>
              <a:ext uri="{FF2B5EF4-FFF2-40B4-BE49-F238E27FC236}">
                <a16:creationId xmlns:a16="http://schemas.microsoft.com/office/drawing/2014/main" id="{1F7FEE6C-6DD1-8509-1C8B-34C4DFEC3DFF}"/>
              </a:ext>
            </a:extLst>
          </p:cNvPr>
          <p:cNvSpPr/>
          <p:nvPr/>
        </p:nvSpPr>
        <p:spPr>
          <a:xfrm>
            <a:off x="5516788" y="3202765"/>
            <a:ext cx="841007" cy="997389"/>
          </a:xfrm>
          <a:custGeom>
            <a:avLst/>
            <a:gdLst/>
            <a:ahLst/>
            <a:cxnLst/>
            <a:rect l="l" t="t" r="r" b="b"/>
            <a:pathLst>
              <a:path w="1608454" h="1907539">
                <a:moveTo>
                  <a:pt x="929760" y="0"/>
                </a:moveTo>
                <a:lnTo>
                  <a:pt x="882672" y="2308"/>
                </a:lnTo>
                <a:lnTo>
                  <a:pt x="836189" y="6876"/>
                </a:lnTo>
                <a:lnTo>
                  <a:pt x="790365" y="13650"/>
                </a:lnTo>
                <a:lnTo>
                  <a:pt x="745257" y="22577"/>
                </a:lnTo>
                <a:lnTo>
                  <a:pt x="700921" y="33603"/>
                </a:lnTo>
                <a:lnTo>
                  <a:pt x="657412" y="46675"/>
                </a:lnTo>
                <a:lnTo>
                  <a:pt x="614787" y="61740"/>
                </a:lnTo>
                <a:lnTo>
                  <a:pt x="573101" y="78744"/>
                </a:lnTo>
                <a:lnTo>
                  <a:pt x="532411" y="97634"/>
                </a:lnTo>
                <a:lnTo>
                  <a:pt x="492773" y="118358"/>
                </a:lnTo>
                <a:lnTo>
                  <a:pt x="454241" y="140861"/>
                </a:lnTo>
                <a:lnTo>
                  <a:pt x="416874" y="165090"/>
                </a:lnTo>
                <a:lnTo>
                  <a:pt x="380725" y="190993"/>
                </a:lnTo>
                <a:lnTo>
                  <a:pt x="345852" y="218515"/>
                </a:lnTo>
                <a:lnTo>
                  <a:pt x="312310" y="247603"/>
                </a:lnTo>
                <a:lnTo>
                  <a:pt x="280156" y="278205"/>
                </a:lnTo>
                <a:lnTo>
                  <a:pt x="249444" y="310267"/>
                </a:lnTo>
                <a:lnTo>
                  <a:pt x="220232" y="343736"/>
                </a:lnTo>
                <a:lnTo>
                  <a:pt x="192575" y="378557"/>
                </a:lnTo>
                <a:lnTo>
                  <a:pt x="166528" y="414679"/>
                </a:lnTo>
                <a:lnTo>
                  <a:pt x="142149" y="452048"/>
                </a:lnTo>
                <a:lnTo>
                  <a:pt x="119493" y="490610"/>
                </a:lnTo>
                <a:lnTo>
                  <a:pt x="98615" y="530312"/>
                </a:lnTo>
                <a:lnTo>
                  <a:pt x="79573" y="571102"/>
                </a:lnTo>
                <a:lnTo>
                  <a:pt x="62421" y="612925"/>
                </a:lnTo>
                <a:lnTo>
                  <a:pt x="47216" y="655728"/>
                </a:lnTo>
                <a:lnTo>
                  <a:pt x="34014" y="699458"/>
                </a:lnTo>
                <a:lnTo>
                  <a:pt x="22871" y="744062"/>
                </a:lnTo>
                <a:lnTo>
                  <a:pt x="13842" y="789487"/>
                </a:lnTo>
                <a:lnTo>
                  <a:pt x="6984" y="835679"/>
                </a:lnTo>
                <a:lnTo>
                  <a:pt x="2352" y="882585"/>
                </a:lnTo>
                <a:lnTo>
                  <a:pt x="3" y="930151"/>
                </a:lnTo>
                <a:lnTo>
                  <a:pt x="0" y="977786"/>
                </a:lnTo>
                <a:lnTo>
                  <a:pt x="2308" y="1024874"/>
                </a:lnTo>
                <a:lnTo>
                  <a:pt x="6876" y="1071357"/>
                </a:lnTo>
                <a:lnTo>
                  <a:pt x="13650" y="1117181"/>
                </a:lnTo>
                <a:lnTo>
                  <a:pt x="22577" y="1162289"/>
                </a:lnTo>
                <a:lnTo>
                  <a:pt x="33603" y="1206626"/>
                </a:lnTo>
                <a:lnTo>
                  <a:pt x="46675" y="1250134"/>
                </a:lnTo>
                <a:lnTo>
                  <a:pt x="61740" y="1292760"/>
                </a:lnTo>
                <a:lnTo>
                  <a:pt x="78744" y="1334445"/>
                </a:lnTo>
                <a:lnTo>
                  <a:pt x="97634" y="1375135"/>
                </a:lnTo>
                <a:lnTo>
                  <a:pt x="118358" y="1414774"/>
                </a:lnTo>
                <a:lnTo>
                  <a:pt x="140861" y="1453305"/>
                </a:lnTo>
                <a:lnTo>
                  <a:pt x="165090" y="1490673"/>
                </a:lnTo>
                <a:lnTo>
                  <a:pt x="190993" y="1526821"/>
                </a:lnTo>
                <a:lnTo>
                  <a:pt x="218515" y="1561694"/>
                </a:lnTo>
                <a:lnTo>
                  <a:pt x="247603" y="1595236"/>
                </a:lnTo>
                <a:lnTo>
                  <a:pt x="278205" y="1627391"/>
                </a:lnTo>
                <a:lnTo>
                  <a:pt x="310267" y="1658102"/>
                </a:lnTo>
                <a:lnTo>
                  <a:pt x="343736" y="1687315"/>
                </a:lnTo>
                <a:lnTo>
                  <a:pt x="378557" y="1714972"/>
                </a:lnTo>
                <a:lnTo>
                  <a:pt x="414679" y="1741018"/>
                </a:lnTo>
                <a:lnTo>
                  <a:pt x="452048" y="1765397"/>
                </a:lnTo>
                <a:lnTo>
                  <a:pt x="490610" y="1788053"/>
                </a:lnTo>
                <a:lnTo>
                  <a:pt x="530312" y="1808931"/>
                </a:lnTo>
                <a:lnTo>
                  <a:pt x="571102" y="1827973"/>
                </a:lnTo>
                <a:lnTo>
                  <a:pt x="612925" y="1845125"/>
                </a:lnTo>
                <a:lnTo>
                  <a:pt x="655728" y="1860330"/>
                </a:lnTo>
                <a:lnTo>
                  <a:pt x="699458" y="1873532"/>
                </a:lnTo>
                <a:lnTo>
                  <a:pt x="744062" y="1884675"/>
                </a:lnTo>
                <a:lnTo>
                  <a:pt x="789487" y="1893704"/>
                </a:lnTo>
                <a:lnTo>
                  <a:pt x="835679" y="1900562"/>
                </a:lnTo>
                <a:lnTo>
                  <a:pt x="882585" y="1905194"/>
                </a:lnTo>
                <a:lnTo>
                  <a:pt x="930151" y="1907543"/>
                </a:lnTo>
                <a:lnTo>
                  <a:pt x="980324" y="1907466"/>
                </a:lnTo>
                <a:lnTo>
                  <a:pt x="1030196" y="1904770"/>
                </a:lnTo>
                <a:lnTo>
                  <a:pt x="1079674" y="1899491"/>
                </a:lnTo>
                <a:lnTo>
                  <a:pt x="1128662" y="1891666"/>
                </a:lnTo>
                <a:lnTo>
                  <a:pt x="1177067" y="1881329"/>
                </a:lnTo>
                <a:lnTo>
                  <a:pt x="1224795" y="1868519"/>
                </a:lnTo>
                <a:lnTo>
                  <a:pt x="1271752" y="1853269"/>
                </a:lnTo>
                <a:lnTo>
                  <a:pt x="1317842" y="1835618"/>
                </a:lnTo>
                <a:lnTo>
                  <a:pt x="1362973" y="1815600"/>
                </a:lnTo>
                <a:lnTo>
                  <a:pt x="1407050" y="1793253"/>
                </a:lnTo>
                <a:lnTo>
                  <a:pt x="1449979" y="1768611"/>
                </a:lnTo>
                <a:lnTo>
                  <a:pt x="1491666" y="1741712"/>
                </a:lnTo>
                <a:lnTo>
                  <a:pt x="1532016" y="1712591"/>
                </a:lnTo>
                <a:lnTo>
                  <a:pt x="1570936" y="1681284"/>
                </a:lnTo>
                <a:lnTo>
                  <a:pt x="1608331" y="1647828"/>
                </a:lnTo>
                <a:lnTo>
                  <a:pt x="953773" y="953773"/>
                </a:lnTo>
                <a:lnTo>
                  <a:pt x="977395" y="3"/>
                </a:lnTo>
                <a:lnTo>
                  <a:pt x="929760" y="0"/>
                </a:lnTo>
                <a:close/>
              </a:path>
            </a:pathLst>
          </a:custGeom>
          <a:solidFill>
            <a:srgbClr val="001F3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object 27">
            <a:extLst>
              <a:ext uri="{FF2B5EF4-FFF2-40B4-BE49-F238E27FC236}">
                <a16:creationId xmlns:a16="http://schemas.microsoft.com/office/drawing/2014/main" id="{36D974B0-B3DD-B4B2-37FA-D113C8645B39}"/>
              </a:ext>
            </a:extLst>
          </p:cNvPr>
          <p:cNvSpPr/>
          <p:nvPr/>
        </p:nvSpPr>
        <p:spPr>
          <a:xfrm>
            <a:off x="5468049" y="3151636"/>
            <a:ext cx="1087698" cy="1087699"/>
          </a:xfrm>
          <a:prstGeom prst="rect">
            <a:avLst/>
          </a:prstGeom>
          <a:blipFill>
            <a:blip r:embed="rId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28">
            <a:extLst>
              <a:ext uri="{FF2B5EF4-FFF2-40B4-BE49-F238E27FC236}">
                <a16:creationId xmlns:a16="http://schemas.microsoft.com/office/drawing/2014/main" id="{6E674C6F-AC8A-F9AA-EDC4-AC4CA1476B51}"/>
              </a:ext>
            </a:extLst>
          </p:cNvPr>
          <p:cNvSpPr/>
          <p:nvPr/>
        </p:nvSpPr>
        <p:spPr>
          <a:xfrm>
            <a:off x="5514267" y="3197852"/>
            <a:ext cx="997654" cy="997654"/>
          </a:xfrm>
          <a:prstGeom prst="rect">
            <a:avLst/>
          </a:prstGeom>
          <a:blipFill>
            <a:blip r:embed="rId9"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object 29">
            <a:extLst>
              <a:ext uri="{FF2B5EF4-FFF2-40B4-BE49-F238E27FC236}">
                <a16:creationId xmlns:a16="http://schemas.microsoft.com/office/drawing/2014/main" id="{ACB56FC0-9EAD-D5A9-CBE5-C825ADA20D86}"/>
              </a:ext>
            </a:extLst>
          </p:cNvPr>
          <p:cNvSpPr/>
          <p:nvPr/>
        </p:nvSpPr>
        <p:spPr>
          <a:xfrm>
            <a:off x="5514267" y="3197852"/>
            <a:ext cx="997721" cy="997721"/>
          </a:xfrm>
          <a:custGeom>
            <a:avLst/>
            <a:gdLst/>
            <a:ahLst/>
            <a:cxnLst/>
            <a:rect l="l" t="t" r="r" b="b"/>
            <a:pathLst>
              <a:path w="1908175" h="1908175">
                <a:moveTo>
                  <a:pt x="1908047" y="954024"/>
                </a:moveTo>
                <a:lnTo>
                  <a:pt x="1906880" y="906406"/>
                </a:lnTo>
                <a:lnTo>
                  <a:pt x="1903414" y="859392"/>
                </a:lnTo>
                <a:lnTo>
                  <a:pt x="1897704" y="813038"/>
                </a:lnTo>
                <a:lnTo>
                  <a:pt x="1889805" y="767398"/>
                </a:lnTo>
                <a:lnTo>
                  <a:pt x="1879771" y="722526"/>
                </a:lnTo>
                <a:lnTo>
                  <a:pt x="1867657" y="678478"/>
                </a:lnTo>
                <a:lnTo>
                  <a:pt x="1853518" y="635307"/>
                </a:lnTo>
                <a:lnTo>
                  <a:pt x="1837409" y="593069"/>
                </a:lnTo>
                <a:lnTo>
                  <a:pt x="1819383" y="551818"/>
                </a:lnTo>
                <a:lnTo>
                  <a:pt x="1799496" y="511609"/>
                </a:lnTo>
                <a:lnTo>
                  <a:pt x="1777802" y="472496"/>
                </a:lnTo>
                <a:lnTo>
                  <a:pt x="1754356" y="434534"/>
                </a:lnTo>
                <a:lnTo>
                  <a:pt x="1729212" y="397778"/>
                </a:lnTo>
                <a:lnTo>
                  <a:pt x="1702426" y="362282"/>
                </a:lnTo>
                <a:lnTo>
                  <a:pt x="1674052" y="328101"/>
                </a:lnTo>
                <a:lnTo>
                  <a:pt x="1644144" y="295290"/>
                </a:lnTo>
                <a:lnTo>
                  <a:pt x="1612757" y="263903"/>
                </a:lnTo>
                <a:lnTo>
                  <a:pt x="1579946" y="233995"/>
                </a:lnTo>
                <a:lnTo>
                  <a:pt x="1545765" y="205621"/>
                </a:lnTo>
                <a:lnTo>
                  <a:pt x="1510269" y="178835"/>
                </a:lnTo>
                <a:lnTo>
                  <a:pt x="1473513" y="153691"/>
                </a:lnTo>
                <a:lnTo>
                  <a:pt x="1435551" y="130245"/>
                </a:lnTo>
                <a:lnTo>
                  <a:pt x="1396438" y="108551"/>
                </a:lnTo>
                <a:lnTo>
                  <a:pt x="1356229" y="88664"/>
                </a:lnTo>
                <a:lnTo>
                  <a:pt x="1314978" y="70638"/>
                </a:lnTo>
                <a:lnTo>
                  <a:pt x="1272740" y="54529"/>
                </a:lnTo>
                <a:lnTo>
                  <a:pt x="1229569" y="40390"/>
                </a:lnTo>
                <a:lnTo>
                  <a:pt x="1185521" y="28276"/>
                </a:lnTo>
                <a:lnTo>
                  <a:pt x="1140649" y="18242"/>
                </a:lnTo>
                <a:lnTo>
                  <a:pt x="1095009" y="10343"/>
                </a:lnTo>
                <a:lnTo>
                  <a:pt x="1048655" y="4633"/>
                </a:lnTo>
                <a:lnTo>
                  <a:pt x="1001641" y="1167"/>
                </a:lnTo>
                <a:lnTo>
                  <a:pt x="954024" y="0"/>
                </a:lnTo>
                <a:lnTo>
                  <a:pt x="906406" y="1167"/>
                </a:lnTo>
                <a:lnTo>
                  <a:pt x="859392" y="4633"/>
                </a:lnTo>
                <a:lnTo>
                  <a:pt x="813038" y="10343"/>
                </a:lnTo>
                <a:lnTo>
                  <a:pt x="767398" y="18242"/>
                </a:lnTo>
                <a:lnTo>
                  <a:pt x="722526" y="28276"/>
                </a:lnTo>
                <a:lnTo>
                  <a:pt x="678478" y="40390"/>
                </a:lnTo>
                <a:lnTo>
                  <a:pt x="635307" y="54529"/>
                </a:lnTo>
                <a:lnTo>
                  <a:pt x="593069" y="70638"/>
                </a:lnTo>
                <a:lnTo>
                  <a:pt x="551818" y="88664"/>
                </a:lnTo>
                <a:lnTo>
                  <a:pt x="511609" y="108551"/>
                </a:lnTo>
                <a:lnTo>
                  <a:pt x="472496" y="130245"/>
                </a:lnTo>
                <a:lnTo>
                  <a:pt x="434534" y="153691"/>
                </a:lnTo>
                <a:lnTo>
                  <a:pt x="397778" y="178835"/>
                </a:lnTo>
                <a:lnTo>
                  <a:pt x="362282" y="205621"/>
                </a:lnTo>
                <a:lnTo>
                  <a:pt x="328101" y="233995"/>
                </a:lnTo>
                <a:lnTo>
                  <a:pt x="295290" y="263903"/>
                </a:lnTo>
                <a:lnTo>
                  <a:pt x="263903" y="295290"/>
                </a:lnTo>
                <a:lnTo>
                  <a:pt x="233995" y="328101"/>
                </a:lnTo>
                <a:lnTo>
                  <a:pt x="205621" y="362282"/>
                </a:lnTo>
                <a:lnTo>
                  <a:pt x="178835" y="397778"/>
                </a:lnTo>
                <a:lnTo>
                  <a:pt x="153691" y="434534"/>
                </a:lnTo>
                <a:lnTo>
                  <a:pt x="130245" y="472496"/>
                </a:lnTo>
                <a:lnTo>
                  <a:pt x="108551" y="511609"/>
                </a:lnTo>
                <a:lnTo>
                  <a:pt x="88664" y="551818"/>
                </a:lnTo>
                <a:lnTo>
                  <a:pt x="70638" y="593069"/>
                </a:lnTo>
                <a:lnTo>
                  <a:pt x="54529" y="635307"/>
                </a:lnTo>
                <a:lnTo>
                  <a:pt x="40390" y="678478"/>
                </a:lnTo>
                <a:lnTo>
                  <a:pt x="28276" y="722526"/>
                </a:lnTo>
                <a:lnTo>
                  <a:pt x="18242" y="767398"/>
                </a:lnTo>
                <a:lnTo>
                  <a:pt x="10343" y="813038"/>
                </a:lnTo>
                <a:lnTo>
                  <a:pt x="4633" y="859392"/>
                </a:lnTo>
                <a:lnTo>
                  <a:pt x="1167" y="906406"/>
                </a:lnTo>
                <a:lnTo>
                  <a:pt x="0" y="954024"/>
                </a:lnTo>
                <a:lnTo>
                  <a:pt x="1167" y="1001641"/>
                </a:lnTo>
                <a:lnTo>
                  <a:pt x="4633" y="1048655"/>
                </a:lnTo>
                <a:lnTo>
                  <a:pt x="10343" y="1095009"/>
                </a:lnTo>
                <a:lnTo>
                  <a:pt x="18242" y="1140649"/>
                </a:lnTo>
                <a:lnTo>
                  <a:pt x="28276" y="1185521"/>
                </a:lnTo>
                <a:lnTo>
                  <a:pt x="40390" y="1229569"/>
                </a:lnTo>
                <a:lnTo>
                  <a:pt x="54529" y="1272740"/>
                </a:lnTo>
                <a:lnTo>
                  <a:pt x="70638" y="1314978"/>
                </a:lnTo>
                <a:lnTo>
                  <a:pt x="88664" y="1356229"/>
                </a:lnTo>
                <a:lnTo>
                  <a:pt x="108551" y="1396438"/>
                </a:lnTo>
                <a:lnTo>
                  <a:pt x="130245" y="1435551"/>
                </a:lnTo>
                <a:lnTo>
                  <a:pt x="153691" y="1473513"/>
                </a:lnTo>
                <a:lnTo>
                  <a:pt x="178835" y="1510269"/>
                </a:lnTo>
                <a:lnTo>
                  <a:pt x="205621" y="1545765"/>
                </a:lnTo>
                <a:lnTo>
                  <a:pt x="233995" y="1579946"/>
                </a:lnTo>
                <a:lnTo>
                  <a:pt x="263903" y="1612757"/>
                </a:lnTo>
                <a:lnTo>
                  <a:pt x="295290" y="1644144"/>
                </a:lnTo>
                <a:lnTo>
                  <a:pt x="328101" y="1674052"/>
                </a:lnTo>
                <a:lnTo>
                  <a:pt x="362282" y="1702426"/>
                </a:lnTo>
                <a:lnTo>
                  <a:pt x="397778" y="1729212"/>
                </a:lnTo>
                <a:lnTo>
                  <a:pt x="434534" y="1754356"/>
                </a:lnTo>
                <a:lnTo>
                  <a:pt x="472496" y="1777802"/>
                </a:lnTo>
                <a:lnTo>
                  <a:pt x="511609" y="1799496"/>
                </a:lnTo>
                <a:lnTo>
                  <a:pt x="551818" y="1819383"/>
                </a:lnTo>
                <a:lnTo>
                  <a:pt x="593069" y="1837409"/>
                </a:lnTo>
                <a:lnTo>
                  <a:pt x="635307" y="1853518"/>
                </a:lnTo>
                <a:lnTo>
                  <a:pt x="678478" y="1867657"/>
                </a:lnTo>
                <a:lnTo>
                  <a:pt x="722526" y="1879771"/>
                </a:lnTo>
                <a:lnTo>
                  <a:pt x="767398" y="1889805"/>
                </a:lnTo>
                <a:lnTo>
                  <a:pt x="813038" y="1897704"/>
                </a:lnTo>
                <a:lnTo>
                  <a:pt x="859392" y="1903414"/>
                </a:lnTo>
                <a:lnTo>
                  <a:pt x="906406" y="1906880"/>
                </a:lnTo>
                <a:lnTo>
                  <a:pt x="954024" y="1908047"/>
                </a:lnTo>
                <a:lnTo>
                  <a:pt x="1001641" y="1906880"/>
                </a:lnTo>
                <a:lnTo>
                  <a:pt x="1048655" y="1903414"/>
                </a:lnTo>
                <a:lnTo>
                  <a:pt x="1095009" y="1897704"/>
                </a:lnTo>
                <a:lnTo>
                  <a:pt x="1140649" y="1889805"/>
                </a:lnTo>
                <a:lnTo>
                  <a:pt x="1185521" y="1879771"/>
                </a:lnTo>
                <a:lnTo>
                  <a:pt x="1229569" y="1867657"/>
                </a:lnTo>
                <a:lnTo>
                  <a:pt x="1272740" y="1853518"/>
                </a:lnTo>
                <a:lnTo>
                  <a:pt x="1314978" y="1837409"/>
                </a:lnTo>
                <a:lnTo>
                  <a:pt x="1356229" y="1819383"/>
                </a:lnTo>
                <a:lnTo>
                  <a:pt x="1396438" y="1799496"/>
                </a:lnTo>
                <a:lnTo>
                  <a:pt x="1435551" y="1777802"/>
                </a:lnTo>
                <a:lnTo>
                  <a:pt x="1473513" y="1754356"/>
                </a:lnTo>
                <a:lnTo>
                  <a:pt x="1510269" y="1729212"/>
                </a:lnTo>
                <a:lnTo>
                  <a:pt x="1545765" y="1702426"/>
                </a:lnTo>
                <a:lnTo>
                  <a:pt x="1579946" y="1674052"/>
                </a:lnTo>
                <a:lnTo>
                  <a:pt x="1612757" y="1644144"/>
                </a:lnTo>
                <a:lnTo>
                  <a:pt x="1644144" y="1612757"/>
                </a:lnTo>
                <a:lnTo>
                  <a:pt x="1674052" y="1579946"/>
                </a:lnTo>
                <a:lnTo>
                  <a:pt x="1702426" y="1545765"/>
                </a:lnTo>
                <a:lnTo>
                  <a:pt x="1729212" y="1510269"/>
                </a:lnTo>
                <a:lnTo>
                  <a:pt x="1754356" y="1473513"/>
                </a:lnTo>
                <a:lnTo>
                  <a:pt x="1777802" y="1435551"/>
                </a:lnTo>
                <a:lnTo>
                  <a:pt x="1799496" y="1396438"/>
                </a:lnTo>
                <a:lnTo>
                  <a:pt x="1819383" y="1356229"/>
                </a:lnTo>
                <a:lnTo>
                  <a:pt x="1837409" y="1314978"/>
                </a:lnTo>
                <a:lnTo>
                  <a:pt x="1853518" y="1272740"/>
                </a:lnTo>
                <a:lnTo>
                  <a:pt x="1867657" y="1229569"/>
                </a:lnTo>
                <a:lnTo>
                  <a:pt x="1879771" y="1185521"/>
                </a:lnTo>
                <a:lnTo>
                  <a:pt x="1889805" y="1140649"/>
                </a:lnTo>
                <a:lnTo>
                  <a:pt x="1897704" y="1095009"/>
                </a:lnTo>
                <a:lnTo>
                  <a:pt x="1903414" y="1048655"/>
                </a:lnTo>
                <a:lnTo>
                  <a:pt x="1906880" y="1001641"/>
                </a:lnTo>
                <a:lnTo>
                  <a:pt x="1908047" y="954024"/>
                </a:lnTo>
                <a:close/>
              </a:path>
            </a:pathLst>
          </a:custGeom>
          <a:ln w="6096">
            <a:solidFill>
              <a:srgbClr val="AFC9E2"/>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object 33">
            <a:extLst>
              <a:ext uri="{FF2B5EF4-FFF2-40B4-BE49-F238E27FC236}">
                <a16:creationId xmlns:a16="http://schemas.microsoft.com/office/drawing/2014/main" id="{82122E8D-C4B4-307B-5D6A-7E7C29ED052C}"/>
              </a:ext>
            </a:extLst>
          </p:cNvPr>
          <p:cNvSpPr txBox="1"/>
          <p:nvPr/>
        </p:nvSpPr>
        <p:spPr>
          <a:xfrm>
            <a:off x="5579138" y="3398842"/>
            <a:ext cx="887980" cy="521297"/>
          </a:xfrm>
          <a:prstGeom prst="rect">
            <a:avLst/>
          </a:prstGeom>
        </p:spPr>
        <p:txBody>
          <a:bodyPr vert="horz" wrap="square" lIns="0" tIns="13335" rIns="0" bIns="0" rtlCol="0">
            <a:spAutoFit/>
          </a:bodyPr>
          <a:lstStyle/>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sz="1100" b="1" i="0" u="none" strike="noStrike" kern="1200" cap="none" spc="0" normalizeH="0" baseline="0" noProof="0">
                <a:ln>
                  <a:noFill/>
                </a:ln>
                <a:solidFill>
                  <a:srgbClr val="00184B"/>
                </a:solidFill>
                <a:effectLst/>
                <a:uLnTx/>
                <a:uFillTx/>
                <a:latin typeface="Eurobank Sans"/>
                <a:ea typeface="+mn-ea"/>
                <a:cs typeface="Eurobank Sans"/>
              </a:rPr>
              <a:t>Con</a:t>
            </a:r>
            <a:r>
              <a:rPr kumimoji="0" sz="1100" b="1" i="0" u="none" strike="noStrike" kern="1200" cap="none" spc="-10" normalizeH="0" baseline="0" noProof="0">
                <a:ln>
                  <a:noFill/>
                </a:ln>
                <a:solidFill>
                  <a:srgbClr val="00184B"/>
                </a:solidFill>
                <a:effectLst/>
                <a:uLnTx/>
                <a:uFillTx/>
                <a:latin typeface="Eurobank Sans"/>
                <a:ea typeface="+mn-ea"/>
                <a:cs typeface="Eurobank Sans"/>
              </a:rPr>
              <a:t>s</a:t>
            </a:r>
            <a:r>
              <a:rPr kumimoji="0" sz="1100" b="1" i="0" u="none" strike="noStrike" kern="1200" cap="none" spc="0" normalizeH="0" baseline="0" noProof="0">
                <a:ln>
                  <a:noFill/>
                </a:ln>
                <a:solidFill>
                  <a:srgbClr val="00184B"/>
                </a:solidFill>
                <a:effectLst/>
                <a:uLnTx/>
                <a:uFillTx/>
                <a:latin typeface="Eurobank Sans"/>
                <a:ea typeface="+mn-ea"/>
                <a:cs typeface="Eurobank Sans"/>
              </a:rPr>
              <a:t>u</a:t>
            </a:r>
            <a:r>
              <a:rPr kumimoji="0" sz="1100" b="1" i="0" u="none" strike="noStrike" kern="1200" cap="none" spc="-45" normalizeH="0" baseline="0" noProof="0">
                <a:ln>
                  <a:noFill/>
                </a:ln>
                <a:solidFill>
                  <a:srgbClr val="00184B"/>
                </a:solidFill>
                <a:effectLst/>
                <a:uLnTx/>
                <a:uFillTx/>
                <a:latin typeface="Eurobank Sans"/>
                <a:ea typeface="+mn-ea"/>
                <a:cs typeface="Eurobank Sans"/>
              </a:rPr>
              <a:t>m</a:t>
            </a:r>
            <a:r>
              <a:rPr kumimoji="0" sz="1100" b="1" i="0" u="none" strike="noStrike" kern="1200" cap="none" spc="0" normalizeH="0" baseline="0" noProof="0">
                <a:ln>
                  <a:noFill/>
                </a:ln>
                <a:solidFill>
                  <a:srgbClr val="00184B"/>
                </a:solidFill>
                <a:effectLst/>
                <a:uLnTx/>
                <a:uFillTx/>
                <a:latin typeface="Eurobank Sans"/>
                <a:ea typeface="+mn-ea"/>
                <a:cs typeface="Eurobank Sans"/>
              </a:rPr>
              <a:t>er  </a:t>
            </a:r>
            <a:r>
              <a:rPr kumimoji="0" lang="en-US" sz="1100" b="1" i="0" u="none" strike="noStrike" kern="1200" cap="none" spc="-5" normalizeH="0" baseline="0" noProof="0">
                <a:ln>
                  <a:noFill/>
                </a:ln>
                <a:solidFill>
                  <a:srgbClr val="00184B"/>
                </a:solidFill>
                <a:effectLst/>
                <a:uLnTx/>
                <a:uFillTx/>
                <a:latin typeface="Eurobank Sans"/>
                <a:ea typeface="+mn-ea"/>
                <a:cs typeface="Eurobank Sans"/>
              </a:rPr>
              <a:t>Lending</a:t>
            </a:r>
            <a:r>
              <a:rPr kumimoji="0" sz="1100" b="1" i="0" u="none" strike="noStrike" kern="1200" cap="none" spc="-5" normalizeH="0" baseline="0" noProof="0">
                <a:ln>
                  <a:noFill/>
                </a:ln>
                <a:solidFill>
                  <a:srgbClr val="00184B"/>
                </a:solidFill>
                <a:effectLst/>
                <a:uLnTx/>
                <a:uFillTx/>
                <a:latin typeface="Eurobank Sans"/>
                <a:ea typeface="+mn-ea"/>
                <a:cs typeface="Eurobank Sans"/>
              </a:rPr>
              <a:t>  </a:t>
            </a:r>
            <a:r>
              <a:rPr kumimoji="0" sz="1100" b="1" i="0" u="none" strike="noStrike" kern="1200" cap="none" spc="-25" normalizeH="0" baseline="0" noProof="0">
                <a:ln>
                  <a:noFill/>
                </a:ln>
                <a:solidFill>
                  <a:srgbClr val="00184B"/>
                </a:solidFill>
                <a:effectLst/>
                <a:uLnTx/>
                <a:uFillTx/>
                <a:latin typeface="Eurobank Sans"/>
                <a:ea typeface="+mn-ea"/>
                <a:cs typeface="Eurobank Sans"/>
              </a:rPr>
              <a:t>Growth</a:t>
            </a:r>
            <a:endParaRPr kumimoji="0" sz="11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48" name="object 36">
            <a:extLst>
              <a:ext uri="{FF2B5EF4-FFF2-40B4-BE49-F238E27FC236}">
                <a16:creationId xmlns:a16="http://schemas.microsoft.com/office/drawing/2014/main" id="{25B5CFF4-F066-08DC-1EEF-6D797428A669}"/>
              </a:ext>
            </a:extLst>
          </p:cNvPr>
          <p:cNvSpPr/>
          <p:nvPr/>
        </p:nvSpPr>
        <p:spPr>
          <a:xfrm>
            <a:off x="2232693" y="4075184"/>
            <a:ext cx="2127585" cy="503609"/>
          </a:xfrm>
          <a:prstGeom prst="roundRect">
            <a:avLst/>
          </a:prstGeom>
          <a:solidFill>
            <a:srgbClr val="002846"/>
          </a:solidFill>
          <a:effectLst/>
        </p:spPr>
        <p:txBody>
          <a:bodyPr wrap="square" lIns="72000" tIns="36000" rIns="72000" bIns="3600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Calibri"/>
                <a:ea typeface="+mn-ea"/>
                <a:cs typeface="+mn-cs"/>
              </a:rPr>
              <a:t>Commercial Plan:</a:t>
            </a:r>
            <a:r>
              <a:rPr kumimoji="0" lang="en-US" sz="1100" b="0" i="0" u="none" strike="noStrike" kern="1200" cap="none" spc="0" normalizeH="0" baseline="0" noProof="0">
                <a:ln>
                  <a:noFill/>
                </a:ln>
                <a:solidFill>
                  <a:prstClr val="white"/>
                </a:solidFill>
                <a:effectLst/>
                <a:uLnTx/>
                <a:uFillTx/>
                <a:latin typeface="Calibri"/>
                <a:ea typeface="+mn-ea"/>
                <a:cs typeface="+mn-cs"/>
              </a:rPr>
              <a:t> Always on, Real Time &amp;  Personalization</a:t>
            </a:r>
          </a:p>
        </p:txBody>
      </p:sp>
      <p:sp>
        <p:nvSpPr>
          <p:cNvPr id="50" name="object 22">
            <a:extLst>
              <a:ext uri="{FF2B5EF4-FFF2-40B4-BE49-F238E27FC236}">
                <a16:creationId xmlns:a16="http://schemas.microsoft.com/office/drawing/2014/main" id="{7FE9DB0A-8B5C-73A4-BD2D-06EAEA5B58BB}"/>
              </a:ext>
            </a:extLst>
          </p:cNvPr>
          <p:cNvSpPr txBox="1"/>
          <p:nvPr/>
        </p:nvSpPr>
        <p:spPr>
          <a:xfrm>
            <a:off x="-3905" y="2195711"/>
            <a:ext cx="9147905" cy="198131"/>
          </a:xfrm>
          <a:prstGeom prst="rect">
            <a:avLst/>
          </a:prstGeom>
        </p:spPr>
        <p:txBody>
          <a:bodyPr vert="horz" wrap="square" lIns="0" tIns="13335" rIns="0" bIns="0" rtlCol="0">
            <a:spAutoFit/>
          </a:bodyPr>
          <a:lstStyle/>
          <a:p>
            <a:pPr marL="12700" marR="0" lvl="0" indent="0" algn="ctr"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1200" cap="none" spc="0" normalizeH="0" baseline="0" noProof="0">
                <a:ln>
                  <a:noFill/>
                </a:ln>
                <a:solidFill>
                  <a:srgbClr val="00184B"/>
                </a:solidFill>
                <a:effectLst/>
                <a:uLnTx/>
                <a:uFillTx/>
                <a:latin typeface="Eurobank Sans"/>
                <a:ea typeface="+mn-ea"/>
                <a:cs typeface="Eurobank Sans"/>
              </a:rPr>
              <a:t>Retain Market Leadership position &amp; drive market growth via continuous innovation and portfolio leverage  </a:t>
            </a:r>
            <a:endParaRPr kumimoji="0" sz="12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2" name="Rectangle: Rounded Corners 1">
            <a:extLst>
              <a:ext uri="{FF2B5EF4-FFF2-40B4-BE49-F238E27FC236}">
                <a16:creationId xmlns:a16="http://schemas.microsoft.com/office/drawing/2014/main" id="{1FB89E86-837A-006F-DDA5-C0C09A04E9C0}"/>
              </a:ext>
            </a:extLst>
          </p:cNvPr>
          <p:cNvSpPr/>
          <p:nvPr/>
        </p:nvSpPr>
        <p:spPr>
          <a:xfrm>
            <a:off x="2855494" y="750481"/>
            <a:ext cx="5718965" cy="1242888"/>
          </a:xfrm>
          <a:prstGeom prst="roundRect">
            <a:avLst>
              <a:gd name="adj" fmla="val 8013"/>
            </a:avLst>
          </a:prstGeom>
          <a:solidFill>
            <a:srgbClr val="11366B"/>
          </a:solidFill>
          <a:ln w="19050">
            <a:solidFill>
              <a:srgbClr val="021343"/>
            </a:solidFill>
          </a:ln>
        </p:spPr>
        <p:style>
          <a:lnRef idx="1">
            <a:schemeClr val="accent5"/>
          </a:lnRef>
          <a:fillRef idx="2">
            <a:schemeClr val="accent5"/>
          </a:fillRef>
          <a:effectRef idx="1">
            <a:schemeClr val="accent5"/>
          </a:effectRef>
          <a:fontRef idx="minor">
            <a:schemeClr val="dk1"/>
          </a:fontRef>
        </p:style>
        <p:txBody>
          <a:bodyPr lIns="65837" tIns="0" rIns="65837" bIns="0" rtlCol="0" anchor="t"/>
          <a:lstStyle/>
          <a:p>
            <a:pPr algn="ctr" defTabSz="822960">
              <a:defRPr/>
            </a:pPr>
            <a:r>
              <a:rPr lang="en-US" sz="900" b="1" kern="0" dirty="0">
                <a:solidFill>
                  <a:schemeClr val="bg1"/>
                </a:solidFill>
                <a:latin typeface="Eurobank Sans"/>
              </a:rPr>
              <a:t>Consumer Loans</a:t>
            </a:r>
          </a:p>
          <a:p>
            <a:pPr marL="214313" indent="-214313" algn="just" defTabSz="822960">
              <a:spcBef>
                <a:spcPts val="150"/>
              </a:spcBef>
              <a:buFont typeface="Wingdings" panose="05000000000000000000" pitchFamily="2" charset="2"/>
              <a:buChar char="§"/>
              <a:defRPr/>
            </a:pPr>
            <a:r>
              <a:rPr lang="en-US" sz="825" b="1" kern="0" dirty="0">
                <a:solidFill>
                  <a:schemeClr val="bg1"/>
                </a:solidFill>
                <a:latin typeface="Eurobank Sans"/>
              </a:rPr>
              <a:t>Strong market position</a:t>
            </a:r>
            <a:r>
              <a:rPr lang="en-US" sz="825" kern="0" dirty="0">
                <a:solidFill>
                  <a:schemeClr val="bg1"/>
                </a:solidFill>
                <a:latin typeface="Eurobank Sans"/>
              </a:rPr>
              <a:t>: Leading share in new production (~30%) with sustained growth (+106% € increase in  disbursements from 2021 to 2025)</a:t>
            </a:r>
          </a:p>
          <a:p>
            <a:pPr marL="214313" indent="-214313" algn="just" defTabSz="822960">
              <a:spcBef>
                <a:spcPts val="150"/>
              </a:spcBef>
              <a:buFont typeface="Wingdings" panose="05000000000000000000" pitchFamily="2" charset="2"/>
              <a:buChar char="§"/>
              <a:defRPr/>
            </a:pPr>
            <a:r>
              <a:rPr lang="en-US" sz="825" b="1" kern="0" dirty="0">
                <a:solidFill>
                  <a:schemeClr val="bg1"/>
                </a:solidFill>
                <a:latin typeface="Eurobank Sans"/>
              </a:rPr>
              <a:t>Digital acceleration</a:t>
            </a:r>
            <a:r>
              <a:rPr lang="en-US" sz="825" kern="0" dirty="0">
                <a:solidFill>
                  <a:schemeClr val="bg1"/>
                </a:solidFill>
                <a:latin typeface="Eurobank Sans"/>
              </a:rPr>
              <a:t>: Multichannel strategy with growing digital contribution (currently 32% value / 54% volumes), increasing digital sales contribution by 52% between 2021 and 2025.</a:t>
            </a:r>
          </a:p>
          <a:p>
            <a:pPr marL="214313" indent="-214313" algn="just" defTabSz="822960">
              <a:spcBef>
                <a:spcPts val="150"/>
              </a:spcBef>
              <a:buFont typeface="Wingdings" panose="05000000000000000000" pitchFamily="2" charset="2"/>
              <a:buChar char="§"/>
              <a:defRPr/>
            </a:pPr>
            <a:r>
              <a:rPr lang="en-US" sz="825" b="1" kern="0" dirty="0">
                <a:solidFill>
                  <a:schemeClr val="bg1"/>
                </a:solidFill>
                <a:latin typeface="Eurobank Sans"/>
              </a:rPr>
              <a:t>Customer-focused propositions</a:t>
            </a:r>
            <a:r>
              <a:rPr lang="en-US" sz="825" kern="0" dirty="0">
                <a:solidFill>
                  <a:schemeClr val="bg1"/>
                </a:solidFill>
                <a:latin typeface="Eurobank Sans"/>
              </a:rPr>
              <a:t>: Personalized offerings for low-risk/high-value segments</a:t>
            </a:r>
          </a:p>
          <a:p>
            <a:pPr marL="214313" indent="-214313" algn="just" defTabSz="822960">
              <a:spcBef>
                <a:spcPts val="150"/>
              </a:spcBef>
              <a:buFont typeface="Wingdings" panose="05000000000000000000" pitchFamily="2" charset="2"/>
              <a:buChar char="§"/>
              <a:defRPr/>
            </a:pPr>
            <a:r>
              <a:rPr lang="en-US" sz="825" b="1" kern="0" dirty="0">
                <a:solidFill>
                  <a:schemeClr val="bg1"/>
                </a:solidFill>
                <a:latin typeface="Eurobank Sans"/>
              </a:rPr>
              <a:t>Advanced capabilities</a:t>
            </a:r>
            <a:r>
              <a:rPr lang="en-US" sz="825" kern="0" dirty="0">
                <a:solidFill>
                  <a:schemeClr val="bg1"/>
                </a:solidFill>
                <a:latin typeface="Eurobank Sans"/>
              </a:rPr>
              <a:t>: Analytics, real-time campaigns &amp; GenAI improving targeting, efficiency &amp; experience</a:t>
            </a:r>
          </a:p>
        </p:txBody>
      </p:sp>
    </p:spTree>
    <p:extLst>
      <p:ext uri="{BB962C8B-B14F-4D97-AF65-F5344CB8AC3E}">
        <p14:creationId xmlns:p14="http://schemas.microsoft.com/office/powerpoint/2010/main" val="2014761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23444"/>
            <a:ext cx="6515100" cy="246888"/>
          </a:xfrm>
          <a:prstGeom prst="rect">
            <a:avLst/>
          </a:prstGeom>
          <a:noFill/>
          <a:ln/>
        </p:spPr>
        <p:txBody>
          <a:bodyPr wrap="square" lIns="0" tIns="0" rIns="0" bIns="0" rtlCol="0" anchor="ctr"/>
          <a:lstStyle/>
          <a:p>
            <a:r>
              <a:rPr lang="en-US" sz="1575" dirty="0">
                <a:solidFill>
                  <a:srgbClr val="081E49"/>
                </a:solidFill>
                <a:latin typeface="Arial" pitchFamily="34" charset="0"/>
                <a:ea typeface="Arial" pitchFamily="34" charset="-122"/>
                <a:cs typeface="Arial" pitchFamily="34" charset="-120"/>
              </a:rPr>
              <a:t>Pillar II: Customer-focused Product Proposition</a:t>
            </a:r>
            <a:endParaRPr lang="en-US" sz="1575" dirty="0"/>
          </a:p>
        </p:txBody>
      </p:sp>
      <p:sp>
        <p:nvSpPr>
          <p:cNvPr id="3" name="Text 1"/>
          <p:cNvSpPr/>
          <p:nvPr/>
        </p:nvSpPr>
        <p:spPr>
          <a:xfrm>
            <a:off x="356616" y="576072"/>
            <a:ext cx="6515100" cy="192024"/>
          </a:xfrm>
          <a:prstGeom prst="rect">
            <a:avLst/>
          </a:prstGeom>
          <a:noFill/>
          <a:ln/>
        </p:spPr>
        <p:txBody>
          <a:bodyPr wrap="square" lIns="0" tIns="0" rIns="0" bIns="0" rtlCol="0" anchor="ctr"/>
          <a:lstStyle/>
          <a:p>
            <a:r>
              <a:rPr lang="en-US" sz="788" dirty="0">
                <a:solidFill>
                  <a:srgbClr val="6E7A8A"/>
                </a:solidFill>
                <a:latin typeface="Arial" pitchFamily="34" charset="0"/>
                <a:ea typeface="Arial" pitchFamily="34" charset="-122"/>
                <a:cs typeface="Arial" pitchFamily="34" charset="-120"/>
              </a:rPr>
              <a:t>Segment-based propositions for selected low-risk and high-value customers</a:t>
            </a:r>
            <a:endParaRPr lang="en-US" sz="788" dirty="0"/>
          </a:p>
        </p:txBody>
      </p:sp>
      <p:sp>
        <p:nvSpPr>
          <p:cNvPr id="4" name="Text 2"/>
          <p:cNvSpPr/>
          <p:nvPr/>
        </p:nvSpPr>
        <p:spPr>
          <a:xfrm>
            <a:off x="534924" y="795528"/>
            <a:ext cx="1783080" cy="164592"/>
          </a:xfrm>
          <a:prstGeom prst="rect">
            <a:avLst/>
          </a:prstGeom>
          <a:noFill/>
          <a:ln/>
        </p:spPr>
        <p:txBody>
          <a:bodyPr wrap="square" lIns="0" tIns="0" rIns="0" bIns="0" rtlCol="0" anchor="ctr"/>
          <a:lstStyle/>
          <a:p>
            <a:r>
              <a:rPr lang="en-US" sz="713" b="1" dirty="0">
                <a:solidFill>
                  <a:srgbClr val="E4002B"/>
                </a:solidFill>
              </a:rPr>
              <a:t>Objective</a:t>
            </a:r>
            <a:endParaRPr lang="en-US" sz="713" dirty="0"/>
          </a:p>
        </p:txBody>
      </p:sp>
      <p:sp>
        <p:nvSpPr>
          <p:cNvPr id="5" name="Text 3"/>
          <p:cNvSpPr/>
          <p:nvPr/>
        </p:nvSpPr>
        <p:spPr>
          <a:xfrm>
            <a:off x="534924" y="1028700"/>
            <a:ext cx="7955280" cy="288036"/>
          </a:xfrm>
          <a:prstGeom prst="rect">
            <a:avLst/>
          </a:prstGeom>
          <a:noFill/>
          <a:ln/>
        </p:spPr>
        <p:txBody>
          <a:bodyPr wrap="square" lIns="0" tIns="0" rIns="0" bIns="0" rtlCol="0" anchor="ctr">
            <a:normAutofit/>
          </a:bodyPr>
          <a:lstStyle/>
          <a:p>
            <a:r>
              <a:rPr lang="en-US" sz="1200" b="1" dirty="0">
                <a:solidFill>
                  <a:srgbClr val="081E49"/>
                </a:solidFill>
              </a:rPr>
              <a:t>Expand the product range and tailor features, pricing and servicing to the specific needs and risk profile of each segment.</a:t>
            </a:r>
            <a:endParaRPr lang="en-US" sz="1200" dirty="0"/>
          </a:p>
        </p:txBody>
      </p:sp>
      <p:sp>
        <p:nvSpPr>
          <p:cNvPr id="6" name="Shape 4"/>
          <p:cNvSpPr/>
          <p:nvPr/>
        </p:nvSpPr>
        <p:spPr>
          <a:xfrm>
            <a:off x="617220" y="1741932"/>
            <a:ext cx="925830" cy="0"/>
          </a:xfrm>
          <a:prstGeom prst="line">
            <a:avLst/>
          </a:prstGeom>
          <a:noFill/>
          <a:ln w="50800">
            <a:solidFill>
              <a:srgbClr val="005B9E"/>
            </a:solidFill>
            <a:prstDash val="solid"/>
          </a:ln>
        </p:spPr>
        <p:txBody>
          <a:bodyPr/>
          <a:lstStyle/>
          <a:p>
            <a:endParaRPr lang="el-GR" sz="1350"/>
          </a:p>
        </p:txBody>
      </p:sp>
      <p:sp>
        <p:nvSpPr>
          <p:cNvPr id="7" name="Text 5"/>
          <p:cNvSpPr/>
          <p:nvPr/>
        </p:nvSpPr>
        <p:spPr>
          <a:xfrm>
            <a:off x="1680210" y="1632204"/>
            <a:ext cx="1440180" cy="205740"/>
          </a:xfrm>
          <a:prstGeom prst="rect">
            <a:avLst/>
          </a:prstGeom>
          <a:noFill/>
          <a:ln/>
        </p:spPr>
        <p:txBody>
          <a:bodyPr wrap="square" lIns="0" tIns="0" rIns="0" bIns="0" rtlCol="0" anchor="ctr"/>
          <a:lstStyle/>
          <a:p>
            <a:r>
              <a:rPr lang="en-US" sz="1050" b="1" dirty="0">
                <a:solidFill>
                  <a:srgbClr val="081E49"/>
                </a:solidFill>
              </a:rPr>
              <a:t>Public Sector</a:t>
            </a:r>
            <a:endParaRPr lang="en-US" sz="1050" dirty="0"/>
          </a:p>
        </p:txBody>
      </p:sp>
      <p:sp>
        <p:nvSpPr>
          <p:cNvPr id="8" name="Text 6"/>
          <p:cNvSpPr/>
          <p:nvPr/>
        </p:nvSpPr>
        <p:spPr>
          <a:xfrm>
            <a:off x="3257550" y="1632204"/>
            <a:ext cx="5074920" cy="246888"/>
          </a:xfrm>
          <a:prstGeom prst="rect">
            <a:avLst/>
          </a:prstGeom>
          <a:noFill/>
          <a:ln/>
        </p:spPr>
        <p:txBody>
          <a:bodyPr wrap="square" lIns="0" tIns="0" rIns="0" bIns="0" rtlCol="0" anchor="ctr">
            <a:normAutofit/>
          </a:bodyPr>
          <a:lstStyle/>
          <a:p>
            <a:r>
              <a:rPr lang="en-US" sz="863" dirty="0">
                <a:solidFill>
                  <a:srgbClr val="1C273A"/>
                </a:solidFill>
              </a:rPr>
              <a:t>Payroll deduction before salary credit; exceptionally low defaults and attractive pricing.</a:t>
            </a:r>
            <a:endParaRPr lang="en-US" sz="863" dirty="0"/>
          </a:p>
        </p:txBody>
      </p:sp>
      <p:sp>
        <p:nvSpPr>
          <p:cNvPr id="9" name="Shape 7"/>
          <p:cNvSpPr/>
          <p:nvPr/>
        </p:nvSpPr>
        <p:spPr>
          <a:xfrm>
            <a:off x="617220" y="2345436"/>
            <a:ext cx="925830" cy="0"/>
          </a:xfrm>
          <a:prstGeom prst="line">
            <a:avLst/>
          </a:prstGeom>
          <a:noFill/>
          <a:ln w="50800">
            <a:solidFill>
              <a:srgbClr val="0E6DAE"/>
            </a:solidFill>
            <a:prstDash val="solid"/>
          </a:ln>
        </p:spPr>
        <p:txBody>
          <a:bodyPr/>
          <a:lstStyle/>
          <a:p>
            <a:endParaRPr lang="el-GR" sz="1350"/>
          </a:p>
        </p:txBody>
      </p:sp>
      <p:sp>
        <p:nvSpPr>
          <p:cNvPr id="10" name="Text 8"/>
          <p:cNvSpPr/>
          <p:nvPr/>
        </p:nvSpPr>
        <p:spPr>
          <a:xfrm>
            <a:off x="1680210" y="2235708"/>
            <a:ext cx="1440180" cy="205740"/>
          </a:xfrm>
          <a:prstGeom prst="rect">
            <a:avLst/>
          </a:prstGeom>
          <a:noFill/>
          <a:ln/>
        </p:spPr>
        <p:txBody>
          <a:bodyPr wrap="square" lIns="0" tIns="0" rIns="0" bIns="0" rtlCol="0" anchor="ctr"/>
          <a:lstStyle/>
          <a:p>
            <a:r>
              <a:rPr lang="en-US" sz="1050" b="1" dirty="0">
                <a:solidFill>
                  <a:srgbClr val="081E49"/>
                </a:solidFill>
              </a:rPr>
              <a:t>Group Sales</a:t>
            </a:r>
            <a:endParaRPr lang="en-US" sz="1050" dirty="0"/>
          </a:p>
        </p:txBody>
      </p:sp>
      <p:sp>
        <p:nvSpPr>
          <p:cNvPr id="11" name="Text 9"/>
          <p:cNvSpPr/>
          <p:nvPr/>
        </p:nvSpPr>
        <p:spPr>
          <a:xfrm>
            <a:off x="3257550" y="2235708"/>
            <a:ext cx="5074920" cy="246888"/>
          </a:xfrm>
          <a:prstGeom prst="rect">
            <a:avLst/>
          </a:prstGeom>
          <a:noFill/>
          <a:ln/>
        </p:spPr>
        <p:txBody>
          <a:bodyPr wrap="square" lIns="0" tIns="0" rIns="0" bIns="0" rtlCol="0" anchor="ctr">
            <a:normAutofit/>
          </a:bodyPr>
          <a:lstStyle/>
          <a:p>
            <a:r>
              <a:rPr lang="en-US" sz="863" dirty="0">
                <a:solidFill>
                  <a:srgbClr val="1C273A"/>
                </a:solidFill>
              </a:rPr>
              <a:t>Salary paid through Eurobank; repayment aligned with payroll date and strong credit performance.</a:t>
            </a:r>
            <a:endParaRPr lang="en-US" sz="863" dirty="0"/>
          </a:p>
        </p:txBody>
      </p:sp>
      <p:sp>
        <p:nvSpPr>
          <p:cNvPr id="12" name="Shape 10"/>
          <p:cNvSpPr/>
          <p:nvPr/>
        </p:nvSpPr>
        <p:spPr>
          <a:xfrm>
            <a:off x="617220" y="2948940"/>
            <a:ext cx="925830" cy="0"/>
          </a:xfrm>
          <a:prstGeom prst="line">
            <a:avLst/>
          </a:prstGeom>
          <a:noFill/>
          <a:ln w="50800">
            <a:solidFill>
              <a:srgbClr val="023052"/>
            </a:solidFill>
            <a:prstDash val="solid"/>
          </a:ln>
        </p:spPr>
        <p:txBody>
          <a:bodyPr/>
          <a:lstStyle/>
          <a:p>
            <a:endParaRPr lang="el-GR" sz="1350"/>
          </a:p>
        </p:txBody>
      </p:sp>
      <p:sp>
        <p:nvSpPr>
          <p:cNvPr id="13" name="Text 11"/>
          <p:cNvSpPr/>
          <p:nvPr/>
        </p:nvSpPr>
        <p:spPr>
          <a:xfrm>
            <a:off x="1680210" y="2839212"/>
            <a:ext cx="1440180" cy="205740"/>
          </a:xfrm>
          <a:prstGeom prst="rect">
            <a:avLst/>
          </a:prstGeom>
          <a:noFill/>
          <a:ln/>
        </p:spPr>
        <p:txBody>
          <a:bodyPr wrap="square" lIns="0" tIns="0" rIns="0" bIns="0" rtlCol="0" anchor="ctr"/>
          <a:lstStyle/>
          <a:p>
            <a:r>
              <a:rPr lang="en-US" sz="1050" b="1" dirty="0">
                <a:solidFill>
                  <a:srgbClr val="081E49"/>
                </a:solidFill>
              </a:rPr>
              <a:t>Personal Banking</a:t>
            </a:r>
            <a:endParaRPr lang="en-US" sz="1050" dirty="0"/>
          </a:p>
        </p:txBody>
      </p:sp>
      <p:sp>
        <p:nvSpPr>
          <p:cNvPr id="14" name="Text 12"/>
          <p:cNvSpPr/>
          <p:nvPr/>
        </p:nvSpPr>
        <p:spPr>
          <a:xfrm>
            <a:off x="3257550" y="2839212"/>
            <a:ext cx="5074920" cy="246888"/>
          </a:xfrm>
          <a:prstGeom prst="rect">
            <a:avLst/>
          </a:prstGeom>
          <a:noFill/>
          <a:ln/>
        </p:spPr>
        <p:txBody>
          <a:bodyPr wrap="square" lIns="0" tIns="0" rIns="0" bIns="0" rtlCol="0" anchor="ctr">
            <a:normAutofit/>
          </a:bodyPr>
          <a:lstStyle/>
          <a:p>
            <a:r>
              <a:rPr lang="en-US" sz="863" dirty="0">
                <a:solidFill>
                  <a:srgbClr val="1C273A"/>
                </a:solidFill>
              </a:rPr>
              <a:t>Affluent customers with stronger profiles; tailored limits and preferential pricing.</a:t>
            </a:r>
            <a:endParaRPr lang="en-US" sz="863" dirty="0"/>
          </a:p>
        </p:txBody>
      </p:sp>
      <p:sp>
        <p:nvSpPr>
          <p:cNvPr id="15" name="Shape 13"/>
          <p:cNvSpPr/>
          <p:nvPr/>
        </p:nvSpPr>
        <p:spPr>
          <a:xfrm>
            <a:off x="617220" y="3552444"/>
            <a:ext cx="925830" cy="0"/>
          </a:xfrm>
          <a:prstGeom prst="line">
            <a:avLst/>
          </a:prstGeom>
          <a:noFill/>
          <a:ln w="50800">
            <a:solidFill>
              <a:srgbClr val="E4002B"/>
            </a:solidFill>
            <a:prstDash val="solid"/>
          </a:ln>
        </p:spPr>
        <p:txBody>
          <a:bodyPr/>
          <a:lstStyle/>
          <a:p>
            <a:endParaRPr lang="el-GR" sz="1350"/>
          </a:p>
        </p:txBody>
      </p:sp>
      <p:sp>
        <p:nvSpPr>
          <p:cNvPr id="16" name="Text 14"/>
          <p:cNvSpPr/>
          <p:nvPr/>
        </p:nvSpPr>
        <p:spPr>
          <a:xfrm>
            <a:off x="1680210" y="3442716"/>
            <a:ext cx="1440180" cy="205740"/>
          </a:xfrm>
          <a:prstGeom prst="rect">
            <a:avLst/>
          </a:prstGeom>
          <a:noFill/>
          <a:ln/>
        </p:spPr>
        <p:txBody>
          <a:bodyPr wrap="square" lIns="0" tIns="0" rIns="0" bIns="0" rtlCol="0" anchor="ctr"/>
          <a:lstStyle/>
          <a:p>
            <a:r>
              <a:rPr lang="en-US" sz="1050" b="1" dirty="0">
                <a:solidFill>
                  <a:srgbClr val="081E49"/>
                </a:solidFill>
              </a:rPr>
              <a:t>Green / Purpose Loans</a:t>
            </a:r>
            <a:endParaRPr lang="en-US" sz="1050" dirty="0"/>
          </a:p>
        </p:txBody>
      </p:sp>
      <p:sp>
        <p:nvSpPr>
          <p:cNvPr id="17" name="Text 15"/>
          <p:cNvSpPr/>
          <p:nvPr/>
        </p:nvSpPr>
        <p:spPr>
          <a:xfrm>
            <a:off x="3257550" y="3442716"/>
            <a:ext cx="5074920" cy="246888"/>
          </a:xfrm>
          <a:prstGeom prst="rect">
            <a:avLst/>
          </a:prstGeom>
          <a:noFill/>
          <a:ln/>
        </p:spPr>
        <p:txBody>
          <a:bodyPr wrap="square" lIns="0" tIns="0" rIns="0" bIns="0" rtlCol="0" anchor="ctr">
            <a:normAutofit/>
          </a:bodyPr>
          <a:lstStyle/>
          <a:p>
            <a:r>
              <a:rPr lang="en-US" sz="863" dirty="0">
                <a:solidFill>
                  <a:srgbClr val="1C273A"/>
                </a:solidFill>
              </a:rPr>
              <a:t>Dedicated propositions to cover specific customer needs and support differentiation.</a:t>
            </a:r>
            <a:endParaRPr lang="en-US" sz="863" dirty="0"/>
          </a:p>
        </p:txBody>
      </p:sp>
      <p:sp>
        <p:nvSpPr>
          <p:cNvPr id="18" name="Text 16"/>
          <p:cNvSpPr/>
          <p:nvPr/>
        </p:nvSpPr>
        <p:spPr>
          <a:xfrm>
            <a:off x="534924" y="3991356"/>
            <a:ext cx="1783080" cy="164592"/>
          </a:xfrm>
          <a:prstGeom prst="rect">
            <a:avLst/>
          </a:prstGeom>
          <a:noFill/>
          <a:ln/>
        </p:spPr>
        <p:txBody>
          <a:bodyPr wrap="square" lIns="0" tIns="0" rIns="0" bIns="0" rtlCol="0" anchor="ctr"/>
          <a:lstStyle/>
          <a:p>
            <a:r>
              <a:rPr lang="en-US" sz="713" b="1" dirty="0">
                <a:solidFill>
                  <a:srgbClr val="E4002B"/>
                </a:solidFill>
              </a:rPr>
              <a:t>Next-wave propositions</a:t>
            </a:r>
            <a:endParaRPr lang="en-US" sz="713" dirty="0"/>
          </a:p>
        </p:txBody>
      </p:sp>
      <p:sp>
        <p:nvSpPr>
          <p:cNvPr id="19" name="Text 17"/>
          <p:cNvSpPr/>
          <p:nvPr/>
        </p:nvSpPr>
        <p:spPr>
          <a:xfrm>
            <a:off x="651510" y="4251960"/>
            <a:ext cx="7612380" cy="288036"/>
          </a:xfrm>
          <a:prstGeom prst="rect">
            <a:avLst/>
          </a:prstGeom>
          <a:noFill/>
          <a:ln/>
        </p:spPr>
        <p:txBody>
          <a:bodyPr wrap="square" lIns="0" tIns="0" rIns="0" bIns="0" rtlCol="0" anchor="ctr">
            <a:normAutofit/>
          </a:bodyPr>
          <a:lstStyle/>
          <a:p>
            <a:r>
              <a:rPr lang="en-US" sz="840" dirty="0">
                <a:solidFill>
                  <a:srgbClr val="1C273A"/>
                </a:solidFill>
              </a:rPr>
              <a:t>Pre-advised journey with cards • Active credit limit management • Risk-based pricing • Top-up loans • Open line / overdraft concepts</a:t>
            </a:r>
            <a:endParaRPr lang="en-US" sz="840" dirty="0"/>
          </a:p>
        </p:txBody>
      </p:sp>
      <p:sp>
        <p:nvSpPr>
          <p:cNvPr id="20" name="Text 18"/>
          <p:cNvSpPr/>
          <p:nvPr/>
        </p:nvSpPr>
        <p:spPr>
          <a:xfrm>
            <a:off x="356616" y="4855464"/>
            <a:ext cx="3771900" cy="109728"/>
          </a:xfrm>
          <a:prstGeom prst="rect">
            <a:avLst/>
          </a:prstGeom>
          <a:noFill/>
          <a:ln/>
        </p:spPr>
        <p:txBody>
          <a:bodyPr wrap="square" lIns="0" tIns="0" rIns="0" bIns="0" rtlCol="0" anchor="ctr"/>
          <a:lstStyle/>
          <a:p>
            <a:r>
              <a:rPr lang="en-US" sz="563" dirty="0">
                <a:solidFill>
                  <a:srgbClr val="6E7A8A"/>
                </a:solidFill>
              </a:rPr>
              <a:t>Consumer Loans Growth Strategy</a:t>
            </a:r>
            <a:endParaRPr lang="en-US" sz="563"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081E49"/>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9184" y="123444"/>
            <a:ext cx="6515100" cy="246888"/>
          </a:xfrm>
          <a:prstGeom prst="rect">
            <a:avLst/>
          </a:prstGeom>
          <a:noFill/>
          <a:ln/>
        </p:spPr>
        <p:txBody>
          <a:bodyPr wrap="square" lIns="0" tIns="0" rIns="0" bIns="0" rtlCol="0" anchor="ctr"/>
          <a:lstStyle/>
          <a:p>
            <a:r>
              <a:rPr lang="en-US" sz="1575" dirty="0">
                <a:solidFill>
                  <a:srgbClr val="081E49"/>
                </a:solidFill>
                <a:latin typeface="Arial" pitchFamily="34" charset="0"/>
                <a:ea typeface="Arial" pitchFamily="34" charset="-122"/>
                <a:cs typeface="Arial" pitchFamily="34" charset="-120"/>
              </a:rPr>
              <a:t>2026 priorities and management focus</a:t>
            </a:r>
            <a:endParaRPr lang="en-US" sz="1575" dirty="0"/>
          </a:p>
        </p:txBody>
      </p:sp>
      <p:sp>
        <p:nvSpPr>
          <p:cNvPr id="3" name="Text 1"/>
          <p:cNvSpPr/>
          <p:nvPr/>
        </p:nvSpPr>
        <p:spPr>
          <a:xfrm>
            <a:off x="356616" y="576072"/>
            <a:ext cx="6515100" cy="192024"/>
          </a:xfrm>
          <a:prstGeom prst="rect">
            <a:avLst/>
          </a:prstGeom>
          <a:noFill/>
          <a:ln/>
        </p:spPr>
        <p:txBody>
          <a:bodyPr wrap="square" lIns="0" tIns="0" rIns="0" bIns="0" rtlCol="0" anchor="ctr"/>
          <a:lstStyle/>
          <a:p>
            <a:r>
              <a:rPr lang="en-US" sz="788" dirty="0">
                <a:solidFill>
                  <a:srgbClr val="6E7A8A"/>
                </a:solidFill>
                <a:latin typeface="Arial" pitchFamily="34" charset="0"/>
                <a:ea typeface="Arial" pitchFamily="34" charset="-122"/>
                <a:cs typeface="Arial" pitchFamily="34" charset="-120"/>
              </a:rPr>
              <a:t>What we will continue to push to protect leadership and accelerate growth</a:t>
            </a:r>
            <a:endParaRPr lang="en-US" sz="788" dirty="0"/>
          </a:p>
        </p:txBody>
      </p:sp>
      <p:sp>
        <p:nvSpPr>
          <p:cNvPr id="4" name="Text 2"/>
          <p:cNvSpPr/>
          <p:nvPr/>
        </p:nvSpPr>
        <p:spPr>
          <a:xfrm>
            <a:off x="582930" y="788670"/>
            <a:ext cx="2948940" cy="219456"/>
          </a:xfrm>
          <a:prstGeom prst="rect">
            <a:avLst/>
          </a:prstGeom>
          <a:noFill/>
          <a:ln/>
        </p:spPr>
        <p:txBody>
          <a:bodyPr wrap="square" lIns="0" tIns="0" rIns="0" bIns="0" rtlCol="0" anchor="ctr"/>
          <a:lstStyle/>
          <a:p>
            <a:r>
              <a:rPr lang="en-US" sz="1275" b="1" dirty="0">
                <a:solidFill>
                  <a:srgbClr val="081E49"/>
                </a:solidFill>
              </a:rPr>
              <a:t>Consumer Loans growth agenda</a:t>
            </a:r>
            <a:endParaRPr lang="en-US" sz="1275" dirty="0"/>
          </a:p>
        </p:txBody>
      </p:sp>
      <p:sp>
        <p:nvSpPr>
          <p:cNvPr id="5" name="Shape 3"/>
          <p:cNvSpPr/>
          <p:nvPr/>
        </p:nvSpPr>
        <p:spPr>
          <a:xfrm>
            <a:off x="651510" y="1282446"/>
            <a:ext cx="41148" cy="41148"/>
          </a:xfrm>
          <a:prstGeom prst="rect">
            <a:avLst/>
          </a:prstGeom>
          <a:solidFill>
            <a:srgbClr val="E4002B"/>
          </a:solidFill>
          <a:ln w="12700">
            <a:solidFill>
              <a:srgbClr val="E4002B">
                <a:alpha val="0"/>
              </a:srgbClr>
            </a:solidFill>
            <a:prstDash val="solid"/>
          </a:ln>
        </p:spPr>
        <p:txBody>
          <a:bodyPr/>
          <a:lstStyle/>
          <a:p>
            <a:endParaRPr lang="el-GR" sz="1350"/>
          </a:p>
        </p:txBody>
      </p:sp>
      <p:sp>
        <p:nvSpPr>
          <p:cNvPr id="6" name="Text 4"/>
          <p:cNvSpPr/>
          <p:nvPr/>
        </p:nvSpPr>
        <p:spPr>
          <a:xfrm>
            <a:off x="774954" y="1234440"/>
            <a:ext cx="7680960" cy="233172"/>
          </a:xfrm>
          <a:prstGeom prst="rect">
            <a:avLst/>
          </a:prstGeom>
          <a:noFill/>
          <a:ln/>
        </p:spPr>
        <p:txBody>
          <a:bodyPr wrap="square" lIns="0" tIns="0" rIns="0" bIns="0" rtlCol="0" anchor="ctr">
            <a:normAutofit/>
          </a:bodyPr>
          <a:lstStyle/>
          <a:p>
            <a:r>
              <a:rPr lang="en-US" sz="900" dirty="0">
                <a:solidFill>
                  <a:srgbClr val="1C273A"/>
                </a:solidFill>
              </a:rPr>
              <a:t>Further expand mobile-first digital lending and full journey optimization</a:t>
            </a:r>
            <a:endParaRPr lang="en-US" sz="900" dirty="0"/>
          </a:p>
        </p:txBody>
      </p:sp>
      <p:sp>
        <p:nvSpPr>
          <p:cNvPr id="7" name="Shape 5"/>
          <p:cNvSpPr/>
          <p:nvPr/>
        </p:nvSpPr>
        <p:spPr>
          <a:xfrm>
            <a:off x="651510" y="1707642"/>
            <a:ext cx="41148" cy="41148"/>
          </a:xfrm>
          <a:prstGeom prst="rect">
            <a:avLst/>
          </a:prstGeom>
          <a:solidFill>
            <a:srgbClr val="E4002B"/>
          </a:solidFill>
          <a:ln w="12700">
            <a:solidFill>
              <a:srgbClr val="E4002B">
                <a:alpha val="0"/>
              </a:srgbClr>
            </a:solidFill>
            <a:prstDash val="solid"/>
          </a:ln>
        </p:spPr>
        <p:txBody>
          <a:bodyPr/>
          <a:lstStyle/>
          <a:p>
            <a:endParaRPr lang="el-GR" sz="1350"/>
          </a:p>
        </p:txBody>
      </p:sp>
      <p:sp>
        <p:nvSpPr>
          <p:cNvPr id="8" name="Text 6"/>
          <p:cNvSpPr/>
          <p:nvPr/>
        </p:nvSpPr>
        <p:spPr>
          <a:xfrm>
            <a:off x="774954" y="1659636"/>
            <a:ext cx="7680960" cy="233172"/>
          </a:xfrm>
          <a:prstGeom prst="rect">
            <a:avLst/>
          </a:prstGeom>
          <a:noFill/>
          <a:ln/>
        </p:spPr>
        <p:txBody>
          <a:bodyPr wrap="square" lIns="0" tIns="0" rIns="0" bIns="0" rtlCol="0" anchor="ctr">
            <a:normAutofit/>
          </a:bodyPr>
          <a:lstStyle/>
          <a:p>
            <a:r>
              <a:rPr lang="en-US" sz="900" dirty="0">
                <a:solidFill>
                  <a:srgbClr val="1C273A"/>
                </a:solidFill>
              </a:rPr>
              <a:t>Commercially scale new segment propositions and personalized offers</a:t>
            </a:r>
            <a:endParaRPr lang="en-US" sz="900" dirty="0"/>
          </a:p>
        </p:txBody>
      </p:sp>
      <p:sp>
        <p:nvSpPr>
          <p:cNvPr id="9" name="Shape 7"/>
          <p:cNvSpPr/>
          <p:nvPr/>
        </p:nvSpPr>
        <p:spPr>
          <a:xfrm>
            <a:off x="651510" y="2132838"/>
            <a:ext cx="41148" cy="41148"/>
          </a:xfrm>
          <a:prstGeom prst="rect">
            <a:avLst/>
          </a:prstGeom>
          <a:solidFill>
            <a:srgbClr val="E4002B"/>
          </a:solidFill>
          <a:ln w="12700">
            <a:solidFill>
              <a:srgbClr val="E4002B">
                <a:alpha val="0"/>
              </a:srgbClr>
            </a:solidFill>
            <a:prstDash val="solid"/>
          </a:ln>
        </p:spPr>
        <p:txBody>
          <a:bodyPr/>
          <a:lstStyle/>
          <a:p>
            <a:endParaRPr lang="el-GR" sz="1350"/>
          </a:p>
        </p:txBody>
      </p:sp>
      <p:sp>
        <p:nvSpPr>
          <p:cNvPr id="10" name="Text 8"/>
          <p:cNvSpPr/>
          <p:nvPr/>
        </p:nvSpPr>
        <p:spPr>
          <a:xfrm>
            <a:off x="774954" y="2084832"/>
            <a:ext cx="7680960" cy="233172"/>
          </a:xfrm>
          <a:prstGeom prst="rect">
            <a:avLst/>
          </a:prstGeom>
          <a:noFill/>
          <a:ln/>
        </p:spPr>
        <p:txBody>
          <a:bodyPr wrap="square" lIns="0" tIns="0" rIns="0" bIns="0" rtlCol="0" anchor="ctr">
            <a:normAutofit/>
          </a:bodyPr>
          <a:lstStyle/>
          <a:p>
            <a:r>
              <a:rPr lang="en-US" sz="900" dirty="0">
                <a:solidFill>
                  <a:srgbClr val="1C273A"/>
                </a:solidFill>
              </a:rPr>
              <a:t>Strengthen campaign automation and moment-of-truth digital communication</a:t>
            </a:r>
            <a:endParaRPr lang="en-US" sz="900" dirty="0"/>
          </a:p>
        </p:txBody>
      </p:sp>
      <p:sp>
        <p:nvSpPr>
          <p:cNvPr id="11" name="Shape 9"/>
          <p:cNvSpPr/>
          <p:nvPr/>
        </p:nvSpPr>
        <p:spPr>
          <a:xfrm>
            <a:off x="651510" y="2558034"/>
            <a:ext cx="41148" cy="41148"/>
          </a:xfrm>
          <a:prstGeom prst="rect">
            <a:avLst/>
          </a:prstGeom>
          <a:solidFill>
            <a:srgbClr val="E4002B"/>
          </a:solidFill>
          <a:ln w="12700">
            <a:solidFill>
              <a:srgbClr val="E4002B">
                <a:alpha val="0"/>
              </a:srgbClr>
            </a:solidFill>
            <a:prstDash val="solid"/>
          </a:ln>
        </p:spPr>
        <p:txBody>
          <a:bodyPr/>
          <a:lstStyle/>
          <a:p>
            <a:endParaRPr lang="el-GR" sz="1350"/>
          </a:p>
        </p:txBody>
      </p:sp>
      <p:sp>
        <p:nvSpPr>
          <p:cNvPr id="12" name="Text 10"/>
          <p:cNvSpPr/>
          <p:nvPr/>
        </p:nvSpPr>
        <p:spPr>
          <a:xfrm>
            <a:off x="774954" y="2510028"/>
            <a:ext cx="7680960" cy="233172"/>
          </a:xfrm>
          <a:prstGeom prst="rect">
            <a:avLst/>
          </a:prstGeom>
          <a:noFill/>
          <a:ln/>
        </p:spPr>
        <p:txBody>
          <a:bodyPr wrap="square" lIns="0" tIns="0" rIns="0" bIns="0" rtlCol="0" anchor="ctr">
            <a:normAutofit/>
          </a:bodyPr>
          <a:lstStyle/>
          <a:p>
            <a:r>
              <a:rPr lang="en-US" sz="900" dirty="0">
                <a:solidFill>
                  <a:srgbClr val="1C273A"/>
                </a:solidFill>
              </a:rPr>
              <a:t>Improve retailer financing performance through unit restructuring and partnership review</a:t>
            </a:r>
            <a:endParaRPr lang="en-US" sz="900" dirty="0"/>
          </a:p>
        </p:txBody>
      </p:sp>
      <p:sp>
        <p:nvSpPr>
          <p:cNvPr id="13" name="Shape 11"/>
          <p:cNvSpPr/>
          <p:nvPr/>
        </p:nvSpPr>
        <p:spPr>
          <a:xfrm>
            <a:off x="651510" y="2983230"/>
            <a:ext cx="41148" cy="41148"/>
          </a:xfrm>
          <a:prstGeom prst="rect">
            <a:avLst/>
          </a:prstGeom>
          <a:solidFill>
            <a:srgbClr val="E4002B"/>
          </a:solidFill>
          <a:ln w="12700">
            <a:solidFill>
              <a:srgbClr val="E4002B">
                <a:alpha val="0"/>
              </a:srgbClr>
            </a:solidFill>
            <a:prstDash val="solid"/>
          </a:ln>
        </p:spPr>
        <p:txBody>
          <a:bodyPr/>
          <a:lstStyle/>
          <a:p>
            <a:endParaRPr lang="el-GR" sz="1350"/>
          </a:p>
        </p:txBody>
      </p:sp>
      <p:sp>
        <p:nvSpPr>
          <p:cNvPr id="14" name="Text 12"/>
          <p:cNvSpPr/>
          <p:nvPr/>
        </p:nvSpPr>
        <p:spPr>
          <a:xfrm>
            <a:off x="774954" y="2935224"/>
            <a:ext cx="7680960" cy="233172"/>
          </a:xfrm>
          <a:prstGeom prst="rect">
            <a:avLst/>
          </a:prstGeom>
          <a:noFill/>
          <a:ln/>
        </p:spPr>
        <p:txBody>
          <a:bodyPr wrap="square" lIns="0" tIns="0" rIns="0" bIns="0" rtlCol="0" anchor="ctr">
            <a:normAutofit/>
          </a:bodyPr>
          <a:lstStyle/>
          <a:p>
            <a:r>
              <a:rPr lang="en-US" sz="900" dirty="0">
                <a:solidFill>
                  <a:srgbClr val="1C273A"/>
                </a:solidFill>
              </a:rPr>
              <a:t>Progress risk-based pricing, active credit limit management and GenAI use cases</a:t>
            </a:r>
            <a:endParaRPr lang="en-US" sz="900" dirty="0"/>
          </a:p>
        </p:txBody>
      </p:sp>
      <p:sp>
        <p:nvSpPr>
          <p:cNvPr id="15" name="Shape 13"/>
          <p:cNvSpPr/>
          <p:nvPr/>
        </p:nvSpPr>
        <p:spPr>
          <a:xfrm>
            <a:off x="651510" y="3840480"/>
            <a:ext cx="7749540" cy="0"/>
          </a:xfrm>
          <a:prstGeom prst="line">
            <a:avLst/>
          </a:prstGeom>
          <a:noFill/>
          <a:ln w="15240">
            <a:solidFill>
              <a:srgbClr val="E5EAF0"/>
            </a:solidFill>
            <a:prstDash val="solid"/>
          </a:ln>
        </p:spPr>
        <p:txBody>
          <a:bodyPr/>
          <a:lstStyle/>
          <a:p>
            <a:endParaRPr lang="el-GR" sz="1350"/>
          </a:p>
        </p:txBody>
      </p:sp>
      <p:sp>
        <p:nvSpPr>
          <p:cNvPr id="16" name="Text 14"/>
          <p:cNvSpPr/>
          <p:nvPr/>
        </p:nvSpPr>
        <p:spPr>
          <a:xfrm>
            <a:off x="651510" y="4080510"/>
            <a:ext cx="2057400" cy="178308"/>
          </a:xfrm>
          <a:prstGeom prst="rect">
            <a:avLst/>
          </a:prstGeom>
          <a:noFill/>
          <a:ln/>
        </p:spPr>
        <p:txBody>
          <a:bodyPr wrap="square" lIns="0" tIns="0" rIns="0" bIns="0" rtlCol="0" anchor="ctr"/>
          <a:lstStyle/>
          <a:p>
            <a:r>
              <a:rPr lang="en-US" sz="900" b="1" dirty="0">
                <a:solidFill>
                  <a:srgbClr val="E4002B"/>
                </a:solidFill>
              </a:rPr>
              <a:t>Executive closing message</a:t>
            </a:r>
            <a:endParaRPr lang="en-US" sz="900" dirty="0"/>
          </a:p>
        </p:txBody>
      </p:sp>
      <p:sp>
        <p:nvSpPr>
          <p:cNvPr id="17" name="Text 15"/>
          <p:cNvSpPr/>
          <p:nvPr/>
        </p:nvSpPr>
        <p:spPr>
          <a:xfrm>
            <a:off x="651510" y="4306824"/>
            <a:ext cx="7818120" cy="329184"/>
          </a:xfrm>
          <a:prstGeom prst="rect">
            <a:avLst/>
          </a:prstGeom>
          <a:noFill/>
          <a:ln/>
        </p:spPr>
        <p:txBody>
          <a:bodyPr wrap="square" lIns="0" tIns="0" rIns="0" bIns="0" rtlCol="0" anchor="ctr">
            <a:normAutofit/>
          </a:bodyPr>
          <a:lstStyle/>
          <a:p>
            <a:r>
              <a:rPr lang="en-US" sz="1050" b="1" dirty="0">
                <a:solidFill>
                  <a:srgbClr val="081E49"/>
                </a:solidFill>
              </a:rPr>
              <a:t>We are not relying on market growth alone. We have built a repeatable consumer lending growth model based on digital personalization, targeted propositions and a stronger commercial engine.</a:t>
            </a:r>
            <a:endParaRPr lang="en-US" sz="1050" dirty="0"/>
          </a:p>
        </p:txBody>
      </p:sp>
      <p:sp>
        <p:nvSpPr>
          <p:cNvPr id="18" name="Text 16"/>
          <p:cNvSpPr/>
          <p:nvPr/>
        </p:nvSpPr>
        <p:spPr>
          <a:xfrm>
            <a:off x="356616" y="4855464"/>
            <a:ext cx="3771900" cy="109728"/>
          </a:xfrm>
          <a:prstGeom prst="rect">
            <a:avLst/>
          </a:prstGeom>
          <a:noFill/>
          <a:ln/>
        </p:spPr>
        <p:txBody>
          <a:bodyPr wrap="square" lIns="0" tIns="0" rIns="0" bIns="0" rtlCol="0" anchor="ctr"/>
          <a:lstStyle/>
          <a:p>
            <a:r>
              <a:rPr lang="en-US" sz="563" dirty="0">
                <a:solidFill>
                  <a:srgbClr val="6E7A8A"/>
                </a:solidFill>
              </a:rPr>
              <a:t>Consumer Loans Growth Strategy</a:t>
            </a:r>
            <a:endParaRPr lang="en-US" sz="563"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800" kern="1200">
                <a:solidFill>
                  <a:srgbClr val="081E49"/>
                </a:solidFill>
                <a:latin typeface="Arial"/>
                <a:ea typeface="Arial"/>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BE5441-BAEA-AFD6-E12E-650812DA119E}"/>
              </a:ext>
            </a:extLst>
          </p:cNvPr>
          <p:cNvSpPr txBox="1"/>
          <p:nvPr/>
        </p:nvSpPr>
        <p:spPr>
          <a:xfrm>
            <a:off x="197593" y="1017943"/>
            <a:ext cx="2845764" cy="490134"/>
          </a:xfrm>
          <a:prstGeom prst="rect">
            <a:avLst/>
          </a:prstGeom>
          <a:noFill/>
        </p:spPr>
        <p:txBody>
          <a:bodyPr wrap="square" rtlCol="0">
            <a:spAutoFit/>
          </a:bodyPr>
          <a:lstStyle/>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21342"/>
                </a:solidFill>
                <a:effectLst/>
                <a:uLnTx/>
                <a:uFillTx/>
                <a:latin typeface="Eurobank Sans"/>
                <a:ea typeface="+mn-ea"/>
                <a:cs typeface="Averta Std PE Extrabold" pitchFamily="2" charset="0"/>
              </a:rPr>
              <a:t>Fast Loans</a:t>
            </a:r>
            <a:endParaRPr kumimoji="0" lang="el-GR" sz="1100" b="1"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l-GR"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(12</a:t>
            </a: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,0</a:t>
            </a:r>
            <a:r>
              <a:rPr kumimoji="0" lang="el-GR"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 </a:t>
            </a: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of total disbursements)</a:t>
            </a:r>
            <a:endParaRPr kumimoji="0" lang="el-GR" sz="11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p:txBody>
      </p:sp>
      <p:grpSp>
        <p:nvGrpSpPr>
          <p:cNvPr id="47" name="Group 46">
            <a:extLst>
              <a:ext uri="{FF2B5EF4-FFF2-40B4-BE49-F238E27FC236}">
                <a16:creationId xmlns:a16="http://schemas.microsoft.com/office/drawing/2014/main" id="{030B8450-0B28-3788-9796-DB1DD215BD82}"/>
              </a:ext>
            </a:extLst>
          </p:cNvPr>
          <p:cNvGrpSpPr/>
          <p:nvPr/>
        </p:nvGrpSpPr>
        <p:grpSpPr>
          <a:xfrm>
            <a:off x="1317901" y="514233"/>
            <a:ext cx="605148" cy="605148"/>
            <a:chOff x="579415" y="903963"/>
            <a:chExt cx="605148" cy="605148"/>
          </a:xfrm>
        </p:grpSpPr>
        <p:sp>
          <p:nvSpPr>
            <p:cNvPr id="28" name="Oval 27">
              <a:extLst>
                <a:ext uri="{FF2B5EF4-FFF2-40B4-BE49-F238E27FC236}">
                  <a16:creationId xmlns:a16="http://schemas.microsoft.com/office/drawing/2014/main" id="{4AFD5BA6-1424-0C43-705F-A871D7F56373}"/>
                </a:ext>
              </a:extLst>
            </p:cNvPr>
            <p:cNvSpPr/>
            <p:nvPr/>
          </p:nvSpPr>
          <p:spPr>
            <a:xfrm>
              <a:off x="579415" y="903963"/>
              <a:ext cx="605148" cy="605148"/>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200" b="0" i="0" u="none" strike="noStrike" kern="1200" cap="none" spc="0" normalizeH="0" baseline="0" noProof="0" err="1">
                <a:ln>
                  <a:noFill/>
                </a:ln>
                <a:solidFill>
                  <a:srgbClr val="002060"/>
                </a:solidFill>
                <a:effectLst/>
                <a:uLnTx/>
                <a:uFillTx/>
                <a:latin typeface="Eurobank Sans"/>
                <a:ea typeface="+mn-ea"/>
                <a:cs typeface="+mn-cs"/>
              </a:endParaRPr>
            </a:p>
          </p:txBody>
        </p:sp>
        <p:pic>
          <p:nvPicPr>
            <p:cNvPr id="9" name="Picture 8" descr="A black background with a black square&#10;&#10;Description automatically generated with medium confidence">
              <a:extLst>
                <a:ext uri="{FF2B5EF4-FFF2-40B4-BE49-F238E27FC236}">
                  <a16:creationId xmlns:a16="http://schemas.microsoft.com/office/drawing/2014/main" id="{B3A69CA3-0B9C-1C69-AD40-9C6694BCE9DB}"/>
                </a:ext>
              </a:extLst>
            </p:cNvPr>
            <p:cNvPicPr>
              <a:picLocks noChangeAspect="1"/>
            </p:cNvPicPr>
            <p:nvPr/>
          </p:nvPicPr>
          <p:blipFill>
            <a:blip r:embed="rId2"/>
            <a:stretch>
              <a:fillRect/>
            </a:stretch>
          </p:blipFill>
          <p:spPr>
            <a:xfrm>
              <a:off x="631130" y="955678"/>
              <a:ext cx="501719" cy="501719"/>
            </a:xfrm>
            <a:prstGeom prst="rect">
              <a:avLst/>
            </a:prstGeom>
          </p:spPr>
        </p:pic>
      </p:grpSp>
      <p:grpSp>
        <p:nvGrpSpPr>
          <p:cNvPr id="49" name="Group 48">
            <a:extLst>
              <a:ext uri="{FF2B5EF4-FFF2-40B4-BE49-F238E27FC236}">
                <a16:creationId xmlns:a16="http://schemas.microsoft.com/office/drawing/2014/main" id="{8CB9A95C-2D50-FF41-16B2-43FE1255A352}"/>
              </a:ext>
            </a:extLst>
          </p:cNvPr>
          <p:cNvGrpSpPr/>
          <p:nvPr/>
        </p:nvGrpSpPr>
        <p:grpSpPr>
          <a:xfrm>
            <a:off x="7342665" y="514233"/>
            <a:ext cx="605148" cy="605148"/>
            <a:chOff x="5744350" y="903963"/>
            <a:chExt cx="605148" cy="605148"/>
          </a:xfrm>
        </p:grpSpPr>
        <p:sp>
          <p:nvSpPr>
            <p:cNvPr id="32" name="Oval 31">
              <a:extLst>
                <a:ext uri="{FF2B5EF4-FFF2-40B4-BE49-F238E27FC236}">
                  <a16:creationId xmlns:a16="http://schemas.microsoft.com/office/drawing/2014/main" id="{ED9B18EA-2E54-F33A-60F5-064F96B7B0FD}"/>
                </a:ext>
              </a:extLst>
            </p:cNvPr>
            <p:cNvSpPr/>
            <p:nvPr/>
          </p:nvSpPr>
          <p:spPr>
            <a:xfrm>
              <a:off x="5744350" y="903963"/>
              <a:ext cx="605148" cy="605148"/>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200" b="0" i="0" u="none" strike="noStrike" kern="1200" cap="none" spc="0" normalizeH="0" baseline="0" noProof="0" err="1">
                <a:ln>
                  <a:noFill/>
                </a:ln>
                <a:solidFill>
                  <a:srgbClr val="002060"/>
                </a:solidFill>
                <a:effectLst/>
                <a:uLnTx/>
                <a:uFillTx/>
                <a:latin typeface="Eurobank Sans"/>
                <a:ea typeface="+mn-ea"/>
                <a:cs typeface="+mn-cs"/>
              </a:endParaRPr>
            </a:p>
          </p:txBody>
        </p:sp>
        <p:pic>
          <p:nvPicPr>
            <p:cNvPr id="14" name="Picture 13" descr="A black background with a black square&#10;&#10;Description automatically generated with medium confidence">
              <a:extLst>
                <a:ext uri="{FF2B5EF4-FFF2-40B4-BE49-F238E27FC236}">
                  <a16:creationId xmlns:a16="http://schemas.microsoft.com/office/drawing/2014/main" id="{A7190BDF-C495-120A-1F10-FA59610A4A88}"/>
                </a:ext>
              </a:extLst>
            </p:cNvPr>
            <p:cNvPicPr>
              <a:picLocks noChangeAspect="1"/>
            </p:cNvPicPr>
            <p:nvPr/>
          </p:nvPicPr>
          <p:blipFill>
            <a:blip r:embed="rId3"/>
            <a:stretch>
              <a:fillRect/>
            </a:stretch>
          </p:blipFill>
          <p:spPr>
            <a:xfrm>
              <a:off x="5822814" y="982354"/>
              <a:ext cx="448221" cy="448221"/>
            </a:xfrm>
            <a:prstGeom prst="rect">
              <a:avLst/>
            </a:prstGeom>
          </p:spPr>
        </p:pic>
      </p:grpSp>
      <p:grpSp>
        <p:nvGrpSpPr>
          <p:cNvPr id="52" name="Group 51">
            <a:extLst>
              <a:ext uri="{FF2B5EF4-FFF2-40B4-BE49-F238E27FC236}">
                <a16:creationId xmlns:a16="http://schemas.microsoft.com/office/drawing/2014/main" id="{EA723122-CAD8-EDC6-FDE6-EF766B9B5B97}"/>
              </a:ext>
            </a:extLst>
          </p:cNvPr>
          <p:cNvGrpSpPr/>
          <p:nvPr/>
        </p:nvGrpSpPr>
        <p:grpSpPr>
          <a:xfrm>
            <a:off x="2901407" y="2887171"/>
            <a:ext cx="605148" cy="605148"/>
            <a:chOff x="7418382" y="3010140"/>
            <a:chExt cx="605148" cy="605148"/>
          </a:xfrm>
        </p:grpSpPr>
        <p:sp>
          <p:nvSpPr>
            <p:cNvPr id="30" name="Oval 29">
              <a:extLst>
                <a:ext uri="{FF2B5EF4-FFF2-40B4-BE49-F238E27FC236}">
                  <a16:creationId xmlns:a16="http://schemas.microsoft.com/office/drawing/2014/main" id="{B1DCDA0E-0B14-3ACA-AB61-173654FBC61D}"/>
                </a:ext>
              </a:extLst>
            </p:cNvPr>
            <p:cNvSpPr/>
            <p:nvPr/>
          </p:nvSpPr>
          <p:spPr>
            <a:xfrm>
              <a:off x="7418382" y="3010140"/>
              <a:ext cx="605148" cy="605148"/>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200" b="0" i="0" u="none" strike="noStrike" kern="1200" cap="none" spc="0" normalizeH="0" baseline="0" noProof="0" err="1">
                <a:ln>
                  <a:noFill/>
                </a:ln>
                <a:solidFill>
                  <a:srgbClr val="002060"/>
                </a:solidFill>
                <a:effectLst/>
                <a:uLnTx/>
                <a:uFillTx/>
                <a:latin typeface="Eurobank Sans"/>
                <a:ea typeface="+mn-ea"/>
                <a:cs typeface="+mn-cs"/>
              </a:endParaRPr>
            </a:p>
          </p:txBody>
        </p:sp>
        <p:pic>
          <p:nvPicPr>
            <p:cNvPr id="16" name="Picture 15" descr="A black background with a black square&#10;&#10;Description automatically generated with medium confidence">
              <a:extLst>
                <a:ext uri="{FF2B5EF4-FFF2-40B4-BE49-F238E27FC236}">
                  <a16:creationId xmlns:a16="http://schemas.microsoft.com/office/drawing/2014/main" id="{FA33894D-30C4-D0A3-1C30-F799CB1F32BB}"/>
                </a:ext>
              </a:extLst>
            </p:cNvPr>
            <p:cNvPicPr>
              <a:picLocks noChangeAspect="1"/>
            </p:cNvPicPr>
            <p:nvPr/>
          </p:nvPicPr>
          <p:blipFill>
            <a:blip r:embed="rId4"/>
            <a:stretch>
              <a:fillRect/>
            </a:stretch>
          </p:blipFill>
          <p:spPr>
            <a:xfrm>
              <a:off x="7496846" y="3088604"/>
              <a:ext cx="448221" cy="448221"/>
            </a:xfrm>
            <a:prstGeom prst="rect">
              <a:avLst/>
            </a:prstGeom>
          </p:spPr>
        </p:pic>
      </p:grpSp>
      <p:sp>
        <p:nvSpPr>
          <p:cNvPr id="25" name="TextBox 24">
            <a:extLst>
              <a:ext uri="{FF2B5EF4-FFF2-40B4-BE49-F238E27FC236}">
                <a16:creationId xmlns:a16="http://schemas.microsoft.com/office/drawing/2014/main" id="{6F1D545C-962C-6FAD-0656-E72F4C8CC999}"/>
              </a:ext>
            </a:extLst>
          </p:cNvPr>
          <p:cNvSpPr txBox="1"/>
          <p:nvPr/>
        </p:nvSpPr>
        <p:spPr>
          <a:xfrm>
            <a:off x="6301235" y="1067595"/>
            <a:ext cx="2582705" cy="490134"/>
          </a:xfrm>
          <a:prstGeom prst="rect">
            <a:avLst/>
          </a:prstGeom>
          <a:noFill/>
        </p:spPr>
        <p:txBody>
          <a:bodyPr wrap="square" rtlCol="0">
            <a:spAutoFit/>
          </a:bodyPr>
          <a:lstStyle/>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21342"/>
                </a:solidFill>
                <a:effectLst/>
                <a:uLnTx/>
                <a:uFillTx/>
                <a:latin typeface="Eurobank Sans"/>
                <a:ea typeface="+mn-ea"/>
                <a:cs typeface="Averta Std PE Extrabold" pitchFamily="2" charset="0"/>
              </a:rPr>
              <a:t>Group Sales Loan</a:t>
            </a:r>
          </a:p>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(40,8% of total disbursements)</a:t>
            </a:r>
            <a:endParaRPr kumimoji="0" lang="el-GR" sz="1100" b="0" i="0" u="none" strike="noStrike" kern="1200" cap="none" spc="0" normalizeH="0" baseline="0" noProof="0" err="1">
              <a:ln>
                <a:noFill/>
              </a:ln>
              <a:solidFill>
                <a:srgbClr val="021342"/>
              </a:solidFill>
              <a:effectLst/>
              <a:uLnTx/>
              <a:uFillTx/>
              <a:latin typeface="Eurobank Sans"/>
              <a:ea typeface="+mn-ea"/>
              <a:cs typeface="Averta Std PE Extrabold" pitchFamily="2" charset="0"/>
            </a:endParaRPr>
          </a:p>
        </p:txBody>
      </p:sp>
      <p:sp>
        <p:nvSpPr>
          <p:cNvPr id="26" name="TextBox 25">
            <a:extLst>
              <a:ext uri="{FF2B5EF4-FFF2-40B4-BE49-F238E27FC236}">
                <a16:creationId xmlns:a16="http://schemas.microsoft.com/office/drawing/2014/main" id="{7A3877EC-CBDF-B61C-355E-FC67A90A3C0F}"/>
              </a:ext>
            </a:extLst>
          </p:cNvPr>
          <p:cNvSpPr txBox="1"/>
          <p:nvPr/>
        </p:nvSpPr>
        <p:spPr>
          <a:xfrm>
            <a:off x="1669409" y="3443031"/>
            <a:ext cx="3047977" cy="490134"/>
          </a:xfrm>
          <a:prstGeom prst="rect">
            <a:avLst/>
          </a:prstGeom>
          <a:noFill/>
        </p:spPr>
        <p:txBody>
          <a:bodyPr wrap="square" rtlCol="0">
            <a:spAutoFit/>
          </a:bodyPr>
          <a:lstStyle/>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21342"/>
                </a:solidFill>
                <a:effectLst/>
                <a:uLnTx/>
                <a:uFillTx/>
                <a:latin typeface="Eurobank Sans"/>
                <a:ea typeface="+mn-ea"/>
                <a:cs typeface="Averta Std PE Extrabold" pitchFamily="2" charset="0"/>
              </a:rPr>
              <a:t>PB Prime Loan</a:t>
            </a:r>
          </a:p>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(7,4% of total disbursements)</a:t>
            </a:r>
            <a:endParaRPr kumimoji="0" lang="el-GR" sz="1100" b="0" i="0" u="none" strike="noStrike" kern="1200" cap="none" spc="0" normalizeH="0" baseline="0" noProof="0" err="1">
              <a:ln>
                <a:noFill/>
              </a:ln>
              <a:solidFill>
                <a:srgbClr val="021342"/>
              </a:solidFill>
              <a:effectLst/>
              <a:uLnTx/>
              <a:uFillTx/>
              <a:latin typeface="Eurobank Sans"/>
              <a:ea typeface="+mn-ea"/>
              <a:cs typeface="Averta Std PE Extrabold" pitchFamily="2" charset="0"/>
            </a:endParaRPr>
          </a:p>
        </p:txBody>
      </p:sp>
      <p:sp>
        <p:nvSpPr>
          <p:cNvPr id="35" name="TextBox 34">
            <a:extLst>
              <a:ext uri="{FF2B5EF4-FFF2-40B4-BE49-F238E27FC236}">
                <a16:creationId xmlns:a16="http://schemas.microsoft.com/office/drawing/2014/main" id="{1EF28F23-E174-0A2C-CDBC-F5CFD2EB3AF7}"/>
              </a:ext>
            </a:extLst>
          </p:cNvPr>
          <p:cNvSpPr txBox="1"/>
          <p:nvPr/>
        </p:nvSpPr>
        <p:spPr>
          <a:xfrm>
            <a:off x="5108695" y="3443031"/>
            <a:ext cx="2553345" cy="490134"/>
          </a:xfrm>
          <a:prstGeom prst="rect">
            <a:avLst/>
          </a:prstGeom>
          <a:noFill/>
        </p:spPr>
        <p:txBody>
          <a:bodyPr wrap="square" rtlCol="0">
            <a:spAutoFit/>
          </a:bodyPr>
          <a:lstStyle/>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21342"/>
                </a:solidFill>
                <a:effectLst/>
                <a:uLnTx/>
                <a:uFillTx/>
                <a:latin typeface="Eurobank Sans"/>
                <a:ea typeface="+mn-ea"/>
                <a:cs typeface="Averta Std PE Extrabold" pitchFamily="2" charset="0"/>
              </a:rPr>
              <a:t>Cash Plus Loan</a:t>
            </a:r>
          </a:p>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(1,0% of total disbursements)</a:t>
            </a:r>
            <a:endParaRPr kumimoji="0" lang="el-GR" sz="1100" b="0" i="0" u="none" strike="noStrike" kern="1200" cap="none" spc="0" normalizeH="0" baseline="0" noProof="0" err="1">
              <a:ln>
                <a:noFill/>
              </a:ln>
              <a:solidFill>
                <a:srgbClr val="021342"/>
              </a:solidFill>
              <a:effectLst/>
              <a:uLnTx/>
              <a:uFillTx/>
              <a:latin typeface="Eurobank Sans"/>
              <a:ea typeface="+mn-ea"/>
              <a:cs typeface="Averta Std PE Extrabold" pitchFamily="2" charset="0"/>
            </a:endParaRPr>
          </a:p>
        </p:txBody>
      </p:sp>
      <p:sp>
        <p:nvSpPr>
          <p:cNvPr id="36" name="TextBox 35">
            <a:extLst>
              <a:ext uri="{FF2B5EF4-FFF2-40B4-BE49-F238E27FC236}">
                <a16:creationId xmlns:a16="http://schemas.microsoft.com/office/drawing/2014/main" id="{7590B835-12A8-0EBD-AD1A-6BBE9DBBF783}"/>
              </a:ext>
            </a:extLst>
          </p:cNvPr>
          <p:cNvSpPr txBox="1"/>
          <p:nvPr/>
        </p:nvSpPr>
        <p:spPr>
          <a:xfrm>
            <a:off x="29880" y="1488047"/>
            <a:ext cx="3259099" cy="1377300"/>
          </a:xfrm>
          <a:prstGeom prst="rect">
            <a:avLst/>
          </a:prstGeom>
          <a:noFill/>
        </p:spPr>
        <p:txBody>
          <a:bodyPr wrap="square" rtlCol="0">
            <a:spAutoFit/>
          </a:bodyPr>
          <a:lstStyle/>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Small loan amount, with minimum requirement of documents.</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Automation Rate&gt; 90%, </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simplified &amp; fast process</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Max</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 15min, </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digital Channel’s Time to Money</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 </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Best selling via Eurobank Mobile App.</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My Fast Loan </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addresses to preselected customers with pre-advised limits, using advanced analytics.</a:t>
            </a:r>
          </a:p>
        </p:txBody>
      </p:sp>
      <p:sp>
        <p:nvSpPr>
          <p:cNvPr id="38" name="TextBox 37">
            <a:extLst>
              <a:ext uri="{FF2B5EF4-FFF2-40B4-BE49-F238E27FC236}">
                <a16:creationId xmlns:a16="http://schemas.microsoft.com/office/drawing/2014/main" id="{B1D8581D-2057-8419-BBD1-76D2C509784F}"/>
              </a:ext>
            </a:extLst>
          </p:cNvPr>
          <p:cNvSpPr txBox="1"/>
          <p:nvPr/>
        </p:nvSpPr>
        <p:spPr>
          <a:xfrm>
            <a:off x="3362357" y="1067595"/>
            <a:ext cx="2492666" cy="490134"/>
          </a:xfrm>
          <a:prstGeom prst="rect">
            <a:avLst/>
          </a:prstGeom>
          <a:noFill/>
        </p:spPr>
        <p:txBody>
          <a:bodyPr wrap="square" rtlCol="0">
            <a:spAutoFit/>
          </a:bodyPr>
          <a:lstStyle/>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21342"/>
                </a:solidFill>
                <a:effectLst/>
                <a:uLnTx/>
                <a:uFillTx/>
                <a:latin typeface="Eurobank Sans"/>
                <a:ea typeface="+mn-ea"/>
                <a:cs typeface="Averta Std PE Extrabold" pitchFamily="2" charset="0"/>
              </a:rPr>
              <a:t>Public Sector Loan</a:t>
            </a:r>
          </a:p>
          <a:p>
            <a:pPr marL="36000" marR="0" lvl="0" indent="0" algn="ctr" defTabSz="457200" rtl="0" eaLnBrk="1" fontAlgn="auto" latinLnBrk="0" hangingPunct="1">
              <a:lnSpc>
                <a:spcPct val="12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Averta Std PE Extrabold" pitchFamily="2" charset="0"/>
              </a:rPr>
              <a:t>(26,2% of total disbursements)</a:t>
            </a:r>
            <a:endParaRPr kumimoji="0" lang="el-GR" sz="1100" b="0" i="0" u="none" strike="noStrike" kern="1200" cap="none" spc="0" normalizeH="0" baseline="0" noProof="0" err="1">
              <a:ln>
                <a:noFill/>
              </a:ln>
              <a:solidFill>
                <a:srgbClr val="021342"/>
              </a:solidFill>
              <a:effectLst/>
              <a:uLnTx/>
              <a:uFillTx/>
              <a:latin typeface="Eurobank Sans"/>
              <a:ea typeface="+mn-ea"/>
              <a:cs typeface="Averta Std PE Extrabold" pitchFamily="2" charset="0"/>
            </a:endParaRPr>
          </a:p>
        </p:txBody>
      </p:sp>
      <p:grpSp>
        <p:nvGrpSpPr>
          <p:cNvPr id="48" name="Group 47">
            <a:extLst>
              <a:ext uri="{FF2B5EF4-FFF2-40B4-BE49-F238E27FC236}">
                <a16:creationId xmlns:a16="http://schemas.microsoft.com/office/drawing/2014/main" id="{0988511B-FF1E-91AE-E1DC-02EAC157E571}"/>
              </a:ext>
            </a:extLst>
          </p:cNvPr>
          <p:cNvGrpSpPr/>
          <p:nvPr/>
        </p:nvGrpSpPr>
        <p:grpSpPr>
          <a:xfrm>
            <a:off x="4316098" y="514233"/>
            <a:ext cx="605148" cy="605148"/>
            <a:chOff x="3179847" y="903963"/>
            <a:chExt cx="605148" cy="605148"/>
          </a:xfrm>
        </p:grpSpPr>
        <p:sp>
          <p:nvSpPr>
            <p:cNvPr id="37" name="Oval 36">
              <a:extLst>
                <a:ext uri="{FF2B5EF4-FFF2-40B4-BE49-F238E27FC236}">
                  <a16:creationId xmlns:a16="http://schemas.microsoft.com/office/drawing/2014/main" id="{B9236BC6-AACE-41A1-1F03-51725EE8565E}"/>
                </a:ext>
              </a:extLst>
            </p:cNvPr>
            <p:cNvSpPr/>
            <p:nvPr/>
          </p:nvSpPr>
          <p:spPr>
            <a:xfrm>
              <a:off x="3179847" y="903963"/>
              <a:ext cx="605148" cy="605148"/>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200" b="0" i="0" u="none" strike="noStrike" kern="1200" cap="none" spc="0" normalizeH="0" baseline="0" noProof="0" err="1">
                <a:ln>
                  <a:noFill/>
                </a:ln>
                <a:solidFill>
                  <a:srgbClr val="002060"/>
                </a:solidFill>
                <a:effectLst/>
                <a:uLnTx/>
                <a:uFillTx/>
                <a:latin typeface="Eurobank Sans"/>
                <a:ea typeface="+mn-ea"/>
                <a:cs typeface="+mn-cs"/>
              </a:endParaRPr>
            </a:p>
          </p:txBody>
        </p:sp>
        <p:pic>
          <p:nvPicPr>
            <p:cNvPr id="39" name="Picture 38" descr="A black background with a black square&#10;&#10;Description automatically generated with medium confidence">
              <a:extLst>
                <a:ext uri="{FF2B5EF4-FFF2-40B4-BE49-F238E27FC236}">
                  <a16:creationId xmlns:a16="http://schemas.microsoft.com/office/drawing/2014/main" id="{B43984E4-75DB-F12B-4473-CD0C60C847C2}"/>
                </a:ext>
              </a:extLst>
            </p:cNvPr>
            <p:cNvPicPr>
              <a:picLocks noChangeAspect="1"/>
            </p:cNvPicPr>
            <p:nvPr/>
          </p:nvPicPr>
          <p:blipFill>
            <a:blip r:embed="rId5"/>
            <a:stretch>
              <a:fillRect/>
            </a:stretch>
          </p:blipFill>
          <p:spPr>
            <a:xfrm>
              <a:off x="3263176" y="987292"/>
              <a:ext cx="438490" cy="438490"/>
            </a:xfrm>
            <a:prstGeom prst="rect">
              <a:avLst/>
            </a:prstGeom>
          </p:spPr>
        </p:pic>
      </p:grpSp>
      <p:sp>
        <p:nvSpPr>
          <p:cNvPr id="40" name="TextBox 39">
            <a:extLst>
              <a:ext uri="{FF2B5EF4-FFF2-40B4-BE49-F238E27FC236}">
                <a16:creationId xmlns:a16="http://schemas.microsoft.com/office/drawing/2014/main" id="{CFF54B31-E84A-D7D3-727A-680B6514BC1B}"/>
              </a:ext>
            </a:extLst>
          </p:cNvPr>
          <p:cNvSpPr txBox="1"/>
          <p:nvPr/>
        </p:nvSpPr>
        <p:spPr>
          <a:xfrm>
            <a:off x="3240952" y="1488047"/>
            <a:ext cx="2986905" cy="1377300"/>
          </a:xfrm>
          <a:prstGeom prst="rect">
            <a:avLst/>
          </a:prstGeom>
          <a:noFill/>
        </p:spPr>
        <p:txBody>
          <a:bodyPr wrap="square" rtlCol="0">
            <a:spAutoFit/>
          </a:bodyPr>
          <a:lstStyle/>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Unique offering </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in the Greek Market (competitive advantage).</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Addresses to Public Sector’s employees.</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Installments paid directly from Public Agencies. </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Excellent performance (low default rates).</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&gt;70%</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 high Approval Rate.</a:t>
            </a:r>
          </a:p>
        </p:txBody>
      </p:sp>
      <p:sp>
        <p:nvSpPr>
          <p:cNvPr id="41" name="TextBox 40">
            <a:extLst>
              <a:ext uri="{FF2B5EF4-FFF2-40B4-BE49-F238E27FC236}">
                <a16:creationId xmlns:a16="http://schemas.microsoft.com/office/drawing/2014/main" id="{E4531A9F-6510-4C1D-FAE1-DFAE51CE7E43}"/>
              </a:ext>
            </a:extLst>
          </p:cNvPr>
          <p:cNvSpPr txBox="1"/>
          <p:nvPr/>
        </p:nvSpPr>
        <p:spPr>
          <a:xfrm>
            <a:off x="6146479" y="1488047"/>
            <a:ext cx="2997521" cy="1192634"/>
          </a:xfrm>
          <a:prstGeom prst="rect">
            <a:avLst/>
          </a:prstGeom>
          <a:noFill/>
        </p:spPr>
        <p:txBody>
          <a:bodyPr wrap="square" rtlCol="0">
            <a:spAutoFit/>
          </a:bodyPr>
          <a:lstStyle/>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Addresses to </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Group Sales</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 Customers.</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Payroll account connected as a service account &amp; </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installments are synched with payment</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 of payroll. </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Good performance (low default rates).</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Highest contribution </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in new disbursements.</a:t>
            </a:r>
          </a:p>
        </p:txBody>
      </p:sp>
      <p:grpSp>
        <p:nvGrpSpPr>
          <p:cNvPr id="51" name="Group 50">
            <a:extLst>
              <a:ext uri="{FF2B5EF4-FFF2-40B4-BE49-F238E27FC236}">
                <a16:creationId xmlns:a16="http://schemas.microsoft.com/office/drawing/2014/main" id="{08A3ECC2-F1E6-2A8E-C762-854F43ACB3E1}"/>
              </a:ext>
            </a:extLst>
          </p:cNvPr>
          <p:cNvGrpSpPr/>
          <p:nvPr/>
        </p:nvGrpSpPr>
        <p:grpSpPr>
          <a:xfrm>
            <a:off x="6082793" y="2887171"/>
            <a:ext cx="605148" cy="605148"/>
            <a:chOff x="4679586" y="3303025"/>
            <a:chExt cx="605148" cy="605148"/>
          </a:xfrm>
        </p:grpSpPr>
        <p:sp>
          <p:nvSpPr>
            <p:cNvPr id="33" name="Oval 32">
              <a:extLst>
                <a:ext uri="{FF2B5EF4-FFF2-40B4-BE49-F238E27FC236}">
                  <a16:creationId xmlns:a16="http://schemas.microsoft.com/office/drawing/2014/main" id="{C71E8DEB-52F3-76C8-0D6D-654E82C40C6D}"/>
                </a:ext>
              </a:extLst>
            </p:cNvPr>
            <p:cNvSpPr/>
            <p:nvPr/>
          </p:nvSpPr>
          <p:spPr>
            <a:xfrm>
              <a:off x="4679586" y="3303025"/>
              <a:ext cx="605148" cy="605148"/>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200" b="0" i="0" u="none" strike="noStrike" kern="1200" cap="none" spc="0" normalizeH="0" baseline="0" noProof="0" err="1">
                <a:ln>
                  <a:noFill/>
                </a:ln>
                <a:solidFill>
                  <a:srgbClr val="002060"/>
                </a:solidFill>
                <a:effectLst/>
                <a:uLnTx/>
                <a:uFillTx/>
                <a:latin typeface="Eurobank Sans"/>
                <a:ea typeface="+mn-ea"/>
                <a:cs typeface="+mn-cs"/>
              </a:endParaRPr>
            </a:p>
          </p:txBody>
        </p:sp>
        <p:pic>
          <p:nvPicPr>
            <p:cNvPr id="43" name="Picture 42" descr="A black background with a black square&#10;&#10;Description automatically generated with medium confidence">
              <a:extLst>
                <a:ext uri="{FF2B5EF4-FFF2-40B4-BE49-F238E27FC236}">
                  <a16:creationId xmlns:a16="http://schemas.microsoft.com/office/drawing/2014/main" id="{5BB8D7F6-0185-33DB-35F3-F7561DD7CD4E}"/>
                </a:ext>
              </a:extLst>
            </p:cNvPr>
            <p:cNvPicPr>
              <a:picLocks noChangeAspect="1"/>
            </p:cNvPicPr>
            <p:nvPr/>
          </p:nvPicPr>
          <p:blipFill>
            <a:blip r:embed="rId6"/>
            <a:stretch>
              <a:fillRect/>
            </a:stretch>
          </p:blipFill>
          <p:spPr>
            <a:xfrm>
              <a:off x="4814527" y="3437966"/>
              <a:ext cx="335267" cy="335267"/>
            </a:xfrm>
            <a:prstGeom prst="rect">
              <a:avLst/>
            </a:prstGeom>
          </p:spPr>
        </p:pic>
      </p:grpSp>
      <p:sp>
        <p:nvSpPr>
          <p:cNvPr id="45" name="TextBox 44">
            <a:extLst>
              <a:ext uri="{FF2B5EF4-FFF2-40B4-BE49-F238E27FC236}">
                <a16:creationId xmlns:a16="http://schemas.microsoft.com/office/drawing/2014/main" id="{CA7E71FE-75BF-6E43-998C-3E7C49A433B6}"/>
              </a:ext>
            </a:extLst>
          </p:cNvPr>
          <p:cNvSpPr txBox="1"/>
          <p:nvPr/>
        </p:nvSpPr>
        <p:spPr>
          <a:xfrm>
            <a:off x="5180117" y="3948969"/>
            <a:ext cx="2689233" cy="1192634"/>
          </a:xfrm>
          <a:prstGeom prst="rect">
            <a:avLst/>
          </a:prstGeom>
          <a:noFill/>
        </p:spPr>
        <p:txBody>
          <a:bodyPr wrap="square" rtlCol="0">
            <a:spAutoFit/>
          </a:bodyPr>
          <a:lstStyle/>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Offered exclusively to PB Standard Customers.</a:t>
            </a:r>
          </a:p>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Targeted pricing based on clientele’s profile.</a:t>
            </a:r>
          </a:p>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High approval rates. </a:t>
            </a:r>
          </a:p>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p:txBody>
      </p:sp>
      <p:sp>
        <p:nvSpPr>
          <p:cNvPr id="46" name="TextBox 45">
            <a:extLst>
              <a:ext uri="{FF2B5EF4-FFF2-40B4-BE49-F238E27FC236}">
                <a16:creationId xmlns:a16="http://schemas.microsoft.com/office/drawing/2014/main" id="{2EB4F8F5-7C2B-5AFD-5EBC-893AE107F801}"/>
              </a:ext>
            </a:extLst>
          </p:cNvPr>
          <p:cNvSpPr txBox="1"/>
          <p:nvPr/>
        </p:nvSpPr>
        <p:spPr>
          <a:xfrm>
            <a:off x="1549904" y="3928473"/>
            <a:ext cx="3371342" cy="1561966"/>
          </a:xfrm>
          <a:prstGeom prst="rect">
            <a:avLst/>
          </a:prstGeom>
          <a:noFill/>
        </p:spPr>
        <p:txBody>
          <a:bodyPr wrap="square" rtlCol="0">
            <a:spAutoFit/>
          </a:bodyPr>
          <a:lstStyle/>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Offered exclusively to PB Prime Customers, with </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favorable pricing</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 </a:t>
            </a:r>
          </a:p>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The product contributed significantly to strengthening of “lending culture” of the specific clientele. </a:t>
            </a:r>
          </a:p>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&gt; 83% Increased Approval Rates, </a:t>
            </a:r>
            <a:r>
              <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rPr>
              <a:t>due to customers’ profile</a:t>
            </a:r>
            <a:r>
              <a:rPr kumimoji="0" lang="en-US" sz="1000" b="1" i="0" u="none" strike="noStrike" kern="1200" cap="none" spc="0" normalizeH="0" baseline="0" noProof="0">
                <a:ln>
                  <a:noFill/>
                </a:ln>
                <a:solidFill>
                  <a:srgbClr val="021342"/>
                </a:solidFill>
                <a:effectLst/>
                <a:uLnTx/>
                <a:uFillTx/>
                <a:latin typeface="Eurobank Sans"/>
                <a:ea typeface="+mn-ea"/>
                <a:cs typeface="Averta Std PE Extrabold" pitchFamily="2" charset="0"/>
              </a:rPr>
              <a:t>.</a:t>
            </a: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a:p>
            <a:pPr marL="207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21342"/>
              </a:solidFill>
              <a:effectLst/>
              <a:uLnTx/>
              <a:uFillTx/>
              <a:latin typeface="Eurobank Sans"/>
              <a:ea typeface="+mn-ea"/>
              <a:cs typeface="Averta Std PE Extrabold" pitchFamily="2" charset="0"/>
            </a:endParaRPr>
          </a:p>
        </p:txBody>
      </p:sp>
      <p:sp>
        <p:nvSpPr>
          <p:cNvPr id="4" name="Text Placeholder 8">
            <a:extLst>
              <a:ext uri="{FF2B5EF4-FFF2-40B4-BE49-F238E27FC236}">
                <a16:creationId xmlns:a16="http://schemas.microsoft.com/office/drawing/2014/main" id="{56988E83-89F8-B217-F3FE-E5A2D5C3BA2D}"/>
              </a:ext>
            </a:extLst>
          </p:cNvPr>
          <p:cNvSpPr txBox="1">
            <a:spLocks/>
          </p:cNvSpPr>
          <p:nvPr/>
        </p:nvSpPr>
        <p:spPr>
          <a:xfrm>
            <a:off x="180668" y="208972"/>
            <a:ext cx="6120567" cy="149584"/>
          </a:xfrm>
          <a:prstGeom prst="rect">
            <a:avLst/>
          </a:prstGeom>
        </p:spPr>
        <p:txBody>
          <a:bodyPr vert="horz" lIns="0" tIns="0" rIns="0" bIns="0" rtlCol="0" anchor="t" anchorCtr="0">
            <a:noAutofit/>
          </a:bodyPr>
          <a:lstStyle>
            <a:lvl1pPr marL="0" indent="0" algn="l" defTabSz="342900" rtl="0" eaLnBrk="1" latinLnBrk="0" hangingPunct="1">
              <a:lnSpc>
                <a:spcPts val="1024"/>
              </a:lnSpc>
              <a:spcBef>
                <a:spcPct val="20000"/>
              </a:spcBef>
              <a:spcAft>
                <a:spcPts val="1125"/>
              </a:spcAft>
              <a:buFontTx/>
              <a:buNone/>
              <a:defRPr sz="1600" b="0" i="0" kern="1200" baseline="0">
                <a:solidFill>
                  <a:srgbClr val="021342"/>
                </a:solidFill>
                <a:latin typeface="Eurobank Sans" panose="02000503000000020004" pitchFamily="2" charset="0"/>
                <a:ea typeface="+mn-ea"/>
                <a:cs typeface="Eurobank Sans" panose="02000503000000020004" pitchFamily="2" charset="0"/>
              </a:defRPr>
            </a:lvl1pPr>
            <a:lvl2pPr marL="342900" indent="0" algn="l" defTabSz="342900" rtl="0" eaLnBrk="1" latinLnBrk="0" hangingPunct="1">
              <a:spcBef>
                <a:spcPct val="20000"/>
              </a:spcBef>
              <a:spcAft>
                <a:spcPts val="675"/>
              </a:spcAft>
              <a:buFontTx/>
              <a:buNone/>
              <a:defRPr sz="1350" b="0" i="0" kern="1200">
                <a:solidFill>
                  <a:schemeClr val="tx1">
                    <a:tint val="75000"/>
                  </a:schemeClr>
                </a:solidFill>
                <a:latin typeface="Averta Std PE" pitchFamily="2" charset="0"/>
                <a:ea typeface="+mn-ea"/>
                <a:cs typeface="Averta Std PE" pitchFamily="2" charset="0"/>
              </a:defRPr>
            </a:lvl2pPr>
            <a:lvl3pPr marL="685800" indent="0" algn="l" defTabSz="342900" rtl="0" eaLnBrk="1" latinLnBrk="0" hangingPunct="1">
              <a:spcBef>
                <a:spcPct val="20000"/>
              </a:spcBef>
              <a:buFontTx/>
              <a:buNone/>
              <a:defRPr sz="1200" b="0" i="0" kern="1200">
                <a:solidFill>
                  <a:schemeClr val="tx1">
                    <a:tint val="75000"/>
                  </a:schemeClr>
                </a:solidFill>
                <a:latin typeface="Averta Std PE" pitchFamily="2" charset="0"/>
                <a:ea typeface="+mn-ea"/>
                <a:cs typeface="Averta Std PE" pitchFamily="2" charset="0"/>
              </a:defRPr>
            </a:lvl3pPr>
            <a:lvl4pPr marL="1028700" indent="0" algn="l" defTabSz="342900" rtl="0" eaLnBrk="1" latinLnBrk="0" hangingPunct="1">
              <a:spcBef>
                <a:spcPct val="20000"/>
              </a:spcBef>
              <a:buFont typeface="Arial"/>
              <a:buNone/>
              <a:defRPr sz="1050" b="0" i="0" kern="1200">
                <a:solidFill>
                  <a:schemeClr val="tx1">
                    <a:tint val="75000"/>
                  </a:schemeClr>
                </a:solidFill>
                <a:latin typeface="Averta Std PE" pitchFamily="2" charset="0"/>
                <a:ea typeface="+mn-ea"/>
                <a:cs typeface="Averta Std PE" pitchFamily="2" charset="0"/>
              </a:defRPr>
            </a:lvl4pPr>
            <a:lvl5pPr marL="1371600" indent="0" algn="l" defTabSz="342900" rtl="0" eaLnBrk="1" latinLnBrk="0" hangingPunct="1">
              <a:spcBef>
                <a:spcPct val="20000"/>
              </a:spcBef>
              <a:buFont typeface="Arial"/>
              <a:buNone/>
              <a:defRPr sz="1050" b="0" i="0" kern="1200">
                <a:solidFill>
                  <a:schemeClr val="tx1">
                    <a:tint val="75000"/>
                  </a:schemeClr>
                </a:solidFill>
                <a:latin typeface="Averta Std PE" pitchFamily="2" charset="0"/>
                <a:ea typeface="+mn-ea"/>
                <a:cs typeface="Averta Std PE" pitchFamily="2" charset="0"/>
              </a:defRPr>
            </a:lvl5pPr>
            <a:lvl6pPr marL="17145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6pPr>
            <a:lvl7pPr marL="20574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7pPr>
            <a:lvl8pPr marL="24003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8pPr>
            <a:lvl9pPr marL="27432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9pPr>
          </a:lstStyle>
          <a:p>
            <a:pPr marL="0" marR="0" lvl="0" indent="0" algn="l" defTabSz="342900" rtl="0" eaLnBrk="1" fontAlgn="auto" latinLnBrk="0" hangingPunct="1">
              <a:lnSpc>
                <a:spcPts val="1024"/>
              </a:lnSpc>
              <a:spcBef>
                <a:spcPct val="20000"/>
              </a:spcBef>
              <a:spcAft>
                <a:spcPts val="1125"/>
              </a:spcAft>
              <a:buClrTx/>
              <a:buSzTx/>
              <a:buFontTx/>
              <a:buNone/>
              <a:tabLst/>
              <a:defRPr/>
            </a:pPr>
            <a:r>
              <a:rPr kumimoji="0" lang="en-US" sz="1600" b="0" i="0" u="none" strike="noStrike" kern="1200" cap="none" spc="0" normalizeH="0" baseline="0" noProof="0">
                <a:ln>
                  <a:noFill/>
                </a:ln>
                <a:solidFill>
                  <a:srgbClr val="021342"/>
                </a:solidFill>
                <a:effectLst/>
                <a:uLnTx/>
                <a:uFillTx/>
                <a:latin typeface="Eurobank Sans" panose="02000503000000020004" pitchFamily="2" charset="0"/>
                <a:ea typeface="+mn-ea"/>
              </a:rPr>
              <a:t>Consumer Loans Strategic Initiatives: Offering </a:t>
            </a:r>
          </a:p>
        </p:txBody>
      </p:sp>
    </p:spTree>
    <p:extLst>
      <p:ext uri="{BB962C8B-B14F-4D97-AF65-F5344CB8AC3E}">
        <p14:creationId xmlns:p14="http://schemas.microsoft.com/office/powerpoint/2010/main" val="643913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4E4FB-DC7F-3BA2-94F5-0ADF498C5388}"/>
            </a:ext>
          </a:extLst>
        </p:cNvPr>
        <p:cNvGrpSpPr/>
        <p:nvPr/>
      </p:nvGrpSpPr>
      <p:grpSpPr>
        <a:xfrm>
          <a:off x="0" y="0"/>
          <a:ext cx="0" cy="0"/>
          <a:chOff x="0" y="0"/>
          <a:chExt cx="0" cy="0"/>
        </a:xfrm>
      </p:grpSpPr>
      <p:sp>
        <p:nvSpPr>
          <p:cNvPr id="10" name="object 53">
            <a:extLst>
              <a:ext uri="{FF2B5EF4-FFF2-40B4-BE49-F238E27FC236}">
                <a16:creationId xmlns:a16="http://schemas.microsoft.com/office/drawing/2014/main" id="{78E56365-50A2-DF56-A00C-6B6E58D7048A}"/>
              </a:ext>
            </a:extLst>
          </p:cNvPr>
          <p:cNvSpPr/>
          <p:nvPr/>
        </p:nvSpPr>
        <p:spPr>
          <a:xfrm>
            <a:off x="582055" y="795448"/>
            <a:ext cx="3989945" cy="361086"/>
          </a:xfrm>
          <a:custGeom>
            <a:avLst/>
            <a:gdLst/>
            <a:ahLst/>
            <a:cxnLst/>
            <a:rect l="l" t="t" r="r" b="b"/>
            <a:pathLst>
              <a:path w="1449704" h="942339">
                <a:moveTo>
                  <a:pt x="0" y="941832"/>
                </a:moveTo>
                <a:lnTo>
                  <a:pt x="1449323" y="941832"/>
                </a:lnTo>
                <a:lnTo>
                  <a:pt x="1449323" y="0"/>
                </a:lnTo>
                <a:lnTo>
                  <a:pt x="0" y="0"/>
                </a:lnTo>
                <a:lnTo>
                  <a:pt x="0" y="941832"/>
                </a:lnTo>
                <a:close/>
              </a:path>
            </a:pathLst>
          </a:custGeom>
          <a:noFill/>
        </p:spPr>
        <p:txBody>
          <a:bodyPr wrap="square" lIns="0" tIns="0" rIns="0" bIns="0" rtlCol="0" anchor="ctr"/>
          <a:lstStyle/>
          <a:p>
            <a:pPr marL="534988"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2060"/>
                </a:solidFill>
                <a:effectLst/>
                <a:uLnTx/>
                <a:uFillTx/>
                <a:latin typeface="Eurobank Sans"/>
                <a:ea typeface="+mn-ea"/>
                <a:cs typeface="+mn-cs"/>
              </a:rPr>
              <a:t>Best in class customer journeys in digital channels</a:t>
            </a:r>
            <a:r>
              <a:rPr kumimoji="0" lang="en-US" sz="1100" b="0" i="0" u="none" strike="noStrike" kern="1200" cap="none" spc="0" normalizeH="0" baseline="0" noProof="0">
                <a:ln>
                  <a:noFill/>
                </a:ln>
                <a:solidFill>
                  <a:srgbClr val="002060"/>
                </a:solidFill>
                <a:effectLst/>
                <a:uLnTx/>
                <a:uFillTx/>
                <a:latin typeface="Eurobank Sans"/>
                <a:ea typeface="+mn-ea"/>
                <a:cs typeface="+mn-cs"/>
              </a:rPr>
              <a:t>  </a:t>
            </a:r>
            <a:endParaRPr kumimoji="0" sz="1100" b="0" i="0" u="none" strike="noStrike" kern="1200" cap="none" spc="0" normalizeH="0" baseline="0" noProof="0">
              <a:ln>
                <a:noFill/>
              </a:ln>
              <a:solidFill>
                <a:srgbClr val="002060"/>
              </a:solidFill>
              <a:effectLst/>
              <a:uLnTx/>
              <a:uFillTx/>
              <a:latin typeface="Eurobank Sans"/>
              <a:ea typeface="+mn-ea"/>
              <a:cs typeface="+mn-cs"/>
            </a:endParaRPr>
          </a:p>
        </p:txBody>
      </p:sp>
      <p:pic>
        <p:nvPicPr>
          <p:cNvPr id="3" name="Graphic 2" descr="Route (Two Pins With A Path) outline">
            <a:extLst>
              <a:ext uri="{FF2B5EF4-FFF2-40B4-BE49-F238E27FC236}">
                <a16:creationId xmlns:a16="http://schemas.microsoft.com/office/drawing/2014/main" id="{5FF0D6FE-A909-643D-4D0B-49802FDAFE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2056" y="701064"/>
            <a:ext cx="549854" cy="549854"/>
          </a:xfrm>
          <a:prstGeom prst="rect">
            <a:avLst/>
          </a:prstGeom>
        </p:spPr>
      </p:pic>
      <p:sp>
        <p:nvSpPr>
          <p:cNvPr id="21" name="TextBox 20">
            <a:extLst>
              <a:ext uri="{FF2B5EF4-FFF2-40B4-BE49-F238E27FC236}">
                <a16:creationId xmlns:a16="http://schemas.microsoft.com/office/drawing/2014/main" id="{AF3A6367-3BE1-283D-C84F-B041741E1241}"/>
              </a:ext>
            </a:extLst>
          </p:cNvPr>
          <p:cNvSpPr txBox="1"/>
          <p:nvPr/>
        </p:nvSpPr>
        <p:spPr>
          <a:xfrm>
            <a:off x="2629353" y="1489950"/>
            <a:ext cx="2164080" cy="432000"/>
          </a:xfrm>
          <a:prstGeom prst="rect">
            <a:avLst/>
          </a:prstGeom>
          <a:solidFill>
            <a:schemeClr val="bg1">
              <a:lumMod val="95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184B"/>
                </a:solidFill>
                <a:effectLst/>
                <a:uLnTx/>
                <a:uFillTx/>
                <a:latin typeface="Eurobank Sans"/>
                <a:ea typeface="+mn-ea"/>
                <a:cs typeface="Eurobank Sans"/>
              </a:rPr>
              <a:t>Tiles Ordering</a:t>
            </a:r>
          </a:p>
        </p:txBody>
      </p:sp>
      <p:sp>
        <p:nvSpPr>
          <p:cNvPr id="24" name="TextBox 23">
            <a:extLst>
              <a:ext uri="{FF2B5EF4-FFF2-40B4-BE49-F238E27FC236}">
                <a16:creationId xmlns:a16="http://schemas.microsoft.com/office/drawing/2014/main" id="{C7010272-B392-8468-5258-E596F5D55939}"/>
              </a:ext>
            </a:extLst>
          </p:cNvPr>
          <p:cNvSpPr txBox="1"/>
          <p:nvPr/>
        </p:nvSpPr>
        <p:spPr>
          <a:xfrm>
            <a:off x="2716523" y="2139741"/>
            <a:ext cx="2164080" cy="432000"/>
          </a:xfrm>
          <a:prstGeom prst="rect">
            <a:avLst/>
          </a:prstGeom>
          <a:solidFill>
            <a:schemeClr val="bg1">
              <a:lumMod val="95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184B"/>
                </a:solidFill>
                <a:effectLst/>
                <a:uLnTx/>
                <a:uFillTx/>
                <a:latin typeface="Eurobank Sans"/>
                <a:ea typeface="+mn-ea"/>
                <a:cs typeface="Eurobank Sans"/>
              </a:rPr>
              <a:t>Wizard Tool</a:t>
            </a:r>
          </a:p>
        </p:txBody>
      </p:sp>
      <p:sp>
        <p:nvSpPr>
          <p:cNvPr id="2" name="Rectangle 1">
            <a:extLst>
              <a:ext uri="{FF2B5EF4-FFF2-40B4-BE49-F238E27FC236}">
                <a16:creationId xmlns:a16="http://schemas.microsoft.com/office/drawing/2014/main" id="{0CC77B9B-4F8F-A2AF-792A-FCEB8AAB16CF}"/>
              </a:ext>
            </a:extLst>
          </p:cNvPr>
          <p:cNvSpPr/>
          <p:nvPr/>
        </p:nvSpPr>
        <p:spPr>
          <a:xfrm>
            <a:off x="5478782" y="1245642"/>
            <a:ext cx="3212904" cy="276400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200" b="0" i="0" u="none" strike="noStrike" kern="1200" cap="none" spc="0" normalizeH="0" baseline="0" noProof="0" err="1">
              <a:ln>
                <a:noFill/>
              </a:ln>
              <a:solidFill>
                <a:srgbClr val="002060"/>
              </a:solidFill>
              <a:effectLst/>
              <a:uLnTx/>
              <a:uFillTx/>
              <a:latin typeface="Eurobank Sans"/>
              <a:ea typeface="+mn-ea"/>
              <a:cs typeface="+mn-cs"/>
            </a:endParaRPr>
          </a:p>
        </p:txBody>
      </p:sp>
      <p:sp>
        <p:nvSpPr>
          <p:cNvPr id="5" name="TextBox 4">
            <a:extLst>
              <a:ext uri="{FF2B5EF4-FFF2-40B4-BE49-F238E27FC236}">
                <a16:creationId xmlns:a16="http://schemas.microsoft.com/office/drawing/2014/main" id="{E2D8B4A1-2EFC-FAD0-2222-C33BF8EAD918}"/>
              </a:ext>
            </a:extLst>
          </p:cNvPr>
          <p:cNvSpPr txBox="1"/>
          <p:nvPr/>
        </p:nvSpPr>
        <p:spPr>
          <a:xfrm>
            <a:off x="5432608" y="1453576"/>
            <a:ext cx="1717108" cy="307777"/>
          </a:xfrm>
          <a:prstGeom prst="rect">
            <a:avLst/>
          </a:prstGeom>
          <a:noFill/>
        </p:spPr>
        <p:txBody>
          <a:bodyPr wrap="square" rIns="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342"/>
                </a:solidFill>
                <a:effectLst/>
                <a:uLnTx/>
                <a:uFillTx/>
                <a:latin typeface="Eurobank Sans"/>
                <a:ea typeface="+mn-ea"/>
                <a:cs typeface="+mn-cs"/>
              </a:rPr>
              <a:t>Auto Decisions</a:t>
            </a:r>
          </a:p>
        </p:txBody>
      </p:sp>
      <p:sp>
        <p:nvSpPr>
          <p:cNvPr id="12" name="TextBox 11">
            <a:extLst>
              <a:ext uri="{FF2B5EF4-FFF2-40B4-BE49-F238E27FC236}">
                <a16:creationId xmlns:a16="http://schemas.microsoft.com/office/drawing/2014/main" id="{88704817-57B8-64D5-6ECD-7DB1FBFDD0EE}"/>
              </a:ext>
            </a:extLst>
          </p:cNvPr>
          <p:cNvSpPr txBox="1"/>
          <p:nvPr/>
        </p:nvSpPr>
        <p:spPr>
          <a:xfrm>
            <a:off x="5432608" y="3446597"/>
            <a:ext cx="1717108" cy="307777"/>
          </a:xfrm>
          <a:prstGeom prst="rect">
            <a:avLst/>
          </a:prstGeom>
          <a:noFill/>
        </p:spPr>
        <p:txBody>
          <a:bodyPr wrap="square" rIns="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342"/>
                </a:solidFill>
                <a:effectLst/>
                <a:uLnTx/>
                <a:uFillTx/>
                <a:latin typeface="Eurobank Sans"/>
                <a:ea typeface="+mn-ea"/>
                <a:cs typeface="+mn-cs"/>
              </a:rPr>
              <a:t>NPS</a:t>
            </a:r>
          </a:p>
        </p:txBody>
      </p:sp>
      <p:sp>
        <p:nvSpPr>
          <p:cNvPr id="42" name="TextBox 41">
            <a:extLst>
              <a:ext uri="{FF2B5EF4-FFF2-40B4-BE49-F238E27FC236}">
                <a16:creationId xmlns:a16="http://schemas.microsoft.com/office/drawing/2014/main" id="{B4396247-2BD7-0C5F-A717-03C43FF12931}"/>
              </a:ext>
            </a:extLst>
          </p:cNvPr>
          <p:cNvSpPr txBox="1"/>
          <p:nvPr/>
        </p:nvSpPr>
        <p:spPr>
          <a:xfrm>
            <a:off x="7234442" y="1390567"/>
            <a:ext cx="1440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21342"/>
                </a:solidFill>
                <a:effectLst/>
                <a:uLnTx/>
                <a:uFillTx/>
                <a:latin typeface="Eurobank Sans"/>
                <a:ea typeface="+mn-ea"/>
                <a:cs typeface="+mn-cs"/>
              </a:rPr>
              <a:t>81% </a:t>
            </a:r>
            <a:r>
              <a:rPr kumimoji="0" lang="en-US" sz="1400" b="1" i="0" u="none" strike="noStrike" kern="1200" cap="none" spc="0" normalizeH="0" baseline="0" noProof="0">
                <a:ln>
                  <a:noFill/>
                </a:ln>
                <a:solidFill>
                  <a:srgbClr val="021342"/>
                </a:solidFill>
                <a:effectLst/>
                <a:uLnTx/>
                <a:uFillTx/>
                <a:latin typeface="Eurobank Sans"/>
                <a:ea typeface="+mn-ea"/>
                <a:cs typeface="+mn-cs"/>
              </a:rPr>
              <a:t>  </a:t>
            </a:r>
          </a:p>
        </p:txBody>
      </p:sp>
      <p:sp>
        <p:nvSpPr>
          <p:cNvPr id="43" name="TextBox 42">
            <a:extLst>
              <a:ext uri="{FF2B5EF4-FFF2-40B4-BE49-F238E27FC236}">
                <a16:creationId xmlns:a16="http://schemas.microsoft.com/office/drawing/2014/main" id="{3B64027E-2F49-8C2A-D2D6-E33573143500}"/>
              </a:ext>
            </a:extLst>
          </p:cNvPr>
          <p:cNvSpPr txBox="1"/>
          <p:nvPr/>
        </p:nvSpPr>
        <p:spPr>
          <a:xfrm>
            <a:off x="7279750" y="1779146"/>
            <a:ext cx="1349385" cy="4308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mn-cs"/>
              </a:rPr>
              <a:t>average for all products</a:t>
            </a:r>
          </a:p>
        </p:txBody>
      </p:sp>
      <p:sp>
        <p:nvSpPr>
          <p:cNvPr id="46" name="TextBox 45">
            <a:extLst>
              <a:ext uri="{FF2B5EF4-FFF2-40B4-BE49-F238E27FC236}">
                <a16:creationId xmlns:a16="http://schemas.microsoft.com/office/drawing/2014/main" id="{CC6C3FC6-4900-E726-5E63-24D18058F1F6}"/>
              </a:ext>
            </a:extLst>
          </p:cNvPr>
          <p:cNvSpPr txBox="1"/>
          <p:nvPr/>
        </p:nvSpPr>
        <p:spPr>
          <a:xfrm>
            <a:off x="7296684" y="3399091"/>
            <a:ext cx="1139309"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21342"/>
                </a:solidFill>
                <a:effectLst/>
                <a:uLnTx/>
                <a:uFillTx/>
                <a:latin typeface="Eurobank Sans"/>
                <a:ea typeface="+mn-ea"/>
                <a:cs typeface="+mn-cs"/>
              </a:rPr>
              <a:t>73 - 76</a:t>
            </a:r>
          </a:p>
        </p:txBody>
      </p:sp>
      <p:sp>
        <p:nvSpPr>
          <p:cNvPr id="14" name="TextBox 13">
            <a:extLst>
              <a:ext uri="{FF2B5EF4-FFF2-40B4-BE49-F238E27FC236}">
                <a16:creationId xmlns:a16="http://schemas.microsoft.com/office/drawing/2014/main" id="{1F585272-92AA-6118-E37C-312003510DBE}"/>
              </a:ext>
            </a:extLst>
          </p:cNvPr>
          <p:cNvSpPr txBox="1"/>
          <p:nvPr/>
        </p:nvSpPr>
        <p:spPr>
          <a:xfrm>
            <a:off x="7808665" y="3706386"/>
            <a:ext cx="929234"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mn-cs"/>
              </a:rPr>
              <a:t>physical</a:t>
            </a:r>
          </a:p>
        </p:txBody>
      </p:sp>
      <p:sp>
        <p:nvSpPr>
          <p:cNvPr id="48" name="TextBox 47">
            <a:extLst>
              <a:ext uri="{FF2B5EF4-FFF2-40B4-BE49-F238E27FC236}">
                <a16:creationId xmlns:a16="http://schemas.microsoft.com/office/drawing/2014/main" id="{73D077F1-1671-367C-1C58-732197E49AAC}"/>
              </a:ext>
            </a:extLst>
          </p:cNvPr>
          <p:cNvSpPr txBox="1"/>
          <p:nvPr/>
        </p:nvSpPr>
        <p:spPr>
          <a:xfrm>
            <a:off x="7217852" y="3693722"/>
            <a:ext cx="608433" cy="2616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21342"/>
                </a:solidFill>
                <a:effectLst/>
                <a:uLnTx/>
                <a:uFillTx/>
                <a:latin typeface="Eurobank Sans"/>
                <a:ea typeface="+mn-ea"/>
                <a:cs typeface="+mn-cs"/>
              </a:rPr>
              <a:t>digital</a:t>
            </a:r>
          </a:p>
        </p:txBody>
      </p:sp>
      <p:sp>
        <p:nvSpPr>
          <p:cNvPr id="16" name="Text Placeholder 2">
            <a:extLst>
              <a:ext uri="{FF2B5EF4-FFF2-40B4-BE49-F238E27FC236}">
                <a16:creationId xmlns:a16="http://schemas.microsoft.com/office/drawing/2014/main" id="{F5D43652-C368-6BCE-1C12-C35A2938EF10}"/>
              </a:ext>
            </a:extLst>
          </p:cNvPr>
          <p:cNvSpPr>
            <a:spLocks noGrp="1"/>
          </p:cNvSpPr>
          <p:nvPr>
            <p:custDataLst>
              <p:tags r:id="rId1"/>
            </p:custDataLst>
          </p:nvPr>
        </p:nvSpPr>
        <p:spPr bwMode="auto">
          <a:xfrm>
            <a:off x="6833222" y="2720557"/>
            <a:ext cx="709321" cy="33772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342900" rtl="0" eaLnBrk="1" latinLnBrk="0" hangingPunct="1">
              <a:spcBef>
                <a:spcPct val="20000"/>
              </a:spcBef>
              <a:spcAft>
                <a:spcPts val="1125"/>
              </a:spcAft>
              <a:buFontTx/>
              <a:buNone/>
              <a:defRPr sz="1500" b="1" i="0" kern="1200" baseline="0">
                <a:solidFill>
                  <a:schemeClr val="tx1"/>
                </a:solidFill>
                <a:latin typeface="Averta Std PE Extrabold" pitchFamily="2" charset="0"/>
                <a:ea typeface="+mn-ea"/>
                <a:cs typeface="Averta Std PE Extrabold" pitchFamily="2" charset="0"/>
              </a:defRPr>
            </a:lvl1pPr>
            <a:lvl2pPr marL="0" indent="0" algn="l" defTabSz="342900" rtl="0" eaLnBrk="1" latinLnBrk="0" hangingPunct="1">
              <a:spcBef>
                <a:spcPct val="20000"/>
              </a:spcBef>
              <a:spcAft>
                <a:spcPts val="675"/>
              </a:spcAft>
              <a:buFontTx/>
              <a:buNone/>
              <a:defRPr sz="1275" b="0" i="0" kern="1200">
                <a:solidFill>
                  <a:schemeClr val="tx1"/>
                </a:solidFill>
                <a:latin typeface="Averta Std PE" pitchFamily="2" charset="0"/>
                <a:ea typeface="+mn-ea"/>
                <a:cs typeface="Averta Std PE" pitchFamily="2" charset="0"/>
              </a:defRPr>
            </a:lvl2pPr>
            <a:lvl3pPr marL="0" indent="0" algn="l" defTabSz="342900" rtl="0" eaLnBrk="1" latinLnBrk="0" hangingPunct="1">
              <a:spcBef>
                <a:spcPct val="20000"/>
              </a:spcBef>
              <a:buFontTx/>
              <a:buNone/>
              <a:defRPr sz="1125" b="0" i="0" kern="1200">
                <a:solidFill>
                  <a:schemeClr val="tx1"/>
                </a:solidFill>
                <a:latin typeface="Averta Std PE" pitchFamily="2" charset="0"/>
                <a:ea typeface="+mn-ea"/>
                <a:cs typeface="Averta Std PE" pitchFamily="2" charset="0"/>
              </a:defRPr>
            </a:lvl3pPr>
            <a:lvl4pPr marL="12001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4pPr>
            <a:lvl5pPr marL="15430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r" defTabSz="342900" rtl="0" eaLnBrk="1" fontAlgn="auto" latinLnBrk="0" hangingPunct="1">
              <a:lnSpc>
                <a:spcPct val="100000"/>
              </a:lnSpc>
              <a:spcBef>
                <a:spcPct val="0"/>
              </a:spcBef>
              <a:spcAft>
                <a:spcPct val="0"/>
              </a:spcAft>
              <a:buClrTx/>
              <a:buSzTx/>
              <a:buFontTx/>
              <a:buNone/>
              <a:tabLst/>
              <a:defRPr/>
            </a:pPr>
            <a:endParaRPr kumimoji="0" lang="el-GR" sz="1200" b="0" i="0" u="none" strike="noStrike" kern="1200" cap="none" spc="0" normalizeH="0" baseline="0" noProof="0">
              <a:ln>
                <a:noFill/>
              </a:ln>
              <a:solidFill>
                <a:srgbClr val="021342"/>
              </a:solidFill>
              <a:effectLst/>
              <a:uLnTx/>
              <a:uFillTx/>
              <a:latin typeface="Eurobank Sans"/>
              <a:ea typeface="+mn-ea"/>
              <a:cs typeface="+mj-cs"/>
            </a:endParaRPr>
          </a:p>
        </p:txBody>
      </p:sp>
      <p:sp>
        <p:nvSpPr>
          <p:cNvPr id="71" name="Text Placeholder 2">
            <a:extLst>
              <a:ext uri="{FF2B5EF4-FFF2-40B4-BE49-F238E27FC236}">
                <a16:creationId xmlns:a16="http://schemas.microsoft.com/office/drawing/2014/main" id="{58F914A7-3914-1417-1B3A-F200426F5BC3}"/>
              </a:ext>
            </a:extLst>
          </p:cNvPr>
          <p:cNvSpPr>
            <a:spLocks noGrp="1"/>
          </p:cNvSpPr>
          <p:nvPr>
            <p:custDataLst>
              <p:tags r:id="rId2"/>
            </p:custDataLst>
          </p:nvPr>
        </p:nvSpPr>
        <p:spPr bwMode="auto">
          <a:xfrm>
            <a:off x="6238280" y="1959709"/>
            <a:ext cx="982133" cy="122767"/>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342900" rtl="0" eaLnBrk="1" latinLnBrk="0" hangingPunct="1">
              <a:spcBef>
                <a:spcPct val="20000"/>
              </a:spcBef>
              <a:spcAft>
                <a:spcPts val="1125"/>
              </a:spcAft>
              <a:buFontTx/>
              <a:buNone/>
              <a:defRPr sz="1500" b="1" i="0" kern="1200" baseline="0">
                <a:solidFill>
                  <a:schemeClr val="tx1"/>
                </a:solidFill>
                <a:latin typeface="Averta Std PE Extrabold" pitchFamily="2" charset="0"/>
                <a:ea typeface="+mn-ea"/>
                <a:cs typeface="Averta Std PE Extrabold" pitchFamily="2" charset="0"/>
              </a:defRPr>
            </a:lvl1pPr>
            <a:lvl2pPr marL="0" indent="0" algn="l" defTabSz="342900" rtl="0" eaLnBrk="1" latinLnBrk="0" hangingPunct="1">
              <a:spcBef>
                <a:spcPct val="20000"/>
              </a:spcBef>
              <a:spcAft>
                <a:spcPts val="675"/>
              </a:spcAft>
              <a:buFontTx/>
              <a:buNone/>
              <a:defRPr sz="1275" b="0" i="0" kern="1200">
                <a:solidFill>
                  <a:schemeClr val="tx1"/>
                </a:solidFill>
                <a:latin typeface="Averta Std PE" pitchFamily="2" charset="0"/>
                <a:ea typeface="+mn-ea"/>
                <a:cs typeface="Averta Std PE" pitchFamily="2" charset="0"/>
              </a:defRPr>
            </a:lvl2pPr>
            <a:lvl3pPr marL="0" indent="0" algn="l" defTabSz="342900" rtl="0" eaLnBrk="1" latinLnBrk="0" hangingPunct="1">
              <a:spcBef>
                <a:spcPct val="20000"/>
              </a:spcBef>
              <a:buFontTx/>
              <a:buNone/>
              <a:defRPr sz="1125" b="0" i="0" kern="1200">
                <a:solidFill>
                  <a:schemeClr val="tx1"/>
                </a:solidFill>
                <a:latin typeface="Averta Std PE" pitchFamily="2" charset="0"/>
                <a:ea typeface="+mn-ea"/>
                <a:cs typeface="Averta Std PE" pitchFamily="2" charset="0"/>
              </a:defRPr>
            </a:lvl3pPr>
            <a:lvl4pPr marL="12001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4pPr>
            <a:lvl5pPr marL="1543050" indent="-171450" algn="l" defTabSz="342900" rtl="0" eaLnBrk="1" latinLnBrk="0" hangingPunct="1">
              <a:spcBef>
                <a:spcPct val="20000"/>
              </a:spcBef>
              <a:buFont typeface="Arial"/>
              <a:buChar char="»"/>
              <a:defRPr sz="1125" b="0" i="0" kern="1200">
                <a:solidFill>
                  <a:schemeClr val="tx1"/>
                </a:solidFill>
                <a:latin typeface="Averta Std PE" pitchFamily="2" charset="0"/>
                <a:ea typeface="+mn-ea"/>
                <a:cs typeface="Averta Std PE" pitchFamily="2"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r" defTabSz="342900" rtl="0" eaLnBrk="1" fontAlgn="auto"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21342"/>
                </a:solidFill>
                <a:effectLst/>
                <a:uLnTx/>
                <a:uFillTx/>
                <a:latin typeface="Eurobank Sans"/>
                <a:ea typeface="+mn-ea"/>
                <a:cs typeface="+mj-cs"/>
              </a:rPr>
              <a:t>Oct ‘24</a:t>
            </a:r>
            <a:endParaRPr kumimoji="0" lang="el-GR" sz="900" b="0" i="0" u="none" strike="noStrike" kern="1200" cap="none" spc="0" normalizeH="0" baseline="0" noProof="0">
              <a:ln>
                <a:noFill/>
              </a:ln>
              <a:solidFill>
                <a:srgbClr val="021342"/>
              </a:solidFill>
              <a:effectLst/>
              <a:uLnTx/>
              <a:uFillTx/>
              <a:latin typeface="Eurobank Sans"/>
              <a:ea typeface="+mn-ea"/>
              <a:cs typeface="+mj-cs"/>
            </a:endParaRPr>
          </a:p>
        </p:txBody>
      </p:sp>
      <p:sp>
        <p:nvSpPr>
          <p:cNvPr id="73" name="Right Triangle 72">
            <a:extLst>
              <a:ext uri="{FF2B5EF4-FFF2-40B4-BE49-F238E27FC236}">
                <a16:creationId xmlns:a16="http://schemas.microsoft.com/office/drawing/2014/main" id="{CB0FA1BA-0A79-FD7D-F8D5-66D76A9F5B36}"/>
              </a:ext>
            </a:extLst>
          </p:cNvPr>
          <p:cNvSpPr/>
          <p:nvPr/>
        </p:nvSpPr>
        <p:spPr>
          <a:xfrm rot="8301948">
            <a:off x="8220955" y="1557762"/>
            <a:ext cx="119867" cy="109763"/>
          </a:xfrm>
          <a:prstGeom prst="rtTriangle">
            <a:avLst/>
          </a:prstGeom>
          <a:solidFill>
            <a:srgbClr val="0070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Eurobank Sans"/>
              <a:ea typeface="+mn-ea"/>
              <a:cs typeface="+mn-cs"/>
            </a:endParaRPr>
          </a:p>
        </p:txBody>
      </p:sp>
      <p:sp>
        <p:nvSpPr>
          <p:cNvPr id="75" name="Right Triangle 74">
            <a:extLst>
              <a:ext uri="{FF2B5EF4-FFF2-40B4-BE49-F238E27FC236}">
                <a16:creationId xmlns:a16="http://schemas.microsoft.com/office/drawing/2014/main" id="{F21A3EC3-CD48-DE0E-7007-847B8F982E7C}"/>
              </a:ext>
            </a:extLst>
          </p:cNvPr>
          <p:cNvSpPr/>
          <p:nvPr/>
        </p:nvSpPr>
        <p:spPr>
          <a:xfrm rot="8301948">
            <a:off x="8325730" y="3563344"/>
            <a:ext cx="119867" cy="109763"/>
          </a:xfrm>
          <a:prstGeom prst="rtTriangle">
            <a:avLst/>
          </a:prstGeom>
          <a:solidFill>
            <a:srgbClr val="0070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Eurobank Sans"/>
              <a:ea typeface="+mn-ea"/>
              <a:cs typeface="+mn-cs"/>
            </a:endParaRPr>
          </a:p>
        </p:txBody>
      </p:sp>
      <p:cxnSp>
        <p:nvCxnSpPr>
          <p:cNvPr id="38" name="Straight Connector 37">
            <a:extLst>
              <a:ext uri="{FF2B5EF4-FFF2-40B4-BE49-F238E27FC236}">
                <a16:creationId xmlns:a16="http://schemas.microsoft.com/office/drawing/2014/main" id="{9C201154-5B78-BF68-0ACE-D1E9A68E08F2}"/>
              </a:ext>
            </a:extLst>
          </p:cNvPr>
          <p:cNvCxnSpPr>
            <a:cxnSpLocks/>
          </p:cNvCxnSpPr>
          <p:nvPr/>
        </p:nvCxnSpPr>
        <p:spPr>
          <a:xfrm>
            <a:off x="5478782" y="2321852"/>
            <a:ext cx="315090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6E7C841-4233-31C0-20AB-683FA3BE8C62}"/>
              </a:ext>
            </a:extLst>
          </p:cNvPr>
          <p:cNvCxnSpPr>
            <a:cxnSpLocks/>
          </p:cNvCxnSpPr>
          <p:nvPr/>
        </p:nvCxnSpPr>
        <p:spPr>
          <a:xfrm>
            <a:off x="5506291" y="3234894"/>
            <a:ext cx="315090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 Placeholder 8">
            <a:extLst>
              <a:ext uri="{FF2B5EF4-FFF2-40B4-BE49-F238E27FC236}">
                <a16:creationId xmlns:a16="http://schemas.microsoft.com/office/drawing/2014/main" id="{875FD668-C1B4-DAB8-4105-782D7EA4E0DE}"/>
              </a:ext>
            </a:extLst>
          </p:cNvPr>
          <p:cNvSpPr txBox="1">
            <a:spLocks/>
          </p:cNvSpPr>
          <p:nvPr/>
        </p:nvSpPr>
        <p:spPr>
          <a:xfrm>
            <a:off x="163692" y="198769"/>
            <a:ext cx="6120567" cy="149584"/>
          </a:xfrm>
          <a:prstGeom prst="rect">
            <a:avLst/>
          </a:prstGeom>
        </p:spPr>
        <p:txBody>
          <a:bodyPr vert="horz" lIns="0" tIns="0" rIns="0" bIns="0" rtlCol="0" anchor="t" anchorCtr="0">
            <a:noAutofit/>
          </a:bodyPr>
          <a:lstStyle>
            <a:lvl1pPr marL="0" indent="0" algn="l" defTabSz="342900" rtl="0" eaLnBrk="1" latinLnBrk="0" hangingPunct="1">
              <a:lnSpc>
                <a:spcPts val="1024"/>
              </a:lnSpc>
              <a:spcBef>
                <a:spcPct val="20000"/>
              </a:spcBef>
              <a:spcAft>
                <a:spcPts val="1125"/>
              </a:spcAft>
              <a:buFontTx/>
              <a:buNone/>
              <a:defRPr sz="1600" b="0" i="0" kern="1200" baseline="0">
                <a:solidFill>
                  <a:srgbClr val="021342"/>
                </a:solidFill>
                <a:latin typeface="Eurobank Sans" panose="02000503000000020004" pitchFamily="2" charset="0"/>
                <a:ea typeface="+mn-ea"/>
                <a:cs typeface="Eurobank Sans" panose="02000503000000020004" pitchFamily="2" charset="0"/>
              </a:defRPr>
            </a:lvl1pPr>
            <a:lvl2pPr marL="342900" indent="0" algn="l" defTabSz="342900" rtl="0" eaLnBrk="1" latinLnBrk="0" hangingPunct="1">
              <a:spcBef>
                <a:spcPct val="20000"/>
              </a:spcBef>
              <a:spcAft>
                <a:spcPts val="675"/>
              </a:spcAft>
              <a:buFontTx/>
              <a:buNone/>
              <a:defRPr sz="1350" b="0" i="0" kern="1200">
                <a:solidFill>
                  <a:schemeClr val="tx1">
                    <a:tint val="75000"/>
                  </a:schemeClr>
                </a:solidFill>
                <a:latin typeface="Averta Std PE" pitchFamily="2" charset="0"/>
                <a:ea typeface="+mn-ea"/>
                <a:cs typeface="Averta Std PE" pitchFamily="2" charset="0"/>
              </a:defRPr>
            </a:lvl2pPr>
            <a:lvl3pPr marL="685800" indent="0" algn="l" defTabSz="342900" rtl="0" eaLnBrk="1" latinLnBrk="0" hangingPunct="1">
              <a:spcBef>
                <a:spcPct val="20000"/>
              </a:spcBef>
              <a:buFontTx/>
              <a:buNone/>
              <a:defRPr sz="1200" b="0" i="0" kern="1200">
                <a:solidFill>
                  <a:schemeClr val="tx1">
                    <a:tint val="75000"/>
                  </a:schemeClr>
                </a:solidFill>
                <a:latin typeface="Averta Std PE" pitchFamily="2" charset="0"/>
                <a:ea typeface="+mn-ea"/>
                <a:cs typeface="Averta Std PE" pitchFamily="2" charset="0"/>
              </a:defRPr>
            </a:lvl3pPr>
            <a:lvl4pPr marL="1028700" indent="0" algn="l" defTabSz="342900" rtl="0" eaLnBrk="1" latinLnBrk="0" hangingPunct="1">
              <a:spcBef>
                <a:spcPct val="20000"/>
              </a:spcBef>
              <a:buFont typeface="Arial"/>
              <a:buNone/>
              <a:defRPr sz="1050" b="0" i="0" kern="1200">
                <a:solidFill>
                  <a:schemeClr val="tx1">
                    <a:tint val="75000"/>
                  </a:schemeClr>
                </a:solidFill>
                <a:latin typeface="Averta Std PE" pitchFamily="2" charset="0"/>
                <a:ea typeface="+mn-ea"/>
                <a:cs typeface="Averta Std PE" pitchFamily="2" charset="0"/>
              </a:defRPr>
            </a:lvl4pPr>
            <a:lvl5pPr marL="1371600" indent="0" algn="l" defTabSz="342900" rtl="0" eaLnBrk="1" latinLnBrk="0" hangingPunct="1">
              <a:spcBef>
                <a:spcPct val="20000"/>
              </a:spcBef>
              <a:buFont typeface="Arial"/>
              <a:buNone/>
              <a:defRPr sz="1050" b="0" i="0" kern="1200">
                <a:solidFill>
                  <a:schemeClr val="tx1">
                    <a:tint val="75000"/>
                  </a:schemeClr>
                </a:solidFill>
                <a:latin typeface="Averta Std PE" pitchFamily="2" charset="0"/>
                <a:ea typeface="+mn-ea"/>
                <a:cs typeface="Averta Std PE" pitchFamily="2" charset="0"/>
              </a:defRPr>
            </a:lvl5pPr>
            <a:lvl6pPr marL="17145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6pPr>
            <a:lvl7pPr marL="20574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7pPr>
            <a:lvl8pPr marL="24003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8pPr>
            <a:lvl9pPr marL="27432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9pPr>
          </a:lstStyle>
          <a:p>
            <a:pPr marL="0" marR="0" lvl="0" indent="0" algn="l" defTabSz="342900" rtl="0" eaLnBrk="1" fontAlgn="auto" latinLnBrk="0" hangingPunct="1">
              <a:lnSpc>
                <a:spcPts val="1024"/>
              </a:lnSpc>
              <a:spcBef>
                <a:spcPct val="20000"/>
              </a:spcBef>
              <a:spcAft>
                <a:spcPts val="1125"/>
              </a:spcAft>
              <a:buClrTx/>
              <a:buSzTx/>
              <a:buFontTx/>
              <a:buNone/>
              <a:tabLst/>
              <a:defRPr/>
            </a:pPr>
            <a:r>
              <a:rPr kumimoji="0" lang="en-US" sz="1600" b="0" i="0" u="none" strike="noStrike" kern="1200" cap="none" spc="0" normalizeH="0" baseline="0" noProof="0">
                <a:ln>
                  <a:noFill/>
                </a:ln>
                <a:solidFill>
                  <a:srgbClr val="021342"/>
                </a:solidFill>
                <a:effectLst/>
                <a:uLnTx/>
                <a:uFillTx/>
                <a:latin typeface="Eurobank Sans" panose="02000503000000020004" pitchFamily="2" charset="0"/>
                <a:ea typeface="+mn-ea"/>
              </a:rPr>
              <a:t>Consumer Loans Strategic Initiatives: Customer Journeys</a:t>
            </a:r>
          </a:p>
        </p:txBody>
      </p:sp>
      <p:sp>
        <p:nvSpPr>
          <p:cNvPr id="7" name="TextBox 6">
            <a:extLst>
              <a:ext uri="{FF2B5EF4-FFF2-40B4-BE49-F238E27FC236}">
                <a16:creationId xmlns:a16="http://schemas.microsoft.com/office/drawing/2014/main" id="{8543C979-C41F-0E6D-420C-CD1175AF5FF3}"/>
              </a:ext>
            </a:extLst>
          </p:cNvPr>
          <p:cNvSpPr txBox="1"/>
          <p:nvPr/>
        </p:nvSpPr>
        <p:spPr>
          <a:xfrm>
            <a:off x="168950" y="1482013"/>
            <a:ext cx="2164080" cy="432000"/>
          </a:xfrm>
          <a:prstGeom prst="rect">
            <a:avLst/>
          </a:prstGeom>
          <a:solidFill>
            <a:schemeClr val="bg1">
              <a:lumMod val="95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184B"/>
                </a:solidFill>
                <a:effectLst/>
                <a:uLnTx/>
                <a:uFillTx/>
                <a:latin typeface="Eurobank Sans"/>
                <a:ea typeface="+mn-ea"/>
                <a:cs typeface="Eurobank Sans"/>
              </a:rPr>
              <a:t>Personalized Proposal</a:t>
            </a:r>
          </a:p>
        </p:txBody>
      </p:sp>
      <p:sp>
        <p:nvSpPr>
          <p:cNvPr id="11" name="TextBox 10">
            <a:extLst>
              <a:ext uri="{FF2B5EF4-FFF2-40B4-BE49-F238E27FC236}">
                <a16:creationId xmlns:a16="http://schemas.microsoft.com/office/drawing/2014/main" id="{8FCA0566-EC63-1E24-31B1-24792C405A56}"/>
              </a:ext>
            </a:extLst>
          </p:cNvPr>
          <p:cNvSpPr txBox="1"/>
          <p:nvPr/>
        </p:nvSpPr>
        <p:spPr>
          <a:xfrm>
            <a:off x="163692" y="2107460"/>
            <a:ext cx="2164080" cy="432000"/>
          </a:xfrm>
          <a:prstGeom prst="rect">
            <a:avLst/>
          </a:prstGeom>
          <a:solidFill>
            <a:schemeClr val="bg1">
              <a:lumMod val="95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184B"/>
                </a:solidFill>
                <a:effectLst/>
                <a:uLnTx/>
                <a:uFillTx/>
                <a:latin typeface="Eurobank Sans"/>
                <a:ea typeface="+mn-ea"/>
                <a:cs typeface="Eurobank Sans"/>
              </a:rPr>
              <a:t>Always on Pre advised Limits</a:t>
            </a:r>
          </a:p>
        </p:txBody>
      </p:sp>
      <p:sp>
        <p:nvSpPr>
          <p:cNvPr id="9" name="TextBox 8">
            <a:extLst>
              <a:ext uri="{FF2B5EF4-FFF2-40B4-BE49-F238E27FC236}">
                <a16:creationId xmlns:a16="http://schemas.microsoft.com/office/drawing/2014/main" id="{A37653DB-9073-9380-5F9F-627315DF9C81}"/>
              </a:ext>
            </a:extLst>
          </p:cNvPr>
          <p:cNvSpPr txBox="1"/>
          <p:nvPr/>
        </p:nvSpPr>
        <p:spPr>
          <a:xfrm>
            <a:off x="5269355" y="2378024"/>
            <a:ext cx="1880361" cy="307777"/>
          </a:xfrm>
          <a:prstGeom prst="rect">
            <a:avLst/>
          </a:prstGeom>
          <a:noFill/>
        </p:spPr>
        <p:txBody>
          <a:bodyPr wrap="square" rIns="0" rtlCol="0">
            <a:spAutoFit/>
          </a:bodyPr>
          <a:lstStyle>
            <a:defPPr>
              <a:defRPr lang="en-US"/>
            </a:defPPr>
            <a:lvl1pPr algn="r">
              <a:defRPr sz="1400" b="1">
                <a:solidFill>
                  <a:srgbClr val="021342"/>
                </a:solidFill>
                <a:latin typeface="+mj-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342"/>
                </a:solidFill>
                <a:effectLst/>
                <a:uLnTx/>
                <a:uFillTx/>
                <a:latin typeface="Eurobank Sans"/>
                <a:ea typeface="+mn-ea"/>
                <a:cs typeface="+mn-cs"/>
              </a:rPr>
              <a:t>Digital Penetration</a:t>
            </a:r>
          </a:p>
        </p:txBody>
      </p:sp>
      <p:sp>
        <p:nvSpPr>
          <p:cNvPr id="15" name="TextBox 14">
            <a:extLst>
              <a:ext uri="{FF2B5EF4-FFF2-40B4-BE49-F238E27FC236}">
                <a16:creationId xmlns:a16="http://schemas.microsoft.com/office/drawing/2014/main" id="{B6C6AC9B-9EDD-0409-A337-4FDAF21FB7D4}"/>
              </a:ext>
            </a:extLst>
          </p:cNvPr>
          <p:cNvSpPr txBox="1"/>
          <p:nvPr/>
        </p:nvSpPr>
        <p:spPr>
          <a:xfrm>
            <a:off x="7489826" y="2598569"/>
            <a:ext cx="92923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342"/>
                </a:solidFill>
                <a:effectLst/>
                <a:uLnTx/>
                <a:uFillTx/>
                <a:latin typeface="Eurobank Sans"/>
                <a:ea typeface="+mn-ea"/>
                <a:cs typeface="+mn-cs"/>
              </a:rPr>
              <a:t>71%</a:t>
            </a:r>
          </a:p>
        </p:txBody>
      </p:sp>
      <p:sp>
        <p:nvSpPr>
          <p:cNvPr id="17" name="TextBox 16">
            <a:extLst>
              <a:ext uri="{FF2B5EF4-FFF2-40B4-BE49-F238E27FC236}">
                <a16:creationId xmlns:a16="http://schemas.microsoft.com/office/drawing/2014/main" id="{FBD2589D-8E23-5416-6C02-A823E6A72E56}"/>
              </a:ext>
            </a:extLst>
          </p:cNvPr>
          <p:cNvSpPr txBox="1"/>
          <p:nvPr/>
        </p:nvSpPr>
        <p:spPr>
          <a:xfrm>
            <a:off x="4973237" y="2623664"/>
            <a:ext cx="2176479" cy="230832"/>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defPPr>
              <a:defRPr lang="en-US"/>
            </a:defPPr>
            <a:lvl1pPr indent="0" algn="r" defTabSz="342900">
              <a:spcBef>
                <a:spcPct val="0"/>
              </a:spcBef>
              <a:spcAft>
                <a:spcPct val="0"/>
              </a:spcAft>
              <a:buFontTx/>
              <a:buNone/>
              <a:defRPr sz="900" b="0" i="0" baseline="0">
                <a:solidFill>
                  <a:srgbClr val="021342"/>
                </a:solidFill>
                <a:latin typeface="+mj-lt"/>
                <a:ea typeface="+mj-ea"/>
                <a:cs typeface="+mj-cs"/>
              </a:defRPr>
            </a:lvl1pPr>
            <a:lvl2pPr marL="0" indent="0" defTabSz="342900">
              <a:spcBef>
                <a:spcPct val="20000"/>
              </a:spcBef>
              <a:spcAft>
                <a:spcPts val="675"/>
              </a:spcAft>
              <a:buFontTx/>
              <a:buNone/>
              <a:defRPr sz="1275" b="0" i="0">
                <a:latin typeface="Averta Std PE" pitchFamily="2" charset="0"/>
                <a:cs typeface="Averta Std PE" pitchFamily="2" charset="0"/>
              </a:defRPr>
            </a:lvl2pPr>
            <a:lvl3pPr marL="0" indent="0" defTabSz="342900">
              <a:spcBef>
                <a:spcPct val="20000"/>
              </a:spcBef>
              <a:buFontTx/>
              <a:buNone/>
              <a:defRPr sz="1125" b="0" i="0">
                <a:latin typeface="Averta Std PE" pitchFamily="2" charset="0"/>
                <a:cs typeface="Averta Std PE" pitchFamily="2" charset="0"/>
              </a:defRPr>
            </a:lvl3pPr>
            <a:lvl4pPr marL="1200150" indent="-171450" defTabSz="342900">
              <a:spcBef>
                <a:spcPct val="20000"/>
              </a:spcBef>
              <a:buFont typeface="Arial"/>
              <a:buChar char="–"/>
              <a:defRPr sz="1125" b="0" i="0">
                <a:latin typeface="Averta Std PE" pitchFamily="2" charset="0"/>
                <a:cs typeface="Averta Std PE" pitchFamily="2" charset="0"/>
              </a:defRPr>
            </a:lvl4pPr>
            <a:lvl5pPr marL="1543050" indent="-171450" defTabSz="342900">
              <a:spcBef>
                <a:spcPct val="20000"/>
              </a:spcBef>
              <a:buFont typeface="Arial"/>
              <a:buChar char="»"/>
              <a:defRPr sz="1125" b="0" i="0">
                <a:latin typeface="Averta Std PE" pitchFamily="2" charset="0"/>
                <a:cs typeface="Averta Std PE" pitchFamily="2"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marL="0" marR="0" lvl="0" indent="0" algn="r" defTabSz="342900" rtl="0" eaLnBrk="1" fontAlgn="auto"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21342"/>
                </a:solidFill>
                <a:effectLst/>
                <a:uLnTx/>
                <a:uFillTx/>
                <a:latin typeface="Eurobank Sans"/>
                <a:ea typeface="+mj-ea"/>
                <a:cs typeface="+mj-cs"/>
              </a:rPr>
              <a:t>YTD 2024 | Digital &amp; Hybrid Sales</a:t>
            </a:r>
          </a:p>
        </p:txBody>
      </p:sp>
      <p:sp>
        <p:nvSpPr>
          <p:cNvPr id="18" name="TextBox 17">
            <a:extLst>
              <a:ext uri="{FF2B5EF4-FFF2-40B4-BE49-F238E27FC236}">
                <a16:creationId xmlns:a16="http://schemas.microsoft.com/office/drawing/2014/main" id="{977C7800-3E3E-7DAC-C662-281A8A888CE7}"/>
              </a:ext>
            </a:extLst>
          </p:cNvPr>
          <p:cNvSpPr txBox="1"/>
          <p:nvPr/>
        </p:nvSpPr>
        <p:spPr>
          <a:xfrm>
            <a:off x="7489826" y="2911365"/>
            <a:ext cx="92923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21342"/>
                </a:solidFill>
                <a:effectLst/>
                <a:uLnTx/>
                <a:uFillTx/>
                <a:latin typeface="Eurobank Sans"/>
                <a:ea typeface="+mn-ea"/>
                <a:cs typeface="+mn-cs"/>
              </a:rPr>
              <a:t>51%</a:t>
            </a:r>
          </a:p>
        </p:txBody>
      </p:sp>
      <p:sp>
        <p:nvSpPr>
          <p:cNvPr id="19" name="TextBox 18">
            <a:extLst>
              <a:ext uri="{FF2B5EF4-FFF2-40B4-BE49-F238E27FC236}">
                <a16:creationId xmlns:a16="http://schemas.microsoft.com/office/drawing/2014/main" id="{35D95939-7934-3E91-8047-E3D262C437C7}"/>
              </a:ext>
            </a:extLst>
          </p:cNvPr>
          <p:cNvSpPr txBox="1"/>
          <p:nvPr/>
        </p:nvSpPr>
        <p:spPr>
          <a:xfrm>
            <a:off x="4973237" y="2923565"/>
            <a:ext cx="2176479" cy="230832"/>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defPPr>
              <a:defRPr lang="en-US"/>
            </a:defPPr>
            <a:lvl1pPr indent="0" algn="r" defTabSz="342900">
              <a:spcBef>
                <a:spcPct val="0"/>
              </a:spcBef>
              <a:spcAft>
                <a:spcPct val="0"/>
              </a:spcAft>
              <a:buFontTx/>
              <a:buNone/>
              <a:defRPr sz="900" b="0" i="0" baseline="0">
                <a:solidFill>
                  <a:srgbClr val="021342"/>
                </a:solidFill>
                <a:latin typeface="+mj-lt"/>
                <a:ea typeface="+mj-ea"/>
                <a:cs typeface="+mj-cs"/>
              </a:defRPr>
            </a:lvl1pPr>
            <a:lvl2pPr marL="0" indent="0" defTabSz="342900">
              <a:spcBef>
                <a:spcPct val="20000"/>
              </a:spcBef>
              <a:spcAft>
                <a:spcPts val="675"/>
              </a:spcAft>
              <a:buFontTx/>
              <a:buNone/>
              <a:defRPr sz="1275" b="0" i="0">
                <a:latin typeface="Averta Std PE" pitchFamily="2" charset="0"/>
                <a:cs typeface="Averta Std PE" pitchFamily="2" charset="0"/>
              </a:defRPr>
            </a:lvl2pPr>
            <a:lvl3pPr marL="0" indent="0" defTabSz="342900">
              <a:spcBef>
                <a:spcPct val="20000"/>
              </a:spcBef>
              <a:buFontTx/>
              <a:buNone/>
              <a:defRPr sz="1125" b="0" i="0">
                <a:latin typeface="Averta Std PE" pitchFamily="2" charset="0"/>
                <a:cs typeface="Averta Std PE" pitchFamily="2" charset="0"/>
              </a:defRPr>
            </a:lvl3pPr>
            <a:lvl4pPr marL="1200150" indent="-171450" defTabSz="342900">
              <a:spcBef>
                <a:spcPct val="20000"/>
              </a:spcBef>
              <a:buFont typeface="Arial"/>
              <a:buChar char="–"/>
              <a:defRPr sz="1125" b="0" i="0">
                <a:latin typeface="Averta Std PE" pitchFamily="2" charset="0"/>
                <a:cs typeface="Averta Std PE" pitchFamily="2" charset="0"/>
              </a:defRPr>
            </a:lvl4pPr>
            <a:lvl5pPr marL="1543050" indent="-171450" defTabSz="342900">
              <a:spcBef>
                <a:spcPct val="20000"/>
              </a:spcBef>
              <a:buFont typeface="Arial"/>
              <a:buChar char="»"/>
              <a:defRPr sz="1125" b="0" i="0">
                <a:latin typeface="Averta Std PE" pitchFamily="2" charset="0"/>
                <a:cs typeface="Averta Std PE" pitchFamily="2"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marL="0" marR="0" lvl="0" indent="0" algn="r" defTabSz="342900" rtl="0" eaLnBrk="1" fontAlgn="auto"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21342"/>
                </a:solidFill>
                <a:effectLst/>
                <a:uLnTx/>
                <a:uFillTx/>
                <a:latin typeface="Eurobank Sans"/>
                <a:ea typeface="+mj-ea"/>
                <a:cs typeface="+mj-cs"/>
              </a:rPr>
              <a:t>YTD 2024 | Digital Sales</a:t>
            </a:r>
          </a:p>
        </p:txBody>
      </p:sp>
      <p:sp>
        <p:nvSpPr>
          <p:cNvPr id="6" name="TextBox 5">
            <a:extLst>
              <a:ext uri="{FF2B5EF4-FFF2-40B4-BE49-F238E27FC236}">
                <a16:creationId xmlns:a16="http://schemas.microsoft.com/office/drawing/2014/main" id="{EC51B755-A66F-E626-70F9-4CFDB92E9160}"/>
              </a:ext>
            </a:extLst>
          </p:cNvPr>
          <p:cNvSpPr txBox="1"/>
          <p:nvPr/>
        </p:nvSpPr>
        <p:spPr bwMode="gray">
          <a:xfrm>
            <a:off x="320494" y="3256223"/>
            <a:ext cx="4079075" cy="1523494"/>
          </a:xfrm>
          <a:prstGeom prst="rect">
            <a:avLst/>
          </a:prstGeom>
          <a:noFill/>
        </p:spPr>
        <p:txBody>
          <a:bodyPr wrap="square">
            <a:spAutoFit/>
          </a:bodyPr>
          <a:lstStyle/>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r>
              <a:rPr kumimoji="0" lang="en-US" sz="900" b="1" i="0" u="none" strike="noStrike" kern="1200" cap="none" spc="-5" normalizeH="0" baseline="0" noProof="0" dirty="0">
                <a:ln>
                  <a:noFill/>
                </a:ln>
                <a:solidFill>
                  <a:srgbClr val="00184B"/>
                </a:solidFill>
                <a:effectLst/>
                <a:uLnTx/>
                <a:uFillTx/>
                <a:latin typeface="Eurobank Sans"/>
                <a:ea typeface="+mn-ea"/>
                <a:cs typeface="+mn-cs"/>
              </a:rPr>
              <a:t>One stop shop </a:t>
            </a:r>
            <a:r>
              <a:rPr kumimoji="0" lang="en-US" sz="900" b="0" i="0" u="none" strike="noStrike" kern="1200" cap="none" spc="-5" normalizeH="0" baseline="0" noProof="0" dirty="0">
                <a:ln>
                  <a:noFill/>
                </a:ln>
                <a:solidFill>
                  <a:srgbClr val="00184B"/>
                </a:solidFill>
                <a:effectLst/>
                <a:uLnTx/>
                <a:uFillTx/>
                <a:latin typeface="Eurobank Sans"/>
                <a:ea typeface="+mn-ea"/>
                <a:cs typeface="+mn-cs"/>
              </a:rPr>
              <a:t>for loans via Branches.</a:t>
            </a:r>
          </a:p>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r>
              <a:rPr kumimoji="0" lang="en-US" sz="900" b="1" i="0" u="none" strike="noStrike" kern="1200" cap="none" spc="-5" normalizeH="0" baseline="0" noProof="0" dirty="0">
                <a:ln>
                  <a:noFill/>
                </a:ln>
                <a:solidFill>
                  <a:srgbClr val="00184B"/>
                </a:solidFill>
                <a:effectLst/>
                <a:uLnTx/>
                <a:uFillTx/>
                <a:latin typeface="Eurobank Sans"/>
                <a:ea typeface="+mn-ea"/>
                <a:cs typeface="+mn-cs"/>
              </a:rPr>
              <a:t>Digital Signature </a:t>
            </a:r>
            <a:r>
              <a:rPr kumimoji="0" lang="en-US" sz="900" b="0" i="0" u="none" strike="noStrike" kern="1200" cap="none" spc="-5" normalizeH="0" baseline="0" noProof="0" dirty="0">
                <a:ln>
                  <a:noFill/>
                </a:ln>
                <a:solidFill>
                  <a:srgbClr val="00184B"/>
                </a:solidFill>
                <a:effectLst/>
                <a:uLnTx/>
                <a:uFillTx/>
                <a:latin typeface="Eurobank Sans"/>
                <a:ea typeface="+mn-ea"/>
                <a:cs typeface="+mn-cs"/>
              </a:rPr>
              <a:t>through digital box</a:t>
            </a:r>
            <a:r>
              <a:rPr kumimoji="0" lang="el-GR" sz="900" b="0" i="0" u="none" strike="noStrike" kern="1200" cap="none" spc="-5" normalizeH="0" baseline="0" noProof="0" dirty="0">
                <a:ln>
                  <a:noFill/>
                </a:ln>
                <a:solidFill>
                  <a:srgbClr val="00184B"/>
                </a:solidFill>
                <a:effectLst/>
                <a:uLnTx/>
                <a:uFillTx/>
                <a:latin typeface="Eurobank Sans"/>
                <a:ea typeface="+mn-ea"/>
                <a:cs typeface="+mn-cs"/>
              </a:rPr>
              <a:t>.</a:t>
            </a:r>
          </a:p>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r>
              <a:rPr kumimoji="0" lang="en-US" sz="900" b="1" i="0" u="none" strike="noStrike" kern="1200" cap="none" spc="-5" normalizeH="0" baseline="0" noProof="0" dirty="0">
                <a:ln>
                  <a:noFill/>
                </a:ln>
                <a:solidFill>
                  <a:srgbClr val="00184B"/>
                </a:solidFill>
                <a:effectLst/>
                <a:uLnTx/>
                <a:uFillTx/>
                <a:latin typeface="Eurobank Sans"/>
                <a:ea typeface="+mn-ea"/>
                <a:cs typeface="+mn-cs"/>
              </a:rPr>
              <a:t>Auto-retrieve</a:t>
            </a:r>
            <a:r>
              <a:rPr kumimoji="0" lang="en-US" sz="900" b="0" i="0" u="none" strike="noStrike" kern="1200" cap="none" spc="-5" normalizeH="0" baseline="0" noProof="0" dirty="0">
                <a:ln>
                  <a:noFill/>
                </a:ln>
                <a:solidFill>
                  <a:srgbClr val="00184B"/>
                </a:solidFill>
                <a:effectLst/>
                <a:uLnTx/>
                <a:uFillTx/>
                <a:latin typeface="Eurobank Sans"/>
                <a:ea typeface="+mn-ea"/>
                <a:cs typeface="+mn-cs"/>
              </a:rPr>
              <a:t> for financial and customer data for existing Customers.</a:t>
            </a:r>
            <a:endParaRPr kumimoji="0" lang="el-GR" sz="900" b="0" i="0" u="none" strike="noStrike" kern="1200" cap="none" spc="-5" normalizeH="0" baseline="0" noProof="0" dirty="0">
              <a:ln>
                <a:noFill/>
              </a:ln>
              <a:solidFill>
                <a:srgbClr val="00184B"/>
              </a:solidFill>
              <a:effectLst/>
              <a:uLnTx/>
              <a:uFillTx/>
              <a:latin typeface="Eurobank Sans"/>
              <a:ea typeface="+mn-ea"/>
              <a:cs typeface="+mn-cs"/>
            </a:endParaRPr>
          </a:p>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r>
              <a:rPr kumimoji="0" lang="en-US" sz="900" b="1" i="0" u="none" strike="noStrike" kern="1200" cap="none" spc="-5" normalizeH="0" baseline="0" noProof="0" dirty="0">
                <a:ln>
                  <a:noFill/>
                </a:ln>
                <a:solidFill>
                  <a:srgbClr val="00184B"/>
                </a:solidFill>
                <a:effectLst/>
                <a:uLnTx/>
                <a:uFillTx/>
                <a:latin typeface="Eurobank Sans"/>
                <a:ea typeface="+mn-ea"/>
                <a:cs typeface="+mn-cs"/>
              </a:rPr>
              <a:t>Checker Abolishment </a:t>
            </a:r>
            <a:r>
              <a:rPr kumimoji="0" lang="en-US" sz="900" b="0" i="0" u="none" strike="noStrike" kern="1200" cap="none" spc="-5" normalizeH="0" baseline="0" noProof="0" dirty="0">
                <a:ln>
                  <a:noFill/>
                </a:ln>
                <a:solidFill>
                  <a:srgbClr val="00184B"/>
                </a:solidFill>
                <a:effectLst/>
                <a:uLnTx/>
                <a:uFillTx/>
                <a:latin typeface="Eurobank Sans"/>
                <a:ea typeface="+mn-ea"/>
                <a:cs typeface="+mn-cs"/>
              </a:rPr>
              <a:t>@Branch (50%). </a:t>
            </a:r>
          </a:p>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r>
              <a:rPr kumimoji="0" lang="en-US" sz="900" b="1" i="0" u="none" strike="noStrike" kern="1200" cap="none" spc="-5" normalizeH="0" baseline="0" noProof="0" dirty="0">
                <a:ln>
                  <a:noFill/>
                </a:ln>
                <a:solidFill>
                  <a:srgbClr val="00184B"/>
                </a:solidFill>
                <a:effectLst/>
                <a:uLnTx/>
                <a:uFillTx/>
                <a:latin typeface="Eurobank Sans"/>
                <a:ea typeface="+mn-ea"/>
                <a:cs typeface="+mn-cs"/>
              </a:rPr>
              <a:t>Automated</a:t>
            </a:r>
            <a:r>
              <a:rPr kumimoji="0" lang="en-US" sz="900" b="0" i="0" u="none" strike="noStrike" kern="1200" cap="none" spc="-5" normalizeH="0" baseline="0" noProof="0" dirty="0">
                <a:ln>
                  <a:noFill/>
                </a:ln>
                <a:solidFill>
                  <a:srgbClr val="00184B"/>
                </a:solidFill>
                <a:effectLst/>
                <a:uLnTx/>
                <a:uFillTx/>
                <a:latin typeface="Eurobank Sans"/>
                <a:ea typeface="+mn-ea"/>
                <a:cs typeface="+mn-cs"/>
              </a:rPr>
              <a:t> decisions. </a:t>
            </a:r>
            <a:endParaRPr kumimoji="0" lang="el-GR" sz="900" b="0" i="0" u="none" strike="noStrike" kern="1200" cap="none" spc="-5" normalizeH="0" baseline="0" noProof="0" dirty="0">
              <a:ln>
                <a:noFill/>
              </a:ln>
              <a:solidFill>
                <a:srgbClr val="00184B"/>
              </a:solidFill>
              <a:effectLst/>
              <a:uLnTx/>
              <a:uFillTx/>
              <a:latin typeface="Eurobank Sans"/>
              <a:ea typeface="+mn-ea"/>
              <a:cs typeface="+mn-cs"/>
            </a:endParaRPr>
          </a:p>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r>
              <a:rPr kumimoji="0" lang="en-US" sz="900" b="0" i="0" u="none" strike="noStrike" kern="1200" cap="none" spc="-5" normalizeH="0" baseline="0" noProof="0" dirty="0">
                <a:ln>
                  <a:noFill/>
                </a:ln>
                <a:solidFill>
                  <a:srgbClr val="00184B"/>
                </a:solidFill>
                <a:effectLst/>
                <a:uLnTx/>
                <a:uFillTx/>
                <a:latin typeface="Eurobank Sans"/>
                <a:ea typeface="+mn-ea"/>
                <a:cs typeface="+mn-cs"/>
              </a:rPr>
              <a:t>Serve consumer lending products remotely through </a:t>
            </a:r>
            <a:r>
              <a:rPr kumimoji="0" lang="en-US" sz="900" b="1" i="0" u="none" strike="noStrike" kern="1200" cap="none" spc="-5" normalizeH="0" baseline="0" noProof="0" dirty="0">
                <a:ln>
                  <a:noFill/>
                </a:ln>
                <a:solidFill>
                  <a:srgbClr val="00184B"/>
                </a:solidFill>
                <a:effectLst/>
                <a:uLnTx/>
                <a:uFillTx/>
                <a:latin typeface="Eurobank Sans"/>
                <a:ea typeface="+mn-ea"/>
                <a:cs typeface="+mn-cs"/>
              </a:rPr>
              <a:t>e-gov.gr.</a:t>
            </a:r>
          </a:p>
          <a:p>
            <a:pPr marL="171450" marR="0" lvl="0" indent="-171450" algn="l" defTabSz="914400" rtl="0" eaLnBrk="1" fontAlgn="ctr" latinLnBrk="0" hangingPunct="1">
              <a:lnSpc>
                <a:spcPct val="100000"/>
              </a:lnSpc>
              <a:spcBef>
                <a:spcPts val="0"/>
              </a:spcBef>
              <a:spcAft>
                <a:spcPts val="600"/>
              </a:spcAft>
              <a:buClrTx/>
              <a:buSzTx/>
              <a:buFont typeface="Courier New" panose="02070309020205020404" pitchFamily="49" charset="0"/>
              <a:buChar char="o"/>
              <a:tabLst/>
              <a:defRPr/>
            </a:pPr>
            <a:endParaRPr kumimoji="0" lang="en-US" sz="900" b="0" i="0" u="none" strike="noStrike" kern="1200" cap="none" spc="-5" normalizeH="0" baseline="0" noProof="0" dirty="0">
              <a:ln>
                <a:noFill/>
              </a:ln>
              <a:solidFill>
                <a:srgbClr val="00184B"/>
              </a:solidFill>
              <a:effectLst/>
              <a:uLnTx/>
              <a:uFillTx/>
              <a:latin typeface="Eurobank Sans"/>
              <a:ea typeface="+mn-ea"/>
              <a:cs typeface="+mn-cs"/>
            </a:endParaRPr>
          </a:p>
        </p:txBody>
      </p:sp>
      <p:sp>
        <p:nvSpPr>
          <p:cNvPr id="8" name="TextBox 7">
            <a:extLst>
              <a:ext uri="{FF2B5EF4-FFF2-40B4-BE49-F238E27FC236}">
                <a16:creationId xmlns:a16="http://schemas.microsoft.com/office/drawing/2014/main" id="{7F0343DA-8BF4-0999-DFFE-E7CB8D7BD658}"/>
              </a:ext>
            </a:extLst>
          </p:cNvPr>
          <p:cNvSpPr txBox="1"/>
          <p:nvPr/>
        </p:nvSpPr>
        <p:spPr>
          <a:xfrm>
            <a:off x="320494" y="2794581"/>
            <a:ext cx="4079075" cy="430887"/>
          </a:xfrm>
          <a:prstGeom prst="rect">
            <a:avLst/>
          </a:prstGeom>
          <a:solidFill>
            <a:schemeClr val="bg1">
              <a:lumMod val="95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184B"/>
                </a:solidFill>
                <a:effectLst/>
                <a:uLnTx/>
                <a:uFillTx/>
                <a:latin typeface="Eurobank Sans"/>
                <a:ea typeface="+mn-ea"/>
                <a:cs typeface="Eurobank Sans"/>
              </a:rPr>
              <a:t>Simplified loan application process</a:t>
            </a:r>
          </a:p>
        </p:txBody>
      </p:sp>
    </p:spTree>
    <p:extLst>
      <p:ext uri="{BB962C8B-B14F-4D97-AF65-F5344CB8AC3E}">
        <p14:creationId xmlns:p14="http://schemas.microsoft.com/office/powerpoint/2010/main" val="1494243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6">
            <a:extLst>
              <a:ext uri="{FF2B5EF4-FFF2-40B4-BE49-F238E27FC236}">
                <a16:creationId xmlns:a16="http://schemas.microsoft.com/office/drawing/2014/main" id="{696421F3-B2D3-30BC-1186-4E5FE8FB3199}"/>
              </a:ext>
            </a:extLst>
          </p:cNvPr>
          <p:cNvSpPr/>
          <p:nvPr/>
        </p:nvSpPr>
        <p:spPr>
          <a:xfrm>
            <a:off x="6972995" y="2571750"/>
            <a:ext cx="1578326" cy="725569"/>
          </a:xfrm>
          <a:prstGeom prst="rect">
            <a:avLst/>
          </a:prstGeom>
          <a:blipFill>
            <a:blip r:embed="rId2" cstate="print"/>
            <a:stretch>
              <a:fillRect t="-374584"/>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object 25">
            <a:extLst>
              <a:ext uri="{FF2B5EF4-FFF2-40B4-BE49-F238E27FC236}">
                <a16:creationId xmlns:a16="http://schemas.microsoft.com/office/drawing/2014/main" id="{BC148FF2-05D1-F70C-C5C7-99D61B12A88D}"/>
              </a:ext>
            </a:extLst>
          </p:cNvPr>
          <p:cNvSpPr/>
          <p:nvPr/>
        </p:nvSpPr>
        <p:spPr>
          <a:xfrm>
            <a:off x="191813" y="1175334"/>
            <a:ext cx="1578326" cy="3414960"/>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27">
            <a:extLst>
              <a:ext uri="{FF2B5EF4-FFF2-40B4-BE49-F238E27FC236}">
                <a16:creationId xmlns:a16="http://schemas.microsoft.com/office/drawing/2014/main" id="{E0BB99B6-C2B5-5BD1-F6F7-DF12DB3F17EC}"/>
              </a:ext>
            </a:extLst>
          </p:cNvPr>
          <p:cNvSpPr/>
          <p:nvPr/>
        </p:nvSpPr>
        <p:spPr>
          <a:xfrm>
            <a:off x="181596" y="765374"/>
            <a:ext cx="1625446" cy="322801"/>
          </a:xfrm>
          <a:custGeom>
            <a:avLst/>
            <a:gdLst/>
            <a:ahLst/>
            <a:cxnLst/>
            <a:rect l="l" t="t" r="r" b="b"/>
            <a:pathLst>
              <a:path w="1217930" h="342900">
                <a:moveTo>
                  <a:pt x="1160526" y="0"/>
                </a:moveTo>
                <a:lnTo>
                  <a:pt x="57150" y="0"/>
                </a:lnTo>
                <a:lnTo>
                  <a:pt x="34906" y="4482"/>
                </a:lnTo>
                <a:lnTo>
                  <a:pt x="16740" y="16716"/>
                </a:lnTo>
                <a:lnTo>
                  <a:pt x="4491" y="34879"/>
                </a:lnTo>
                <a:lnTo>
                  <a:pt x="0" y="57150"/>
                </a:lnTo>
                <a:lnTo>
                  <a:pt x="0" y="285750"/>
                </a:lnTo>
                <a:lnTo>
                  <a:pt x="4491" y="308020"/>
                </a:lnTo>
                <a:lnTo>
                  <a:pt x="16740" y="326183"/>
                </a:lnTo>
                <a:lnTo>
                  <a:pt x="34906" y="338417"/>
                </a:lnTo>
                <a:lnTo>
                  <a:pt x="57150" y="342900"/>
                </a:lnTo>
                <a:lnTo>
                  <a:pt x="1160526" y="342900"/>
                </a:lnTo>
                <a:lnTo>
                  <a:pt x="1182796" y="338417"/>
                </a:lnTo>
                <a:lnTo>
                  <a:pt x="1200959" y="326183"/>
                </a:lnTo>
                <a:lnTo>
                  <a:pt x="1213193" y="308020"/>
                </a:lnTo>
                <a:lnTo>
                  <a:pt x="1217676" y="285750"/>
                </a:lnTo>
                <a:lnTo>
                  <a:pt x="1217676" y="57150"/>
                </a:lnTo>
                <a:lnTo>
                  <a:pt x="1213193" y="34879"/>
                </a:lnTo>
                <a:lnTo>
                  <a:pt x="1200959" y="16716"/>
                </a:lnTo>
                <a:lnTo>
                  <a:pt x="1182796" y="4482"/>
                </a:lnTo>
                <a:lnTo>
                  <a:pt x="1160526" y="0"/>
                </a:lnTo>
                <a:close/>
              </a:path>
            </a:pathLst>
          </a:custGeom>
          <a:solidFill>
            <a:srgbClr val="F1F1F1"/>
          </a:solidFill>
        </p:spPr>
        <p:txBody>
          <a:bodyPr wrap="square" lIns="72000" tIns="0" rIns="72000" bIns="0" rtlCol="0"/>
          <a:lstStyle/>
          <a:p>
            <a:pPr marL="332105" marR="5080" lvl="0" indent="-32004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a:ln>
                  <a:noFill/>
                </a:ln>
                <a:solidFill>
                  <a:srgbClr val="001F5F"/>
                </a:solidFill>
                <a:effectLst/>
                <a:uLnTx/>
                <a:uFillTx/>
                <a:latin typeface="Eurobank Sans"/>
                <a:ea typeface="+mn-ea"/>
                <a:cs typeface="Eurobank Sans"/>
              </a:rPr>
              <a:t>Select</a:t>
            </a:r>
            <a:r>
              <a:rPr kumimoji="0" lang="en-US" sz="1200" b="1" i="0" u="none" strike="noStrike" kern="1200" cap="none" spc="-55" normalizeH="0" baseline="0" noProof="0">
                <a:ln>
                  <a:noFill/>
                </a:ln>
                <a:solidFill>
                  <a:srgbClr val="001F5F"/>
                </a:solidFill>
                <a:effectLst/>
                <a:uLnTx/>
                <a:uFillTx/>
                <a:latin typeface="Eurobank Sans"/>
                <a:ea typeface="+mn-ea"/>
                <a:cs typeface="Eurobank Sans"/>
              </a:rPr>
              <a:t> </a:t>
            </a:r>
            <a:r>
              <a:rPr kumimoji="0" lang="en-US" sz="1200" b="1" i="0" u="none" strike="noStrike" kern="1200" cap="none" spc="-5" normalizeH="0" baseline="0" noProof="0">
                <a:ln>
                  <a:noFill/>
                </a:ln>
                <a:solidFill>
                  <a:srgbClr val="001F5F"/>
                </a:solidFill>
                <a:effectLst/>
                <a:uLnTx/>
                <a:uFillTx/>
                <a:latin typeface="Eurobank Sans"/>
                <a:ea typeface="+mn-ea"/>
                <a:cs typeface="Eurobank Sans"/>
              </a:rPr>
              <a:t>wizard</a:t>
            </a:r>
          </a:p>
          <a:p>
            <a:pPr marL="332105" marR="5080" lvl="0" indent="-32004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1F5F"/>
                </a:solidFill>
                <a:effectLst/>
                <a:uLnTx/>
                <a:uFillTx/>
                <a:latin typeface="Eurobank Sans"/>
                <a:ea typeface="+mn-ea"/>
                <a:cs typeface="Eurobank Sans"/>
              </a:rPr>
              <a:t>tool</a:t>
            </a:r>
            <a:endParaRPr kumimoji="0" lang="en-US" sz="12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35" name="object 30">
            <a:extLst>
              <a:ext uri="{FF2B5EF4-FFF2-40B4-BE49-F238E27FC236}">
                <a16:creationId xmlns:a16="http://schemas.microsoft.com/office/drawing/2014/main" id="{62EE4160-09C2-C9FA-AAAD-50F58C712E84}"/>
              </a:ext>
            </a:extLst>
          </p:cNvPr>
          <p:cNvSpPr/>
          <p:nvPr/>
        </p:nvSpPr>
        <p:spPr>
          <a:xfrm>
            <a:off x="47721" y="599245"/>
            <a:ext cx="262198" cy="262198"/>
          </a:xfrm>
          <a:custGeom>
            <a:avLst/>
            <a:gdLst/>
            <a:ahLst/>
            <a:cxnLst/>
            <a:rect l="l" t="t" r="r" b="b"/>
            <a:pathLst>
              <a:path w="132715" h="132714">
                <a:moveTo>
                  <a:pt x="66293" y="0"/>
                </a:moveTo>
                <a:lnTo>
                  <a:pt x="40488" y="5214"/>
                </a:lnTo>
                <a:lnTo>
                  <a:pt x="19416" y="19431"/>
                </a:lnTo>
                <a:lnTo>
                  <a:pt x="5209" y="40505"/>
                </a:lnTo>
                <a:lnTo>
                  <a:pt x="0" y="66294"/>
                </a:lnTo>
                <a:lnTo>
                  <a:pt x="5209" y="92082"/>
                </a:lnTo>
                <a:lnTo>
                  <a:pt x="19416" y="113157"/>
                </a:lnTo>
                <a:lnTo>
                  <a:pt x="40488" y="127373"/>
                </a:lnTo>
                <a:lnTo>
                  <a:pt x="66293" y="132588"/>
                </a:lnTo>
                <a:lnTo>
                  <a:pt x="92099" y="127373"/>
                </a:lnTo>
                <a:lnTo>
                  <a:pt x="113171" y="113157"/>
                </a:lnTo>
                <a:lnTo>
                  <a:pt x="127378" y="92082"/>
                </a:lnTo>
                <a:lnTo>
                  <a:pt x="132588" y="66294"/>
                </a:lnTo>
                <a:lnTo>
                  <a:pt x="127378" y="40505"/>
                </a:lnTo>
                <a:lnTo>
                  <a:pt x="113171" y="19430"/>
                </a:lnTo>
                <a:lnTo>
                  <a:pt x="92099" y="5214"/>
                </a:lnTo>
                <a:lnTo>
                  <a:pt x="66293" y="0"/>
                </a:lnTo>
                <a:close/>
              </a:path>
            </a:pathLst>
          </a:custGeom>
          <a:solidFill>
            <a:srgbClr val="011242"/>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Eurobank Sans"/>
                <a:ea typeface="+mn-ea"/>
                <a:cs typeface="+mn-cs"/>
              </a:rPr>
              <a:t>1</a:t>
            </a:r>
            <a:endParaRPr kumimoji="0" sz="1800" b="0" i="0" u="none" strike="noStrike" kern="1200" cap="none" spc="0" normalizeH="0" baseline="0" noProof="0">
              <a:ln>
                <a:noFill/>
              </a:ln>
              <a:solidFill>
                <a:prstClr val="white"/>
              </a:solidFill>
              <a:effectLst/>
              <a:uLnTx/>
              <a:uFillTx/>
              <a:latin typeface="Eurobank Sans"/>
              <a:ea typeface="+mn-ea"/>
              <a:cs typeface="+mn-cs"/>
            </a:endParaRPr>
          </a:p>
        </p:txBody>
      </p:sp>
      <p:sp>
        <p:nvSpPr>
          <p:cNvPr id="29" name="object 24">
            <a:extLst>
              <a:ext uri="{FF2B5EF4-FFF2-40B4-BE49-F238E27FC236}">
                <a16:creationId xmlns:a16="http://schemas.microsoft.com/office/drawing/2014/main" id="{4F3CDC22-034F-C1BF-AC93-EFD25A443963}"/>
              </a:ext>
            </a:extLst>
          </p:cNvPr>
          <p:cNvSpPr/>
          <p:nvPr/>
        </p:nvSpPr>
        <p:spPr>
          <a:xfrm>
            <a:off x="2469713" y="1168347"/>
            <a:ext cx="1578325" cy="1612953"/>
          </a:xfrm>
          <a:prstGeom prst="rect">
            <a:avLst/>
          </a:prstGeom>
          <a:blipFill>
            <a:blip r:embed="rId4" cstate="print"/>
            <a:stretch>
              <a:fillRect b="-111721"/>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object 32">
            <a:extLst>
              <a:ext uri="{FF2B5EF4-FFF2-40B4-BE49-F238E27FC236}">
                <a16:creationId xmlns:a16="http://schemas.microsoft.com/office/drawing/2014/main" id="{BBC49680-A2A0-6F37-4070-8739FD5CD56E}"/>
              </a:ext>
            </a:extLst>
          </p:cNvPr>
          <p:cNvSpPr/>
          <p:nvPr/>
        </p:nvSpPr>
        <p:spPr>
          <a:xfrm>
            <a:off x="2464155" y="765374"/>
            <a:ext cx="1623750" cy="322800"/>
          </a:xfrm>
          <a:custGeom>
            <a:avLst/>
            <a:gdLst/>
            <a:ahLst/>
            <a:cxnLst/>
            <a:rect l="l" t="t" r="r" b="b"/>
            <a:pathLst>
              <a:path w="1216660" h="342900">
                <a:moveTo>
                  <a:pt x="1159002" y="0"/>
                </a:moveTo>
                <a:lnTo>
                  <a:pt x="57150" y="0"/>
                </a:lnTo>
                <a:lnTo>
                  <a:pt x="34879" y="4482"/>
                </a:lnTo>
                <a:lnTo>
                  <a:pt x="16716" y="16716"/>
                </a:lnTo>
                <a:lnTo>
                  <a:pt x="4482" y="34879"/>
                </a:lnTo>
                <a:lnTo>
                  <a:pt x="0" y="57150"/>
                </a:lnTo>
                <a:lnTo>
                  <a:pt x="0" y="285750"/>
                </a:lnTo>
                <a:lnTo>
                  <a:pt x="4482" y="308020"/>
                </a:lnTo>
                <a:lnTo>
                  <a:pt x="16716" y="326183"/>
                </a:lnTo>
                <a:lnTo>
                  <a:pt x="34879" y="338417"/>
                </a:lnTo>
                <a:lnTo>
                  <a:pt x="57150" y="342900"/>
                </a:lnTo>
                <a:lnTo>
                  <a:pt x="1159002" y="342900"/>
                </a:lnTo>
                <a:lnTo>
                  <a:pt x="1181272" y="338417"/>
                </a:lnTo>
                <a:lnTo>
                  <a:pt x="1199435" y="326183"/>
                </a:lnTo>
                <a:lnTo>
                  <a:pt x="1211669" y="308020"/>
                </a:lnTo>
                <a:lnTo>
                  <a:pt x="1216152" y="285750"/>
                </a:lnTo>
                <a:lnTo>
                  <a:pt x="1216152" y="57150"/>
                </a:lnTo>
                <a:lnTo>
                  <a:pt x="1211669" y="34879"/>
                </a:lnTo>
                <a:lnTo>
                  <a:pt x="1199435" y="16716"/>
                </a:lnTo>
                <a:lnTo>
                  <a:pt x="1181272" y="4482"/>
                </a:lnTo>
                <a:lnTo>
                  <a:pt x="1159002" y="0"/>
                </a:lnTo>
                <a:close/>
              </a:path>
            </a:pathLst>
          </a:custGeom>
          <a:solidFill>
            <a:srgbClr val="F1F1F1"/>
          </a:solidFill>
        </p:spPr>
        <p:txBody>
          <a:bodyPr wrap="square" lIns="0" tIns="0" rIns="0" bIns="0" rtlCol="0" anchor="ctr"/>
          <a:lstStyle/>
          <a:p>
            <a:pPr marL="1270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a:ln>
                  <a:noFill/>
                </a:ln>
                <a:solidFill>
                  <a:srgbClr val="001F5F"/>
                </a:solidFill>
                <a:effectLst/>
                <a:uLnTx/>
                <a:uFillTx/>
                <a:latin typeface="Eurobank Sans"/>
                <a:ea typeface="+mn-ea"/>
                <a:cs typeface="Eurobank Sans"/>
              </a:rPr>
              <a:t>Select</a:t>
            </a:r>
            <a:r>
              <a:rPr kumimoji="0" lang="en-US" sz="1200" b="1" i="0" u="none" strike="noStrike" kern="1200" cap="none" spc="-75" normalizeH="0" baseline="0" noProof="0">
                <a:ln>
                  <a:noFill/>
                </a:ln>
                <a:solidFill>
                  <a:srgbClr val="001F5F"/>
                </a:solidFill>
                <a:effectLst/>
                <a:uLnTx/>
                <a:uFillTx/>
                <a:latin typeface="Eurobank Sans"/>
                <a:ea typeface="+mn-ea"/>
                <a:cs typeface="Eurobank Sans"/>
              </a:rPr>
              <a:t> </a:t>
            </a:r>
            <a:r>
              <a:rPr kumimoji="0" lang="en-US" sz="1200" b="1" i="0" u="none" strike="noStrike" kern="1200" cap="none" spc="-5" normalizeH="0" baseline="0" noProof="0">
                <a:ln>
                  <a:noFill/>
                </a:ln>
                <a:solidFill>
                  <a:srgbClr val="001F5F"/>
                </a:solidFill>
                <a:effectLst/>
                <a:uLnTx/>
                <a:uFillTx/>
                <a:latin typeface="Eurobank Sans"/>
                <a:ea typeface="+mn-ea"/>
                <a:cs typeface="Eurobank Sans"/>
              </a:rPr>
              <a:t>need</a:t>
            </a:r>
            <a:endParaRPr kumimoji="0" lang="en-US" sz="12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40" name="object 35">
            <a:extLst>
              <a:ext uri="{FF2B5EF4-FFF2-40B4-BE49-F238E27FC236}">
                <a16:creationId xmlns:a16="http://schemas.microsoft.com/office/drawing/2014/main" id="{265FDDE5-8964-DCA1-D86A-F5EB580BBF4F}"/>
              </a:ext>
            </a:extLst>
          </p:cNvPr>
          <p:cNvSpPr/>
          <p:nvPr/>
        </p:nvSpPr>
        <p:spPr>
          <a:xfrm>
            <a:off x="2327096" y="599245"/>
            <a:ext cx="265961" cy="262198"/>
          </a:xfrm>
          <a:custGeom>
            <a:avLst/>
            <a:gdLst/>
            <a:ahLst/>
            <a:cxnLst/>
            <a:rect l="l" t="t" r="r" b="b"/>
            <a:pathLst>
              <a:path w="134619" h="132714">
                <a:moveTo>
                  <a:pt x="67056" y="0"/>
                </a:moveTo>
                <a:lnTo>
                  <a:pt x="40933" y="5214"/>
                </a:lnTo>
                <a:lnTo>
                  <a:pt x="19621" y="19431"/>
                </a:lnTo>
                <a:lnTo>
                  <a:pt x="5262" y="40505"/>
                </a:lnTo>
                <a:lnTo>
                  <a:pt x="0" y="66294"/>
                </a:lnTo>
                <a:lnTo>
                  <a:pt x="5262" y="92082"/>
                </a:lnTo>
                <a:lnTo>
                  <a:pt x="19621" y="113157"/>
                </a:lnTo>
                <a:lnTo>
                  <a:pt x="40933" y="127373"/>
                </a:lnTo>
                <a:lnTo>
                  <a:pt x="67056" y="132588"/>
                </a:lnTo>
                <a:lnTo>
                  <a:pt x="93178" y="127373"/>
                </a:lnTo>
                <a:lnTo>
                  <a:pt x="114490" y="113157"/>
                </a:lnTo>
                <a:lnTo>
                  <a:pt x="128849" y="92082"/>
                </a:lnTo>
                <a:lnTo>
                  <a:pt x="134112" y="66294"/>
                </a:lnTo>
                <a:lnTo>
                  <a:pt x="128849" y="40505"/>
                </a:lnTo>
                <a:lnTo>
                  <a:pt x="114490" y="19430"/>
                </a:lnTo>
                <a:lnTo>
                  <a:pt x="93178" y="5214"/>
                </a:lnTo>
                <a:lnTo>
                  <a:pt x="67056" y="0"/>
                </a:lnTo>
                <a:close/>
              </a:path>
            </a:pathLst>
          </a:custGeom>
          <a:solidFill>
            <a:srgbClr val="011242"/>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Eurobank Sans"/>
                <a:ea typeface="+mn-ea"/>
                <a:cs typeface="+mn-cs"/>
              </a:rPr>
              <a:t>2</a:t>
            </a:r>
            <a:endParaRPr kumimoji="0" sz="1100" b="0" i="0" u="none" strike="noStrike" kern="1200" cap="none" spc="0" normalizeH="0" baseline="0" noProof="0">
              <a:ln>
                <a:noFill/>
              </a:ln>
              <a:solidFill>
                <a:prstClr val="white"/>
              </a:solidFill>
              <a:effectLst/>
              <a:uLnTx/>
              <a:uFillTx/>
              <a:latin typeface="Eurobank Sans"/>
              <a:ea typeface="+mn-ea"/>
              <a:cs typeface="+mn-cs"/>
            </a:endParaRPr>
          </a:p>
        </p:txBody>
      </p:sp>
      <p:sp>
        <p:nvSpPr>
          <p:cNvPr id="28" name="object 23">
            <a:extLst>
              <a:ext uri="{FF2B5EF4-FFF2-40B4-BE49-F238E27FC236}">
                <a16:creationId xmlns:a16="http://schemas.microsoft.com/office/drawing/2014/main" id="{F8808B39-2906-F3D4-3BBE-676CE7C2FD80}"/>
              </a:ext>
            </a:extLst>
          </p:cNvPr>
          <p:cNvSpPr/>
          <p:nvPr/>
        </p:nvSpPr>
        <p:spPr>
          <a:xfrm>
            <a:off x="4686629" y="1188227"/>
            <a:ext cx="1578327" cy="1593074"/>
          </a:xfrm>
          <a:prstGeom prst="rect">
            <a:avLst/>
          </a:prstGeom>
          <a:blipFill>
            <a:blip r:embed="rId5" cstate="print"/>
            <a:stretch>
              <a:fillRect b="-114363"/>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object 38">
            <a:extLst>
              <a:ext uri="{FF2B5EF4-FFF2-40B4-BE49-F238E27FC236}">
                <a16:creationId xmlns:a16="http://schemas.microsoft.com/office/drawing/2014/main" id="{BCC73297-CAD1-4C27-A193-83DAD04DA092}"/>
              </a:ext>
            </a:extLst>
          </p:cNvPr>
          <p:cNvSpPr/>
          <p:nvPr/>
        </p:nvSpPr>
        <p:spPr>
          <a:xfrm>
            <a:off x="4741641" y="740990"/>
            <a:ext cx="1625445" cy="324594"/>
          </a:xfrm>
          <a:custGeom>
            <a:avLst/>
            <a:gdLst/>
            <a:ahLst/>
            <a:cxnLst/>
            <a:rect l="l" t="t" r="r" b="b"/>
            <a:pathLst>
              <a:path w="1217929" h="344804">
                <a:moveTo>
                  <a:pt x="1160271" y="0"/>
                </a:moveTo>
                <a:lnTo>
                  <a:pt x="57404" y="0"/>
                </a:lnTo>
                <a:lnTo>
                  <a:pt x="35040" y="4504"/>
                </a:lnTo>
                <a:lnTo>
                  <a:pt x="16795" y="16795"/>
                </a:lnTo>
                <a:lnTo>
                  <a:pt x="4504" y="35040"/>
                </a:lnTo>
                <a:lnTo>
                  <a:pt x="0" y="57404"/>
                </a:lnTo>
                <a:lnTo>
                  <a:pt x="0" y="287020"/>
                </a:lnTo>
                <a:lnTo>
                  <a:pt x="4504" y="309383"/>
                </a:lnTo>
                <a:lnTo>
                  <a:pt x="16795" y="327628"/>
                </a:lnTo>
                <a:lnTo>
                  <a:pt x="35040" y="339919"/>
                </a:lnTo>
                <a:lnTo>
                  <a:pt x="57404" y="344424"/>
                </a:lnTo>
                <a:lnTo>
                  <a:pt x="1160271" y="344424"/>
                </a:lnTo>
                <a:lnTo>
                  <a:pt x="1182635" y="339919"/>
                </a:lnTo>
                <a:lnTo>
                  <a:pt x="1200880" y="327628"/>
                </a:lnTo>
                <a:lnTo>
                  <a:pt x="1213171" y="309383"/>
                </a:lnTo>
                <a:lnTo>
                  <a:pt x="1217676" y="287020"/>
                </a:lnTo>
                <a:lnTo>
                  <a:pt x="1217676" y="57404"/>
                </a:lnTo>
                <a:lnTo>
                  <a:pt x="1213171" y="35040"/>
                </a:lnTo>
                <a:lnTo>
                  <a:pt x="1200880" y="16795"/>
                </a:lnTo>
                <a:lnTo>
                  <a:pt x="1182635" y="4504"/>
                </a:lnTo>
                <a:lnTo>
                  <a:pt x="1160271" y="0"/>
                </a:lnTo>
                <a:close/>
              </a:path>
            </a:pathLst>
          </a:custGeom>
          <a:solidFill>
            <a:srgbClr val="F1F1F1"/>
          </a:solidFill>
        </p:spPr>
        <p:txBody>
          <a:bodyPr wrap="square" lIns="0" tIns="0" rIns="0" bIns="0" rtlCol="0" anchor="ctr"/>
          <a:lstStyle/>
          <a:p>
            <a:pPr marL="1270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a:ln>
                  <a:noFill/>
                </a:ln>
                <a:solidFill>
                  <a:srgbClr val="001F5F"/>
                </a:solidFill>
                <a:effectLst/>
                <a:uLnTx/>
                <a:uFillTx/>
                <a:latin typeface="Eurobank Sans"/>
                <a:ea typeface="+mn-ea"/>
                <a:cs typeface="Eurobank Sans"/>
              </a:rPr>
              <a:t>Select</a:t>
            </a:r>
            <a:r>
              <a:rPr kumimoji="0" lang="en-US" sz="1200" b="1" i="0" u="none" strike="noStrike" kern="1200" cap="none" spc="-80" normalizeH="0" baseline="0" noProof="0">
                <a:ln>
                  <a:noFill/>
                </a:ln>
                <a:solidFill>
                  <a:srgbClr val="001F5F"/>
                </a:solidFill>
                <a:effectLst/>
                <a:uLnTx/>
                <a:uFillTx/>
                <a:latin typeface="Eurobank Sans"/>
                <a:ea typeface="+mn-ea"/>
                <a:cs typeface="Eurobank Sans"/>
              </a:rPr>
              <a:t> </a:t>
            </a:r>
            <a:r>
              <a:rPr kumimoji="0" lang="en-US" sz="1200" b="1" i="0" u="none" strike="noStrike" kern="1200" cap="none" spc="0" normalizeH="0" baseline="0" noProof="0">
                <a:ln>
                  <a:noFill/>
                </a:ln>
                <a:solidFill>
                  <a:srgbClr val="001F5F"/>
                </a:solidFill>
                <a:effectLst/>
                <a:uLnTx/>
                <a:uFillTx/>
                <a:latin typeface="Eurobank Sans"/>
                <a:ea typeface="+mn-ea"/>
                <a:cs typeface="Eurobank Sans"/>
              </a:rPr>
              <a:t>amount</a:t>
            </a:r>
            <a:endParaRPr kumimoji="0" lang="en-US" sz="12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46" name="object 41">
            <a:extLst>
              <a:ext uri="{FF2B5EF4-FFF2-40B4-BE49-F238E27FC236}">
                <a16:creationId xmlns:a16="http://schemas.microsoft.com/office/drawing/2014/main" id="{D3A327CA-0060-80D5-A824-A425F9C952A5}"/>
              </a:ext>
            </a:extLst>
          </p:cNvPr>
          <p:cNvSpPr/>
          <p:nvPr/>
        </p:nvSpPr>
        <p:spPr>
          <a:xfrm>
            <a:off x="4607766" y="574860"/>
            <a:ext cx="262198" cy="262198"/>
          </a:xfrm>
          <a:custGeom>
            <a:avLst/>
            <a:gdLst/>
            <a:ahLst/>
            <a:cxnLst/>
            <a:rect l="l" t="t" r="r" b="b"/>
            <a:pathLst>
              <a:path w="132714" h="132714">
                <a:moveTo>
                  <a:pt x="66293" y="0"/>
                </a:moveTo>
                <a:lnTo>
                  <a:pt x="40505" y="5214"/>
                </a:lnTo>
                <a:lnTo>
                  <a:pt x="19431" y="19431"/>
                </a:lnTo>
                <a:lnTo>
                  <a:pt x="5214" y="40505"/>
                </a:lnTo>
                <a:lnTo>
                  <a:pt x="0" y="66294"/>
                </a:lnTo>
                <a:lnTo>
                  <a:pt x="5214" y="92082"/>
                </a:lnTo>
                <a:lnTo>
                  <a:pt x="19431" y="113157"/>
                </a:lnTo>
                <a:lnTo>
                  <a:pt x="40505" y="127373"/>
                </a:lnTo>
                <a:lnTo>
                  <a:pt x="66293" y="132587"/>
                </a:lnTo>
                <a:lnTo>
                  <a:pt x="92082" y="127373"/>
                </a:lnTo>
                <a:lnTo>
                  <a:pt x="113156" y="113157"/>
                </a:lnTo>
                <a:lnTo>
                  <a:pt x="127373" y="92082"/>
                </a:lnTo>
                <a:lnTo>
                  <a:pt x="132587" y="66294"/>
                </a:lnTo>
                <a:lnTo>
                  <a:pt x="127373" y="40505"/>
                </a:lnTo>
                <a:lnTo>
                  <a:pt x="113156" y="19430"/>
                </a:lnTo>
                <a:lnTo>
                  <a:pt x="92082" y="5214"/>
                </a:lnTo>
                <a:lnTo>
                  <a:pt x="66293" y="0"/>
                </a:lnTo>
                <a:close/>
              </a:path>
            </a:pathLst>
          </a:custGeom>
          <a:solidFill>
            <a:srgbClr val="011242"/>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Eurobank Sans"/>
                <a:ea typeface="+mn-ea"/>
                <a:cs typeface="+mn-cs"/>
              </a:rPr>
              <a:t>3</a:t>
            </a:r>
            <a:endParaRPr kumimoji="0" sz="1100" b="0" i="0" u="none" strike="noStrike" kern="1200" cap="none" spc="0" normalizeH="0" baseline="0" noProof="0">
              <a:ln>
                <a:noFill/>
              </a:ln>
              <a:solidFill>
                <a:prstClr val="white"/>
              </a:solidFill>
              <a:effectLst/>
              <a:uLnTx/>
              <a:uFillTx/>
              <a:latin typeface="Eurobank Sans"/>
              <a:ea typeface="+mn-ea"/>
              <a:cs typeface="+mn-cs"/>
            </a:endParaRPr>
          </a:p>
        </p:txBody>
      </p:sp>
      <p:sp>
        <p:nvSpPr>
          <p:cNvPr id="31" name="object 26">
            <a:extLst>
              <a:ext uri="{FF2B5EF4-FFF2-40B4-BE49-F238E27FC236}">
                <a16:creationId xmlns:a16="http://schemas.microsoft.com/office/drawing/2014/main" id="{058DDFB4-8FD9-F969-9115-ED3911F70242}"/>
              </a:ext>
            </a:extLst>
          </p:cNvPr>
          <p:cNvSpPr/>
          <p:nvPr/>
        </p:nvSpPr>
        <p:spPr>
          <a:xfrm>
            <a:off x="6972995" y="1168347"/>
            <a:ext cx="1578326" cy="1612954"/>
          </a:xfrm>
          <a:prstGeom prst="rect">
            <a:avLst/>
          </a:prstGeom>
          <a:blipFill>
            <a:blip r:embed="rId2" cstate="print"/>
            <a:stretch>
              <a:fillRect b="-113486"/>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object 44">
            <a:extLst>
              <a:ext uri="{FF2B5EF4-FFF2-40B4-BE49-F238E27FC236}">
                <a16:creationId xmlns:a16="http://schemas.microsoft.com/office/drawing/2014/main" id="{594F960D-1E9B-91A5-D0EF-A70E4942B482}"/>
              </a:ext>
            </a:extLst>
          </p:cNvPr>
          <p:cNvSpPr/>
          <p:nvPr/>
        </p:nvSpPr>
        <p:spPr>
          <a:xfrm>
            <a:off x="7021017" y="765374"/>
            <a:ext cx="1625446" cy="322801"/>
          </a:xfrm>
          <a:custGeom>
            <a:avLst/>
            <a:gdLst/>
            <a:ahLst/>
            <a:cxnLst/>
            <a:rect l="l" t="t" r="r" b="b"/>
            <a:pathLst>
              <a:path w="1217929" h="342900">
                <a:moveTo>
                  <a:pt x="1160526" y="0"/>
                </a:moveTo>
                <a:lnTo>
                  <a:pt x="57150" y="0"/>
                </a:lnTo>
                <a:lnTo>
                  <a:pt x="34879" y="4482"/>
                </a:lnTo>
                <a:lnTo>
                  <a:pt x="16716" y="16716"/>
                </a:lnTo>
                <a:lnTo>
                  <a:pt x="4482" y="34879"/>
                </a:lnTo>
                <a:lnTo>
                  <a:pt x="0" y="57150"/>
                </a:lnTo>
                <a:lnTo>
                  <a:pt x="0" y="285750"/>
                </a:lnTo>
                <a:lnTo>
                  <a:pt x="4482" y="308020"/>
                </a:lnTo>
                <a:lnTo>
                  <a:pt x="16716" y="326183"/>
                </a:lnTo>
                <a:lnTo>
                  <a:pt x="34879" y="338417"/>
                </a:lnTo>
                <a:lnTo>
                  <a:pt x="57150" y="342900"/>
                </a:lnTo>
                <a:lnTo>
                  <a:pt x="1160526" y="342900"/>
                </a:lnTo>
                <a:lnTo>
                  <a:pt x="1182796" y="338417"/>
                </a:lnTo>
                <a:lnTo>
                  <a:pt x="1200959" y="326183"/>
                </a:lnTo>
                <a:lnTo>
                  <a:pt x="1213193" y="308020"/>
                </a:lnTo>
                <a:lnTo>
                  <a:pt x="1217676" y="285750"/>
                </a:lnTo>
                <a:lnTo>
                  <a:pt x="1217676" y="57150"/>
                </a:lnTo>
                <a:lnTo>
                  <a:pt x="1213193" y="34879"/>
                </a:lnTo>
                <a:lnTo>
                  <a:pt x="1200959" y="16716"/>
                </a:lnTo>
                <a:lnTo>
                  <a:pt x="1182796" y="4482"/>
                </a:lnTo>
                <a:lnTo>
                  <a:pt x="1160526" y="0"/>
                </a:lnTo>
                <a:close/>
              </a:path>
            </a:pathLst>
          </a:custGeom>
          <a:solidFill>
            <a:srgbClr val="F1F1F1"/>
          </a:solidFill>
        </p:spPr>
        <p:txBody>
          <a:bodyPr wrap="square" lIns="0" tIns="0" rIns="0" bIns="0" rtlCol="0" anchor="ctr"/>
          <a:lstStyle/>
          <a:p>
            <a:pPr marL="1270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err="1">
                <a:ln>
                  <a:noFill/>
                </a:ln>
                <a:solidFill>
                  <a:srgbClr val="001F5F"/>
                </a:solidFill>
                <a:effectLst/>
                <a:uLnTx/>
                <a:uFillTx/>
                <a:latin typeface="Eurobank Sans"/>
                <a:ea typeface="+mn-ea"/>
                <a:cs typeface="Eurobank Sans"/>
              </a:rPr>
              <a:t>P</a:t>
            </a:r>
            <a:r>
              <a:rPr kumimoji="0" lang="en-US" sz="1200" b="1" i="0" u="none" strike="noStrike" kern="1200" cap="none" spc="0" normalizeH="0" baseline="0" noProof="0" err="1">
                <a:ln>
                  <a:noFill/>
                </a:ln>
                <a:solidFill>
                  <a:srgbClr val="001F5F"/>
                </a:solidFill>
                <a:effectLst/>
                <a:uLnTx/>
                <a:uFillTx/>
                <a:latin typeface="Eurobank Sans"/>
                <a:ea typeface="+mn-ea"/>
                <a:cs typeface="Eurobank Sans"/>
              </a:rPr>
              <a:t>ropos</a:t>
            </a:r>
            <a:r>
              <a:rPr kumimoji="0" lang="en-US" sz="1200" b="1" i="0" u="none" strike="noStrike" kern="1200" cap="none" spc="5" normalizeH="0" baseline="0" noProof="0">
                <a:ln>
                  <a:noFill/>
                </a:ln>
                <a:solidFill>
                  <a:srgbClr val="001F5F"/>
                </a:solidFill>
                <a:effectLst/>
                <a:uLnTx/>
                <a:uFillTx/>
                <a:latin typeface="Eurobank Sans"/>
                <a:ea typeface="+mn-ea"/>
                <a:cs typeface="Eurobank Sans"/>
              </a:rPr>
              <a:t>ed Product</a:t>
            </a:r>
            <a:endParaRPr kumimoji="0" lang="en-US" sz="12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52" name="object 47">
            <a:extLst>
              <a:ext uri="{FF2B5EF4-FFF2-40B4-BE49-F238E27FC236}">
                <a16:creationId xmlns:a16="http://schemas.microsoft.com/office/drawing/2014/main" id="{128D23DC-8ED6-9F99-7017-C5764AF7E7C5}"/>
              </a:ext>
            </a:extLst>
          </p:cNvPr>
          <p:cNvSpPr/>
          <p:nvPr/>
        </p:nvSpPr>
        <p:spPr>
          <a:xfrm>
            <a:off x="6887142" y="599245"/>
            <a:ext cx="262198" cy="262198"/>
          </a:xfrm>
          <a:custGeom>
            <a:avLst/>
            <a:gdLst/>
            <a:ahLst/>
            <a:cxnLst/>
            <a:rect l="l" t="t" r="r" b="b"/>
            <a:pathLst>
              <a:path w="132714" h="132714">
                <a:moveTo>
                  <a:pt x="66294" y="0"/>
                </a:moveTo>
                <a:lnTo>
                  <a:pt x="40505" y="5214"/>
                </a:lnTo>
                <a:lnTo>
                  <a:pt x="19430" y="19431"/>
                </a:lnTo>
                <a:lnTo>
                  <a:pt x="5214" y="40505"/>
                </a:lnTo>
                <a:lnTo>
                  <a:pt x="0" y="66294"/>
                </a:lnTo>
                <a:lnTo>
                  <a:pt x="5214" y="92082"/>
                </a:lnTo>
                <a:lnTo>
                  <a:pt x="19430" y="113157"/>
                </a:lnTo>
                <a:lnTo>
                  <a:pt x="40505" y="127373"/>
                </a:lnTo>
                <a:lnTo>
                  <a:pt x="66294" y="132588"/>
                </a:lnTo>
                <a:lnTo>
                  <a:pt x="92082" y="127373"/>
                </a:lnTo>
                <a:lnTo>
                  <a:pt x="113157" y="113157"/>
                </a:lnTo>
                <a:lnTo>
                  <a:pt x="127373" y="92082"/>
                </a:lnTo>
                <a:lnTo>
                  <a:pt x="132587" y="66294"/>
                </a:lnTo>
                <a:lnTo>
                  <a:pt x="127373" y="40505"/>
                </a:lnTo>
                <a:lnTo>
                  <a:pt x="113157" y="19430"/>
                </a:lnTo>
                <a:lnTo>
                  <a:pt x="92082" y="5214"/>
                </a:lnTo>
                <a:lnTo>
                  <a:pt x="66294" y="0"/>
                </a:lnTo>
                <a:close/>
              </a:path>
            </a:pathLst>
          </a:custGeom>
          <a:solidFill>
            <a:srgbClr val="011242"/>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Eurobank Sans"/>
                <a:ea typeface="+mn-ea"/>
                <a:cs typeface="+mn-cs"/>
              </a:rPr>
              <a:t>4</a:t>
            </a:r>
            <a:endParaRPr kumimoji="0" sz="1100" b="0" i="0" u="none" strike="noStrike" kern="1200" cap="none" spc="0" normalizeH="0" baseline="0" noProof="0">
              <a:ln>
                <a:noFill/>
              </a:ln>
              <a:solidFill>
                <a:prstClr val="white"/>
              </a:solidFill>
              <a:effectLst/>
              <a:uLnTx/>
              <a:uFillTx/>
              <a:latin typeface="Eurobank Sans"/>
              <a:ea typeface="+mn-ea"/>
              <a:cs typeface="+mn-cs"/>
            </a:endParaRPr>
          </a:p>
        </p:txBody>
      </p:sp>
      <p:sp>
        <p:nvSpPr>
          <p:cNvPr id="12" name="object 23">
            <a:extLst>
              <a:ext uri="{FF2B5EF4-FFF2-40B4-BE49-F238E27FC236}">
                <a16:creationId xmlns:a16="http://schemas.microsoft.com/office/drawing/2014/main" id="{58F95354-930F-01CA-1C16-26372BEB7186}"/>
              </a:ext>
            </a:extLst>
          </p:cNvPr>
          <p:cNvSpPr/>
          <p:nvPr/>
        </p:nvSpPr>
        <p:spPr>
          <a:xfrm>
            <a:off x="4686629" y="2571750"/>
            <a:ext cx="1578327" cy="547924"/>
          </a:xfrm>
          <a:prstGeom prst="rect">
            <a:avLst/>
          </a:prstGeom>
          <a:blipFill>
            <a:blip r:embed="rId5" cstate="print"/>
            <a:stretch>
              <a:fillRect t="-523254"/>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object 23">
            <a:extLst>
              <a:ext uri="{FF2B5EF4-FFF2-40B4-BE49-F238E27FC236}">
                <a16:creationId xmlns:a16="http://schemas.microsoft.com/office/drawing/2014/main" id="{68D64953-DC86-FF4B-B30E-FFDDBE27BABE}"/>
              </a:ext>
            </a:extLst>
          </p:cNvPr>
          <p:cNvSpPr/>
          <p:nvPr/>
        </p:nvSpPr>
        <p:spPr>
          <a:xfrm>
            <a:off x="2486866" y="2571750"/>
            <a:ext cx="1578327" cy="547924"/>
          </a:xfrm>
          <a:prstGeom prst="rect">
            <a:avLst/>
          </a:prstGeom>
          <a:blipFill>
            <a:blip r:embed="rId5" cstate="print"/>
            <a:stretch>
              <a:fillRect t="-523254"/>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Placeholder 8">
            <a:extLst>
              <a:ext uri="{FF2B5EF4-FFF2-40B4-BE49-F238E27FC236}">
                <a16:creationId xmlns:a16="http://schemas.microsoft.com/office/drawing/2014/main" id="{EDB99924-2857-D7AB-9354-16EB1429F5F1}"/>
              </a:ext>
            </a:extLst>
          </p:cNvPr>
          <p:cNvSpPr txBox="1">
            <a:spLocks/>
          </p:cNvSpPr>
          <p:nvPr/>
        </p:nvSpPr>
        <p:spPr>
          <a:xfrm>
            <a:off x="163692" y="198769"/>
            <a:ext cx="6120567" cy="149584"/>
          </a:xfrm>
          <a:prstGeom prst="rect">
            <a:avLst/>
          </a:prstGeom>
        </p:spPr>
        <p:txBody>
          <a:bodyPr vert="horz" lIns="0" tIns="0" rIns="0" bIns="0" rtlCol="0" anchor="t" anchorCtr="0">
            <a:noAutofit/>
          </a:bodyPr>
          <a:lstStyle>
            <a:lvl1pPr marL="0" indent="0" algn="l" defTabSz="342900" rtl="0" eaLnBrk="1" latinLnBrk="0" hangingPunct="1">
              <a:lnSpc>
                <a:spcPts val="1024"/>
              </a:lnSpc>
              <a:spcBef>
                <a:spcPct val="20000"/>
              </a:spcBef>
              <a:spcAft>
                <a:spcPts val="1125"/>
              </a:spcAft>
              <a:buFontTx/>
              <a:buNone/>
              <a:defRPr sz="1600" b="0" i="0" kern="1200" baseline="0">
                <a:solidFill>
                  <a:srgbClr val="021342"/>
                </a:solidFill>
                <a:latin typeface="Eurobank Sans" panose="02000503000000020004" pitchFamily="2" charset="0"/>
                <a:ea typeface="+mn-ea"/>
                <a:cs typeface="Eurobank Sans" panose="02000503000000020004" pitchFamily="2" charset="0"/>
              </a:defRPr>
            </a:lvl1pPr>
            <a:lvl2pPr marL="342900" indent="0" algn="l" defTabSz="342900" rtl="0" eaLnBrk="1" latinLnBrk="0" hangingPunct="1">
              <a:spcBef>
                <a:spcPct val="20000"/>
              </a:spcBef>
              <a:spcAft>
                <a:spcPts val="675"/>
              </a:spcAft>
              <a:buFontTx/>
              <a:buNone/>
              <a:defRPr sz="1350" b="0" i="0" kern="1200">
                <a:solidFill>
                  <a:schemeClr val="tx1">
                    <a:tint val="75000"/>
                  </a:schemeClr>
                </a:solidFill>
                <a:latin typeface="Averta Std PE" pitchFamily="2" charset="0"/>
                <a:ea typeface="+mn-ea"/>
                <a:cs typeface="Averta Std PE" pitchFamily="2" charset="0"/>
              </a:defRPr>
            </a:lvl2pPr>
            <a:lvl3pPr marL="685800" indent="0" algn="l" defTabSz="342900" rtl="0" eaLnBrk="1" latinLnBrk="0" hangingPunct="1">
              <a:spcBef>
                <a:spcPct val="20000"/>
              </a:spcBef>
              <a:buFontTx/>
              <a:buNone/>
              <a:defRPr sz="1200" b="0" i="0" kern="1200">
                <a:solidFill>
                  <a:schemeClr val="tx1">
                    <a:tint val="75000"/>
                  </a:schemeClr>
                </a:solidFill>
                <a:latin typeface="Averta Std PE" pitchFamily="2" charset="0"/>
                <a:ea typeface="+mn-ea"/>
                <a:cs typeface="Averta Std PE" pitchFamily="2" charset="0"/>
              </a:defRPr>
            </a:lvl3pPr>
            <a:lvl4pPr marL="1028700" indent="0" algn="l" defTabSz="342900" rtl="0" eaLnBrk="1" latinLnBrk="0" hangingPunct="1">
              <a:spcBef>
                <a:spcPct val="20000"/>
              </a:spcBef>
              <a:buFont typeface="Arial"/>
              <a:buNone/>
              <a:defRPr sz="1050" b="0" i="0" kern="1200">
                <a:solidFill>
                  <a:schemeClr val="tx1">
                    <a:tint val="75000"/>
                  </a:schemeClr>
                </a:solidFill>
                <a:latin typeface="Averta Std PE" pitchFamily="2" charset="0"/>
                <a:ea typeface="+mn-ea"/>
                <a:cs typeface="Averta Std PE" pitchFamily="2" charset="0"/>
              </a:defRPr>
            </a:lvl4pPr>
            <a:lvl5pPr marL="1371600" indent="0" algn="l" defTabSz="342900" rtl="0" eaLnBrk="1" latinLnBrk="0" hangingPunct="1">
              <a:spcBef>
                <a:spcPct val="20000"/>
              </a:spcBef>
              <a:buFont typeface="Arial"/>
              <a:buNone/>
              <a:defRPr sz="1050" b="0" i="0" kern="1200">
                <a:solidFill>
                  <a:schemeClr val="tx1">
                    <a:tint val="75000"/>
                  </a:schemeClr>
                </a:solidFill>
                <a:latin typeface="Averta Std PE" pitchFamily="2" charset="0"/>
                <a:ea typeface="+mn-ea"/>
                <a:cs typeface="Averta Std PE" pitchFamily="2" charset="0"/>
              </a:defRPr>
            </a:lvl5pPr>
            <a:lvl6pPr marL="17145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6pPr>
            <a:lvl7pPr marL="20574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7pPr>
            <a:lvl8pPr marL="24003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8pPr>
            <a:lvl9pPr marL="2743200" indent="0" algn="l" defTabSz="342900" rtl="0" eaLnBrk="1" latinLnBrk="0" hangingPunct="1">
              <a:spcBef>
                <a:spcPct val="20000"/>
              </a:spcBef>
              <a:buFont typeface="Arial"/>
              <a:buNone/>
              <a:defRPr sz="1050" kern="1200">
                <a:solidFill>
                  <a:schemeClr val="tx1">
                    <a:tint val="75000"/>
                  </a:schemeClr>
                </a:solidFill>
                <a:latin typeface="+mn-lt"/>
                <a:ea typeface="+mn-ea"/>
                <a:cs typeface="+mn-cs"/>
              </a:defRPr>
            </a:lvl9pPr>
          </a:lstStyle>
          <a:p>
            <a:pPr marL="0" marR="0" lvl="0" indent="0" algn="l" defTabSz="342900" rtl="0" eaLnBrk="1" fontAlgn="auto" latinLnBrk="0" hangingPunct="1">
              <a:lnSpc>
                <a:spcPts val="1024"/>
              </a:lnSpc>
              <a:spcBef>
                <a:spcPct val="20000"/>
              </a:spcBef>
              <a:spcAft>
                <a:spcPts val="1125"/>
              </a:spcAft>
              <a:buClrTx/>
              <a:buSzTx/>
              <a:buFontTx/>
              <a:buNone/>
              <a:tabLst/>
              <a:defRPr/>
            </a:pPr>
            <a:r>
              <a:rPr kumimoji="0" lang="en-US" sz="1600" b="0" i="0" u="none" strike="noStrike" kern="1200" cap="none" spc="0" normalizeH="0" baseline="0" noProof="0">
                <a:ln>
                  <a:noFill/>
                </a:ln>
                <a:solidFill>
                  <a:srgbClr val="021342"/>
                </a:solidFill>
                <a:effectLst/>
                <a:uLnTx/>
                <a:uFillTx/>
                <a:latin typeface="Eurobank Sans" panose="02000503000000020004" pitchFamily="2" charset="0"/>
                <a:ea typeface="+mn-ea"/>
              </a:rPr>
              <a:t>Consumer Loans Strategic Initiatives: Customer Journey Wizard Tool</a:t>
            </a:r>
          </a:p>
        </p:txBody>
      </p:sp>
    </p:spTree>
    <p:extLst>
      <p:ext uri="{BB962C8B-B14F-4D97-AF65-F5344CB8AC3E}">
        <p14:creationId xmlns:p14="http://schemas.microsoft.com/office/powerpoint/2010/main" val="80860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F4C5E-B2F4-1C77-E567-0025A0AAB64F}"/>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806DE21D-F265-4A96-3451-408E357782EF}"/>
              </a:ext>
            </a:extLst>
          </p:cNvPr>
          <p:cNvSpPr>
            <a:spLocks noGrp="1"/>
          </p:cNvSpPr>
          <p:nvPr>
            <p:ph type="body" idx="15"/>
          </p:nvPr>
        </p:nvSpPr>
        <p:spPr/>
        <p:txBody>
          <a:bodyPr/>
          <a:lstStyle/>
          <a:p>
            <a:r>
              <a:rPr lang="en-US"/>
              <a:t>Consumer Loans Strategic Initiatives – Commercial Plan</a:t>
            </a:r>
          </a:p>
        </p:txBody>
      </p:sp>
      <p:grpSp>
        <p:nvGrpSpPr>
          <p:cNvPr id="76" name="Group 75">
            <a:extLst>
              <a:ext uri="{FF2B5EF4-FFF2-40B4-BE49-F238E27FC236}">
                <a16:creationId xmlns:a16="http://schemas.microsoft.com/office/drawing/2014/main" id="{368BE6A1-52D6-778B-2C28-E38F4AB29EBB}"/>
              </a:ext>
            </a:extLst>
          </p:cNvPr>
          <p:cNvGrpSpPr/>
          <p:nvPr/>
        </p:nvGrpSpPr>
        <p:grpSpPr>
          <a:xfrm>
            <a:off x="1662573" y="470133"/>
            <a:ext cx="2991569" cy="698917"/>
            <a:chOff x="5787824" y="674181"/>
            <a:chExt cx="2991569" cy="698917"/>
          </a:xfrm>
        </p:grpSpPr>
        <p:sp>
          <p:nvSpPr>
            <p:cNvPr id="47" name="object 53">
              <a:extLst>
                <a:ext uri="{FF2B5EF4-FFF2-40B4-BE49-F238E27FC236}">
                  <a16:creationId xmlns:a16="http://schemas.microsoft.com/office/drawing/2014/main" id="{6D401731-38B3-42CC-5D4B-CE1684F4400A}"/>
                </a:ext>
              </a:extLst>
            </p:cNvPr>
            <p:cNvSpPr/>
            <p:nvPr/>
          </p:nvSpPr>
          <p:spPr>
            <a:xfrm>
              <a:off x="6038199" y="843096"/>
              <a:ext cx="2741194" cy="361086"/>
            </a:xfrm>
            <a:custGeom>
              <a:avLst/>
              <a:gdLst/>
              <a:ahLst/>
              <a:cxnLst/>
              <a:rect l="l" t="t" r="r" b="b"/>
              <a:pathLst>
                <a:path w="1449704" h="942339">
                  <a:moveTo>
                    <a:pt x="0" y="941832"/>
                  </a:moveTo>
                  <a:lnTo>
                    <a:pt x="1449323" y="941832"/>
                  </a:lnTo>
                  <a:lnTo>
                    <a:pt x="1449323" y="0"/>
                  </a:lnTo>
                  <a:lnTo>
                    <a:pt x="0" y="0"/>
                  </a:lnTo>
                  <a:lnTo>
                    <a:pt x="0" y="941832"/>
                  </a:lnTo>
                  <a:close/>
                </a:path>
              </a:pathLst>
            </a:custGeom>
            <a:noFill/>
          </p:spPr>
          <p:txBody>
            <a:bodyPr wrap="square" lIns="0" tIns="0" rIns="0" bIns="0" rtlCol="0" anchor="ctr"/>
            <a:lstStyle/>
            <a:p>
              <a:pPr marL="534988"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2060"/>
                  </a:solidFill>
                  <a:effectLst/>
                  <a:uLnTx/>
                  <a:uFillTx/>
                  <a:latin typeface="Eurobank Sans"/>
                  <a:ea typeface="+mn-ea"/>
                  <a:cs typeface="+mn-cs"/>
                </a:rPr>
                <a:t>Commercial Plan</a:t>
              </a:r>
            </a:p>
          </p:txBody>
        </p:sp>
        <p:grpSp>
          <p:nvGrpSpPr>
            <p:cNvPr id="68" name="Group 67">
              <a:extLst>
                <a:ext uri="{FF2B5EF4-FFF2-40B4-BE49-F238E27FC236}">
                  <a16:creationId xmlns:a16="http://schemas.microsoft.com/office/drawing/2014/main" id="{47DAA40E-F9F8-935C-AD3A-344B2605B35E}"/>
                </a:ext>
              </a:extLst>
            </p:cNvPr>
            <p:cNvGrpSpPr/>
            <p:nvPr/>
          </p:nvGrpSpPr>
          <p:grpSpPr>
            <a:xfrm>
              <a:off x="5787824" y="674181"/>
              <a:ext cx="698917" cy="698917"/>
              <a:chOff x="5787824" y="674181"/>
              <a:chExt cx="698917" cy="698917"/>
            </a:xfrm>
          </p:grpSpPr>
          <p:pic>
            <p:nvPicPr>
              <p:cNvPr id="61" name="Graphic 60" descr="Video camera outline">
                <a:extLst>
                  <a:ext uri="{FF2B5EF4-FFF2-40B4-BE49-F238E27FC236}">
                    <a16:creationId xmlns:a16="http://schemas.microsoft.com/office/drawing/2014/main" id="{6C032B93-7E6D-9AF8-55EE-8666505AF4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49842" y="926419"/>
                <a:ext cx="230115" cy="230115"/>
              </a:xfrm>
              <a:prstGeom prst="rect">
                <a:avLst/>
              </a:prstGeom>
            </p:spPr>
          </p:pic>
          <p:pic>
            <p:nvPicPr>
              <p:cNvPr id="63" name="Graphic 62" descr="Radio microphone outline">
                <a:extLst>
                  <a:ext uri="{FF2B5EF4-FFF2-40B4-BE49-F238E27FC236}">
                    <a16:creationId xmlns:a16="http://schemas.microsoft.com/office/drawing/2014/main" id="{314D65F6-9CC2-50ED-99CA-186077F43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2955" y="927169"/>
                <a:ext cx="203502" cy="203502"/>
              </a:xfrm>
              <a:prstGeom prst="rect">
                <a:avLst/>
              </a:prstGeom>
            </p:spPr>
          </p:pic>
          <p:pic>
            <p:nvPicPr>
              <p:cNvPr id="65" name="Graphic 64" descr="Marketing outline">
                <a:extLst>
                  <a:ext uri="{FF2B5EF4-FFF2-40B4-BE49-F238E27FC236}">
                    <a16:creationId xmlns:a16="http://schemas.microsoft.com/office/drawing/2014/main" id="{44792D12-E102-0E76-6466-56A00737C0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35530" y="820136"/>
                <a:ext cx="230115" cy="230115"/>
              </a:xfrm>
              <a:prstGeom prst="rect">
                <a:avLst/>
              </a:prstGeom>
            </p:spPr>
          </p:pic>
          <p:pic>
            <p:nvPicPr>
              <p:cNvPr id="67" name="Graphic 66" descr="Monitor outline">
                <a:extLst>
                  <a:ext uri="{FF2B5EF4-FFF2-40B4-BE49-F238E27FC236}">
                    <a16:creationId xmlns:a16="http://schemas.microsoft.com/office/drawing/2014/main" id="{BA023CDA-262F-7DBE-C6F7-EABE5C1083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87824" y="674181"/>
                <a:ext cx="698917" cy="698917"/>
              </a:xfrm>
              <a:prstGeom prst="rect">
                <a:avLst/>
              </a:prstGeom>
            </p:spPr>
          </p:pic>
        </p:grpSp>
      </p:grpSp>
      <p:sp>
        <p:nvSpPr>
          <p:cNvPr id="7" name="TextBox 6">
            <a:extLst>
              <a:ext uri="{FF2B5EF4-FFF2-40B4-BE49-F238E27FC236}">
                <a16:creationId xmlns:a16="http://schemas.microsoft.com/office/drawing/2014/main" id="{CAD37BE6-5FA3-3173-1E34-08AA81B15579}"/>
              </a:ext>
            </a:extLst>
          </p:cNvPr>
          <p:cNvSpPr txBox="1"/>
          <p:nvPr/>
        </p:nvSpPr>
        <p:spPr>
          <a:xfrm>
            <a:off x="469083" y="1466258"/>
            <a:ext cx="3085446" cy="43088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1200" cap="none" spc="0" normalizeH="0" baseline="0" noProof="0">
                <a:ln>
                  <a:noFill/>
                </a:ln>
                <a:solidFill>
                  <a:srgbClr val="002060"/>
                </a:solidFill>
                <a:effectLst/>
                <a:uLnTx/>
                <a:uFillTx/>
                <a:latin typeface="Eurobank Sans" panose="02000503000000020004" pitchFamily="2" charset="0"/>
                <a:ea typeface="Times New Roman" panose="02020603050405020304" pitchFamily="18" charset="0"/>
                <a:cs typeface="Times New Roman" panose="02020603050405020304" pitchFamily="18" charset="0"/>
              </a:rPr>
              <a:t>All products, publics, channels &amp; media: </a:t>
            </a:r>
            <a:endParaRPr kumimoji="0" lang="el-GR" sz="1100" b="0" i="0" u="none" strike="noStrike" kern="1200" cap="none" spc="0" normalizeH="0" baseline="0" noProof="0">
              <a:ln>
                <a:noFill/>
              </a:ln>
              <a:solidFill>
                <a:srgbClr val="002060"/>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 </a:t>
            </a:r>
            <a:endParaRPr kumimoji="0" lang="el-GR" sz="1100" b="0" i="0" u="none" strike="noStrike" kern="1200" cap="none" spc="0" normalizeH="0" baseline="0" noProof="0">
              <a:ln>
                <a:noFill/>
              </a:ln>
              <a:solidFill>
                <a:srgbClr val="002060"/>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C87D90A2-AD73-2346-B752-A09486BFD473}"/>
              </a:ext>
            </a:extLst>
          </p:cNvPr>
          <p:cNvSpPr txBox="1"/>
          <p:nvPr/>
        </p:nvSpPr>
        <p:spPr>
          <a:xfrm>
            <a:off x="1" y="1071192"/>
            <a:ext cx="4853940" cy="430887"/>
          </a:xfrm>
          <a:prstGeom prst="rect">
            <a:avLst/>
          </a:prstGeom>
          <a:solidFill>
            <a:schemeClr val="bg1">
              <a:lumMod val="95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184B"/>
                </a:solidFill>
                <a:effectLst/>
                <a:uLnTx/>
                <a:uFillTx/>
                <a:latin typeface="Eurobank Sans"/>
                <a:ea typeface="+mn-ea"/>
                <a:cs typeface="Eurobank Sans"/>
              </a:rPr>
              <a:t>360 campaigning ecosystems,  highly contributing to results and MS leadership</a:t>
            </a:r>
          </a:p>
        </p:txBody>
      </p:sp>
      <p:pic>
        <p:nvPicPr>
          <p:cNvPr id="13" name="Graphic 12" descr="Target Audience with solid fill">
            <a:extLst>
              <a:ext uri="{FF2B5EF4-FFF2-40B4-BE49-F238E27FC236}">
                <a16:creationId xmlns:a16="http://schemas.microsoft.com/office/drawing/2014/main" id="{BE47380E-516B-62D5-F2B8-679CD4D00E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8304" y="1857740"/>
            <a:ext cx="654817" cy="654817"/>
          </a:xfrm>
          <a:prstGeom prst="rect">
            <a:avLst/>
          </a:prstGeom>
        </p:spPr>
      </p:pic>
      <p:sp>
        <p:nvSpPr>
          <p:cNvPr id="15" name="TextBox 14">
            <a:extLst>
              <a:ext uri="{FF2B5EF4-FFF2-40B4-BE49-F238E27FC236}">
                <a16:creationId xmlns:a16="http://schemas.microsoft.com/office/drawing/2014/main" id="{102101AB-C836-0F7C-E867-17B147745BF5}"/>
              </a:ext>
            </a:extLst>
          </p:cNvPr>
          <p:cNvSpPr txBox="1"/>
          <p:nvPr/>
        </p:nvSpPr>
        <p:spPr>
          <a:xfrm>
            <a:off x="703786" y="2475877"/>
            <a:ext cx="1308020" cy="415498"/>
          </a:xfrm>
          <a:prstGeom prst="rect">
            <a:avLst/>
          </a:prstGeom>
          <a:noFill/>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Pillar 1: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Targeted</a:t>
            </a:r>
            <a:endParaRPr kumimoji="0" lang="el-GR" sz="1050" b="1" i="0" u="none" strike="noStrike" kern="1200" cap="none" spc="0" normalizeH="0" baseline="0" noProof="0">
              <a:ln>
                <a:noFill/>
              </a:ln>
              <a:solidFill>
                <a:srgbClr val="002060"/>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751C3885-804D-C1A0-D858-B769FB8D4FB2}"/>
              </a:ext>
            </a:extLst>
          </p:cNvPr>
          <p:cNvSpPr txBox="1"/>
          <p:nvPr/>
        </p:nvSpPr>
        <p:spPr>
          <a:xfrm>
            <a:off x="1957750" y="1964484"/>
            <a:ext cx="2805771" cy="938719"/>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1" i="0" u="none" strike="noStrike" kern="1200" cap="none" spc="0" normalizeH="0" baseline="0" noProof="0">
                <a:ln>
                  <a:noFill/>
                </a:ln>
                <a:solidFill>
                  <a:srgbClr val="002060"/>
                </a:solidFill>
                <a:effectLst/>
                <a:uLnTx/>
                <a:uFillTx/>
                <a:latin typeface="Eurobank Sans" panose="02000503000000020004" pitchFamily="2" charset="0"/>
                <a:ea typeface="Times New Roman" panose="02020603050405020304" pitchFamily="18" charset="0"/>
                <a:cs typeface="Times New Roman" panose="02020603050405020304" pitchFamily="18" charset="0"/>
              </a:rPr>
              <a:t>Need Based</a:t>
            </a:r>
            <a:r>
              <a:rPr kumimoji="0" lang="en-US" sz="1100" b="0" i="0" u="none" strike="noStrike" kern="1200" cap="none" spc="0" normalizeH="0" baseline="0" noProof="0">
                <a:ln>
                  <a:noFill/>
                </a:ln>
                <a:solidFill>
                  <a:srgbClr val="002060"/>
                </a:solidFill>
                <a:effectLst/>
                <a:uLnTx/>
                <a:uFillTx/>
                <a:latin typeface="Eurobank Sans" panose="02000503000000020004" pitchFamily="2" charset="0"/>
                <a:ea typeface="Times New Roman" panose="02020603050405020304" pitchFamily="18" charset="0"/>
                <a:cs typeface="Times New Roman" panose="02020603050405020304" pitchFamily="18" charset="0"/>
              </a:rPr>
              <a:t>: e/m always on</a:t>
            </a:r>
            <a:endPar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endParaRPr>
          </a:p>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1"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Moment of truth</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 Real time e/m</a:t>
            </a:r>
            <a:endParaRPr kumimoji="0" lang="el-GR" sz="1100" b="0" i="0" u="none" strike="noStrike" kern="1200" cap="none" spc="0" normalizeH="0" baseline="0" noProof="0">
              <a:ln>
                <a:noFill/>
              </a:ln>
              <a:solidFill>
                <a:srgbClr val="002060"/>
              </a:solidFill>
              <a:effectLst/>
              <a:uLnTx/>
              <a:uFillTx/>
              <a:latin typeface="Eurobank Sans"/>
              <a:ea typeface="Aptos" panose="020B0004020202020204" pitchFamily="34" charset="0"/>
              <a:cs typeface="Times New Roman" panose="02020603050405020304" pitchFamily="18" charset="0"/>
            </a:endParaRPr>
          </a:p>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1"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High Priority publics</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 Hot Leads, </a:t>
            </a:r>
            <a:r>
              <a:rPr kumimoji="0" lang="en-US" sz="1100" b="0" i="0" u="none" strike="noStrike" kern="1200" cap="none" spc="0" normalizeH="0" baseline="0" noProof="0" err="1">
                <a:ln>
                  <a:noFill/>
                </a:ln>
                <a:solidFill>
                  <a:srgbClr val="002060"/>
                </a:solidFill>
                <a:effectLst/>
                <a:uLnTx/>
                <a:uFillTx/>
                <a:latin typeface="Eurobank Sans"/>
                <a:ea typeface="Times New Roman" panose="02020603050405020304" pitchFamily="18" charset="0"/>
                <a:cs typeface="Times New Roman" panose="02020603050405020304" pitchFamily="18" charset="0"/>
              </a:rPr>
              <a:t>preadvised</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 / preselected</a:t>
            </a:r>
          </a:p>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1"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Leader product:</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 R</a:t>
            </a:r>
            <a:r>
              <a:rPr kumimoji="0" lang="en-US" sz="1100" b="0" i="0" u="none" strike="noStrike" kern="1200" cap="none" spc="0" normalizeH="0" baseline="0" noProof="0" err="1">
                <a:ln>
                  <a:noFill/>
                </a:ln>
                <a:solidFill>
                  <a:srgbClr val="002060"/>
                </a:solidFill>
                <a:effectLst/>
                <a:uLnTx/>
                <a:uFillTx/>
                <a:latin typeface="Eurobank Sans"/>
                <a:ea typeface="Times New Roman" panose="02020603050405020304" pitchFamily="18" charset="0"/>
                <a:cs typeface="Times New Roman" panose="02020603050405020304" pitchFamily="18" charset="0"/>
              </a:rPr>
              <a:t>olling</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 </a:t>
            </a:r>
            <a:r>
              <a:rPr kumimoji="0" lang="en-US" sz="1100" b="0" i="0" u="none" strike="noStrike" kern="1200" cap="none" spc="0" normalizeH="0" baseline="0" noProof="0" err="1">
                <a:ln>
                  <a:noFill/>
                </a:ln>
                <a:solidFill>
                  <a:srgbClr val="002060"/>
                </a:solidFill>
                <a:effectLst/>
                <a:uLnTx/>
                <a:uFillTx/>
                <a:latin typeface="Eurobank Sans"/>
                <a:ea typeface="Times New Roman" panose="02020603050405020304" pitchFamily="18" charset="0"/>
                <a:cs typeface="Times New Roman" panose="02020603050405020304" pitchFamily="18" charset="0"/>
              </a:rPr>
              <a:t>btl</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 campaigns</a:t>
            </a:r>
            <a:endParaRPr kumimoji="0" lang="el-GR" sz="1800" b="0" i="0" u="none" strike="noStrike" kern="1200" cap="none" spc="0" normalizeH="0" baseline="0" noProof="0">
              <a:ln>
                <a:noFill/>
              </a:ln>
              <a:solidFill>
                <a:prstClr val="black"/>
              </a:solidFill>
              <a:effectLst/>
              <a:uLnTx/>
              <a:uFillTx/>
              <a:latin typeface="Eurobank Sans"/>
              <a:ea typeface="+mn-ea"/>
              <a:cs typeface="+mn-cs"/>
            </a:endParaRPr>
          </a:p>
        </p:txBody>
      </p:sp>
      <p:sp>
        <p:nvSpPr>
          <p:cNvPr id="19" name="TextBox 18">
            <a:extLst>
              <a:ext uri="{FF2B5EF4-FFF2-40B4-BE49-F238E27FC236}">
                <a16:creationId xmlns:a16="http://schemas.microsoft.com/office/drawing/2014/main" id="{8CEE11F3-BA5A-A69E-A06A-B23104B2E2A4}"/>
              </a:ext>
            </a:extLst>
          </p:cNvPr>
          <p:cNvSpPr txBox="1"/>
          <p:nvPr/>
        </p:nvSpPr>
        <p:spPr>
          <a:xfrm>
            <a:off x="663517" y="3439046"/>
            <a:ext cx="1308020" cy="415498"/>
          </a:xfrm>
          <a:prstGeom prst="rect">
            <a:avLst/>
          </a:prstGeom>
          <a:noFill/>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Pillar 2: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ATL</a:t>
            </a:r>
            <a:endParaRPr kumimoji="0" lang="el-GR" sz="1050" b="1" i="0" u="none" strike="noStrike" kern="1200" cap="none" spc="0" normalizeH="0" baseline="0" noProof="0">
              <a:ln>
                <a:noFill/>
              </a:ln>
              <a:solidFill>
                <a:srgbClr val="002060"/>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4813EA45-14B1-2278-C06E-49A584F41211}"/>
              </a:ext>
            </a:extLst>
          </p:cNvPr>
          <p:cNvSpPr txBox="1"/>
          <p:nvPr/>
        </p:nvSpPr>
        <p:spPr>
          <a:xfrm>
            <a:off x="1957750" y="3193395"/>
            <a:ext cx="2284170" cy="600164"/>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1"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Digital ATL </a:t>
            </a: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(offer related)</a:t>
            </a:r>
          </a:p>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1"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Always on / remarketing</a:t>
            </a:r>
          </a:p>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www </a:t>
            </a:r>
            <a:r>
              <a:rPr kumimoji="0" lang="en-US" sz="1100" b="1" i="0" u="none" strike="noStrike" kern="1200" cap="none" spc="0" normalizeH="0" baseline="0" noProof="0">
                <a:ln>
                  <a:noFill/>
                </a:ln>
                <a:solidFill>
                  <a:srgbClr val="002060"/>
                </a:solidFill>
                <a:effectLst/>
                <a:uLnTx/>
                <a:uFillTx/>
                <a:latin typeface="Eurobank Sans"/>
                <a:ea typeface="Times New Roman" panose="02020603050405020304" pitchFamily="18" charset="0"/>
                <a:cs typeface="Times New Roman" panose="02020603050405020304" pitchFamily="18" charset="0"/>
              </a:rPr>
              <a:t>search</a:t>
            </a:r>
          </a:p>
        </p:txBody>
      </p:sp>
      <p:sp>
        <p:nvSpPr>
          <p:cNvPr id="22" name="TextBox 21">
            <a:extLst>
              <a:ext uri="{FF2B5EF4-FFF2-40B4-BE49-F238E27FC236}">
                <a16:creationId xmlns:a16="http://schemas.microsoft.com/office/drawing/2014/main" id="{74168E68-D69B-3F17-9F7F-1B4DA3DBC807}"/>
              </a:ext>
            </a:extLst>
          </p:cNvPr>
          <p:cNvSpPr txBox="1"/>
          <p:nvPr/>
        </p:nvSpPr>
        <p:spPr>
          <a:xfrm>
            <a:off x="599709" y="4428206"/>
            <a:ext cx="1412097" cy="577081"/>
          </a:xfrm>
          <a:prstGeom prst="rect">
            <a:avLst/>
          </a:prstGeom>
          <a:noFill/>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Pillar 3: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2060"/>
                </a:solidFill>
                <a:effectLst/>
                <a:uLnTx/>
                <a:uFillTx/>
                <a:latin typeface="Eurobank Sans" panose="02000503000000020004" pitchFamily="2" charset="0"/>
                <a:ea typeface="Aptos" panose="020B0004020202020204" pitchFamily="34" charset="0"/>
                <a:cs typeface="Times New Roman" panose="02020603050405020304" pitchFamily="18" charset="0"/>
              </a:rPr>
              <a:t>Global Media Awareness Campaigns</a:t>
            </a:r>
            <a:endParaRPr kumimoji="0" lang="el-GR" sz="1050" b="1" i="0" u="none" strike="noStrike" kern="1200" cap="none" spc="0" normalizeH="0" baseline="0" noProof="0">
              <a:ln>
                <a:noFill/>
              </a:ln>
              <a:solidFill>
                <a:srgbClr val="002060"/>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E0B46C5D-8640-5699-5FD5-8CD55ACB68ED}"/>
              </a:ext>
            </a:extLst>
          </p:cNvPr>
          <p:cNvSpPr txBox="1"/>
          <p:nvPr/>
        </p:nvSpPr>
        <p:spPr>
          <a:xfrm>
            <a:off x="1959169" y="4117278"/>
            <a:ext cx="2184660" cy="430887"/>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100" b="0" i="0" u="none" strike="noStrike" kern="1200" cap="none" spc="0" normalizeH="0" baseline="0" noProof="0">
                <a:ln>
                  <a:noFill/>
                </a:ln>
                <a:solidFill>
                  <a:srgbClr val="002060"/>
                </a:solidFill>
                <a:effectLst/>
                <a:uLnTx/>
                <a:uFillTx/>
                <a:latin typeface="Eurobank Sans" panose="02000503000000020004" pitchFamily="2" charset="0"/>
                <a:ea typeface="Times New Roman" panose="02020603050405020304" pitchFamily="18" charset="0"/>
                <a:cs typeface="Times New Roman" panose="02020603050405020304" pitchFamily="18" charset="0"/>
              </a:rPr>
              <a:t>ATMs, tablets, e-login, www banners/ tiles, www </a:t>
            </a:r>
            <a:r>
              <a:rPr kumimoji="0" lang="en-US" sz="1100" b="0" i="0" u="sng" strike="noStrike" kern="1200" cap="none" spc="0" normalizeH="0" baseline="0" noProof="0">
                <a:ln>
                  <a:noFill/>
                </a:ln>
                <a:solidFill>
                  <a:srgbClr val="002060"/>
                </a:solidFill>
                <a:effectLst/>
                <a:uLnTx/>
                <a:uFillTx/>
                <a:latin typeface="Eurobank Sans" panose="02000503000000020004" pitchFamily="2" charset="0"/>
                <a:ea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pages</a:t>
            </a:r>
            <a:r>
              <a:rPr kumimoji="0" lang="en-US" sz="1100" b="0" i="0" u="none" strike="noStrike" kern="1200" cap="none" spc="0" normalizeH="0" baseline="0" noProof="0">
                <a:ln>
                  <a:noFill/>
                </a:ln>
                <a:solidFill>
                  <a:srgbClr val="002060"/>
                </a:solidFill>
                <a:effectLst/>
                <a:uLnTx/>
                <a:uFillTx/>
                <a:latin typeface="Eurobank Sans" panose="02000503000000020004" pitchFamily="2" charset="0"/>
                <a:ea typeface="Times New Roman" panose="02020603050405020304" pitchFamily="18" charset="0"/>
                <a:cs typeface="Times New Roman" panose="02020603050405020304" pitchFamily="18" charset="0"/>
              </a:rPr>
              <a:t>  </a:t>
            </a:r>
            <a:endParaRPr kumimoji="0" lang="el-GR" sz="1800" b="0" i="0" u="none" strike="noStrike" kern="1200" cap="none" spc="0" normalizeH="0" baseline="0" noProof="0">
              <a:ln>
                <a:noFill/>
              </a:ln>
              <a:solidFill>
                <a:prstClr val="black"/>
              </a:solidFill>
              <a:effectLst/>
              <a:uLnTx/>
              <a:uFillTx/>
              <a:latin typeface="Eurobank Sans"/>
              <a:ea typeface="+mn-ea"/>
              <a:cs typeface="+mn-cs"/>
            </a:endParaRPr>
          </a:p>
        </p:txBody>
      </p:sp>
      <p:pic>
        <p:nvPicPr>
          <p:cNvPr id="31" name="Graphic 30" descr="Megaphone with solid fill">
            <a:extLst>
              <a:ext uri="{FF2B5EF4-FFF2-40B4-BE49-F238E27FC236}">
                <a16:creationId xmlns:a16="http://schemas.microsoft.com/office/drawing/2014/main" id="{BD27C93D-49FE-88A2-C8B5-3C68E3B8558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5148" y="2951324"/>
            <a:ext cx="442133" cy="442133"/>
          </a:xfrm>
          <a:prstGeom prst="rect">
            <a:avLst/>
          </a:prstGeom>
        </p:spPr>
      </p:pic>
      <p:pic>
        <p:nvPicPr>
          <p:cNvPr id="33" name="Graphic 32" descr="Earth globe: Africa and Europe with solid fill">
            <a:extLst>
              <a:ext uri="{FF2B5EF4-FFF2-40B4-BE49-F238E27FC236}">
                <a16:creationId xmlns:a16="http://schemas.microsoft.com/office/drawing/2014/main" id="{A497760B-C3D6-2A24-6434-5512C4D0413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6130" y="3941971"/>
            <a:ext cx="533652" cy="533652"/>
          </a:xfrm>
          <a:prstGeom prst="rect">
            <a:avLst/>
          </a:prstGeom>
        </p:spPr>
      </p:pic>
      <p:pic>
        <p:nvPicPr>
          <p:cNvPr id="3" name="Picture 2" descr="A white paper with blue text&#10;&#10;Description automatically generated">
            <a:extLst>
              <a:ext uri="{FF2B5EF4-FFF2-40B4-BE49-F238E27FC236}">
                <a16:creationId xmlns:a16="http://schemas.microsoft.com/office/drawing/2014/main" id="{80D89228-12B2-DD3F-0B1C-23DAE679CF19}"/>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355272" y="718585"/>
            <a:ext cx="1582334" cy="1977919"/>
          </a:xfrm>
          <a:prstGeom prst="rect">
            <a:avLst/>
          </a:prstGeom>
        </p:spPr>
      </p:pic>
      <p:pic>
        <p:nvPicPr>
          <p:cNvPr id="5" name="Picture 4" descr="A person sitting in a room&#10;&#10;Description automatically generated">
            <a:extLst>
              <a:ext uri="{FF2B5EF4-FFF2-40B4-BE49-F238E27FC236}">
                <a16:creationId xmlns:a16="http://schemas.microsoft.com/office/drawing/2014/main" id="{9B9DD337-D9FF-1C38-E5B8-4A21E366668B}"/>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7271336" y="718586"/>
            <a:ext cx="1582333" cy="1977917"/>
          </a:xfrm>
          <a:prstGeom prst="rect">
            <a:avLst/>
          </a:prstGeom>
        </p:spPr>
      </p:pic>
      <p:pic>
        <p:nvPicPr>
          <p:cNvPr id="12" name="Picture 11" descr="A close up of a credit card&#10;&#10;Description automatically generated">
            <a:extLst>
              <a:ext uri="{FF2B5EF4-FFF2-40B4-BE49-F238E27FC236}">
                <a16:creationId xmlns:a16="http://schemas.microsoft.com/office/drawing/2014/main" id="{C6203E01-F4C9-E82A-01D5-876A5D56CB2B}"/>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5355272" y="2754707"/>
            <a:ext cx="1582334" cy="1977919"/>
          </a:xfrm>
          <a:prstGeom prst="rect">
            <a:avLst/>
          </a:prstGeom>
        </p:spPr>
      </p:pic>
      <p:cxnSp>
        <p:nvCxnSpPr>
          <p:cNvPr id="4" name="Straight Connector 3">
            <a:extLst>
              <a:ext uri="{FF2B5EF4-FFF2-40B4-BE49-F238E27FC236}">
                <a16:creationId xmlns:a16="http://schemas.microsoft.com/office/drawing/2014/main" id="{07D0758B-77BF-CBF1-429C-632DB8D54975}"/>
              </a:ext>
            </a:extLst>
          </p:cNvPr>
          <p:cNvCxnSpPr/>
          <p:nvPr/>
        </p:nvCxnSpPr>
        <p:spPr>
          <a:xfrm>
            <a:off x="60960" y="2951324"/>
            <a:ext cx="4702561" cy="0"/>
          </a:xfrm>
          <a:prstGeom prst="line">
            <a:avLst/>
          </a:prstGeom>
          <a:ln>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F8CB2DD-7BD3-3AAB-E4B7-1EE6EDBD7A37}"/>
              </a:ext>
            </a:extLst>
          </p:cNvPr>
          <p:cNvCxnSpPr/>
          <p:nvPr/>
        </p:nvCxnSpPr>
        <p:spPr>
          <a:xfrm>
            <a:off x="60960" y="3869784"/>
            <a:ext cx="4702561" cy="0"/>
          </a:xfrm>
          <a:prstGeom prst="line">
            <a:avLst/>
          </a:prstGeom>
          <a:ln>
            <a:solidFill>
              <a:srgbClr val="002060"/>
            </a:solidFill>
          </a:ln>
          <a:effectLst/>
        </p:spPr>
        <p:style>
          <a:lnRef idx="2">
            <a:schemeClr val="accent1"/>
          </a:lnRef>
          <a:fillRef idx="0">
            <a:schemeClr val="accent1"/>
          </a:fillRef>
          <a:effectRef idx="1">
            <a:schemeClr val="accent1"/>
          </a:effectRef>
          <a:fontRef idx="minor">
            <a:schemeClr val="tx1"/>
          </a:fontRef>
        </p:style>
      </p:cxnSp>
      <p:pic>
        <p:nvPicPr>
          <p:cNvPr id="10" name="Picture 9" descr="A collage of a couple of people&#10;&#10;Description automatically generated">
            <a:extLst>
              <a:ext uri="{FF2B5EF4-FFF2-40B4-BE49-F238E27FC236}">
                <a16:creationId xmlns:a16="http://schemas.microsoft.com/office/drawing/2014/main" id="{75FCCE5B-6CE8-8162-DC3A-42A7B29F7BC8}"/>
              </a:ext>
            </a:extLst>
          </p:cNvPr>
          <p:cNvPicPr>
            <a:picLocks noChangeAspect="1"/>
          </p:cNvPicPr>
          <p:nvPr/>
        </p:nvPicPr>
        <p:blipFill>
          <a:blip r:embed="rId13" cstate="screen">
            <a:extLst>
              <a:ext uri="{28A0092B-C50C-407E-A947-70E740481C1C}">
                <a14:useLocalDpi xmlns:a14="http://schemas.microsoft.com/office/drawing/2010/main"/>
              </a:ext>
            </a:extLst>
          </a:blip>
          <a:srcRect/>
          <a:stretch/>
        </p:blipFill>
        <p:spPr>
          <a:xfrm>
            <a:off x="7296411" y="2911557"/>
            <a:ext cx="1582333" cy="1578713"/>
          </a:xfrm>
          <a:prstGeom prst="rect">
            <a:avLst/>
          </a:prstGeom>
        </p:spPr>
      </p:pic>
    </p:spTree>
    <p:extLst>
      <p:ext uri="{BB962C8B-B14F-4D97-AF65-F5344CB8AC3E}">
        <p14:creationId xmlns:p14="http://schemas.microsoft.com/office/powerpoint/2010/main" val="1107923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6776C59-E521-96E5-62E1-F3612B8EF570}"/>
              </a:ext>
            </a:extLst>
          </p:cNvPr>
          <p:cNvSpPr>
            <a:spLocks noGrp="1"/>
          </p:cNvSpPr>
          <p:nvPr>
            <p:ph type="body" idx="15"/>
          </p:nvPr>
        </p:nvSpPr>
        <p:spPr/>
        <p:txBody>
          <a:bodyPr/>
          <a:lstStyle/>
          <a:p>
            <a:r>
              <a:rPr lang="en-US"/>
              <a:t>Consumer Loans Strategic Initiatives Digital Roadmap</a:t>
            </a:r>
            <a:endParaRPr lang="el-GR"/>
          </a:p>
        </p:txBody>
      </p:sp>
      <p:sp>
        <p:nvSpPr>
          <p:cNvPr id="10" name="object 2">
            <a:extLst>
              <a:ext uri="{FF2B5EF4-FFF2-40B4-BE49-F238E27FC236}">
                <a16:creationId xmlns:a16="http://schemas.microsoft.com/office/drawing/2014/main" id="{1CAD14F8-58E3-BD0D-1054-912EAACB483E}"/>
              </a:ext>
            </a:extLst>
          </p:cNvPr>
          <p:cNvSpPr txBox="1"/>
          <p:nvPr/>
        </p:nvSpPr>
        <p:spPr>
          <a:xfrm>
            <a:off x="11711685" y="6392214"/>
            <a:ext cx="86360" cy="153670"/>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5" normalizeH="0" baseline="0" noProof="0">
                <a:ln>
                  <a:noFill/>
                </a:ln>
                <a:solidFill>
                  <a:srgbClr val="011242"/>
                </a:solidFill>
                <a:effectLst/>
                <a:uLnTx/>
                <a:uFillTx/>
                <a:latin typeface="Eurobank Sans"/>
                <a:ea typeface="+mn-ea"/>
                <a:cs typeface="Eurobank Sans"/>
              </a:rPr>
              <a:t>3</a:t>
            </a:r>
            <a:endParaRPr kumimoji="0" sz="85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11" name="object 5">
            <a:extLst>
              <a:ext uri="{FF2B5EF4-FFF2-40B4-BE49-F238E27FC236}">
                <a16:creationId xmlns:a16="http://schemas.microsoft.com/office/drawing/2014/main" id="{40590FD7-A057-4C3E-FA00-260F82798ED3}"/>
              </a:ext>
            </a:extLst>
          </p:cNvPr>
          <p:cNvSpPr/>
          <p:nvPr/>
        </p:nvSpPr>
        <p:spPr>
          <a:xfrm>
            <a:off x="955095" y="1632489"/>
            <a:ext cx="6663929" cy="74897"/>
          </a:xfrm>
          <a:custGeom>
            <a:avLst/>
            <a:gdLst/>
            <a:ahLst/>
            <a:cxnLst/>
            <a:rect l="l" t="t" r="r" b="b"/>
            <a:pathLst>
              <a:path w="5425440">
                <a:moveTo>
                  <a:pt x="0" y="0"/>
                </a:moveTo>
                <a:lnTo>
                  <a:pt x="5425313" y="0"/>
                </a:lnTo>
              </a:path>
            </a:pathLst>
          </a:custGeom>
          <a:ln w="7620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7">
            <a:extLst>
              <a:ext uri="{FF2B5EF4-FFF2-40B4-BE49-F238E27FC236}">
                <a16:creationId xmlns:a16="http://schemas.microsoft.com/office/drawing/2014/main" id="{CC8A064A-4E5B-373A-4ACE-8AE2CBC0B7ED}"/>
              </a:ext>
            </a:extLst>
          </p:cNvPr>
          <p:cNvSpPr txBox="1"/>
          <p:nvPr/>
        </p:nvSpPr>
        <p:spPr>
          <a:xfrm>
            <a:off x="5415000" y="1744758"/>
            <a:ext cx="409575" cy="227965"/>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5" normalizeH="0" baseline="0" noProof="0">
                <a:ln>
                  <a:noFill/>
                </a:ln>
                <a:solidFill>
                  <a:srgbClr val="00AFEF"/>
                </a:solidFill>
                <a:effectLst/>
                <a:uLnTx/>
                <a:uFillTx/>
                <a:latin typeface="Eurobank Sans"/>
                <a:ea typeface="+mn-ea"/>
                <a:cs typeface="Eurobank Sans"/>
              </a:rPr>
              <a:t>2022</a:t>
            </a:r>
            <a:endParaRPr kumimoji="0" sz="13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15" name="object 9">
            <a:extLst>
              <a:ext uri="{FF2B5EF4-FFF2-40B4-BE49-F238E27FC236}">
                <a16:creationId xmlns:a16="http://schemas.microsoft.com/office/drawing/2014/main" id="{3E508BBC-9306-7248-5F5C-249E92EE87BE}"/>
              </a:ext>
            </a:extLst>
          </p:cNvPr>
          <p:cNvSpPr txBox="1"/>
          <p:nvPr/>
        </p:nvSpPr>
        <p:spPr>
          <a:xfrm>
            <a:off x="1701633" y="1039399"/>
            <a:ext cx="672465" cy="153888"/>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5" normalizeH="0" baseline="0" noProof="0">
                <a:ln>
                  <a:noFill/>
                </a:ln>
                <a:solidFill>
                  <a:srgbClr val="001245"/>
                </a:solidFill>
                <a:effectLst/>
                <a:uLnTx/>
                <a:uFillTx/>
                <a:latin typeface="Eurobank Sans"/>
                <a:ea typeface="+mn-ea"/>
                <a:cs typeface="Eurobank Sans"/>
              </a:rPr>
              <a:t>e-loan</a:t>
            </a:r>
            <a:r>
              <a:rPr kumimoji="0" sz="1000" b="1" i="0" u="none" strike="noStrike" kern="1200" cap="none" spc="-80" normalizeH="0" baseline="0" noProof="0">
                <a:ln>
                  <a:noFill/>
                </a:ln>
                <a:solidFill>
                  <a:srgbClr val="001245"/>
                </a:solidFill>
                <a:effectLst/>
                <a:uLnTx/>
                <a:uFillTx/>
                <a:latin typeface="Eurobank Sans"/>
                <a:ea typeface="+mn-ea"/>
                <a:cs typeface="Eurobank Sans"/>
              </a:rPr>
              <a:t> </a:t>
            </a:r>
            <a:r>
              <a:rPr kumimoji="0" sz="1000" b="1" i="0" u="none" strike="noStrike" kern="1200" cap="none" spc="-5" normalizeH="0" baseline="0" noProof="0">
                <a:ln>
                  <a:noFill/>
                </a:ln>
                <a:solidFill>
                  <a:srgbClr val="001245"/>
                </a:solidFill>
                <a:effectLst/>
                <a:uLnTx/>
                <a:uFillTx/>
                <a:latin typeface="Eurobank Sans"/>
                <a:ea typeface="+mn-ea"/>
                <a:cs typeface="Eurobank Sans"/>
              </a:rPr>
              <a:t>(e)</a:t>
            </a:r>
            <a:endParaRPr kumimoji="0" sz="10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16" name="object 10">
            <a:extLst>
              <a:ext uri="{FF2B5EF4-FFF2-40B4-BE49-F238E27FC236}">
                <a16:creationId xmlns:a16="http://schemas.microsoft.com/office/drawing/2014/main" id="{B4A4F56D-9305-9A60-FACB-70B83F5322FC}"/>
              </a:ext>
            </a:extLst>
          </p:cNvPr>
          <p:cNvSpPr/>
          <p:nvPr/>
        </p:nvSpPr>
        <p:spPr>
          <a:xfrm>
            <a:off x="3848045" y="1303305"/>
            <a:ext cx="0" cy="294005"/>
          </a:xfrm>
          <a:custGeom>
            <a:avLst/>
            <a:gdLst/>
            <a:ahLst/>
            <a:cxnLst/>
            <a:rect l="l" t="t" r="r" b="b"/>
            <a:pathLst>
              <a:path h="294005">
                <a:moveTo>
                  <a:pt x="0" y="0"/>
                </a:moveTo>
                <a:lnTo>
                  <a:pt x="0" y="29375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1">
            <a:extLst>
              <a:ext uri="{FF2B5EF4-FFF2-40B4-BE49-F238E27FC236}">
                <a16:creationId xmlns:a16="http://schemas.microsoft.com/office/drawing/2014/main" id="{31694D01-8EE4-B1E0-E825-93A5420D4B7D}"/>
              </a:ext>
            </a:extLst>
          </p:cNvPr>
          <p:cNvSpPr txBox="1"/>
          <p:nvPr/>
        </p:nvSpPr>
        <p:spPr>
          <a:xfrm>
            <a:off x="3426405" y="1028734"/>
            <a:ext cx="843280" cy="153888"/>
          </a:xfrm>
          <a:prstGeom prst="rect">
            <a:avLst/>
          </a:prstGeom>
        </p:spPr>
        <p:txBody>
          <a:bodyPr vert="horz" wrap="square" lIns="0" tIns="0" rIns="0" bIns="0" rtlCol="0">
            <a:spAutoFit/>
          </a:bodyPr>
          <a:lstStyle/>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1245"/>
                </a:solidFill>
                <a:effectLst/>
                <a:uLnTx/>
                <a:uFillTx/>
                <a:latin typeface="Eurobank Sans"/>
                <a:ea typeface="+mn-ea"/>
                <a:cs typeface="Eurobank Sans"/>
              </a:rPr>
              <a:t>Fast loan</a:t>
            </a:r>
            <a:endParaRPr kumimoji="0" sz="10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19" name="object 13">
            <a:extLst>
              <a:ext uri="{FF2B5EF4-FFF2-40B4-BE49-F238E27FC236}">
                <a16:creationId xmlns:a16="http://schemas.microsoft.com/office/drawing/2014/main" id="{65B4A621-57A1-B15F-C3F5-073F4EAC818A}"/>
              </a:ext>
            </a:extLst>
          </p:cNvPr>
          <p:cNvSpPr txBox="1"/>
          <p:nvPr/>
        </p:nvSpPr>
        <p:spPr>
          <a:xfrm>
            <a:off x="6776606" y="620776"/>
            <a:ext cx="2123775" cy="769441"/>
          </a:xfrm>
          <a:prstGeom prst="rect">
            <a:avLst/>
          </a:prstGeom>
        </p:spPr>
        <p:txBody>
          <a:bodyPr vert="horz" wrap="square" lIns="0" tIns="0" rIns="0" bIns="0" rtlCol="0">
            <a:spAutoFit/>
          </a:bodyPr>
          <a:lstStyle/>
          <a:p>
            <a:pPr marL="184150" marR="508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1" i="0" u="none" strike="noStrike" kern="1200" cap="none" spc="-5" normalizeH="0" baseline="0" noProof="0">
                <a:ln>
                  <a:noFill/>
                </a:ln>
                <a:solidFill>
                  <a:srgbClr val="001245"/>
                </a:solidFill>
                <a:effectLst/>
                <a:uLnTx/>
                <a:uFillTx/>
                <a:latin typeface="Eurobank Sans"/>
                <a:ea typeface="+mn-ea"/>
                <a:cs typeface="Eurobank Sans"/>
              </a:rPr>
              <a:t>New Wizard </a:t>
            </a:r>
            <a:r>
              <a:rPr kumimoji="0" sz="1000" b="1" i="0" u="none" strike="noStrike" kern="1200" cap="none" spc="0" normalizeH="0" baseline="0" noProof="0">
                <a:ln>
                  <a:noFill/>
                </a:ln>
                <a:solidFill>
                  <a:srgbClr val="001245"/>
                </a:solidFill>
                <a:effectLst/>
                <a:uLnTx/>
                <a:uFillTx/>
                <a:latin typeface="Eurobank Sans"/>
                <a:ea typeface="+mn-ea"/>
                <a:cs typeface="Eurobank Sans"/>
              </a:rPr>
              <a:t>tool</a:t>
            </a:r>
            <a:r>
              <a:rPr kumimoji="0" lang="en-US" sz="1000" b="1" i="0" u="none" strike="noStrike" kern="1200" cap="none" spc="0" normalizeH="0" baseline="0" noProof="0">
                <a:ln>
                  <a:noFill/>
                </a:ln>
                <a:solidFill>
                  <a:srgbClr val="001245"/>
                </a:solidFill>
                <a:effectLst/>
                <a:uLnTx/>
                <a:uFillTx/>
                <a:latin typeface="Eurobank Sans"/>
                <a:ea typeface="+mn-ea"/>
                <a:cs typeface="Eurobank Sans"/>
              </a:rPr>
              <a:t>: One Tile</a:t>
            </a:r>
          </a:p>
          <a:p>
            <a:pPr marL="184150" marR="508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1" i="0" u="none" strike="noStrike" kern="1200" cap="none" spc="-5" normalizeH="0" baseline="0" noProof="0">
                <a:ln>
                  <a:noFill/>
                </a:ln>
                <a:solidFill>
                  <a:srgbClr val="001245"/>
                </a:solidFill>
                <a:effectLst/>
                <a:uLnTx/>
                <a:uFillTx/>
                <a:latin typeface="Eurobank Sans"/>
                <a:ea typeface="+mn-ea"/>
                <a:cs typeface="Eurobank Sans"/>
              </a:rPr>
              <a:t>e-GS</a:t>
            </a:r>
            <a:r>
              <a:rPr kumimoji="0" sz="1000" b="1" i="0" u="none" strike="noStrike" kern="1200" cap="none" spc="-85" normalizeH="0" baseline="0" noProof="0">
                <a:ln>
                  <a:noFill/>
                </a:ln>
                <a:solidFill>
                  <a:srgbClr val="001245"/>
                </a:solidFill>
                <a:effectLst/>
                <a:uLnTx/>
                <a:uFillTx/>
                <a:latin typeface="Eurobank Sans"/>
                <a:ea typeface="+mn-ea"/>
                <a:cs typeface="Eurobank Sans"/>
              </a:rPr>
              <a:t> </a:t>
            </a:r>
            <a:r>
              <a:rPr kumimoji="0" sz="1000" b="1" i="0" u="none" strike="noStrike" kern="1200" cap="none" spc="0" normalizeH="0" baseline="0" noProof="0">
                <a:ln>
                  <a:noFill/>
                </a:ln>
                <a:solidFill>
                  <a:srgbClr val="001245"/>
                </a:solidFill>
                <a:effectLst/>
                <a:uLnTx/>
                <a:uFillTx/>
                <a:latin typeface="Eurobank Sans"/>
                <a:ea typeface="+mn-ea"/>
                <a:cs typeface="Eurobank Sans"/>
              </a:rPr>
              <a:t>loan</a:t>
            </a:r>
            <a:endParaRPr kumimoji="0" sz="1000" b="0" i="0" u="none" strike="noStrike" kern="1200" cap="none" spc="0" normalizeH="0" baseline="0" noProof="0">
              <a:ln>
                <a:noFill/>
              </a:ln>
              <a:solidFill>
                <a:prstClr val="black"/>
              </a:solidFill>
              <a:effectLst/>
              <a:uLnTx/>
              <a:uFillTx/>
              <a:latin typeface="Eurobank Sans"/>
              <a:ea typeface="+mn-ea"/>
              <a:cs typeface="Eurobank Sans"/>
            </a:endParaRPr>
          </a:p>
          <a:p>
            <a:pPr marL="184150" marR="90995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1" i="0" u="none" strike="noStrike" kern="1200" cap="none" spc="-5" normalizeH="0" baseline="0" noProof="0">
                <a:ln>
                  <a:noFill/>
                </a:ln>
                <a:solidFill>
                  <a:srgbClr val="001245"/>
                </a:solidFill>
                <a:effectLst/>
                <a:uLnTx/>
                <a:uFillTx/>
                <a:latin typeface="Eurobank Sans"/>
                <a:ea typeface="+mn-ea"/>
                <a:cs typeface="Eurobank Sans"/>
              </a:rPr>
              <a:t>My </a:t>
            </a:r>
            <a:r>
              <a:rPr kumimoji="0" sz="1000" b="1" i="0" u="none" strike="noStrike" kern="1200" cap="none" spc="0" normalizeH="0" baseline="0" noProof="0">
                <a:ln>
                  <a:noFill/>
                </a:ln>
                <a:solidFill>
                  <a:srgbClr val="001245"/>
                </a:solidFill>
                <a:effectLst/>
                <a:uLnTx/>
                <a:uFillTx/>
                <a:latin typeface="Eurobank Sans"/>
                <a:ea typeface="+mn-ea"/>
                <a:cs typeface="Eurobank Sans"/>
              </a:rPr>
              <a:t>Fast</a:t>
            </a:r>
            <a:r>
              <a:rPr kumimoji="0" sz="1000" b="1" i="0" u="none" strike="noStrike" kern="1200" cap="none" spc="-85" normalizeH="0" baseline="0" noProof="0">
                <a:ln>
                  <a:noFill/>
                </a:ln>
                <a:solidFill>
                  <a:srgbClr val="001245"/>
                </a:solidFill>
                <a:effectLst/>
                <a:uLnTx/>
                <a:uFillTx/>
                <a:latin typeface="Eurobank Sans"/>
                <a:ea typeface="+mn-ea"/>
                <a:cs typeface="Eurobank Sans"/>
              </a:rPr>
              <a:t> </a:t>
            </a:r>
            <a:r>
              <a:rPr kumimoji="0" sz="1000" b="1" i="0" u="none" strike="noStrike" kern="1200" cap="none" spc="0" normalizeH="0" baseline="0" noProof="0">
                <a:ln>
                  <a:noFill/>
                </a:ln>
                <a:solidFill>
                  <a:srgbClr val="001245"/>
                </a:solidFill>
                <a:effectLst/>
                <a:uLnTx/>
                <a:uFillTx/>
                <a:latin typeface="Eurobank Sans"/>
                <a:ea typeface="+mn-ea"/>
                <a:cs typeface="Eurobank Sans"/>
              </a:rPr>
              <a:t>loan </a:t>
            </a:r>
            <a:endParaRPr kumimoji="0" lang="en-US" sz="1000" b="1" i="0" u="none" strike="noStrike" kern="1200" cap="none" spc="0" normalizeH="0" baseline="0" noProof="0">
              <a:ln>
                <a:noFill/>
              </a:ln>
              <a:solidFill>
                <a:srgbClr val="001245"/>
              </a:solidFill>
              <a:effectLst/>
              <a:uLnTx/>
              <a:uFillTx/>
              <a:latin typeface="Eurobank Sans"/>
              <a:ea typeface="+mn-ea"/>
              <a:cs typeface="Eurobank Sans"/>
            </a:endParaRPr>
          </a:p>
          <a:p>
            <a:pPr marL="184150" marR="90995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1245"/>
                </a:solidFill>
                <a:effectLst/>
                <a:uLnTx/>
                <a:uFillTx/>
                <a:latin typeface="Eurobank Sans"/>
                <a:ea typeface="+mn-ea"/>
                <a:cs typeface="Eurobank Sans"/>
              </a:rPr>
              <a:t>e-</a:t>
            </a:r>
            <a:r>
              <a:rPr kumimoji="0" sz="1000" b="1" i="0" u="none" strike="noStrike" kern="1200" cap="none" spc="0" normalizeH="0" baseline="0" noProof="0">
                <a:ln>
                  <a:noFill/>
                </a:ln>
                <a:solidFill>
                  <a:srgbClr val="001245"/>
                </a:solidFill>
                <a:effectLst/>
                <a:uLnTx/>
                <a:uFillTx/>
                <a:latin typeface="Eurobank Sans"/>
                <a:ea typeface="+mn-ea"/>
                <a:cs typeface="Eurobank Sans"/>
              </a:rPr>
              <a:t>PB</a:t>
            </a:r>
            <a:r>
              <a:rPr kumimoji="0" sz="1000" b="1" i="0" u="none" strike="noStrike" kern="1200" cap="none" spc="-90" normalizeH="0" baseline="0" noProof="0">
                <a:ln>
                  <a:noFill/>
                </a:ln>
                <a:solidFill>
                  <a:srgbClr val="001245"/>
                </a:solidFill>
                <a:effectLst/>
                <a:uLnTx/>
                <a:uFillTx/>
                <a:latin typeface="Eurobank Sans"/>
                <a:ea typeface="+mn-ea"/>
                <a:cs typeface="Eurobank Sans"/>
              </a:rPr>
              <a:t> </a:t>
            </a:r>
            <a:r>
              <a:rPr kumimoji="0" lang="en-US" sz="1000" b="1" i="0" u="none" strike="noStrike" kern="1200" cap="none" spc="-90" normalizeH="0" baseline="0" noProof="0">
                <a:ln>
                  <a:noFill/>
                </a:ln>
                <a:solidFill>
                  <a:srgbClr val="001245"/>
                </a:solidFill>
                <a:effectLst/>
                <a:uLnTx/>
                <a:uFillTx/>
                <a:latin typeface="Eurobank Sans"/>
                <a:ea typeface="+mn-ea"/>
                <a:cs typeface="Eurobank Sans"/>
              </a:rPr>
              <a:t>Prime </a:t>
            </a:r>
            <a:r>
              <a:rPr kumimoji="0" sz="1000" b="1" i="0" u="none" strike="noStrike" kern="1200" cap="none" spc="0" normalizeH="0" baseline="0" noProof="0">
                <a:ln>
                  <a:noFill/>
                </a:ln>
                <a:solidFill>
                  <a:srgbClr val="001245"/>
                </a:solidFill>
                <a:effectLst/>
                <a:uLnTx/>
                <a:uFillTx/>
                <a:latin typeface="Eurobank Sans"/>
                <a:ea typeface="+mn-ea"/>
                <a:cs typeface="Eurobank Sans"/>
              </a:rPr>
              <a:t>loan</a:t>
            </a:r>
            <a:endParaRPr kumimoji="0" lang="en-US" sz="1000" b="1" i="0" u="none" strike="noStrike" kern="1200" cap="none" spc="0" normalizeH="0" baseline="0" noProof="0">
              <a:ln>
                <a:noFill/>
              </a:ln>
              <a:solidFill>
                <a:srgbClr val="001245"/>
              </a:solidFill>
              <a:effectLst/>
              <a:uLnTx/>
              <a:uFillTx/>
              <a:latin typeface="Eurobank Sans"/>
              <a:ea typeface="+mn-ea"/>
              <a:cs typeface="Eurobank Sans"/>
            </a:endParaRPr>
          </a:p>
          <a:p>
            <a:pPr marL="184150" marR="909955"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1245"/>
                </a:solidFill>
                <a:effectLst/>
                <a:uLnTx/>
                <a:uFillTx/>
                <a:latin typeface="Eurobank Sans"/>
                <a:ea typeface="+mn-ea"/>
                <a:cs typeface="+mn-cs"/>
              </a:rPr>
              <a:t>E-Cash Plus Loan</a:t>
            </a:r>
            <a:endParaRPr kumimoji="0" sz="1000" b="1" i="0" u="none" strike="noStrike" kern="1200" cap="none" spc="0" normalizeH="0" baseline="0" noProof="0">
              <a:ln>
                <a:noFill/>
              </a:ln>
              <a:solidFill>
                <a:srgbClr val="001245"/>
              </a:solidFill>
              <a:effectLst/>
              <a:uLnTx/>
              <a:uFillTx/>
              <a:latin typeface="Eurobank Sans"/>
              <a:ea typeface="+mn-ea"/>
              <a:cs typeface="+mn-cs"/>
            </a:endParaRPr>
          </a:p>
        </p:txBody>
      </p:sp>
      <p:sp>
        <p:nvSpPr>
          <p:cNvPr id="21" name="object 15">
            <a:extLst>
              <a:ext uri="{FF2B5EF4-FFF2-40B4-BE49-F238E27FC236}">
                <a16:creationId xmlns:a16="http://schemas.microsoft.com/office/drawing/2014/main" id="{708F03A3-E21F-5B87-B07E-C9F891A914C4}"/>
              </a:ext>
            </a:extLst>
          </p:cNvPr>
          <p:cNvSpPr/>
          <p:nvPr/>
        </p:nvSpPr>
        <p:spPr>
          <a:xfrm>
            <a:off x="955096" y="1830608"/>
            <a:ext cx="341248" cy="45719"/>
          </a:xfrm>
          <a:custGeom>
            <a:avLst/>
            <a:gdLst/>
            <a:ahLst/>
            <a:cxnLst/>
            <a:rect l="l" t="t" r="r" b="b"/>
            <a:pathLst>
              <a:path w="554355">
                <a:moveTo>
                  <a:pt x="0" y="0"/>
                </a:moveTo>
                <a:lnTo>
                  <a:pt x="554202" y="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bject 19">
            <a:extLst>
              <a:ext uri="{FF2B5EF4-FFF2-40B4-BE49-F238E27FC236}">
                <a16:creationId xmlns:a16="http://schemas.microsoft.com/office/drawing/2014/main" id="{D01D83A3-5CD3-C4BE-26A4-F4A5BB2D4986}"/>
              </a:ext>
            </a:extLst>
          </p:cNvPr>
          <p:cNvSpPr txBox="1"/>
          <p:nvPr/>
        </p:nvSpPr>
        <p:spPr>
          <a:xfrm>
            <a:off x="7212624" y="1737773"/>
            <a:ext cx="406400" cy="227965"/>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5" normalizeH="0" baseline="0" noProof="0">
                <a:ln>
                  <a:noFill/>
                </a:ln>
                <a:solidFill>
                  <a:srgbClr val="00AFEF"/>
                </a:solidFill>
                <a:effectLst/>
                <a:uLnTx/>
                <a:uFillTx/>
                <a:latin typeface="Eurobank Sans"/>
                <a:ea typeface="+mn-ea"/>
                <a:cs typeface="Eurobank Sans"/>
              </a:rPr>
              <a:t>2023</a:t>
            </a:r>
            <a:endParaRPr kumimoji="0" sz="13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26" name="object 21">
            <a:extLst>
              <a:ext uri="{FF2B5EF4-FFF2-40B4-BE49-F238E27FC236}">
                <a16:creationId xmlns:a16="http://schemas.microsoft.com/office/drawing/2014/main" id="{55CD361B-46C9-29B1-7138-8570BE15B5D2}"/>
              </a:ext>
            </a:extLst>
          </p:cNvPr>
          <p:cNvSpPr txBox="1"/>
          <p:nvPr/>
        </p:nvSpPr>
        <p:spPr>
          <a:xfrm>
            <a:off x="5103697" y="842191"/>
            <a:ext cx="1106805" cy="461665"/>
          </a:xfrm>
          <a:prstGeom prst="rect">
            <a:avLst/>
          </a:prstGeom>
        </p:spPr>
        <p:txBody>
          <a:bodyPr vert="horz" wrap="square" lIns="0" tIns="0" rIns="0" bIns="0" rtlCol="0">
            <a:spAutoFit/>
          </a:bodyPr>
          <a:lstStyle/>
          <a:p>
            <a:pPr marL="1841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sz="1000" b="1" i="0" u="none" strike="noStrike" kern="1200" cap="none" spc="-5" normalizeH="0" baseline="0" noProof="0">
                <a:ln>
                  <a:noFill/>
                </a:ln>
                <a:solidFill>
                  <a:srgbClr val="001245"/>
                </a:solidFill>
                <a:effectLst/>
                <a:uLnTx/>
                <a:uFillTx/>
                <a:latin typeface="Eurobank Sans"/>
                <a:ea typeface="+mn-ea"/>
                <a:cs typeface="Eurobank Sans"/>
              </a:rPr>
              <a:t>Green </a:t>
            </a:r>
            <a:r>
              <a:rPr kumimoji="0" sz="1000" b="1" i="0" u="none" strike="noStrike" kern="1200" cap="none" spc="0" normalizeH="0" baseline="0" noProof="0">
                <a:ln>
                  <a:noFill/>
                </a:ln>
                <a:solidFill>
                  <a:srgbClr val="001245"/>
                </a:solidFill>
                <a:effectLst/>
                <a:uLnTx/>
                <a:uFillTx/>
                <a:latin typeface="Eurobank Sans"/>
                <a:ea typeface="+mn-ea"/>
                <a:cs typeface="Eurobank Sans"/>
              </a:rPr>
              <a:t>Fast</a:t>
            </a:r>
            <a:r>
              <a:rPr kumimoji="0" sz="1000" b="1" i="0" u="none" strike="noStrike" kern="1200" cap="none" spc="-100" normalizeH="0" baseline="0" noProof="0">
                <a:ln>
                  <a:noFill/>
                </a:ln>
                <a:solidFill>
                  <a:srgbClr val="001245"/>
                </a:solidFill>
                <a:effectLst/>
                <a:uLnTx/>
                <a:uFillTx/>
                <a:latin typeface="Eurobank Sans"/>
                <a:ea typeface="+mn-ea"/>
                <a:cs typeface="Eurobank Sans"/>
              </a:rPr>
              <a:t> </a:t>
            </a:r>
            <a:r>
              <a:rPr kumimoji="0" sz="1000" b="1" i="0" u="none" strike="noStrike" kern="1200" cap="none" spc="0" normalizeH="0" baseline="0" noProof="0">
                <a:ln>
                  <a:noFill/>
                </a:ln>
                <a:solidFill>
                  <a:srgbClr val="001245"/>
                </a:solidFill>
                <a:effectLst/>
                <a:uLnTx/>
                <a:uFillTx/>
                <a:latin typeface="Eurobank Sans"/>
                <a:ea typeface="+mn-ea"/>
                <a:cs typeface="Eurobank Sans"/>
              </a:rPr>
              <a:t>loan</a:t>
            </a:r>
            <a:endParaRPr kumimoji="0" lang="en-US" sz="1000" b="1" i="0" u="none" strike="noStrike" kern="1200" cap="none" spc="0" normalizeH="0" baseline="0" noProof="0">
              <a:ln>
                <a:noFill/>
              </a:ln>
              <a:solidFill>
                <a:srgbClr val="001245"/>
              </a:solidFill>
              <a:effectLst/>
              <a:uLnTx/>
              <a:uFillTx/>
              <a:latin typeface="Eurobank Sans"/>
              <a:ea typeface="+mn-ea"/>
              <a:cs typeface="Eurobank Sans"/>
            </a:endParaRPr>
          </a:p>
          <a:p>
            <a:pPr marL="1841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1245"/>
                </a:solidFill>
                <a:effectLst/>
                <a:uLnTx/>
                <a:uFillTx/>
                <a:latin typeface="Eurobank Sans"/>
                <a:ea typeface="+mn-ea"/>
                <a:cs typeface="Eurobank Sans"/>
              </a:rPr>
              <a:t>Di</a:t>
            </a:r>
            <a:r>
              <a:rPr kumimoji="0" lang="en-US" sz="1000" b="1" i="0" u="none" strike="noStrike" kern="1200" cap="none" spc="0" normalizeH="0" baseline="0" noProof="0" err="1">
                <a:ln>
                  <a:noFill/>
                </a:ln>
                <a:solidFill>
                  <a:srgbClr val="001245"/>
                </a:solidFill>
                <a:effectLst/>
                <a:uLnTx/>
                <a:uFillTx/>
                <a:latin typeface="Eurobank Sans"/>
                <a:ea typeface="+mn-ea"/>
                <a:cs typeface="Eurobank Sans"/>
              </a:rPr>
              <a:t>gital</a:t>
            </a:r>
            <a:r>
              <a:rPr kumimoji="0" lang="en-US" sz="1000" b="1" i="0" u="none" strike="noStrike" kern="1200" cap="none" spc="0" normalizeH="0" baseline="0" noProof="0">
                <a:ln>
                  <a:noFill/>
                </a:ln>
                <a:solidFill>
                  <a:srgbClr val="001245"/>
                </a:solidFill>
                <a:effectLst/>
                <a:uLnTx/>
                <a:uFillTx/>
                <a:latin typeface="Eurobank Sans"/>
                <a:ea typeface="+mn-ea"/>
                <a:cs typeface="Eurobank Sans"/>
              </a:rPr>
              <a:t> Retailers’ Loan</a:t>
            </a:r>
            <a:endParaRPr kumimoji="0" sz="10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55" name="object 50">
            <a:extLst>
              <a:ext uri="{FF2B5EF4-FFF2-40B4-BE49-F238E27FC236}">
                <a16:creationId xmlns:a16="http://schemas.microsoft.com/office/drawing/2014/main" id="{F9B9C31C-831F-F995-23E5-5CDDFABB205E}"/>
              </a:ext>
            </a:extLst>
          </p:cNvPr>
          <p:cNvSpPr/>
          <p:nvPr/>
        </p:nvSpPr>
        <p:spPr>
          <a:xfrm>
            <a:off x="4955963" y="2593522"/>
            <a:ext cx="3653659" cy="1629061"/>
          </a:xfrm>
          <a:custGeom>
            <a:avLst/>
            <a:gdLst/>
            <a:ahLst/>
            <a:cxnLst/>
            <a:rect l="l" t="t" r="r" b="b"/>
            <a:pathLst>
              <a:path w="4792980" h="1386839">
                <a:moveTo>
                  <a:pt x="4640072" y="0"/>
                </a:moveTo>
                <a:lnTo>
                  <a:pt x="152907" y="0"/>
                </a:lnTo>
                <a:lnTo>
                  <a:pt x="104574" y="7794"/>
                </a:lnTo>
                <a:lnTo>
                  <a:pt x="62599" y="29500"/>
                </a:lnTo>
                <a:lnTo>
                  <a:pt x="29500" y="62599"/>
                </a:lnTo>
                <a:lnTo>
                  <a:pt x="7794" y="104574"/>
                </a:lnTo>
                <a:lnTo>
                  <a:pt x="0" y="152907"/>
                </a:lnTo>
                <a:lnTo>
                  <a:pt x="0" y="1233931"/>
                </a:lnTo>
                <a:lnTo>
                  <a:pt x="7794" y="1282265"/>
                </a:lnTo>
                <a:lnTo>
                  <a:pt x="29500" y="1324240"/>
                </a:lnTo>
                <a:lnTo>
                  <a:pt x="62599" y="1357339"/>
                </a:lnTo>
                <a:lnTo>
                  <a:pt x="104574" y="1379045"/>
                </a:lnTo>
                <a:lnTo>
                  <a:pt x="152907" y="1386839"/>
                </a:lnTo>
                <a:lnTo>
                  <a:pt x="4640072" y="1386839"/>
                </a:lnTo>
                <a:lnTo>
                  <a:pt x="4688405" y="1379045"/>
                </a:lnTo>
                <a:lnTo>
                  <a:pt x="4730380" y="1357339"/>
                </a:lnTo>
                <a:lnTo>
                  <a:pt x="4763479" y="1324240"/>
                </a:lnTo>
                <a:lnTo>
                  <a:pt x="4785185" y="1282265"/>
                </a:lnTo>
                <a:lnTo>
                  <a:pt x="4792980" y="1233931"/>
                </a:lnTo>
                <a:lnTo>
                  <a:pt x="4792980" y="152907"/>
                </a:lnTo>
                <a:lnTo>
                  <a:pt x="4785185" y="104574"/>
                </a:lnTo>
                <a:lnTo>
                  <a:pt x="4763479" y="62599"/>
                </a:lnTo>
                <a:lnTo>
                  <a:pt x="4730380" y="29500"/>
                </a:lnTo>
                <a:lnTo>
                  <a:pt x="4688405" y="7794"/>
                </a:lnTo>
                <a:lnTo>
                  <a:pt x="4640072" y="0"/>
                </a:lnTo>
                <a:close/>
              </a:path>
            </a:pathLst>
          </a:custGeom>
          <a:solidFill>
            <a:srgbClr val="F1F1F1"/>
          </a:solidFill>
        </p:spPr>
        <p:txBody>
          <a:bodyPr wrap="square" lIns="108000" tIns="36000" rIns="108000" bIns="36000" rtlCol="0"/>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a:ln>
                  <a:noFill/>
                </a:ln>
                <a:solidFill>
                  <a:srgbClr val="001245"/>
                </a:solidFill>
                <a:effectLst/>
                <a:uLnTx/>
                <a:uFillTx/>
                <a:latin typeface="Eurobank Sans"/>
                <a:ea typeface="+mn-ea"/>
                <a:cs typeface="Eurobank Sans"/>
              </a:rPr>
              <a:t>Consumer loans digital share increasing mainly </a:t>
            </a:r>
            <a:r>
              <a:rPr kumimoji="0" lang="en-US" sz="1100" b="1" i="0" u="none" strike="noStrike" kern="1200" cap="none" spc="15" normalizeH="0" baseline="0" noProof="0">
                <a:ln>
                  <a:noFill/>
                </a:ln>
                <a:solidFill>
                  <a:srgbClr val="001245"/>
                </a:solidFill>
                <a:effectLst/>
                <a:uLnTx/>
                <a:uFillTx/>
                <a:latin typeface="Eurobank Sans"/>
                <a:ea typeface="+mn-ea"/>
                <a:cs typeface="Eurobank Sans"/>
              </a:rPr>
              <a:t>due</a:t>
            </a:r>
            <a:r>
              <a:rPr kumimoji="0" lang="en-US" sz="1100" b="1" i="0" u="none" strike="noStrike" kern="1200" cap="none" spc="5" normalizeH="0" baseline="0" noProof="0">
                <a:ln>
                  <a:noFill/>
                </a:ln>
                <a:solidFill>
                  <a:srgbClr val="001245"/>
                </a:solidFill>
                <a:effectLst/>
                <a:uLnTx/>
                <a:uFillTx/>
                <a:latin typeface="Eurobank Sans"/>
                <a:ea typeface="+mn-ea"/>
                <a:cs typeface="Eurobank Sans"/>
              </a:rPr>
              <a:t> </a:t>
            </a:r>
            <a:r>
              <a:rPr kumimoji="0" lang="en-US" sz="1100" b="1" i="0" u="none" strike="noStrike" kern="1200" cap="none" spc="10" normalizeH="0" baseline="0" noProof="0">
                <a:ln>
                  <a:noFill/>
                </a:ln>
                <a:solidFill>
                  <a:srgbClr val="001245"/>
                </a:solidFill>
                <a:effectLst/>
                <a:uLnTx/>
                <a:uFillTx/>
                <a:latin typeface="Eurobank Sans"/>
                <a:ea typeface="+mn-ea"/>
                <a:cs typeface="Eurobank Sans"/>
              </a:rPr>
              <a:t>to:</a:t>
            </a:r>
          </a:p>
          <a:p>
            <a:pPr marL="1270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10" normalizeH="0" baseline="0" noProof="0">
              <a:ln>
                <a:noFill/>
              </a:ln>
              <a:solidFill>
                <a:srgbClr val="001245"/>
              </a:solidFill>
              <a:effectLst/>
              <a:uLnTx/>
              <a:uFillTx/>
              <a:latin typeface="Eurobank Sans"/>
              <a:ea typeface="+mn-ea"/>
              <a:cs typeface="Eurobank Sans"/>
            </a:endParaRPr>
          </a:p>
          <a:p>
            <a:pPr marL="393700" marR="40005" lvl="0" indent="-381000" algn="l" defTabSz="914400" rtl="0" eaLnBrk="1" fontAlgn="auto" latinLnBrk="0" hangingPunct="1">
              <a:lnSpc>
                <a:spcPct val="103099"/>
              </a:lnSpc>
              <a:spcBef>
                <a:spcPts val="0"/>
              </a:spcBef>
              <a:spcAft>
                <a:spcPts val="0"/>
              </a:spcAft>
              <a:buClrTx/>
              <a:buSzTx/>
              <a:buFont typeface="Arial"/>
              <a:buChar char="•"/>
              <a:tabLst>
                <a:tab pos="393065" algn="l"/>
                <a:tab pos="393700" algn="l"/>
              </a:tabLst>
              <a:defRPr/>
            </a:pPr>
            <a:r>
              <a:rPr kumimoji="0" lang="en-US" sz="1100" b="1" i="0" u="none" strike="noStrike" kern="1200" cap="none" spc="5" normalizeH="0" baseline="0" noProof="0">
                <a:ln>
                  <a:noFill/>
                </a:ln>
                <a:solidFill>
                  <a:srgbClr val="001245"/>
                </a:solidFill>
                <a:effectLst/>
                <a:uLnTx/>
                <a:uFillTx/>
                <a:latin typeface="Eurobank Sans"/>
                <a:ea typeface="+mn-ea"/>
                <a:cs typeface="+mn-cs"/>
              </a:rPr>
              <a:t>Enhanced product </a:t>
            </a:r>
            <a:r>
              <a:rPr kumimoji="0" lang="en-US" sz="1100" b="1" i="0" u="none" strike="noStrike" kern="1200" cap="none" spc="-5" normalizeH="0" baseline="0" noProof="0">
                <a:ln>
                  <a:noFill/>
                </a:ln>
                <a:solidFill>
                  <a:srgbClr val="001245"/>
                </a:solidFill>
                <a:effectLst/>
                <a:uLnTx/>
                <a:uFillTx/>
                <a:latin typeface="Eurobank Sans"/>
                <a:ea typeface="+mn-ea"/>
                <a:cs typeface="Eurobank Sans"/>
              </a:rPr>
              <a:t>portfolio </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a:t>
            </a:r>
            <a:r>
              <a:rPr kumimoji="0" lang="en-US" sz="1100" b="0" i="0" u="none" strike="noStrike" kern="1200" cap="none" spc="5" normalizeH="0" baseline="0" noProof="0" err="1">
                <a:ln>
                  <a:noFill/>
                </a:ln>
                <a:solidFill>
                  <a:srgbClr val="001245"/>
                </a:solidFill>
                <a:effectLst/>
                <a:uLnTx/>
                <a:uFillTx/>
                <a:latin typeface="Eurobank Sans"/>
                <a:ea typeface="+mn-ea"/>
                <a:cs typeface="Eurobank Sans"/>
              </a:rPr>
              <a:t>i.e</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 </a:t>
            </a:r>
            <a:r>
              <a:rPr kumimoji="0" lang="en-US" sz="1100" b="0" i="0" u="none" strike="noStrike" kern="1200" cap="none" spc="15" normalizeH="0" baseline="0" noProof="0">
                <a:ln>
                  <a:noFill/>
                </a:ln>
                <a:solidFill>
                  <a:srgbClr val="001245"/>
                </a:solidFill>
                <a:effectLst/>
                <a:uLnTx/>
                <a:uFillTx/>
                <a:latin typeface="Eurobank Sans"/>
                <a:ea typeface="+mn-ea"/>
                <a:cs typeface="Eurobank Sans"/>
              </a:rPr>
              <a:t>e-GS </a:t>
            </a:r>
            <a:r>
              <a:rPr kumimoji="0" lang="en-US" sz="1100" b="0" i="0" u="none" strike="noStrike" kern="1200" cap="none" spc="10" normalizeH="0" baseline="0" noProof="0">
                <a:ln>
                  <a:noFill/>
                </a:ln>
                <a:solidFill>
                  <a:srgbClr val="001245"/>
                </a:solidFill>
                <a:effectLst/>
                <a:uLnTx/>
                <a:uFillTx/>
                <a:latin typeface="Eurobank Sans"/>
                <a:ea typeface="+mn-ea"/>
                <a:cs typeface="Eurobank Sans"/>
              </a:rPr>
              <a:t>loan, </a:t>
            </a:r>
            <a:r>
              <a:rPr kumimoji="0" lang="en-US" sz="1100" b="0" i="0" u="none" strike="noStrike" kern="1200" cap="none" spc="20" normalizeH="0" baseline="0" noProof="0">
                <a:ln>
                  <a:noFill/>
                </a:ln>
                <a:solidFill>
                  <a:srgbClr val="001245"/>
                </a:solidFill>
                <a:effectLst/>
                <a:uLnTx/>
                <a:uFillTx/>
                <a:latin typeface="Eurobank Sans"/>
                <a:ea typeface="+mn-ea"/>
                <a:cs typeface="Eurobank Sans"/>
              </a:rPr>
              <a:t>My </a:t>
            </a:r>
            <a:r>
              <a:rPr kumimoji="0" lang="en-US" sz="1100" b="0" i="0" u="none" strike="noStrike" kern="1200" cap="none" spc="0" normalizeH="0" baseline="0" noProof="0">
                <a:ln>
                  <a:noFill/>
                </a:ln>
                <a:solidFill>
                  <a:srgbClr val="001245"/>
                </a:solidFill>
                <a:effectLst/>
                <a:uLnTx/>
                <a:uFillTx/>
                <a:latin typeface="Eurobank Sans"/>
                <a:ea typeface="+mn-ea"/>
                <a:cs typeface="Eurobank Sans"/>
              </a:rPr>
              <a:t>Fast  </a:t>
            </a:r>
            <a:r>
              <a:rPr kumimoji="0" lang="en-US" sz="1100" b="0" i="0" u="none" strike="noStrike" kern="1200" cap="none" spc="10" normalizeH="0" baseline="0" noProof="0">
                <a:ln>
                  <a:noFill/>
                </a:ln>
                <a:solidFill>
                  <a:srgbClr val="001245"/>
                </a:solidFill>
                <a:effectLst/>
                <a:uLnTx/>
                <a:uFillTx/>
                <a:latin typeface="Eurobank Sans"/>
                <a:ea typeface="+mn-ea"/>
                <a:cs typeface="Eurobank Sans"/>
              </a:rPr>
              <a:t>loan, </a:t>
            </a:r>
            <a:r>
              <a:rPr kumimoji="0" lang="en-US" sz="1100" b="0" i="0" u="none" strike="noStrike" kern="1200" cap="none" spc="15" normalizeH="0" baseline="0" noProof="0">
                <a:ln>
                  <a:noFill/>
                </a:ln>
                <a:solidFill>
                  <a:srgbClr val="001245"/>
                </a:solidFill>
                <a:effectLst/>
                <a:uLnTx/>
                <a:uFillTx/>
                <a:latin typeface="Eurobank Sans"/>
                <a:ea typeface="+mn-ea"/>
                <a:cs typeface="Eurobank Sans"/>
              </a:rPr>
              <a:t>PB</a:t>
            </a:r>
            <a:r>
              <a:rPr kumimoji="0" lang="en-US" sz="1100" b="0" i="0" u="none" strike="noStrike" kern="1200" cap="none" spc="-90" normalizeH="0" baseline="0" noProof="0">
                <a:ln>
                  <a:noFill/>
                </a:ln>
                <a:solidFill>
                  <a:srgbClr val="001245"/>
                </a:solidFill>
                <a:effectLst/>
                <a:uLnTx/>
                <a:uFillTx/>
                <a:latin typeface="Eurobank Sans"/>
                <a:ea typeface="+mn-ea"/>
                <a:cs typeface="Eurobank Sans"/>
              </a:rPr>
              <a:t> </a:t>
            </a:r>
            <a:r>
              <a:rPr kumimoji="0" lang="en-US" sz="1100" b="0" i="0" u="none" strike="noStrike" kern="1200" cap="none" spc="10" normalizeH="0" baseline="0" noProof="0">
                <a:ln>
                  <a:noFill/>
                </a:ln>
                <a:solidFill>
                  <a:srgbClr val="001245"/>
                </a:solidFill>
                <a:effectLst/>
                <a:uLnTx/>
                <a:uFillTx/>
                <a:latin typeface="Eurobank Sans"/>
                <a:ea typeface="+mn-ea"/>
                <a:cs typeface="Eurobank Sans"/>
              </a:rPr>
              <a:t>loan).</a:t>
            </a:r>
            <a:endParaRPr kumimoji="0" lang="en-US" sz="1100" b="0" i="0" u="none" strike="noStrike" kern="1200" cap="none" spc="0" normalizeH="0" baseline="0" noProof="0">
              <a:ln>
                <a:noFill/>
              </a:ln>
              <a:solidFill>
                <a:prstClr val="black"/>
              </a:solidFill>
              <a:effectLst/>
              <a:uLnTx/>
              <a:uFillTx/>
              <a:latin typeface="Eurobank Sans"/>
              <a:ea typeface="+mn-ea"/>
              <a:cs typeface="Eurobank Sans"/>
            </a:endParaRPr>
          </a:p>
          <a:p>
            <a:pPr marL="393700" marR="0" lvl="0" indent="-381000" algn="l" defTabSz="914400" rtl="0" eaLnBrk="1" fontAlgn="auto" latinLnBrk="0" hangingPunct="1">
              <a:lnSpc>
                <a:spcPct val="100000"/>
              </a:lnSpc>
              <a:spcBef>
                <a:spcPts val="35"/>
              </a:spcBef>
              <a:spcAft>
                <a:spcPts val="0"/>
              </a:spcAft>
              <a:buClrTx/>
              <a:buSzTx/>
              <a:buFont typeface="Arial"/>
              <a:buChar char="•"/>
              <a:tabLst>
                <a:tab pos="393065" algn="l"/>
                <a:tab pos="393700" algn="l"/>
              </a:tabLst>
              <a:defRPr/>
            </a:pPr>
            <a:r>
              <a:rPr kumimoji="0" lang="en-US" sz="1100" b="1" i="0" u="none" strike="noStrike" kern="1200" cap="none" spc="10" normalizeH="0" baseline="0" noProof="0">
                <a:ln>
                  <a:noFill/>
                </a:ln>
                <a:solidFill>
                  <a:srgbClr val="001245"/>
                </a:solidFill>
                <a:effectLst/>
                <a:uLnTx/>
                <a:uFillTx/>
                <a:latin typeface="Eurobank Sans"/>
                <a:ea typeface="+mn-ea"/>
                <a:cs typeface="Eurobank Sans"/>
              </a:rPr>
              <a:t>One Tile </a:t>
            </a:r>
            <a:r>
              <a:rPr kumimoji="0" lang="en-US" sz="1100" b="0" i="0" u="none" strike="noStrike" kern="1200" cap="none" spc="10" normalizeH="0" baseline="0" noProof="0">
                <a:ln>
                  <a:noFill/>
                </a:ln>
                <a:solidFill>
                  <a:srgbClr val="001245"/>
                </a:solidFill>
                <a:effectLst/>
                <a:uLnTx/>
                <a:uFillTx/>
                <a:latin typeface="Eurobank Sans"/>
                <a:ea typeface="+mn-ea"/>
                <a:cs typeface="Eurobank Sans"/>
              </a:rPr>
              <a:t>(wizard </a:t>
            </a:r>
            <a:r>
              <a:rPr kumimoji="0" lang="en-US" sz="1100" b="0" i="0" u="none" strike="noStrike" kern="1200" cap="none" spc="0" normalizeH="0" baseline="0" noProof="0">
                <a:ln>
                  <a:noFill/>
                </a:ln>
                <a:solidFill>
                  <a:srgbClr val="001245"/>
                </a:solidFill>
                <a:effectLst/>
                <a:uLnTx/>
                <a:uFillTx/>
                <a:latin typeface="Eurobank Sans"/>
                <a:ea typeface="+mn-ea"/>
                <a:cs typeface="Eurobank Sans"/>
              </a:rPr>
              <a:t>tool)</a:t>
            </a:r>
            <a:r>
              <a:rPr kumimoji="0" lang="en-US" sz="1100" b="1" i="0" u="none" strike="noStrike" kern="1200" cap="none" spc="0" normalizeH="0" baseline="0" noProof="0">
                <a:ln>
                  <a:noFill/>
                </a:ln>
                <a:solidFill>
                  <a:srgbClr val="001245"/>
                </a:solidFill>
                <a:effectLst/>
                <a:uLnTx/>
                <a:uFillTx/>
                <a:latin typeface="Eurobank Sans"/>
                <a:ea typeface="+mn-ea"/>
                <a:cs typeface="Eurobank Sans"/>
              </a:rPr>
              <a:t> </a:t>
            </a:r>
            <a:r>
              <a:rPr kumimoji="0" lang="en-US" sz="1100" b="0" i="0" u="none" strike="noStrike" kern="1200" cap="none" spc="10" normalizeH="0" baseline="0" noProof="0">
                <a:ln>
                  <a:noFill/>
                </a:ln>
                <a:solidFill>
                  <a:srgbClr val="001245"/>
                </a:solidFill>
                <a:effectLst/>
                <a:uLnTx/>
                <a:uFillTx/>
                <a:latin typeface="Eurobank Sans"/>
                <a:ea typeface="+mn-ea"/>
                <a:cs typeface="Eurobank Sans"/>
              </a:rPr>
              <a:t>helping </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customer </a:t>
            </a:r>
            <a:r>
              <a:rPr kumimoji="0" lang="en-US" sz="1100" b="0" i="0" u="none" strike="noStrike" kern="1200" cap="none" spc="15" normalizeH="0" baseline="0" noProof="0">
                <a:ln>
                  <a:noFill/>
                </a:ln>
                <a:solidFill>
                  <a:srgbClr val="001245"/>
                </a:solidFill>
                <a:effectLst/>
                <a:uLnTx/>
                <a:uFillTx/>
                <a:latin typeface="Eurobank Sans"/>
                <a:ea typeface="+mn-ea"/>
                <a:cs typeface="Eurobank Sans"/>
              </a:rPr>
              <a:t>choose</a:t>
            </a:r>
            <a:r>
              <a:rPr kumimoji="0" lang="en-US" sz="1100" b="0" i="0" u="none" strike="noStrike" kern="1200" cap="none" spc="0" normalizeH="0" baseline="0" noProof="0">
                <a:ln>
                  <a:noFill/>
                </a:ln>
                <a:solidFill>
                  <a:srgbClr val="001245"/>
                </a:solidFill>
                <a:effectLst/>
                <a:uLnTx/>
                <a:uFillTx/>
                <a:latin typeface="Eurobank Sans"/>
                <a:ea typeface="+mn-ea"/>
                <a:cs typeface="Eurobank Sans"/>
              </a:rPr>
              <a:t> </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the </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appropriate</a:t>
            </a:r>
            <a:r>
              <a:rPr kumimoji="0" lang="en-US" sz="1100" b="0" i="0" u="none" strike="noStrike" kern="1200" cap="none" spc="-80" normalizeH="0" baseline="0" noProof="0">
                <a:ln>
                  <a:noFill/>
                </a:ln>
                <a:solidFill>
                  <a:srgbClr val="001245"/>
                </a:solidFill>
                <a:effectLst/>
                <a:uLnTx/>
                <a:uFillTx/>
                <a:latin typeface="Eurobank Sans"/>
                <a:ea typeface="+mn-ea"/>
                <a:cs typeface="Eurobank Sans"/>
              </a:rPr>
              <a:t> </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product.</a:t>
            </a:r>
          </a:p>
          <a:p>
            <a:pPr marL="393700" marR="0" lvl="0" indent="-381000" algn="l" defTabSz="914400" rtl="0" eaLnBrk="1" fontAlgn="auto" latinLnBrk="0" hangingPunct="1">
              <a:lnSpc>
                <a:spcPct val="100000"/>
              </a:lnSpc>
              <a:spcBef>
                <a:spcPts val="35"/>
              </a:spcBef>
              <a:spcAft>
                <a:spcPts val="0"/>
              </a:spcAft>
              <a:buClrTx/>
              <a:buSzTx/>
              <a:buFont typeface="Arial"/>
              <a:buChar char="•"/>
              <a:tabLst>
                <a:tab pos="393065" algn="l"/>
                <a:tab pos="393700" algn="l"/>
              </a:tabLst>
              <a:defRPr/>
            </a:pPr>
            <a:r>
              <a:rPr kumimoji="0" lang="en-US" sz="1100" b="0" i="0" u="none" strike="noStrike" kern="1200" cap="none" spc="5" normalizeH="0" baseline="0" noProof="0">
                <a:ln>
                  <a:noFill/>
                </a:ln>
                <a:solidFill>
                  <a:srgbClr val="001245"/>
                </a:solidFill>
                <a:effectLst/>
                <a:uLnTx/>
                <a:uFillTx/>
                <a:latin typeface="Eurobank Sans"/>
                <a:ea typeface="+mn-ea"/>
                <a:cs typeface="Eurobank Sans"/>
              </a:rPr>
              <a:t>Offering </a:t>
            </a:r>
            <a:r>
              <a:rPr kumimoji="0" lang="en-US" sz="1100" b="0" i="0" u="none" strike="noStrike" kern="1200" cap="none" spc="5" normalizeH="0" baseline="0" noProof="0" err="1">
                <a:ln>
                  <a:noFill/>
                </a:ln>
                <a:solidFill>
                  <a:srgbClr val="001245"/>
                </a:solidFill>
                <a:effectLst/>
                <a:uLnTx/>
                <a:uFillTx/>
                <a:latin typeface="Eurobank Sans"/>
                <a:ea typeface="+mn-ea"/>
                <a:cs typeface="Eurobank Sans"/>
              </a:rPr>
              <a:t>prioritization</a:t>
            </a:r>
            <a:r>
              <a:rPr kumimoji="0" lang="en-US" sz="1100" b="0" i="0" u="none" strike="noStrike" kern="1200" cap="none" spc="5" normalizeH="0" baseline="0" noProof="0">
                <a:ln>
                  <a:noFill/>
                </a:ln>
                <a:solidFill>
                  <a:srgbClr val="001245"/>
                </a:solidFill>
                <a:effectLst/>
                <a:uLnTx/>
                <a:uFillTx/>
                <a:latin typeface="Eurobank Sans"/>
                <a:ea typeface="+mn-ea"/>
                <a:cs typeface="Eurobank Sans"/>
              </a:rPr>
              <a:t> according to customer’s profile</a:t>
            </a:r>
          </a:p>
          <a:p>
            <a:pPr marL="393700" marR="0" lvl="0" indent="-381000" algn="l" defTabSz="914400" rtl="0" eaLnBrk="1" fontAlgn="auto" latinLnBrk="0" hangingPunct="1">
              <a:lnSpc>
                <a:spcPct val="100000"/>
              </a:lnSpc>
              <a:spcBef>
                <a:spcPts val="35"/>
              </a:spcBef>
              <a:spcAft>
                <a:spcPts val="0"/>
              </a:spcAft>
              <a:buClrTx/>
              <a:buSzTx/>
              <a:buFont typeface="Arial"/>
              <a:buChar char="•"/>
              <a:tabLst>
                <a:tab pos="393065" algn="l"/>
                <a:tab pos="393700" algn="l"/>
              </a:tabLst>
              <a:defRPr/>
            </a:pPr>
            <a:endParaRPr kumimoji="0" lang="en-US" sz="1100" b="0" i="0" u="none" strike="noStrike" kern="1200" cap="none" spc="0" normalizeH="0" baseline="0" noProof="0">
              <a:ln>
                <a:noFill/>
              </a:ln>
              <a:solidFill>
                <a:prstClr val="black"/>
              </a:solidFill>
              <a:effectLst/>
              <a:uLnTx/>
              <a:uFillTx/>
              <a:latin typeface="Eurobank Sans"/>
              <a:ea typeface="+mn-ea"/>
              <a:cs typeface="Eurobank Sans"/>
            </a:endParaRPr>
          </a:p>
          <a:p>
            <a:pPr marL="1270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77" name="object 7">
            <a:extLst>
              <a:ext uri="{FF2B5EF4-FFF2-40B4-BE49-F238E27FC236}">
                <a16:creationId xmlns:a16="http://schemas.microsoft.com/office/drawing/2014/main" id="{90494EAE-0A2F-2BCD-BAF6-45B81566EFF4}"/>
              </a:ext>
            </a:extLst>
          </p:cNvPr>
          <p:cNvSpPr txBox="1"/>
          <p:nvPr/>
        </p:nvSpPr>
        <p:spPr>
          <a:xfrm>
            <a:off x="3617373" y="1744758"/>
            <a:ext cx="409575" cy="200055"/>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5" normalizeH="0" baseline="0" noProof="0">
                <a:ln>
                  <a:noFill/>
                </a:ln>
                <a:solidFill>
                  <a:srgbClr val="00AFEF"/>
                </a:solidFill>
                <a:effectLst/>
                <a:uLnTx/>
                <a:uFillTx/>
                <a:latin typeface="Eurobank Sans"/>
                <a:ea typeface="+mn-ea"/>
                <a:cs typeface="Eurobank Sans"/>
              </a:rPr>
              <a:t>202</a:t>
            </a:r>
            <a:r>
              <a:rPr kumimoji="0" lang="en-US" sz="1300" b="1" i="0" u="none" strike="noStrike" kern="1200" cap="none" spc="5" normalizeH="0" baseline="0" noProof="0">
                <a:ln>
                  <a:noFill/>
                </a:ln>
                <a:solidFill>
                  <a:srgbClr val="00AFEF"/>
                </a:solidFill>
                <a:effectLst/>
                <a:uLnTx/>
                <a:uFillTx/>
                <a:latin typeface="Eurobank Sans"/>
                <a:ea typeface="+mn-ea"/>
                <a:cs typeface="Eurobank Sans"/>
              </a:rPr>
              <a:t>1</a:t>
            </a:r>
            <a:endParaRPr kumimoji="0" sz="13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78" name="object 7">
            <a:extLst>
              <a:ext uri="{FF2B5EF4-FFF2-40B4-BE49-F238E27FC236}">
                <a16:creationId xmlns:a16="http://schemas.microsoft.com/office/drawing/2014/main" id="{C6B87E98-763A-0318-D057-4137C631FCB4}"/>
              </a:ext>
            </a:extLst>
          </p:cNvPr>
          <p:cNvSpPr txBox="1"/>
          <p:nvPr/>
        </p:nvSpPr>
        <p:spPr>
          <a:xfrm>
            <a:off x="1819746" y="1744758"/>
            <a:ext cx="409575" cy="200055"/>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5" normalizeH="0" baseline="0" noProof="0">
                <a:ln>
                  <a:noFill/>
                </a:ln>
                <a:solidFill>
                  <a:srgbClr val="00AFEF"/>
                </a:solidFill>
                <a:effectLst/>
                <a:uLnTx/>
                <a:uFillTx/>
                <a:latin typeface="Eurobank Sans"/>
                <a:ea typeface="+mn-ea"/>
                <a:cs typeface="Eurobank Sans"/>
              </a:rPr>
              <a:t>202</a:t>
            </a:r>
            <a:r>
              <a:rPr kumimoji="0" lang="en-US" sz="1300" b="1" i="0" u="none" strike="noStrike" kern="1200" cap="none" spc="5" normalizeH="0" baseline="0" noProof="0">
                <a:ln>
                  <a:noFill/>
                </a:ln>
                <a:solidFill>
                  <a:srgbClr val="00AFEF"/>
                </a:solidFill>
                <a:effectLst/>
                <a:uLnTx/>
                <a:uFillTx/>
                <a:latin typeface="Eurobank Sans"/>
                <a:ea typeface="+mn-ea"/>
                <a:cs typeface="Eurobank Sans"/>
              </a:rPr>
              <a:t>0</a:t>
            </a:r>
            <a:endParaRPr kumimoji="0" sz="1300" b="0" i="0" u="none" strike="noStrike" kern="1200" cap="none" spc="0" normalizeH="0" baseline="0" noProof="0">
              <a:ln>
                <a:noFill/>
              </a:ln>
              <a:solidFill>
                <a:prstClr val="black"/>
              </a:solidFill>
              <a:effectLst/>
              <a:uLnTx/>
              <a:uFillTx/>
              <a:latin typeface="Eurobank Sans"/>
              <a:ea typeface="+mn-ea"/>
              <a:cs typeface="Eurobank Sans"/>
            </a:endParaRPr>
          </a:p>
        </p:txBody>
      </p:sp>
      <p:sp>
        <p:nvSpPr>
          <p:cNvPr id="79" name="object 15">
            <a:extLst>
              <a:ext uri="{FF2B5EF4-FFF2-40B4-BE49-F238E27FC236}">
                <a16:creationId xmlns:a16="http://schemas.microsoft.com/office/drawing/2014/main" id="{A7F26391-EA44-72BE-A2B5-19063D7A96F1}"/>
              </a:ext>
            </a:extLst>
          </p:cNvPr>
          <p:cNvSpPr/>
          <p:nvPr/>
        </p:nvSpPr>
        <p:spPr>
          <a:xfrm>
            <a:off x="2752723" y="1830608"/>
            <a:ext cx="341248" cy="45719"/>
          </a:xfrm>
          <a:custGeom>
            <a:avLst/>
            <a:gdLst/>
            <a:ahLst/>
            <a:cxnLst/>
            <a:rect l="l" t="t" r="r" b="b"/>
            <a:pathLst>
              <a:path w="554355">
                <a:moveTo>
                  <a:pt x="0" y="0"/>
                </a:moveTo>
                <a:lnTo>
                  <a:pt x="554202" y="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object 15">
            <a:extLst>
              <a:ext uri="{FF2B5EF4-FFF2-40B4-BE49-F238E27FC236}">
                <a16:creationId xmlns:a16="http://schemas.microsoft.com/office/drawing/2014/main" id="{BD6EFB1D-9BB7-EE32-3C35-2897783A0A68}"/>
              </a:ext>
            </a:extLst>
          </p:cNvPr>
          <p:cNvSpPr/>
          <p:nvPr/>
        </p:nvSpPr>
        <p:spPr>
          <a:xfrm>
            <a:off x="4550350" y="1830608"/>
            <a:ext cx="341248" cy="45719"/>
          </a:xfrm>
          <a:custGeom>
            <a:avLst/>
            <a:gdLst/>
            <a:ahLst/>
            <a:cxnLst/>
            <a:rect l="l" t="t" r="r" b="b"/>
            <a:pathLst>
              <a:path w="554355">
                <a:moveTo>
                  <a:pt x="0" y="0"/>
                </a:moveTo>
                <a:lnTo>
                  <a:pt x="554202" y="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1" name="object 15">
            <a:extLst>
              <a:ext uri="{FF2B5EF4-FFF2-40B4-BE49-F238E27FC236}">
                <a16:creationId xmlns:a16="http://schemas.microsoft.com/office/drawing/2014/main" id="{5866E817-2E0E-304B-5A8E-D46817388034}"/>
              </a:ext>
            </a:extLst>
          </p:cNvPr>
          <p:cNvSpPr/>
          <p:nvPr/>
        </p:nvSpPr>
        <p:spPr>
          <a:xfrm>
            <a:off x="6347977" y="1830608"/>
            <a:ext cx="341248" cy="45719"/>
          </a:xfrm>
          <a:custGeom>
            <a:avLst/>
            <a:gdLst/>
            <a:ahLst/>
            <a:cxnLst/>
            <a:rect l="l" t="t" r="r" b="b"/>
            <a:pathLst>
              <a:path w="554355">
                <a:moveTo>
                  <a:pt x="0" y="0"/>
                </a:moveTo>
                <a:lnTo>
                  <a:pt x="554202" y="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object 10">
            <a:extLst>
              <a:ext uri="{FF2B5EF4-FFF2-40B4-BE49-F238E27FC236}">
                <a16:creationId xmlns:a16="http://schemas.microsoft.com/office/drawing/2014/main" id="{17853B3D-87C3-401B-A954-526C251967E7}"/>
              </a:ext>
            </a:extLst>
          </p:cNvPr>
          <p:cNvSpPr/>
          <p:nvPr/>
        </p:nvSpPr>
        <p:spPr>
          <a:xfrm>
            <a:off x="2028977" y="1303305"/>
            <a:ext cx="0" cy="294005"/>
          </a:xfrm>
          <a:custGeom>
            <a:avLst/>
            <a:gdLst/>
            <a:ahLst/>
            <a:cxnLst/>
            <a:rect l="l" t="t" r="r" b="b"/>
            <a:pathLst>
              <a:path h="294005">
                <a:moveTo>
                  <a:pt x="0" y="0"/>
                </a:moveTo>
                <a:lnTo>
                  <a:pt x="0" y="29375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object 10">
            <a:extLst>
              <a:ext uri="{FF2B5EF4-FFF2-40B4-BE49-F238E27FC236}">
                <a16:creationId xmlns:a16="http://schemas.microsoft.com/office/drawing/2014/main" id="{C53E902D-BF3F-D5F9-EF71-026B724EBB00}"/>
              </a:ext>
            </a:extLst>
          </p:cNvPr>
          <p:cNvSpPr/>
          <p:nvPr/>
        </p:nvSpPr>
        <p:spPr>
          <a:xfrm>
            <a:off x="5540088" y="1303305"/>
            <a:ext cx="0" cy="294005"/>
          </a:xfrm>
          <a:custGeom>
            <a:avLst/>
            <a:gdLst/>
            <a:ahLst/>
            <a:cxnLst/>
            <a:rect l="l" t="t" r="r" b="b"/>
            <a:pathLst>
              <a:path h="294005">
                <a:moveTo>
                  <a:pt x="0" y="0"/>
                </a:moveTo>
                <a:lnTo>
                  <a:pt x="0" y="29375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object 10">
            <a:extLst>
              <a:ext uri="{FF2B5EF4-FFF2-40B4-BE49-F238E27FC236}">
                <a16:creationId xmlns:a16="http://schemas.microsoft.com/office/drawing/2014/main" id="{02772253-8D05-8BAC-E44F-840BBFE74E70}"/>
              </a:ext>
            </a:extLst>
          </p:cNvPr>
          <p:cNvSpPr/>
          <p:nvPr/>
        </p:nvSpPr>
        <p:spPr>
          <a:xfrm>
            <a:off x="7381231" y="1303305"/>
            <a:ext cx="0" cy="294005"/>
          </a:xfrm>
          <a:custGeom>
            <a:avLst/>
            <a:gdLst/>
            <a:ahLst/>
            <a:cxnLst/>
            <a:rect l="l" t="t" r="r" b="b"/>
            <a:pathLst>
              <a:path h="294005">
                <a:moveTo>
                  <a:pt x="0" y="0"/>
                </a:moveTo>
                <a:lnTo>
                  <a:pt x="0" y="293750"/>
                </a:lnTo>
              </a:path>
            </a:pathLst>
          </a:custGeom>
          <a:ln w="6350">
            <a:solidFill>
              <a:srgbClr val="BEBEB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object 66">
            <a:extLst>
              <a:ext uri="{FF2B5EF4-FFF2-40B4-BE49-F238E27FC236}">
                <a16:creationId xmlns:a16="http://schemas.microsoft.com/office/drawing/2014/main" id="{6D1A8647-8A1A-B09C-300A-610BA3092F3A}"/>
              </a:ext>
            </a:extLst>
          </p:cNvPr>
          <p:cNvSpPr txBox="1"/>
          <p:nvPr/>
        </p:nvSpPr>
        <p:spPr>
          <a:xfrm>
            <a:off x="955096" y="2640375"/>
            <a:ext cx="2973341" cy="169277"/>
          </a:xfrm>
          <a:prstGeom prst="rect">
            <a:avLst/>
          </a:prstGeom>
        </p:spPr>
        <p:txBody>
          <a:bodyPr vert="horz" wrap="square" lIns="0" tIns="0" rIns="0" bIns="0" rtlCol="0">
            <a:spAutoFit/>
          </a:bodyPr>
          <a:lstStyle/>
          <a:p>
            <a:pPr marL="1270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11242"/>
                </a:solidFill>
                <a:effectLst/>
                <a:uLnTx/>
                <a:uFillTx/>
                <a:latin typeface="Eurobank Sans"/>
                <a:ea typeface="+mn-ea"/>
                <a:cs typeface="Eurobank Sans"/>
              </a:rPr>
              <a:t>Channels Contribution to Disbursements</a:t>
            </a:r>
            <a:r>
              <a:rPr kumimoji="0" lang="el-GR" sz="1100" b="1" i="0" u="none" strike="noStrike" kern="1200" cap="none" spc="0" normalizeH="0" baseline="0" noProof="0">
                <a:ln>
                  <a:noFill/>
                </a:ln>
                <a:solidFill>
                  <a:srgbClr val="011242"/>
                </a:solidFill>
                <a:effectLst/>
                <a:uLnTx/>
                <a:uFillTx/>
                <a:latin typeface="Eurobank Sans"/>
                <a:ea typeface="+mn-ea"/>
                <a:cs typeface="Eurobank Sans"/>
              </a:rPr>
              <a:t> (#)</a:t>
            </a:r>
            <a:endParaRPr kumimoji="0" sz="1100" b="0" i="0" u="none" strike="noStrike" kern="1200" cap="none" spc="0" normalizeH="0" baseline="0" noProof="0">
              <a:ln>
                <a:noFill/>
              </a:ln>
              <a:solidFill>
                <a:prstClr val="black"/>
              </a:solidFill>
              <a:effectLst/>
              <a:uLnTx/>
              <a:uFillTx/>
              <a:latin typeface="Eurobank Sans"/>
              <a:ea typeface="+mn-ea"/>
              <a:cs typeface="Eurobank Sans"/>
            </a:endParaRPr>
          </a:p>
        </p:txBody>
      </p:sp>
      <p:graphicFrame>
        <p:nvGraphicFramePr>
          <p:cNvPr id="37" name="Chart 36">
            <a:extLst>
              <a:ext uri="{FF2B5EF4-FFF2-40B4-BE49-F238E27FC236}">
                <a16:creationId xmlns:a16="http://schemas.microsoft.com/office/drawing/2014/main" id="{2E84677A-7F6A-E3E6-3D1B-30C128C2E5EC}"/>
              </a:ext>
            </a:extLst>
          </p:cNvPr>
          <p:cNvGraphicFramePr>
            <a:graphicFrameLocks/>
          </p:cNvGraphicFramePr>
          <p:nvPr/>
        </p:nvGraphicFramePr>
        <p:xfrm>
          <a:off x="33794" y="2799128"/>
          <a:ext cx="4815944" cy="24071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338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81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C68S8VmfMECQc6GJv2SBl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yKsLAk56yXA5SPwUoaAfg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yKsLAk56yXA5SPwUoaAfgQ"/>
</p:tagLst>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1">
      <a:majorFont>
        <a:latin typeface="Eurobank Sans"/>
        <a:ea typeface=""/>
        <a:cs typeface=""/>
      </a:majorFont>
      <a:minorFont>
        <a:latin typeface="Eurobank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36000" algn="ctr">
          <a:lnSpc>
            <a:spcPct val="120000"/>
          </a:lnSpc>
          <a:defRPr sz="1100" dirty="0" err="1">
            <a:solidFill>
              <a:srgbClr val="021342"/>
            </a:solidFill>
            <a:latin typeface="Eurobank Sans" panose="02000503000000020004" pitchFamily="2" charset="0"/>
            <a:cs typeface="Averta Std PE Extrabold" pitchFamily="2" charset="0"/>
          </a:defRPr>
        </a:defPPr>
      </a:lstStyle>
    </a:txDef>
  </a:objectDefaults>
  <a:extraClrSchemeLst/>
</a:theme>
</file>

<file path=ppt/theme/theme2.xml><?xml version="1.0" encoding="utf-8"?>
<a:theme xmlns:a="http://schemas.openxmlformats.org/drawingml/2006/main" name="3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2">
      <a:majorFont>
        <a:latin typeface="Eurobank Sans"/>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a:noFill/>
        </a:ln>
        <a:effectLst/>
      </a:spPr>
      <a:bodyPr rtlCol="0" anchor="ctr"/>
      <a:lstStyle>
        <a:defPPr algn="ctr">
          <a:defRPr sz="1200" dirty="0" err="1" smtClean="0">
            <a:solidFill>
              <a:srgbClr val="002060"/>
            </a:solidFill>
            <a:latin typeface="+mj-lt"/>
          </a:defRPr>
        </a:defPPr>
      </a:lstStyle>
      <a:style>
        <a:lnRef idx="1">
          <a:schemeClr val="accent1"/>
        </a:lnRef>
        <a:fillRef idx="3">
          <a:schemeClr val="accent1"/>
        </a:fillRef>
        <a:effectRef idx="2">
          <a:schemeClr val="accent1"/>
        </a:effectRef>
        <a:fontRef idx="minor">
          <a:schemeClr val="lt1"/>
        </a:fontRef>
      </a:style>
    </a:spDef>
    <a:lnDef>
      <a:spPr>
        <a:ln>
          <a:solidFill>
            <a:srgbClr val="002060"/>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marL="36000" algn="ctr">
          <a:lnSpc>
            <a:spcPct val="120000"/>
          </a:lnSpc>
          <a:defRPr sz="1100" dirty="0" err="1">
            <a:solidFill>
              <a:srgbClr val="021342"/>
            </a:solidFill>
            <a:latin typeface="+mj-lt"/>
            <a:cs typeface="Averta Std PE Extrabold" pitchFamily="2"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4EB4CA7F27874FA4FD57F92AA591C3" ma:contentTypeVersion="2" ma:contentTypeDescription="Create a new document." ma:contentTypeScope="" ma:versionID="46581ef3df542fecb53defb5642478a8">
  <xsd:schema xmlns:xsd="http://www.w3.org/2001/XMLSchema" xmlns:xs="http://www.w3.org/2001/XMLSchema" xmlns:p="http://schemas.microsoft.com/office/2006/metadata/properties" xmlns:ns2="a8d44ad2-0d9d-4693-835a-8697d7380530" xmlns:ns3="de3ff1fa-33d6-413e-bb55-0a15baf92163" targetNamespace="http://schemas.microsoft.com/office/2006/metadata/properties" ma:root="true" ma:fieldsID="266283c115f099627c576606748b6e8a" ns2:_="" ns3:_="">
    <xsd:import namespace="a8d44ad2-0d9d-4693-835a-8697d7380530"/>
    <xsd:import namespace="de3ff1fa-33d6-413e-bb55-0a15baf92163"/>
    <xsd:element name="properties">
      <xsd:complexType>
        <xsd:sequence>
          <xsd:element name="documentManagement">
            <xsd:complexType>
              <xsd:all>
                <xsd:element ref="ns2:UnilyIsFeaturedDocument" minOccurs="0"/>
                <xsd:element ref="ns2:UnilyIsTemplate" minOccurs="0"/>
                <xsd:element ref="ns2:j0160d58dc5d4538be8c5795d8cfc68d" minOccurs="0"/>
                <xsd:element ref="ns2:TaxCatchAll" minOccurs="0"/>
                <xsd:element ref="ns2:TaxCatchAllLabel"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d44ad2-0d9d-4693-835a-8697d7380530" elementFormDefault="qualified">
    <xsd:import namespace="http://schemas.microsoft.com/office/2006/documentManagement/types"/>
    <xsd:import namespace="http://schemas.microsoft.com/office/infopath/2007/PartnerControls"/>
    <xsd:element name="UnilyIsFeaturedDocument" ma:index="8" nillable="true" ma:displayName="Is Featured Document" ma:internalName="UnilyIsFeaturedDocument">
      <xsd:simpleType>
        <xsd:restriction base="dms:Boolean"/>
      </xsd:simpleType>
    </xsd:element>
    <xsd:element name="UnilyIsTemplate" ma:index="9" nillable="true" ma:displayName="Is Template" ma:internalName="UnilyIsTemplate">
      <xsd:simpleType>
        <xsd:restriction base="dms:Boolean"/>
      </xsd:simpleType>
    </xsd:element>
    <xsd:element name="j0160d58dc5d4538be8c5795d8cfc68d" ma:index="10" nillable="true" ma:taxonomy="true" ma:internalName="j0160d58dc5d4538be8c5795d8cfc68d" ma:taxonomyFieldName="UnilyDocumentCategory" ma:displayName="Document Category" ma:default="" ma:fieldId="{30160d58-dc5d-4538-be8c-5795d8cfc68d}" ma:taxonomyMulti="true" ma:sspId="2e1e66aa-bea1-4dc5-b3bb-bfad1ec28d40" ma:termSetId="a814eaba-2ef5-4a71-8db2-2406a56c92d7"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7dd192ba-1ac6-40a9-9c41-6bbfb4b88bc9}" ma:internalName="TaxCatchAll" ma:showField="CatchAllData" ma:web="a8d44ad2-0d9d-4693-835a-8697d7380530">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7dd192ba-1ac6-40a9-9c41-6bbfb4b88bc9}" ma:internalName="TaxCatchAllLabel" ma:readOnly="true" ma:showField="CatchAllDataLabel" ma:web="a8d44ad2-0d9d-4693-835a-8697d738053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e3ff1fa-33d6-413e-bb55-0a15baf92163" elementFormDefault="qualified">
    <xsd:import namespace="http://schemas.microsoft.com/office/2006/documentManagement/types"/>
    <xsd:import namespace="http://schemas.microsoft.com/office/infopath/2007/PartnerControls"/>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j0160d58dc5d4538be8c5795d8cfc68d xmlns="a8d44ad2-0d9d-4693-835a-8697d7380530">
      <Terms xmlns="http://schemas.microsoft.com/office/infopath/2007/PartnerControls"/>
    </j0160d58dc5d4538be8c5795d8cfc68d>
    <TaxCatchAll xmlns="a8d44ad2-0d9d-4693-835a-8697d7380530" xsi:nil="true"/>
    <UnilyIsFeaturedDocument xmlns="a8d44ad2-0d9d-4693-835a-8697d7380530" xsi:nil="true"/>
    <UnilyIsTemplate xmlns="a8d44ad2-0d9d-4693-835a-8697d738053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616957-CFED-46C7-A555-6E1A55E9EF84}">
  <ds:schemaRefs>
    <ds:schemaRef ds:uri="a8d44ad2-0d9d-4693-835a-8697d7380530"/>
    <ds:schemaRef ds:uri="de3ff1fa-33d6-413e-bb55-0a15baf921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8E54ECA-D740-4A13-AEC4-8EEFDC9AEABE}">
  <ds:schemaRefs>
    <ds:schemaRef ds:uri="a8d44ad2-0d9d-4693-835a-8697d7380530"/>
    <ds:schemaRef ds:uri="de3ff1fa-33d6-413e-bb55-0a15baf921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467B74-1AFD-47F8-AAAF-77D3385205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688</TotalTime>
  <Words>2158</Words>
  <Application>Microsoft Office PowerPoint</Application>
  <PresentationFormat>On-screen Show (16:9)</PresentationFormat>
  <Paragraphs>350</Paragraphs>
  <Slides>14</Slides>
  <Notes>6</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7" baseType="lpstr">
      <vt:lpstr>Aptos</vt:lpstr>
      <vt:lpstr>Arial</vt:lpstr>
      <vt:lpstr>Averta Std PE</vt:lpstr>
      <vt:lpstr>Averta Std PE Extrabold</vt:lpstr>
      <vt:lpstr>Calibri</vt:lpstr>
      <vt:lpstr>Cera GR Bold</vt:lpstr>
      <vt:lpstr>Courier New</vt:lpstr>
      <vt:lpstr>Eurobank Sans</vt:lpstr>
      <vt:lpstr>Eurobank Sans Light</vt:lpstr>
      <vt:lpstr>Wingdings</vt:lpstr>
      <vt:lpstr>Office Theme</vt:lpstr>
      <vt:lpstr>3_Office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imac2</dc:creator>
  <cp:lastModifiedBy>Pouloupatis Vassileios</cp:lastModifiedBy>
  <cp:revision>14</cp:revision>
  <dcterms:created xsi:type="dcterms:W3CDTF">2016-12-02T08:26:01Z</dcterms:created>
  <dcterms:modified xsi:type="dcterms:W3CDTF">2026-07-06T06:18:56Z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0x010100BC4EB4CA7F27874FA4FD57F92AA591C3</vt:lpwstr>
  </property>
</Properties>
</file>