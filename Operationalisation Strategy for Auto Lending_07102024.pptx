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5.jpg" ContentType="image/jpeg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media/image8.jpg" ContentType="image/jpeg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46.jpg" ContentType="image/jpg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7" r:id="rId2"/>
  </p:sldMasterIdLst>
  <p:notesMasterIdLst>
    <p:notesMasterId r:id="rId17"/>
  </p:notesMasterIdLst>
  <p:sldIdLst>
    <p:sldId id="256" r:id="rId3"/>
    <p:sldId id="2146848072" r:id="rId4"/>
    <p:sldId id="2146848073" r:id="rId5"/>
    <p:sldId id="2146848075" r:id="rId6"/>
    <p:sldId id="270" r:id="rId7"/>
    <p:sldId id="2146848070" r:id="rId8"/>
    <p:sldId id="2146848077" r:id="rId9"/>
    <p:sldId id="2146848049" r:id="rId10"/>
    <p:sldId id="2146848050" r:id="rId11"/>
    <p:sldId id="2146848079" r:id="rId12"/>
    <p:sldId id="2146848059" r:id="rId13"/>
    <p:sldId id="259" r:id="rId14"/>
    <p:sldId id="260" r:id="rId15"/>
    <p:sldId id="2146848068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73AB1F-838D-0A69-2E59-4804BA77FE37}" name="Mavrommatis Eleftherios" initials="EM" userId="S::emavrommatis@eurobank.gr::edfa825c-c88f-4f1f-bb86-6faeb3c06613" providerId="AD"/>
  <p188:author id="{7C9E0C47-3503-9E7D-6741-685E0F007E13}" name="Lyris Efstratios" initials="LE" userId="S::elyris@eurobank.gr::eb24e0e0-c059-4c7b-822d-12cf1c94a0a5" providerId="AD"/>
  <p188:author id="{655933C5-31D5-59C8-AC37-12114543BCA7}" name="Chryssanthopoulos Theodoros" initials="CT" userId="S::tchryssanthopoulos@eurobank.gr::6133497f-caa3-439a-8c41-49e104334a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3D5"/>
    <a:srgbClr val="1C4283"/>
    <a:srgbClr val="31859C"/>
    <a:srgbClr val="002060"/>
    <a:srgbClr val="3AE65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>
      <p:cViewPr varScale="1">
        <p:scale>
          <a:sx n="78" d="100"/>
          <a:sy n="78" d="100"/>
        </p:scale>
        <p:origin x="103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1F5F"/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rgbClr val="001F5F"/>
                </a:solidFill>
                <a:latin typeface="Eurobank Sans" panose="02000503000000020004" pitchFamily="2" charset="0"/>
              </a:rPr>
              <a:t>Car Market</a:t>
            </a:r>
            <a:r>
              <a:rPr lang="en-US" sz="1200" b="1" baseline="0">
                <a:solidFill>
                  <a:srgbClr val="001F5F"/>
                </a:solidFill>
                <a:latin typeface="Eurobank Sans" panose="02000503000000020004" pitchFamily="2" charset="0"/>
              </a:rPr>
              <a:t> in 000 units </a:t>
            </a:r>
            <a:endParaRPr lang="en-US" sz="1200" b="1">
              <a:solidFill>
                <a:srgbClr val="001F5F"/>
              </a:solidFill>
              <a:latin typeface="Eurobank Sans" panose="02000503000000020004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1F5F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('000 units)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Ytd 2024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104</c:v>
                </c:pt>
                <c:pt idx="1">
                  <c:v>115</c:v>
                </c:pt>
                <c:pt idx="2">
                  <c:v>81</c:v>
                </c:pt>
                <c:pt idx="3">
                  <c:v>101</c:v>
                </c:pt>
                <c:pt idx="4">
                  <c:v>105</c:v>
                </c:pt>
                <c:pt idx="5">
                  <c:v>134</c:v>
                </c:pt>
                <c:pt idx="6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4A-49AA-8CB9-47F0B6618F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%Retail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Ytd 2024</c:v>
                </c:pt>
              </c:strCache>
            </c:strRef>
          </c:cat>
          <c:val>
            <c:numRef>
              <c:f>Sheet1!$C$2:$C$8</c:f>
              <c:numCache>
                <c:formatCode>0</c:formatCode>
                <c:ptCount val="7"/>
                <c:pt idx="0">
                  <c:v>48.879999999999995</c:v>
                </c:pt>
                <c:pt idx="1">
                  <c:v>55.774999999999999</c:v>
                </c:pt>
                <c:pt idx="2">
                  <c:v>46.817999999999998</c:v>
                </c:pt>
                <c:pt idx="3">
                  <c:v>50.701999999999998</c:v>
                </c:pt>
                <c:pt idx="4">
                  <c:v>50.4</c:v>
                </c:pt>
                <c:pt idx="5">
                  <c:v>56.28</c:v>
                </c:pt>
                <c:pt idx="6">
                  <c:v>47.195999999999998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4A-49AA-8CB9-47F0B6618F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%Fleet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Ytd 2024</c:v>
                </c:pt>
              </c:strCache>
            </c:strRef>
          </c:cat>
          <c:val>
            <c:numRef>
              <c:f>Sheet1!$D$2:$D$8</c:f>
              <c:numCache>
                <c:formatCode>0</c:formatCode>
                <c:ptCount val="7"/>
                <c:pt idx="0">
                  <c:v>55.120000000000005</c:v>
                </c:pt>
                <c:pt idx="1">
                  <c:v>59.225000000000001</c:v>
                </c:pt>
                <c:pt idx="2">
                  <c:v>34.182000000000002</c:v>
                </c:pt>
                <c:pt idx="3">
                  <c:v>50.298000000000002</c:v>
                </c:pt>
                <c:pt idx="4">
                  <c:v>54.6</c:v>
                </c:pt>
                <c:pt idx="5">
                  <c:v>77.72</c:v>
                </c:pt>
                <c:pt idx="6">
                  <c:v>60.803999999999995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4A-49AA-8CB9-47F0B6618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3493375"/>
        <c:axId val="853919663"/>
      </c:lineChart>
      <c:catAx>
        <c:axId val="773493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F5F"/>
                </a:solidFill>
                <a:latin typeface="Eurobank Sans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853919663"/>
        <c:crosses val="autoZero"/>
        <c:auto val="1"/>
        <c:lblAlgn val="ctr"/>
        <c:lblOffset val="100"/>
        <c:noMultiLvlLbl val="0"/>
      </c:catAx>
      <c:valAx>
        <c:axId val="853919663"/>
        <c:scaling>
          <c:orientation val="minMax"/>
          <c:max val="1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1F5F"/>
                </a:solidFill>
                <a:latin typeface="Eurobank Sans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773493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1F5F"/>
              </a:solidFill>
              <a:latin typeface="Eurobank Sans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D8C90-F1B0-4785-B83D-B5CE9C0D1279}" type="datetimeFigureOut">
              <a:rPr lang="el-GR" smtClean="0"/>
              <a:t>6/7/2026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66C5B-A1CA-44FF-9E69-EDB4A09EE79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8911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66C5B-A1CA-44FF-9E69-EDB4A09EE795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71110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0660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D66C5B-A1CA-44FF-9E69-EDB4A09EE795}" type="slidenum">
              <a:rPr kumimoji="0" lang="el-G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322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C89C4401-5519-4316-9793-35A1F3B16BE9}" type="slidenum">
              <a:rPr lang="el-GR" smtClean="0"/>
              <a:t>8</a:t>
            </a:fld>
            <a:fld id="{FDE93A1F-0BDD-47CA-AB3D-EA4F5B5A48DC}" type="slidenum">
              <a:rPr lang="el-GR" smtClean="0"/>
              <a:t>8</a:t>
            </a:fld>
            <a:fld id="{AFBD4DE6-7769-4F70-8F40-7E6FFE208D52}" type="slidenum">
              <a:rPr lang="el-GR" smtClean="0"/>
              <a:t>8</a:t>
            </a:fld>
            <a:fld id="{D4BD6FF4-3F9D-43D9-B42A-A9FDA2689CC6}" type="slidenum">
              <a:rPr lang="el-GR" smtClean="0"/>
              <a:t>8</a:t>
            </a:fld>
            <a:fld id="{66831BB9-7DAF-40DE-B0C1-958C1C7A2573}" type="slidenum">
              <a:rPr lang="el-GR" smtClean="0"/>
              <a:t>8</a:t>
            </a:fld>
            <a:fld id="{3F91A817-346B-4B63-B14A-2AF87CEB50BC}" type="slidenum">
              <a:rPr lang="el-GR" smtClean="0"/>
              <a:t>8</a:t>
            </a:fld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7ADEE-EF6B-47B0-913D-4C45ED2B78BE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76372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59995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C79EBE-C594-7680-C5D0-84ABA5FF8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25" b="8122"/>
          <a:stretch/>
        </p:blipFill>
        <p:spPr>
          <a:xfrm>
            <a:off x="0" y="4675810"/>
            <a:ext cx="12191998" cy="2182190"/>
          </a:xfrm>
          <a:prstGeom prst="rect">
            <a:avLst/>
          </a:prstGeom>
        </p:spPr>
      </p:pic>
      <p:pic>
        <p:nvPicPr>
          <p:cNvPr id="16" name="bg 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5183" y="451104"/>
            <a:ext cx="1514855" cy="20421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13959"/>
            <a:ext cx="12191999" cy="12191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13959"/>
            <a:ext cx="12191999" cy="1219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6212" y="1511553"/>
            <a:ext cx="3004820" cy="594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1F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E112B-5692-49A6-9950-090F3685E069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DFCD-0F4C-4569-8BA9-2449BC2F3BFC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B8DEE-6DD5-4A19-AC80-AE374F68A17C}" type="datetime1">
              <a:rPr lang="en-US" smtClean="0"/>
              <a:t>7/6/2026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806A3-0EA3-4A8E-AC4F-B292EDF23F00}" type="datetime1">
              <a:rPr lang="en-US" smtClean="0"/>
              <a:t>7/6/2026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5EC6D-A381-4F0C-8418-96124935154F}" type="datetime1">
              <a:rPr lang="en-US" smtClean="0"/>
              <a:t>7/6/2026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D9F6A77-466C-2840-96F4-2DF0971A763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32827" y="2616106"/>
            <a:ext cx="3716004" cy="2425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365"/>
              </a:lnSpc>
              <a:buNone/>
              <a:defRPr sz="1440" b="1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41ECE60-3954-494A-BB6A-38F46E3B12D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15139" y="6385942"/>
            <a:ext cx="7806943" cy="200845"/>
          </a:xfrm>
        </p:spPr>
        <p:txBody>
          <a:bodyPr>
            <a:noAutofit/>
          </a:bodyPr>
          <a:lstStyle>
            <a:lvl1pPr algn="l">
              <a:lnSpc>
                <a:spcPts val="907"/>
              </a:lnSpc>
              <a:spcAft>
                <a:spcPts val="600"/>
              </a:spcAft>
              <a:defRPr sz="864" b="0" i="0" baseline="0">
                <a:solidFill>
                  <a:schemeClr val="tx1"/>
                </a:solidFill>
                <a:latin typeface="Eurobank Sans Light" panose="02000503000000020003" pitchFamily="2" charset="0"/>
                <a:cs typeface="Eurobank Sans Light" panose="02000503000000020003" pitchFamily="2" charset="0"/>
              </a:defRPr>
            </a:lvl1pPr>
            <a:lvl2pPr algn="ctr">
              <a:lnSpc>
                <a:spcPct val="120000"/>
              </a:lnSpc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0F4EBE1-12D9-4749-96C8-27E4A47D6A7F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32828" y="2862252"/>
            <a:ext cx="3716003" cy="20204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228594" indent="-228594" algn="l">
              <a:lnSpc>
                <a:spcPts val="1573"/>
              </a:lnSpc>
              <a:buFont typeface="Arial" panose="020B0604020202020204" pitchFamily="34" charset="0"/>
              <a:buChar char="•"/>
              <a:defRPr sz="1200" b="0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EED2C98C-43E1-2047-828B-BD7E50B2E390}"/>
              </a:ext>
            </a:extLst>
          </p:cNvPr>
          <p:cNvSpPr>
            <a:spLocks noGrp="1"/>
          </p:cNvSpPr>
          <p:nvPr>
            <p:ph type="body" idx="56"/>
          </p:nvPr>
        </p:nvSpPr>
        <p:spPr>
          <a:xfrm>
            <a:off x="4406078" y="2616106"/>
            <a:ext cx="3716004" cy="24250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365"/>
              </a:lnSpc>
              <a:buNone/>
              <a:defRPr sz="1440" b="1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76A6FAC-7E02-B74F-9631-905D103783B5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4406079" y="2862252"/>
            <a:ext cx="3716003" cy="20204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228594" indent="-228594" algn="l">
              <a:lnSpc>
                <a:spcPts val="1573"/>
              </a:lnSpc>
              <a:buFont typeface="Arial" panose="020B0604020202020204" pitchFamily="34" charset="0"/>
              <a:buChar char="•"/>
              <a:defRPr sz="1200" b="0" i="0">
                <a:solidFill>
                  <a:srgbClr val="021342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BBF55F-62CF-5E4C-9BB2-DA21A3F3D9EA}"/>
              </a:ext>
            </a:extLst>
          </p:cNvPr>
          <p:cNvSpPr>
            <a:spLocks noGrp="1"/>
          </p:cNvSpPr>
          <p:nvPr>
            <p:ph type="body" idx="54"/>
          </p:nvPr>
        </p:nvSpPr>
        <p:spPr>
          <a:xfrm>
            <a:off x="432827" y="1337371"/>
            <a:ext cx="9803093" cy="103156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440" b="0" i="0">
                <a:solidFill>
                  <a:srgbClr val="021342"/>
                </a:solidFill>
                <a:latin typeface="Eurobank Sans Light" panose="02000503000000020003" pitchFamily="2" charset="0"/>
                <a:cs typeface="Eurobank Sans Light" panose="02000503000000020003" pitchFamily="2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l-GR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A9C69F2-92F6-4541-A4A5-A6FC701EA87B}"/>
              </a:ext>
            </a:extLst>
          </p:cNvPr>
          <p:cNvSpPr>
            <a:spLocks noGrp="1"/>
          </p:cNvSpPr>
          <p:nvPr>
            <p:ph type="body" idx="58"/>
          </p:nvPr>
        </p:nvSpPr>
        <p:spPr>
          <a:xfrm>
            <a:off x="2389936" y="451062"/>
            <a:ext cx="3706064" cy="1994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ts val="1365"/>
              </a:lnSpc>
              <a:buNone/>
              <a:defRPr sz="1440" b="0" i="0">
                <a:solidFill>
                  <a:schemeClr val="bg1"/>
                </a:solidFill>
                <a:latin typeface="Eurobank Sans" panose="02000503000000020004" pitchFamily="2" charset="0"/>
                <a:cs typeface="Eurobank Sans" panose="02000503000000020004" pitchFamily="2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365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30855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72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18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6BDD4-7721-44CF-91F3-7CAE909EE602}"/>
              </a:ext>
            </a:extLst>
          </p:cNvPr>
          <p:cNvSpPr/>
          <p:nvPr userDrawn="1"/>
        </p:nvSpPr>
        <p:spPr>
          <a:xfrm>
            <a:off x="718008" y="2502724"/>
            <a:ext cx="2597468" cy="3725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87EED819-4DFF-4ACB-9C5A-985600DC80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30838" y="2701272"/>
            <a:ext cx="1769276" cy="17692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36801B2B-581B-4308-B935-05A673D630F3}"/>
              </a:ext>
            </a:extLst>
          </p:cNvPr>
          <p:cNvSpPr/>
          <p:nvPr userDrawn="1"/>
        </p:nvSpPr>
        <p:spPr>
          <a:xfrm>
            <a:off x="4400423" y="2497512"/>
            <a:ext cx="2597468" cy="37255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3A92A66F-6989-43ED-82F9-1FB2FEE0A26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13253" y="2696060"/>
            <a:ext cx="1769276" cy="17692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F9440317-419B-48AA-A067-2D5D7C14C1BF}"/>
              </a:ext>
            </a:extLst>
          </p:cNvPr>
          <p:cNvSpPr/>
          <p:nvPr userDrawn="1"/>
        </p:nvSpPr>
        <p:spPr>
          <a:xfrm>
            <a:off x="8082838" y="2492300"/>
            <a:ext cx="2597468" cy="372554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AEF16489-F6D4-4782-89CC-60842B33794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95668" y="2690848"/>
            <a:ext cx="1769276" cy="17692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88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0FDC951B-4827-4746-8C43-F73A37D3D2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604529" cy="6858000"/>
          </a:xfrm>
          <a:custGeom>
            <a:avLst/>
            <a:gdLst>
              <a:gd name="connsiteX0" fmla="*/ 0 w 5604529"/>
              <a:gd name="connsiteY0" fmla="*/ 0 h 6858000"/>
              <a:gd name="connsiteX1" fmla="*/ 4271478 w 5604529"/>
              <a:gd name="connsiteY1" fmla="*/ 0 h 6858000"/>
              <a:gd name="connsiteX2" fmla="*/ 4273236 w 5604529"/>
              <a:gd name="connsiteY2" fmla="*/ 0 h 6858000"/>
              <a:gd name="connsiteX3" fmla="*/ 4273236 w 5604529"/>
              <a:gd name="connsiteY3" fmla="*/ 1845 h 6858000"/>
              <a:gd name="connsiteX4" fmla="*/ 4285285 w 5604529"/>
              <a:gd name="connsiteY4" fmla="*/ 14484 h 6858000"/>
              <a:gd name="connsiteX5" fmla="*/ 5604529 w 5604529"/>
              <a:gd name="connsiteY5" fmla="*/ 3429000 h 6858000"/>
              <a:gd name="connsiteX6" fmla="*/ 4285285 w 5604529"/>
              <a:gd name="connsiteY6" fmla="*/ 6843518 h 6858000"/>
              <a:gd name="connsiteX7" fmla="*/ 4273236 w 5604529"/>
              <a:gd name="connsiteY7" fmla="*/ 6856156 h 6858000"/>
              <a:gd name="connsiteX8" fmla="*/ 4273236 w 5604529"/>
              <a:gd name="connsiteY8" fmla="*/ 6858000 h 6858000"/>
              <a:gd name="connsiteX9" fmla="*/ 4271478 w 5604529"/>
              <a:gd name="connsiteY9" fmla="*/ 6858000 h 6858000"/>
              <a:gd name="connsiteX10" fmla="*/ 0 w 5604529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04529" h="6858000">
                <a:moveTo>
                  <a:pt x="0" y="0"/>
                </a:moveTo>
                <a:lnTo>
                  <a:pt x="4271478" y="0"/>
                </a:lnTo>
                <a:lnTo>
                  <a:pt x="4273236" y="0"/>
                </a:lnTo>
                <a:lnTo>
                  <a:pt x="4273236" y="1845"/>
                </a:lnTo>
                <a:lnTo>
                  <a:pt x="4285285" y="14484"/>
                </a:lnTo>
                <a:cubicBezTo>
                  <a:pt x="5104954" y="916319"/>
                  <a:pt x="5604529" y="2114320"/>
                  <a:pt x="5604529" y="3429000"/>
                </a:cubicBezTo>
                <a:cubicBezTo>
                  <a:pt x="5604529" y="4743682"/>
                  <a:pt x="5104954" y="5941681"/>
                  <a:pt x="4285285" y="6843518"/>
                </a:cubicBezTo>
                <a:lnTo>
                  <a:pt x="4273236" y="6856156"/>
                </a:lnTo>
                <a:lnTo>
                  <a:pt x="4273236" y="6858000"/>
                </a:lnTo>
                <a:lnTo>
                  <a:pt x="427147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CCB937F8-6809-4438-860D-0569869EC10E}"/>
              </a:ext>
            </a:extLst>
          </p:cNvPr>
          <p:cNvSpPr/>
          <p:nvPr userDrawn="1"/>
        </p:nvSpPr>
        <p:spPr>
          <a:xfrm rot="5400000">
            <a:off x="2049430" y="2663450"/>
            <a:ext cx="6474953" cy="1531100"/>
          </a:xfrm>
          <a:custGeom>
            <a:avLst/>
            <a:gdLst>
              <a:gd name="connsiteX0" fmla="*/ 1211925 w 2423855"/>
              <a:gd name="connsiteY0" fmla="*/ 0 h 573157"/>
              <a:gd name="connsiteX1" fmla="*/ 2421989 w 2423855"/>
              <a:gd name="connsiteY1" fmla="*/ 570662 h 573157"/>
              <a:gd name="connsiteX2" fmla="*/ 2423855 w 2423855"/>
              <a:gd name="connsiteY2" fmla="*/ 573157 h 573157"/>
              <a:gd name="connsiteX3" fmla="*/ 2356638 w 2423855"/>
              <a:gd name="connsiteY3" fmla="*/ 512067 h 573157"/>
              <a:gd name="connsiteX4" fmla="*/ 1211924 w 2423855"/>
              <a:gd name="connsiteY4" fmla="*/ 101125 h 573157"/>
              <a:gd name="connsiteX5" fmla="*/ 67210 w 2423855"/>
              <a:gd name="connsiteY5" fmla="*/ 512067 h 573157"/>
              <a:gd name="connsiteX6" fmla="*/ 0 w 2423855"/>
              <a:gd name="connsiteY6" fmla="*/ 573152 h 573157"/>
              <a:gd name="connsiteX7" fmla="*/ 1861 w 2423855"/>
              <a:gd name="connsiteY7" fmla="*/ 570662 h 573157"/>
              <a:gd name="connsiteX8" fmla="*/ 1211925 w 2423855"/>
              <a:gd name="connsiteY8" fmla="*/ 0 h 573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3855" h="573157">
                <a:moveTo>
                  <a:pt x="1211925" y="0"/>
                </a:moveTo>
                <a:cubicBezTo>
                  <a:pt x="1699088" y="0"/>
                  <a:pt x="2134367" y="222145"/>
                  <a:pt x="2421989" y="570662"/>
                </a:cubicBezTo>
                <a:lnTo>
                  <a:pt x="2423855" y="573157"/>
                </a:lnTo>
                <a:lnTo>
                  <a:pt x="2356638" y="512067"/>
                </a:lnTo>
                <a:cubicBezTo>
                  <a:pt x="2045561" y="255343"/>
                  <a:pt x="1646752" y="101125"/>
                  <a:pt x="1211924" y="101125"/>
                </a:cubicBezTo>
                <a:cubicBezTo>
                  <a:pt x="777096" y="101125"/>
                  <a:pt x="378287" y="255343"/>
                  <a:pt x="67210" y="512067"/>
                </a:cubicBezTo>
                <a:lnTo>
                  <a:pt x="0" y="573152"/>
                </a:lnTo>
                <a:lnTo>
                  <a:pt x="1861" y="570662"/>
                </a:lnTo>
                <a:cubicBezTo>
                  <a:pt x="289483" y="222145"/>
                  <a:pt x="724762" y="0"/>
                  <a:pt x="121192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43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216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1">
            <a:extLst>
              <a:ext uri="{FF2B5EF4-FFF2-40B4-BE49-F238E27FC236}">
                <a16:creationId xmlns:a16="http://schemas.microsoft.com/office/drawing/2014/main" id="{66A02148-4E08-45FA-B410-739D2D230151}"/>
              </a:ext>
            </a:extLst>
          </p:cNvPr>
          <p:cNvSpPr/>
          <p:nvPr userDrawn="1"/>
        </p:nvSpPr>
        <p:spPr>
          <a:xfrm>
            <a:off x="4695731" y="2028731"/>
            <a:ext cx="2800538" cy="2800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그림 개체 틀 3">
            <a:extLst>
              <a:ext uri="{FF2B5EF4-FFF2-40B4-BE49-F238E27FC236}">
                <a16:creationId xmlns:a16="http://schemas.microsoft.com/office/drawing/2014/main" id="{52249887-6DCE-47D2-92B6-232DD0DD244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3275" y="676275"/>
            <a:ext cx="5505450" cy="5505450"/>
          </a:xfrm>
          <a:custGeom>
            <a:avLst/>
            <a:gdLst>
              <a:gd name="connsiteX0" fmla="*/ 2752725 w 5505450"/>
              <a:gd name="connsiteY0" fmla="*/ 1356818 h 5505450"/>
              <a:gd name="connsiteX1" fmla="*/ 1356818 w 5505450"/>
              <a:gd name="connsiteY1" fmla="*/ 2752725 h 5505450"/>
              <a:gd name="connsiteX2" fmla="*/ 2752725 w 5505450"/>
              <a:gd name="connsiteY2" fmla="*/ 4148632 h 5505450"/>
              <a:gd name="connsiteX3" fmla="*/ 4148632 w 5505450"/>
              <a:gd name="connsiteY3" fmla="*/ 2752725 h 5505450"/>
              <a:gd name="connsiteX4" fmla="*/ 2752725 w 5505450"/>
              <a:gd name="connsiteY4" fmla="*/ 1356818 h 5505450"/>
              <a:gd name="connsiteX5" fmla="*/ 2752725 w 5505450"/>
              <a:gd name="connsiteY5" fmla="*/ 0 h 5505450"/>
              <a:gd name="connsiteX6" fmla="*/ 5505450 w 5505450"/>
              <a:gd name="connsiteY6" fmla="*/ 2752725 h 5505450"/>
              <a:gd name="connsiteX7" fmla="*/ 2752725 w 5505450"/>
              <a:gd name="connsiteY7" fmla="*/ 5505450 h 5505450"/>
              <a:gd name="connsiteX8" fmla="*/ 0 w 5505450"/>
              <a:gd name="connsiteY8" fmla="*/ 2752725 h 5505450"/>
              <a:gd name="connsiteX9" fmla="*/ 2752725 w 5505450"/>
              <a:gd name="connsiteY9" fmla="*/ 0 h 550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05450" h="5505450">
                <a:moveTo>
                  <a:pt x="2752725" y="1356818"/>
                </a:moveTo>
                <a:cubicBezTo>
                  <a:pt x="1981787" y="1356818"/>
                  <a:pt x="1356818" y="1981787"/>
                  <a:pt x="1356818" y="2752725"/>
                </a:cubicBezTo>
                <a:cubicBezTo>
                  <a:pt x="1356818" y="3523663"/>
                  <a:pt x="1981787" y="4148632"/>
                  <a:pt x="2752725" y="4148632"/>
                </a:cubicBezTo>
                <a:cubicBezTo>
                  <a:pt x="3523663" y="4148632"/>
                  <a:pt x="4148632" y="3523663"/>
                  <a:pt x="4148632" y="2752725"/>
                </a:cubicBezTo>
                <a:cubicBezTo>
                  <a:pt x="4148632" y="1981787"/>
                  <a:pt x="3523663" y="1356818"/>
                  <a:pt x="2752725" y="1356818"/>
                </a:cubicBezTo>
                <a:close/>
                <a:moveTo>
                  <a:pt x="2752725" y="0"/>
                </a:moveTo>
                <a:cubicBezTo>
                  <a:pt x="4273013" y="0"/>
                  <a:pt x="5505450" y="1232437"/>
                  <a:pt x="5505450" y="2752725"/>
                </a:cubicBezTo>
                <a:cubicBezTo>
                  <a:pt x="5505450" y="4273013"/>
                  <a:pt x="4273013" y="5505450"/>
                  <a:pt x="2752725" y="5505450"/>
                </a:cubicBezTo>
                <a:cubicBezTo>
                  <a:pt x="1232437" y="5505450"/>
                  <a:pt x="0" y="4273013"/>
                  <a:pt x="0" y="2752725"/>
                </a:cubicBezTo>
                <a:cubicBezTo>
                  <a:pt x="0" y="1232437"/>
                  <a:pt x="1232437" y="0"/>
                  <a:pt x="275272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5386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03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6D91A3-B04D-4069-9A9E-AEFAA6DDFCF0}"/>
              </a:ext>
            </a:extLst>
          </p:cNvPr>
          <p:cNvSpPr/>
          <p:nvPr userDrawn="1"/>
        </p:nvSpPr>
        <p:spPr>
          <a:xfrm>
            <a:off x="0" y="0"/>
            <a:ext cx="81003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3A8095-3FDE-4C32-9FFD-9823377F8AF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11757" y="1162879"/>
            <a:ext cx="7580243" cy="4532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E8C1F5C-192F-43AE-9B93-9A4C91D7CE9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 rot="20585984">
            <a:off x="3080925" y="3887570"/>
            <a:ext cx="2253284" cy="2389344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2C7C59-FDF9-46DF-BE98-363BC3321E2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 rot="1034171">
            <a:off x="878941" y="3883311"/>
            <a:ext cx="2253284" cy="2389344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1029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89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881C3E-C950-4D68-922A-406718DA8F79}"/>
              </a:ext>
            </a:extLst>
          </p:cNvPr>
          <p:cNvSpPr/>
          <p:nvPr userDrawn="1"/>
        </p:nvSpPr>
        <p:spPr>
          <a:xfrm>
            <a:off x="0" y="1534177"/>
            <a:ext cx="12192000" cy="26286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95D19A6A-2D5F-41E9-9D62-208AFD92323A}"/>
              </a:ext>
            </a:extLst>
          </p:cNvPr>
          <p:cNvGrpSpPr/>
          <p:nvPr userDrawn="1"/>
        </p:nvGrpSpPr>
        <p:grpSpPr>
          <a:xfrm>
            <a:off x="3132730" y="1364007"/>
            <a:ext cx="5926540" cy="3569007"/>
            <a:chOff x="4098364" y="1571764"/>
            <a:chExt cx="7301609" cy="4397082"/>
          </a:xfrm>
        </p:grpSpPr>
        <p:grpSp>
          <p:nvGrpSpPr>
            <p:cNvPr id="4" name="Graphic 55">
              <a:extLst>
                <a:ext uri="{FF2B5EF4-FFF2-40B4-BE49-F238E27FC236}">
                  <a16:creationId xmlns:a16="http://schemas.microsoft.com/office/drawing/2014/main" id="{1A1253F8-8155-44CE-A6CE-879B69AADEA5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29" name="Freeform: Shape 37">
                <a:extLst>
                  <a:ext uri="{FF2B5EF4-FFF2-40B4-BE49-F238E27FC236}">
                    <a16:creationId xmlns:a16="http://schemas.microsoft.com/office/drawing/2014/main" id="{7A49830E-8512-4F62-808C-7F43BAB9D97B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38">
                <a:extLst>
                  <a:ext uri="{FF2B5EF4-FFF2-40B4-BE49-F238E27FC236}">
                    <a16:creationId xmlns:a16="http://schemas.microsoft.com/office/drawing/2014/main" id="{B9F2936A-927A-4A6B-83E6-12505C62B97E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" name="Freeform: Shape 13">
              <a:extLst>
                <a:ext uri="{FF2B5EF4-FFF2-40B4-BE49-F238E27FC236}">
                  <a16:creationId xmlns:a16="http://schemas.microsoft.com/office/drawing/2014/main" id="{CD7FC7E1-54E2-4031-947B-E1237438A0A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38394E38-347B-4E2F-983C-4D0581D02AA8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5">
              <a:extLst>
                <a:ext uri="{FF2B5EF4-FFF2-40B4-BE49-F238E27FC236}">
                  <a16:creationId xmlns:a16="http://schemas.microsoft.com/office/drawing/2014/main" id="{1B0D60D2-3A3F-49F1-A438-D5167B4781D8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B64679F7-106E-4954-A073-AA53483B9231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7">
              <a:extLst>
                <a:ext uri="{FF2B5EF4-FFF2-40B4-BE49-F238E27FC236}">
                  <a16:creationId xmlns:a16="http://schemas.microsoft.com/office/drawing/2014/main" id="{48869693-3ABE-415F-9709-AE08846BC372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8C4A92C0-EA71-4274-811A-006D33D6D2FA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9">
              <a:extLst>
                <a:ext uri="{FF2B5EF4-FFF2-40B4-BE49-F238E27FC236}">
                  <a16:creationId xmlns:a16="http://schemas.microsoft.com/office/drawing/2014/main" id="{FDA5CE57-6F52-4898-BBD1-7EAE1C977249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0">
              <a:extLst>
                <a:ext uri="{FF2B5EF4-FFF2-40B4-BE49-F238E27FC236}">
                  <a16:creationId xmlns:a16="http://schemas.microsoft.com/office/drawing/2014/main" id="{8FEDC985-5118-4B4B-B34D-6D4C47E267D3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9C604340-C651-4D4A-92A9-63FCC85BB73A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22">
              <a:extLst>
                <a:ext uri="{FF2B5EF4-FFF2-40B4-BE49-F238E27FC236}">
                  <a16:creationId xmlns:a16="http://schemas.microsoft.com/office/drawing/2014/main" id="{2705AC0B-2425-40FB-B143-6D7B17E937EE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23">
              <a:extLst>
                <a:ext uri="{FF2B5EF4-FFF2-40B4-BE49-F238E27FC236}">
                  <a16:creationId xmlns:a16="http://schemas.microsoft.com/office/drawing/2014/main" id="{85C268CE-434C-4649-9D09-EDF424B9BCA3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4">
              <a:extLst>
                <a:ext uri="{FF2B5EF4-FFF2-40B4-BE49-F238E27FC236}">
                  <a16:creationId xmlns:a16="http://schemas.microsoft.com/office/drawing/2014/main" id="{9BDD0917-3844-4226-AEA4-C6EE7F364C83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5">
              <a:extLst>
                <a:ext uri="{FF2B5EF4-FFF2-40B4-BE49-F238E27FC236}">
                  <a16:creationId xmlns:a16="http://schemas.microsoft.com/office/drawing/2014/main" id="{A28283EF-8464-4B20-A525-1159F40A3BD1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8" name="Group 26">
              <a:extLst>
                <a:ext uri="{FF2B5EF4-FFF2-40B4-BE49-F238E27FC236}">
                  <a16:creationId xmlns:a16="http://schemas.microsoft.com/office/drawing/2014/main" id="{766538D7-BA23-4B48-B914-B16A33C8B37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25" name="Rectangle 33">
                <a:extLst>
                  <a:ext uri="{FF2B5EF4-FFF2-40B4-BE49-F238E27FC236}">
                    <a16:creationId xmlns:a16="http://schemas.microsoft.com/office/drawing/2014/main" id="{1977EA51-5010-479E-949D-906C67B83441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34">
                <a:extLst>
                  <a:ext uri="{FF2B5EF4-FFF2-40B4-BE49-F238E27FC236}">
                    <a16:creationId xmlns:a16="http://schemas.microsoft.com/office/drawing/2014/main" id="{513E2DFF-5359-492A-B0FC-A801DE8B35B0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35">
                <a:extLst>
                  <a:ext uri="{FF2B5EF4-FFF2-40B4-BE49-F238E27FC236}">
                    <a16:creationId xmlns:a16="http://schemas.microsoft.com/office/drawing/2014/main" id="{AE72057C-914B-4BF9-8194-BD037EC9DCB0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36">
                <a:extLst>
                  <a:ext uri="{FF2B5EF4-FFF2-40B4-BE49-F238E27FC236}">
                    <a16:creationId xmlns:a16="http://schemas.microsoft.com/office/drawing/2014/main" id="{15FD5D14-3A6E-4E8E-AD33-A9FF9D8BC56F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27">
              <a:extLst>
                <a:ext uri="{FF2B5EF4-FFF2-40B4-BE49-F238E27FC236}">
                  <a16:creationId xmlns:a16="http://schemas.microsoft.com/office/drawing/2014/main" id="{2B46E634-A837-4264-BB08-771EA7DF4E20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22" name="Oval 30">
                <a:extLst>
                  <a:ext uri="{FF2B5EF4-FFF2-40B4-BE49-F238E27FC236}">
                    <a16:creationId xmlns:a16="http://schemas.microsoft.com/office/drawing/2014/main" id="{897EC1F8-E2F8-402C-8079-CAE69CC92DE3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31">
                <a:extLst>
                  <a:ext uri="{FF2B5EF4-FFF2-40B4-BE49-F238E27FC236}">
                    <a16:creationId xmlns:a16="http://schemas.microsoft.com/office/drawing/2014/main" id="{9F58A939-E080-4CBF-9142-030963C8BF66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32">
                <a:extLst>
                  <a:ext uri="{FF2B5EF4-FFF2-40B4-BE49-F238E27FC236}">
                    <a16:creationId xmlns:a16="http://schemas.microsoft.com/office/drawing/2014/main" id="{FBD641BD-719D-473B-A570-055E2B0B3562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Rectangle: Rounded Corners 28">
              <a:extLst>
                <a:ext uri="{FF2B5EF4-FFF2-40B4-BE49-F238E27FC236}">
                  <a16:creationId xmlns:a16="http://schemas.microsoft.com/office/drawing/2014/main" id="{83704563-8A67-46CE-982E-9C4B2C5314ED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9">
              <a:extLst>
                <a:ext uri="{FF2B5EF4-FFF2-40B4-BE49-F238E27FC236}">
                  <a16:creationId xmlns:a16="http://schemas.microsoft.com/office/drawing/2014/main" id="{A88CA8B0-93EA-4055-BB65-BC37FFFEB07A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F69440D4-11CB-4B0F-B581-1A8AF6BB0C2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83615" y="1582796"/>
            <a:ext cx="4177605" cy="258171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948B1D88-E397-4FF3-9D80-769A86816F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18008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116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A2462059-8C4C-4109-8AC5-2B3BE0B08D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34308" y="1617572"/>
            <a:ext cx="3622856" cy="3622856"/>
          </a:xfrm>
          <a:custGeom>
            <a:avLst/>
            <a:gdLst>
              <a:gd name="connsiteX0" fmla="*/ 1711572 w 3423144"/>
              <a:gd name="connsiteY0" fmla="*/ 0 h 3423144"/>
              <a:gd name="connsiteX1" fmla="*/ 3423144 w 3423144"/>
              <a:gd name="connsiteY1" fmla="*/ 1711572 h 3423144"/>
              <a:gd name="connsiteX2" fmla="*/ 1711572 w 3423144"/>
              <a:gd name="connsiteY2" fmla="*/ 3423144 h 3423144"/>
              <a:gd name="connsiteX3" fmla="*/ 0 w 3423144"/>
              <a:gd name="connsiteY3" fmla="*/ 1711572 h 3423144"/>
              <a:gd name="connsiteX4" fmla="*/ 1711572 w 3423144"/>
              <a:gd name="connsiteY4" fmla="*/ 0 h 3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3144" h="3423144">
                <a:moveTo>
                  <a:pt x="1711572" y="0"/>
                </a:moveTo>
                <a:cubicBezTo>
                  <a:pt x="2656847" y="0"/>
                  <a:pt x="3423144" y="766297"/>
                  <a:pt x="3423144" y="1711572"/>
                </a:cubicBezTo>
                <a:cubicBezTo>
                  <a:pt x="3423144" y="2656847"/>
                  <a:pt x="2656847" y="3423144"/>
                  <a:pt x="1711572" y="3423144"/>
                </a:cubicBezTo>
                <a:cubicBezTo>
                  <a:pt x="766297" y="3423144"/>
                  <a:pt x="0" y="2656847"/>
                  <a:pt x="0" y="1711572"/>
                </a:cubicBezTo>
                <a:cubicBezTo>
                  <a:pt x="0" y="766297"/>
                  <a:pt x="766297" y="0"/>
                  <a:pt x="17115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4574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0018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AA062-5AE2-40D3-9A37-7CF7B2E5E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5439"/>
            <a:ext cx="12192000" cy="710877"/>
          </a:xfrm>
          <a:prstGeom prst="rect">
            <a:avLst/>
          </a:prstGeom>
        </p:spPr>
        <p:txBody>
          <a:bodyPr lIns="144000"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9C75A7-1DDB-49EF-A3EF-A0A321A928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3" y="1124744"/>
            <a:ext cx="7055584" cy="40324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96331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063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432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4324546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86987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jp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53677" y="472022"/>
            <a:ext cx="292234" cy="1615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166227" y="474918"/>
            <a:ext cx="117475" cy="155575"/>
          </a:xfrm>
          <a:custGeom>
            <a:avLst/>
            <a:gdLst/>
            <a:ahLst/>
            <a:cxnLst/>
            <a:rect l="l" t="t" r="r" b="b"/>
            <a:pathLst>
              <a:path w="117475" h="155575">
                <a:moveTo>
                  <a:pt x="70185" y="0"/>
                </a:moveTo>
                <a:lnTo>
                  <a:pt x="0" y="0"/>
                </a:lnTo>
                <a:lnTo>
                  <a:pt x="0" y="155498"/>
                </a:lnTo>
                <a:lnTo>
                  <a:pt x="70490" y="155498"/>
                </a:lnTo>
                <a:lnTo>
                  <a:pt x="88790" y="151313"/>
                </a:lnTo>
                <a:lnTo>
                  <a:pt x="103621" y="140911"/>
                </a:lnTo>
                <a:lnTo>
                  <a:pt x="110407" y="130883"/>
                </a:lnTo>
                <a:lnTo>
                  <a:pt x="28677" y="130883"/>
                </a:lnTo>
                <a:lnTo>
                  <a:pt x="28677" y="85711"/>
                </a:lnTo>
                <a:lnTo>
                  <a:pt x="110759" y="85711"/>
                </a:lnTo>
                <a:lnTo>
                  <a:pt x="109850" y="83902"/>
                </a:lnTo>
                <a:lnTo>
                  <a:pt x="100631" y="75856"/>
                </a:lnTo>
                <a:lnTo>
                  <a:pt x="87674" y="70362"/>
                </a:lnTo>
                <a:lnTo>
                  <a:pt x="97101" y="64993"/>
                </a:lnTo>
                <a:lnTo>
                  <a:pt x="100848" y="61099"/>
                </a:lnTo>
                <a:lnTo>
                  <a:pt x="28677" y="61099"/>
                </a:lnTo>
                <a:lnTo>
                  <a:pt x="28677" y="24901"/>
                </a:lnTo>
                <a:lnTo>
                  <a:pt x="108184" y="24901"/>
                </a:lnTo>
                <a:lnTo>
                  <a:pt x="107435" y="21621"/>
                </a:lnTo>
                <a:lnTo>
                  <a:pt x="98285" y="10025"/>
                </a:lnTo>
                <a:lnTo>
                  <a:pt x="85260" y="2610"/>
                </a:lnTo>
                <a:lnTo>
                  <a:pt x="70185" y="0"/>
                </a:lnTo>
                <a:close/>
              </a:path>
              <a:path w="117475" h="155575">
                <a:moveTo>
                  <a:pt x="110759" y="85711"/>
                </a:moveTo>
                <a:lnTo>
                  <a:pt x="66481" y="85711"/>
                </a:lnTo>
                <a:lnTo>
                  <a:pt x="76129" y="87490"/>
                </a:lnTo>
                <a:lnTo>
                  <a:pt x="83951" y="92336"/>
                </a:lnTo>
                <a:lnTo>
                  <a:pt x="89195" y="99516"/>
                </a:lnTo>
                <a:lnTo>
                  <a:pt x="91110" y="108299"/>
                </a:lnTo>
                <a:lnTo>
                  <a:pt x="89034" y="117448"/>
                </a:lnTo>
                <a:lnTo>
                  <a:pt x="83521" y="124587"/>
                </a:lnTo>
                <a:lnTo>
                  <a:pt x="75645" y="129228"/>
                </a:lnTo>
                <a:lnTo>
                  <a:pt x="66481" y="130883"/>
                </a:lnTo>
                <a:lnTo>
                  <a:pt x="110407" y="130883"/>
                </a:lnTo>
                <a:lnTo>
                  <a:pt x="113562" y="126220"/>
                </a:lnTo>
                <a:lnTo>
                  <a:pt x="117191" y="109167"/>
                </a:lnTo>
                <a:lnTo>
                  <a:pt x="115361" y="94879"/>
                </a:lnTo>
                <a:lnTo>
                  <a:pt x="110759" y="85711"/>
                </a:lnTo>
                <a:close/>
              </a:path>
              <a:path w="117475" h="155575">
                <a:moveTo>
                  <a:pt x="108184" y="24901"/>
                </a:moveTo>
                <a:lnTo>
                  <a:pt x="65335" y="24901"/>
                </a:lnTo>
                <a:lnTo>
                  <a:pt x="72930" y="26240"/>
                </a:lnTo>
                <a:lnTo>
                  <a:pt x="79325" y="29968"/>
                </a:lnTo>
                <a:lnTo>
                  <a:pt x="83738" y="35651"/>
                </a:lnTo>
                <a:lnTo>
                  <a:pt x="85383" y="42854"/>
                </a:lnTo>
                <a:lnTo>
                  <a:pt x="83827" y="50102"/>
                </a:lnTo>
                <a:lnTo>
                  <a:pt x="79612" y="55885"/>
                </a:lnTo>
                <a:lnTo>
                  <a:pt x="73413" y="59714"/>
                </a:lnTo>
                <a:lnTo>
                  <a:pt x="65908" y="61099"/>
                </a:lnTo>
                <a:lnTo>
                  <a:pt x="100848" y="61099"/>
                </a:lnTo>
                <a:lnTo>
                  <a:pt x="104437" y="57369"/>
                </a:lnTo>
                <a:lnTo>
                  <a:pt x="109196" y="47844"/>
                </a:lnTo>
                <a:lnTo>
                  <a:pt x="110891" y="36772"/>
                </a:lnTo>
                <a:lnTo>
                  <a:pt x="108184" y="24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19452" y="474918"/>
            <a:ext cx="131511" cy="15549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291697" y="474928"/>
            <a:ext cx="294005" cy="155575"/>
          </a:xfrm>
          <a:custGeom>
            <a:avLst/>
            <a:gdLst/>
            <a:ahLst/>
            <a:cxnLst/>
            <a:rect l="l" t="t" r="r" b="b"/>
            <a:pathLst>
              <a:path w="294004" h="155575">
                <a:moveTo>
                  <a:pt x="149580" y="155498"/>
                </a:moveTo>
                <a:lnTo>
                  <a:pt x="133172" y="114084"/>
                </a:lnTo>
                <a:lnTo>
                  <a:pt x="123418" y="89471"/>
                </a:lnTo>
                <a:lnTo>
                  <a:pt x="101625" y="34455"/>
                </a:lnTo>
                <a:lnTo>
                  <a:pt x="95694" y="19481"/>
                </a:lnTo>
                <a:lnTo>
                  <a:pt x="95694" y="89471"/>
                </a:lnTo>
                <a:lnTo>
                  <a:pt x="53886" y="89471"/>
                </a:lnTo>
                <a:lnTo>
                  <a:pt x="74764" y="34455"/>
                </a:lnTo>
                <a:lnTo>
                  <a:pt x="95694" y="89471"/>
                </a:lnTo>
                <a:lnTo>
                  <a:pt x="95694" y="19481"/>
                </a:lnTo>
                <a:lnTo>
                  <a:pt x="87985" y="0"/>
                </a:lnTo>
                <a:lnTo>
                  <a:pt x="61899" y="0"/>
                </a:lnTo>
                <a:lnTo>
                  <a:pt x="0" y="155498"/>
                </a:lnTo>
                <a:lnTo>
                  <a:pt x="28676" y="155498"/>
                </a:lnTo>
                <a:lnTo>
                  <a:pt x="44411" y="114084"/>
                </a:lnTo>
                <a:lnTo>
                  <a:pt x="105168" y="114084"/>
                </a:lnTo>
                <a:lnTo>
                  <a:pt x="120891" y="155498"/>
                </a:lnTo>
                <a:lnTo>
                  <a:pt x="149580" y="155498"/>
                </a:lnTo>
                <a:close/>
              </a:path>
              <a:path w="294004" h="155575">
                <a:moveTo>
                  <a:pt x="293649" y="0"/>
                </a:moveTo>
                <a:lnTo>
                  <a:pt x="265010" y="0"/>
                </a:lnTo>
                <a:lnTo>
                  <a:pt x="265010" y="111188"/>
                </a:lnTo>
                <a:lnTo>
                  <a:pt x="194513" y="0"/>
                </a:lnTo>
                <a:lnTo>
                  <a:pt x="165608" y="0"/>
                </a:lnTo>
                <a:lnTo>
                  <a:pt x="165608" y="155498"/>
                </a:lnTo>
                <a:lnTo>
                  <a:pt x="194513" y="155498"/>
                </a:lnTo>
                <a:lnTo>
                  <a:pt x="194513" y="45453"/>
                </a:lnTo>
                <a:lnTo>
                  <a:pt x="264439" y="155498"/>
                </a:lnTo>
                <a:lnTo>
                  <a:pt x="293649" y="155498"/>
                </a:lnTo>
                <a:lnTo>
                  <a:pt x="2936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8460" y="-162991"/>
            <a:ext cx="8614917" cy="8755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1F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1816942"/>
            <a:ext cx="5514340" cy="3867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838BF-D397-4189-A839-C953B4DD3F83}" type="datetime1">
              <a:rPr lang="en-US" smtClean="0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B033B4-6935-B3F6-6D3B-8AC0BA84EF93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603565"/>
            <a:ext cx="11963400" cy="598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2DD967-0EFD-AC92-20FB-BBA60140012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675298" y="338296"/>
            <a:ext cx="1135702" cy="153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94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9.emf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hyperlink" Target="https://www.measureone.com/blog/auto-financing-trends-2024-2025-future-of-auto-loans" TargetMode="External"/><Relationship Id="rId3" Type="http://schemas.openxmlformats.org/officeDocument/2006/relationships/oleObject" Target="../embeddings/oleObject1.bin"/><Relationship Id="rId7" Type="http://schemas.openxmlformats.org/officeDocument/2006/relationships/image" Target="../media/image32.png"/><Relationship Id="rId12" Type="http://schemas.openxmlformats.org/officeDocument/2006/relationships/hyperlink" Target="https://defisolutions.com/answers/auto-finance-market-trends-and-predictions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emf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1000" y="1511553"/>
            <a:ext cx="10515600" cy="5860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700" spc="-10" dirty="0" err="1"/>
              <a:t>Operationalisation</a:t>
            </a:r>
            <a:r>
              <a:rPr lang="en-US" sz="3700" spc="-10" dirty="0"/>
              <a:t> Strategy for Auto Lending </a:t>
            </a:r>
            <a:endParaRPr sz="37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115CB-716A-29D5-EA75-9ADE26B94F58}"/>
              </a:ext>
            </a:extLst>
          </p:cNvPr>
          <p:cNvSpPr txBox="1"/>
          <p:nvPr/>
        </p:nvSpPr>
        <p:spPr>
          <a:xfrm>
            <a:off x="10210800" y="4124134"/>
            <a:ext cx="1632025" cy="333168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200">
                <a:solidFill>
                  <a:srgbClr val="66666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r" defTabSz="685800"/>
            <a:r>
              <a:rPr lang="en-US" sz="1400" b="1" dirty="0">
                <a:solidFill>
                  <a:srgbClr val="002060"/>
                </a:solidFill>
                <a:latin typeface="Eurobank Sans Light"/>
                <a:ea typeface="Roboto Light"/>
                <a:cs typeface="Poppins"/>
              </a:rPr>
              <a:t>October </a:t>
            </a:r>
            <a:r>
              <a:rPr lang="el-GR" sz="1400" b="1" dirty="0">
                <a:solidFill>
                  <a:srgbClr val="002060"/>
                </a:solidFill>
                <a:latin typeface="Eurobank Sans Light"/>
                <a:ea typeface="Roboto Light"/>
                <a:cs typeface="Poppins"/>
              </a:rPr>
              <a:t> 2024</a:t>
            </a:r>
            <a:endParaRPr lang="en-US" sz="1400" b="1" dirty="0">
              <a:solidFill>
                <a:srgbClr val="002060"/>
              </a:solidFill>
              <a:latin typeface="Eurobank Sans Light" panose="02000503000000020003" pitchFamily="2" charset="0"/>
              <a:ea typeface="Roboto Light" panose="02000000000000000000" pitchFamily="2" charset="0"/>
              <a:cs typeface="Poppins" panose="000005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2F98C-F3E1-22AA-A5C6-456230705061}"/>
              </a:ext>
            </a:extLst>
          </p:cNvPr>
          <p:cNvSpPr txBox="1"/>
          <p:nvPr/>
        </p:nvSpPr>
        <p:spPr>
          <a:xfrm>
            <a:off x="381000" y="2133600"/>
            <a:ext cx="5715000" cy="408573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200">
                <a:solidFill>
                  <a:srgbClr val="66666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 defTabSz="685800"/>
            <a:r>
              <a:rPr lang="en-US" sz="1800" b="1" dirty="0">
                <a:solidFill>
                  <a:srgbClr val="002060"/>
                </a:solidFill>
                <a:latin typeface="Eurobank Sans Light"/>
                <a:ea typeface="Roboto Light"/>
                <a:cs typeface="Poppins"/>
              </a:rPr>
              <a:t>Consumer Lending  Products /  External Network Sales </a:t>
            </a:r>
            <a:endParaRPr lang="el-GR" sz="1800" b="1" dirty="0">
              <a:solidFill>
                <a:srgbClr val="002060"/>
              </a:solidFill>
              <a:latin typeface="Eurobank Sans Light"/>
              <a:ea typeface="Roboto Light"/>
              <a:cs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33400" y="-92386"/>
            <a:ext cx="8153400" cy="701986"/>
          </a:xfrm>
          <a:prstGeom prst="rect">
            <a:avLst/>
          </a:prstGeom>
        </p:spPr>
        <p:txBody>
          <a:bodyPr vert="horz" wrap="square" lIns="0" tIns="268477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95"/>
              </a:spcBef>
            </a:pPr>
            <a:r>
              <a:rPr lang="en-US" spc="-50" dirty="0">
                <a:solidFill>
                  <a:srgbClr val="002060"/>
                </a:solidFill>
                <a:latin typeface="Eurobank Sans Black" panose="02000503000000020003" pitchFamily="2" charset="0"/>
              </a:rPr>
              <a:t>WHAT  is the scenery: The Greek Auto Market</a:t>
            </a:r>
            <a:endParaRPr spc="-20" dirty="0">
              <a:solidFill>
                <a:srgbClr val="002060"/>
              </a:solidFill>
              <a:latin typeface="Eurobank Sans Black" panose="02000503000000020003" pitchFamily="2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9761" y="5473955"/>
            <a:ext cx="322580" cy="229235"/>
            <a:chOff x="5269738" y="4841494"/>
            <a:chExt cx="322580" cy="229235"/>
          </a:xfrm>
        </p:grpSpPr>
        <p:sp>
          <p:nvSpPr>
            <p:cNvPr id="10" name="object 10"/>
            <p:cNvSpPr/>
            <p:nvPr/>
          </p:nvSpPr>
          <p:spPr>
            <a:xfrm>
              <a:off x="5276088" y="4847844"/>
              <a:ext cx="309880" cy="216535"/>
            </a:xfrm>
            <a:custGeom>
              <a:avLst/>
              <a:gdLst/>
              <a:ahLst/>
              <a:cxnLst/>
              <a:rect l="l" t="t" r="r" b="b"/>
              <a:pathLst>
                <a:path w="309879" h="216535">
                  <a:moveTo>
                    <a:pt x="309372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309372" y="216407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276088" y="4847844"/>
              <a:ext cx="309880" cy="216535"/>
            </a:xfrm>
            <a:custGeom>
              <a:avLst/>
              <a:gdLst/>
              <a:ahLst/>
              <a:cxnLst/>
              <a:rect l="l" t="t" r="r" b="b"/>
              <a:pathLst>
                <a:path w="309879" h="216535">
                  <a:moveTo>
                    <a:pt x="0" y="216407"/>
                  </a:moveTo>
                  <a:lnTo>
                    <a:pt x="309372" y="216407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21640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3F95194-E581-B957-4485-8A0D264AF8EA}"/>
              </a:ext>
            </a:extLst>
          </p:cNvPr>
          <p:cNvGrpSpPr/>
          <p:nvPr/>
        </p:nvGrpSpPr>
        <p:grpSpPr>
          <a:xfrm>
            <a:off x="6536011" y="4564436"/>
            <a:ext cx="5856270" cy="1683964"/>
            <a:chOff x="6536011" y="4564436"/>
            <a:chExt cx="5856270" cy="1683964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FB22FEED-3440-C700-94D4-734426E54FAF}"/>
                </a:ext>
              </a:extLst>
            </p:cNvPr>
            <p:cNvSpPr txBox="1"/>
            <p:nvPr/>
          </p:nvSpPr>
          <p:spPr>
            <a:xfrm>
              <a:off x="6541553" y="4564436"/>
              <a:ext cx="5390151" cy="321883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0" cap="none" spc="-114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Eurobank Sans" panose="02000503000000020004" pitchFamily="2" charset="0"/>
                  <a:cs typeface="Arial"/>
                </a:rPr>
                <a:t>1.  The mix is changing in favor of Fleet Market</a:t>
              </a:r>
              <a:endParaRPr kumimoji="0" sz="2000" b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urobank Sans" panose="02000503000000020004" pitchFamily="2" charset="0"/>
                <a:cs typeface="Arial"/>
              </a:endParaRPr>
            </a:p>
          </p:txBody>
        </p:sp>
        <p:sp>
          <p:nvSpPr>
            <p:cNvPr id="13" name="object 3">
              <a:extLst>
                <a:ext uri="{FF2B5EF4-FFF2-40B4-BE49-F238E27FC236}">
                  <a16:creationId xmlns:a16="http://schemas.microsoft.com/office/drawing/2014/main" id="{58BB9F6A-E640-9F63-2F94-DFA91DBF7B4C}"/>
                </a:ext>
              </a:extLst>
            </p:cNvPr>
            <p:cNvSpPr txBox="1"/>
            <p:nvPr/>
          </p:nvSpPr>
          <p:spPr>
            <a:xfrm>
              <a:off x="6536011" y="5926517"/>
              <a:ext cx="5856270" cy="321883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kern="0"/>
              </a:defPPr>
              <a:lvl1pPr marL="12700">
                <a:lnSpc>
                  <a:spcPct val="100000"/>
                </a:lnSpc>
                <a:spcBef>
                  <a:spcPts val="110"/>
                </a:spcBef>
                <a:defRPr sz="2000" b="1" i="1" spc="-114">
                  <a:solidFill>
                    <a:srgbClr val="001F5F"/>
                  </a:solidFill>
                  <a:latin typeface="Eurobank Sans" panose="02000503000000020004" pitchFamily="2" charset="0"/>
                  <a:cs typeface="Arial"/>
                </a:defRPr>
              </a:lvl1pPr>
            </a:lstStyle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i="0" u="none" strike="noStrike" kern="0" cap="none" spc="-114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Eurobank Sans" panose="02000503000000020004" pitchFamily="2" charset="0"/>
                  <a:cs typeface="Arial"/>
                </a:rPr>
                <a:t>3. Laggard player in auto Fleet Market</a:t>
              </a:r>
              <a:endParaRPr kumimoji="0" sz="2000" i="0" u="none" strike="noStrike" kern="0" cap="none" spc="-114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Eurobank Sans" panose="02000503000000020004" pitchFamily="2" charset="0"/>
                <a:cs typeface="Arial"/>
              </a:endParaRPr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3ECB7D53-C066-79F5-C735-B8065D4FBE45}"/>
                </a:ext>
              </a:extLst>
            </p:cNvPr>
            <p:cNvSpPr txBox="1"/>
            <p:nvPr/>
          </p:nvSpPr>
          <p:spPr>
            <a:xfrm>
              <a:off x="6536011" y="5197409"/>
              <a:ext cx="5856270" cy="321883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>
              <a:defPPr>
                <a:defRPr kern="0"/>
              </a:defPPr>
              <a:lvl1pPr marL="12700">
                <a:lnSpc>
                  <a:spcPct val="100000"/>
                </a:lnSpc>
                <a:spcBef>
                  <a:spcPts val="110"/>
                </a:spcBef>
                <a:defRPr sz="2000" b="1" i="1" spc="-114">
                  <a:solidFill>
                    <a:srgbClr val="001F5F"/>
                  </a:solidFill>
                  <a:latin typeface="Eurobank Sans" panose="02000503000000020004" pitchFamily="2" charset="0"/>
                  <a:cs typeface="Arial"/>
                </a:defRPr>
              </a:lvl1pPr>
            </a:lstStyle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i="0" u="none" strike="noStrike" kern="0" cap="none" spc="-114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Eurobank Sans" panose="02000503000000020004" pitchFamily="2" charset="0"/>
                  <a:cs typeface="Arial"/>
                </a:rPr>
                <a:t>2.  Dominant player in auto Retail Market </a:t>
              </a:r>
              <a:endParaRPr kumimoji="0" sz="2000" i="0" u="none" strike="noStrike" kern="0" cap="none" spc="-114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Eurobank Sans" panose="02000503000000020004" pitchFamily="2" charset="0"/>
                <a:cs typeface="Arial"/>
              </a:endParaRPr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EF8CCF-48B3-928F-39AD-6C81F65033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l-GR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83ABC5B-B3C2-431F-6BF8-B3AEA393E9A9}"/>
              </a:ext>
            </a:extLst>
          </p:cNvPr>
          <p:cNvGraphicFramePr>
            <a:graphicFrameLocks/>
          </p:cNvGraphicFramePr>
          <p:nvPr/>
        </p:nvGraphicFramePr>
        <p:xfrm>
          <a:off x="339979" y="1688810"/>
          <a:ext cx="4765421" cy="355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631C9C-FB8A-92E7-875E-B693F0F38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163111"/>
              </p:ext>
            </p:extLst>
          </p:nvPr>
        </p:nvGraphicFramePr>
        <p:xfrm>
          <a:off x="6544324" y="1267878"/>
          <a:ext cx="4107997" cy="2638280"/>
        </p:xfrm>
        <a:graphic>
          <a:graphicData uri="http://schemas.openxmlformats.org/drawingml/2006/table">
            <a:tbl>
              <a:tblPr/>
              <a:tblGrid>
                <a:gridCol w="1065777">
                  <a:extLst>
                    <a:ext uri="{9D8B030D-6E8A-4147-A177-3AD203B41FA5}">
                      <a16:colId xmlns:a16="http://schemas.microsoft.com/office/drawing/2014/main" val="3041368181"/>
                    </a:ext>
                  </a:extLst>
                </a:gridCol>
                <a:gridCol w="960701">
                  <a:extLst>
                    <a:ext uri="{9D8B030D-6E8A-4147-A177-3AD203B41FA5}">
                      <a16:colId xmlns:a16="http://schemas.microsoft.com/office/drawing/2014/main" val="2047781110"/>
                    </a:ext>
                  </a:extLst>
                </a:gridCol>
                <a:gridCol w="1120818">
                  <a:extLst>
                    <a:ext uri="{9D8B030D-6E8A-4147-A177-3AD203B41FA5}">
                      <a16:colId xmlns:a16="http://schemas.microsoft.com/office/drawing/2014/main" val="4197201512"/>
                    </a:ext>
                  </a:extLst>
                </a:gridCol>
                <a:gridCol w="960701">
                  <a:extLst>
                    <a:ext uri="{9D8B030D-6E8A-4147-A177-3AD203B41FA5}">
                      <a16:colId xmlns:a16="http://schemas.microsoft.com/office/drawing/2014/main" val="923909312"/>
                    </a:ext>
                  </a:extLst>
                </a:gridCol>
              </a:tblGrid>
              <a:tr h="751238">
                <a:tc>
                  <a:txBody>
                    <a:bodyPr/>
                    <a:lstStyle/>
                    <a:p>
                      <a:pPr algn="l" fontAlgn="t"/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Eurobank Sans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Total ('000 units)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% Retail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%Fleet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634382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l" fontAlgn="ctr"/>
                      <a:r>
                        <a:rPr lang="el-GR" sz="1600" b="1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2018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104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47,00%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53,00%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92263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l" fontAlgn="ctr"/>
                      <a:r>
                        <a:rPr lang="el-GR" sz="1600" b="1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2019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115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48,50%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51,50%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477730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l" fontAlgn="ctr"/>
                      <a:r>
                        <a:rPr lang="el-GR" sz="1600" b="1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2020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57,80%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42,20%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34660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l" fontAlgn="ctr"/>
                      <a:r>
                        <a:rPr lang="el-GR" sz="1600" b="1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2021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50,20%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49,80%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422436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l" fontAlgn="ctr"/>
                      <a:r>
                        <a:rPr lang="el-GR" sz="1600" b="1" i="0" u="none" strike="noStrike">
                          <a:solidFill>
                            <a:srgbClr val="1F3863"/>
                          </a:solidFill>
                          <a:effectLst/>
                          <a:latin typeface="Eurobank Sans" panose="02000503000000020004" pitchFamily="2" charset="0"/>
                        </a:rPr>
                        <a:t>2022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48,00%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52,00%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133258"/>
                  </a:ext>
                </a:extLst>
              </a:tr>
              <a:tr h="256850">
                <a:tc>
                  <a:txBody>
                    <a:bodyPr/>
                    <a:lstStyle/>
                    <a:p>
                      <a:pPr algn="l" fontAlgn="ctr"/>
                      <a:r>
                        <a:rPr lang="el-GR" sz="1600" b="1" i="0" u="none" strike="noStrike">
                          <a:solidFill>
                            <a:srgbClr val="1F3863"/>
                          </a:solidFill>
                          <a:effectLst/>
                          <a:latin typeface="Eurobank Sans" panose="02000503000000020004" pitchFamily="2" charset="0"/>
                        </a:rPr>
                        <a:t>2023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134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42,00%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58,00%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725005"/>
                  </a:ext>
                </a:extLst>
              </a:tr>
              <a:tr h="3459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1F3863"/>
                          </a:solidFill>
                          <a:effectLst/>
                          <a:latin typeface="Eurobank Sans" panose="02000503000000020004" pitchFamily="2" charset="0"/>
                        </a:rPr>
                        <a:t>Ytd 2024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108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</a:t>
                      </a:r>
                      <a:r>
                        <a:rPr lang="en-US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4,0</a:t>
                      </a:r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56,</a:t>
                      </a:r>
                      <a:r>
                        <a:rPr lang="en-US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0</a:t>
                      </a:r>
                      <a:r>
                        <a:rPr lang="el-GR" sz="1600" b="0" i="0" u="none" strike="noStrike" dirty="0">
                          <a:solidFill>
                            <a:srgbClr val="001F5F"/>
                          </a:solidFill>
                          <a:effectLst/>
                          <a:latin typeface="Eurobank Sans" panose="02000503000000020004" pitchFamily="2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202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63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DB65F-F36B-4D0E-5B6E-1ACD750BE0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l-GR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B69FF-8A62-E2B8-DA1F-02D3D6D90533}"/>
              </a:ext>
            </a:extLst>
          </p:cNvPr>
          <p:cNvSpPr txBox="1"/>
          <p:nvPr/>
        </p:nvSpPr>
        <p:spPr>
          <a:xfrm>
            <a:off x="126608" y="137160"/>
            <a:ext cx="4750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-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 Black" panose="02000503000000020003" pitchFamily="2" charset="0"/>
                <a:ea typeface="+mj-ea"/>
              </a:rPr>
              <a:t>Greek Auto Market Mapping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BAE14E-6A7C-6C5D-54CA-11E0307481EF}"/>
              </a:ext>
            </a:extLst>
          </p:cNvPr>
          <p:cNvSpPr/>
          <p:nvPr/>
        </p:nvSpPr>
        <p:spPr>
          <a:xfrm>
            <a:off x="0" y="5791200"/>
            <a:ext cx="6934200" cy="929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4D8FA-50D5-31F2-3C69-20444EF6B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1219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2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7730F4F-07B0-62F4-36E6-C55C34C75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736517"/>
              </p:ext>
            </p:extLst>
          </p:nvPr>
        </p:nvGraphicFramePr>
        <p:xfrm>
          <a:off x="0" y="921140"/>
          <a:ext cx="12192000" cy="580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825">
                  <a:extLst>
                    <a:ext uri="{9D8B030D-6E8A-4147-A177-3AD203B41FA5}">
                      <a16:colId xmlns:a16="http://schemas.microsoft.com/office/drawing/2014/main" val="3617856470"/>
                    </a:ext>
                  </a:extLst>
                </a:gridCol>
                <a:gridCol w="1252973">
                  <a:extLst>
                    <a:ext uri="{9D8B030D-6E8A-4147-A177-3AD203B41FA5}">
                      <a16:colId xmlns:a16="http://schemas.microsoft.com/office/drawing/2014/main" val="1797186203"/>
                    </a:ext>
                  </a:extLst>
                </a:gridCol>
                <a:gridCol w="1363533">
                  <a:extLst>
                    <a:ext uri="{9D8B030D-6E8A-4147-A177-3AD203B41FA5}">
                      <a16:colId xmlns:a16="http://schemas.microsoft.com/office/drawing/2014/main" val="3535392690"/>
                    </a:ext>
                  </a:extLst>
                </a:gridCol>
                <a:gridCol w="1271401">
                  <a:extLst>
                    <a:ext uri="{9D8B030D-6E8A-4147-A177-3AD203B41FA5}">
                      <a16:colId xmlns:a16="http://schemas.microsoft.com/office/drawing/2014/main" val="628192422"/>
                    </a:ext>
                  </a:extLst>
                </a:gridCol>
                <a:gridCol w="1230536">
                  <a:extLst>
                    <a:ext uri="{9D8B030D-6E8A-4147-A177-3AD203B41FA5}">
                      <a16:colId xmlns:a16="http://schemas.microsoft.com/office/drawing/2014/main" val="4036582205"/>
                    </a:ext>
                  </a:extLst>
                </a:gridCol>
                <a:gridCol w="1496524">
                  <a:extLst>
                    <a:ext uri="{9D8B030D-6E8A-4147-A177-3AD203B41FA5}">
                      <a16:colId xmlns:a16="http://schemas.microsoft.com/office/drawing/2014/main" val="2495170644"/>
                    </a:ext>
                  </a:extLst>
                </a:gridCol>
                <a:gridCol w="1308253">
                  <a:extLst>
                    <a:ext uri="{9D8B030D-6E8A-4147-A177-3AD203B41FA5}">
                      <a16:colId xmlns:a16="http://schemas.microsoft.com/office/drawing/2014/main" val="825660357"/>
                    </a:ext>
                  </a:extLst>
                </a:gridCol>
                <a:gridCol w="1206909">
                  <a:extLst>
                    <a:ext uri="{9D8B030D-6E8A-4147-A177-3AD203B41FA5}">
                      <a16:colId xmlns:a16="http://schemas.microsoft.com/office/drawing/2014/main" val="2623705561"/>
                    </a:ext>
                  </a:extLst>
                </a:gridCol>
                <a:gridCol w="1299046">
                  <a:extLst>
                    <a:ext uri="{9D8B030D-6E8A-4147-A177-3AD203B41FA5}">
                      <a16:colId xmlns:a16="http://schemas.microsoft.com/office/drawing/2014/main" val="547503005"/>
                    </a:ext>
                  </a:extLst>
                </a:gridCol>
              </a:tblGrid>
              <a:tr h="453673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873404"/>
                  </a:ext>
                </a:extLst>
              </a:tr>
              <a:tr h="305708">
                <a:tc gridSpan="9">
                  <a:txBody>
                    <a:bodyPr/>
                    <a:lstStyle/>
                    <a:p>
                      <a:pPr marL="16510" algn="ctr">
                        <a:spcBef>
                          <a:spcPts val="133"/>
                        </a:spcBef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Eurobank Sans"/>
                          <a:cs typeface="Microsoft Sans Serif"/>
                        </a:rPr>
                        <a:t>IB </a:t>
                      </a:r>
                      <a:r>
                        <a:rPr lang="en-US" sz="105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Eurobank Sans"/>
                          <a:cs typeface="Microsoft Sans Serif"/>
                        </a:rPr>
                        <a:t>FINANCING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784267"/>
                  </a:ext>
                </a:extLst>
              </a:tr>
              <a:tr h="512616">
                <a:tc>
                  <a:txBody>
                    <a:bodyPr/>
                    <a:lstStyle/>
                    <a:p>
                      <a:pPr marL="16510" algn="l">
                        <a:spcBef>
                          <a:spcPts val="133"/>
                        </a:spcBef>
                      </a:pPr>
                      <a:r>
                        <a:rPr lang="en-US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RETAIL AUTO LOANS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59510"/>
                  </a:ext>
                </a:extLst>
              </a:tr>
              <a:tr h="732666">
                <a:tc>
                  <a:txBody>
                    <a:bodyPr/>
                    <a:lstStyle/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E2E DIGITAL AUTO LOAN</a:t>
                      </a:r>
                    </a:p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spc="7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Used car marketplace with digital CJ</a:t>
                      </a:r>
                    </a:p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spc="7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embedded finance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sz="800" kern="1200" spc="-13" dirty="0">
                        <a:solidFill>
                          <a:srgbClr val="001F5F"/>
                        </a:solidFill>
                        <a:latin typeface="Eurobank Sans" panose="02000503000000020004" pitchFamily="2" charset="0"/>
                        <a:ea typeface="+mn-ea"/>
                        <a:cs typeface="Microsoft Sans Serif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548808"/>
                  </a:ext>
                </a:extLst>
              </a:tr>
              <a:tr h="2813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RETAIL OPERATING LEASING</a:t>
                      </a:r>
                    </a:p>
                    <a:p>
                      <a:pPr algn="l"/>
                      <a:r>
                        <a:rPr lang="en-US" sz="800" kern="1200" spc="7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​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28437"/>
                  </a:ext>
                </a:extLst>
              </a:tr>
              <a:tr h="270184">
                <a:tc gridSpan="9">
                  <a:txBody>
                    <a:bodyPr/>
                    <a:lstStyle/>
                    <a:p>
                      <a:pPr marL="16510" algn="ctr">
                        <a:spcBef>
                          <a:spcPts val="133"/>
                        </a:spcBef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Eurobank Sans"/>
                          <a:cs typeface="Microsoft Sans Serif"/>
                        </a:rPr>
                        <a:t>SB &amp; DEALER  FINANCING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502965"/>
                  </a:ext>
                </a:extLst>
              </a:tr>
              <a:tr h="746775">
                <a:tc>
                  <a:txBody>
                    <a:bodyPr/>
                    <a:lstStyle/>
                    <a:p>
                      <a:pPr algn="ctr"/>
                      <a:r>
                        <a:rPr lang="fr-FR" sz="1050" b="1" u="sng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SB FINANCING:</a:t>
                      </a:r>
                    </a:p>
                    <a:p>
                      <a:pPr algn="l"/>
                      <a:r>
                        <a:rPr lang="fr-FR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FLEET AUTO LOANS </a:t>
                      </a:r>
                    </a:p>
                    <a:p>
                      <a:pPr algn="l"/>
                      <a:r>
                        <a:rPr lang="fr-FR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( RaC &amp; Commercial </a:t>
                      </a:r>
                      <a:r>
                        <a:rPr lang="fr-FR" sz="1050" b="1" kern="1200" spc="-20" dirty="0" err="1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vehicles</a:t>
                      </a:r>
                      <a:r>
                        <a:rPr lang="fr-FR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078864"/>
                  </a:ext>
                </a:extLst>
              </a:tr>
              <a:tr h="437999">
                <a:tc>
                  <a:txBody>
                    <a:bodyPr/>
                    <a:lstStyle/>
                    <a:p>
                      <a:pPr marL="1651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u="sng" kern="1200" spc="-20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DEALER FINANCING:</a:t>
                      </a:r>
                    </a:p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- STOCK FINANCE </a:t>
                      </a:r>
                    </a:p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- FLOOR PLAN  FACILITY</a:t>
                      </a:r>
                    </a:p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spc="7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New </a:t>
                      </a:r>
                      <a:r>
                        <a:rPr lang="en-US" sz="1050" kern="1200" spc="7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&amp; Used Cars</a:t>
                      </a:r>
                      <a:endParaRPr lang="en-US" sz="1050" kern="1200" spc="7" noProof="0" dirty="0">
                        <a:solidFill>
                          <a:srgbClr val="001F5F"/>
                        </a:solidFill>
                        <a:latin typeface="Eurobank Sans"/>
                        <a:ea typeface="+mn-ea"/>
                        <a:cs typeface="Microsoft Sans Serif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751654"/>
                  </a:ext>
                </a:extLst>
              </a:tr>
              <a:tr h="7201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FLEXIBLE RENTAL PROGRAMS (Maas)</a:t>
                      </a:r>
                      <a:r>
                        <a:rPr lang="el-GR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 </a:t>
                      </a:r>
                      <a:r>
                        <a:rPr lang="en-US" sz="1050" b="1" kern="1200" spc="-2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Through dealers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87598"/>
                  </a:ext>
                </a:extLst>
              </a:tr>
              <a:tr h="732666">
                <a:tc>
                  <a:txBody>
                    <a:bodyPr/>
                    <a:lstStyle/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RETAIL OPERATING LEASING</a:t>
                      </a:r>
                    </a:p>
                    <a:p>
                      <a:pPr marL="1651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spc="-20" noProof="0" dirty="0">
                          <a:solidFill>
                            <a:srgbClr val="001F5F"/>
                          </a:solidFill>
                          <a:latin typeface="Eurobank Sans"/>
                          <a:ea typeface="+mn-ea"/>
                          <a:cs typeface="Microsoft Sans Serif"/>
                        </a:rPr>
                        <a:t> Through dealers</a:t>
                      </a:r>
                      <a:endParaRPr lang="en-US" sz="1050" kern="1200" spc="7" dirty="0">
                        <a:solidFill>
                          <a:srgbClr val="001F5F"/>
                        </a:solidFill>
                        <a:latin typeface="Eurobank Sans"/>
                        <a:ea typeface="+mn-ea"/>
                        <a:cs typeface="Microsoft Sans Serif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85339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8AB51EFB-40DB-27BE-B67D-D631B03D18EC}"/>
              </a:ext>
            </a:extLst>
          </p:cNvPr>
          <p:cNvGrpSpPr/>
          <p:nvPr/>
        </p:nvGrpSpPr>
        <p:grpSpPr>
          <a:xfrm>
            <a:off x="1744887" y="796617"/>
            <a:ext cx="10465283" cy="612552"/>
            <a:chOff x="1858813" y="1038685"/>
            <a:chExt cx="10465283" cy="541540"/>
          </a:xfrm>
        </p:grpSpPr>
        <p:pic>
          <p:nvPicPr>
            <p:cNvPr id="15" name="Picture 14" descr="A blue and white logo&#10;&#10;Description automatically generated with low confidence">
              <a:extLst>
                <a:ext uri="{FF2B5EF4-FFF2-40B4-BE49-F238E27FC236}">
                  <a16:creationId xmlns:a16="http://schemas.microsoft.com/office/drawing/2014/main" id="{DE2F7207-8C28-22F5-6726-90A870E12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6504" y="1038688"/>
              <a:ext cx="1340111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7" name="Picture 16" descr="A close-up of a logo&#10;&#10;Description automatically generated with medium confidence">
              <a:extLst>
                <a:ext uri="{FF2B5EF4-FFF2-40B4-BE49-F238E27FC236}">
                  <a16:creationId xmlns:a16="http://schemas.microsoft.com/office/drawing/2014/main" id="{3C068F9D-107E-A83B-5CBC-28E93687C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4785" y="1038686"/>
              <a:ext cx="1449645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501BF73-7C6E-4F3F-B324-57D59ACBA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69755" y="1038685"/>
              <a:ext cx="1396059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3" name="Picture 22" descr="A blue background with white text&#10;&#10;Description automatically generated with low confidence">
              <a:extLst>
                <a:ext uri="{FF2B5EF4-FFF2-40B4-BE49-F238E27FC236}">
                  <a16:creationId xmlns:a16="http://schemas.microsoft.com/office/drawing/2014/main" id="{09F497BE-066C-DB24-CE7D-AD7A5A27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92040" y="1038685"/>
              <a:ext cx="1332056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5" name="Picture 24" descr="A picture containing text, font, logo, design&#10;&#10;Description automatically generated">
              <a:extLst>
                <a:ext uri="{FF2B5EF4-FFF2-40B4-BE49-F238E27FC236}">
                  <a16:creationId xmlns:a16="http://schemas.microsoft.com/office/drawing/2014/main" id="{E32647DA-90D3-3D68-6448-8A65924DD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58813" y="1038685"/>
              <a:ext cx="1306441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7" name="Picture 26" descr="A yellow and blue logo&#10;&#10;Description automatically generated with low confidence">
              <a:extLst>
                <a:ext uri="{FF2B5EF4-FFF2-40B4-BE49-F238E27FC236}">
                  <a16:creationId xmlns:a16="http://schemas.microsoft.com/office/drawing/2014/main" id="{C59C4EBA-2362-092E-0135-8E194C9C3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73394" y="1038685"/>
              <a:ext cx="1281346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9" name="Picture 28" descr="A blue background with white text&#10;&#10;Description automatically generated with low confidence">
              <a:extLst>
                <a:ext uri="{FF2B5EF4-FFF2-40B4-BE49-F238E27FC236}">
                  <a16:creationId xmlns:a16="http://schemas.microsoft.com/office/drawing/2014/main" id="{A11A563D-63F2-5AE6-9EFD-8FD18DB1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880" y="1038685"/>
              <a:ext cx="1225484" cy="5415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pic>
        <p:nvPicPr>
          <p:cNvPr id="38" name="Picture 37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F90EBC25-D456-94A2-0968-3B1830A66CA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2328198" y="1804639"/>
            <a:ext cx="341237" cy="311519"/>
          </a:xfrm>
          <a:prstGeom prst="flowChartConnector">
            <a:avLst/>
          </a:prstGeom>
        </p:spPr>
      </p:pic>
      <p:pic>
        <p:nvPicPr>
          <p:cNvPr id="39" name="Picture 38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69AF7D4B-D4D7-B06E-9252-AADD8AD1ACD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3540894" y="1804639"/>
            <a:ext cx="341237" cy="311519"/>
          </a:xfrm>
          <a:prstGeom prst="flowChartConnector">
            <a:avLst/>
          </a:prstGeom>
        </p:spPr>
      </p:pic>
      <p:pic>
        <p:nvPicPr>
          <p:cNvPr id="40" name="Picture 39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12F6AA50-CEA2-24D3-6628-CCE36B62471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4790993" y="1804639"/>
            <a:ext cx="341237" cy="311519"/>
          </a:xfrm>
          <a:prstGeom prst="flowChartConnector">
            <a:avLst/>
          </a:prstGeom>
        </p:spPr>
      </p:pic>
      <p:pic>
        <p:nvPicPr>
          <p:cNvPr id="43" name="Picture 42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2FB0A5D8-239C-3AD0-0B3C-86B310BD39C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6117683" y="1804639"/>
            <a:ext cx="341237" cy="311519"/>
          </a:xfrm>
          <a:prstGeom prst="flowChartConnector">
            <a:avLst/>
          </a:prstGeom>
        </p:spPr>
      </p:pic>
      <p:pic>
        <p:nvPicPr>
          <p:cNvPr id="44" name="Picture 43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86984103-35A4-75F2-9210-26446072313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7463030" y="1804639"/>
            <a:ext cx="341237" cy="311519"/>
          </a:xfrm>
          <a:prstGeom prst="flowChartConnector">
            <a:avLst/>
          </a:prstGeom>
        </p:spPr>
      </p:pic>
      <p:pic>
        <p:nvPicPr>
          <p:cNvPr id="45" name="Picture 44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B05F709B-F11C-06EB-2D71-84BEB2179D0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8787495" y="1804639"/>
            <a:ext cx="341237" cy="311519"/>
          </a:xfrm>
          <a:prstGeom prst="flowChartConnector">
            <a:avLst/>
          </a:prstGeom>
        </p:spPr>
      </p:pic>
      <p:pic>
        <p:nvPicPr>
          <p:cNvPr id="46" name="Picture 45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9620D5BF-BDFB-F6B2-D388-42BFEAFD8D9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10014683" y="1804639"/>
            <a:ext cx="341237" cy="311519"/>
          </a:xfrm>
          <a:prstGeom prst="flowChartConnector">
            <a:avLst/>
          </a:prstGeom>
        </p:spPr>
      </p:pic>
      <p:pic>
        <p:nvPicPr>
          <p:cNvPr id="47" name="Picture 46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418426CB-0004-83BF-94A4-EB2980FE099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11371306" y="1804639"/>
            <a:ext cx="341237" cy="311519"/>
          </a:xfrm>
          <a:prstGeom prst="flowChartConnector">
            <a:avLst/>
          </a:prstGeom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2CEABF1-96C2-ADEC-C07C-52F7D76EC795}"/>
              </a:ext>
            </a:extLst>
          </p:cNvPr>
          <p:cNvSpPr/>
          <p:nvPr/>
        </p:nvSpPr>
        <p:spPr>
          <a:xfrm>
            <a:off x="11022312" y="1759037"/>
            <a:ext cx="970258" cy="4924685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>
              <a:ln w="7620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527209DF-FAB1-CDDD-F8E2-7E6D6FD68F06}"/>
              </a:ext>
            </a:extLst>
          </p:cNvPr>
          <p:cNvSpPr/>
          <p:nvPr/>
        </p:nvSpPr>
        <p:spPr>
          <a:xfrm>
            <a:off x="1981200" y="1776062"/>
            <a:ext cx="3276600" cy="4914133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>
              <a:ln w="7620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41" name="Picture 1040">
            <a:extLst>
              <a:ext uri="{FF2B5EF4-FFF2-40B4-BE49-F238E27FC236}">
                <a16:creationId xmlns:a16="http://schemas.microsoft.com/office/drawing/2014/main" id="{9F97028C-9534-4AAC-7C21-AF3C7E95FA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8198" y="4675224"/>
            <a:ext cx="341406" cy="341406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202827FC-9C0D-088D-966A-30BE5A118442}"/>
              </a:ext>
            </a:extLst>
          </p:cNvPr>
          <p:cNvSpPr txBox="1">
            <a:spLocks/>
          </p:cNvSpPr>
          <p:nvPr/>
        </p:nvSpPr>
        <p:spPr>
          <a:xfrm>
            <a:off x="-527263" y="-127887"/>
            <a:ext cx="9359443" cy="744357"/>
          </a:xfrm>
          <a:prstGeom prst="rect">
            <a:avLst/>
          </a:prstGeom>
        </p:spPr>
        <p:txBody>
          <a:bodyPr vert="horz" wrap="square" lIns="0" tIns="310438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7875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 Black"/>
                <a:ea typeface="+mj-ea"/>
                <a:cs typeface="Calibri"/>
              </a:rPr>
              <a:t>Auto Finance Market Perspective in Greece </a:t>
            </a:r>
            <a:endParaRPr kumimoji="0" lang="en-US" sz="2800" b="0" i="0" u="none" strike="noStrike" kern="0" cap="none" spc="-1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 Black" panose="02000503000000020003" pitchFamily="2" charset="0"/>
              <a:ea typeface="+mj-ea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25EA4-FD9F-BA61-2F67-23D7685D6C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0993" y="4675224"/>
            <a:ext cx="341406" cy="3414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82AB07-D48D-D9F2-125C-647C72FFF7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1137" y="2409384"/>
            <a:ext cx="341406" cy="341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D44EB3-1C05-E4C6-2D13-9FB29E5919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8198" y="3011101"/>
            <a:ext cx="341406" cy="3414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5ECCF1-4156-03D6-12FD-4B8DABA99D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894" y="3897874"/>
            <a:ext cx="341406" cy="341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430C0F-2183-491E-7F02-C02CDAE72A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0347" y="774957"/>
            <a:ext cx="1281346" cy="636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7FB105-A3AB-7913-5932-081FAEC068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7683" y="2409384"/>
            <a:ext cx="341406" cy="3414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703C8B-074E-E1AF-CC81-1ED4721A46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9459" y="2409384"/>
            <a:ext cx="341406" cy="3414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421664-9D50-71E3-D524-A9207A9E5F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2592" y="2409384"/>
            <a:ext cx="341406" cy="3414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E66761-AF9C-DFC3-430E-93015F3135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4683" y="2409384"/>
            <a:ext cx="341406" cy="3414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6E745B8-5CBD-3EF8-F888-791469313B2D}"/>
              </a:ext>
            </a:extLst>
          </p:cNvPr>
          <p:cNvSpPr txBox="1"/>
          <p:nvPr/>
        </p:nvSpPr>
        <p:spPr>
          <a:xfrm>
            <a:off x="7094275" y="2725579"/>
            <a:ext cx="2687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urobank Sans" panose="02000503000000020004" pitchFamily="2" charset="0"/>
              </a:rPr>
              <a:t>Limi</a:t>
            </a:r>
            <a:r>
              <a:rPr kumimoji="0" lang="el-GR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urobank Sans" panose="02000503000000020004" pitchFamily="2" charset="0"/>
              </a:rPr>
              <a:t>τ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Eurobank Sans" panose="02000503000000020004" pitchFamily="2" charset="0"/>
              </a:rPr>
              <a:t>ed/specific digitized aspects</a:t>
            </a:r>
            <a:endParaRPr kumimoji="0" lang="el-G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urobank Sans" panose="02000503000000020004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51DF9DF-FDE4-9647-060D-C36B823C1A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1137" y="6161513"/>
            <a:ext cx="341406" cy="3414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5AA7932-7587-8496-E42E-6ACEA01074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0993" y="3897874"/>
            <a:ext cx="341406" cy="341406"/>
          </a:xfrm>
          <a:prstGeom prst="rect">
            <a:avLst/>
          </a:prstGeom>
        </p:spPr>
      </p:pic>
      <p:pic>
        <p:nvPicPr>
          <p:cNvPr id="35" name="Picture 34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95AC1227-0FF9-DB52-0E70-B26A9BE4240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2328198" y="3912818"/>
            <a:ext cx="341237" cy="311519"/>
          </a:xfrm>
          <a:prstGeom prst="flowChartConnector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6789996-D699-B507-DEB9-AD6669B7B8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894" y="4675224"/>
            <a:ext cx="341406" cy="34140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DCF3C70-36BA-0041-9F62-0EBC2E79EA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1137" y="5418932"/>
            <a:ext cx="341406" cy="341406"/>
          </a:xfrm>
          <a:prstGeom prst="rect">
            <a:avLst/>
          </a:prstGeom>
        </p:spPr>
      </p:pic>
      <p:pic>
        <p:nvPicPr>
          <p:cNvPr id="56" name="Picture 55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995B9FC9-E567-A41D-AF66-3646BF5B49B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6117683" y="5433876"/>
            <a:ext cx="341237" cy="311519"/>
          </a:xfrm>
          <a:prstGeom prst="flowChartConnector">
            <a:avLst/>
          </a:prstGeom>
        </p:spPr>
      </p:pic>
      <p:pic>
        <p:nvPicPr>
          <p:cNvPr id="57" name="Picture 56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0D273384-D740-D34A-9E55-84B239E9E6D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7463030" y="5433876"/>
            <a:ext cx="341237" cy="311519"/>
          </a:xfrm>
          <a:prstGeom prst="flowChartConnector">
            <a:avLst/>
          </a:prstGeom>
        </p:spPr>
      </p:pic>
      <p:pic>
        <p:nvPicPr>
          <p:cNvPr id="58" name="Picture 57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6002CE94-0906-AE1E-698F-B0F1326BB97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8787495" y="5433876"/>
            <a:ext cx="341237" cy="311519"/>
          </a:xfrm>
          <a:prstGeom prst="flowChartConnector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5B0084F-052D-98CB-44CD-58519EB12B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4683" y="5412995"/>
            <a:ext cx="353280" cy="353280"/>
          </a:xfrm>
          <a:prstGeom prst="rect">
            <a:avLst/>
          </a:prstGeom>
        </p:spPr>
      </p:pic>
      <p:pic>
        <p:nvPicPr>
          <p:cNvPr id="12" name="Picture 11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CF1AE5ED-D2EA-98BC-366A-48C239EFB0A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6117683" y="6176457"/>
            <a:ext cx="341237" cy="311519"/>
          </a:xfrm>
          <a:prstGeom prst="flowChartConnector">
            <a:avLst/>
          </a:prstGeom>
        </p:spPr>
      </p:pic>
      <p:pic>
        <p:nvPicPr>
          <p:cNvPr id="16" name="Picture 15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042294F1-9EBA-03C1-A1EE-C062BED24C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7463030" y="6176457"/>
            <a:ext cx="341237" cy="311519"/>
          </a:xfrm>
          <a:prstGeom prst="flowChartConnector">
            <a:avLst/>
          </a:prstGeom>
        </p:spPr>
      </p:pic>
      <p:pic>
        <p:nvPicPr>
          <p:cNvPr id="18" name="Picture 17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31E00FA3-5169-1EBE-6461-95B54200999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8787495" y="6176457"/>
            <a:ext cx="341237" cy="311519"/>
          </a:xfrm>
          <a:prstGeom prst="flowChartConnector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B61E58-0F67-9BB9-47F6-096387D2B3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4683" y="6155576"/>
            <a:ext cx="353280" cy="353280"/>
          </a:xfrm>
          <a:prstGeom prst="rect">
            <a:avLst/>
          </a:prstGeom>
        </p:spPr>
      </p:pic>
      <p:pic>
        <p:nvPicPr>
          <p:cNvPr id="28" name="Picture 27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25B4F9A9-13C6-9EB0-F8ED-384543AD0B7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6117683" y="3026045"/>
            <a:ext cx="341237" cy="311519"/>
          </a:xfrm>
          <a:prstGeom prst="flowChartConnector">
            <a:avLst/>
          </a:prstGeom>
        </p:spPr>
      </p:pic>
      <p:pic>
        <p:nvPicPr>
          <p:cNvPr id="32" name="Picture 31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D9096BCD-A4E8-1502-58C9-B2652E80854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7463030" y="3026045"/>
            <a:ext cx="341237" cy="311519"/>
          </a:xfrm>
          <a:prstGeom prst="flowChartConnector">
            <a:avLst/>
          </a:prstGeom>
        </p:spPr>
      </p:pic>
      <p:pic>
        <p:nvPicPr>
          <p:cNvPr id="34" name="Picture 33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1AC99847-8F0C-A5A6-8970-EF31427AB29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8787495" y="3026045"/>
            <a:ext cx="341237" cy="311519"/>
          </a:xfrm>
          <a:prstGeom prst="flowChartConnector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CB2DD25-EE20-3EEB-8937-D17FF49590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4683" y="3011101"/>
            <a:ext cx="341406" cy="341406"/>
          </a:xfrm>
          <a:prstGeom prst="rect">
            <a:avLst/>
          </a:prstGeom>
        </p:spPr>
      </p:pic>
      <p:pic>
        <p:nvPicPr>
          <p:cNvPr id="41" name="Picture 40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B5BF453A-7149-6106-ABF0-2BABFAE799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6117683" y="4690168"/>
            <a:ext cx="341237" cy="311519"/>
          </a:xfrm>
          <a:prstGeom prst="flowChartConnector">
            <a:avLst/>
          </a:prstGeom>
        </p:spPr>
      </p:pic>
      <p:pic>
        <p:nvPicPr>
          <p:cNvPr id="42" name="Picture 41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7871881B-A7D8-625E-4CBE-56951352BE4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7463030" y="4690168"/>
            <a:ext cx="341237" cy="311519"/>
          </a:xfrm>
          <a:prstGeom prst="flowChartConnector">
            <a:avLst/>
          </a:prstGeom>
        </p:spPr>
      </p:pic>
      <p:pic>
        <p:nvPicPr>
          <p:cNvPr id="48" name="Picture 47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47BC502A-109A-3AD1-A625-4B91C3A0DE7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8787495" y="4690168"/>
            <a:ext cx="341237" cy="311519"/>
          </a:xfrm>
          <a:prstGeom prst="flowChartConnector">
            <a:avLst/>
          </a:prstGeom>
        </p:spPr>
      </p:pic>
      <p:pic>
        <p:nvPicPr>
          <p:cNvPr id="49" name="Picture 48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34E759AF-3A5D-A8D7-6CFE-50E51E0D223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10014683" y="4690168"/>
            <a:ext cx="341237" cy="311519"/>
          </a:xfrm>
          <a:prstGeom prst="flowChartConnector">
            <a:avLst/>
          </a:prstGeom>
        </p:spPr>
      </p:pic>
      <p:pic>
        <p:nvPicPr>
          <p:cNvPr id="50" name="Picture 49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44BED678-B774-B0B8-8B17-3ED0E1F4D15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6117683" y="3912818"/>
            <a:ext cx="341237" cy="311519"/>
          </a:xfrm>
          <a:prstGeom prst="flowChartConnector">
            <a:avLst/>
          </a:prstGeom>
        </p:spPr>
      </p:pic>
      <p:pic>
        <p:nvPicPr>
          <p:cNvPr id="51" name="Picture 50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5ECC209C-D44C-335C-0C50-D560076BD94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7463030" y="3912818"/>
            <a:ext cx="341237" cy="311519"/>
          </a:xfrm>
          <a:prstGeom prst="flowChartConnector">
            <a:avLst/>
          </a:prstGeom>
        </p:spPr>
      </p:pic>
      <p:pic>
        <p:nvPicPr>
          <p:cNvPr id="52" name="Picture 51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5AE2886B-0EBA-1D61-54D1-015617AE54D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8787495" y="3912818"/>
            <a:ext cx="341237" cy="311519"/>
          </a:xfrm>
          <a:prstGeom prst="flowChartConnector">
            <a:avLst/>
          </a:prstGeom>
        </p:spPr>
      </p:pic>
      <p:pic>
        <p:nvPicPr>
          <p:cNvPr id="54" name="Picture 53" descr="A green circle with a white check mark&#10;&#10;Description automatically generated with medium confidence">
            <a:extLst>
              <a:ext uri="{FF2B5EF4-FFF2-40B4-BE49-F238E27FC236}">
                <a16:creationId xmlns:a16="http://schemas.microsoft.com/office/drawing/2014/main" id="{D86F9BA6-C389-EBAF-D812-065CBD2F816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972" t="8907" r="6352" b="4932"/>
          <a:stretch/>
        </p:blipFill>
        <p:spPr>
          <a:xfrm>
            <a:off x="10014683" y="3912818"/>
            <a:ext cx="341237" cy="311519"/>
          </a:xfrm>
          <a:prstGeom prst="flowChartConnector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D27492E-E56E-A995-B471-2BBDE23DC7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8029" y="2409384"/>
            <a:ext cx="341406" cy="34140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BD6B0CF-38AB-993E-800D-6A94FB50B7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894" y="2409384"/>
            <a:ext cx="341406" cy="34140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8556CD7-EEE5-93C1-0856-66B098EFC5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0993" y="2409384"/>
            <a:ext cx="341406" cy="34140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DC0199D-1C94-A6CA-FAE1-83EC8953F8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894" y="3011101"/>
            <a:ext cx="341406" cy="341406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D1D34892-DF1F-18EA-60B6-1A7B6DEBE9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0993" y="3011101"/>
            <a:ext cx="341406" cy="341406"/>
          </a:xfrm>
          <a:prstGeom prst="rect">
            <a:avLst/>
          </a:prstGeom>
        </p:spPr>
      </p:pic>
      <p:pic>
        <p:nvPicPr>
          <p:cNvPr id="1026" name="Picture 1025">
            <a:extLst>
              <a:ext uri="{FF2B5EF4-FFF2-40B4-BE49-F238E27FC236}">
                <a16:creationId xmlns:a16="http://schemas.microsoft.com/office/drawing/2014/main" id="{C45AABD4-90CB-E8A8-ACAD-9A2E957889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6212" y="5418932"/>
            <a:ext cx="341406" cy="341406"/>
          </a:xfrm>
          <a:prstGeom prst="rect">
            <a:avLst/>
          </a:prstGeom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B3A2B2F9-7D6C-EBAA-727A-53CE93F9C7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894" y="5418932"/>
            <a:ext cx="341406" cy="341406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0BF832A3-E111-55D6-1BDF-B946568C91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0993" y="5418932"/>
            <a:ext cx="341406" cy="341406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03FBDEC4-C362-C0F8-5221-3D2B3BD38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6212" y="6161513"/>
            <a:ext cx="341406" cy="341406"/>
          </a:xfrm>
          <a:prstGeom prst="rect">
            <a:avLst/>
          </a:prstGeom>
        </p:spPr>
      </p:pic>
      <p:pic>
        <p:nvPicPr>
          <p:cNvPr id="1031" name="Picture 1030">
            <a:extLst>
              <a:ext uri="{FF2B5EF4-FFF2-40B4-BE49-F238E27FC236}">
                <a16:creationId xmlns:a16="http://schemas.microsoft.com/office/drawing/2014/main" id="{E80202F8-DAB5-2324-CC38-D2742B492E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894" y="6161513"/>
            <a:ext cx="341406" cy="341406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16AA69A3-DB73-8336-F2B0-2C67A55BEA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0993" y="6161513"/>
            <a:ext cx="341406" cy="341406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8502531C-D9D5-19BF-CE99-549E16CF94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2285" y="2997000"/>
            <a:ext cx="432000" cy="432000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83EBE8B6-B727-165E-11B6-67902E4FF2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2800" y="4673400"/>
            <a:ext cx="432000" cy="432000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82D2BE7C-C863-0579-4E9B-FD8E9B16B2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2800" y="3883966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1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83C39D86-277B-D704-B7F2-B57F8803A8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83C39D86-277B-D704-B7F2-B57F8803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007250" y="1651800"/>
            <a:ext cx="6184749" cy="1126590"/>
          </a:xfrm>
          <a:prstGeom prst="rect">
            <a:avLst/>
          </a:prstGeom>
          <a:noFill/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Operating</a:t>
            </a:r>
            <a:r>
              <a:rPr sz="2400" b="1" spc="-4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Leasing</a:t>
            </a:r>
            <a:r>
              <a:rPr sz="2400" b="1" spc="-5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is</a:t>
            </a:r>
            <a:r>
              <a:rPr lang="en-US" sz="2400" b="1" spc="-5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a</a:t>
            </a:r>
            <a:r>
              <a:rPr sz="2400" b="1" spc="-7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lang="en-GB" sz="2400" b="1" spc="-7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fast-growing</a:t>
            </a:r>
            <a:r>
              <a:rPr sz="2400" b="1" spc="-4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market</a:t>
            </a:r>
            <a:endParaRPr sz="2400" dirty="0">
              <a:solidFill>
                <a:srgbClr val="002060"/>
              </a:solidFill>
              <a:latin typeface="Eurobank Sans Black" panose="02000503000000020003" pitchFamily="2" charset="0"/>
              <a:cs typeface="Calibri"/>
            </a:endParaRPr>
          </a:p>
          <a:p>
            <a:pPr>
              <a:spcBef>
                <a:spcPts val="960"/>
              </a:spcBef>
            </a:pP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Flexible</a:t>
            </a:r>
            <a:r>
              <a:rPr sz="1600" spc="-6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offerings</a:t>
            </a:r>
            <a:r>
              <a:rPr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without</a:t>
            </a:r>
            <a:r>
              <a:rPr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the</a:t>
            </a:r>
            <a:r>
              <a:rPr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customer</a:t>
            </a:r>
            <a:r>
              <a:rPr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having</a:t>
            </a:r>
            <a:r>
              <a:rPr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to</a:t>
            </a:r>
            <a:r>
              <a:rPr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bear</a:t>
            </a:r>
            <a:r>
              <a:rPr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the</a:t>
            </a:r>
            <a:r>
              <a:rPr lang="en-US"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residual</a:t>
            </a:r>
            <a:r>
              <a:rPr lang="en-US"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value</a:t>
            </a:r>
            <a:r>
              <a:rPr lang="en-US" sz="1600" spc="-6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risk</a:t>
            </a:r>
            <a:r>
              <a:rPr lang="en-US"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and</a:t>
            </a:r>
            <a:r>
              <a:rPr lang="en-US"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long-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term</a:t>
            </a:r>
            <a:r>
              <a:rPr lang="en-US" sz="1600" spc="-5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commitment</a:t>
            </a:r>
            <a:endParaRPr lang="en-US" sz="1600" dirty="0">
              <a:solidFill>
                <a:srgbClr val="002060"/>
              </a:solidFill>
              <a:latin typeface="Eurobank Sans" panose="02000503000000020004" pitchFamily="2" charset="0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7250" y="3231375"/>
            <a:ext cx="5702449" cy="1721625"/>
          </a:xfrm>
          <a:prstGeom prst="rect">
            <a:avLst/>
          </a:prstGeom>
          <a:noFill/>
        </p:spPr>
        <p:txBody>
          <a:bodyPr vert="horz" wrap="square" lIns="0" tIns="13335" rIns="0" bIns="0" rtlCol="0">
            <a:spAutoFit/>
          </a:bodyPr>
          <a:lstStyle/>
          <a:p>
            <a:pPr marR="5080" indent="12700">
              <a:spcAft>
                <a:spcPts val="1200"/>
              </a:spcAft>
            </a:pP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“</a:t>
            </a:r>
            <a:r>
              <a:rPr lang="en-US"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Mobility-as-a-</a:t>
            </a:r>
            <a:r>
              <a:rPr lang="en-US"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Service”</a:t>
            </a:r>
            <a:r>
              <a:rPr lang="en-US" sz="2400" b="1" spc="-5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model</a:t>
            </a:r>
            <a:r>
              <a:rPr lang="en-US" sz="2400" b="1" spc="-4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lang="en-US"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(</a:t>
            </a:r>
            <a:r>
              <a:rPr lang="en-US" sz="2400" b="1" spc="-10" dirty="0" err="1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MaaS</a:t>
            </a:r>
            <a:r>
              <a:rPr lang="en-US"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) emerging</a:t>
            </a:r>
          </a:p>
          <a:p>
            <a:pPr marL="285750" marR="508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Combine</a:t>
            </a:r>
            <a:r>
              <a:rPr lang="en-US"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2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different</a:t>
            </a:r>
            <a:r>
              <a:rPr lang="en-US" sz="1600" spc="-5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modes</a:t>
            </a:r>
            <a:r>
              <a:rPr lang="en-US" sz="1600" spc="-1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of</a:t>
            </a:r>
            <a:r>
              <a:rPr lang="en-US"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transportation</a:t>
            </a:r>
            <a:r>
              <a:rPr lang="en-US" sz="1600" spc="-3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on</a:t>
            </a:r>
            <a:r>
              <a:rPr lang="en-US"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a</a:t>
            </a:r>
            <a:r>
              <a:rPr lang="en-US" sz="1600" spc="-5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single</a:t>
            </a:r>
            <a:r>
              <a:rPr lang="en-US" sz="1600" spc="-5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platform</a:t>
            </a:r>
            <a:r>
              <a:rPr lang="en-US"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(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car</a:t>
            </a:r>
            <a:r>
              <a:rPr lang="en-US"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sharing schemes,</a:t>
            </a:r>
            <a:r>
              <a:rPr lang="en-US" sz="1600" spc="-3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2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subscription-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based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,</a:t>
            </a:r>
            <a:r>
              <a:rPr lang="en-US" sz="1600" spc="-2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etc.)</a:t>
            </a:r>
            <a:endParaRPr lang="en-US" sz="1600" dirty="0">
              <a:solidFill>
                <a:srgbClr val="002060"/>
              </a:solidFill>
              <a:latin typeface="Eurobank Sans" panose="02000503000000020004" pitchFamily="2" charset="0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Creating</a:t>
            </a:r>
            <a:r>
              <a:rPr lang="en-US" sz="1600" spc="-5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their</a:t>
            </a:r>
            <a:r>
              <a:rPr lang="en-US"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own</a:t>
            </a:r>
            <a:r>
              <a:rPr lang="en-US"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online</a:t>
            </a:r>
            <a:r>
              <a:rPr lang="en-US"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B2C</a:t>
            </a:r>
            <a:r>
              <a:rPr lang="en-US"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marketplaces</a:t>
            </a:r>
            <a:endParaRPr lang="en-US" sz="1600" dirty="0">
              <a:solidFill>
                <a:srgbClr val="002060"/>
              </a:solidFill>
              <a:latin typeface="Eurobank Sans" panose="02000503000000020004" pitchFamily="2" charset="0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401" y="1771400"/>
            <a:ext cx="4919594" cy="1320874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R="5080" indent="12700" algn="just">
              <a:spcAft>
                <a:spcPts val="600"/>
              </a:spcAft>
            </a:pP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Used</a:t>
            </a:r>
            <a:r>
              <a:rPr sz="2400" b="1" spc="-5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car</a:t>
            </a:r>
            <a:r>
              <a:rPr sz="2400" b="1" spc="-3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market</a:t>
            </a:r>
            <a:r>
              <a:rPr sz="2400" b="1" spc="-5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with</a:t>
            </a:r>
            <a:r>
              <a:rPr sz="2400" b="1" spc="-6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significant</a:t>
            </a:r>
            <a:r>
              <a:rPr sz="2400" b="1" spc="-4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increase </a:t>
            </a:r>
            <a:endParaRPr lang="en-US" sz="2400" b="1" spc="-10" dirty="0">
              <a:solidFill>
                <a:srgbClr val="002060"/>
              </a:solidFill>
              <a:latin typeface="Eurobank Sans Black" panose="02000503000000020003" pitchFamily="2" charset="0"/>
              <a:cs typeface="Calibri"/>
            </a:endParaRPr>
          </a:p>
          <a:p>
            <a:pPr marR="5080" indent="12700" algn="just">
              <a:spcAft>
                <a:spcPts val="600"/>
              </a:spcAft>
            </a:pP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Used</a:t>
            </a:r>
            <a:r>
              <a:rPr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car</a:t>
            </a:r>
            <a:r>
              <a:rPr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market</a:t>
            </a:r>
            <a:r>
              <a:rPr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further</a:t>
            </a:r>
            <a:r>
              <a:rPr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fueled</a:t>
            </a:r>
            <a:r>
              <a:rPr sz="1600" spc="-5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by</a:t>
            </a:r>
            <a:r>
              <a:rPr sz="1600" spc="-4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2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more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flexible</a:t>
            </a:r>
            <a:r>
              <a:rPr sz="1600" spc="-5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offerings</a:t>
            </a:r>
            <a:r>
              <a:rPr sz="1600" spc="-2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(leasing,</a:t>
            </a:r>
            <a:r>
              <a:rPr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balloon</a:t>
            </a:r>
            <a:r>
              <a:rPr lang="en-US"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payments</a:t>
            </a:r>
            <a:r>
              <a:rPr sz="1600" spc="-2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etc</a:t>
            </a:r>
            <a:r>
              <a:rPr lang="en-US"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.)</a:t>
            </a:r>
            <a:endParaRPr sz="1600" dirty="0">
              <a:solidFill>
                <a:srgbClr val="002060"/>
              </a:solidFill>
              <a:latin typeface="Eurobank Sans" panose="02000503000000020004" pitchFamily="2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401" y="3458360"/>
            <a:ext cx="5333999" cy="1494640"/>
          </a:xfrm>
          <a:prstGeom prst="rect">
            <a:avLst/>
          </a:prstGeom>
          <a:noFill/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Digital</a:t>
            </a:r>
            <a:r>
              <a:rPr sz="2400" b="1" spc="-6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Integration</a:t>
            </a:r>
            <a:r>
              <a:rPr sz="2400" b="1" spc="-3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with</a:t>
            </a:r>
            <a:r>
              <a:rPr sz="2400" b="1" spc="-55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Online</a:t>
            </a:r>
            <a:r>
              <a:rPr sz="2400" b="1" spc="-4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Car</a:t>
            </a:r>
            <a:r>
              <a:rPr sz="2400" b="1" spc="-3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Buying</a:t>
            </a:r>
            <a:r>
              <a:rPr sz="2400" b="1" spc="-3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</a:t>
            </a:r>
            <a:r>
              <a:rPr sz="2400" b="1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Platforms</a:t>
            </a:r>
            <a:endParaRPr sz="2400" dirty="0">
              <a:solidFill>
                <a:srgbClr val="002060"/>
              </a:solidFill>
              <a:latin typeface="Eurobank Sans Black" panose="02000503000000020003" pitchFamily="2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Fully</a:t>
            </a:r>
            <a:r>
              <a:rPr sz="1600" spc="-5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digitalized</a:t>
            </a:r>
            <a:r>
              <a:rPr sz="1600" spc="-6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customer</a:t>
            </a:r>
            <a:r>
              <a:rPr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experience,</a:t>
            </a:r>
            <a:r>
              <a:rPr sz="1600" spc="-2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online</a:t>
            </a:r>
            <a:r>
              <a:rPr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purchasing</a:t>
            </a:r>
            <a:r>
              <a:rPr lang="en-US"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and</a:t>
            </a:r>
            <a:r>
              <a:rPr sz="1600" spc="-35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exhaustive</a:t>
            </a:r>
            <a:r>
              <a:rPr sz="1600" spc="-4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financing</a:t>
            </a:r>
            <a:r>
              <a:rPr sz="1600" spc="-5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Eurobank Sans" panose="02000503000000020004" pitchFamily="2" charset="0"/>
                <a:cs typeface="Calibri"/>
              </a:rPr>
              <a:t>options</a:t>
            </a:r>
            <a:endParaRPr sz="1600" dirty="0">
              <a:solidFill>
                <a:srgbClr val="002060"/>
              </a:solidFill>
              <a:latin typeface="Eurobank Sans" panose="02000503000000020004" pitchFamily="2" charset="0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54111" y="165762"/>
            <a:ext cx="1097108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2060"/>
                </a:solidFill>
                <a:latin typeface="Eurobank Sans Black" panose="02000503000000020003" pitchFamily="2" charset="0"/>
              </a:rPr>
              <a:t>WHY the scenery is Changing: Global Dynamics and Trends</a:t>
            </a:r>
            <a:endParaRPr spc="-10" dirty="0">
              <a:solidFill>
                <a:srgbClr val="002060"/>
              </a:solidFill>
              <a:latin typeface="Eurobank Sans Black" panose="02000503000000020003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0E6F4-98A1-C516-62AF-617D23F279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l-GR" smtClean="0"/>
              <a:t>5</a:t>
            </a:fld>
            <a:endParaRPr lang="el-G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83C39D86-277B-D704-B7F2-B57F8803A8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83C39D86-277B-D704-B7F2-B57F8803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0E6F4-98A1-C516-62AF-617D23F279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l-GR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45" name="타원 11">
            <a:extLst>
              <a:ext uri="{FF2B5EF4-FFF2-40B4-BE49-F238E27FC236}">
                <a16:creationId xmlns:a16="http://schemas.microsoft.com/office/drawing/2014/main" id="{65F0443F-59EC-ABC0-FE37-D5525EBA0990}"/>
              </a:ext>
            </a:extLst>
          </p:cNvPr>
          <p:cNvSpPr/>
          <p:nvPr/>
        </p:nvSpPr>
        <p:spPr>
          <a:xfrm>
            <a:off x="3955394" y="1529574"/>
            <a:ext cx="4281212" cy="4281212"/>
          </a:xfrm>
          <a:prstGeom prst="ellipse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grpSp>
        <p:nvGrpSpPr>
          <p:cNvPr id="46" name="그룹 3">
            <a:extLst>
              <a:ext uri="{FF2B5EF4-FFF2-40B4-BE49-F238E27FC236}">
                <a16:creationId xmlns:a16="http://schemas.microsoft.com/office/drawing/2014/main" id="{F7A02706-936C-5FA7-2626-E839FAE0E59D}"/>
              </a:ext>
            </a:extLst>
          </p:cNvPr>
          <p:cNvGrpSpPr/>
          <p:nvPr/>
        </p:nvGrpSpPr>
        <p:grpSpPr>
          <a:xfrm>
            <a:off x="7848600" y="990600"/>
            <a:ext cx="2985658" cy="1171842"/>
            <a:chOff x="467544" y="2421312"/>
            <a:chExt cx="5669876" cy="1171842"/>
          </a:xfrm>
        </p:grpSpPr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B5F187C6-18D3-AE5B-94D4-3DC79665D7CF}"/>
                </a:ext>
              </a:extLst>
            </p:cNvPr>
            <p:cNvSpPr/>
            <p:nvPr/>
          </p:nvSpPr>
          <p:spPr>
            <a:xfrm>
              <a:off x="644715" y="2946823"/>
              <a:ext cx="5492705" cy="646331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Personalized loan terms based on customer’s need, credit profile &amp; financial situation</a:t>
              </a:r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6B2386EA-DF96-EF13-1B9F-E7B5A1C22DB6}"/>
                </a:ext>
              </a:extLst>
            </p:cNvPr>
            <p:cNvSpPr/>
            <p:nvPr/>
          </p:nvSpPr>
          <p:spPr>
            <a:xfrm>
              <a:off x="467544" y="2421312"/>
              <a:ext cx="454695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Personalized Loan Offers</a:t>
              </a:r>
            </a:p>
          </p:txBody>
        </p:sp>
      </p:grpSp>
      <p:grpSp>
        <p:nvGrpSpPr>
          <p:cNvPr id="49" name="그룹 9">
            <a:extLst>
              <a:ext uri="{FF2B5EF4-FFF2-40B4-BE49-F238E27FC236}">
                <a16:creationId xmlns:a16="http://schemas.microsoft.com/office/drawing/2014/main" id="{CC977FE3-3B33-60DB-7874-874282A57E88}"/>
              </a:ext>
            </a:extLst>
          </p:cNvPr>
          <p:cNvGrpSpPr/>
          <p:nvPr/>
        </p:nvGrpSpPr>
        <p:grpSpPr>
          <a:xfrm>
            <a:off x="8534400" y="2684908"/>
            <a:ext cx="2394349" cy="1024127"/>
            <a:chOff x="467544" y="3302740"/>
            <a:chExt cx="4546958" cy="1024127"/>
          </a:xfrm>
        </p:grpSpPr>
        <p:sp>
          <p:nvSpPr>
            <p:cNvPr id="50" name="Rectangle 11">
              <a:extLst>
                <a:ext uri="{FF2B5EF4-FFF2-40B4-BE49-F238E27FC236}">
                  <a16:creationId xmlns:a16="http://schemas.microsoft.com/office/drawing/2014/main" id="{D466A2AE-8B6A-2967-E98A-7462CAAABDDC}"/>
                </a:ext>
              </a:extLst>
            </p:cNvPr>
            <p:cNvSpPr/>
            <p:nvPr/>
          </p:nvSpPr>
          <p:spPr>
            <a:xfrm>
              <a:off x="650157" y="3680536"/>
              <a:ext cx="4200716" cy="646331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Keeping customers informed through every step of the loan process </a:t>
              </a:r>
            </a:p>
          </p:txBody>
        </p:sp>
        <p:sp>
          <p:nvSpPr>
            <p:cNvPr id="51" name="Rectangle 12">
              <a:extLst>
                <a:ext uri="{FF2B5EF4-FFF2-40B4-BE49-F238E27FC236}">
                  <a16:creationId xmlns:a16="http://schemas.microsoft.com/office/drawing/2014/main" id="{89A4B1D4-912C-240B-7571-528C01BB3A7D}"/>
                </a:ext>
              </a:extLst>
            </p:cNvPr>
            <p:cNvSpPr/>
            <p:nvPr/>
          </p:nvSpPr>
          <p:spPr>
            <a:xfrm>
              <a:off x="467544" y="3302740"/>
              <a:ext cx="45469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Transparency</a:t>
              </a:r>
            </a:p>
          </p:txBody>
        </p:sp>
      </p:grpSp>
      <p:grpSp>
        <p:nvGrpSpPr>
          <p:cNvPr id="52" name="그룹 10">
            <a:extLst>
              <a:ext uri="{FF2B5EF4-FFF2-40B4-BE49-F238E27FC236}">
                <a16:creationId xmlns:a16="http://schemas.microsoft.com/office/drawing/2014/main" id="{C210B94C-596D-E46F-C550-48EE3FCA4FEF}"/>
              </a:ext>
            </a:extLst>
          </p:cNvPr>
          <p:cNvGrpSpPr/>
          <p:nvPr/>
        </p:nvGrpSpPr>
        <p:grpSpPr>
          <a:xfrm>
            <a:off x="8596820" y="4379216"/>
            <a:ext cx="2394349" cy="1393459"/>
            <a:chOff x="467544" y="4184168"/>
            <a:chExt cx="4546958" cy="1393459"/>
          </a:xfrm>
        </p:grpSpPr>
        <p:sp>
          <p:nvSpPr>
            <p:cNvPr id="53" name="Rectangle 14">
              <a:extLst>
                <a:ext uri="{FF2B5EF4-FFF2-40B4-BE49-F238E27FC236}">
                  <a16:creationId xmlns:a16="http://schemas.microsoft.com/office/drawing/2014/main" id="{C337A7EB-8D18-2CA0-D2F1-9D3F7ED880E0}"/>
                </a:ext>
              </a:extLst>
            </p:cNvPr>
            <p:cNvSpPr/>
            <p:nvPr/>
          </p:nvSpPr>
          <p:spPr>
            <a:xfrm>
              <a:off x="640894" y="4561964"/>
              <a:ext cx="4194018" cy="1015663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Use of advanced identity verification tools, such as biometrics, VIN, multi - factor authentication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Eurobank Sans" panose="02000503000000020004" pitchFamily="2" charset="0"/>
                <a:cs typeface="Helvetica"/>
              </a:endParaRPr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E51FB999-2474-C513-6A1C-B6898F21B2CF}"/>
                </a:ext>
              </a:extLst>
            </p:cNvPr>
            <p:cNvSpPr/>
            <p:nvPr/>
          </p:nvSpPr>
          <p:spPr>
            <a:xfrm>
              <a:off x="467544" y="4184168"/>
              <a:ext cx="45469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Robust Security</a:t>
              </a:r>
            </a:p>
          </p:txBody>
        </p:sp>
      </p:grpSp>
      <p:grpSp>
        <p:nvGrpSpPr>
          <p:cNvPr id="55" name="그룹 3">
            <a:extLst>
              <a:ext uri="{FF2B5EF4-FFF2-40B4-BE49-F238E27FC236}">
                <a16:creationId xmlns:a16="http://schemas.microsoft.com/office/drawing/2014/main" id="{0C47B6CA-EB41-B7E7-3D29-82AF2AD3548E}"/>
              </a:ext>
            </a:extLst>
          </p:cNvPr>
          <p:cNvGrpSpPr/>
          <p:nvPr/>
        </p:nvGrpSpPr>
        <p:grpSpPr>
          <a:xfrm flipH="1">
            <a:off x="1872851" y="990600"/>
            <a:ext cx="2394349" cy="1059597"/>
            <a:chOff x="467544" y="2421312"/>
            <a:chExt cx="4546958" cy="1059597"/>
          </a:xfrm>
        </p:grpSpPr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AD757245-90E6-F3F1-C0CC-E949C5C91C17}"/>
                </a:ext>
              </a:extLst>
            </p:cNvPr>
            <p:cNvSpPr/>
            <p:nvPr/>
          </p:nvSpPr>
          <p:spPr>
            <a:xfrm>
              <a:off x="524923" y="2649912"/>
              <a:ext cx="4194018" cy="830997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Apply &amp; manage a loan application entirely from  a smartphone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 </a:t>
              </a: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FC075990-3FFC-C425-C5A8-B8AA4D9CC447}"/>
                </a:ext>
              </a:extLst>
            </p:cNvPr>
            <p:cNvSpPr/>
            <p:nvPr/>
          </p:nvSpPr>
          <p:spPr>
            <a:xfrm>
              <a:off x="467544" y="2421312"/>
              <a:ext cx="45469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Mobile First</a:t>
              </a:r>
            </a:p>
          </p:txBody>
        </p:sp>
      </p:grpSp>
      <p:grpSp>
        <p:nvGrpSpPr>
          <p:cNvPr id="58" name="그룹 9">
            <a:extLst>
              <a:ext uri="{FF2B5EF4-FFF2-40B4-BE49-F238E27FC236}">
                <a16:creationId xmlns:a16="http://schemas.microsoft.com/office/drawing/2014/main" id="{F690CA7B-774B-380B-8470-481A7177AA84}"/>
              </a:ext>
            </a:extLst>
          </p:cNvPr>
          <p:cNvGrpSpPr/>
          <p:nvPr/>
        </p:nvGrpSpPr>
        <p:grpSpPr>
          <a:xfrm flipH="1">
            <a:off x="451381" y="2286000"/>
            <a:ext cx="3130019" cy="1348107"/>
            <a:chOff x="-77726" y="3139933"/>
            <a:chExt cx="5944022" cy="1348107"/>
          </a:xfrm>
        </p:grpSpPr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D7FE0BA1-CD65-67C4-E7B4-677EAB498E3C}"/>
                </a:ext>
              </a:extLst>
            </p:cNvPr>
            <p:cNvSpPr/>
            <p:nvPr/>
          </p:nvSpPr>
          <p:spPr>
            <a:xfrm>
              <a:off x="99847" y="3657043"/>
              <a:ext cx="4519849" cy="830997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 lvl="1" algn="r" rtl="0"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Digital ecosystem in which loan application process is integrated with car dealerships for a smoother purchase process</a:t>
              </a:r>
            </a:p>
          </p:txBody>
        </p:sp>
        <p:sp>
          <p:nvSpPr>
            <p:cNvPr id="60" name="Rectangle 12">
              <a:extLst>
                <a:ext uri="{FF2B5EF4-FFF2-40B4-BE49-F238E27FC236}">
                  <a16:creationId xmlns:a16="http://schemas.microsoft.com/office/drawing/2014/main" id="{57884093-A951-7BAD-8EB8-7D97CA33181B}"/>
                </a:ext>
              </a:extLst>
            </p:cNvPr>
            <p:cNvSpPr/>
            <p:nvPr/>
          </p:nvSpPr>
          <p:spPr>
            <a:xfrm>
              <a:off x="-77726" y="3139933"/>
              <a:ext cx="594402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Seamless Integration with Dealerships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cs typeface="Helvetica"/>
              </a:endParaRPr>
            </a:p>
          </p:txBody>
        </p:sp>
      </p:grpSp>
      <p:grpSp>
        <p:nvGrpSpPr>
          <p:cNvPr id="61" name="그룹 10">
            <a:extLst>
              <a:ext uri="{FF2B5EF4-FFF2-40B4-BE49-F238E27FC236}">
                <a16:creationId xmlns:a16="http://schemas.microsoft.com/office/drawing/2014/main" id="{1308A59C-A93D-337C-128F-C771C311985B}"/>
              </a:ext>
            </a:extLst>
          </p:cNvPr>
          <p:cNvGrpSpPr/>
          <p:nvPr/>
        </p:nvGrpSpPr>
        <p:grpSpPr>
          <a:xfrm flipH="1">
            <a:off x="838200" y="4277953"/>
            <a:ext cx="2680780" cy="1513247"/>
            <a:chOff x="467544" y="4184168"/>
            <a:chExt cx="5090901" cy="1513247"/>
          </a:xfrm>
        </p:grpSpPr>
        <p:sp>
          <p:nvSpPr>
            <p:cNvPr id="62" name="Rectangle 14">
              <a:extLst>
                <a:ext uri="{FF2B5EF4-FFF2-40B4-BE49-F238E27FC236}">
                  <a16:creationId xmlns:a16="http://schemas.microsoft.com/office/drawing/2014/main" id="{2FB718C6-A8E9-B4B8-4CA3-FA3344D03A44}"/>
                </a:ext>
              </a:extLst>
            </p:cNvPr>
            <p:cNvSpPr/>
            <p:nvPr/>
          </p:nvSpPr>
          <p:spPr>
            <a:xfrm>
              <a:off x="493713" y="4681752"/>
              <a:ext cx="4502585" cy="1015663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Simplified process via online platform. Simplified data entry, Real-time decisions, Integrated advanced digital technologies, such as using AI, ML</a:t>
              </a:r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AD360587-C4E5-89CD-E878-CA6773EE0B34}"/>
                </a:ext>
              </a:extLst>
            </p:cNvPr>
            <p:cNvSpPr/>
            <p:nvPr/>
          </p:nvSpPr>
          <p:spPr>
            <a:xfrm>
              <a:off x="467544" y="4184168"/>
              <a:ext cx="509090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Eurobank Sans" panose="02000503000000020004" pitchFamily="2" charset="0"/>
                  <a:cs typeface="Helvetica"/>
                </a:rPr>
                <a:t>User-Friendly Application Process</a:t>
              </a:r>
            </a:p>
          </p:txBody>
        </p:sp>
      </p:grpSp>
      <p:sp>
        <p:nvSpPr>
          <p:cNvPr id="64" name="타원 82">
            <a:extLst>
              <a:ext uri="{FF2B5EF4-FFF2-40B4-BE49-F238E27FC236}">
                <a16:creationId xmlns:a16="http://schemas.microsoft.com/office/drawing/2014/main" id="{95EDE934-E4EF-608A-A6AF-1E452AEC1435}"/>
              </a:ext>
            </a:extLst>
          </p:cNvPr>
          <p:cNvSpPr/>
          <p:nvPr/>
        </p:nvSpPr>
        <p:spPr>
          <a:xfrm>
            <a:off x="3636463" y="4103765"/>
            <a:ext cx="784094" cy="801877"/>
          </a:xfrm>
          <a:prstGeom prst="ellipse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A21700C-60DE-BC38-4AD8-E8D7DF15F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3606" y="4372242"/>
            <a:ext cx="287394" cy="28739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017C5AA-6839-0E4B-C4BF-C504E3F465D3}"/>
              </a:ext>
            </a:extLst>
          </p:cNvPr>
          <p:cNvSpPr txBox="1"/>
          <p:nvPr/>
        </p:nvSpPr>
        <p:spPr>
          <a:xfrm>
            <a:off x="2746727" y="2812836"/>
            <a:ext cx="4760503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>
            <a:spAutoFit/>
          </a:bodyPr>
          <a:lstStyle/>
          <a:p>
            <a:pPr marL="2333625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urobank Sans" panose="02000503000000020004" pitchFamily="2" charset="0"/>
                <a:ea typeface="Calibri"/>
                <a:cs typeface="Helvetica" panose="020B0604020202020204" pitchFamily="34" charset="0"/>
                <a:sym typeface="Calibri" panose="020F0502020204030204" pitchFamily="34" charset="0"/>
              </a:rPr>
              <a:t>Best Practices</a:t>
            </a:r>
          </a:p>
          <a:p>
            <a:pPr marL="2333625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urobank Sans" panose="02000503000000020004" pitchFamily="2" charset="0"/>
                <a:ea typeface="Calibri"/>
                <a:cs typeface="Helvetica" panose="020B0604020202020204" pitchFamily="34" charset="0"/>
                <a:sym typeface="Calibri" panose="020F0502020204030204" pitchFamily="34" charset="0"/>
              </a:rPr>
              <a:t>for a Digital Auto Lending Market</a:t>
            </a:r>
            <a:endParaRPr kumimoji="0" lang="el-GR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urobank Sans" panose="02000503000000020004" pitchFamily="2" charset="0"/>
              <a:ea typeface="Calibri"/>
              <a:cs typeface="Helvetica" panose="020B0604020202020204" pitchFamily="34" charset="0"/>
              <a:sym typeface="Calibri"/>
            </a:endParaRPr>
          </a:p>
        </p:txBody>
      </p:sp>
      <p:sp>
        <p:nvSpPr>
          <p:cNvPr id="67" name="타원 82">
            <a:extLst>
              <a:ext uri="{FF2B5EF4-FFF2-40B4-BE49-F238E27FC236}">
                <a16:creationId xmlns:a16="http://schemas.microsoft.com/office/drawing/2014/main" id="{D3EB3F98-0484-F680-73E4-BCBCEF04047A}"/>
              </a:ext>
            </a:extLst>
          </p:cNvPr>
          <p:cNvSpPr/>
          <p:nvPr/>
        </p:nvSpPr>
        <p:spPr>
          <a:xfrm>
            <a:off x="3689786" y="2760512"/>
            <a:ext cx="784094" cy="801877"/>
          </a:xfrm>
          <a:prstGeom prst="ellipse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BCB9EC5-98A7-07B5-D429-EA9398720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062" y="2917366"/>
            <a:ext cx="398447" cy="398447"/>
          </a:xfrm>
          <a:prstGeom prst="rect">
            <a:avLst/>
          </a:prstGeom>
        </p:spPr>
      </p:pic>
      <p:sp>
        <p:nvSpPr>
          <p:cNvPr id="69" name="타원 82">
            <a:extLst>
              <a:ext uri="{FF2B5EF4-FFF2-40B4-BE49-F238E27FC236}">
                <a16:creationId xmlns:a16="http://schemas.microsoft.com/office/drawing/2014/main" id="{591A73EB-1558-E854-4172-4AD9ECB96027}"/>
              </a:ext>
            </a:extLst>
          </p:cNvPr>
          <p:cNvSpPr/>
          <p:nvPr/>
        </p:nvSpPr>
        <p:spPr>
          <a:xfrm>
            <a:off x="4498585" y="1449840"/>
            <a:ext cx="784094" cy="801877"/>
          </a:xfrm>
          <a:prstGeom prst="ellipse">
            <a:avLst/>
          </a:prstGeom>
          <a:solidFill>
            <a:srgbClr val="4472C4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700657C2-0492-5286-6ABE-978896D182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6151" y="1620273"/>
            <a:ext cx="414153" cy="414153"/>
          </a:xfrm>
          <a:prstGeom prst="rect">
            <a:avLst/>
          </a:prstGeom>
        </p:spPr>
      </p:pic>
      <p:sp>
        <p:nvSpPr>
          <p:cNvPr id="71" name="타원 82">
            <a:extLst>
              <a:ext uri="{FF2B5EF4-FFF2-40B4-BE49-F238E27FC236}">
                <a16:creationId xmlns:a16="http://schemas.microsoft.com/office/drawing/2014/main" id="{58059FEC-A749-7CC1-BD0D-0A84FD5D819F}"/>
              </a:ext>
            </a:extLst>
          </p:cNvPr>
          <p:cNvSpPr/>
          <p:nvPr/>
        </p:nvSpPr>
        <p:spPr>
          <a:xfrm>
            <a:off x="6780481" y="1397314"/>
            <a:ext cx="784094" cy="801877"/>
          </a:xfrm>
          <a:prstGeom prst="ellipse">
            <a:avLst/>
          </a:prstGeom>
          <a:solidFill>
            <a:srgbClr val="5B9BD5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sp>
        <p:nvSpPr>
          <p:cNvPr id="72" name="타원 82">
            <a:extLst>
              <a:ext uri="{FF2B5EF4-FFF2-40B4-BE49-F238E27FC236}">
                <a16:creationId xmlns:a16="http://schemas.microsoft.com/office/drawing/2014/main" id="{AB687038-2250-3A79-EF93-B05CE4A3AD1D}"/>
              </a:ext>
            </a:extLst>
          </p:cNvPr>
          <p:cNvSpPr/>
          <p:nvPr/>
        </p:nvSpPr>
        <p:spPr>
          <a:xfrm>
            <a:off x="7597906" y="2579765"/>
            <a:ext cx="784094" cy="801877"/>
          </a:xfrm>
          <a:prstGeom prst="ellipse">
            <a:avLst/>
          </a:prstGeom>
          <a:solidFill>
            <a:srgbClr val="5B9BD5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F5AB7CB9-6E11-1131-9AB4-21DB905847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9408" y="2809050"/>
            <a:ext cx="343992" cy="343992"/>
          </a:xfrm>
          <a:prstGeom prst="rect">
            <a:avLst/>
          </a:prstGeom>
        </p:spPr>
      </p:pic>
      <p:sp>
        <p:nvSpPr>
          <p:cNvPr id="74" name="타원 82">
            <a:extLst>
              <a:ext uri="{FF2B5EF4-FFF2-40B4-BE49-F238E27FC236}">
                <a16:creationId xmlns:a16="http://schemas.microsoft.com/office/drawing/2014/main" id="{0DA39A37-E90A-882B-F76F-F351D589C967}"/>
              </a:ext>
            </a:extLst>
          </p:cNvPr>
          <p:cNvSpPr/>
          <p:nvPr/>
        </p:nvSpPr>
        <p:spPr>
          <a:xfrm>
            <a:off x="7750306" y="4103765"/>
            <a:ext cx="784094" cy="801877"/>
          </a:xfrm>
          <a:prstGeom prst="ellipse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Helvetica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724B84C-21CE-722F-0353-74B7B4123B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4674" y="4319348"/>
            <a:ext cx="348006" cy="348006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10E9524-76D4-A9D7-4273-BBFC8CD983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7909" y="1588263"/>
            <a:ext cx="409802" cy="409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C255BF-0968-FD73-4979-1D32B17BCF8C}"/>
              </a:ext>
            </a:extLst>
          </p:cNvPr>
          <p:cNvSpPr txBox="1"/>
          <p:nvPr/>
        </p:nvSpPr>
        <p:spPr>
          <a:xfrm>
            <a:off x="376165" y="6019800"/>
            <a:ext cx="82448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Sources: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https://defisolutions.com/answers/auto-finance-market-trends-and-predictions/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9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https://www.linkedin.com/pulse/banking-trends-automotive-industry-how-skipthedealershipsca-jjuqc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https://www.measureone.com/blog/auto-financing-trends-2024-2025-future-of-auto-loans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sz="900" dirty="0"/>
          </a:p>
          <a:p>
            <a:pPr marL="228600" indent="-228600">
              <a:buFont typeface="+mj-lt"/>
              <a:buAutoNum type="arabicPeriod"/>
            </a:pPr>
            <a:endParaRPr lang="en-US" sz="900" dirty="0"/>
          </a:p>
          <a:p>
            <a:pPr marL="228600" indent="-228600">
              <a:buFont typeface="+mj-lt"/>
              <a:buAutoNum type="arabicPeriod"/>
            </a:pPr>
            <a:endParaRPr lang="el-GR" sz="9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8627AC-88FC-7383-77CA-C7CE7B38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45" y="190546"/>
            <a:ext cx="8614917" cy="430887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Eurobank Sans Black" panose="02000503000000020003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Eurobank Sans Black" panose="02000503000000020003" pitchFamily="2" charset="0"/>
              </a:rPr>
              <a:t>Digitisation</a:t>
            </a:r>
            <a:r>
              <a:rPr lang="en-US" dirty="0">
                <a:solidFill>
                  <a:srgbClr val="002060"/>
                </a:solidFill>
                <a:latin typeface="Eurobank Sans Black" panose="02000503000000020003" pitchFamily="2" charset="0"/>
              </a:rPr>
              <a:t> in Auto Lending: key trends</a:t>
            </a:r>
          </a:p>
        </p:txBody>
      </p:sp>
    </p:spTree>
    <p:extLst>
      <p:ext uri="{BB962C8B-B14F-4D97-AF65-F5344CB8AC3E}">
        <p14:creationId xmlns:p14="http://schemas.microsoft.com/office/powerpoint/2010/main" val="289492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90B453-5C54-2A99-A3EB-7BFBF724589B}"/>
              </a:ext>
            </a:extLst>
          </p:cNvPr>
          <p:cNvSpPr/>
          <p:nvPr/>
        </p:nvSpPr>
        <p:spPr>
          <a:xfrm>
            <a:off x="304800" y="838200"/>
            <a:ext cx="3230590" cy="5295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Process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49516FF5-01F8-A0CB-0FCB-F6DC0C56E362}"/>
              </a:ext>
            </a:extLst>
          </p:cNvPr>
          <p:cNvSpPr txBox="1">
            <a:spLocks/>
          </p:cNvSpPr>
          <p:nvPr/>
        </p:nvSpPr>
        <p:spPr>
          <a:xfrm>
            <a:off x="838200" y="152588"/>
            <a:ext cx="9701097" cy="68561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342900" rtl="0" eaLnBrk="1" latinLnBrk="0" hangingPunct="1">
              <a:lnSpc>
                <a:spcPts val="1024"/>
              </a:lnSpc>
              <a:spcBef>
                <a:spcPct val="20000"/>
              </a:spcBef>
              <a:spcAft>
                <a:spcPts val="1125"/>
              </a:spcAft>
              <a:buFontTx/>
              <a:buNone/>
              <a:defRPr sz="1600" b="0" i="0" kern="1200" baseline="0">
                <a:solidFill>
                  <a:srgbClr val="021342"/>
                </a:solidFill>
                <a:latin typeface="Eurobank Sans" panose="02000503000000020004" pitchFamily="2" charset="0"/>
                <a:ea typeface="+mn-ea"/>
                <a:cs typeface="Eurobank Sans" panose="02000503000000020004" pitchFamily="2" charset="0"/>
              </a:defRPr>
            </a:lvl1pPr>
            <a:lvl2pPr marL="342900" indent="0" algn="l" defTabSz="342900" rtl="0" eaLnBrk="1" latinLnBrk="0" hangingPunct="1">
              <a:spcBef>
                <a:spcPct val="20000"/>
              </a:spcBef>
              <a:spcAft>
                <a:spcPts val="675"/>
              </a:spcAft>
              <a:buFontTx/>
              <a:buNone/>
              <a:defRPr sz="1350" b="0" i="0" kern="1200">
                <a:solidFill>
                  <a:schemeClr val="tx1">
                    <a:tint val="75000"/>
                  </a:schemeClr>
                </a:solidFill>
                <a:latin typeface="Averta Std PE" pitchFamily="2" charset="0"/>
                <a:ea typeface="+mn-ea"/>
                <a:cs typeface="Averta Std PE" pitchFamily="2" charset="0"/>
              </a:defRPr>
            </a:lvl2pPr>
            <a:lvl3pPr marL="685800" indent="0" algn="l" defTabSz="342900" rtl="0" eaLnBrk="1" latinLnBrk="0" hangingPunct="1">
              <a:spcBef>
                <a:spcPct val="20000"/>
              </a:spcBef>
              <a:buFontTx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Averta Std PE" pitchFamily="2" charset="0"/>
                <a:ea typeface="+mn-ea"/>
                <a:cs typeface="Averta Std PE" pitchFamily="2" charset="0"/>
              </a:defRPr>
            </a:lvl3pPr>
            <a:lvl4pPr marL="1028700" indent="0" algn="l" defTabSz="342900" rtl="0" eaLnBrk="1" latinLnBrk="0" hangingPunct="1">
              <a:spcBef>
                <a:spcPct val="20000"/>
              </a:spcBef>
              <a:buFont typeface="Arial"/>
              <a:buNone/>
              <a:defRPr sz="1050" b="0" i="0" kern="1200">
                <a:solidFill>
                  <a:schemeClr val="tx1">
                    <a:tint val="75000"/>
                  </a:schemeClr>
                </a:solidFill>
                <a:latin typeface="Averta Std PE" pitchFamily="2" charset="0"/>
                <a:ea typeface="+mn-ea"/>
                <a:cs typeface="Averta Std PE" pitchFamily="2" charset="0"/>
              </a:defRPr>
            </a:lvl4pPr>
            <a:lvl5pPr marL="1371600" indent="0" algn="l" defTabSz="342900" rtl="0" eaLnBrk="1" latinLnBrk="0" hangingPunct="1">
              <a:spcBef>
                <a:spcPct val="20000"/>
              </a:spcBef>
              <a:buFont typeface="Arial"/>
              <a:buNone/>
              <a:defRPr sz="1050" b="0" i="0" kern="1200">
                <a:solidFill>
                  <a:schemeClr val="tx1">
                    <a:tint val="75000"/>
                  </a:schemeClr>
                </a:solidFill>
                <a:latin typeface="Averta Std PE" pitchFamily="2" charset="0"/>
                <a:ea typeface="+mn-ea"/>
                <a:cs typeface="Averta Std PE" pitchFamily="2" charset="0"/>
              </a:defRPr>
            </a:lvl5pPr>
            <a:lvl6pPr marL="1714500" indent="0" algn="l" defTabSz="342900" rtl="0" eaLnBrk="1" latinLnBrk="0" hangingPunct="1">
              <a:spcBef>
                <a:spcPct val="20000"/>
              </a:spcBef>
              <a:buFont typeface="Arial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342900" rtl="0" eaLnBrk="1" latinLnBrk="0" hangingPunct="1">
              <a:spcBef>
                <a:spcPct val="20000"/>
              </a:spcBef>
              <a:buFont typeface="Arial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342900" rtl="0" eaLnBrk="1" latinLnBrk="0" hangingPunct="1">
              <a:spcBef>
                <a:spcPct val="20000"/>
              </a:spcBef>
              <a:buFont typeface="Arial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342900" rtl="0" eaLnBrk="1" latinLnBrk="0" hangingPunct="1">
              <a:spcBef>
                <a:spcPct val="20000"/>
              </a:spcBef>
              <a:buFont typeface="Arial"/>
              <a:buNone/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ts val="1024"/>
              </a:lnSpc>
              <a:spcBef>
                <a:spcPct val="2000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 Black" panose="02000503000000020003" pitchFamily="2" charset="0"/>
              <a:ea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96D570-7A94-7D98-CD03-F178B0D9C291}"/>
              </a:ext>
            </a:extLst>
          </p:cNvPr>
          <p:cNvSpPr/>
          <p:nvPr/>
        </p:nvSpPr>
        <p:spPr>
          <a:xfrm>
            <a:off x="3668445" y="838200"/>
            <a:ext cx="3118736" cy="529532"/>
          </a:xfrm>
          <a:prstGeom prst="rect">
            <a:avLst/>
          </a:prstGeom>
          <a:solidFill>
            <a:srgbClr val="1C42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Credit Policy	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33AE61-73CF-A74A-96B8-62678B4BDE83}"/>
              </a:ext>
            </a:extLst>
          </p:cNvPr>
          <p:cNvSpPr/>
          <p:nvPr/>
        </p:nvSpPr>
        <p:spPr>
          <a:xfrm>
            <a:off x="6924682" y="838200"/>
            <a:ext cx="4893473" cy="5295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Product Development</a:t>
            </a: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664068FA-E347-0964-204D-97C9541E24FE}"/>
              </a:ext>
            </a:extLst>
          </p:cNvPr>
          <p:cNvSpPr txBox="1">
            <a:spLocks/>
          </p:cNvSpPr>
          <p:nvPr/>
        </p:nvSpPr>
        <p:spPr>
          <a:xfrm>
            <a:off x="-533400" y="-157171"/>
            <a:ext cx="9359443" cy="744357"/>
          </a:xfrm>
          <a:prstGeom prst="rect">
            <a:avLst/>
          </a:prstGeom>
        </p:spPr>
        <p:txBody>
          <a:bodyPr vert="horz" wrap="square" lIns="0" tIns="310438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7875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 Black"/>
                <a:ea typeface="+mj-ea"/>
                <a:cs typeface="Calibri"/>
              </a:rPr>
              <a:t>ERB Pillars for Change &amp; Growth</a:t>
            </a:r>
            <a:endParaRPr kumimoji="0" lang="en-US" sz="2800" b="0" i="0" u="none" strike="noStrike" kern="0" cap="none" spc="-1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 Black" panose="02000503000000020003" pitchFamily="2" charset="0"/>
              <a:ea typeface="+mj-ea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7A6A7-BB09-1A27-C7DB-A8D05648B9A4}"/>
              </a:ext>
            </a:extLst>
          </p:cNvPr>
          <p:cNvSpPr/>
          <p:nvPr/>
        </p:nvSpPr>
        <p:spPr>
          <a:xfrm>
            <a:off x="326559" y="1675807"/>
            <a:ext cx="3207931" cy="500787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D59CC-88A2-BB12-F214-D2C9F78244A7}"/>
              </a:ext>
            </a:extLst>
          </p:cNvPr>
          <p:cNvSpPr txBox="1"/>
          <p:nvPr/>
        </p:nvSpPr>
        <p:spPr>
          <a:xfrm>
            <a:off x="383376" y="2027111"/>
            <a:ext cx="305921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Time-to-market (RBB &amp; IB</a:t>
            </a: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)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: flow &amp;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documents optimization (OTP or signature pad use,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etc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)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SLA 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Review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(RBB &amp; IB</a:t>
            </a: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)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lang="en-US" sz="1400" b="1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lang="en-US" sz="1400" b="1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Online wizard tool</a:t>
            </a:r>
            <a:r>
              <a:rPr lang="el-GR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for customers’  preapproval upon expression of interest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New unified onboarding &amp; Origination platform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similar to competitor’s  (Santander)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9A130-73BA-808C-9B81-5E6EEBF0960B}"/>
              </a:ext>
            </a:extLst>
          </p:cNvPr>
          <p:cNvSpPr/>
          <p:nvPr/>
        </p:nvSpPr>
        <p:spPr>
          <a:xfrm>
            <a:off x="1277177" y="1447800"/>
            <a:ext cx="1136219" cy="353882"/>
          </a:xfrm>
          <a:prstGeom prst="rect">
            <a:avLst/>
          </a:prstGeom>
          <a:solidFill>
            <a:srgbClr val="00206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 term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87E567-92A0-624D-0785-1501F1A35B95}"/>
              </a:ext>
            </a:extLst>
          </p:cNvPr>
          <p:cNvSpPr/>
          <p:nvPr/>
        </p:nvSpPr>
        <p:spPr>
          <a:xfrm>
            <a:off x="1277177" y="3505200"/>
            <a:ext cx="1136219" cy="353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term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7270DD-04BC-5989-8796-7A496970BF87}"/>
              </a:ext>
            </a:extLst>
          </p:cNvPr>
          <p:cNvSpPr/>
          <p:nvPr/>
        </p:nvSpPr>
        <p:spPr>
          <a:xfrm>
            <a:off x="3670218" y="1675807"/>
            <a:ext cx="3118737" cy="50296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003ABB-C609-5563-3AFF-36F86810D5B1}"/>
              </a:ext>
            </a:extLst>
          </p:cNvPr>
          <p:cNvSpPr txBox="1"/>
          <p:nvPr/>
        </p:nvSpPr>
        <p:spPr>
          <a:xfrm>
            <a:off x="3690205" y="2057400"/>
            <a:ext cx="31749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Dealer Financing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Stock Finance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: </a:t>
            </a:r>
          </a:p>
          <a:p>
            <a:pPr marL="447675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integrate to all eligible Dealers</a:t>
            </a:r>
          </a:p>
          <a:p>
            <a:pPr marL="447675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r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eview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policy &amp; documents</a:t>
            </a: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Floor plan: 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r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eview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policy 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80975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b="1" u="sng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80975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u="sng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RBB Financing</a:t>
            </a: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Fleet Finance (</a:t>
            </a:r>
            <a:r>
              <a:rPr lang="en-US" sz="1400" b="1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RaC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):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review policy &amp; documents</a:t>
            </a:r>
          </a:p>
          <a:p>
            <a:pPr marL="180975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80975" algn="ctr" rtl="0"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Individuals’ financing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Used cars policy review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Increase max loan amount</a:t>
            </a: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: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R="0" lvl="0" indent="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&gt; € 50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k for premium Brands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Increase automated approvals vs. credit overrides delivered manually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447675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084AE0-A60A-2ACB-3417-AD5462CCB19B}"/>
              </a:ext>
            </a:extLst>
          </p:cNvPr>
          <p:cNvSpPr/>
          <p:nvPr/>
        </p:nvSpPr>
        <p:spPr>
          <a:xfrm>
            <a:off x="4625117" y="1471050"/>
            <a:ext cx="1136219" cy="353882"/>
          </a:xfrm>
          <a:prstGeom prst="rect">
            <a:avLst/>
          </a:prstGeom>
          <a:solidFill>
            <a:srgbClr val="00206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 term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71AE75-D4E6-2035-1BAE-91B5CA0643A1}"/>
              </a:ext>
            </a:extLst>
          </p:cNvPr>
          <p:cNvSpPr/>
          <p:nvPr/>
        </p:nvSpPr>
        <p:spPr>
          <a:xfrm>
            <a:off x="4434846" y="2171895"/>
            <a:ext cx="17167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2AEC95-8DA9-B1E7-23CC-DF7BE7520E91}"/>
              </a:ext>
            </a:extLst>
          </p:cNvPr>
          <p:cNvSpPr/>
          <p:nvPr/>
        </p:nvSpPr>
        <p:spPr>
          <a:xfrm>
            <a:off x="6924682" y="1676400"/>
            <a:ext cx="4893474" cy="500728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2E507D-CFAA-CCA0-358F-CA5EDC06A1E0}"/>
              </a:ext>
            </a:extLst>
          </p:cNvPr>
          <p:cNvSpPr txBox="1"/>
          <p:nvPr/>
        </p:nvSpPr>
        <p:spPr>
          <a:xfrm>
            <a:off x="6788956" y="1600200"/>
            <a:ext cx="508872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2" algn="l" rtl="0">
              <a:defRPr/>
            </a:pPr>
            <a:endParaRPr kumimoji="0" lang="en-US" sz="14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Dealer Financing</a:t>
            </a:r>
            <a:endParaRPr kumimoji="0" lang="en-US" sz="12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46672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400" b="1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Dealer Floor plan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: platform &amp; flow improvements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171450" lvl="1" algn="ctr" rtl="0">
              <a:defRPr/>
            </a:pPr>
            <a:r>
              <a:rPr kumimoji="0" lang="en-US" sz="14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Individuals’ financing</a:t>
            </a:r>
          </a:p>
          <a:p>
            <a:pPr marL="466725" lvl="2" indent="-285750" algn="l" rtl="0">
              <a:buFont typeface="Wingdings" panose="05000000000000000000" pitchFamily="2" charset="2"/>
              <a:buChar char="v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C2C Used Car loan</a:t>
            </a:r>
          </a:p>
          <a:p>
            <a:pPr marL="466725" lvl="2" indent="-285750" algn="l" rtl="0">
              <a:buFont typeface="Wingdings" panose="05000000000000000000" pitchFamily="2" charset="2"/>
              <a:buChar char="v"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Digital Auto Loan </a:t>
            </a:r>
          </a:p>
          <a:p>
            <a:pPr marL="285750" lvl="4" indent="-285750" algn="l" rtl="0">
              <a:buFont typeface="Wingdings" panose="05000000000000000000" pitchFamily="2" charset="2"/>
              <a:buChar char="v"/>
              <a:defRPr/>
            </a:pP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b="1" u="sng" spc="-1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Calibri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b="1" u="sng" spc="-1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Calibri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u="sng" spc="-1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Calibri"/>
              </a:rPr>
              <a:t>“Mobility-as-a-</a:t>
            </a:r>
            <a:r>
              <a:rPr lang="en-US" sz="1400" b="1" u="sng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Calibri"/>
              </a:rPr>
              <a:t>Service”</a:t>
            </a:r>
            <a:r>
              <a:rPr lang="en-US" sz="1400" b="1" u="sng" spc="-55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Calibri"/>
              </a:rPr>
              <a:t> </a:t>
            </a:r>
            <a:r>
              <a:rPr lang="en-US" sz="1400" b="1" u="sng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Calibri"/>
              </a:rPr>
              <a:t>model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b="1" u="sng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Calibri"/>
            </a:endParaRPr>
          </a:p>
          <a:p>
            <a:pPr marL="342900" indent="-160338" algn="l" rtl="0">
              <a:buFont typeface="+mj-lt"/>
              <a:buAutoNum type="arabicPeriod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New Operating Leasing  platform available to Dealers via:</a:t>
            </a:r>
          </a:p>
          <a:p>
            <a:pPr marL="446088" lvl="1" indent="-265113" algn="l" rtl="0"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New cooperation schemes with 3rd parties &amp; capitalize “Know – How” (</a:t>
            </a:r>
            <a:r>
              <a:rPr lang="en-US" sz="1400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,.e. </a:t>
            </a:r>
            <a:r>
              <a:rPr lang="en-US" sz="1400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FlexCar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,, </a:t>
            </a:r>
            <a:r>
              <a:rPr lang="en-US" sz="1400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Instacar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) </a:t>
            </a:r>
          </a:p>
          <a:p>
            <a:pPr marL="446088" lvl="1" indent="-265113" algn="l" rtl="0"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New On Us platform (</a:t>
            </a:r>
            <a:r>
              <a:rPr lang="en-US" sz="1400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PoS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Cash Advance-like) / fleet management  by 3rd party</a:t>
            </a:r>
          </a:p>
          <a:p>
            <a:pPr marL="446088" lvl="1" indent="-265113" algn="l" rtl="0"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New </a:t>
            </a:r>
            <a:r>
              <a:rPr lang="el-GR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‘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Arval – like</a:t>
            </a:r>
            <a:r>
              <a:rPr lang="el-GR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’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commercial agreement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urobank Sans" panose="02000503000000020004" pitchFamily="2" charset="0"/>
              <a:buChar char="›"/>
              <a:tabLst/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Calibri"/>
            </a:endParaRPr>
          </a:p>
          <a:p>
            <a:pPr marR="0" lvl="0" indent="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spc="-1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Calibri"/>
              </a:rPr>
              <a:t>2. Used Cars marketplace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FDC61D-299D-EC53-7C23-16DB9CADA1D2}"/>
              </a:ext>
            </a:extLst>
          </p:cNvPr>
          <p:cNvSpPr/>
          <p:nvPr/>
        </p:nvSpPr>
        <p:spPr>
          <a:xfrm>
            <a:off x="8803309" y="3826160"/>
            <a:ext cx="1136219" cy="353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term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D96588-F4FF-5BF4-1E13-D227C759F3B8}"/>
              </a:ext>
            </a:extLst>
          </p:cNvPr>
          <p:cNvSpPr/>
          <p:nvPr/>
        </p:nvSpPr>
        <p:spPr>
          <a:xfrm>
            <a:off x="8803309" y="1454447"/>
            <a:ext cx="1136219" cy="353882"/>
          </a:xfrm>
          <a:prstGeom prst="rect">
            <a:avLst/>
          </a:prstGeom>
          <a:solidFill>
            <a:srgbClr val="002060">
              <a:alpha val="50196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 term</a:t>
            </a:r>
          </a:p>
        </p:txBody>
      </p:sp>
    </p:spTree>
    <p:extLst>
      <p:ext uri="{BB962C8B-B14F-4D97-AF65-F5344CB8AC3E}">
        <p14:creationId xmlns:p14="http://schemas.microsoft.com/office/powerpoint/2010/main" val="114152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799323E8-8F0A-49CB-CAEA-F4527C27662E}"/>
              </a:ext>
            </a:extLst>
          </p:cNvPr>
          <p:cNvSpPr/>
          <p:nvPr/>
        </p:nvSpPr>
        <p:spPr>
          <a:xfrm>
            <a:off x="5418005" y="3352800"/>
            <a:ext cx="925931" cy="399612"/>
          </a:xfrm>
          <a:prstGeom prst="leftRightArrow">
            <a:avLst/>
          </a:prstGeom>
          <a:solidFill>
            <a:srgbClr val="001345"/>
          </a:solidFill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EB48197-09E7-6694-631D-88E58E64771B}"/>
              </a:ext>
            </a:extLst>
          </p:cNvPr>
          <p:cNvSpPr/>
          <p:nvPr/>
        </p:nvSpPr>
        <p:spPr>
          <a:xfrm>
            <a:off x="7564678" y="3071101"/>
            <a:ext cx="3557371" cy="1628443"/>
          </a:xfrm>
          <a:prstGeom prst="roundRect">
            <a:avLst>
              <a:gd name="adj" fmla="val 95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it-IT" err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F7F69FC-061E-A90B-492C-3EF01FD86A14}"/>
              </a:ext>
            </a:extLst>
          </p:cNvPr>
          <p:cNvSpPr/>
          <p:nvPr/>
        </p:nvSpPr>
        <p:spPr>
          <a:xfrm>
            <a:off x="8309060" y="2457161"/>
            <a:ext cx="1713014" cy="418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GB" sz="1400" b="1" dirty="0">
                <a:solidFill>
                  <a:schemeClr val="bg1"/>
                </a:solidFill>
                <a:latin typeface="Eurobank Sans" panose="02000503000000020004" pitchFamily="2" charset="0"/>
              </a:rPr>
              <a:t>Current State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88FD326-8ADD-A02F-613C-34BD0D596572}"/>
              </a:ext>
            </a:extLst>
          </p:cNvPr>
          <p:cNvSpPr/>
          <p:nvPr/>
        </p:nvSpPr>
        <p:spPr>
          <a:xfrm>
            <a:off x="8347041" y="4427360"/>
            <a:ext cx="1713014" cy="418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defTabSz="1219170">
              <a:spcAft>
                <a:spcPts val="800"/>
              </a:spcAft>
              <a:defRPr/>
            </a:pPr>
            <a:endParaRPr lang="en-GB" sz="2133">
              <a:solidFill>
                <a:schemeClr val="bg1"/>
              </a:solidFill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7B6375-AC67-A95D-65E0-2B3658464496}"/>
              </a:ext>
            </a:extLst>
          </p:cNvPr>
          <p:cNvSpPr/>
          <p:nvPr/>
        </p:nvSpPr>
        <p:spPr>
          <a:xfrm>
            <a:off x="10140570" y="4427359"/>
            <a:ext cx="1713014" cy="41866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defTabSz="1219170">
              <a:spcAft>
                <a:spcPts val="800"/>
              </a:spcAft>
              <a:defRPr/>
            </a:pPr>
            <a:endParaRPr lang="en-GB"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ED38F-F68B-29D9-17C0-AA5C9F1267E3}"/>
              </a:ext>
            </a:extLst>
          </p:cNvPr>
          <p:cNvSpPr/>
          <p:nvPr/>
        </p:nvSpPr>
        <p:spPr>
          <a:xfrm>
            <a:off x="10103631" y="2451028"/>
            <a:ext cx="1713013" cy="41866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defTabSz="1219170">
              <a:spcAft>
                <a:spcPts val="800"/>
              </a:spcAft>
              <a:defRPr/>
            </a:pPr>
            <a:r>
              <a:rPr lang="en-GB" sz="1400" b="1" dirty="0">
                <a:solidFill>
                  <a:schemeClr val="bg1"/>
                </a:solidFill>
                <a:latin typeface="Eurobank Sans" panose="02000503000000020004" pitchFamily="2" charset="0"/>
              </a:rPr>
              <a:t>Future State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B6F532-52C1-8856-B2AE-E2B6B3AD4B22}"/>
              </a:ext>
            </a:extLst>
          </p:cNvPr>
          <p:cNvSpPr/>
          <p:nvPr/>
        </p:nvSpPr>
        <p:spPr>
          <a:xfrm rot="2220492">
            <a:off x="800298" y="842434"/>
            <a:ext cx="3322981" cy="5894477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dash"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9DA64F-3EBD-6A0C-CF11-25AC08C3F699}"/>
              </a:ext>
            </a:extLst>
          </p:cNvPr>
          <p:cNvSpPr/>
          <p:nvPr/>
        </p:nvSpPr>
        <p:spPr>
          <a:xfrm rot="18416784">
            <a:off x="1968207" y="912117"/>
            <a:ext cx="3322981" cy="589447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205824-1157-B8D4-B845-4FEDACB3D46D}"/>
              </a:ext>
            </a:extLst>
          </p:cNvPr>
          <p:cNvSpPr/>
          <p:nvPr/>
        </p:nvSpPr>
        <p:spPr>
          <a:xfrm rot="5113395">
            <a:off x="1837554" y="1438371"/>
            <a:ext cx="2333627" cy="5894477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dash"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C76045-F4F5-6114-C7F1-7D6E8CA23BC6}"/>
              </a:ext>
            </a:extLst>
          </p:cNvPr>
          <p:cNvSpPr/>
          <p:nvPr/>
        </p:nvSpPr>
        <p:spPr>
          <a:xfrm>
            <a:off x="6477000" y="2457160"/>
            <a:ext cx="1713014" cy="418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GB" sz="1400" b="1" dirty="0">
                <a:solidFill>
                  <a:schemeClr val="bg1"/>
                </a:solidFill>
                <a:latin typeface="Eurobank Sans" panose="02000503000000020004" pitchFamily="2" charset="0"/>
              </a:rPr>
              <a:t>B2B Components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6A3920-57F0-A134-8EA9-6451F3F36B2F}"/>
              </a:ext>
            </a:extLst>
          </p:cNvPr>
          <p:cNvSpPr/>
          <p:nvPr/>
        </p:nvSpPr>
        <p:spPr>
          <a:xfrm>
            <a:off x="6514981" y="4427359"/>
            <a:ext cx="1713014" cy="418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GB" sz="1400" b="1">
                <a:solidFill>
                  <a:schemeClr val="bg1"/>
                </a:solidFill>
                <a:latin typeface="Eurobank Sans"/>
              </a:rPr>
              <a:t>E2E Digital Auto Loan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351BCE-2269-7F16-E0E2-84ADB8ADC672}"/>
              </a:ext>
            </a:extLst>
          </p:cNvPr>
          <p:cNvGrpSpPr/>
          <p:nvPr/>
        </p:nvGrpSpPr>
        <p:grpSpPr>
          <a:xfrm>
            <a:off x="6530188" y="4915334"/>
            <a:ext cx="5321596" cy="418666"/>
            <a:chOff x="6782367" y="2740967"/>
            <a:chExt cx="5321596" cy="41866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2F5E7B8-6DBE-D6E7-F4B5-09FED088330B}"/>
                </a:ext>
              </a:extLst>
            </p:cNvPr>
            <p:cNvSpPr/>
            <p:nvPr/>
          </p:nvSpPr>
          <p:spPr>
            <a:xfrm>
              <a:off x="8597420" y="2740968"/>
              <a:ext cx="1713014" cy="418665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1467">
                <a:solidFill>
                  <a:srgbClr val="00B050"/>
                </a:solidFill>
                <a:latin typeface="+mj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94EA341-0EA0-0722-6C71-9A2CA0FBFC26}"/>
                </a:ext>
              </a:extLst>
            </p:cNvPr>
            <p:cNvSpPr/>
            <p:nvPr/>
          </p:nvSpPr>
          <p:spPr>
            <a:xfrm>
              <a:off x="10390949" y="2740967"/>
              <a:ext cx="1713014" cy="4186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2133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4D933A-C78D-D77F-26B7-B632F661606C}"/>
                </a:ext>
              </a:extLst>
            </p:cNvPr>
            <p:cNvSpPr/>
            <p:nvPr/>
          </p:nvSpPr>
          <p:spPr>
            <a:xfrm>
              <a:off x="6782367" y="2740967"/>
              <a:ext cx="1713014" cy="41866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121920" rIns="91440" bIns="121920" rtlCol="0" anchor="ctr"/>
            <a:lstStyle/>
            <a:p>
              <a:pPr defTabSz="1219170">
                <a:spcAft>
                  <a:spcPts val="800"/>
                </a:spcAft>
              </a:pPr>
              <a:r>
                <a:rPr lang="en-GB" sz="1400" b="1" dirty="0">
                  <a:solidFill>
                    <a:schemeClr val="bg1"/>
                  </a:solidFill>
                  <a:latin typeface="Eurobank Sans" panose="02000503000000020004" pitchFamily="2" charset="0"/>
                </a:rPr>
                <a:t>Retail Auto Loans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D110475-17D3-7D79-9F44-E87C2FA47830}"/>
              </a:ext>
            </a:extLst>
          </p:cNvPr>
          <p:cNvGrpSpPr/>
          <p:nvPr/>
        </p:nvGrpSpPr>
        <p:grpSpPr>
          <a:xfrm>
            <a:off x="6514981" y="3929065"/>
            <a:ext cx="5338603" cy="418666"/>
            <a:chOff x="6774777" y="3220672"/>
            <a:chExt cx="5338603" cy="418666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246AE5-C044-5BE0-0859-5A5AE6B60620}"/>
                </a:ext>
              </a:extLst>
            </p:cNvPr>
            <p:cNvSpPr/>
            <p:nvPr/>
          </p:nvSpPr>
          <p:spPr>
            <a:xfrm>
              <a:off x="8606837" y="3220673"/>
              <a:ext cx="1713014" cy="41866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2133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29A6D72-0869-83E8-D66A-7CBC7E1FACF8}"/>
                </a:ext>
              </a:extLst>
            </p:cNvPr>
            <p:cNvSpPr/>
            <p:nvPr/>
          </p:nvSpPr>
          <p:spPr>
            <a:xfrm>
              <a:off x="10400366" y="3220672"/>
              <a:ext cx="1713014" cy="4186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1467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9E4DDA-28F8-EDA4-03EB-BD541EDD27F7}"/>
                </a:ext>
              </a:extLst>
            </p:cNvPr>
            <p:cNvSpPr/>
            <p:nvPr/>
          </p:nvSpPr>
          <p:spPr>
            <a:xfrm>
              <a:off x="6774777" y="3220672"/>
              <a:ext cx="1713014" cy="41866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121920" rIns="9144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r>
                <a:rPr lang="en-GB" sz="1400" b="1" dirty="0">
                  <a:solidFill>
                    <a:schemeClr val="bg1"/>
                  </a:solidFill>
                  <a:latin typeface="Eurobank Sans"/>
                </a:rPr>
                <a:t>Retail Operating Leasing via Dealer </a:t>
              </a:r>
              <a:endParaRPr lang="en-GB" sz="1400" b="1" dirty="0">
                <a:solidFill>
                  <a:schemeClr val="bg1"/>
                </a:solidFill>
                <a:latin typeface="Eurobank Sans" panose="02000503000000020004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EBE9D0-3914-2742-89B2-8954398CD801}"/>
              </a:ext>
            </a:extLst>
          </p:cNvPr>
          <p:cNvGrpSpPr/>
          <p:nvPr/>
        </p:nvGrpSpPr>
        <p:grpSpPr>
          <a:xfrm>
            <a:off x="6484239" y="3438669"/>
            <a:ext cx="5338602" cy="418666"/>
            <a:chOff x="6782367" y="3723221"/>
            <a:chExt cx="5338602" cy="41866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DD99646-33E1-6644-F6D4-B62FCEE3D0C4}"/>
                </a:ext>
              </a:extLst>
            </p:cNvPr>
            <p:cNvSpPr/>
            <p:nvPr/>
          </p:nvSpPr>
          <p:spPr>
            <a:xfrm>
              <a:off x="8614427" y="3723222"/>
              <a:ext cx="1713014" cy="41866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2133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AC1C924-F75B-3831-1C8E-AD80E5E8C9BD}"/>
                </a:ext>
              </a:extLst>
            </p:cNvPr>
            <p:cNvSpPr/>
            <p:nvPr/>
          </p:nvSpPr>
          <p:spPr>
            <a:xfrm>
              <a:off x="10407956" y="3723221"/>
              <a:ext cx="1713013" cy="4186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1467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D32671-FBAA-A99B-1149-BD8072AC7FC3}"/>
                </a:ext>
              </a:extLst>
            </p:cNvPr>
            <p:cNvSpPr/>
            <p:nvPr/>
          </p:nvSpPr>
          <p:spPr>
            <a:xfrm>
              <a:off x="6782367" y="3723221"/>
              <a:ext cx="1713014" cy="41866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121920" rIns="91440" bIns="121920" rtlCol="0" anchor="ctr"/>
            <a:lstStyle/>
            <a:p>
              <a:pPr defTabSz="1219170">
                <a:spcAft>
                  <a:spcPts val="800"/>
                </a:spcAft>
              </a:pPr>
              <a:r>
                <a:rPr lang="en-GB" sz="1400" b="1" dirty="0">
                  <a:solidFill>
                    <a:schemeClr val="bg1"/>
                  </a:solidFill>
                  <a:latin typeface="Eurobank Sans"/>
                </a:rPr>
                <a:t>Fleet Auto Loans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CB17A77-84E5-52EE-EBC6-291D96967601}"/>
              </a:ext>
            </a:extLst>
          </p:cNvPr>
          <p:cNvGrpSpPr/>
          <p:nvPr/>
        </p:nvGrpSpPr>
        <p:grpSpPr>
          <a:xfrm>
            <a:off x="6496405" y="2936574"/>
            <a:ext cx="5323758" cy="431316"/>
            <a:chOff x="6808198" y="4720971"/>
            <a:chExt cx="5323758" cy="43131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8A7FEB-0B6E-544F-3F35-CC18CCCA52E4}"/>
                </a:ext>
              </a:extLst>
            </p:cNvPr>
            <p:cNvSpPr/>
            <p:nvPr/>
          </p:nvSpPr>
          <p:spPr>
            <a:xfrm>
              <a:off x="8640258" y="4733622"/>
              <a:ext cx="1713013" cy="41866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16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F2405-BB8E-B438-6EBF-7919466606E6}"/>
                </a:ext>
              </a:extLst>
            </p:cNvPr>
            <p:cNvSpPr/>
            <p:nvPr/>
          </p:nvSpPr>
          <p:spPr>
            <a:xfrm>
              <a:off x="10418943" y="4720971"/>
              <a:ext cx="1713013" cy="41866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2192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endParaRPr lang="en-GB" sz="1467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FBBD27-8F0A-CBFB-D26C-A3282997CAF1}"/>
                </a:ext>
              </a:extLst>
            </p:cNvPr>
            <p:cNvSpPr/>
            <p:nvPr/>
          </p:nvSpPr>
          <p:spPr>
            <a:xfrm>
              <a:off x="6808198" y="4733621"/>
              <a:ext cx="1713013" cy="41866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121920" rIns="91440" bIns="121920" rtlCol="0" anchor="ctr"/>
            <a:lstStyle/>
            <a:p>
              <a:pPr defTabSz="1219170">
                <a:spcAft>
                  <a:spcPts val="800"/>
                </a:spcAft>
                <a:defRPr/>
              </a:pPr>
              <a:r>
                <a:rPr lang="en-GB" sz="1400" b="1" dirty="0">
                  <a:solidFill>
                    <a:schemeClr val="bg1"/>
                  </a:solidFill>
                  <a:latin typeface="Eurobank Sans" panose="02000503000000020004" pitchFamily="2" charset="0"/>
                </a:rPr>
                <a:t>Stock Finance</a:t>
              </a:r>
            </a:p>
          </p:txBody>
        </p:sp>
      </p:grpSp>
      <p:sp>
        <p:nvSpPr>
          <p:cNvPr id="4" name="object 2">
            <a:extLst>
              <a:ext uri="{FF2B5EF4-FFF2-40B4-BE49-F238E27FC236}">
                <a16:creationId xmlns:a16="http://schemas.microsoft.com/office/drawing/2014/main" id="{731444E8-FAFD-C95F-E78E-D6B77F63F4EE}"/>
              </a:ext>
            </a:extLst>
          </p:cNvPr>
          <p:cNvSpPr txBox="1">
            <a:spLocks/>
          </p:cNvSpPr>
          <p:nvPr/>
        </p:nvSpPr>
        <p:spPr>
          <a:xfrm>
            <a:off x="-685800" y="-169434"/>
            <a:ext cx="10578643" cy="744357"/>
          </a:xfrm>
          <a:prstGeom prst="rect">
            <a:avLst/>
          </a:prstGeom>
        </p:spPr>
        <p:txBody>
          <a:bodyPr vert="horz" wrap="square" lIns="0" tIns="310438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7875">
              <a:spcBef>
                <a:spcPts val="95"/>
              </a:spcBef>
            </a:pPr>
            <a:r>
              <a:rPr lang="en-US" sz="2800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Current Operating Model B2B: gap in provided services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22E7B73-41FE-F904-457A-B71B95DB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800" y="3828600"/>
            <a:ext cx="972000" cy="972000"/>
          </a:xfrm>
          <a:prstGeom prst="rect">
            <a:avLst/>
          </a:prstGeom>
        </p:spPr>
      </p:pic>
      <p:pic>
        <p:nvPicPr>
          <p:cNvPr id="29" name="bg object 16">
            <a:extLst>
              <a:ext uri="{FF2B5EF4-FFF2-40B4-BE49-F238E27FC236}">
                <a16:creationId xmlns:a16="http://schemas.microsoft.com/office/drawing/2014/main" id="{1C6CC11E-6E1A-409D-6642-83036DBE184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84235" y="2870422"/>
            <a:ext cx="1514855" cy="2042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A5249CD-3787-F0AE-2ABA-E863567F5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00" y="3904800"/>
            <a:ext cx="972000" cy="97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732050F-3F14-4A93-0277-7CACF9634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746" y="4448098"/>
            <a:ext cx="396000" cy="39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4F23ACE-6344-26FC-C416-E8AFD0E73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746" y="3950937"/>
            <a:ext cx="396000" cy="396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5C84CDD-892E-D222-D756-58121FF64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8463" y="4902000"/>
            <a:ext cx="432000" cy="43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0DCA939-1A23-1467-D619-231692ED6D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8463" y="4421583"/>
            <a:ext cx="432000" cy="432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DA2EF22-4EE7-89F6-BC0D-3E76E4407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9277" y="3914937"/>
            <a:ext cx="432000" cy="432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93A515C-52D2-CD3A-D894-53457090F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4050" y="3427755"/>
            <a:ext cx="432000" cy="432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9997B96-E893-97E3-D19B-17B0CEC7C2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9568" y="2895600"/>
            <a:ext cx="432000" cy="432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CCA204A-FDDE-6E84-BD94-1F8A12635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5746" y="4906743"/>
            <a:ext cx="432000" cy="432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DFA4A47-A9AF-3FC4-524B-7721A7EE51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3746" y="3346349"/>
            <a:ext cx="576000" cy="576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1645F86-F6A8-3677-E1B0-ED21EF6691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3746" y="2857200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91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799323E8-8F0A-49CB-CAEA-F4527C27662E}"/>
              </a:ext>
            </a:extLst>
          </p:cNvPr>
          <p:cNvSpPr/>
          <p:nvPr/>
        </p:nvSpPr>
        <p:spPr>
          <a:xfrm>
            <a:off x="5348694" y="3097524"/>
            <a:ext cx="1073110" cy="413539"/>
          </a:xfrm>
          <a:prstGeom prst="leftRightArrow">
            <a:avLst/>
          </a:prstGeom>
          <a:solidFill>
            <a:srgbClr val="001345"/>
          </a:solidFill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A8ED91-FA43-C4AB-77D2-8BC067C40DBC}"/>
              </a:ext>
            </a:extLst>
          </p:cNvPr>
          <p:cNvSpPr/>
          <p:nvPr/>
        </p:nvSpPr>
        <p:spPr>
          <a:xfrm>
            <a:off x="6751067" y="1850247"/>
            <a:ext cx="2568615" cy="5047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GB" sz="1400" b="1">
                <a:solidFill>
                  <a:schemeClr val="bg1"/>
                </a:solidFill>
                <a:latin typeface="Eurobank Sans" panose="02000503000000020004" pitchFamily="2" charset="0"/>
              </a:rPr>
              <a:t>D2C Components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7B6375-AC67-A95D-65E0-2B3658464496}"/>
              </a:ext>
            </a:extLst>
          </p:cNvPr>
          <p:cNvSpPr/>
          <p:nvPr/>
        </p:nvSpPr>
        <p:spPr>
          <a:xfrm>
            <a:off x="6759747" y="2428740"/>
            <a:ext cx="2597015" cy="30985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US" sz="1400" b="1" dirty="0">
                <a:solidFill>
                  <a:schemeClr val="bg1"/>
                </a:solidFill>
                <a:latin typeface="Eurobank Sans"/>
              </a:rPr>
              <a:t>Mobility Ecosystem platform</a:t>
            </a:r>
          </a:p>
          <a:p>
            <a:pPr marL="285750" indent="-285750" defTabSz="121917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Eurobank Sans"/>
              </a:rPr>
              <a:t>MaaS ( subscription model car sharing, after sales service)</a:t>
            </a:r>
          </a:p>
          <a:p>
            <a:pPr marL="285750" indent="-285750" defTabSz="121917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Eurobank Sans"/>
              </a:rPr>
              <a:t>Used car marketplace, Customer loyalty schemes</a:t>
            </a:r>
          </a:p>
          <a:p>
            <a:pPr marL="285750" indent="-285750" defTabSz="121917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Eurobank Sans"/>
              </a:rPr>
              <a:t>Retail Operating Leasing </a:t>
            </a:r>
            <a:endParaRPr lang="en-GB" sz="1400" b="1" dirty="0">
              <a:solidFill>
                <a:schemeClr val="bg1"/>
              </a:solidFill>
              <a:latin typeface="Eurobank San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DB13D7-ACBC-68A7-315F-95A26741BB53}"/>
              </a:ext>
            </a:extLst>
          </p:cNvPr>
          <p:cNvSpPr/>
          <p:nvPr/>
        </p:nvSpPr>
        <p:spPr>
          <a:xfrm rot="2220492">
            <a:off x="665463" y="862087"/>
            <a:ext cx="3322981" cy="5420274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dash"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39ED38-0711-3F8E-AA4C-F9BDFE08466B}"/>
              </a:ext>
            </a:extLst>
          </p:cNvPr>
          <p:cNvSpPr/>
          <p:nvPr/>
        </p:nvSpPr>
        <p:spPr>
          <a:xfrm rot="18326596">
            <a:off x="2157675" y="923982"/>
            <a:ext cx="3322981" cy="5372405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dash"/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D110A-37DD-935F-65F2-B945E803E2DF}"/>
              </a:ext>
            </a:extLst>
          </p:cNvPr>
          <p:cNvSpPr/>
          <p:nvPr/>
        </p:nvSpPr>
        <p:spPr>
          <a:xfrm>
            <a:off x="9431383" y="1850246"/>
            <a:ext cx="836528" cy="4698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21920" rIns="9144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GB" sz="1400" b="1" dirty="0">
                <a:solidFill>
                  <a:schemeClr val="bg1"/>
                </a:solidFill>
                <a:latin typeface="Eurobank Sans" panose="02000503000000020004" pitchFamily="2" charset="0"/>
              </a:rPr>
              <a:t>Current State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3E2CD1-2D1F-E11E-F1A6-259DE3F797A6}"/>
              </a:ext>
            </a:extLst>
          </p:cNvPr>
          <p:cNvSpPr/>
          <p:nvPr/>
        </p:nvSpPr>
        <p:spPr>
          <a:xfrm>
            <a:off x="9434210" y="2458363"/>
            <a:ext cx="845777" cy="30339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defTabSz="1219170">
              <a:spcAft>
                <a:spcPts val="800"/>
              </a:spcAft>
            </a:pPr>
            <a:endParaRPr lang="en-GB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0FC089-98C1-C86B-AA79-D517E744B82B}"/>
              </a:ext>
            </a:extLst>
          </p:cNvPr>
          <p:cNvSpPr/>
          <p:nvPr/>
        </p:nvSpPr>
        <p:spPr>
          <a:xfrm>
            <a:off x="10403522" y="1829829"/>
            <a:ext cx="836528" cy="5047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defTabSz="1219170">
              <a:spcAft>
                <a:spcPts val="800"/>
              </a:spcAft>
            </a:pPr>
            <a:r>
              <a:rPr lang="en-GB" sz="1400" b="1">
                <a:solidFill>
                  <a:schemeClr val="bg1"/>
                </a:solidFill>
                <a:latin typeface="Eurobank Sans" panose="02000503000000020004" pitchFamily="2" charset="0"/>
              </a:rPr>
              <a:t>Future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D73841-B949-2754-A115-291CFE219E73}"/>
              </a:ext>
            </a:extLst>
          </p:cNvPr>
          <p:cNvSpPr/>
          <p:nvPr/>
        </p:nvSpPr>
        <p:spPr>
          <a:xfrm>
            <a:off x="10406349" y="2472902"/>
            <a:ext cx="845777" cy="30339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defTabSz="1219170">
              <a:spcAft>
                <a:spcPts val="800"/>
              </a:spcAft>
            </a:pPr>
            <a:endParaRPr lang="en-GB" sz="2133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243F548A-5D3F-6832-0FB1-D8868E33C867}"/>
              </a:ext>
            </a:extLst>
          </p:cNvPr>
          <p:cNvSpPr txBox="1">
            <a:spLocks/>
          </p:cNvSpPr>
          <p:nvPr/>
        </p:nvSpPr>
        <p:spPr>
          <a:xfrm>
            <a:off x="-685800" y="-88590"/>
            <a:ext cx="9359443" cy="698190"/>
          </a:xfrm>
          <a:prstGeom prst="rect">
            <a:avLst/>
          </a:prstGeom>
        </p:spPr>
        <p:txBody>
          <a:bodyPr vert="horz" wrap="square" lIns="0" tIns="310438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7875">
              <a:spcBef>
                <a:spcPts val="95"/>
              </a:spcBef>
            </a:pPr>
            <a:r>
              <a:rPr lang="en-US" sz="2500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 Future Operating Model D2C : gap in provided services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67DB9C58-E85D-EC6F-739E-6DE5A1732E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345" y="2590800"/>
            <a:ext cx="1514855" cy="204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6687B4-B0A8-6E78-FC56-85A6BD4CD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871" y="3687492"/>
            <a:ext cx="1080000" cy="10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788E2-29CC-9A9C-C8FC-814E84A18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03" y="3615492"/>
            <a:ext cx="1152000" cy="115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7D962F-367B-76BD-C4A9-77ECD5CDE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3237" y="3630732"/>
            <a:ext cx="432000" cy="43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42AB4D-7192-396D-B5EA-738B0B6CC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2400" y="3657600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5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709304C-FCF7-1C62-97C7-C7ED672BA796}"/>
              </a:ext>
            </a:extLst>
          </p:cNvPr>
          <p:cNvCxnSpPr>
            <a:cxnSpLocks/>
          </p:cNvCxnSpPr>
          <p:nvPr/>
        </p:nvCxnSpPr>
        <p:spPr>
          <a:xfrm flipV="1">
            <a:off x="9067800" y="2534486"/>
            <a:ext cx="0" cy="1368000"/>
          </a:xfrm>
          <a:prstGeom prst="straightConnector1">
            <a:avLst/>
          </a:prstGeom>
          <a:ln w="19050">
            <a:solidFill>
              <a:srgbClr val="31859C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A9D5D0-53EC-63C4-C9A4-86FD3B1511AF}"/>
              </a:ext>
            </a:extLst>
          </p:cNvPr>
          <p:cNvCxnSpPr>
            <a:cxnSpLocks/>
          </p:cNvCxnSpPr>
          <p:nvPr/>
        </p:nvCxnSpPr>
        <p:spPr>
          <a:xfrm flipV="1">
            <a:off x="2857500" y="2579914"/>
            <a:ext cx="0" cy="1368000"/>
          </a:xfrm>
          <a:prstGeom prst="straightConnector1">
            <a:avLst/>
          </a:prstGeom>
          <a:ln w="19050">
            <a:solidFill>
              <a:srgbClr val="31859C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0FA395C-EF5C-D668-A8C0-53722BF76029}"/>
              </a:ext>
            </a:extLst>
          </p:cNvPr>
          <p:cNvCxnSpPr>
            <a:cxnSpLocks/>
          </p:cNvCxnSpPr>
          <p:nvPr/>
        </p:nvCxnSpPr>
        <p:spPr>
          <a:xfrm>
            <a:off x="5814854" y="2578256"/>
            <a:ext cx="0" cy="1368000"/>
          </a:xfrm>
          <a:prstGeom prst="straightConnector1">
            <a:avLst/>
          </a:prstGeom>
          <a:ln w="19050">
            <a:solidFill>
              <a:srgbClr val="1C428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6FD926-1A93-4414-4D18-746E3DE3CF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l-GR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Eurobank Sans" panose="02000503000000020004" pitchFamily="2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Eurobank Sans" panose="02000503000000020004" pitchFamily="2" charset="0"/>
            </a:endParaRPr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664068FA-E347-0964-204D-97C9541E24FE}"/>
              </a:ext>
            </a:extLst>
          </p:cNvPr>
          <p:cNvSpPr txBox="1">
            <a:spLocks/>
          </p:cNvSpPr>
          <p:nvPr/>
        </p:nvSpPr>
        <p:spPr>
          <a:xfrm>
            <a:off x="-453147" y="-165945"/>
            <a:ext cx="9359443" cy="744357"/>
          </a:xfrm>
          <a:prstGeom prst="rect">
            <a:avLst/>
          </a:prstGeom>
        </p:spPr>
        <p:txBody>
          <a:bodyPr vert="horz" wrap="square" lIns="0" tIns="310438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7875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urobank Sans Black"/>
                <a:ea typeface="+mj-ea"/>
                <a:cs typeface="Calibri"/>
              </a:rPr>
              <a:t>Next Steps</a:t>
            </a:r>
            <a:endParaRPr kumimoji="0" lang="en-US" sz="2800" b="0" i="0" u="none" strike="noStrike" kern="0" cap="none" spc="-1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Eurobank Sans Black" panose="02000503000000020003" pitchFamily="2" charset="0"/>
              <a:ea typeface="+mj-ea"/>
              <a:cs typeface="Calibri"/>
            </a:endParaRP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45810B48-DF48-AC79-A55D-478A92C3A1D9}"/>
              </a:ext>
            </a:extLst>
          </p:cNvPr>
          <p:cNvSpPr/>
          <p:nvPr/>
        </p:nvSpPr>
        <p:spPr>
          <a:xfrm>
            <a:off x="1447800" y="3048000"/>
            <a:ext cx="2895600" cy="457200"/>
          </a:xfrm>
          <a:prstGeom prst="homePlate">
            <a:avLst/>
          </a:prstGeom>
          <a:solidFill>
            <a:srgbClr val="3185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" panose="02000503000000020004" pitchFamily="2" charset="0"/>
            </a:endParaRP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B586E0D4-F33A-ADC2-3DB4-3967F80D22EC}"/>
              </a:ext>
            </a:extLst>
          </p:cNvPr>
          <p:cNvSpPr/>
          <p:nvPr/>
        </p:nvSpPr>
        <p:spPr>
          <a:xfrm>
            <a:off x="4495799" y="3047999"/>
            <a:ext cx="2895581" cy="457201"/>
          </a:xfrm>
          <a:prstGeom prst="homePlate">
            <a:avLst/>
          </a:prstGeom>
          <a:solidFill>
            <a:srgbClr val="1C42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" panose="02000503000000020004" pitchFamily="2" charset="0"/>
            </a:endParaRP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2BF63314-6FDA-849A-4D8A-D425382CDF4F}"/>
              </a:ext>
            </a:extLst>
          </p:cNvPr>
          <p:cNvSpPr/>
          <p:nvPr/>
        </p:nvSpPr>
        <p:spPr>
          <a:xfrm>
            <a:off x="7538747" y="3048000"/>
            <a:ext cx="2895569" cy="457200"/>
          </a:xfrm>
          <a:prstGeom prst="homePlate">
            <a:avLst/>
          </a:prstGeom>
          <a:solidFill>
            <a:srgbClr val="95B3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" panose="02000503000000020004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382A570-CC68-6910-01FC-53D9748EF4B9}"/>
              </a:ext>
            </a:extLst>
          </p:cNvPr>
          <p:cNvCxnSpPr>
            <a:cxnSpLocks/>
          </p:cNvCxnSpPr>
          <p:nvPr/>
        </p:nvCxnSpPr>
        <p:spPr>
          <a:xfrm>
            <a:off x="1219200" y="3276600"/>
            <a:ext cx="9525000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82">
            <a:extLst>
              <a:ext uri="{FF2B5EF4-FFF2-40B4-BE49-F238E27FC236}">
                <a16:creationId xmlns:a16="http://schemas.microsoft.com/office/drawing/2014/main" id="{EA0C1663-02EA-22DD-A424-9D88EA5EF955}"/>
              </a:ext>
            </a:extLst>
          </p:cNvPr>
          <p:cNvSpPr/>
          <p:nvPr/>
        </p:nvSpPr>
        <p:spPr>
          <a:xfrm>
            <a:off x="2438400" y="3962400"/>
            <a:ext cx="784094" cy="801877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rgbClr val="31859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" panose="02000503000000020004" pitchFamily="2" charset="0"/>
              <a:cs typeface="Helvetica"/>
            </a:endParaRPr>
          </a:p>
        </p:txBody>
      </p:sp>
      <p:sp>
        <p:nvSpPr>
          <p:cNvPr id="45" name="타원 82">
            <a:extLst>
              <a:ext uri="{FF2B5EF4-FFF2-40B4-BE49-F238E27FC236}">
                <a16:creationId xmlns:a16="http://schemas.microsoft.com/office/drawing/2014/main" id="{BA97CDC1-F17C-F24F-D976-1B2BBE1A01B0}"/>
              </a:ext>
            </a:extLst>
          </p:cNvPr>
          <p:cNvSpPr/>
          <p:nvPr/>
        </p:nvSpPr>
        <p:spPr>
          <a:xfrm>
            <a:off x="8688469" y="3962400"/>
            <a:ext cx="784094" cy="801877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rgbClr val="95B3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" panose="02000503000000020004" pitchFamily="2" charset="0"/>
              <a:cs typeface="Helvetica"/>
            </a:endParaRPr>
          </a:p>
        </p:txBody>
      </p:sp>
      <p:sp>
        <p:nvSpPr>
          <p:cNvPr id="47" name="타원 82">
            <a:extLst>
              <a:ext uri="{FF2B5EF4-FFF2-40B4-BE49-F238E27FC236}">
                <a16:creationId xmlns:a16="http://schemas.microsoft.com/office/drawing/2014/main" id="{93A5021E-073D-B54C-5843-4CC0931DF781}"/>
              </a:ext>
            </a:extLst>
          </p:cNvPr>
          <p:cNvSpPr/>
          <p:nvPr/>
        </p:nvSpPr>
        <p:spPr>
          <a:xfrm>
            <a:off x="5422807" y="1676400"/>
            <a:ext cx="784094" cy="801877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rgbClr val="1C428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robank Sans" panose="02000503000000020004" pitchFamily="2" charset="0"/>
              <a:cs typeface="Helvetic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A29F1-9D4C-E7F1-5B1E-800A291B8B75}"/>
              </a:ext>
            </a:extLst>
          </p:cNvPr>
          <p:cNvSpPr txBox="1"/>
          <p:nvPr/>
        </p:nvSpPr>
        <p:spPr>
          <a:xfrm>
            <a:off x="1828800" y="1561981"/>
            <a:ext cx="22621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Team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Recruit the right staff</a:t>
            </a:r>
          </a:p>
          <a:p>
            <a:pPr marL="285750" marR="0" lvl="0" indent="-28575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Across ERB/Retail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440234-F96B-02C6-E2F0-0D9A4971FA20}"/>
              </a:ext>
            </a:extLst>
          </p:cNvPr>
          <p:cNvSpPr txBox="1"/>
          <p:nvPr/>
        </p:nvSpPr>
        <p:spPr>
          <a:xfrm>
            <a:off x="4546637" y="4042468"/>
            <a:ext cx="28727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Streamline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indent="-104775" algn="l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Define pillars </a:t>
            </a:r>
          </a:p>
          <a:p>
            <a:pPr marL="180975" algn="l"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indent="-104775" algn="l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Identify streams &amp; </a:t>
            </a:r>
            <a:r>
              <a:rPr lang="en-US" sz="1400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substreams</a:t>
            </a:r>
            <a:endParaRPr lang="el-GR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indent="-104775" algn="l"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  <a:p>
            <a:pPr marL="285750" indent="-104775" algn="l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Transformation: integrate as a distinct / separate project category</a:t>
            </a:r>
          </a:p>
          <a:p>
            <a:pPr marL="180975" algn="ctr">
              <a:defRPr/>
            </a:pPr>
            <a:endParaRPr lang="en-US" sz="1400" dirty="0">
              <a:solidFill>
                <a:srgbClr val="002060"/>
              </a:solidFill>
              <a:latin typeface="Eurobank Sans" panose="02000503000000020004" pitchFamily="2" charset="0"/>
              <a:ea typeface="+mn-ea"/>
              <a:cs typeface="EucrosiaUPC" panose="020B0502040204020203" pitchFamily="18" charset="-3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145486-1B7E-6148-C2E0-A2E4EBE6422D}"/>
              </a:ext>
            </a:extLst>
          </p:cNvPr>
          <p:cNvSpPr txBox="1"/>
          <p:nvPr/>
        </p:nvSpPr>
        <p:spPr>
          <a:xfrm>
            <a:off x="7859542" y="1778037"/>
            <a:ext cx="25798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u="sng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Short term tasks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 err="1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Prioritise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 </a:t>
            </a:r>
            <a:r>
              <a:rPr lang="el-GR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&amp; </a:t>
            </a:r>
            <a:r>
              <a:rPr lang="en-US" sz="1400" dirty="0">
                <a:solidFill>
                  <a:srgbClr val="002060"/>
                </a:solidFill>
                <a:latin typeface="Eurobank Sans" panose="02000503000000020004" pitchFamily="2" charset="0"/>
                <a:ea typeface="+mn-ea"/>
                <a:cs typeface="EucrosiaUPC" panose="020B0502040204020203" pitchFamily="18" charset="-34"/>
              </a:rPr>
              <a:t>assign initiatives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Eurobank Sans" panose="0200050300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DA57EB-0E9A-01AD-76AB-3E1636F3AD9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523648" y="1751977"/>
            <a:ext cx="612000" cy="61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3A863E-C729-9BB7-32BA-2C49FAF06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600" y="4039333"/>
            <a:ext cx="540000" cy="5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7958A-C93F-3EF6-BF9E-B8D26A22D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804" y="4064142"/>
            <a:ext cx="571380" cy="5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2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26212" y="1511553"/>
            <a:ext cx="4755388" cy="5860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700" spc="-10" dirty="0"/>
              <a:t>Mobility </a:t>
            </a:r>
            <a:r>
              <a:rPr sz="3700" spc="-254" dirty="0"/>
              <a:t> </a:t>
            </a:r>
            <a:r>
              <a:rPr sz="3700" spc="-10" dirty="0">
                <a:solidFill>
                  <a:schemeClr val="tx2">
                    <a:lumMod val="50000"/>
                  </a:schemeClr>
                </a:solidFill>
              </a:rPr>
              <a:t>Strategy</a:t>
            </a:r>
            <a:endParaRPr sz="37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" y="2801188"/>
            <a:ext cx="6075680" cy="428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GB" sz="2650" spc="-60" dirty="0">
                <a:solidFill>
                  <a:schemeClr val="tx2">
                    <a:lumMod val="50000"/>
                  </a:schemeClr>
                </a:solidFill>
                <a:latin typeface="Tahoma"/>
                <a:cs typeface="Tahoma"/>
              </a:rPr>
              <a:t>Appendixes</a:t>
            </a:r>
            <a:endParaRPr sz="2650" dirty="0">
              <a:solidFill>
                <a:schemeClr val="tx2">
                  <a:lumMod val="50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2368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" y="1150619"/>
            <a:ext cx="12164567" cy="5411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579" y="6591401"/>
            <a:ext cx="14992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Source: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McKinsey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team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analysis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C8540A54-0437-B0A7-B36C-9B4B9BF60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0311" y="176828"/>
            <a:ext cx="1154410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2060"/>
                </a:solidFill>
                <a:latin typeface="Eurobank Sans Black" panose="02000503000000020003" pitchFamily="2" charset="0"/>
              </a:rPr>
              <a:t>WHY the scenery is Changing: Global Dynamics and Trends (2/2)</a:t>
            </a:r>
            <a:endParaRPr spc="-10" dirty="0">
              <a:solidFill>
                <a:srgbClr val="002060"/>
              </a:solidFill>
              <a:latin typeface="Eurobank Sans Black" panose="02000503000000020003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31CE6-73C2-D4F0-7CC4-B23A326DD0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l-GR" smtClean="0"/>
              <a:t>12</a:t>
            </a:fld>
            <a:endParaRPr lang="el-G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6570" y="-85359"/>
            <a:ext cx="7683043" cy="744357"/>
          </a:xfrm>
          <a:prstGeom prst="rect">
            <a:avLst/>
          </a:prstGeom>
        </p:spPr>
        <p:txBody>
          <a:bodyPr vert="horz" wrap="square" lIns="0" tIns="310438" rIns="0" bIns="0" rtlCol="0">
            <a:spAutoFit/>
          </a:bodyPr>
          <a:lstStyle/>
          <a:p>
            <a:pPr marL="777875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solidFill>
                  <a:srgbClr val="002060"/>
                </a:solidFill>
                <a:latin typeface="Eurobank Sans Black" panose="02000503000000020003" pitchFamily="2" charset="0"/>
                <a:cs typeface="Calibri"/>
              </a:rPr>
              <a:t>Ways to Response to Change</a:t>
            </a:r>
            <a:endParaRPr spc="-10" dirty="0">
              <a:solidFill>
                <a:srgbClr val="002060"/>
              </a:solidFill>
              <a:latin typeface="Eurobank Sans Black" panose="02000503000000020003" pitchFamily="2" charset="0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4" y="3444621"/>
            <a:ext cx="12164695" cy="1090295"/>
            <a:chOff x="13714" y="3444621"/>
            <a:chExt cx="12164695" cy="1090295"/>
          </a:xfrm>
        </p:grpSpPr>
        <p:sp>
          <p:nvSpPr>
            <p:cNvPr id="4" name="object 4"/>
            <p:cNvSpPr/>
            <p:nvPr/>
          </p:nvSpPr>
          <p:spPr>
            <a:xfrm>
              <a:off x="13714" y="3578352"/>
              <a:ext cx="12164695" cy="67310"/>
            </a:xfrm>
            <a:custGeom>
              <a:avLst/>
              <a:gdLst/>
              <a:ahLst/>
              <a:cxnLst/>
              <a:rect l="l" t="t" r="r" b="b"/>
              <a:pathLst>
                <a:path w="12164695" h="67310">
                  <a:moveTo>
                    <a:pt x="12164568" y="0"/>
                  </a:moveTo>
                  <a:lnTo>
                    <a:pt x="0" y="0"/>
                  </a:lnTo>
                  <a:lnTo>
                    <a:pt x="0" y="67056"/>
                  </a:lnTo>
                  <a:lnTo>
                    <a:pt x="12164568" y="67056"/>
                  </a:lnTo>
                  <a:lnTo>
                    <a:pt x="12164568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5878" y="3635787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5" h="889635">
                  <a:moveTo>
                    <a:pt x="444725" y="0"/>
                  </a:moveTo>
                  <a:lnTo>
                    <a:pt x="401004" y="8501"/>
                  </a:lnTo>
                  <a:lnTo>
                    <a:pt x="362572" y="34004"/>
                  </a:lnTo>
                  <a:lnTo>
                    <a:pt x="34023" y="362553"/>
                  </a:lnTo>
                  <a:lnTo>
                    <a:pt x="8505" y="400962"/>
                  </a:lnTo>
                  <a:lnTo>
                    <a:pt x="0" y="444658"/>
                  </a:lnTo>
                  <a:lnTo>
                    <a:pt x="8505" y="488354"/>
                  </a:lnTo>
                  <a:lnTo>
                    <a:pt x="34023" y="526764"/>
                  </a:lnTo>
                  <a:lnTo>
                    <a:pt x="362572" y="855313"/>
                  </a:lnTo>
                  <a:lnTo>
                    <a:pt x="401004" y="880816"/>
                  </a:lnTo>
                  <a:lnTo>
                    <a:pt x="444725" y="889317"/>
                  </a:lnTo>
                  <a:lnTo>
                    <a:pt x="488441" y="880816"/>
                  </a:lnTo>
                  <a:lnTo>
                    <a:pt x="526859" y="855313"/>
                  </a:lnTo>
                  <a:lnTo>
                    <a:pt x="855408" y="526764"/>
                  </a:lnTo>
                  <a:lnTo>
                    <a:pt x="880911" y="488354"/>
                  </a:lnTo>
                  <a:lnTo>
                    <a:pt x="889412" y="444658"/>
                  </a:lnTo>
                  <a:lnTo>
                    <a:pt x="880911" y="400962"/>
                  </a:lnTo>
                  <a:lnTo>
                    <a:pt x="855408" y="362553"/>
                  </a:lnTo>
                  <a:lnTo>
                    <a:pt x="526859" y="34004"/>
                  </a:lnTo>
                  <a:lnTo>
                    <a:pt x="488441" y="8501"/>
                  </a:lnTo>
                  <a:lnTo>
                    <a:pt x="444725" y="0"/>
                  </a:lnTo>
                  <a:close/>
                </a:path>
              </a:pathLst>
            </a:custGeom>
            <a:solidFill>
              <a:srgbClr val="0C9B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878" y="3635787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5" h="889635">
                  <a:moveTo>
                    <a:pt x="362572" y="34004"/>
                  </a:moveTo>
                  <a:lnTo>
                    <a:pt x="401004" y="8501"/>
                  </a:lnTo>
                  <a:lnTo>
                    <a:pt x="444725" y="0"/>
                  </a:lnTo>
                  <a:lnTo>
                    <a:pt x="488441" y="8501"/>
                  </a:lnTo>
                  <a:lnTo>
                    <a:pt x="526859" y="34004"/>
                  </a:lnTo>
                  <a:lnTo>
                    <a:pt x="855408" y="362553"/>
                  </a:lnTo>
                  <a:lnTo>
                    <a:pt x="880911" y="400962"/>
                  </a:lnTo>
                  <a:lnTo>
                    <a:pt x="889412" y="444658"/>
                  </a:lnTo>
                  <a:lnTo>
                    <a:pt x="880911" y="488354"/>
                  </a:lnTo>
                  <a:lnTo>
                    <a:pt x="855408" y="526764"/>
                  </a:lnTo>
                  <a:lnTo>
                    <a:pt x="526859" y="855313"/>
                  </a:lnTo>
                  <a:lnTo>
                    <a:pt x="488441" y="880816"/>
                  </a:lnTo>
                  <a:lnTo>
                    <a:pt x="444725" y="889317"/>
                  </a:lnTo>
                  <a:lnTo>
                    <a:pt x="401004" y="880816"/>
                  </a:lnTo>
                  <a:lnTo>
                    <a:pt x="362572" y="855313"/>
                  </a:lnTo>
                  <a:lnTo>
                    <a:pt x="34023" y="526764"/>
                  </a:lnTo>
                  <a:lnTo>
                    <a:pt x="8505" y="488354"/>
                  </a:lnTo>
                  <a:lnTo>
                    <a:pt x="0" y="444658"/>
                  </a:lnTo>
                  <a:lnTo>
                    <a:pt x="8505" y="400962"/>
                  </a:lnTo>
                  <a:lnTo>
                    <a:pt x="34023" y="362553"/>
                  </a:lnTo>
                  <a:lnTo>
                    <a:pt x="362572" y="340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1946" y="3454146"/>
              <a:ext cx="318770" cy="317500"/>
            </a:xfrm>
            <a:custGeom>
              <a:avLst/>
              <a:gdLst/>
              <a:ahLst/>
              <a:cxnLst/>
              <a:rect l="l" t="t" r="r" b="b"/>
              <a:pathLst>
                <a:path w="318769" h="317500">
                  <a:moveTo>
                    <a:pt x="159257" y="0"/>
                  </a:moveTo>
                  <a:lnTo>
                    <a:pt x="108918" y="8083"/>
                  </a:lnTo>
                  <a:lnTo>
                    <a:pt x="65200" y="30589"/>
                  </a:lnTo>
                  <a:lnTo>
                    <a:pt x="30726" y="64904"/>
                  </a:lnTo>
                  <a:lnTo>
                    <a:pt x="8118" y="108411"/>
                  </a:lnTo>
                  <a:lnTo>
                    <a:pt x="0" y="158495"/>
                  </a:lnTo>
                  <a:lnTo>
                    <a:pt x="8118" y="208580"/>
                  </a:lnTo>
                  <a:lnTo>
                    <a:pt x="30726" y="252087"/>
                  </a:lnTo>
                  <a:lnTo>
                    <a:pt x="65200" y="286402"/>
                  </a:lnTo>
                  <a:lnTo>
                    <a:pt x="108918" y="308908"/>
                  </a:lnTo>
                  <a:lnTo>
                    <a:pt x="159257" y="316991"/>
                  </a:lnTo>
                  <a:lnTo>
                    <a:pt x="209617" y="308908"/>
                  </a:lnTo>
                  <a:lnTo>
                    <a:pt x="253337" y="286402"/>
                  </a:lnTo>
                  <a:lnTo>
                    <a:pt x="287804" y="252087"/>
                  </a:lnTo>
                  <a:lnTo>
                    <a:pt x="310402" y="208580"/>
                  </a:lnTo>
                  <a:lnTo>
                    <a:pt x="318516" y="158495"/>
                  </a:lnTo>
                  <a:lnTo>
                    <a:pt x="310402" y="108411"/>
                  </a:lnTo>
                  <a:lnTo>
                    <a:pt x="287804" y="64904"/>
                  </a:lnTo>
                  <a:lnTo>
                    <a:pt x="253337" y="30589"/>
                  </a:lnTo>
                  <a:lnTo>
                    <a:pt x="209617" y="8083"/>
                  </a:lnTo>
                  <a:lnTo>
                    <a:pt x="159257" y="0"/>
                  </a:lnTo>
                  <a:close/>
                </a:path>
              </a:pathLst>
            </a:custGeom>
            <a:solidFill>
              <a:srgbClr val="BE9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1946" y="3454146"/>
              <a:ext cx="318770" cy="317500"/>
            </a:xfrm>
            <a:custGeom>
              <a:avLst/>
              <a:gdLst/>
              <a:ahLst/>
              <a:cxnLst/>
              <a:rect l="l" t="t" r="r" b="b"/>
              <a:pathLst>
                <a:path w="318769" h="317500">
                  <a:moveTo>
                    <a:pt x="0" y="158495"/>
                  </a:moveTo>
                  <a:lnTo>
                    <a:pt x="8118" y="108411"/>
                  </a:lnTo>
                  <a:lnTo>
                    <a:pt x="30726" y="64904"/>
                  </a:lnTo>
                  <a:lnTo>
                    <a:pt x="65200" y="30589"/>
                  </a:lnTo>
                  <a:lnTo>
                    <a:pt x="108918" y="8083"/>
                  </a:lnTo>
                  <a:lnTo>
                    <a:pt x="159257" y="0"/>
                  </a:lnTo>
                  <a:lnTo>
                    <a:pt x="209617" y="8083"/>
                  </a:lnTo>
                  <a:lnTo>
                    <a:pt x="253337" y="30589"/>
                  </a:lnTo>
                  <a:lnTo>
                    <a:pt x="287804" y="64904"/>
                  </a:lnTo>
                  <a:lnTo>
                    <a:pt x="310402" y="108411"/>
                  </a:lnTo>
                  <a:lnTo>
                    <a:pt x="318516" y="158495"/>
                  </a:lnTo>
                  <a:lnTo>
                    <a:pt x="310402" y="208580"/>
                  </a:lnTo>
                  <a:lnTo>
                    <a:pt x="287804" y="252087"/>
                  </a:lnTo>
                  <a:lnTo>
                    <a:pt x="253337" y="286402"/>
                  </a:lnTo>
                  <a:lnTo>
                    <a:pt x="209617" y="308908"/>
                  </a:lnTo>
                  <a:lnTo>
                    <a:pt x="159257" y="316991"/>
                  </a:lnTo>
                  <a:lnTo>
                    <a:pt x="108918" y="308908"/>
                  </a:lnTo>
                  <a:lnTo>
                    <a:pt x="65200" y="286402"/>
                  </a:lnTo>
                  <a:lnTo>
                    <a:pt x="30726" y="252087"/>
                  </a:lnTo>
                  <a:lnTo>
                    <a:pt x="8118" y="208580"/>
                  </a:lnTo>
                  <a:lnTo>
                    <a:pt x="0" y="1584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4704334"/>
            <a:ext cx="2656840" cy="0"/>
          </a:xfrm>
          <a:custGeom>
            <a:avLst/>
            <a:gdLst/>
            <a:ahLst/>
            <a:cxnLst/>
            <a:rect l="l" t="t" r="r" b="b"/>
            <a:pathLst>
              <a:path w="2656840">
                <a:moveTo>
                  <a:pt x="0" y="0"/>
                </a:moveTo>
                <a:lnTo>
                  <a:pt x="2656839" y="0"/>
                </a:lnTo>
              </a:path>
            </a:pathLst>
          </a:custGeom>
          <a:ln w="38100">
            <a:solidFill>
              <a:srgbClr val="BE9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712" y="4822697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38" y="25400"/>
                </a:moveTo>
                <a:lnTo>
                  <a:pt x="24752" y="22098"/>
                </a:lnTo>
                <a:lnTo>
                  <a:pt x="20929" y="22098"/>
                </a:lnTo>
                <a:lnTo>
                  <a:pt x="17106" y="22098"/>
                </a:lnTo>
                <a:lnTo>
                  <a:pt x="14008" y="25400"/>
                </a:lnTo>
                <a:lnTo>
                  <a:pt x="14008" y="33401"/>
                </a:lnTo>
                <a:lnTo>
                  <a:pt x="17106" y="36576"/>
                </a:lnTo>
                <a:lnTo>
                  <a:pt x="24752" y="36576"/>
                </a:lnTo>
                <a:lnTo>
                  <a:pt x="27838" y="33401"/>
                </a:lnTo>
                <a:lnTo>
                  <a:pt x="27838" y="25400"/>
                </a:lnTo>
                <a:close/>
              </a:path>
              <a:path w="98425" h="36829">
                <a:moveTo>
                  <a:pt x="85280" y="25400"/>
                </a:moveTo>
                <a:lnTo>
                  <a:pt x="82181" y="22098"/>
                </a:lnTo>
                <a:lnTo>
                  <a:pt x="78371" y="22098"/>
                </a:lnTo>
                <a:lnTo>
                  <a:pt x="74549" y="22098"/>
                </a:lnTo>
                <a:lnTo>
                  <a:pt x="71450" y="25400"/>
                </a:lnTo>
                <a:lnTo>
                  <a:pt x="71450" y="33401"/>
                </a:lnTo>
                <a:lnTo>
                  <a:pt x="74549" y="36576"/>
                </a:lnTo>
                <a:lnTo>
                  <a:pt x="82181" y="36576"/>
                </a:lnTo>
                <a:lnTo>
                  <a:pt x="85280" y="33401"/>
                </a:lnTo>
                <a:lnTo>
                  <a:pt x="85280" y="25400"/>
                </a:lnTo>
                <a:close/>
              </a:path>
              <a:path w="98425" h="36829">
                <a:moveTo>
                  <a:pt x="98044" y="24130"/>
                </a:moveTo>
                <a:lnTo>
                  <a:pt x="97523" y="23114"/>
                </a:lnTo>
                <a:lnTo>
                  <a:pt x="96672" y="22352"/>
                </a:lnTo>
                <a:lnTo>
                  <a:pt x="95745" y="21590"/>
                </a:lnTo>
                <a:lnTo>
                  <a:pt x="95313" y="21209"/>
                </a:lnTo>
                <a:lnTo>
                  <a:pt x="93764" y="19304"/>
                </a:lnTo>
                <a:lnTo>
                  <a:pt x="92113" y="17399"/>
                </a:lnTo>
                <a:lnTo>
                  <a:pt x="91236" y="16383"/>
                </a:lnTo>
                <a:lnTo>
                  <a:pt x="81064" y="11303"/>
                </a:lnTo>
                <a:lnTo>
                  <a:pt x="76657" y="10922"/>
                </a:lnTo>
                <a:lnTo>
                  <a:pt x="69329" y="10287"/>
                </a:lnTo>
                <a:lnTo>
                  <a:pt x="63461" y="6477"/>
                </a:lnTo>
                <a:lnTo>
                  <a:pt x="57353" y="3175"/>
                </a:lnTo>
                <a:lnTo>
                  <a:pt x="51028" y="254"/>
                </a:lnTo>
                <a:lnTo>
                  <a:pt x="50317" y="0"/>
                </a:lnTo>
                <a:lnTo>
                  <a:pt x="49479" y="254"/>
                </a:lnTo>
                <a:lnTo>
                  <a:pt x="48425" y="1651"/>
                </a:lnTo>
                <a:lnTo>
                  <a:pt x="48590" y="2794"/>
                </a:lnTo>
                <a:lnTo>
                  <a:pt x="49364" y="3429"/>
                </a:lnTo>
                <a:lnTo>
                  <a:pt x="49542" y="3556"/>
                </a:lnTo>
                <a:lnTo>
                  <a:pt x="52387" y="5207"/>
                </a:lnTo>
                <a:lnTo>
                  <a:pt x="55054" y="6858"/>
                </a:lnTo>
                <a:lnTo>
                  <a:pt x="57619" y="8763"/>
                </a:lnTo>
                <a:lnTo>
                  <a:pt x="54305" y="8763"/>
                </a:lnTo>
                <a:lnTo>
                  <a:pt x="53365" y="9779"/>
                </a:lnTo>
                <a:lnTo>
                  <a:pt x="53365" y="10922"/>
                </a:lnTo>
                <a:lnTo>
                  <a:pt x="40335" y="10922"/>
                </a:lnTo>
                <a:lnTo>
                  <a:pt x="39547" y="10795"/>
                </a:lnTo>
                <a:lnTo>
                  <a:pt x="39547" y="9906"/>
                </a:lnTo>
                <a:lnTo>
                  <a:pt x="39573" y="5588"/>
                </a:lnTo>
                <a:lnTo>
                  <a:pt x="38823" y="4572"/>
                </a:lnTo>
                <a:lnTo>
                  <a:pt x="37769" y="4445"/>
                </a:lnTo>
                <a:lnTo>
                  <a:pt x="36614" y="4191"/>
                </a:lnTo>
                <a:lnTo>
                  <a:pt x="35521" y="4953"/>
                </a:lnTo>
                <a:lnTo>
                  <a:pt x="35407" y="5588"/>
                </a:lnTo>
                <a:lnTo>
                  <a:pt x="35293" y="9906"/>
                </a:lnTo>
                <a:lnTo>
                  <a:pt x="29972" y="8763"/>
                </a:lnTo>
                <a:lnTo>
                  <a:pt x="24917" y="7874"/>
                </a:lnTo>
                <a:lnTo>
                  <a:pt x="23647" y="7747"/>
                </a:lnTo>
                <a:lnTo>
                  <a:pt x="22339" y="7747"/>
                </a:lnTo>
                <a:lnTo>
                  <a:pt x="21082" y="8001"/>
                </a:lnTo>
                <a:lnTo>
                  <a:pt x="19989" y="8255"/>
                </a:lnTo>
                <a:lnTo>
                  <a:pt x="18872" y="8636"/>
                </a:lnTo>
                <a:lnTo>
                  <a:pt x="18262" y="8763"/>
                </a:lnTo>
                <a:lnTo>
                  <a:pt x="14439" y="10033"/>
                </a:lnTo>
                <a:lnTo>
                  <a:pt x="4826" y="13462"/>
                </a:lnTo>
                <a:lnTo>
                  <a:pt x="2070" y="15494"/>
                </a:lnTo>
                <a:lnTo>
                  <a:pt x="0" y="16891"/>
                </a:lnTo>
                <a:lnTo>
                  <a:pt x="1206" y="25654"/>
                </a:lnTo>
                <a:lnTo>
                  <a:pt x="177" y="26924"/>
                </a:lnTo>
                <a:lnTo>
                  <a:pt x="114" y="29083"/>
                </a:lnTo>
                <a:lnTo>
                  <a:pt x="11061" y="31623"/>
                </a:lnTo>
                <a:lnTo>
                  <a:pt x="10579" y="29464"/>
                </a:lnTo>
                <a:lnTo>
                  <a:pt x="10756" y="27686"/>
                </a:lnTo>
                <a:lnTo>
                  <a:pt x="10883" y="26924"/>
                </a:lnTo>
                <a:lnTo>
                  <a:pt x="11747" y="25019"/>
                </a:lnTo>
                <a:lnTo>
                  <a:pt x="14008" y="19685"/>
                </a:lnTo>
                <a:lnTo>
                  <a:pt x="19964" y="17399"/>
                </a:lnTo>
                <a:lnTo>
                  <a:pt x="25057" y="19685"/>
                </a:lnTo>
                <a:lnTo>
                  <a:pt x="28702" y="21463"/>
                </a:lnTo>
                <a:lnTo>
                  <a:pt x="30949" y="25019"/>
                </a:lnTo>
                <a:lnTo>
                  <a:pt x="30911" y="31242"/>
                </a:lnTo>
                <a:lnTo>
                  <a:pt x="30822" y="31623"/>
                </a:lnTo>
                <a:lnTo>
                  <a:pt x="30556" y="32512"/>
                </a:lnTo>
                <a:lnTo>
                  <a:pt x="68745" y="32512"/>
                </a:lnTo>
                <a:lnTo>
                  <a:pt x="67017" y="27051"/>
                </a:lnTo>
                <a:lnTo>
                  <a:pt x="69926" y="21082"/>
                </a:lnTo>
                <a:lnTo>
                  <a:pt x="75234" y="19304"/>
                </a:lnTo>
                <a:lnTo>
                  <a:pt x="80556" y="17399"/>
                </a:lnTo>
                <a:lnTo>
                  <a:pt x="86258" y="20447"/>
                </a:lnTo>
                <a:lnTo>
                  <a:pt x="88493" y="27686"/>
                </a:lnTo>
                <a:lnTo>
                  <a:pt x="88607" y="29464"/>
                </a:lnTo>
                <a:lnTo>
                  <a:pt x="88303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6191" y="4729353"/>
            <a:ext cx="229806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Take</a:t>
            </a:r>
            <a:r>
              <a:rPr sz="1200" spc="409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advantage</a:t>
            </a:r>
            <a:r>
              <a:rPr sz="1200" spc="400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of</a:t>
            </a:r>
            <a:r>
              <a:rPr sz="1200" spc="405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continuous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communication</a:t>
            </a:r>
            <a:r>
              <a:rPr sz="1200" spc="-3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with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customers</a:t>
            </a:r>
            <a:endParaRPr sz="120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Commercial</a:t>
            </a:r>
            <a:r>
              <a:rPr sz="1200" spc="135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opportunity</a:t>
            </a:r>
            <a:r>
              <a:rPr sz="1200" spc="135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for</a:t>
            </a:r>
            <a:r>
              <a:rPr sz="1200" spc="135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both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fleets</a:t>
            </a:r>
            <a:r>
              <a:rPr sz="1200" spc="265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and</a:t>
            </a:r>
            <a:r>
              <a:rPr sz="1200" spc="265" dirty="0">
                <a:solidFill>
                  <a:srgbClr val="174E69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infrastructure</a:t>
            </a:r>
            <a:r>
              <a:rPr lang="en-US" sz="12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(Credit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Agricole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with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FCA</a:t>
            </a:r>
            <a:r>
              <a:rPr sz="1200" spc="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Bank)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712" y="5238750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38" y="25400"/>
                </a:moveTo>
                <a:lnTo>
                  <a:pt x="24752" y="22098"/>
                </a:lnTo>
                <a:lnTo>
                  <a:pt x="20929" y="22098"/>
                </a:lnTo>
                <a:lnTo>
                  <a:pt x="17106" y="22098"/>
                </a:lnTo>
                <a:lnTo>
                  <a:pt x="14008" y="25400"/>
                </a:lnTo>
                <a:lnTo>
                  <a:pt x="14008" y="33401"/>
                </a:lnTo>
                <a:lnTo>
                  <a:pt x="17106" y="36576"/>
                </a:lnTo>
                <a:lnTo>
                  <a:pt x="24752" y="36576"/>
                </a:lnTo>
                <a:lnTo>
                  <a:pt x="27838" y="33401"/>
                </a:lnTo>
                <a:lnTo>
                  <a:pt x="27838" y="25400"/>
                </a:lnTo>
                <a:close/>
              </a:path>
              <a:path w="98425" h="36829">
                <a:moveTo>
                  <a:pt x="85280" y="25400"/>
                </a:moveTo>
                <a:lnTo>
                  <a:pt x="82181" y="22098"/>
                </a:lnTo>
                <a:lnTo>
                  <a:pt x="78371" y="22098"/>
                </a:lnTo>
                <a:lnTo>
                  <a:pt x="74549" y="22098"/>
                </a:lnTo>
                <a:lnTo>
                  <a:pt x="71450" y="25400"/>
                </a:lnTo>
                <a:lnTo>
                  <a:pt x="71450" y="33401"/>
                </a:lnTo>
                <a:lnTo>
                  <a:pt x="74549" y="36576"/>
                </a:lnTo>
                <a:lnTo>
                  <a:pt x="82181" y="36576"/>
                </a:lnTo>
                <a:lnTo>
                  <a:pt x="85280" y="33401"/>
                </a:lnTo>
                <a:lnTo>
                  <a:pt x="85280" y="25400"/>
                </a:lnTo>
                <a:close/>
              </a:path>
              <a:path w="98425" h="36829">
                <a:moveTo>
                  <a:pt x="98044" y="24130"/>
                </a:moveTo>
                <a:lnTo>
                  <a:pt x="97523" y="23114"/>
                </a:lnTo>
                <a:lnTo>
                  <a:pt x="96672" y="22352"/>
                </a:lnTo>
                <a:lnTo>
                  <a:pt x="95745" y="21590"/>
                </a:lnTo>
                <a:lnTo>
                  <a:pt x="95313" y="21209"/>
                </a:lnTo>
                <a:lnTo>
                  <a:pt x="93764" y="19304"/>
                </a:lnTo>
                <a:lnTo>
                  <a:pt x="92113" y="17399"/>
                </a:lnTo>
                <a:lnTo>
                  <a:pt x="91236" y="16383"/>
                </a:lnTo>
                <a:lnTo>
                  <a:pt x="81064" y="11303"/>
                </a:lnTo>
                <a:lnTo>
                  <a:pt x="76657" y="10922"/>
                </a:lnTo>
                <a:lnTo>
                  <a:pt x="69329" y="10287"/>
                </a:lnTo>
                <a:lnTo>
                  <a:pt x="63461" y="6477"/>
                </a:lnTo>
                <a:lnTo>
                  <a:pt x="57353" y="3175"/>
                </a:lnTo>
                <a:lnTo>
                  <a:pt x="51028" y="254"/>
                </a:lnTo>
                <a:lnTo>
                  <a:pt x="50317" y="0"/>
                </a:lnTo>
                <a:lnTo>
                  <a:pt x="49479" y="254"/>
                </a:lnTo>
                <a:lnTo>
                  <a:pt x="48425" y="1651"/>
                </a:lnTo>
                <a:lnTo>
                  <a:pt x="48590" y="2794"/>
                </a:lnTo>
                <a:lnTo>
                  <a:pt x="49364" y="3429"/>
                </a:lnTo>
                <a:lnTo>
                  <a:pt x="49542" y="3556"/>
                </a:lnTo>
                <a:lnTo>
                  <a:pt x="52387" y="5207"/>
                </a:lnTo>
                <a:lnTo>
                  <a:pt x="55054" y="6858"/>
                </a:lnTo>
                <a:lnTo>
                  <a:pt x="57619" y="8763"/>
                </a:lnTo>
                <a:lnTo>
                  <a:pt x="54305" y="8763"/>
                </a:lnTo>
                <a:lnTo>
                  <a:pt x="53365" y="9779"/>
                </a:lnTo>
                <a:lnTo>
                  <a:pt x="53365" y="10922"/>
                </a:lnTo>
                <a:lnTo>
                  <a:pt x="40335" y="10922"/>
                </a:lnTo>
                <a:lnTo>
                  <a:pt x="39547" y="10795"/>
                </a:lnTo>
                <a:lnTo>
                  <a:pt x="39547" y="9906"/>
                </a:lnTo>
                <a:lnTo>
                  <a:pt x="39573" y="5588"/>
                </a:lnTo>
                <a:lnTo>
                  <a:pt x="38823" y="4572"/>
                </a:lnTo>
                <a:lnTo>
                  <a:pt x="37769" y="4445"/>
                </a:lnTo>
                <a:lnTo>
                  <a:pt x="36614" y="4191"/>
                </a:lnTo>
                <a:lnTo>
                  <a:pt x="35521" y="4953"/>
                </a:lnTo>
                <a:lnTo>
                  <a:pt x="35407" y="5588"/>
                </a:lnTo>
                <a:lnTo>
                  <a:pt x="35293" y="9906"/>
                </a:lnTo>
                <a:lnTo>
                  <a:pt x="29972" y="8763"/>
                </a:lnTo>
                <a:lnTo>
                  <a:pt x="24917" y="7874"/>
                </a:lnTo>
                <a:lnTo>
                  <a:pt x="23647" y="7747"/>
                </a:lnTo>
                <a:lnTo>
                  <a:pt x="22339" y="7747"/>
                </a:lnTo>
                <a:lnTo>
                  <a:pt x="21082" y="8001"/>
                </a:lnTo>
                <a:lnTo>
                  <a:pt x="19989" y="8255"/>
                </a:lnTo>
                <a:lnTo>
                  <a:pt x="18872" y="8636"/>
                </a:lnTo>
                <a:lnTo>
                  <a:pt x="18262" y="8763"/>
                </a:lnTo>
                <a:lnTo>
                  <a:pt x="14439" y="10033"/>
                </a:lnTo>
                <a:lnTo>
                  <a:pt x="4826" y="13462"/>
                </a:lnTo>
                <a:lnTo>
                  <a:pt x="2070" y="15494"/>
                </a:lnTo>
                <a:lnTo>
                  <a:pt x="0" y="16891"/>
                </a:lnTo>
                <a:lnTo>
                  <a:pt x="1206" y="25654"/>
                </a:lnTo>
                <a:lnTo>
                  <a:pt x="177" y="26924"/>
                </a:lnTo>
                <a:lnTo>
                  <a:pt x="114" y="29083"/>
                </a:lnTo>
                <a:lnTo>
                  <a:pt x="11061" y="31623"/>
                </a:lnTo>
                <a:lnTo>
                  <a:pt x="10579" y="29464"/>
                </a:lnTo>
                <a:lnTo>
                  <a:pt x="10756" y="27686"/>
                </a:lnTo>
                <a:lnTo>
                  <a:pt x="10883" y="26924"/>
                </a:lnTo>
                <a:lnTo>
                  <a:pt x="11747" y="25019"/>
                </a:lnTo>
                <a:lnTo>
                  <a:pt x="14008" y="19685"/>
                </a:lnTo>
                <a:lnTo>
                  <a:pt x="19964" y="17399"/>
                </a:lnTo>
                <a:lnTo>
                  <a:pt x="25057" y="19685"/>
                </a:lnTo>
                <a:lnTo>
                  <a:pt x="28702" y="21463"/>
                </a:lnTo>
                <a:lnTo>
                  <a:pt x="30949" y="25019"/>
                </a:lnTo>
                <a:lnTo>
                  <a:pt x="30911" y="31242"/>
                </a:lnTo>
                <a:lnTo>
                  <a:pt x="30822" y="31623"/>
                </a:lnTo>
                <a:lnTo>
                  <a:pt x="30556" y="32512"/>
                </a:lnTo>
                <a:lnTo>
                  <a:pt x="68745" y="32512"/>
                </a:lnTo>
                <a:lnTo>
                  <a:pt x="67017" y="27051"/>
                </a:lnTo>
                <a:lnTo>
                  <a:pt x="69926" y="21082"/>
                </a:lnTo>
                <a:lnTo>
                  <a:pt x="75234" y="19304"/>
                </a:lnTo>
                <a:lnTo>
                  <a:pt x="80556" y="17399"/>
                </a:lnTo>
                <a:lnTo>
                  <a:pt x="86258" y="20447"/>
                </a:lnTo>
                <a:lnTo>
                  <a:pt x="88493" y="27686"/>
                </a:lnTo>
                <a:lnTo>
                  <a:pt x="88607" y="29464"/>
                </a:lnTo>
                <a:lnTo>
                  <a:pt x="88303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33690" y="1170050"/>
            <a:ext cx="3507104" cy="0"/>
          </a:xfrm>
          <a:custGeom>
            <a:avLst/>
            <a:gdLst/>
            <a:ahLst/>
            <a:cxnLst/>
            <a:rect l="l" t="t" r="r" b="b"/>
            <a:pathLst>
              <a:path w="3507104">
                <a:moveTo>
                  <a:pt x="0" y="0"/>
                </a:moveTo>
                <a:lnTo>
                  <a:pt x="3506762" y="0"/>
                </a:lnTo>
              </a:path>
            </a:pathLst>
          </a:custGeom>
          <a:ln w="38100">
            <a:solidFill>
              <a:srgbClr val="0AD0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91971" y="1288414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274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274"/>
                </a:lnTo>
                <a:lnTo>
                  <a:pt x="27813" y="25400"/>
                </a:lnTo>
                <a:close/>
              </a:path>
              <a:path w="98425" h="36830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274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274"/>
                </a:lnTo>
                <a:lnTo>
                  <a:pt x="85217" y="25400"/>
                </a:lnTo>
                <a:close/>
              </a:path>
              <a:path w="98425" h="36830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139" y="21971"/>
                </a:lnTo>
                <a:lnTo>
                  <a:pt x="95262" y="21082"/>
                </a:lnTo>
                <a:lnTo>
                  <a:pt x="92062" y="17399"/>
                </a:lnTo>
                <a:lnTo>
                  <a:pt x="91948" y="17272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277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403" y="127"/>
                </a:lnTo>
                <a:lnTo>
                  <a:pt x="49022" y="889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324" y="5080"/>
                </a:lnTo>
                <a:lnTo>
                  <a:pt x="54991" y="6858"/>
                </a:lnTo>
                <a:lnTo>
                  <a:pt x="57658" y="8763"/>
                </a:lnTo>
                <a:lnTo>
                  <a:pt x="54229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259" y="10922"/>
                </a:lnTo>
                <a:lnTo>
                  <a:pt x="39497" y="10668"/>
                </a:lnTo>
                <a:lnTo>
                  <a:pt x="39497" y="9906"/>
                </a:lnTo>
                <a:lnTo>
                  <a:pt x="39497" y="5588"/>
                </a:lnTo>
                <a:lnTo>
                  <a:pt x="38862" y="4572"/>
                </a:lnTo>
                <a:lnTo>
                  <a:pt x="37719" y="4318"/>
                </a:lnTo>
                <a:lnTo>
                  <a:pt x="36576" y="4191"/>
                </a:lnTo>
                <a:lnTo>
                  <a:pt x="35560" y="4953"/>
                </a:lnTo>
                <a:lnTo>
                  <a:pt x="35306" y="6223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032" y="15494"/>
                </a:lnTo>
                <a:lnTo>
                  <a:pt x="0" y="16891"/>
                </a:lnTo>
                <a:lnTo>
                  <a:pt x="1143" y="25654"/>
                </a:lnTo>
                <a:lnTo>
                  <a:pt x="127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541" y="29464"/>
                </a:lnTo>
                <a:lnTo>
                  <a:pt x="10718" y="27686"/>
                </a:lnTo>
                <a:lnTo>
                  <a:pt x="10845" y="26924"/>
                </a:lnTo>
                <a:lnTo>
                  <a:pt x="13970" y="19685"/>
                </a:lnTo>
                <a:lnTo>
                  <a:pt x="19939" y="17272"/>
                </a:lnTo>
                <a:lnTo>
                  <a:pt x="25019" y="19685"/>
                </a:lnTo>
                <a:lnTo>
                  <a:pt x="28702" y="21336"/>
                </a:lnTo>
                <a:lnTo>
                  <a:pt x="30988" y="25146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184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49705" y="1194308"/>
            <a:ext cx="3049905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Customer</a:t>
            </a:r>
            <a:r>
              <a:rPr sz="1200" spc="47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financing</a:t>
            </a:r>
            <a:r>
              <a:rPr sz="1200" spc="484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experience</a:t>
            </a:r>
            <a:r>
              <a:rPr sz="1200" spc="484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improvement,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enhancing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loyalty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New</a:t>
            </a:r>
            <a:r>
              <a:rPr sz="1200" spc="-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financing</a:t>
            </a:r>
            <a:r>
              <a:rPr sz="1200" spc="-3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propositions</a:t>
            </a:r>
            <a:r>
              <a:rPr sz="1200" spc="-4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development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91971" y="1704466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274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274"/>
                </a:lnTo>
                <a:lnTo>
                  <a:pt x="27813" y="25400"/>
                </a:lnTo>
                <a:close/>
              </a:path>
              <a:path w="98425" h="36830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274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274"/>
                </a:lnTo>
                <a:lnTo>
                  <a:pt x="85217" y="25400"/>
                </a:lnTo>
                <a:close/>
              </a:path>
              <a:path w="98425" h="36830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139" y="21971"/>
                </a:lnTo>
                <a:lnTo>
                  <a:pt x="95262" y="21082"/>
                </a:lnTo>
                <a:lnTo>
                  <a:pt x="92062" y="17399"/>
                </a:lnTo>
                <a:lnTo>
                  <a:pt x="91948" y="17272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6631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277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403" y="127"/>
                </a:lnTo>
                <a:lnTo>
                  <a:pt x="49022" y="889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324" y="5080"/>
                </a:lnTo>
                <a:lnTo>
                  <a:pt x="54991" y="6858"/>
                </a:lnTo>
                <a:lnTo>
                  <a:pt x="57658" y="8763"/>
                </a:lnTo>
                <a:lnTo>
                  <a:pt x="54229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259" y="10922"/>
                </a:lnTo>
                <a:lnTo>
                  <a:pt x="39497" y="10668"/>
                </a:lnTo>
                <a:lnTo>
                  <a:pt x="39497" y="9906"/>
                </a:lnTo>
                <a:lnTo>
                  <a:pt x="39497" y="5588"/>
                </a:lnTo>
                <a:lnTo>
                  <a:pt x="38862" y="4572"/>
                </a:lnTo>
                <a:lnTo>
                  <a:pt x="37719" y="4318"/>
                </a:lnTo>
                <a:lnTo>
                  <a:pt x="36576" y="4191"/>
                </a:lnTo>
                <a:lnTo>
                  <a:pt x="35560" y="4953"/>
                </a:lnTo>
                <a:lnTo>
                  <a:pt x="35306" y="6223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032" y="15494"/>
                </a:lnTo>
                <a:lnTo>
                  <a:pt x="0" y="16891"/>
                </a:lnTo>
                <a:lnTo>
                  <a:pt x="1143" y="25654"/>
                </a:lnTo>
                <a:lnTo>
                  <a:pt x="127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541" y="29464"/>
                </a:lnTo>
                <a:lnTo>
                  <a:pt x="10718" y="27686"/>
                </a:lnTo>
                <a:lnTo>
                  <a:pt x="10845" y="26924"/>
                </a:lnTo>
                <a:lnTo>
                  <a:pt x="13970" y="19685"/>
                </a:lnTo>
                <a:lnTo>
                  <a:pt x="19939" y="17272"/>
                </a:lnTo>
                <a:lnTo>
                  <a:pt x="25019" y="19685"/>
                </a:lnTo>
                <a:lnTo>
                  <a:pt x="28702" y="21336"/>
                </a:lnTo>
                <a:lnTo>
                  <a:pt x="30988" y="25146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184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86383" y="3466033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9108" y="3889806"/>
            <a:ext cx="405130" cy="383540"/>
          </a:xfrm>
          <a:custGeom>
            <a:avLst/>
            <a:gdLst/>
            <a:ahLst/>
            <a:cxnLst/>
            <a:rect l="l" t="t" r="r" b="b"/>
            <a:pathLst>
              <a:path w="405130" h="383539">
                <a:moveTo>
                  <a:pt x="223545" y="69227"/>
                </a:moveTo>
                <a:lnTo>
                  <a:pt x="221843" y="60947"/>
                </a:lnTo>
                <a:lnTo>
                  <a:pt x="220256" y="58585"/>
                </a:lnTo>
                <a:lnTo>
                  <a:pt x="217258" y="54178"/>
                </a:lnTo>
                <a:lnTo>
                  <a:pt x="212902" y="51244"/>
                </a:lnTo>
                <a:lnTo>
                  <a:pt x="212902" y="63347"/>
                </a:lnTo>
                <a:lnTo>
                  <a:pt x="212902" y="75107"/>
                </a:lnTo>
                <a:lnTo>
                  <a:pt x="208140" y="79870"/>
                </a:lnTo>
                <a:lnTo>
                  <a:pt x="202260" y="79883"/>
                </a:lnTo>
                <a:lnTo>
                  <a:pt x="196367" y="79870"/>
                </a:lnTo>
                <a:lnTo>
                  <a:pt x="191604" y="75107"/>
                </a:lnTo>
                <a:lnTo>
                  <a:pt x="191604" y="63347"/>
                </a:lnTo>
                <a:lnTo>
                  <a:pt x="196367" y="58585"/>
                </a:lnTo>
                <a:lnTo>
                  <a:pt x="208127" y="58585"/>
                </a:lnTo>
                <a:lnTo>
                  <a:pt x="212902" y="63347"/>
                </a:lnTo>
                <a:lnTo>
                  <a:pt x="212902" y="51244"/>
                </a:lnTo>
                <a:lnTo>
                  <a:pt x="210527" y="49631"/>
                </a:lnTo>
                <a:lnTo>
                  <a:pt x="202247" y="47942"/>
                </a:lnTo>
                <a:lnTo>
                  <a:pt x="193941" y="49631"/>
                </a:lnTo>
                <a:lnTo>
                  <a:pt x="187185" y="54190"/>
                </a:lnTo>
                <a:lnTo>
                  <a:pt x="182638" y="60947"/>
                </a:lnTo>
                <a:lnTo>
                  <a:pt x="180962" y="69227"/>
                </a:lnTo>
                <a:lnTo>
                  <a:pt x="182638" y="77508"/>
                </a:lnTo>
                <a:lnTo>
                  <a:pt x="187198" y="84277"/>
                </a:lnTo>
                <a:lnTo>
                  <a:pt x="193967" y="88836"/>
                </a:lnTo>
                <a:lnTo>
                  <a:pt x="202247" y="90512"/>
                </a:lnTo>
                <a:lnTo>
                  <a:pt x="210540" y="88836"/>
                </a:lnTo>
                <a:lnTo>
                  <a:pt x="217309" y="84277"/>
                </a:lnTo>
                <a:lnTo>
                  <a:pt x="220268" y="79883"/>
                </a:lnTo>
                <a:lnTo>
                  <a:pt x="221869" y="77508"/>
                </a:lnTo>
                <a:lnTo>
                  <a:pt x="223545" y="69227"/>
                </a:lnTo>
                <a:close/>
              </a:path>
              <a:path w="405130" h="383539">
                <a:moveTo>
                  <a:pt x="404507" y="372503"/>
                </a:moveTo>
                <a:lnTo>
                  <a:pt x="404495" y="361975"/>
                </a:lnTo>
                <a:lnTo>
                  <a:pt x="396887" y="356539"/>
                </a:lnTo>
                <a:lnTo>
                  <a:pt x="393865" y="354393"/>
                </a:lnTo>
                <a:lnTo>
                  <a:pt x="393865" y="367461"/>
                </a:lnTo>
                <a:lnTo>
                  <a:pt x="393865" y="372503"/>
                </a:lnTo>
                <a:lnTo>
                  <a:pt x="10642" y="372503"/>
                </a:lnTo>
                <a:lnTo>
                  <a:pt x="10642" y="367461"/>
                </a:lnTo>
                <a:lnTo>
                  <a:pt x="25920" y="356539"/>
                </a:lnTo>
                <a:lnTo>
                  <a:pt x="378599" y="356539"/>
                </a:lnTo>
                <a:lnTo>
                  <a:pt x="393865" y="367461"/>
                </a:lnTo>
                <a:lnTo>
                  <a:pt x="393865" y="354393"/>
                </a:lnTo>
                <a:lnTo>
                  <a:pt x="382003" y="345909"/>
                </a:lnTo>
                <a:lnTo>
                  <a:pt x="367245" y="335368"/>
                </a:lnTo>
                <a:lnTo>
                  <a:pt x="367245" y="329933"/>
                </a:lnTo>
                <a:lnTo>
                  <a:pt x="367245" y="319290"/>
                </a:lnTo>
                <a:lnTo>
                  <a:pt x="363677" y="319290"/>
                </a:lnTo>
                <a:lnTo>
                  <a:pt x="363677" y="345909"/>
                </a:lnTo>
                <a:lnTo>
                  <a:pt x="40830" y="345909"/>
                </a:lnTo>
                <a:lnTo>
                  <a:pt x="47904" y="340842"/>
                </a:lnTo>
                <a:lnTo>
                  <a:pt x="47904" y="329933"/>
                </a:lnTo>
                <a:lnTo>
                  <a:pt x="356603" y="329933"/>
                </a:lnTo>
                <a:lnTo>
                  <a:pt x="356603" y="340842"/>
                </a:lnTo>
                <a:lnTo>
                  <a:pt x="363677" y="345909"/>
                </a:lnTo>
                <a:lnTo>
                  <a:pt x="363677" y="319290"/>
                </a:lnTo>
                <a:lnTo>
                  <a:pt x="345960" y="319290"/>
                </a:lnTo>
                <a:lnTo>
                  <a:pt x="345960" y="154330"/>
                </a:lnTo>
                <a:lnTo>
                  <a:pt x="367245" y="154330"/>
                </a:lnTo>
                <a:lnTo>
                  <a:pt x="367245" y="143687"/>
                </a:lnTo>
                <a:lnTo>
                  <a:pt x="367245" y="127723"/>
                </a:lnTo>
                <a:lnTo>
                  <a:pt x="393865" y="127723"/>
                </a:lnTo>
                <a:lnTo>
                  <a:pt x="393865" y="117081"/>
                </a:lnTo>
                <a:lnTo>
                  <a:pt x="373291" y="104521"/>
                </a:lnTo>
                <a:lnTo>
                  <a:pt x="373291" y="116979"/>
                </a:lnTo>
                <a:lnTo>
                  <a:pt x="356603" y="117081"/>
                </a:lnTo>
                <a:lnTo>
                  <a:pt x="356603" y="127723"/>
                </a:lnTo>
                <a:lnTo>
                  <a:pt x="356603" y="143687"/>
                </a:lnTo>
                <a:lnTo>
                  <a:pt x="335318" y="143687"/>
                </a:lnTo>
                <a:lnTo>
                  <a:pt x="335318" y="154330"/>
                </a:lnTo>
                <a:lnTo>
                  <a:pt x="335318" y="319290"/>
                </a:lnTo>
                <a:lnTo>
                  <a:pt x="324662" y="319290"/>
                </a:lnTo>
                <a:lnTo>
                  <a:pt x="324662" y="154330"/>
                </a:lnTo>
                <a:lnTo>
                  <a:pt x="335318" y="154330"/>
                </a:lnTo>
                <a:lnTo>
                  <a:pt x="335318" y="143687"/>
                </a:lnTo>
                <a:lnTo>
                  <a:pt x="314020" y="143687"/>
                </a:lnTo>
                <a:lnTo>
                  <a:pt x="314020" y="154330"/>
                </a:lnTo>
                <a:lnTo>
                  <a:pt x="314020" y="319290"/>
                </a:lnTo>
                <a:lnTo>
                  <a:pt x="282092" y="319290"/>
                </a:lnTo>
                <a:lnTo>
                  <a:pt x="282092" y="154330"/>
                </a:lnTo>
                <a:lnTo>
                  <a:pt x="314020" y="154330"/>
                </a:lnTo>
                <a:lnTo>
                  <a:pt x="314020" y="143687"/>
                </a:lnTo>
                <a:lnTo>
                  <a:pt x="271449" y="143687"/>
                </a:lnTo>
                <a:lnTo>
                  <a:pt x="271449" y="154330"/>
                </a:lnTo>
                <a:lnTo>
                  <a:pt x="271449" y="319290"/>
                </a:lnTo>
                <a:lnTo>
                  <a:pt x="260794" y="319290"/>
                </a:lnTo>
                <a:lnTo>
                  <a:pt x="260794" y="154330"/>
                </a:lnTo>
                <a:lnTo>
                  <a:pt x="271449" y="154330"/>
                </a:lnTo>
                <a:lnTo>
                  <a:pt x="271449" y="143687"/>
                </a:lnTo>
                <a:lnTo>
                  <a:pt x="250151" y="143687"/>
                </a:lnTo>
                <a:lnTo>
                  <a:pt x="250151" y="154330"/>
                </a:lnTo>
                <a:lnTo>
                  <a:pt x="250151" y="319290"/>
                </a:lnTo>
                <a:lnTo>
                  <a:pt x="218224" y="319290"/>
                </a:lnTo>
                <a:lnTo>
                  <a:pt x="218224" y="154330"/>
                </a:lnTo>
                <a:lnTo>
                  <a:pt x="250151" y="154330"/>
                </a:lnTo>
                <a:lnTo>
                  <a:pt x="250151" y="143687"/>
                </a:lnTo>
                <a:lnTo>
                  <a:pt x="207581" y="143687"/>
                </a:lnTo>
                <a:lnTo>
                  <a:pt x="207581" y="154330"/>
                </a:lnTo>
                <a:lnTo>
                  <a:pt x="207581" y="319290"/>
                </a:lnTo>
                <a:lnTo>
                  <a:pt x="196926" y="319290"/>
                </a:lnTo>
                <a:lnTo>
                  <a:pt x="196926" y="154330"/>
                </a:lnTo>
                <a:lnTo>
                  <a:pt x="207581" y="154330"/>
                </a:lnTo>
                <a:lnTo>
                  <a:pt x="207581" y="143687"/>
                </a:lnTo>
                <a:lnTo>
                  <a:pt x="186283" y="143687"/>
                </a:lnTo>
                <a:lnTo>
                  <a:pt x="186283" y="154330"/>
                </a:lnTo>
                <a:lnTo>
                  <a:pt x="186283" y="319290"/>
                </a:lnTo>
                <a:lnTo>
                  <a:pt x="154355" y="319290"/>
                </a:lnTo>
                <a:lnTo>
                  <a:pt x="154355" y="154330"/>
                </a:lnTo>
                <a:lnTo>
                  <a:pt x="186283" y="154330"/>
                </a:lnTo>
                <a:lnTo>
                  <a:pt x="186283" y="143687"/>
                </a:lnTo>
                <a:lnTo>
                  <a:pt x="143713" y="143687"/>
                </a:lnTo>
                <a:lnTo>
                  <a:pt x="143713" y="154330"/>
                </a:lnTo>
                <a:lnTo>
                  <a:pt x="143713" y="319290"/>
                </a:lnTo>
                <a:lnTo>
                  <a:pt x="133057" y="319290"/>
                </a:lnTo>
                <a:lnTo>
                  <a:pt x="133057" y="154330"/>
                </a:lnTo>
                <a:lnTo>
                  <a:pt x="143713" y="154330"/>
                </a:lnTo>
                <a:lnTo>
                  <a:pt x="143713" y="143687"/>
                </a:lnTo>
                <a:lnTo>
                  <a:pt x="122415" y="143687"/>
                </a:lnTo>
                <a:lnTo>
                  <a:pt x="122415" y="154330"/>
                </a:lnTo>
                <a:lnTo>
                  <a:pt x="122415" y="319290"/>
                </a:lnTo>
                <a:lnTo>
                  <a:pt x="90487" y="319290"/>
                </a:lnTo>
                <a:lnTo>
                  <a:pt x="90487" y="154330"/>
                </a:lnTo>
                <a:lnTo>
                  <a:pt x="122415" y="154330"/>
                </a:lnTo>
                <a:lnTo>
                  <a:pt x="122415" y="143687"/>
                </a:lnTo>
                <a:lnTo>
                  <a:pt x="79832" y="143687"/>
                </a:lnTo>
                <a:lnTo>
                  <a:pt x="79832" y="154330"/>
                </a:lnTo>
                <a:lnTo>
                  <a:pt x="79832" y="319290"/>
                </a:lnTo>
                <a:lnTo>
                  <a:pt x="69189" y="319290"/>
                </a:lnTo>
                <a:lnTo>
                  <a:pt x="69189" y="154330"/>
                </a:lnTo>
                <a:lnTo>
                  <a:pt x="79832" y="154330"/>
                </a:lnTo>
                <a:lnTo>
                  <a:pt x="79832" y="143687"/>
                </a:lnTo>
                <a:lnTo>
                  <a:pt x="47904" y="143687"/>
                </a:lnTo>
                <a:lnTo>
                  <a:pt x="47904" y="127723"/>
                </a:lnTo>
                <a:lnTo>
                  <a:pt x="356603" y="127723"/>
                </a:lnTo>
                <a:lnTo>
                  <a:pt x="356603" y="117081"/>
                </a:lnTo>
                <a:lnTo>
                  <a:pt x="31216" y="117081"/>
                </a:lnTo>
                <a:lnTo>
                  <a:pt x="202247" y="12509"/>
                </a:lnTo>
                <a:lnTo>
                  <a:pt x="373291" y="116979"/>
                </a:lnTo>
                <a:lnTo>
                  <a:pt x="373291" y="104521"/>
                </a:lnTo>
                <a:lnTo>
                  <a:pt x="222719" y="12509"/>
                </a:lnTo>
                <a:lnTo>
                  <a:pt x="202247" y="0"/>
                </a:lnTo>
                <a:lnTo>
                  <a:pt x="10706" y="117055"/>
                </a:lnTo>
                <a:lnTo>
                  <a:pt x="10642" y="127723"/>
                </a:lnTo>
                <a:lnTo>
                  <a:pt x="37261" y="127723"/>
                </a:lnTo>
                <a:lnTo>
                  <a:pt x="37261" y="154330"/>
                </a:lnTo>
                <a:lnTo>
                  <a:pt x="58547" y="154330"/>
                </a:lnTo>
                <a:lnTo>
                  <a:pt x="58547" y="319290"/>
                </a:lnTo>
                <a:lnTo>
                  <a:pt x="37261" y="319290"/>
                </a:lnTo>
                <a:lnTo>
                  <a:pt x="37261" y="335368"/>
                </a:lnTo>
                <a:lnTo>
                  <a:pt x="0" y="361975"/>
                </a:lnTo>
                <a:lnTo>
                  <a:pt x="0" y="383146"/>
                </a:lnTo>
                <a:lnTo>
                  <a:pt x="404507" y="383146"/>
                </a:lnTo>
                <a:lnTo>
                  <a:pt x="404507" y="3725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63879" y="2944748"/>
            <a:ext cx="57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E9000"/>
                </a:solidFill>
                <a:latin typeface="Calibri"/>
                <a:cs typeface="Calibri"/>
              </a:rPr>
              <a:t>Banks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3058" y="3742766"/>
            <a:ext cx="13874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AD0D9"/>
                </a:solidFill>
                <a:latin typeface="Calibri"/>
                <a:cs typeface="Calibri"/>
              </a:rPr>
              <a:t>Motor</a:t>
            </a:r>
            <a:r>
              <a:rPr sz="1800" spc="-30" dirty="0">
                <a:solidFill>
                  <a:srgbClr val="0AD0D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AD0D9"/>
                </a:solidFill>
                <a:latin typeface="Calibri"/>
                <a:cs typeface="Calibri"/>
              </a:rPr>
              <a:t>Finance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AD0D9"/>
                </a:solidFill>
                <a:latin typeface="Calibri"/>
                <a:cs typeface="Calibri"/>
              </a:rPr>
              <a:t>Lenders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70994" y="2645187"/>
            <a:ext cx="889635" cy="1136015"/>
            <a:chOff x="2370994" y="2645187"/>
            <a:chExt cx="889635" cy="1136015"/>
          </a:xfrm>
        </p:grpSpPr>
        <p:sp>
          <p:nvSpPr>
            <p:cNvPr id="22" name="object 22"/>
            <p:cNvSpPr/>
            <p:nvPr/>
          </p:nvSpPr>
          <p:spPr>
            <a:xfrm>
              <a:off x="2370988" y="2645193"/>
              <a:ext cx="889635" cy="1126490"/>
            </a:xfrm>
            <a:custGeom>
              <a:avLst/>
              <a:gdLst/>
              <a:ahLst/>
              <a:cxnLst/>
              <a:rect l="l" t="t" r="r" b="b"/>
              <a:pathLst>
                <a:path w="889635" h="1126489">
                  <a:moveTo>
                    <a:pt x="889406" y="444652"/>
                  </a:moveTo>
                  <a:lnTo>
                    <a:pt x="880884" y="400964"/>
                  </a:lnTo>
                  <a:lnTo>
                    <a:pt x="855319" y="362546"/>
                  </a:lnTo>
                  <a:lnTo>
                    <a:pt x="526770" y="33997"/>
                  </a:lnTo>
                  <a:lnTo>
                    <a:pt x="488353" y="8496"/>
                  </a:lnTo>
                  <a:lnTo>
                    <a:pt x="444652" y="0"/>
                  </a:lnTo>
                  <a:lnTo>
                    <a:pt x="400964" y="8496"/>
                  </a:lnTo>
                  <a:lnTo>
                    <a:pt x="362559" y="33997"/>
                  </a:lnTo>
                  <a:lnTo>
                    <a:pt x="34010" y="362546"/>
                  </a:lnTo>
                  <a:lnTo>
                    <a:pt x="8496" y="400964"/>
                  </a:lnTo>
                  <a:lnTo>
                    <a:pt x="0" y="444652"/>
                  </a:lnTo>
                  <a:lnTo>
                    <a:pt x="8496" y="488353"/>
                  </a:lnTo>
                  <a:lnTo>
                    <a:pt x="34010" y="526757"/>
                  </a:lnTo>
                  <a:lnTo>
                    <a:pt x="349034" y="841794"/>
                  </a:lnTo>
                  <a:lnTo>
                    <a:pt x="316814" y="873861"/>
                  </a:lnTo>
                  <a:lnTo>
                    <a:pt x="294208" y="917371"/>
                  </a:lnTo>
                  <a:lnTo>
                    <a:pt x="286105" y="967447"/>
                  </a:lnTo>
                  <a:lnTo>
                    <a:pt x="294208" y="1017536"/>
                  </a:lnTo>
                  <a:lnTo>
                    <a:pt x="316814" y="1061046"/>
                  </a:lnTo>
                  <a:lnTo>
                    <a:pt x="351282" y="1095362"/>
                  </a:lnTo>
                  <a:lnTo>
                    <a:pt x="394995" y="1117866"/>
                  </a:lnTo>
                  <a:lnTo>
                    <a:pt x="445363" y="1125943"/>
                  </a:lnTo>
                  <a:lnTo>
                    <a:pt x="495719" y="1117866"/>
                  </a:lnTo>
                  <a:lnTo>
                    <a:pt x="539432" y="1095362"/>
                  </a:lnTo>
                  <a:lnTo>
                    <a:pt x="573900" y="1061046"/>
                  </a:lnTo>
                  <a:lnTo>
                    <a:pt x="596506" y="1017536"/>
                  </a:lnTo>
                  <a:lnTo>
                    <a:pt x="604621" y="967447"/>
                  </a:lnTo>
                  <a:lnTo>
                    <a:pt x="596506" y="917371"/>
                  </a:lnTo>
                  <a:lnTo>
                    <a:pt x="573900" y="873861"/>
                  </a:lnTo>
                  <a:lnTo>
                    <a:pt x="540981" y="841095"/>
                  </a:lnTo>
                  <a:lnTo>
                    <a:pt x="855319" y="526757"/>
                  </a:lnTo>
                  <a:lnTo>
                    <a:pt x="880884" y="488353"/>
                  </a:lnTo>
                  <a:lnTo>
                    <a:pt x="889406" y="444652"/>
                  </a:lnTo>
                  <a:close/>
                </a:path>
              </a:pathLst>
            </a:custGeom>
            <a:solidFill>
              <a:srgbClr val="0AD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57094" y="3454145"/>
              <a:ext cx="318770" cy="317500"/>
            </a:xfrm>
            <a:custGeom>
              <a:avLst/>
              <a:gdLst/>
              <a:ahLst/>
              <a:cxnLst/>
              <a:rect l="l" t="t" r="r" b="b"/>
              <a:pathLst>
                <a:path w="318769" h="317500">
                  <a:moveTo>
                    <a:pt x="0" y="158495"/>
                  </a:moveTo>
                  <a:lnTo>
                    <a:pt x="8113" y="108411"/>
                  </a:lnTo>
                  <a:lnTo>
                    <a:pt x="30711" y="64904"/>
                  </a:lnTo>
                  <a:lnTo>
                    <a:pt x="65178" y="30589"/>
                  </a:lnTo>
                  <a:lnTo>
                    <a:pt x="108898" y="8083"/>
                  </a:lnTo>
                  <a:lnTo>
                    <a:pt x="159257" y="0"/>
                  </a:lnTo>
                  <a:lnTo>
                    <a:pt x="209617" y="8083"/>
                  </a:lnTo>
                  <a:lnTo>
                    <a:pt x="253337" y="30589"/>
                  </a:lnTo>
                  <a:lnTo>
                    <a:pt x="287804" y="64904"/>
                  </a:lnTo>
                  <a:lnTo>
                    <a:pt x="310402" y="108411"/>
                  </a:lnTo>
                  <a:lnTo>
                    <a:pt x="318516" y="158495"/>
                  </a:lnTo>
                  <a:lnTo>
                    <a:pt x="310402" y="208580"/>
                  </a:lnTo>
                  <a:lnTo>
                    <a:pt x="287804" y="252087"/>
                  </a:lnTo>
                  <a:lnTo>
                    <a:pt x="253337" y="286402"/>
                  </a:lnTo>
                  <a:lnTo>
                    <a:pt x="209617" y="308908"/>
                  </a:lnTo>
                  <a:lnTo>
                    <a:pt x="159257" y="316991"/>
                  </a:lnTo>
                  <a:lnTo>
                    <a:pt x="108898" y="308908"/>
                  </a:lnTo>
                  <a:lnTo>
                    <a:pt x="65178" y="286402"/>
                  </a:lnTo>
                  <a:lnTo>
                    <a:pt x="30711" y="252087"/>
                  </a:lnTo>
                  <a:lnTo>
                    <a:pt x="8113" y="208580"/>
                  </a:lnTo>
                  <a:lnTo>
                    <a:pt x="0" y="158495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51835" y="3466033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63925" y="2819778"/>
            <a:ext cx="2741930" cy="1715135"/>
            <a:chOff x="2563925" y="2819778"/>
            <a:chExt cx="2741930" cy="1715135"/>
          </a:xfrm>
        </p:grpSpPr>
        <p:sp>
          <p:nvSpPr>
            <p:cNvPr id="26" name="object 26"/>
            <p:cNvSpPr/>
            <p:nvPr/>
          </p:nvSpPr>
          <p:spPr>
            <a:xfrm>
              <a:off x="2563925" y="2819778"/>
              <a:ext cx="504825" cy="445134"/>
            </a:xfrm>
            <a:custGeom>
              <a:avLst/>
              <a:gdLst/>
              <a:ahLst/>
              <a:cxnLst/>
              <a:rect l="l" t="t" r="r" b="b"/>
              <a:pathLst>
                <a:path w="504825" h="445135">
                  <a:moveTo>
                    <a:pt x="249339" y="0"/>
                  </a:moveTo>
                  <a:lnTo>
                    <a:pt x="2974" y="409864"/>
                  </a:lnTo>
                  <a:lnTo>
                    <a:pt x="0" y="418676"/>
                  </a:lnTo>
                  <a:lnTo>
                    <a:pt x="615" y="427633"/>
                  </a:lnTo>
                  <a:lnTo>
                    <a:pt x="481077" y="445024"/>
                  </a:lnTo>
                  <a:lnTo>
                    <a:pt x="490193" y="443173"/>
                  </a:lnTo>
                  <a:lnTo>
                    <a:pt x="497633" y="438147"/>
                  </a:lnTo>
                  <a:lnTo>
                    <a:pt x="500891" y="433299"/>
                  </a:lnTo>
                  <a:lnTo>
                    <a:pt x="23247" y="433289"/>
                  </a:lnTo>
                  <a:lnTo>
                    <a:pt x="16781" y="433275"/>
                  </a:lnTo>
                  <a:lnTo>
                    <a:pt x="11546" y="428025"/>
                  </a:lnTo>
                  <a:lnTo>
                    <a:pt x="11564" y="419510"/>
                  </a:lnTo>
                  <a:lnTo>
                    <a:pt x="12116" y="417476"/>
                  </a:lnTo>
                  <a:lnTo>
                    <a:pt x="243041" y="15623"/>
                  </a:lnTo>
                  <a:lnTo>
                    <a:pt x="244539" y="14111"/>
                  </a:lnTo>
                  <a:lnTo>
                    <a:pt x="248102" y="12062"/>
                  </a:lnTo>
                  <a:lnTo>
                    <a:pt x="250108" y="11525"/>
                  </a:lnTo>
                  <a:lnTo>
                    <a:pt x="272403" y="11525"/>
                  </a:lnTo>
                  <a:lnTo>
                    <a:pt x="266355" y="4626"/>
                  </a:lnTo>
                  <a:lnTo>
                    <a:pt x="258296" y="657"/>
                  </a:lnTo>
                  <a:lnTo>
                    <a:pt x="249339" y="0"/>
                  </a:lnTo>
                  <a:close/>
                </a:path>
                <a:path w="504825" h="445135">
                  <a:moveTo>
                    <a:pt x="272403" y="11525"/>
                  </a:moveTo>
                  <a:lnTo>
                    <a:pt x="256354" y="11525"/>
                  </a:lnTo>
                  <a:lnTo>
                    <a:pt x="260234" y="13818"/>
                  </a:lnTo>
                  <a:lnTo>
                    <a:pt x="262333" y="17429"/>
                  </a:lnTo>
                  <a:lnTo>
                    <a:pt x="493863" y="420301"/>
                  </a:lnTo>
                  <a:lnTo>
                    <a:pt x="493131" y="426103"/>
                  </a:lnTo>
                  <a:lnTo>
                    <a:pt x="487177" y="432060"/>
                  </a:lnTo>
                  <a:lnTo>
                    <a:pt x="484201" y="433299"/>
                  </a:lnTo>
                  <a:lnTo>
                    <a:pt x="500891" y="433299"/>
                  </a:lnTo>
                  <a:lnTo>
                    <a:pt x="502640" y="430697"/>
                  </a:lnTo>
                  <a:lnTo>
                    <a:pt x="504453" y="421580"/>
                  </a:lnTo>
                  <a:lnTo>
                    <a:pt x="504453" y="417476"/>
                  </a:lnTo>
                  <a:lnTo>
                    <a:pt x="503380" y="413446"/>
                  </a:lnTo>
                  <a:lnTo>
                    <a:pt x="272488" y="11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6430" y="2977664"/>
              <a:ext cx="185855" cy="23117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406550" y="3635787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5" h="889635">
                  <a:moveTo>
                    <a:pt x="444658" y="0"/>
                  </a:moveTo>
                  <a:lnTo>
                    <a:pt x="400962" y="8501"/>
                  </a:lnTo>
                  <a:lnTo>
                    <a:pt x="362553" y="34004"/>
                  </a:lnTo>
                  <a:lnTo>
                    <a:pt x="34004" y="362553"/>
                  </a:lnTo>
                  <a:lnTo>
                    <a:pt x="8501" y="400962"/>
                  </a:lnTo>
                  <a:lnTo>
                    <a:pt x="0" y="444658"/>
                  </a:lnTo>
                  <a:lnTo>
                    <a:pt x="8501" y="488354"/>
                  </a:lnTo>
                  <a:lnTo>
                    <a:pt x="34004" y="526764"/>
                  </a:lnTo>
                  <a:lnTo>
                    <a:pt x="362553" y="855313"/>
                  </a:lnTo>
                  <a:lnTo>
                    <a:pt x="400962" y="880816"/>
                  </a:lnTo>
                  <a:lnTo>
                    <a:pt x="444658" y="889317"/>
                  </a:lnTo>
                  <a:lnTo>
                    <a:pt x="488354" y="880816"/>
                  </a:lnTo>
                  <a:lnTo>
                    <a:pt x="526764" y="855313"/>
                  </a:lnTo>
                  <a:lnTo>
                    <a:pt x="855313" y="526764"/>
                  </a:lnTo>
                  <a:lnTo>
                    <a:pt x="880816" y="488354"/>
                  </a:lnTo>
                  <a:lnTo>
                    <a:pt x="889317" y="444658"/>
                  </a:lnTo>
                  <a:lnTo>
                    <a:pt x="880816" y="400962"/>
                  </a:lnTo>
                  <a:lnTo>
                    <a:pt x="855313" y="362553"/>
                  </a:lnTo>
                  <a:lnTo>
                    <a:pt x="526764" y="34004"/>
                  </a:lnTo>
                  <a:lnTo>
                    <a:pt x="488354" y="8501"/>
                  </a:lnTo>
                  <a:lnTo>
                    <a:pt x="444658" y="0"/>
                  </a:lnTo>
                  <a:close/>
                </a:path>
              </a:pathLst>
            </a:custGeom>
            <a:solidFill>
              <a:srgbClr val="089C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06550" y="3635787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5" h="889635">
                  <a:moveTo>
                    <a:pt x="362553" y="34004"/>
                  </a:moveTo>
                  <a:lnTo>
                    <a:pt x="400962" y="8501"/>
                  </a:lnTo>
                  <a:lnTo>
                    <a:pt x="444658" y="0"/>
                  </a:lnTo>
                  <a:lnTo>
                    <a:pt x="488354" y="8501"/>
                  </a:lnTo>
                  <a:lnTo>
                    <a:pt x="526764" y="34004"/>
                  </a:lnTo>
                  <a:lnTo>
                    <a:pt x="855313" y="362553"/>
                  </a:lnTo>
                  <a:lnTo>
                    <a:pt x="880816" y="400962"/>
                  </a:lnTo>
                  <a:lnTo>
                    <a:pt x="889317" y="444658"/>
                  </a:lnTo>
                  <a:lnTo>
                    <a:pt x="880816" y="488354"/>
                  </a:lnTo>
                  <a:lnTo>
                    <a:pt x="855313" y="526764"/>
                  </a:lnTo>
                  <a:lnTo>
                    <a:pt x="526764" y="855313"/>
                  </a:lnTo>
                  <a:lnTo>
                    <a:pt x="488354" y="880816"/>
                  </a:lnTo>
                  <a:lnTo>
                    <a:pt x="444658" y="889317"/>
                  </a:lnTo>
                  <a:lnTo>
                    <a:pt x="400962" y="880816"/>
                  </a:lnTo>
                  <a:lnTo>
                    <a:pt x="362553" y="855313"/>
                  </a:lnTo>
                  <a:lnTo>
                    <a:pt x="34004" y="526764"/>
                  </a:lnTo>
                  <a:lnTo>
                    <a:pt x="8501" y="488354"/>
                  </a:lnTo>
                  <a:lnTo>
                    <a:pt x="0" y="444658"/>
                  </a:lnTo>
                  <a:lnTo>
                    <a:pt x="8501" y="400962"/>
                  </a:lnTo>
                  <a:lnTo>
                    <a:pt x="34004" y="362553"/>
                  </a:lnTo>
                  <a:lnTo>
                    <a:pt x="362553" y="340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00777" y="3454145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0"/>
                  </a:move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5"/>
                  </a:lnTo>
                  <a:lnTo>
                    <a:pt x="8083" y="208580"/>
                  </a:lnTo>
                  <a:lnTo>
                    <a:pt x="30589" y="252087"/>
                  </a:lnTo>
                  <a:lnTo>
                    <a:pt x="64904" y="286402"/>
                  </a:lnTo>
                  <a:lnTo>
                    <a:pt x="108411" y="308908"/>
                  </a:lnTo>
                  <a:lnTo>
                    <a:pt x="158496" y="316991"/>
                  </a:lnTo>
                  <a:lnTo>
                    <a:pt x="208580" y="308908"/>
                  </a:lnTo>
                  <a:lnTo>
                    <a:pt x="252087" y="286402"/>
                  </a:lnTo>
                  <a:lnTo>
                    <a:pt x="286402" y="252087"/>
                  </a:lnTo>
                  <a:lnTo>
                    <a:pt x="308908" y="208580"/>
                  </a:lnTo>
                  <a:lnTo>
                    <a:pt x="316992" y="158495"/>
                  </a:lnTo>
                  <a:lnTo>
                    <a:pt x="308908" y="108411"/>
                  </a:lnTo>
                  <a:lnTo>
                    <a:pt x="286402" y="64904"/>
                  </a:lnTo>
                  <a:lnTo>
                    <a:pt x="252087" y="30589"/>
                  </a:lnTo>
                  <a:lnTo>
                    <a:pt x="208580" y="8083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7B7B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0777" y="3454145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0" y="158495"/>
                  </a:moveTo>
                  <a:lnTo>
                    <a:pt x="8083" y="108411"/>
                  </a:lnTo>
                  <a:lnTo>
                    <a:pt x="30589" y="64904"/>
                  </a:lnTo>
                  <a:lnTo>
                    <a:pt x="64904" y="30589"/>
                  </a:lnTo>
                  <a:lnTo>
                    <a:pt x="108411" y="8083"/>
                  </a:lnTo>
                  <a:lnTo>
                    <a:pt x="158496" y="0"/>
                  </a:lnTo>
                  <a:lnTo>
                    <a:pt x="208580" y="8083"/>
                  </a:lnTo>
                  <a:lnTo>
                    <a:pt x="252087" y="30589"/>
                  </a:lnTo>
                  <a:lnTo>
                    <a:pt x="286402" y="64904"/>
                  </a:lnTo>
                  <a:lnTo>
                    <a:pt x="308908" y="108411"/>
                  </a:lnTo>
                  <a:lnTo>
                    <a:pt x="316992" y="158495"/>
                  </a:lnTo>
                  <a:lnTo>
                    <a:pt x="308908" y="208580"/>
                  </a:lnTo>
                  <a:lnTo>
                    <a:pt x="286402" y="252087"/>
                  </a:lnTo>
                  <a:lnTo>
                    <a:pt x="252087" y="286402"/>
                  </a:lnTo>
                  <a:lnTo>
                    <a:pt x="208580" y="308908"/>
                  </a:lnTo>
                  <a:lnTo>
                    <a:pt x="158496" y="316991"/>
                  </a:lnTo>
                  <a:lnTo>
                    <a:pt x="108411" y="308908"/>
                  </a:lnTo>
                  <a:lnTo>
                    <a:pt x="64904" y="286402"/>
                  </a:lnTo>
                  <a:lnTo>
                    <a:pt x="30589" y="252087"/>
                  </a:lnTo>
                  <a:lnTo>
                    <a:pt x="8083" y="208580"/>
                  </a:lnTo>
                  <a:lnTo>
                    <a:pt x="0" y="1584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698621" y="4704334"/>
            <a:ext cx="2936240" cy="0"/>
          </a:xfrm>
          <a:custGeom>
            <a:avLst/>
            <a:gdLst/>
            <a:ahLst/>
            <a:cxnLst/>
            <a:rect l="l" t="t" r="r" b="b"/>
            <a:pathLst>
              <a:path w="2936240">
                <a:moveTo>
                  <a:pt x="0" y="0"/>
                </a:moveTo>
                <a:lnTo>
                  <a:pt x="2935731" y="0"/>
                </a:lnTo>
              </a:path>
            </a:pathLst>
          </a:custGeom>
          <a:ln w="38100">
            <a:solidFill>
              <a:srgbClr val="089C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29685" y="4822697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29">
                <a:moveTo>
                  <a:pt x="85344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344" y="33401"/>
                </a:lnTo>
                <a:lnTo>
                  <a:pt x="85344" y="25400"/>
                </a:lnTo>
                <a:close/>
              </a:path>
              <a:path w="98425" h="36829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266" y="21971"/>
                </a:lnTo>
                <a:lnTo>
                  <a:pt x="95758" y="21590"/>
                </a:lnTo>
                <a:lnTo>
                  <a:pt x="95262" y="21082"/>
                </a:lnTo>
                <a:lnTo>
                  <a:pt x="92062" y="17399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6631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254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451" y="5207"/>
                </a:lnTo>
                <a:lnTo>
                  <a:pt x="55118" y="6858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386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624" y="5588"/>
                </a:lnTo>
                <a:lnTo>
                  <a:pt x="38862" y="4572"/>
                </a:lnTo>
                <a:lnTo>
                  <a:pt x="37846" y="4445"/>
                </a:lnTo>
                <a:lnTo>
                  <a:pt x="36576" y="4191"/>
                </a:lnTo>
                <a:lnTo>
                  <a:pt x="35560" y="4953"/>
                </a:lnTo>
                <a:lnTo>
                  <a:pt x="35433" y="5588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032" y="15494"/>
                </a:lnTo>
                <a:lnTo>
                  <a:pt x="0" y="16891"/>
                </a:lnTo>
                <a:lnTo>
                  <a:pt x="1270" y="25654"/>
                </a:lnTo>
                <a:lnTo>
                  <a:pt x="254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541" y="29464"/>
                </a:lnTo>
                <a:lnTo>
                  <a:pt x="10795" y="27051"/>
                </a:lnTo>
                <a:lnTo>
                  <a:pt x="11811" y="25019"/>
                </a:lnTo>
                <a:lnTo>
                  <a:pt x="13970" y="19685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1026" y="25019"/>
                </a:lnTo>
                <a:lnTo>
                  <a:pt x="30988" y="29083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311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987800" y="4729353"/>
            <a:ext cx="253111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Capitalize</a:t>
            </a:r>
            <a:r>
              <a:rPr sz="1200" spc="1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on</a:t>
            </a:r>
            <a:r>
              <a:rPr sz="1200" spc="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detailed</a:t>
            </a:r>
            <a:r>
              <a:rPr sz="1200" spc="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insight</a:t>
            </a:r>
            <a:r>
              <a:rPr sz="1200" spc="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into</a:t>
            </a:r>
            <a:r>
              <a:rPr sz="1200" spc="1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client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and</a:t>
            </a:r>
            <a:r>
              <a:rPr sz="1200" spc="-4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in-car</a:t>
            </a:r>
            <a:r>
              <a:rPr sz="1200" spc="-5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systems</a:t>
            </a:r>
            <a:r>
              <a:rPr sz="1200" spc="-1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related</a:t>
            </a:r>
            <a:r>
              <a:rPr sz="1200" spc="-4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Build</a:t>
            </a:r>
            <a:r>
              <a:rPr sz="1200" spc="204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on</a:t>
            </a:r>
            <a:r>
              <a:rPr sz="1200" spc="21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existing</a:t>
            </a:r>
            <a:r>
              <a:rPr sz="1200" spc="204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billing</a:t>
            </a:r>
            <a:r>
              <a:rPr sz="1200" spc="2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capabilities</a:t>
            </a:r>
            <a:r>
              <a:rPr sz="1200" spc="21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for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new</a:t>
            </a:r>
            <a:r>
              <a:rPr sz="1200" spc="-1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mobility</a:t>
            </a:r>
            <a:r>
              <a:rPr sz="1200" spc="-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Leverage</a:t>
            </a:r>
            <a:r>
              <a:rPr sz="1200" spc="-3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existing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customer</a:t>
            </a:r>
            <a:r>
              <a:rPr sz="1200" spc="-1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channels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829685" y="5238750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29">
                <a:moveTo>
                  <a:pt x="85344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344" y="33401"/>
                </a:lnTo>
                <a:lnTo>
                  <a:pt x="85344" y="25400"/>
                </a:lnTo>
                <a:close/>
              </a:path>
              <a:path w="98425" h="36829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266" y="21971"/>
                </a:lnTo>
                <a:lnTo>
                  <a:pt x="95758" y="21590"/>
                </a:lnTo>
                <a:lnTo>
                  <a:pt x="95262" y="21082"/>
                </a:lnTo>
                <a:lnTo>
                  <a:pt x="92062" y="17399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254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451" y="5207"/>
                </a:lnTo>
                <a:lnTo>
                  <a:pt x="55118" y="6858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386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624" y="5588"/>
                </a:lnTo>
                <a:lnTo>
                  <a:pt x="38862" y="4572"/>
                </a:lnTo>
                <a:lnTo>
                  <a:pt x="37846" y="4445"/>
                </a:lnTo>
                <a:lnTo>
                  <a:pt x="36576" y="4191"/>
                </a:lnTo>
                <a:lnTo>
                  <a:pt x="35560" y="4953"/>
                </a:lnTo>
                <a:lnTo>
                  <a:pt x="35306" y="6223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032" y="15494"/>
                </a:lnTo>
                <a:lnTo>
                  <a:pt x="0" y="16891"/>
                </a:lnTo>
                <a:lnTo>
                  <a:pt x="1270" y="25654"/>
                </a:lnTo>
                <a:lnTo>
                  <a:pt x="254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541" y="29464"/>
                </a:lnTo>
                <a:lnTo>
                  <a:pt x="10795" y="27051"/>
                </a:lnTo>
                <a:lnTo>
                  <a:pt x="11811" y="25019"/>
                </a:lnTo>
                <a:lnTo>
                  <a:pt x="13970" y="19685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1026" y="25019"/>
                </a:lnTo>
                <a:lnTo>
                  <a:pt x="30988" y="29083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311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829685" y="5654763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13" y="25400"/>
                </a:moveTo>
                <a:lnTo>
                  <a:pt x="24765" y="22174"/>
                </a:lnTo>
                <a:lnTo>
                  <a:pt x="20955" y="22174"/>
                </a:lnTo>
                <a:lnTo>
                  <a:pt x="17145" y="22174"/>
                </a:lnTo>
                <a:lnTo>
                  <a:pt x="13970" y="25400"/>
                </a:lnTo>
                <a:lnTo>
                  <a:pt x="13970" y="33388"/>
                </a:lnTo>
                <a:lnTo>
                  <a:pt x="17145" y="36614"/>
                </a:lnTo>
                <a:lnTo>
                  <a:pt x="24765" y="36614"/>
                </a:lnTo>
                <a:lnTo>
                  <a:pt x="27813" y="33388"/>
                </a:lnTo>
                <a:lnTo>
                  <a:pt x="27813" y="25400"/>
                </a:lnTo>
                <a:close/>
              </a:path>
              <a:path w="98425" h="36829">
                <a:moveTo>
                  <a:pt x="85344" y="25400"/>
                </a:moveTo>
                <a:lnTo>
                  <a:pt x="82169" y="22174"/>
                </a:lnTo>
                <a:lnTo>
                  <a:pt x="78359" y="22174"/>
                </a:lnTo>
                <a:lnTo>
                  <a:pt x="74549" y="22174"/>
                </a:lnTo>
                <a:lnTo>
                  <a:pt x="71501" y="25400"/>
                </a:lnTo>
                <a:lnTo>
                  <a:pt x="71501" y="33388"/>
                </a:lnTo>
                <a:lnTo>
                  <a:pt x="74549" y="36614"/>
                </a:lnTo>
                <a:lnTo>
                  <a:pt x="82169" y="36614"/>
                </a:lnTo>
                <a:lnTo>
                  <a:pt x="85344" y="33388"/>
                </a:lnTo>
                <a:lnTo>
                  <a:pt x="85344" y="25400"/>
                </a:lnTo>
                <a:close/>
              </a:path>
              <a:path w="98425" h="36829">
                <a:moveTo>
                  <a:pt x="98044" y="24206"/>
                </a:moveTo>
                <a:lnTo>
                  <a:pt x="97536" y="23126"/>
                </a:lnTo>
                <a:lnTo>
                  <a:pt x="96647" y="22428"/>
                </a:lnTo>
                <a:lnTo>
                  <a:pt x="96266" y="22047"/>
                </a:lnTo>
                <a:lnTo>
                  <a:pt x="95758" y="21640"/>
                </a:lnTo>
                <a:lnTo>
                  <a:pt x="93675" y="19291"/>
                </a:lnTo>
                <a:lnTo>
                  <a:pt x="92125" y="17487"/>
                </a:lnTo>
                <a:lnTo>
                  <a:pt x="91186" y="16395"/>
                </a:lnTo>
                <a:lnTo>
                  <a:pt x="88519" y="15011"/>
                </a:lnTo>
                <a:lnTo>
                  <a:pt x="81026" y="11315"/>
                </a:lnTo>
                <a:lnTo>
                  <a:pt x="77228" y="11010"/>
                </a:lnTo>
                <a:lnTo>
                  <a:pt x="69342" y="10375"/>
                </a:lnTo>
                <a:lnTo>
                  <a:pt x="63500" y="6578"/>
                </a:lnTo>
                <a:lnTo>
                  <a:pt x="57404" y="3213"/>
                </a:lnTo>
                <a:lnTo>
                  <a:pt x="51054" y="330"/>
                </a:lnTo>
                <a:lnTo>
                  <a:pt x="50292" y="0"/>
                </a:lnTo>
                <a:lnTo>
                  <a:pt x="49530" y="228"/>
                </a:lnTo>
                <a:lnTo>
                  <a:pt x="48387" y="1689"/>
                </a:lnTo>
                <a:lnTo>
                  <a:pt x="48641" y="2832"/>
                </a:lnTo>
                <a:lnTo>
                  <a:pt x="49403" y="3429"/>
                </a:lnTo>
                <a:lnTo>
                  <a:pt x="49657" y="3594"/>
                </a:lnTo>
                <a:lnTo>
                  <a:pt x="52451" y="5181"/>
                </a:lnTo>
                <a:lnTo>
                  <a:pt x="55118" y="6934"/>
                </a:lnTo>
                <a:lnTo>
                  <a:pt x="57658" y="8839"/>
                </a:lnTo>
                <a:lnTo>
                  <a:pt x="54356" y="8839"/>
                </a:lnTo>
                <a:lnTo>
                  <a:pt x="53340" y="9804"/>
                </a:lnTo>
                <a:lnTo>
                  <a:pt x="53340" y="11010"/>
                </a:lnTo>
                <a:lnTo>
                  <a:pt x="40894" y="11010"/>
                </a:lnTo>
                <a:lnTo>
                  <a:pt x="39497" y="10769"/>
                </a:lnTo>
                <a:lnTo>
                  <a:pt x="39497" y="9918"/>
                </a:lnTo>
                <a:lnTo>
                  <a:pt x="39624" y="5613"/>
                </a:lnTo>
                <a:lnTo>
                  <a:pt x="38862" y="4635"/>
                </a:lnTo>
                <a:lnTo>
                  <a:pt x="37846" y="4419"/>
                </a:lnTo>
                <a:lnTo>
                  <a:pt x="36576" y="4216"/>
                </a:lnTo>
                <a:lnTo>
                  <a:pt x="35560" y="5029"/>
                </a:lnTo>
                <a:lnTo>
                  <a:pt x="35306" y="6235"/>
                </a:lnTo>
                <a:lnTo>
                  <a:pt x="35306" y="9918"/>
                </a:lnTo>
                <a:lnTo>
                  <a:pt x="29895" y="8826"/>
                </a:lnTo>
                <a:lnTo>
                  <a:pt x="23622" y="7734"/>
                </a:lnTo>
                <a:lnTo>
                  <a:pt x="22352" y="7759"/>
                </a:lnTo>
                <a:lnTo>
                  <a:pt x="19939" y="8305"/>
                </a:lnTo>
                <a:lnTo>
                  <a:pt x="18923" y="8648"/>
                </a:lnTo>
                <a:lnTo>
                  <a:pt x="18237" y="8839"/>
                </a:lnTo>
                <a:lnTo>
                  <a:pt x="14478" y="10045"/>
                </a:lnTo>
                <a:lnTo>
                  <a:pt x="4826" y="13538"/>
                </a:lnTo>
                <a:lnTo>
                  <a:pt x="2032" y="15494"/>
                </a:lnTo>
                <a:lnTo>
                  <a:pt x="0" y="16979"/>
                </a:lnTo>
                <a:lnTo>
                  <a:pt x="1270" y="25666"/>
                </a:lnTo>
                <a:lnTo>
                  <a:pt x="254" y="27012"/>
                </a:lnTo>
                <a:lnTo>
                  <a:pt x="8509" y="31508"/>
                </a:lnTo>
                <a:lnTo>
                  <a:pt x="11049" y="31661"/>
                </a:lnTo>
                <a:lnTo>
                  <a:pt x="10553" y="29527"/>
                </a:lnTo>
                <a:lnTo>
                  <a:pt x="10566" y="29171"/>
                </a:lnTo>
                <a:lnTo>
                  <a:pt x="10795" y="27139"/>
                </a:lnTo>
                <a:lnTo>
                  <a:pt x="11811" y="25082"/>
                </a:lnTo>
                <a:lnTo>
                  <a:pt x="13970" y="19773"/>
                </a:lnTo>
                <a:lnTo>
                  <a:pt x="19939" y="17386"/>
                </a:lnTo>
                <a:lnTo>
                  <a:pt x="28702" y="21437"/>
                </a:lnTo>
                <a:lnTo>
                  <a:pt x="31013" y="25082"/>
                </a:lnTo>
                <a:lnTo>
                  <a:pt x="31051" y="27012"/>
                </a:lnTo>
                <a:lnTo>
                  <a:pt x="30937" y="30886"/>
                </a:lnTo>
                <a:lnTo>
                  <a:pt x="30835" y="31661"/>
                </a:lnTo>
                <a:lnTo>
                  <a:pt x="30607" y="32600"/>
                </a:lnTo>
                <a:lnTo>
                  <a:pt x="68707" y="32600"/>
                </a:lnTo>
                <a:lnTo>
                  <a:pt x="67081" y="27139"/>
                </a:lnTo>
                <a:lnTo>
                  <a:pt x="67068" y="27012"/>
                </a:lnTo>
                <a:lnTo>
                  <a:pt x="69977" y="21094"/>
                </a:lnTo>
                <a:lnTo>
                  <a:pt x="80518" y="17487"/>
                </a:lnTo>
                <a:lnTo>
                  <a:pt x="86233" y="20535"/>
                </a:lnTo>
                <a:lnTo>
                  <a:pt x="88519" y="27749"/>
                </a:lnTo>
                <a:lnTo>
                  <a:pt x="88646" y="29527"/>
                </a:lnTo>
                <a:lnTo>
                  <a:pt x="88265" y="31254"/>
                </a:lnTo>
                <a:lnTo>
                  <a:pt x="98044" y="31254"/>
                </a:lnTo>
                <a:lnTo>
                  <a:pt x="98044" y="24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980434" y="2780233"/>
            <a:ext cx="1749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89CA2"/>
                </a:solidFill>
                <a:latin typeface="Calibri"/>
                <a:cs typeface="Calibri"/>
              </a:rPr>
              <a:t>Platform</a:t>
            </a:r>
            <a:r>
              <a:rPr sz="1800" spc="-75" dirty="0">
                <a:solidFill>
                  <a:srgbClr val="089CA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89CA2"/>
                </a:solidFill>
                <a:latin typeface="Calibri"/>
                <a:cs typeface="Calibri"/>
              </a:rPr>
              <a:t>Providers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95265" y="3466033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52480" y="2717196"/>
            <a:ext cx="2698115" cy="1563370"/>
            <a:chOff x="4652480" y="2717196"/>
            <a:chExt cx="2698115" cy="156337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2480" y="3915434"/>
              <a:ext cx="404477" cy="36486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451504" y="2726721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4" h="889635">
                  <a:moveTo>
                    <a:pt x="444658" y="0"/>
                  </a:moveTo>
                  <a:lnTo>
                    <a:pt x="400962" y="8501"/>
                  </a:lnTo>
                  <a:lnTo>
                    <a:pt x="362553" y="34004"/>
                  </a:lnTo>
                  <a:lnTo>
                    <a:pt x="34004" y="362553"/>
                  </a:lnTo>
                  <a:lnTo>
                    <a:pt x="8501" y="400962"/>
                  </a:lnTo>
                  <a:lnTo>
                    <a:pt x="0" y="444658"/>
                  </a:lnTo>
                  <a:lnTo>
                    <a:pt x="8501" y="488354"/>
                  </a:lnTo>
                  <a:lnTo>
                    <a:pt x="34004" y="526764"/>
                  </a:lnTo>
                  <a:lnTo>
                    <a:pt x="362553" y="855313"/>
                  </a:lnTo>
                  <a:lnTo>
                    <a:pt x="400962" y="880887"/>
                  </a:lnTo>
                  <a:lnTo>
                    <a:pt x="444658" y="889412"/>
                  </a:lnTo>
                  <a:lnTo>
                    <a:pt x="488354" y="880887"/>
                  </a:lnTo>
                  <a:lnTo>
                    <a:pt x="526764" y="855313"/>
                  </a:lnTo>
                  <a:lnTo>
                    <a:pt x="855313" y="526764"/>
                  </a:lnTo>
                  <a:lnTo>
                    <a:pt x="880887" y="488354"/>
                  </a:lnTo>
                  <a:lnTo>
                    <a:pt x="889412" y="444658"/>
                  </a:lnTo>
                  <a:lnTo>
                    <a:pt x="880887" y="400962"/>
                  </a:lnTo>
                  <a:lnTo>
                    <a:pt x="855313" y="362553"/>
                  </a:lnTo>
                  <a:lnTo>
                    <a:pt x="526764" y="34004"/>
                  </a:lnTo>
                  <a:lnTo>
                    <a:pt x="488354" y="8501"/>
                  </a:lnTo>
                  <a:lnTo>
                    <a:pt x="44465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51504" y="2726721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4" h="889635">
                  <a:moveTo>
                    <a:pt x="362553" y="34004"/>
                  </a:moveTo>
                  <a:lnTo>
                    <a:pt x="400962" y="8501"/>
                  </a:lnTo>
                  <a:lnTo>
                    <a:pt x="444658" y="0"/>
                  </a:lnTo>
                  <a:lnTo>
                    <a:pt x="488354" y="8501"/>
                  </a:lnTo>
                  <a:lnTo>
                    <a:pt x="526764" y="34004"/>
                  </a:lnTo>
                  <a:lnTo>
                    <a:pt x="855313" y="362553"/>
                  </a:lnTo>
                  <a:lnTo>
                    <a:pt x="880887" y="400962"/>
                  </a:lnTo>
                  <a:lnTo>
                    <a:pt x="889412" y="444658"/>
                  </a:lnTo>
                  <a:lnTo>
                    <a:pt x="880887" y="488354"/>
                  </a:lnTo>
                  <a:lnTo>
                    <a:pt x="855313" y="526764"/>
                  </a:lnTo>
                  <a:lnTo>
                    <a:pt x="526764" y="855313"/>
                  </a:lnTo>
                  <a:lnTo>
                    <a:pt x="488354" y="880887"/>
                  </a:lnTo>
                  <a:lnTo>
                    <a:pt x="444658" y="889412"/>
                  </a:lnTo>
                  <a:lnTo>
                    <a:pt x="400962" y="880887"/>
                  </a:lnTo>
                  <a:lnTo>
                    <a:pt x="362553" y="855313"/>
                  </a:lnTo>
                  <a:lnTo>
                    <a:pt x="34004" y="526764"/>
                  </a:lnTo>
                  <a:lnTo>
                    <a:pt x="8501" y="488354"/>
                  </a:lnTo>
                  <a:lnTo>
                    <a:pt x="0" y="444658"/>
                  </a:lnTo>
                  <a:lnTo>
                    <a:pt x="8501" y="400962"/>
                  </a:lnTo>
                  <a:lnTo>
                    <a:pt x="34004" y="362553"/>
                  </a:lnTo>
                  <a:lnTo>
                    <a:pt x="362553" y="340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38366" y="3510533"/>
              <a:ext cx="317500" cy="318770"/>
            </a:xfrm>
            <a:custGeom>
              <a:avLst/>
              <a:gdLst/>
              <a:ahLst/>
              <a:cxnLst/>
              <a:rect l="l" t="t" r="r" b="b"/>
              <a:pathLst>
                <a:path w="317500" h="318770">
                  <a:moveTo>
                    <a:pt x="158495" y="0"/>
                  </a:moveTo>
                  <a:lnTo>
                    <a:pt x="108411" y="8113"/>
                  </a:lnTo>
                  <a:lnTo>
                    <a:pt x="64904" y="30711"/>
                  </a:lnTo>
                  <a:lnTo>
                    <a:pt x="30589" y="65178"/>
                  </a:lnTo>
                  <a:lnTo>
                    <a:pt x="8083" y="108898"/>
                  </a:lnTo>
                  <a:lnTo>
                    <a:pt x="0" y="159257"/>
                  </a:lnTo>
                  <a:lnTo>
                    <a:pt x="8083" y="209617"/>
                  </a:lnTo>
                  <a:lnTo>
                    <a:pt x="30589" y="253337"/>
                  </a:lnTo>
                  <a:lnTo>
                    <a:pt x="64904" y="287804"/>
                  </a:lnTo>
                  <a:lnTo>
                    <a:pt x="108411" y="310402"/>
                  </a:lnTo>
                  <a:lnTo>
                    <a:pt x="158495" y="318515"/>
                  </a:lnTo>
                  <a:lnTo>
                    <a:pt x="208580" y="310402"/>
                  </a:lnTo>
                  <a:lnTo>
                    <a:pt x="252087" y="287804"/>
                  </a:lnTo>
                  <a:lnTo>
                    <a:pt x="286402" y="253337"/>
                  </a:lnTo>
                  <a:lnTo>
                    <a:pt x="308908" y="209617"/>
                  </a:lnTo>
                  <a:lnTo>
                    <a:pt x="316991" y="159257"/>
                  </a:lnTo>
                  <a:lnTo>
                    <a:pt x="308908" y="108898"/>
                  </a:lnTo>
                  <a:lnTo>
                    <a:pt x="286402" y="65178"/>
                  </a:lnTo>
                  <a:lnTo>
                    <a:pt x="252087" y="30711"/>
                  </a:lnTo>
                  <a:lnTo>
                    <a:pt x="208580" y="8113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38366" y="3510533"/>
              <a:ext cx="317500" cy="318770"/>
            </a:xfrm>
            <a:custGeom>
              <a:avLst/>
              <a:gdLst/>
              <a:ahLst/>
              <a:cxnLst/>
              <a:rect l="l" t="t" r="r" b="b"/>
              <a:pathLst>
                <a:path w="317500" h="318770">
                  <a:moveTo>
                    <a:pt x="0" y="159257"/>
                  </a:moveTo>
                  <a:lnTo>
                    <a:pt x="8083" y="108898"/>
                  </a:lnTo>
                  <a:lnTo>
                    <a:pt x="30589" y="65178"/>
                  </a:lnTo>
                  <a:lnTo>
                    <a:pt x="64904" y="30711"/>
                  </a:lnTo>
                  <a:lnTo>
                    <a:pt x="108411" y="8113"/>
                  </a:lnTo>
                  <a:lnTo>
                    <a:pt x="158495" y="0"/>
                  </a:lnTo>
                  <a:lnTo>
                    <a:pt x="208580" y="8113"/>
                  </a:lnTo>
                  <a:lnTo>
                    <a:pt x="252087" y="30711"/>
                  </a:lnTo>
                  <a:lnTo>
                    <a:pt x="286402" y="65178"/>
                  </a:lnTo>
                  <a:lnTo>
                    <a:pt x="308908" y="108898"/>
                  </a:lnTo>
                  <a:lnTo>
                    <a:pt x="316991" y="159257"/>
                  </a:lnTo>
                  <a:lnTo>
                    <a:pt x="308908" y="209617"/>
                  </a:lnTo>
                  <a:lnTo>
                    <a:pt x="286402" y="253337"/>
                  </a:lnTo>
                  <a:lnTo>
                    <a:pt x="252087" y="287804"/>
                  </a:lnTo>
                  <a:lnTo>
                    <a:pt x="208580" y="310402"/>
                  </a:lnTo>
                  <a:lnTo>
                    <a:pt x="158495" y="318515"/>
                  </a:lnTo>
                  <a:lnTo>
                    <a:pt x="108411" y="310402"/>
                  </a:lnTo>
                  <a:lnTo>
                    <a:pt x="64904" y="287804"/>
                  </a:lnTo>
                  <a:lnTo>
                    <a:pt x="30589" y="253337"/>
                  </a:lnTo>
                  <a:lnTo>
                    <a:pt x="8083" y="209617"/>
                  </a:lnTo>
                  <a:lnTo>
                    <a:pt x="0" y="15925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5344033" y="1170050"/>
            <a:ext cx="3148965" cy="0"/>
          </a:xfrm>
          <a:custGeom>
            <a:avLst/>
            <a:gdLst/>
            <a:ahLst/>
            <a:cxnLst/>
            <a:rect l="l" t="t" r="r" b="b"/>
            <a:pathLst>
              <a:path w="3148965">
                <a:moveTo>
                  <a:pt x="0" y="0"/>
                </a:moveTo>
                <a:lnTo>
                  <a:pt x="314896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63413" y="1288414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4097" y="25400"/>
                </a:lnTo>
                <a:lnTo>
                  <a:pt x="14097" y="33274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274"/>
                </a:lnTo>
                <a:lnTo>
                  <a:pt x="27813" y="25400"/>
                </a:lnTo>
                <a:close/>
              </a:path>
              <a:path w="98425" h="36830">
                <a:moveTo>
                  <a:pt x="85344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274"/>
                </a:lnTo>
                <a:lnTo>
                  <a:pt x="74549" y="36576"/>
                </a:lnTo>
                <a:lnTo>
                  <a:pt x="82169" y="36576"/>
                </a:lnTo>
                <a:lnTo>
                  <a:pt x="85344" y="33274"/>
                </a:lnTo>
                <a:lnTo>
                  <a:pt x="85344" y="25400"/>
                </a:lnTo>
                <a:close/>
              </a:path>
              <a:path w="98425" h="36830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266" y="21971"/>
                </a:lnTo>
                <a:lnTo>
                  <a:pt x="95758" y="21590"/>
                </a:lnTo>
                <a:lnTo>
                  <a:pt x="95262" y="21082"/>
                </a:lnTo>
                <a:lnTo>
                  <a:pt x="93726" y="19304"/>
                </a:lnTo>
                <a:lnTo>
                  <a:pt x="92151" y="17399"/>
                </a:lnTo>
                <a:lnTo>
                  <a:pt x="92036" y="17272"/>
                </a:lnTo>
                <a:lnTo>
                  <a:pt x="91313" y="16383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127"/>
                </a:lnTo>
                <a:lnTo>
                  <a:pt x="49022" y="889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451" y="5080"/>
                </a:lnTo>
                <a:lnTo>
                  <a:pt x="55118" y="6858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386" y="10922"/>
                </a:lnTo>
                <a:lnTo>
                  <a:pt x="39624" y="10668"/>
                </a:lnTo>
                <a:lnTo>
                  <a:pt x="39624" y="9906"/>
                </a:lnTo>
                <a:lnTo>
                  <a:pt x="39624" y="5588"/>
                </a:lnTo>
                <a:lnTo>
                  <a:pt x="38862" y="4572"/>
                </a:lnTo>
                <a:lnTo>
                  <a:pt x="37846" y="4318"/>
                </a:lnTo>
                <a:lnTo>
                  <a:pt x="36576" y="4191"/>
                </a:lnTo>
                <a:lnTo>
                  <a:pt x="35560" y="4953"/>
                </a:lnTo>
                <a:lnTo>
                  <a:pt x="35433" y="5588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620"/>
                </a:lnTo>
                <a:lnTo>
                  <a:pt x="22352" y="7747"/>
                </a:lnTo>
                <a:lnTo>
                  <a:pt x="21082" y="8001"/>
                </a:lnTo>
                <a:lnTo>
                  <a:pt x="20066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159" y="15494"/>
                </a:lnTo>
                <a:lnTo>
                  <a:pt x="0" y="16891"/>
                </a:lnTo>
                <a:lnTo>
                  <a:pt x="1270" y="25654"/>
                </a:lnTo>
                <a:lnTo>
                  <a:pt x="254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680" y="29464"/>
                </a:lnTo>
                <a:lnTo>
                  <a:pt x="10795" y="27051"/>
                </a:lnTo>
                <a:lnTo>
                  <a:pt x="11811" y="25019"/>
                </a:lnTo>
                <a:lnTo>
                  <a:pt x="13970" y="19685"/>
                </a:lnTo>
                <a:lnTo>
                  <a:pt x="19939" y="17272"/>
                </a:lnTo>
                <a:lnTo>
                  <a:pt x="25019" y="19685"/>
                </a:lnTo>
                <a:lnTo>
                  <a:pt x="28702" y="21336"/>
                </a:lnTo>
                <a:lnTo>
                  <a:pt x="31026" y="25019"/>
                </a:lnTo>
                <a:lnTo>
                  <a:pt x="31076" y="30607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311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621782" y="1194308"/>
            <a:ext cx="263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Support</a:t>
            </a:r>
            <a:r>
              <a:rPr sz="1200" spc="-4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dealers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to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omnichannel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transition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463413" y="1521586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4097" y="25400"/>
                </a:lnTo>
                <a:lnTo>
                  <a:pt x="14097" y="33274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274"/>
                </a:lnTo>
                <a:lnTo>
                  <a:pt x="27813" y="25400"/>
                </a:lnTo>
                <a:close/>
              </a:path>
              <a:path w="98425" h="36830">
                <a:moveTo>
                  <a:pt x="85344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274"/>
                </a:lnTo>
                <a:lnTo>
                  <a:pt x="74549" y="36576"/>
                </a:lnTo>
                <a:lnTo>
                  <a:pt x="82169" y="36576"/>
                </a:lnTo>
                <a:lnTo>
                  <a:pt x="85344" y="33274"/>
                </a:lnTo>
                <a:lnTo>
                  <a:pt x="85344" y="25400"/>
                </a:lnTo>
                <a:close/>
              </a:path>
              <a:path w="98425" h="36830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266" y="21971"/>
                </a:lnTo>
                <a:lnTo>
                  <a:pt x="95758" y="21590"/>
                </a:lnTo>
                <a:lnTo>
                  <a:pt x="95262" y="21082"/>
                </a:lnTo>
                <a:lnTo>
                  <a:pt x="93726" y="19304"/>
                </a:lnTo>
                <a:lnTo>
                  <a:pt x="92151" y="17399"/>
                </a:lnTo>
                <a:lnTo>
                  <a:pt x="92036" y="17272"/>
                </a:lnTo>
                <a:lnTo>
                  <a:pt x="91313" y="16383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127"/>
                </a:lnTo>
                <a:lnTo>
                  <a:pt x="49022" y="889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451" y="5080"/>
                </a:lnTo>
                <a:lnTo>
                  <a:pt x="55118" y="6858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386" y="10922"/>
                </a:lnTo>
                <a:lnTo>
                  <a:pt x="39624" y="10668"/>
                </a:lnTo>
                <a:lnTo>
                  <a:pt x="39624" y="9906"/>
                </a:lnTo>
                <a:lnTo>
                  <a:pt x="39624" y="5588"/>
                </a:lnTo>
                <a:lnTo>
                  <a:pt x="38862" y="4572"/>
                </a:lnTo>
                <a:lnTo>
                  <a:pt x="37846" y="4318"/>
                </a:lnTo>
                <a:lnTo>
                  <a:pt x="36576" y="4191"/>
                </a:lnTo>
                <a:lnTo>
                  <a:pt x="35560" y="4953"/>
                </a:lnTo>
                <a:lnTo>
                  <a:pt x="35433" y="5588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620"/>
                </a:lnTo>
                <a:lnTo>
                  <a:pt x="22352" y="7747"/>
                </a:lnTo>
                <a:lnTo>
                  <a:pt x="21082" y="8001"/>
                </a:lnTo>
                <a:lnTo>
                  <a:pt x="20066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159" y="15494"/>
                </a:lnTo>
                <a:lnTo>
                  <a:pt x="0" y="16891"/>
                </a:lnTo>
                <a:lnTo>
                  <a:pt x="1270" y="25654"/>
                </a:lnTo>
                <a:lnTo>
                  <a:pt x="254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680" y="29464"/>
                </a:lnTo>
                <a:lnTo>
                  <a:pt x="10795" y="27051"/>
                </a:lnTo>
                <a:lnTo>
                  <a:pt x="11811" y="25019"/>
                </a:lnTo>
                <a:lnTo>
                  <a:pt x="13970" y="19685"/>
                </a:lnTo>
                <a:lnTo>
                  <a:pt x="19939" y="17272"/>
                </a:lnTo>
                <a:lnTo>
                  <a:pt x="25019" y="19685"/>
                </a:lnTo>
                <a:lnTo>
                  <a:pt x="28702" y="21336"/>
                </a:lnTo>
                <a:lnTo>
                  <a:pt x="31026" y="25019"/>
                </a:lnTo>
                <a:lnTo>
                  <a:pt x="31076" y="30607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311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21782" y="1427479"/>
            <a:ext cx="2767965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22630" algn="l"/>
                <a:tab pos="1411605" algn="l"/>
                <a:tab pos="2100580" algn="l"/>
              </a:tabLst>
            </a:pP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Mobility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	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services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	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through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	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education,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platforms</a:t>
            </a:r>
            <a:r>
              <a:rPr sz="1200" spc="-4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Mobility</a:t>
            </a:r>
            <a:r>
              <a:rPr sz="1200" spc="-5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fleet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ownership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opportunity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63413" y="1937638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4097" y="25400"/>
                </a:lnTo>
                <a:lnTo>
                  <a:pt x="14097" y="33274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274"/>
                </a:lnTo>
                <a:lnTo>
                  <a:pt x="27813" y="25400"/>
                </a:lnTo>
                <a:close/>
              </a:path>
              <a:path w="98425" h="36830">
                <a:moveTo>
                  <a:pt x="85344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274"/>
                </a:lnTo>
                <a:lnTo>
                  <a:pt x="74549" y="36576"/>
                </a:lnTo>
                <a:lnTo>
                  <a:pt x="82169" y="36576"/>
                </a:lnTo>
                <a:lnTo>
                  <a:pt x="85344" y="33274"/>
                </a:lnTo>
                <a:lnTo>
                  <a:pt x="85344" y="25400"/>
                </a:lnTo>
                <a:close/>
              </a:path>
              <a:path w="98425" h="36830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266" y="21971"/>
                </a:lnTo>
                <a:lnTo>
                  <a:pt x="95758" y="21590"/>
                </a:lnTo>
                <a:lnTo>
                  <a:pt x="95262" y="21082"/>
                </a:lnTo>
                <a:lnTo>
                  <a:pt x="93726" y="19304"/>
                </a:lnTo>
                <a:lnTo>
                  <a:pt x="92151" y="17399"/>
                </a:lnTo>
                <a:lnTo>
                  <a:pt x="92036" y="17272"/>
                </a:lnTo>
                <a:lnTo>
                  <a:pt x="91313" y="16383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500" y="6477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127"/>
                </a:lnTo>
                <a:lnTo>
                  <a:pt x="49022" y="889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451" y="5080"/>
                </a:lnTo>
                <a:lnTo>
                  <a:pt x="55118" y="6858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386" y="10922"/>
                </a:lnTo>
                <a:lnTo>
                  <a:pt x="39624" y="10668"/>
                </a:lnTo>
                <a:lnTo>
                  <a:pt x="39624" y="9906"/>
                </a:lnTo>
                <a:lnTo>
                  <a:pt x="39624" y="5588"/>
                </a:lnTo>
                <a:lnTo>
                  <a:pt x="38862" y="4572"/>
                </a:lnTo>
                <a:lnTo>
                  <a:pt x="37846" y="4318"/>
                </a:lnTo>
                <a:lnTo>
                  <a:pt x="36576" y="4191"/>
                </a:lnTo>
                <a:lnTo>
                  <a:pt x="35560" y="4953"/>
                </a:lnTo>
                <a:lnTo>
                  <a:pt x="35433" y="5588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620"/>
                </a:lnTo>
                <a:lnTo>
                  <a:pt x="22352" y="7747"/>
                </a:lnTo>
                <a:lnTo>
                  <a:pt x="21082" y="8001"/>
                </a:lnTo>
                <a:lnTo>
                  <a:pt x="20066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462"/>
                </a:lnTo>
                <a:lnTo>
                  <a:pt x="2159" y="15494"/>
                </a:lnTo>
                <a:lnTo>
                  <a:pt x="0" y="16891"/>
                </a:lnTo>
                <a:lnTo>
                  <a:pt x="1270" y="25654"/>
                </a:lnTo>
                <a:lnTo>
                  <a:pt x="254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680" y="29464"/>
                </a:lnTo>
                <a:lnTo>
                  <a:pt x="10795" y="27051"/>
                </a:lnTo>
                <a:lnTo>
                  <a:pt x="11811" y="25019"/>
                </a:lnTo>
                <a:lnTo>
                  <a:pt x="13970" y="19685"/>
                </a:lnTo>
                <a:lnTo>
                  <a:pt x="19939" y="17272"/>
                </a:lnTo>
                <a:lnTo>
                  <a:pt x="25019" y="19685"/>
                </a:lnTo>
                <a:lnTo>
                  <a:pt x="28702" y="21336"/>
                </a:lnTo>
                <a:lnTo>
                  <a:pt x="31026" y="25019"/>
                </a:lnTo>
                <a:lnTo>
                  <a:pt x="31076" y="30607"/>
                </a:lnTo>
                <a:lnTo>
                  <a:pt x="30607" y="32512"/>
                </a:lnTo>
                <a:lnTo>
                  <a:pt x="68707" y="32512"/>
                </a:lnTo>
                <a:lnTo>
                  <a:pt x="67056" y="27051"/>
                </a:lnTo>
                <a:lnTo>
                  <a:pt x="69977" y="21082"/>
                </a:lnTo>
                <a:lnTo>
                  <a:pt x="75311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832854" y="3523234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712291" y="2945076"/>
            <a:ext cx="2663190" cy="1605280"/>
            <a:chOff x="6712291" y="2945076"/>
            <a:chExt cx="2663190" cy="1605280"/>
          </a:xfrm>
        </p:grpSpPr>
        <p:sp>
          <p:nvSpPr>
            <p:cNvPr id="53" name="object 53"/>
            <p:cNvSpPr/>
            <p:nvPr/>
          </p:nvSpPr>
          <p:spPr>
            <a:xfrm>
              <a:off x="6712280" y="2945079"/>
              <a:ext cx="361950" cy="431165"/>
            </a:xfrm>
            <a:custGeom>
              <a:avLst/>
              <a:gdLst/>
              <a:ahLst/>
              <a:cxnLst/>
              <a:rect l="l" t="t" r="r" b="b"/>
              <a:pathLst>
                <a:path w="361950" h="431164">
                  <a:moveTo>
                    <a:pt x="90449" y="268617"/>
                  </a:moveTo>
                  <a:lnTo>
                    <a:pt x="83299" y="261467"/>
                  </a:lnTo>
                  <a:lnTo>
                    <a:pt x="79806" y="261467"/>
                  </a:lnTo>
                  <a:lnTo>
                    <a:pt x="79806" y="274497"/>
                  </a:lnTo>
                  <a:lnTo>
                    <a:pt x="79806" y="291020"/>
                  </a:lnTo>
                  <a:lnTo>
                    <a:pt x="77419" y="293395"/>
                  </a:lnTo>
                  <a:lnTo>
                    <a:pt x="39611" y="293395"/>
                  </a:lnTo>
                  <a:lnTo>
                    <a:pt x="37223" y="291020"/>
                  </a:lnTo>
                  <a:lnTo>
                    <a:pt x="37223" y="274497"/>
                  </a:lnTo>
                  <a:lnTo>
                    <a:pt x="39611" y="272110"/>
                  </a:lnTo>
                  <a:lnTo>
                    <a:pt x="77419" y="272110"/>
                  </a:lnTo>
                  <a:lnTo>
                    <a:pt x="79806" y="274497"/>
                  </a:lnTo>
                  <a:lnTo>
                    <a:pt x="79806" y="261467"/>
                  </a:lnTo>
                  <a:lnTo>
                    <a:pt x="33731" y="261467"/>
                  </a:lnTo>
                  <a:lnTo>
                    <a:pt x="26581" y="268617"/>
                  </a:lnTo>
                  <a:lnTo>
                    <a:pt x="26581" y="296887"/>
                  </a:lnTo>
                  <a:lnTo>
                    <a:pt x="33731" y="304038"/>
                  </a:lnTo>
                  <a:lnTo>
                    <a:pt x="83299" y="304038"/>
                  </a:lnTo>
                  <a:lnTo>
                    <a:pt x="90449" y="296887"/>
                  </a:lnTo>
                  <a:lnTo>
                    <a:pt x="90449" y="293395"/>
                  </a:lnTo>
                  <a:lnTo>
                    <a:pt x="90449" y="272110"/>
                  </a:lnTo>
                  <a:lnTo>
                    <a:pt x="90449" y="268617"/>
                  </a:lnTo>
                  <a:close/>
                </a:path>
                <a:path w="361950" h="431164">
                  <a:moveTo>
                    <a:pt x="335280" y="268617"/>
                  </a:moveTo>
                  <a:lnTo>
                    <a:pt x="328129" y="261467"/>
                  </a:lnTo>
                  <a:lnTo>
                    <a:pt x="324637" y="261467"/>
                  </a:lnTo>
                  <a:lnTo>
                    <a:pt x="324637" y="274497"/>
                  </a:lnTo>
                  <a:lnTo>
                    <a:pt x="324637" y="291020"/>
                  </a:lnTo>
                  <a:lnTo>
                    <a:pt x="322249" y="293395"/>
                  </a:lnTo>
                  <a:lnTo>
                    <a:pt x="284441" y="293395"/>
                  </a:lnTo>
                  <a:lnTo>
                    <a:pt x="282054" y="291020"/>
                  </a:lnTo>
                  <a:lnTo>
                    <a:pt x="282054" y="274497"/>
                  </a:lnTo>
                  <a:lnTo>
                    <a:pt x="284441" y="272110"/>
                  </a:lnTo>
                  <a:lnTo>
                    <a:pt x="322249" y="272110"/>
                  </a:lnTo>
                  <a:lnTo>
                    <a:pt x="324637" y="274497"/>
                  </a:lnTo>
                  <a:lnTo>
                    <a:pt x="324637" y="261467"/>
                  </a:lnTo>
                  <a:lnTo>
                    <a:pt x="278561" y="261467"/>
                  </a:lnTo>
                  <a:lnTo>
                    <a:pt x="271411" y="268617"/>
                  </a:lnTo>
                  <a:lnTo>
                    <a:pt x="271411" y="296887"/>
                  </a:lnTo>
                  <a:lnTo>
                    <a:pt x="278561" y="304038"/>
                  </a:lnTo>
                  <a:lnTo>
                    <a:pt x="328129" y="304038"/>
                  </a:lnTo>
                  <a:lnTo>
                    <a:pt x="335280" y="296887"/>
                  </a:lnTo>
                  <a:lnTo>
                    <a:pt x="335280" y="293395"/>
                  </a:lnTo>
                  <a:lnTo>
                    <a:pt x="335280" y="272110"/>
                  </a:lnTo>
                  <a:lnTo>
                    <a:pt x="335280" y="268617"/>
                  </a:lnTo>
                  <a:close/>
                </a:path>
                <a:path w="361950" h="431164">
                  <a:moveTo>
                    <a:pt x="339940" y="35433"/>
                  </a:moveTo>
                  <a:lnTo>
                    <a:pt x="322402" y="10274"/>
                  </a:lnTo>
                  <a:lnTo>
                    <a:pt x="322402" y="24815"/>
                  </a:lnTo>
                  <a:lnTo>
                    <a:pt x="293433" y="24866"/>
                  </a:lnTo>
                  <a:lnTo>
                    <a:pt x="280200" y="47815"/>
                  </a:lnTo>
                  <a:lnTo>
                    <a:pt x="293154" y="70688"/>
                  </a:lnTo>
                  <a:lnTo>
                    <a:pt x="322059" y="70688"/>
                  </a:lnTo>
                  <a:lnTo>
                    <a:pt x="321983" y="70853"/>
                  </a:lnTo>
                  <a:lnTo>
                    <a:pt x="318681" y="75018"/>
                  </a:lnTo>
                  <a:lnTo>
                    <a:pt x="314439" y="78473"/>
                  </a:lnTo>
                  <a:lnTo>
                    <a:pt x="309587" y="80886"/>
                  </a:lnTo>
                  <a:lnTo>
                    <a:pt x="295706" y="84442"/>
                  </a:lnTo>
                  <a:lnTo>
                    <a:pt x="281940" y="82715"/>
                  </a:lnTo>
                  <a:lnTo>
                    <a:pt x="269709" y="76149"/>
                  </a:lnTo>
                  <a:lnTo>
                    <a:pt x="268185" y="74345"/>
                  </a:lnTo>
                  <a:lnTo>
                    <a:pt x="260464" y="65201"/>
                  </a:lnTo>
                  <a:lnTo>
                    <a:pt x="259613" y="63728"/>
                  </a:lnTo>
                  <a:lnTo>
                    <a:pt x="101206" y="63728"/>
                  </a:lnTo>
                  <a:lnTo>
                    <a:pt x="99695" y="66382"/>
                  </a:lnTo>
                  <a:lnTo>
                    <a:pt x="97409" y="70561"/>
                  </a:lnTo>
                  <a:lnTo>
                    <a:pt x="93776" y="74739"/>
                  </a:lnTo>
                  <a:lnTo>
                    <a:pt x="89395" y="78003"/>
                  </a:lnTo>
                  <a:lnTo>
                    <a:pt x="76365" y="84061"/>
                  </a:lnTo>
                  <a:lnTo>
                    <a:pt x="62496" y="84747"/>
                  </a:lnTo>
                  <a:lnTo>
                    <a:pt x="49352" y="80289"/>
                  </a:lnTo>
                  <a:lnTo>
                    <a:pt x="38430" y="70853"/>
                  </a:lnTo>
                  <a:lnTo>
                    <a:pt x="67437" y="70815"/>
                  </a:lnTo>
                  <a:lnTo>
                    <a:pt x="80670" y="47815"/>
                  </a:lnTo>
                  <a:lnTo>
                    <a:pt x="73698" y="35521"/>
                  </a:lnTo>
                  <a:lnTo>
                    <a:pt x="67665" y="24904"/>
                  </a:lnTo>
                  <a:lnTo>
                    <a:pt x="38874" y="24904"/>
                  </a:lnTo>
                  <a:lnTo>
                    <a:pt x="65125" y="11176"/>
                  </a:lnTo>
                  <a:lnTo>
                    <a:pt x="78879" y="12877"/>
                  </a:lnTo>
                  <a:lnTo>
                    <a:pt x="91109" y="19431"/>
                  </a:lnTo>
                  <a:lnTo>
                    <a:pt x="100355" y="30378"/>
                  </a:lnTo>
                  <a:lnTo>
                    <a:pt x="101244" y="31902"/>
                  </a:lnTo>
                  <a:lnTo>
                    <a:pt x="259638" y="31902"/>
                  </a:lnTo>
                  <a:lnTo>
                    <a:pt x="261048" y="29387"/>
                  </a:lnTo>
                  <a:lnTo>
                    <a:pt x="263829" y="24333"/>
                  </a:lnTo>
                  <a:lnTo>
                    <a:pt x="266725" y="21272"/>
                  </a:lnTo>
                  <a:lnTo>
                    <a:pt x="268490" y="19405"/>
                  </a:lnTo>
                  <a:lnTo>
                    <a:pt x="274154" y="15862"/>
                  </a:lnTo>
                  <a:lnTo>
                    <a:pt x="286829" y="11125"/>
                  </a:lnTo>
                  <a:lnTo>
                    <a:pt x="299948" y="11188"/>
                  </a:lnTo>
                  <a:lnTo>
                    <a:pt x="312229" y="15824"/>
                  </a:lnTo>
                  <a:lnTo>
                    <a:pt x="322402" y="24815"/>
                  </a:lnTo>
                  <a:lnTo>
                    <a:pt x="322402" y="10274"/>
                  </a:lnTo>
                  <a:lnTo>
                    <a:pt x="320675" y="8763"/>
                  </a:lnTo>
                  <a:lnTo>
                    <a:pt x="312928" y="4152"/>
                  </a:lnTo>
                  <a:lnTo>
                    <a:pt x="296468" y="0"/>
                  </a:lnTo>
                  <a:lnTo>
                    <a:pt x="280085" y="1752"/>
                  </a:lnTo>
                  <a:lnTo>
                    <a:pt x="265264" y="8991"/>
                  </a:lnTo>
                  <a:lnTo>
                    <a:pt x="253555" y="21272"/>
                  </a:lnTo>
                  <a:lnTo>
                    <a:pt x="107264" y="21272"/>
                  </a:lnTo>
                  <a:lnTo>
                    <a:pt x="97053" y="11176"/>
                  </a:lnTo>
                  <a:lnTo>
                    <a:pt x="93827" y="7975"/>
                  </a:lnTo>
                  <a:lnTo>
                    <a:pt x="76936" y="1104"/>
                  </a:lnTo>
                  <a:lnTo>
                    <a:pt x="35547" y="12877"/>
                  </a:lnTo>
                  <a:lnTo>
                    <a:pt x="21107" y="35636"/>
                  </a:lnTo>
                  <a:lnTo>
                    <a:pt x="61442" y="35560"/>
                  </a:lnTo>
                  <a:lnTo>
                    <a:pt x="68402" y="47815"/>
                  </a:lnTo>
                  <a:lnTo>
                    <a:pt x="61290" y="60134"/>
                  </a:lnTo>
                  <a:lnTo>
                    <a:pt x="20891" y="60134"/>
                  </a:lnTo>
                  <a:lnTo>
                    <a:pt x="45885" y="90462"/>
                  </a:lnTo>
                  <a:lnTo>
                    <a:pt x="66344" y="95694"/>
                  </a:lnTo>
                  <a:lnTo>
                    <a:pt x="76873" y="94792"/>
                  </a:lnTo>
                  <a:lnTo>
                    <a:pt x="107276" y="74345"/>
                  </a:lnTo>
                  <a:lnTo>
                    <a:pt x="253593" y="74345"/>
                  </a:lnTo>
                  <a:lnTo>
                    <a:pt x="267042" y="87630"/>
                  </a:lnTo>
                  <a:lnTo>
                    <a:pt x="283972" y="94488"/>
                  </a:lnTo>
                  <a:lnTo>
                    <a:pt x="302221" y="94513"/>
                  </a:lnTo>
                  <a:lnTo>
                    <a:pt x="319697" y="87261"/>
                  </a:lnTo>
                  <a:lnTo>
                    <a:pt x="336981" y="66205"/>
                  </a:lnTo>
                  <a:lnTo>
                    <a:pt x="339725" y="60185"/>
                  </a:lnTo>
                  <a:lnTo>
                    <a:pt x="339725" y="60020"/>
                  </a:lnTo>
                  <a:lnTo>
                    <a:pt x="299351" y="60020"/>
                  </a:lnTo>
                  <a:lnTo>
                    <a:pt x="292430" y="47840"/>
                  </a:lnTo>
                  <a:lnTo>
                    <a:pt x="299542" y="35509"/>
                  </a:lnTo>
                  <a:lnTo>
                    <a:pt x="339928" y="35509"/>
                  </a:lnTo>
                  <a:close/>
                </a:path>
                <a:path w="361950" h="431164">
                  <a:moveTo>
                    <a:pt x="361924" y="266014"/>
                  </a:moveTo>
                  <a:lnTo>
                    <a:pt x="359397" y="253606"/>
                  </a:lnTo>
                  <a:lnTo>
                    <a:pt x="353428" y="244779"/>
                  </a:lnTo>
                  <a:lnTo>
                    <a:pt x="352539" y="243471"/>
                  </a:lnTo>
                  <a:lnTo>
                    <a:pt x="351269" y="242620"/>
                  </a:lnTo>
                  <a:lnTo>
                    <a:pt x="351269" y="266014"/>
                  </a:lnTo>
                  <a:lnTo>
                    <a:pt x="351256" y="357085"/>
                  </a:lnTo>
                  <a:lnTo>
                    <a:pt x="346506" y="361835"/>
                  </a:lnTo>
                  <a:lnTo>
                    <a:pt x="319341" y="361848"/>
                  </a:lnTo>
                  <a:lnTo>
                    <a:pt x="319341" y="372491"/>
                  </a:lnTo>
                  <a:lnTo>
                    <a:pt x="319341" y="415620"/>
                  </a:lnTo>
                  <a:lnTo>
                    <a:pt x="314566" y="420382"/>
                  </a:lnTo>
                  <a:lnTo>
                    <a:pt x="292163" y="420382"/>
                  </a:lnTo>
                  <a:lnTo>
                    <a:pt x="287401" y="415620"/>
                  </a:lnTo>
                  <a:lnTo>
                    <a:pt x="287401" y="372491"/>
                  </a:lnTo>
                  <a:lnTo>
                    <a:pt x="319341" y="372491"/>
                  </a:lnTo>
                  <a:lnTo>
                    <a:pt x="319341" y="361848"/>
                  </a:lnTo>
                  <a:lnTo>
                    <a:pt x="74510" y="361848"/>
                  </a:lnTo>
                  <a:lnTo>
                    <a:pt x="74510" y="415620"/>
                  </a:lnTo>
                  <a:lnTo>
                    <a:pt x="69735" y="420382"/>
                  </a:lnTo>
                  <a:lnTo>
                    <a:pt x="47307" y="420382"/>
                  </a:lnTo>
                  <a:lnTo>
                    <a:pt x="42545" y="415620"/>
                  </a:lnTo>
                  <a:lnTo>
                    <a:pt x="42545" y="372402"/>
                  </a:lnTo>
                  <a:lnTo>
                    <a:pt x="74485" y="372402"/>
                  </a:lnTo>
                  <a:lnTo>
                    <a:pt x="74510" y="415620"/>
                  </a:lnTo>
                  <a:lnTo>
                    <a:pt x="74510" y="361848"/>
                  </a:lnTo>
                  <a:lnTo>
                    <a:pt x="21285" y="361848"/>
                  </a:lnTo>
                  <a:lnTo>
                    <a:pt x="15405" y="361848"/>
                  </a:lnTo>
                  <a:lnTo>
                    <a:pt x="10642" y="357085"/>
                  </a:lnTo>
                  <a:lnTo>
                    <a:pt x="10655" y="266014"/>
                  </a:lnTo>
                  <a:lnTo>
                    <a:pt x="31927" y="244779"/>
                  </a:lnTo>
                  <a:lnTo>
                    <a:pt x="329984" y="244779"/>
                  </a:lnTo>
                  <a:lnTo>
                    <a:pt x="338264" y="246456"/>
                  </a:lnTo>
                  <a:lnTo>
                    <a:pt x="345033" y="251015"/>
                  </a:lnTo>
                  <a:lnTo>
                    <a:pt x="349605" y="257784"/>
                  </a:lnTo>
                  <a:lnTo>
                    <a:pt x="351269" y="266014"/>
                  </a:lnTo>
                  <a:lnTo>
                    <a:pt x="351269" y="242620"/>
                  </a:lnTo>
                  <a:lnTo>
                    <a:pt x="342404" y="236626"/>
                  </a:lnTo>
                  <a:lnTo>
                    <a:pt x="329996" y="234086"/>
                  </a:lnTo>
                  <a:lnTo>
                    <a:pt x="318414" y="206857"/>
                  </a:lnTo>
                  <a:lnTo>
                    <a:pt x="318414" y="234048"/>
                  </a:lnTo>
                  <a:lnTo>
                    <a:pt x="43510" y="234048"/>
                  </a:lnTo>
                  <a:lnTo>
                    <a:pt x="76327" y="156806"/>
                  </a:lnTo>
                  <a:lnTo>
                    <a:pt x="79590" y="148615"/>
                  </a:lnTo>
                  <a:lnTo>
                    <a:pt x="87287" y="143471"/>
                  </a:lnTo>
                  <a:lnTo>
                    <a:pt x="95796" y="143586"/>
                  </a:lnTo>
                  <a:lnTo>
                    <a:pt x="266115" y="143586"/>
                  </a:lnTo>
                  <a:lnTo>
                    <a:pt x="274624" y="143471"/>
                  </a:lnTo>
                  <a:lnTo>
                    <a:pt x="282333" y="148615"/>
                  </a:lnTo>
                  <a:lnTo>
                    <a:pt x="285597" y="156819"/>
                  </a:lnTo>
                  <a:lnTo>
                    <a:pt x="318414" y="234048"/>
                  </a:lnTo>
                  <a:lnTo>
                    <a:pt x="318414" y="206857"/>
                  </a:lnTo>
                  <a:lnTo>
                    <a:pt x="295402" y="152679"/>
                  </a:lnTo>
                  <a:lnTo>
                    <a:pt x="290639" y="144526"/>
                  </a:lnTo>
                  <a:lnTo>
                    <a:pt x="289483" y="143471"/>
                  </a:lnTo>
                  <a:lnTo>
                    <a:pt x="283819" y="138290"/>
                  </a:lnTo>
                  <a:lnTo>
                    <a:pt x="275475" y="134315"/>
                  </a:lnTo>
                  <a:lnTo>
                    <a:pt x="266128" y="132981"/>
                  </a:lnTo>
                  <a:lnTo>
                    <a:pt x="95808" y="132981"/>
                  </a:lnTo>
                  <a:lnTo>
                    <a:pt x="31940" y="234048"/>
                  </a:lnTo>
                  <a:lnTo>
                    <a:pt x="19532" y="236626"/>
                  </a:lnTo>
                  <a:lnTo>
                    <a:pt x="9385" y="243471"/>
                  </a:lnTo>
                  <a:lnTo>
                    <a:pt x="2540" y="253606"/>
                  </a:lnTo>
                  <a:lnTo>
                    <a:pt x="0" y="266014"/>
                  </a:lnTo>
                  <a:lnTo>
                    <a:pt x="0" y="351155"/>
                  </a:lnTo>
                  <a:lnTo>
                    <a:pt x="1689" y="359435"/>
                  </a:lnTo>
                  <a:lnTo>
                    <a:pt x="6261" y="366191"/>
                  </a:lnTo>
                  <a:lnTo>
                    <a:pt x="13017" y="370751"/>
                  </a:lnTo>
                  <a:lnTo>
                    <a:pt x="21297" y="372440"/>
                  </a:lnTo>
                  <a:lnTo>
                    <a:pt x="31940" y="372440"/>
                  </a:lnTo>
                  <a:lnTo>
                    <a:pt x="31953" y="409740"/>
                  </a:lnTo>
                  <a:lnTo>
                    <a:pt x="33629" y="417969"/>
                  </a:lnTo>
                  <a:lnTo>
                    <a:pt x="38188" y="424726"/>
                  </a:lnTo>
                  <a:lnTo>
                    <a:pt x="44958" y="429285"/>
                  </a:lnTo>
                  <a:lnTo>
                    <a:pt x="53225" y="430974"/>
                  </a:lnTo>
                  <a:lnTo>
                    <a:pt x="63868" y="430974"/>
                  </a:lnTo>
                  <a:lnTo>
                    <a:pt x="85166" y="372440"/>
                  </a:lnTo>
                  <a:lnTo>
                    <a:pt x="276771" y="372440"/>
                  </a:lnTo>
                  <a:lnTo>
                    <a:pt x="278460" y="417969"/>
                  </a:lnTo>
                  <a:lnTo>
                    <a:pt x="298056" y="430974"/>
                  </a:lnTo>
                  <a:lnTo>
                    <a:pt x="308698" y="430974"/>
                  </a:lnTo>
                  <a:lnTo>
                    <a:pt x="329996" y="372491"/>
                  </a:lnTo>
                  <a:lnTo>
                    <a:pt x="340639" y="372440"/>
                  </a:lnTo>
                  <a:lnTo>
                    <a:pt x="340804" y="372402"/>
                  </a:lnTo>
                  <a:lnTo>
                    <a:pt x="348907" y="370751"/>
                  </a:lnTo>
                  <a:lnTo>
                    <a:pt x="355676" y="366191"/>
                  </a:lnTo>
                  <a:lnTo>
                    <a:pt x="358609" y="361848"/>
                  </a:lnTo>
                  <a:lnTo>
                    <a:pt x="360235" y="359435"/>
                  </a:lnTo>
                  <a:lnTo>
                    <a:pt x="361924" y="351155"/>
                  </a:lnTo>
                  <a:lnTo>
                    <a:pt x="361924" y="2660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85784" y="3454145"/>
              <a:ext cx="889635" cy="1096010"/>
            </a:xfrm>
            <a:custGeom>
              <a:avLst/>
              <a:gdLst/>
              <a:ahLst/>
              <a:cxnLst/>
              <a:rect l="l" t="t" r="r" b="b"/>
              <a:pathLst>
                <a:path w="889634" h="1096010">
                  <a:moveTo>
                    <a:pt x="889317" y="650925"/>
                  </a:moveTo>
                  <a:lnTo>
                    <a:pt x="880821" y="607199"/>
                  </a:lnTo>
                  <a:lnTo>
                    <a:pt x="855319" y="568706"/>
                  </a:lnTo>
                  <a:lnTo>
                    <a:pt x="556107" y="269506"/>
                  </a:lnTo>
                  <a:lnTo>
                    <a:pt x="573519" y="252095"/>
                  </a:lnTo>
                  <a:lnTo>
                    <a:pt x="596023" y="208584"/>
                  </a:lnTo>
                  <a:lnTo>
                    <a:pt x="604113" y="158496"/>
                  </a:lnTo>
                  <a:lnTo>
                    <a:pt x="596023" y="108419"/>
                  </a:lnTo>
                  <a:lnTo>
                    <a:pt x="573519" y="64909"/>
                  </a:lnTo>
                  <a:lnTo>
                    <a:pt x="539203" y="30594"/>
                  </a:lnTo>
                  <a:lnTo>
                    <a:pt x="495693" y="8089"/>
                  </a:lnTo>
                  <a:lnTo>
                    <a:pt x="445617" y="0"/>
                  </a:lnTo>
                  <a:lnTo>
                    <a:pt x="395528" y="8089"/>
                  </a:lnTo>
                  <a:lnTo>
                    <a:pt x="352018" y="30594"/>
                  </a:lnTo>
                  <a:lnTo>
                    <a:pt x="317703" y="64909"/>
                  </a:lnTo>
                  <a:lnTo>
                    <a:pt x="295198" y="108419"/>
                  </a:lnTo>
                  <a:lnTo>
                    <a:pt x="287121" y="158496"/>
                  </a:lnTo>
                  <a:lnTo>
                    <a:pt x="295198" y="208584"/>
                  </a:lnTo>
                  <a:lnTo>
                    <a:pt x="317703" y="252095"/>
                  </a:lnTo>
                  <a:lnTo>
                    <a:pt x="334162" y="268554"/>
                  </a:lnTo>
                  <a:lnTo>
                    <a:pt x="34010" y="568706"/>
                  </a:lnTo>
                  <a:lnTo>
                    <a:pt x="8496" y="607199"/>
                  </a:lnTo>
                  <a:lnTo>
                    <a:pt x="0" y="650925"/>
                  </a:lnTo>
                  <a:lnTo>
                    <a:pt x="8496" y="694639"/>
                  </a:lnTo>
                  <a:lnTo>
                    <a:pt x="34010" y="733044"/>
                  </a:lnTo>
                  <a:lnTo>
                    <a:pt x="362559" y="1061593"/>
                  </a:lnTo>
                  <a:lnTo>
                    <a:pt x="400964" y="1087107"/>
                  </a:lnTo>
                  <a:lnTo>
                    <a:pt x="444665" y="1095603"/>
                  </a:lnTo>
                  <a:lnTo>
                    <a:pt x="488353" y="1087107"/>
                  </a:lnTo>
                  <a:lnTo>
                    <a:pt x="526770" y="1061593"/>
                  </a:lnTo>
                  <a:lnTo>
                    <a:pt x="855319" y="733044"/>
                  </a:lnTo>
                  <a:lnTo>
                    <a:pt x="880821" y="694639"/>
                  </a:lnTo>
                  <a:lnTo>
                    <a:pt x="889317" y="650925"/>
                  </a:lnTo>
                  <a:close/>
                </a:path>
              </a:pathLst>
            </a:custGeom>
            <a:solidFill>
              <a:srgbClr val="174E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772906" y="345414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0" y="158495"/>
                  </a:moveTo>
                  <a:lnTo>
                    <a:pt x="8083" y="108411"/>
                  </a:lnTo>
                  <a:lnTo>
                    <a:pt x="30589" y="64904"/>
                  </a:lnTo>
                  <a:lnTo>
                    <a:pt x="64904" y="30589"/>
                  </a:lnTo>
                  <a:lnTo>
                    <a:pt x="108411" y="8083"/>
                  </a:lnTo>
                  <a:lnTo>
                    <a:pt x="158496" y="0"/>
                  </a:lnTo>
                  <a:lnTo>
                    <a:pt x="208580" y="8083"/>
                  </a:lnTo>
                  <a:lnTo>
                    <a:pt x="252087" y="30589"/>
                  </a:lnTo>
                  <a:lnTo>
                    <a:pt x="286402" y="64904"/>
                  </a:lnTo>
                  <a:lnTo>
                    <a:pt x="308908" y="108411"/>
                  </a:lnTo>
                  <a:lnTo>
                    <a:pt x="316992" y="158495"/>
                  </a:lnTo>
                  <a:lnTo>
                    <a:pt x="308908" y="208580"/>
                  </a:lnTo>
                  <a:lnTo>
                    <a:pt x="286402" y="252087"/>
                  </a:lnTo>
                  <a:lnTo>
                    <a:pt x="252087" y="286402"/>
                  </a:lnTo>
                  <a:lnTo>
                    <a:pt x="208580" y="308908"/>
                  </a:lnTo>
                  <a:lnTo>
                    <a:pt x="158496" y="316991"/>
                  </a:lnTo>
                  <a:lnTo>
                    <a:pt x="108411" y="308908"/>
                  </a:lnTo>
                  <a:lnTo>
                    <a:pt x="64904" y="286402"/>
                  </a:lnTo>
                  <a:lnTo>
                    <a:pt x="30589" y="252087"/>
                  </a:lnTo>
                  <a:lnTo>
                    <a:pt x="8083" y="208580"/>
                  </a:lnTo>
                  <a:lnTo>
                    <a:pt x="0" y="15849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607302" y="3938778"/>
            <a:ext cx="572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OEMs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534275" y="4704334"/>
            <a:ext cx="2945765" cy="0"/>
          </a:xfrm>
          <a:custGeom>
            <a:avLst/>
            <a:gdLst/>
            <a:ahLst/>
            <a:cxnLst/>
            <a:rect l="l" t="t" r="r" b="b"/>
            <a:pathLst>
              <a:path w="2945765">
                <a:moveTo>
                  <a:pt x="0" y="0"/>
                </a:moveTo>
                <a:lnTo>
                  <a:pt x="2945638" y="0"/>
                </a:lnTo>
              </a:path>
            </a:pathLst>
          </a:custGeom>
          <a:ln w="38100">
            <a:solidFill>
              <a:srgbClr val="174E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653655" y="4822697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018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018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29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374" y="25400"/>
                </a:lnTo>
                <a:lnTo>
                  <a:pt x="71374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401"/>
                </a:lnTo>
                <a:lnTo>
                  <a:pt x="85217" y="25400"/>
                </a:lnTo>
                <a:close/>
              </a:path>
              <a:path w="98425" h="36829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139" y="21971"/>
                </a:lnTo>
                <a:lnTo>
                  <a:pt x="95758" y="21590"/>
                </a:lnTo>
                <a:lnTo>
                  <a:pt x="95250" y="21209"/>
                </a:lnTo>
                <a:lnTo>
                  <a:pt x="93726" y="19304"/>
                </a:lnTo>
                <a:lnTo>
                  <a:pt x="92062" y="17399"/>
                </a:lnTo>
                <a:lnTo>
                  <a:pt x="91186" y="16383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373" y="6477"/>
                </a:lnTo>
                <a:lnTo>
                  <a:pt x="57277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403" y="254"/>
                </a:lnTo>
                <a:lnTo>
                  <a:pt x="49022" y="889"/>
                </a:lnTo>
                <a:lnTo>
                  <a:pt x="48387" y="1651"/>
                </a:lnTo>
                <a:lnTo>
                  <a:pt x="48514" y="2794"/>
                </a:lnTo>
                <a:lnTo>
                  <a:pt x="49276" y="3429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4991" y="6858"/>
                </a:lnTo>
                <a:lnTo>
                  <a:pt x="57531" y="8763"/>
                </a:lnTo>
                <a:lnTo>
                  <a:pt x="54229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259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497" y="5588"/>
                </a:lnTo>
                <a:lnTo>
                  <a:pt x="38735" y="4572"/>
                </a:lnTo>
                <a:lnTo>
                  <a:pt x="37719" y="4445"/>
                </a:lnTo>
                <a:lnTo>
                  <a:pt x="36576" y="4191"/>
                </a:lnTo>
                <a:lnTo>
                  <a:pt x="35433" y="4953"/>
                </a:lnTo>
                <a:lnTo>
                  <a:pt x="35369" y="5588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796" y="8636"/>
                </a:lnTo>
                <a:lnTo>
                  <a:pt x="18288" y="8763"/>
                </a:lnTo>
                <a:lnTo>
                  <a:pt x="14351" y="10033"/>
                </a:lnTo>
                <a:lnTo>
                  <a:pt x="4826" y="13462"/>
                </a:lnTo>
                <a:lnTo>
                  <a:pt x="2032" y="15494"/>
                </a:lnTo>
                <a:lnTo>
                  <a:pt x="0" y="16891"/>
                </a:lnTo>
                <a:lnTo>
                  <a:pt x="1143" y="25654"/>
                </a:lnTo>
                <a:lnTo>
                  <a:pt x="127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541" y="29464"/>
                </a:lnTo>
                <a:lnTo>
                  <a:pt x="10718" y="27686"/>
                </a:lnTo>
                <a:lnTo>
                  <a:pt x="10845" y="26924"/>
                </a:lnTo>
                <a:lnTo>
                  <a:pt x="13970" y="19685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0988" y="25146"/>
                </a:lnTo>
                <a:lnTo>
                  <a:pt x="30886" y="31242"/>
                </a:lnTo>
                <a:lnTo>
                  <a:pt x="30810" y="31623"/>
                </a:lnTo>
                <a:lnTo>
                  <a:pt x="30480" y="32512"/>
                </a:lnTo>
                <a:lnTo>
                  <a:pt x="68707" y="32512"/>
                </a:lnTo>
                <a:lnTo>
                  <a:pt x="66929" y="27051"/>
                </a:lnTo>
                <a:lnTo>
                  <a:pt x="69850" y="21082"/>
                </a:lnTo>
                <a:lnTo>
                  <a:pt x="75184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7884" y="26035"/>
                </a:lnTo>
                <a:lnTo>
                  <a:pt x="88519" y="27686"/>
                </a:lnTo>
                <a:lnTo>
                  <a:pt x="88404" y="30226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812151" y="4729353"/>
            <a:ext cx="2565400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Rapidly</a:t>
            </a:r>
            <a:r>
              <a:rPr sz="1200" spc="3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growing</a:t>
            </a:r>
            <a:r>
              <a:rPr sz="1200" spc="409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market,</a:t>
            </a:r>
            <a:r>
              <a:rPr sz="1200" spc="40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CAGR</a:t>
            </a:r>
            <a:r>
              <a:rPr sz="1200" spc="4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of</a:t>
            </a:r>
            <a:r>
              <a:rPr sz="1200" spc="41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4%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until</a:t>
            </a:r>
            <a:r>
              <a:rPr sz="1200" spc="-4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2025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within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European</a:t>
            </a:r>
            <a:r>
              <a:rPr sz="1200" spc="-4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Market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Compelling</a:t>
            </a:r>
            <a:r>
              <a:rPr sz="1200" spc="27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fleet</a:t>
            </a:r>
            <a:r>
              <a:rPr sz="1200" spc="28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transition</a:t>
            </a:r>
            <a:r>
              <a:rPr sz="1200" spc="31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offering</a:t>
            </a:r>
            <a:r>
              <a:rPr sz="1200" spc="28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for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electrification</a:t>
            </a:r>
            <a:r>
              <a:rPr sz="1200" spc="-3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vehicles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Partnership</a:t>
            </a:r>
            <a:r>
              <a:rPr sz="1200" spc="114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ecosystem</a:t>
            </a:r>
            <a:r>
              <a:rPr sz="1200" spc="14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development</a:t>
            </a:r>
            <a:r>
              <a:rPr sz="1200" spc="12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for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end-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to-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end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solutions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653655" y="5238750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018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018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29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374" y="25400"/>
                </a:lnTo>
                <a:lnTo>
                  <a:pt x="71374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401"/>
                </a:lnTo>
                <a:lnTo>
                  <a:pt x="85217" y="25400"/>
                </a:lnTo>
                <a:close/>
              </a:path>
              <a:path w="98425" h="36829">
                <a:moveTo>
                  <a:pt x="98044" y="24130"/>
                </a:moveTo>
                <a:lnTo>
                  <a:pt x="97536" y="23114"/>
                </a:lnTo>
                <a:lnTo>
                  <a:pt x="96647" y="22352"/>
                </a:lnTo>
                <a:lnTo>
                  <a:pt x="96139" y="21971"/>
                </a:lnTo>
                <a:lnTo>
                  <a:pt x="95758" y="21590"/>
                </a:lnTo>
                <a:lnTo>
                  <a:pt x="95250" y="21209"/>
                </a:lnTo>
                <a:lnTo>
                  <a:pt x="93726" y="19304"/>
                </a:lnTo>
                <a:lnTo>
                  <a:pt x="92062" y="17399"/>
                </a:lnTo>
                <a:lnTo>
                  <a:pt x="91186" y="16383"/>
                </a:lnTo>
                <a:lnTo>
                  <a:pt x="81026" y="11303"/>
                </a:lnTo>
                <a:lnTo>
                  <a:pt x="76644" y="10922"/>
                </a:lnTo>
                <a:lnTo>
                  <a:pt x="69342" y="10287"/>
                </a:lnTo>
                <a:lnTo>
                  <a:pt x="63373" y="6477"/>
                </a:lnTo>
                <a:lnTo>
                  <a:pt x="57277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403" y="254"/>
                </a:lnTo>
                <a:lnTo>
                  <a:pt x="49022" y="889"/>
                </a:lnTo>
                <a:lnTo>
                  <a:pt x="48387" y="1651"/>
                </a:lnTo>
                <a:lnTo>
                  <a:pt x="48514" y="2794"/>
                </a:lnTo>
                <a:lnTo>
                  <a:pt x="49276" y="3429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4991" y="6858"/>
                </a:lnTo>
                <a:lnTo>
                  <a:pt x="57531" y="8763"/>
                </a:lnTo>
                <a:lnTo>
                  <a:pt x="54229" y="8763"/>
                </a:lnTo>
                <a:lnTo>
                  <a:pt x="53340" y="9779"/>
                </a:lnTo>
                <a:lnTo>
                  <a:pt x="53340" y="10922"/>
                </a:lnTo>
                <a:lnTo>
                  <a:pt x="40259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497" y="5588"/>
                </a:lnTo>
                <a:lnTo>
                  <a:pt x="38735" y="4572"/>
                </a:lnTo>
                <a:lnTo>
                  <a:pt x="37719" y="4445"/>
                </a:lnTo>
                <a:lnTo>
                  <a:pt x="36576" y="4191"/>
                </a:lnTo>
                <a:lnTo>
                  <a:pt x="35433" y="4953"/>
                </a:lnTo>
                <a:lnTo>
                  <a:pt x="35369" y="5588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7874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796" y="8636"/>
                </a:lnTo>
                <a:lnTo>
                  <a:pt x="18288" y="8763"/>
                </a:lnTo>
                <a:lnTo>
                  <a:pt x="14351" y="10033"/>
                </a:lnTo>
                <a:lnTo>
                  <a:pt x="4826" y="13462"/>
                </a:lnTo>
                <a:lnTo>
                  <a:pt x="2032" y="15494"/>
                </a:lnTo>
                <a:lnTo>
                  <a:pt x="0" y="16891"/>
                </a:lnTo>
                <a:lnTo>
                  <a:pt x="1143" y="25654"/>
                </a:lnTo>
                <a:lnTo>
                  <a:pt x="127" y="26924"/>
                </a:lnTo>
                <a:lnTo>
                  <a:pt x="127" y="29083"/>
                </a:lnTo>
                <a:lnTo>
                  <a:pt x="11049" y="31623"/>
                </a:lnTo>
                <a:lnTo>
                  <a:pt x="10541" y="29464"/>
                </a:lnTo>
                <a:lnTo>
                  <a:pt x="10718" y="27686"/>
                </a:lnTo>
                <a:lnTo>
                  <a:pt x="10845" y="26924"/>
                </a:lnTo>
                <a:lnTo>
                  <a:pt x="13970" y="19685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0988" y="25146"/>
                </a:lnTo>
                <a:lnTo>
                  <a:pt x="30886" y="31242"/>
                </a:lnTo>
                <a:lnTo>
                  <a:pt x="30810" y="31623"/>
                </a:lnTo>
                <a:lnTo>
                  <a:pt x="30480" y="32512"/>
                </a:lnTo>
                <a:lnTo>
                  <a:pt x="68707" y="32512"/>
                </a:lnTo>
                <a:lnTo>
                  <a:pt x="66929" y="27051"/>
                </a:lnTo>
                <a:lnTo>
                  <a:pt x="69850" y="21082"/>
                </a:lnTo>
                <a:lnTo>
                  <a:pt x="75184" y="19304"/>
                </a:lnTo>
                <a:lnTo>
                  <a:pt x="80518" y="17399"/>
                </a:lnTo>
                <a:lnTo>
                  <a:pt x="86233" y="20447"/>
                </a:lnTo>
                <a:lnTo>
                  <a:pt x="87884" y="26035"/>
                </a:lnTo>
                <a:lnTo>
                  <a:pt x="88519" y="27686"/>
                </a:lnTo>
                <a:lnTo>
                  <a:pt x="88404" y="30226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53655" y="5654763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29">
                <a:moveTo>
                  <a:pt x="27813" y="25400"/>
                </a:moveTo>
                <a:lnTo>
                  <a:pt x="24765" y="22174"/>
                </a:lnTo>
                <a:lnTo>
                  <a:pt x="20955" y="22174"/>
                </a:lnTo>
                <a:lnTo>
                  <a:pt x="17018" y="22174"/>
                </a:lnTo>
                <a:lnTo>
                  <a:pt x="13970" y="25400"/>
                </a:lnTo>
                <a:lnTo>
                  <a:pt x="13970" y="33388"/>
                </a:lnTo>
                <a:lnTo>
                  <a:pt x="17018" y="36614"/>
                </a:lnTo>
                <a:lnTo>
                  <a:pt x="24765" y="36614"/>
                </a:lnTo>
                <a:lnTo>
                  <a:pt x="27813" y="33388"/>
                </a:lnTo>
                <a:lnTo>
                  <a:pt x="27813" y="25400"/>
                </a:lnTo>
                <a:close/>
              </a:path>
              <a:path w="98425" h="36829">
                <a:moveTo>
                  <a:pt x="85217" y="25400"/>
                </a:moveTo>
                <a:lnTo>
                  <a:pt x="82169" y="22174"/>
                </a:lnTo>
                <a:lnTo>
                  <a:pt x="78359" y="22174"/>
                </a:lnTo>
                <a:lnTo>
                  <a:pt x="74549" y="22174"/>
                </a:lnTo>
                <a:lnTo>
                  <a:pt x="71374" y="25400"/>
                </a:lnTo>
                <a:lnTo>
                  <a:pt x="71374" y="33388"/>
                </a:lnTo>
                <a:lnTo>
                  <a:pt x="74549" y="36614"/>
                </a:lnTo>
                <a:lnTo>
                  <a:pt x="82169" y="36614"/>
                </a:lnTo>
                <a:lnTo>
                  <a:pt x="85217" y="33388"/>
                </a:lnTo>
                <a:lnTo>
                  <a:pt x="85217" y="25400"/>
                </a:lnTo>
                <a:close/>
              </a:path>
              <a:path w="98425" h="36829">
                <a:moveTo>
                  <a:pt x="98044" y="24206"/>
                </a:moveTo>
                <a:lnTo>
                  <a:pt x="97536" y="23126"/>
                </a:lnTo>
                <a:lnTo>
                  <a:pt x="96139" y="22047"/>
                </a:lnTo>
                <a:lnTo>
                  <a:pt x="95758" y="21640"/>
                </a:lnTo>
                <a:lnTo>
                  <a:pt x="95250" y="21209"/>
                </a:lnTo>
                <a:lnTo>
                  <a:pt x="93726" y="19342"/>
                </a:lnTo>
                <a:lnTo>
                  <a:pt x="92125" y="17487"/>
                </a:lnTo>
                <a:lnTo>
                  <a:pt x="91186" y="16395"/>
                </a:lnTo>
                <a:lnTo>
                  <a:pt x="81026" y="11315"/>
                </a:lnTo>
                <a:lnTo>
                  <a:pt x="77228" y="11010"/>
                </a:lnTo>
                <a:lnTo>
                  <a:pt x="69342" y="10375"/>
                </a:lnTo>
                <a:lnTo>
                  <a:pt x="63373" y="6578"/>
                </a:lnTo>
                <a:lnTo>
                  <a:pt x="57277" y="3213"/>
                </a:lnTo>
                <a:lnTo>
                  <a:pt x="51054" y="330"/>
                </a:lnTo>
                <a:lnTo>
                  <a:pt x="50292" y="0"/>
                </a:lnTo>
                <a:lnTo>
                  <a:pt x="49403" y="228"/>
                </a:lnTo>
                <a:lnTo>
                  <a:pt x="49022" y="876"/>
                </a:lnTo>
                <a:lnTo>
                  <a:pt x="48387" y="1689"/>
                </a:lnTo>
                <a:lnTo>
                  <a:pt x="48514" y="2832"/>
                </a:lnTo>
                <a:lnTo>
                  <a:pt x="49276" y="3429"/>
                </a:lnTo>
                <a:lnTo>
                  <a:pt x="49657" y="3594"/>
                </a:lnTo>
                <a:lnTo>
                  <a:pt x="52324" y="5181"/>
                </a:lnTo>
                <a:lnTo>
                  <a:pt x="54991" y="6934"/>
                </a:lnTo>
                <a:lnTo>
                  <a:pt x="57531" y="8839"/>
                </a:lnTo>
                <a:lnTo>
                  <a:pt x="54229" y="8839"/>
                </a:lnTo>
                <a:lnTo>
                  <a:pt x="53340" y="9804"/>
                </a:lnTo>
                <a:lnTo>
                  <a:pt x="53340" y="11010"/>
                </a:lnTo>
                <a:lnTo>
                  <a:pt x="40767" y="11010"/>
                </a:lnTo>
                <a:lnTo>
                  <a:pt x="40259" y="10934"/>
                </a:lnTo>
                <a:lnTo>
                  <a:pt x="39497" y="10769"/>
                </a:lnTo>
                <a:lnTo>
                  <a:pt x="39497" y="9918"/>
                </a:lnTo>
                <a:lnTo>
                  <a:pt x="39497" y="5613"/>
                </a:lnTo>
                <a:lnTo>
                  <a:pt x="38735" y="4635"/>
                </a:lnTo>
                <a:lnTo>
                  <a:pt x="37719" y="4419"/>
                </a:lnTo>
                <a:lnTo>
                  <a:pt x="36576" y="4216"/>
                </a:lnTo>
                <a:lnTo>
                  <a:pt x="35433" y="5029"/>
                </a:lnTo>
                <a:lnTo>
                  <a:pt x="35306" y="9918"/>
                </a:lnTo>
                <a:lnTo>
                  <a:pt x="29895" y="8826"/>
                </a:lnTo>
                <a:lnTo>
                  <a:pt x="23622" y="7734"/>
                </a:lnTo>
                <a:lnTo>
                  <a:pt x="22352" y="7759"/>
                </a:lnTo>
                <a:lnTo>
                  <a:pt x="19939" y="8305"/>
                </a:lnTo>
                <a:lnTo>
                  <a:pt x="18796" y="8648"/>
                </a:lnTo>
                <a:lnTo>
                  <a:pt x="18237" y="8839"/>
                </a:lnTo>
                <a:lnTo>
                  <a:pt x="14351" y="10045"/>
                </a:lnTo>
                <a:lnTo>
                  <a:pt x="4826" y="13538"/>
                </a:lnTo>
                <a:lnTo>
                  <a:pt x="2032" y="15494"/>
                </a:lnTo>
                <a:lnTo>
                  <a:pt x="0" y="16979"/>
                </a:lnTo>
                <a:lnTo>
                  <a:pt x="1143" y="25666"/>
                </a:lnTo>
                <a:lnTo>
                  <a:pt x="127" y="27012"/>
                </a:lnTo>
                <a:lnTo>
                  <a:pt x="127" y="29171"/>
                </a:lnTo>
                <a:lnTo>
                  <a:pt x="889" y="30289"/>
                </a:lnTo>
                <a:lnTo>
                  <a:pt x="3175" y="30886"/>
                </a:lnTo>
                <a:lnTo>
                  <a:pt x="5054" y="31254"/>
                </a:lnTo>
                <a:lnTo>
                  <a:pt x="6731" y="31445"/>
                </a:lnTo>
                <a:lnTo>
                  <a:pt x="8509" y="31508"/>
                </a:lnTo>
                <a:lnTo>
                  <a:pt x="11049" y="31661"/>
                </a:lnTo>
                <a:lnTo>
                  <a:pt x="10553" y="29527"/>
                </a:lnTo>
                <a:lnTo>
                  <a:pt x="10566" y="29171"/>
                </a:lnTo>
                <a:lnTo>
                  <a:pt x="10718" y="27749"/>
                </a:lnTo>
                <a:lnTo>
                  <a:pt x="10845" y="27012"/>
                </a:lnTo>
                <a:lnTo>
                  <a:pt x="13970" y="19773"/>
                </a:lnTo>
                <a:lnTo>
                  <a:pt x="19939" y="17386"/>
                </a:lnTo>
                <a:lnTo>
                  <a:pt x="28702" y="21437"/>
                </a:lnTo>
                <a:lnTo>
                  <a:pt x="30988" y="25222"/>
                </a:lnTo>
                <a:lnTo>
                  <a:pt x="30937" y="30886"/>
                </a:lnTo>
                <a:lnTo>
                  <a:pt x="30822" y="31661"/>
                </a:lnTo>
                <a:lnTo>
                  <a:pt x="30480" y="32600"/>
                </a:lnTo>
                <a:lnTo>
                  <a:pt x="68707" y="32600"/>
                </a:lnTo>
                <a:lnTo>
                  <a:pt x="66954" y="27139"/>
                </a:lnTo>
                <a:lnTo>
                  <a:pt x="66941" y="27012"/>
                </a:lnTo>
                <a:lnTo>
                  <a:pt x="69850" y="21094"/>
                </a:lnTo>
                <a:lnTo>
                  <a:pt x="80518" y="17487"/>
                </a:lnTo>
                <a:lnTo>
                  <a:pt x="86233" y="20535"/>
                </a:lnTo>
                <a:lnTo>
                  <a:pt x="87884" y="26085"/>
                </a:lnTo>
                <a:lnTo>
                  <a:pt x="88277" y="27139"/>
                </a:lnTo>
                <a:lnTo>
                  <a:pt x="88404" y="30289"/>
                </a:lnTo>
                <a:lnTo>
                  <a:pt x="88265" y="31254"/>
                </a:lnTo>
                <a:lnTo>
                  <a:pt x="98044" y="31254"/>
                </a:lnTo>
                <a:lnTo>
                  <a:pt x="98044" y="24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402193" y="2806446"/>
            <a:ext cx="1056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1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4536A"/>
                </a:solidFill>
                <a:latin typeface="Calibri"/>
                <a:cs typeface="Calibri"/>
              </a:rPr>
              <a:t>Leasing Companies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867393" y="3466033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781505" y="2717196"/>
            <a:ext cx="2645410" cy="1624965"/>
            <a:chOff x="8781505" y="2717196"/>
            <a:chExt cx="2645410" cy="1624965"/>
          </a:xfrm>
        </p:grpSpPr>
        <p:sp>
          <p:nvSpPr>
            <p:cNvPr id="65" name="object 65"/>
            <p:cNvSpPr/>
            <p:nvPr/>
          </p:nvSpPr>
          <p:spPr>
            <a:xfrm>
              <a:off x="8781504" y="3917162"/>
              <a:ext cx="318770" cy="424815"/>
            </a:xfrm>
            <a:custGeom>
              <a:avLst/>
              <a:gdLst/>
              <a:ahLst/>
              <a:cxnLst/>
              <a:rect l="l" t="t" r="r" b="b"/>
              <a:pathLst>
                <a:path w="318770" h="424814">
                  <a:moveTo>
                    <a:pt x="153885" y="137960"/>
                  </a:moveTo>
                  <a:lnTo>
                    <a:pt x="53060" y="137960"/>
                  </a:lnTo>
                  <a:lnTo>
                    <a:pt x="53060" y="148564"/>
                  </a:lnTo>
                  <a:lnTo>
                    <a:pt x="153885" y="148564"/>
                  </a:lnTo>
                  <a:lnTo>
                    <a:pt x="153885" y="137960"/>
                  </a:lnTo>
                  <a:close/>
                </a:path>
                <a:path w="318770" h="424814">
                  <a:moveTo>
                    <a:pt x="265328" y="350177"/>
                  </a:moveTo>
                  <a:lnTo>
                    <a:pt x="53060" y="350177"/>
                  </a:lnTo>
                  <a:lnTo>
                    <a:pt x="53060" y="360794"/>
                  </a:lnTo>
                  <a:lnTo>
                    <a:pt x="265328" y="360794"/>
                  </a:lnTo>
                  <a:lnTo>
                    <a:pt x="265328" y="350177"/>
                  </a:lnTo>
                  <a:close/>
                </a:path>
                <a:path w="318770" h="424814">
                  <a:moveTo>
                    <a:pt x="265328" y="307733"/>
                  </a:moveTo>
                  <a:lnTo>
                    <a:pt x="53060" y="307733"/>
                  </a:lnTo>
                  <a:lnTo>
                    <a:pt x="53060" y="318350"/>
                  </a:lnTo>
                  <a:lnTo>
                    <a:pt x="265328" y="318350"/>
                  </a:lnTo>
                  <a:lnTo>
                    <a:pt x="265328" y="307733"/>
                  </a:lnTo>
                  <a:close/>
                </a:path>
                <a:path w="318770" h="424814">
                  <a:moveTo>
                    <a:pt x="265328" y="265290"/>
                  </a:moveTo>
                  <a:lnTo>
                    <a:pt x="53060" y="265290"/>
                  </a:lnTo>
                  <a:lnTo>
                    <a:pt x="53060" y="275894"/>
                  </a:lnTo>
                  <a:lnTo>
                    <a:pt x="265328" y="275894"/>
                  </a:lnTo>
                  <a:lnTo>
                    <a:pt x="265328" y="265290"/>
                  </a:lnTo>
                  <a:close/>
                </a:path>
                <a:path w="318770" h="424814">
                  <a:moveTo>
                    <a:pt x="265328" y="222846"/>
                  </a:moveTo>
                  <a:lnTo>
                    <a:pt x="53060" y="222846"/>
                  </a:lnTo>
                  <a:lnTo>
                    <a:pt x="53060" y="233451"/>
                  </a:lnTo>
                  <a:lnTo>
                    <a:pt x="265328" y="233451"/>
                  </a:lnTo>
                  <a:lnTo>
                    <a:pt x="265328" y="222846"/>
                  </a:lnTo>
                  <a:close/>
                </a:path>
                <a:path w="318770" h="424814">
                  <a:moveTo>
                    <a:pt x="265328" y="180403"/>
                  </a:moveTo>
                  <a:lnTo>
                    <a:pt x="53060" y="180403"/>
                  </a:lnTo>
                  <a:lnTo>
                    <a:pt x="53060" y="191008"/>
                  </a:lnTo>
                  <a:lnTo>
                    <a:pt x="265328" y="191008"/>
                  </a:lnTo>
                  <a:lnTo>
                    <a:pt x="265328" y="180403"/>
                  </a:lnTo>
                  <a:close/>
                </a:path>
                <a:path w="318770" h="424814">
                  <a:moveTo>
                    <a:pt x="318401" y="413842"/>
                  </a:moveTo>
                  <a:lnTo>
                    <a:pt x="318389" y="114541"/>
                  </a:lnTo>
                  <a:lnTo>
                    <a:pt x="315290" y="111429"/>
                  </a:lnTo>
                  <a:lnTo>
                    <a:pt x="307784" y="103936"/>
                  </a:lnTo>
                  <a:lnTo>
                    <a:pt x="307784" y="122034"/>
                  </a:lnTo>
                  <a:lnTo>
                    <a:pt x="307784" y="413842"/>
                  </a:lnTo>
                  <a:lnTo>
                    <a:pt x="10604" y="413842"/>
                  </a:lnTo>
                  <a:lnTo>
                    <a:pt x="10604" y="10604"/>
                  </a:lnTo>
                  <a:lnTo>
                    <a:pt x="196342" y="10604"/>
                  </a:lnTo>
                  <a:lnTo>
                    <a:pt x="196342" y="122034"/>
                  </a:lnTo>
                  <a:lnTo>
                    <a:pt x="307784" y="122034"/>
                  </a:lnTo>
                  <a:lnTo>
                    <a:pt x="307784" y="103936"/>
                  </a:lnTo>
                  <a:lnTo>
                    <a:pt x="300202" y="96354"/>
                  </a:lnTo>
                  <a:lnTo>
                    <a:pt x="300202" y="111353"/>
                  </a:lnTo>
                  <a:lnTo>
                    <a:pt x="206959" y="111429"/>
                  </a:lnTo>
                  <a:lnTo>
                    <a:pt x="206959" y="18211"/>
                  </a:lnTo>
                  <a:lnTo>
                    <a:pt x="300202" y="111353"/>
                  </a:lnTo>
                  <a:lnTo>
                    <a:pt x="300202" y="96354"/>
                  </a:lnTo>
                  <a:lnTo>
                    <a:pt x="222059" y="18211"/>
                  </a:lnTo>
                  <a:lnTo>
                    <a:pt x="214452" y="10604"/>
                  </a:lnTo>
                  <a:lnTo>
                    <a:pt x="203847" y="0"/>
                  </a:lnTo>
                  <a:lnTo>
                    <a:pt x="0" y="0"/>
                  </a:lnTo>
                  <a:lnTo>
                    <a:pt x="0" y="424459"/>
                  </a:lnTo>
                  <a:lnTo>
                    <a:pt x="318401" y="424459"/>
                  </a:lnTo>
                  <a:lnTo>
                    <a:pt x="318401" y="4138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527982" y="2726721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4" h="889635">
                  <a:moveTo>
                    <a:pt x="444753" y="0"/>
                  </a:moveTo>
                  <a:lnTo>
                    <a:pt x="401058" y="8501"/>
                  </a:lnTo>
                  <a:lnTo>
                    <a:pt x="362648" y="34004"/>
                  </a:lnTo>
                  <a:lnTo>
                    <a:pt x="34099" y="362553"/>
                  </a:lnTo>
                  <a:lnTo>
                    <a:pt x="8524" y="400962"/>
                  </a:lnTo>
                  <a:lnTo>
                    <a:pt x="0" y="444658"/>
                  </a:lnTo>
                  <a:lnTo>
                    <a:pt x="8524" y="488354"/>
                  </a:lnTo>
                  <a:lnTo>
                    <a:pt x="34099" y="526764"/>
                  </a:lnTo>
                  <a:lnTo>
                    <a:pt x="362648" y="855313"/>
                  </a:lnTo>
                  <a:lnTo>
                    <a:pt x="401058" y="880887"/>
                  </a:lnTo>
                  <a:lnTo>
                    <a:pt x="444753" y="889412"/>
                  </a:lnTo>
                  <a:lnTo>
                    <a:pt x="488449" y="880887"/>
                  </a:lnTo>
                  <a:lnTo>
                    <a:pt x="526859" y="855313"/>
                  </a:lnTo>
                  <a:lnTo>
                    <a:pt x="855408" y="526764"/>
                  </a:lnTo>
                  <a:lnTo>
                    <a:pt x="880911" y="488354"/>
                  </a:lnTo>
                  <a:lnTo>
                    <a:pt x="889412" y="444658"/>
                  </a:lnTo>
                  <a:lnTo>
                    <a:pt x="880911" y="400962"/>
                  </a:lnTo>
                  <a:lnTo>
                    <a:pt x="855408" y="362553"/>
                  </a:lnTo>
                  <a:lnTo>
                    <a:pt x="526859" y="34004"/>
                  </a:lnTo>
                  <a:lnTo>
                    <a:pt x="488449" y="8501"/>
                  </a:lnTo>
                  <a:lnTo>
                    <a:pt x="44475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527982" y="2726721"/>
              <a:ext cx="889635" cy="889635"/>
            </a:xfrm>
            <a:custGeom>
              <a:avLst/>
              <a:gdLst/>
              <a:ahLst/>
              <a:cxnLst/>
              <a:rect l="l" t="t" r="r" b="b"/>
              <a:pathLst>
                <a:path w="889634" h="889635">
                  <a:moveTo>
                    <a:pt x="362648" y="34004"/>
                  </a:moveTo>
                  <a:lnTo>
                    <a:pt x="401058" y="8501"/>
                  </a:lnTo>
                  <a:lnTo>
                    <a:pt x="444753" y="0"/>
                  </a:lnTo>
                  <a:lnTo>
                    <a:pt x="488449" y="8501"/>
                  </a:lnTo>
                  <a:lnTo>
                    <a:pt x="526859" y="34004"/>
                  </a:lnTo>
                  <a:lnTo>
                    <a:pt x="855408" y="362553"/>
                  </a:lnTo>
                  <a:lnTo>
                    <a:pt x="880911" y="400962"/>
                  </a:lnTo>
                  <a:lnTo>
                    <a:pt x="889412" y="444658"/>
                  </a:lnTo>
                  <a:lnTo>
                    <a:pt x="880911" y="488354"/>
                  </a:lnTo>
                  <a:lnTo>
                    <a:pt x="855408" y="526764"/>
                  </a:lnTo>
                  <a:lnTo>
                    <a:pt x="526859" y="855313"/>
                  </a:lnTo>
                  <a:lnTo>
                    <a:pt x="488449" y="880887"/>
                  </a:lnTo>
                  <a:lnTo>
                    <a:pt x="444753" y="889412"/>
                  </a:lnTo>
                  <a:lnTo>
                    <a:pt x="401058" y="880887"/>
                  </a:lnTo>
                  <a:lnTo>
                    <a:pt x="362648" y="855313"/>
                  </a:lnTo>
                  <a:lnTo>
                    <a:pt x="34099" y="526764"/>
                  </a:lnTo>
                  <a:lnTo>
                    <a:pt x="8524" y="488354"/>
                  </a:lnTo>
                  <a:lnTo>
                    <a:pt x="0" y="444658"/>
                  </a:lnTo>
                  <a:lnTo>
                    <a:pt x="8524" y="400962"/>
                  </a:lnTo>
                  <a:lnTo>
                    <a:pt x="34099" y="362553"/>
                  </a:lnTo>
                  <a:lnTo>
                    <a:pt x="362648" y="340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815065" y="3510533"/>
              <a:ext cx="317500" cy="318770"/>
            </a:xfrm>
            <a:custGeom>
              <a:avLst/>
              <a:gdLst/>
              <a:ahLst/>
              <a:cxnLst/>
              <a:rect l="l" t="t" r="r" b="b"/>
              <a:pathLst>
                <a:path w="317500" h="318770">
                  <a:moveTo>
                    <a:pt x="158495" y="0"/>
                  </a:moveTo>
                  <a:lnTo>
                    <a:pt x="108411" y="8113"/>
                  </a:lnTo>
                  <a:lnTo>
                    <a:pt x="64904" y="30711"/>
                  </a:lnTo>
                  <a:lnTo>
                    <a:pt x="30589" y="65178"/>
                  </a:lnTo>
                  <a:lnTo>
                    <a:pt x="8083" y="108898"/>
                  </a:lnTo>
                  <a:lnTo>
                    <a:pt x="0" y="159257"/>
                  </a:lnTo>
                  <a:lnTo>
                    <a:pt x="8083" y="209617"/>
                  </a:lnTo>
                  <a:lnTo>
                    <a:pt x="30589" y="253337"/>
                  </a:lnTo>
                  <a:lnTo>
                    <a:pt x="64904" y="287804"/>
                  </a:lnTo>
                  <a:lnTo>
                    <a:pt x="108411" y="310402"/>
                  </a:lnTo>
                  <a:lnTo>
                    <a:pt x="158495" y="318515"/>
                  </a:lnTo>
                  <a:lnTo>
                    <a:pt x="208580" y="310402"/>
                  </a:lnTo>
                  <a:lnTo>
                    <a:pt x="252087" y="287804"/>
                  </a:lnTo>
                  <a:lnTo>
                    <a:pt x="286402" y="253337"/>
                  </a:lnTo>
                  <a:lnTo>
                    <a:pt x="308908" y="209617"/>
                  </a:lnTo>
                  <a:lnTo>
                    <a:pt x="316991" y="159257"/>
                  </a:lnTo>
                  <a:lnTo>
                    <a:pt x="308908" y="108898"/>
                  </a:lnTo>
                  <a:lnTo>
                    <a:pt x="286402" y="65178"/>
                  </a:lnTo>
                  <a:lnTo>
                    <a:pt x="252087" y="30711"/>
                  </a:lnTo>
                  <a:lnTo>
                    <a:pt x="208580" y="8113"/>
                  </a:lnTo>
                  <a:lnTo>
                    <a:pt x="1584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815065" y="3510533"/>
              <a:ext cx="317500" cy="318770"/>
            </a:xfrm>
            <a:custGeom>
              <a:avLst/>
              <a:gdLst/>
              <a:ahLst/>
              <a:cxnLst/>
              <a:rect l="l" t="t" r="r" b="b"/>
              <a:pathLst>
                <a:path w="317500" h="318770">
                  <a:moveTo>
                    <a:pt x="0" y="159257"/>
                  </a:moveTo>
                  <a:lnTo>
                    <a:pt x="8083" y="108898"/>
                  </a:lnTo>
                  <a:lnTo>
                    <a:pt x="30589" y="65178"/>
                  </a:lnTo>
                  <a:lnTo>
                    <a:pt x="64904" y="30711"/>
                  </a:lnTo>
                  <a:lnTo>
                    <a:pt x="108411" y="8113"/>
                  </a:lnTo>
                  <a:lnTo>
                    <a:pt x="158495" y="0"/>
                  </a:lnTo>
                  <a:lnTo>
                    <a:pt x="208580" y="8113"/>
                  </a:lnTo>
                  <a:lnTo>
                    <a:pt x="252087" y="30711"/>
                  </a:lnTo>
                  <a:lnTo>
                    <a:pt x="286402" y="65178"/>
                  </a:lnTo>
                  <a:lnTo>
                    <a:pt x="308908" y="108898"/>
                  </a:lnTo>
                  <a:lnTo>
                    <a:pt x="316991" y="159257"/>
                  </a:lnTo>
                  <a:lnTo>
                    <a:pt x="308908" y="209617"/>
                  </a:lnTo>
                  <a:lnTo>
                    <a:pt x="286402" y="253337"/>
                  </a:lnTo>
                  <a:lnTo>
                    <a:pt x="252087" y="287804"/>
                  </a:lnTo>
                  <a:lnTo>
                    <a:pt x="208580" y="310402"/>
                  </a:lnTo>
                  <a:lnTo>
                    <a:pt x="158495" y="318515"/>
                  </a:lnTo>
                  <a:lnTo>
                    <a:pt x="108411" y="310402"/>
                  </a:lnTo>
                  <a:lnTo>
                    <a:pt x="64904" y="287804"/>
                  </a:lnTo>
                  <a:lnTo>
                    <a:pt x="30589" y="253337"/>
                  </a:lnTo>
                  <a:lnTo>
                    <a:pt x="8083" y="209617"/>
                  </a:lnTo>
                  <a:lnTo>
                    <a:pt x="0" y="15925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95783" y="6594144"/>
            <a:ext cx="7640320" cy="27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Sources:</a:t>
            </a:r>
            <a:r>
              <a:rPr sz="800" spc="-6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1.</a:t>
            </a:r>
            <a:r>
              <a:rPr sz="800" spc="-4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“A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revolution</a:t>
            </a:r>
            <a:r>
              <a:rPr sz="800" spc="-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for</a:t>
            </a:r>
            <a:r>
              <a:rPr sz="800" spc="-2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motor</a:t>
            </a:r>
            <a:r>
              <a:rPr sz="800" spc="-3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financing”,</a:t>
            </a:r>
            <a:r>
              <a:rPr sz="800" spc="1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KPMG,</a:t>
            </a:r>
            <a:r>
              <a:rPr sz="800" spc="-4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December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2019,</a:t>
            </a:r>
            <a:r>
              <a:rPr sz="800" spc="-5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2.</a:t>
            </a:r>
            <a:r>
              <a:rPr sz="800" spc="-3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“Digital</a:t>
            </a:r>
            <a:r>
              <a:rPr sz="800" spc="-3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by</a:t>
            </a:r>
            <a:r>
              <a:rPr sz="800" spc="-1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design”,</a:t>
            </a:r>
            <a:r>
              <a:rPr sz="800" spc="-2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Deloitte,</a:t>
            </a:r>
            <a:r>
              <a:rPr sz="800" spc="-1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2020,</a:t>
            </a:r>
            <a:r>
              <a:rPr sz="800" spc="-4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3.</a:t>
            </a:r>
            <a:r>
              <a:rPr sz="800" spc="-4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“Automotive</a:t>
            </a:r>
            <a:r>
              <a:rPr sz="800" spc="-2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Captive</a:t>
            </a:r>
            <a:r>
              <a:rPr sz="800" spc="-1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Finance:</a:t>
            </a:r>
            <a:r>
              <a:rPr sz="800" spc="-2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Trends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2020”,</a:t>
            </a:r>
            <a:r>
              <a:rPr sz="800" spc="-4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Capgemini</a:t>
            </a:r>
            <a:r>
              <a:rPr sz="800" spc="-3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Consulting,</a:t>
            </a:r>
            <a:r>
              <a:rPr sz="800" spc="-10" dirty="0">
                <a:solidFill>
                  <a:srgbClr val="011242"/>
                </a:solidFill>
                <a:latin typeface="Calibri"/>
                <a:cs typeface="Calibri"/>
              </a:rPr>
              <a:t> 2017,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4.</a:t>
            </a:r>
            <a:r>
              <a:rPr sz="800" spc="-5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11242"/>
                </a:solidFill>
                <a:latin typeface="Calibri"/>
                <a:cs typeface="Calibri"/>
              </a:rPr>
              <a:t>“European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Auto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Finance: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Initiatives for</a:t>
            </a:r>
            <a:r>
              <a:rPr sz="800" spc="-3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the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next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level</a:t>
            </a:r>
            <a:r>
              <a:rPr sz="800" spc="-1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of</a:t>
            </a:r>
            <a:r>
              <a:rPr sz="800" spc="-3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mobility</a:t>
            </a:r>
            <a:r>
              <a:rPr sz="800" spc="-1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value</a:t>
            </a:r>
            <a:r>
              <a:rPr sz="800" spc="-2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capture”,</a:t>
            </a:r>
            <a:r>
              <a:rPr sz="800" spc="-1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McKinsey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&amp;</a:t>
            </a:r>
            <a:r>
              <a:rPr sz="800" spc="-25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11242"/>
                </a:solidFill>
                <a:latin typeface="Calibri"/>
                <a:cs typeface="Calibri"/>
              </a:rPr>
              <a:t>Company,</a:t>
            </a:r>
            <a:r>
              <a:rPr sz="800" spc="-30" dirty="0">
                <a:solidFill>
                  <a:srgbClr val="011242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011242"/>
                </a:solidFill>
                <a:latin typeface="Calibri"/>
                <a:cs typeface="Calibri"/>
              </a:rPr>
              <a:t>2022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9427464" y="1134744"/>
            <a:ext cx="2764790" cy="38100"/>
          </a:xfrm>
          <a:custGeom>
            <a:avLst/>
            <a:gdLst/>
            <a:ahLst/>
            <a:cxnLst/>
            <a:rect l="l" t="t" r="r" b="b"/>
            <a:pathLst>
              <a:path w="2764790" h="38100">
                <a:moveTo>
                  <a:pt x="0" y="38100"/>
                </a:moveTo>
                <a:lnTo>
                  <a:pt x="2764535" y="38100"/>
                </a:lnTo>
                <a:lnTo>
                  <a:pt x="276453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536176" y="1272158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30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401"/>
                </a:lnTo>
                <a:lnTo>
                  <a:pt x="85217" y="25400"/>
                </a:lnTo>
                <a:close/>
              </a:path>
              <a:path w="98425" h="36830">
                <a:moveTo>
                  <a:pt x="98044" y="24257"/>
                </a:moveTo>
                <a:lnTo>
                  <a:pt x="97536" y="23114"/>
                </a:lnTo>
                <a:lnTo>
                  <a:pt x="96139" y="22098"/>
                </a:lnTo>
                <a:lnTo>
                  <a:pt x="95758" y="21590"/>
                </a:lnTo>
                <a:lnTo>
                  <a:pt x="95262" y="21082"/>
                </a:lnTo>
                <a:lnTo>
                  <a:pt x="92176" y="17526"/>
                </a:lnTo>
                <a:lnTo>
                  <a:pt x="92062" y="17399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7685" y="11049"/>
                </a:lnTo>
                <a:lnTo>
                  <a:pt x="69342" y="10414"/>
                </a:lnTo>
                <a:lnTo>
                  <a:pt x="63500" y="6604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254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324" y="5207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1049"/>
                </a:lnTo>
                <a:lnTo>
                  <a:pt x="40767" y="11049"/>
                </a:lnTo>
                <a:lnTo>
                  <a:pt x="40513" y="10922"/>
                </a:lnTo>
                <a:lnTo>
                  <a:pt x="40386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497" y="5588"/>
                </a:lnTo>
                <a:lnTo>
                  <a:pt x="38862" y="4572"/>
                </a:lnTo>
                <a:lnTo>
                  <a:pt x="37719" y="4445"/>
                </a:lnTo>
                <a:lnTo>
                  <a:pt x="36576" y="4191"/>
                </a:lnTo>
                <a:lnTo>
                  <a:pt x="35560" y="5080"/>
                </a:lnTo>
                <a:lnTo>
                  <a:pt x="35306" y="6223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8001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589"/>
                </a:lnTo>
                <a:lnTo>
                  <a:pt x="2032" y="15494"/>
                </a:lnTo>
                <a:lnTo>
                  <a:pt x="0" y="17018"/>
                </a:lnTo>
                <a:lnTo>
                  <a:pt x="1143" y="25654"/>
                </a:lnTo>
                <a:lnTo>
                  <a:pt x="127" y="27051"/>
                </a:lnTo>
                <a:lnTo>
                  <a:pt x="127" y="29210"/>
                </a:lnTo>
                <a:lnTo>
                  <a:pt x="889" y="30226"/>
                </a:lnTo>
                <a:lnTo>
                  <a:pt x="2032" y="30607"/>
                </a:lnTo>
                <a:lnTo>
                  <a:pt x="4953" y="31242"/>
                </a:lnTo>
                <a:lnTo>
                  <a:pt x="6731" y="31496"/>
                </a:lnTo>
                <a:lnTo>
                  <a:pt x="8509" y="31496"/>
                </a:lnTo>
                <a:lnTo>
                  <a:pt x="11049" y="31623"/>
                </a:lnTo>
                <a:lnTo>
                  <a:pt x="10541" y="29464"/>
                </a:lnTo>
                <a:lnTo>
                  <a:pt x="10731" y="27686"/>
                </a:lnTo>
                <a:lnTo>
                  <a:pt x="10845" y="27051"/>
                </a:lnTo>
                <a:lnTo>
                  <a:pt x="11684" y="25019"/>
                </a:lnTo>
                <a:lnTo>
                  <a:pt x="13970" y="19812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0835" y="25019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639"/>
                </a:lnTo>
                <a:lnTo>
                  <a:pt x="68707" y="32639"/>
                </a:lnTo>
                <a:lnTo>
                  <a:pt x="67056" y="27051"/>
                </a:lnTo>
                <a:lnTo>
                  <a:pt x="69977" y="21082"/>
                </a:lnTo>
                <a:lnTo>
                  <a:pt x="80518" y="17526"/>
                </a:lnTo>
                <a:lnTo>
                  <a:pt x="86233" y="20574"/>
                </a:lnTo>
                <a:lnTo>
                  <a:pt x="88011" y="26035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9695180" y="1178178"/>
            <a:ext cx="2413635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Expect</a:t>
            </a:r>
            <a:r>
              <a:rPr sz="1200" spc="3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complete</a:t>
            </a:r>
            <a:r>
              <a:rPr sz="1200" spc="4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online</a:t>
            </a:r>
            <a:r>
              <a:rPr sz="1200" spc="39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applications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and</a:t>
            </a:r>
            <a:r>
              <a:rPr sz="1200" spc="3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self-services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Seek</a:t>
            </a:r>
            <a:r>
              <a:rPr sz="1200" spc="38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for</a:t>
            </a:r>
            <a:r>
              <a:rPr sz="1200" spc="3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personalized</a:t>
            </a:r>
            <a:r>
              <a:rPr sz="1200" spc="40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products</a:t>
            </a:r>
            <a:r>
              <a:rPr sz="1200" spc="39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attractive</a:t>
            </a:r>
            <a:r>
              <a:rPr sz="1200" spc="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prices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Need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for</a:t>
            </a:r>
            <a:r>
              <a:rPr sz="1200" spc="-2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seamless</a:t>
            </a:r>
            <a:r>
              <a:rPr sz="1200" spc="15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74E69"/>
                </a:solidFill>
                <a:latin typeface="Calibri"/>
                <a:cs typeface="Calibri"/>
              </a:rPr>
              <a:t>channel</a:t>
            </a:r>
            <a:r>
              <a:rPr sz="1200" spc="-20" dirty="0">
                <a:solidFill>
                  <a:srgbClr val="174E6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74E69"/>
                </a:solidFill>
                <a:latin typeface="Calibri"/>
                <a:cs typeface="Calibri"/>
              </a:rPr>
              <a:t>experience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9536176" y="1688210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30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401"/>
                </a:lnTo>
                <a:lnTo>
                  <a:pt x="85217" y="25400"/>
                </a:lnTo>
                <a:close/>
              </a:path>
              <a:path w="98425" h="36830">
                <a:moveTo>
                  <a:pt x="98044" y="24257"/>
                </a:moveTo>
                <a:lnTo>
                  <a:pt x="97536" y="23114"/>
                </a:lnTo>
                <a:lnTo>
                  <a:pt x="96139" y="22098"/>
                </a:lnTo>
                <a:lnTo>
                  <a:pt x="95758" y="21590"/>
                </a:lnTo>
                <a:lnTo>
                  <a:pt x="95262" y="21082"/>
                </a:lnTo>
                <a:lnTo>
                  <a:pt x="92176" y="17526"/>
                </a:lnTo>
                <a:lnTo>
                  <a:pt x="92062" y="17399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7685" y="11049"/>
                </a:lnTo>
                <a:lnTo>
                  <a:pt x="69342" y="10414"/>
                </a:lnTo>
                <a:lnTo>
                  <a:pt x="63500" y="6604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254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324" y="5207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1049"/>
                </a:lnTo>
                <a:lnTo>
                  <a:pt x="40767" y="11049"/>
                </a:lnTo>
                <a:lnTo>
                  <a:pt x="40513" y="10922"/>
                </a:lnTo>
                <a:lnTo>
                  <a:pt x="40386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497" y="5588"/>
                </a:lnTo>
                <a:lnTo>
                  <a:pt x="38862" y="4572"/>
                </a:lnTo>
                <a:lnTo>
                  <a:pt x="37719" y="4445"/>
                </a:lnTo>
                <a:lnTo>
                  <a:pt x="36576" y="4191"/>
                </a:lnTo>
                <a:lnTo>
                  <a:pt x="35560" y="5080"/>
                </a:lnTo>
                <a:lnTo>
                  <a:pt x="35306" y="6223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8001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589"/>
                </a:lnTo>
                <a:lnTo>
                  <a:pt x="2032" y="15494"/>
                </a:lnTo>
                <a:lnTo>
                  <a:pt x="0" y="17018"/>
                </a:lnTo>
                <a:lnTo>
                  <a:pt x="1143" y="25654"/>
                </a:lnTo>
                <a:lnTo>
                  <a:pt x="127" y="27051"/>
                </a:lnTo>
                <a:lnTo>
                  <a:pt x="127" y="29210"/>
                </a:lnTo>
                <a:lnTo>
                  <a:pt x="889" y="30226"/>
                </a:lnTo>
                <a:lnTo>
                  <a:pt x="2032" y="30607"/>
                </a:lnTo>
                <a:lnTo>
                  <a:pt x="4953" y="31242"/>
                </a:lnTo>
                <a:lnTo>
                  <a:pt x="6731" y="31496"/>
                </a:lnTo>
                <a:lnTo>
                  <a:pt x="8509" y="31496"/>
                </a:lnTo>
                <a:lnTo>
                  <a:pt x="11049" y="31623"/>
                </a:lnTo>
                <a:lnTo>
                  <a:pt x="10541" y="29464"/>
                </a:lnTo>
                <a:lnTo>
                  <a:pt x="10731" y="27686"/>
                </a:lnTo>
                <a:lnTo>
                  <a:pt x="10845" y="27051"/>
                </a:lnTo>
                <a:lnTo>
                  <a:pt x="11684" y="25019"/>
                </a:lnTo>
                <a:lnTo>
                  <a:pt x="13970" y="19812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0835" y="25019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639"/>
                </a:lnTo>
                <a:lnTo>
                  <a:pt x="68707" y="32639"/>
                </a:lnTo>
                <a:lnTo>
                  <a:pt x="67056" y="27051"/>
                </a:lnTo>
                <a:lnTo>
                  <a:pt x="69977" y="21082"/>
                </a:lnTo>
                <a:lnTo>
                  <a:pt x="80518" y="17526"/>
                </a:lnTo>
                <a:lnTo>
                  <a:pt x="86233" y="20574"/>
                </a:lnTo>
                <a:lnTo>
                  <a:pt x="88011" y="26035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536176" y="2104262"/>
            <a:ext cx="98425" cy="36830"/>
          </a:xfrm>
          <a:custGeom>
            <a:avLst/>
            <a:gdLst/>
            <a:ahLst/>
            <a:cxnLst/>
            <a:rect l="l" t="t" r="r" b="b"/>
            <a:pathLst>
              <a:path w="98425" h="36830">
                <a:moveTo>
                  <a:pt x="27813" y="25400"/>
                </a:moveTo>
                <a:lnTo>
                  <a:pt x="24765" y="22098"/>
                </a:lnTo>
                <a:lnTo>
                  <a:pt x="20955" y="22098"/>
                </a:lnTo>
                <a:lnTo>
                  <a:pt x="17145" y="22098"/>
                </a:lnTo>
                <a:lnTo>
                  <a:pt x="13970" y="25400"/>
                </a:lnTo>
                <a:lnTo>
                  <a:pt x="13970" y="33401"/>
                </a:lnTo>
                <a:lnTo>
                  <a:pt x="17145" y="36576"/>
                </a:lnTo>
                <a:lnTo>
                  <a:pt x="24765" y="36576"/>
                </a:lnTo>
                <a:lnTo>
                  <a:pt x="27813" y="33401"/>
                </a:lnTo>
                <a:lnTo>
                  <a:pt x="27813" y="25400"/>
                </a:lnTo>
                <a:close/>
              </a:path>
              <a:path w="98425" h="36830">
                <a:moveTo>
                  <a:pt x="85217" y="25400"/>
                </a:moveTo>
                <a:lnTo>
                  <a:pt x="82169" y="22098"/>
                </a:lnTo>
                <a:lnTo>
                  <a:pt x="78359" y="22098"/>
                </a:lnTo>
                <a:lnTo>
                  <a:pt x="74549" y="22098"/>
                </a:lnTo>
                <a:lnTo>
                  <a:pt x="71501" y="25400"/>
                </a:lnTo>
                <a:lnTo>
                  <a:pt x="71501" y="33401"/>
                </a:lnTo>
                <a:lnTo>
                  <a:pt x="74549" y="36576"/>
                </a:lnTo>
                <a:lnTo>
                  <a:pt x="82169" y="36576"/>
                </a:lnTo>
                <a:lnTo>
                  <a:pt x="85217" y="33401"/>
                </a:lnTo>
                <a:lnTo>
                  <a:pt x="85217" y="25400"/>
                </a:lnTo>
                <a:close/>
              </a:path>
              <a:path w="98425" h="36830">
                <a:moveTo>
                  <a:pt x="98044" y="24257"/>
                </a:moveTo>
                <a:lnTo>
                  <a:pt x="97536" y="23114"/>
                </a:lnTo>
                <a:lnTo>
                  <a:pt x="96139" y="22098"/>
                </a:lnTo>
                <a:lnTo>
                  <a:pt x="95758" y="21590"/>
                </a:lnTo>
                <a:lnTo>
                  <a:pt x="95262" y="21082"/>
                </a:lnTo>
                <a:lnTo>
                  <a:pt x="92176" y="17526"/>
                </a:lnTo>
                <a:lnTo>
                  <a:pt x="92062" y="17399"/>
                </a:lnTo>
                <a:lnTo>
                  <a:pt x="91186" y="16383"/>
                </a:lnTo>
                <a:lnTo>
                  <a:pt x="88519" y="14986"/>
                </a:lnTo>
                <a:lnTo>
                  <a:pt x="81026" y="11303"/>
                </a:lnTo>
                <a:lnTo>
                  <a:pt x="77685" y="11049"/>
                </a:lnTo>
                <a:lnTo>
                  <a:pt x="69342" y="10414"/>
                </a:lnTo>
                <a:lnTo>
                  <a:pt x="63500" y="6604"/>
                </a:lnTo>
                <a:lnTo>
                  <a:pt x="57404" y="3175"/>
                </a:lnTo>
                <a:lnTo>
                  <a:pt x="51054" y="254"/>
                </a:lnTo>
                <a:lnTo>
                  <a:pt x="50292" y="0"/>
                </a:lnTo>
                <a:lnTo>
                  <a:pt x="49530" y="254"/>
                </a:lnTo>
                <a:lnTo>
                  <a:pt x="48387" y="1651"/>
                </a:lnTo>
                <a:lnTo>
                  <a:pt x="48641" y="2794"/>
                </a:lnTo>
                <a:lnTo>
                  <a:pt x="49403" y="3429"/>
                </a:lnTo>
                <a:lnTo>
                  <a:pt x="49530" y="3556"/>
                </a:lnTo>
                <a:lnTo>
                  <a:pt x="49657" y="3556"/>
                </a:lnTo>
                <a:lnTo>
                  <a:pt x="52324" y="5207"/>
                </a:lnTo>
                <a:lnTo>
                  <a:pt x="57658" y="8763"/>
                </a:lnTo>
                <a:lnTo>
                  <a:pt x="54356" y="8763"/>
                </a:lnTo>
                <a:lnTo>
                  <a:pt x="53340" y="9779"/>
                </a:lnTo>
                <a:lnTo>
                  <a:pt x="53340" y="11049"/>
                </a:lnTo>
                <a:lnTo>
                  <a:pt x="40767" y="11049"/>
                </a:lnTo>
                <a:lnTo>
                  <a:pt x="40513" y="10922"/>
                </a:lnTo>
                <a:lnTo>
                  <a:pt x="40386" y="10922"/>
                </a:lnTo>
                <a:lnTo>
                  <a:pt x="39497" y="10795"/>
                </a:lnTo>
                <a:lnTo>
                  <a:pt x="39497" y="9906"/>
                </a:lnTo>
                <a:lnTo>
                  <a:pt x="39497" y="5588"/>
                </a:lnTo>
                <a:lnTo>
                  <a:pt x="38862" y="4572"/>
                </a:lnTo>
                <a:lnTo>
                  <a:pt x="37719" y="4445"/>
                </a:lnTo>
                <a:lnTo>
                  <a:pt x="36576" y="4191"/>
                </a:lnTo>
                <a:lnTo>
                  <a:pt x="35560" y="5080"/>
                </a:lnTo>
                <a:lnTo>
                  <a:pt x="35306" y="6223"/>
                </a:lnTo>
                <a:lnTo>
                  <a:pt x="35306" y="9906"/>
                </a:lnTo>
                <a:lnTo>
                  <a:pt x="29972" y="8763"/>
                </a:lnTo>
                <a:lnTo>
                  <a:pt x="24892" y="8001"/>
                </a:lnTo>
                <a:lnTo>
                  <a:pt x="23622" y="7747"/>
                </a:lnTo>
                <a:lnTo>
                  <a:pt x="22352" y="7747"/>
                </a:lnTo>
                <a:lnTo>
                  <a:pt x="21082" y="8001"/>
                </a:lnTo>
                <a:lnTo>
                  <a:pt x="19939" y="8255"/>
                </a:lnTo>
                <a:lnTo>
                  <a:pt x="18923" y="8636"/>
                </a:lnTo>
                <a:lnTo>
                  <a:pt x="18288" y="8763"/>
                </a:lnTo>
                <a:lnTo>
                  <a:pt x="14478" y="10033"/>
                </a:lnTo>
                <a:lnTo>
                  <a:pt x="4826" y="13589"/>
                </a:lnTo>
                <a:lnTo>
                  <a:pt x="2032" y="15494"/>
                </a:lnTo>
                <a:lnTo>
                  <a:pt x="0" y="17018"/>
                </a:lnTo>
                <a:lnTo>
                  <a:pt x="1143" y="25654"/>
                </a:lnTo>
                <a:lnTo>
                  <a:pt x="127" y="27051"/>
                </a:lnTo>
                <a:lnTo>
                  <a:pt x="127" y="29210"/>
                </a:lnTo>
                <a:lnTo>
                  <a:pt x="889" y="30226"/>
                </a:lnTo>
                <a:lnTo>
                  <a:pt x="2032" y="30607"/>
                </a:lnTo>
                <a:lnTo>
                  <a:pt x="4953" y="31242"/>
                </a:lnTo>
                <a:lnTo>
                  <a:pt x="6731" y="31496"/>
                </a:lnTo>
                <a:lnTo>
                  <a:pt x="8509" y="31496"/>
                </a:lnTo>
                <a:lnTo>
                  <a:pt x="11049" y="31623"/>
                </a:lnTo>
                <a:lnTo>
                  <a:pt x="10541" y="29464"/>
                </a:lnTo>
                <a:lnTo>
                  <a:pt x="10731" y="27686"/>
                </a:lnTo>
                <a:lnTo>
                  <a:pt x="10845" y="27051"/>
                </a:lnTo>
                <a:lnTo>
                  <a:pt x="11684" y="25019"/>
                </a:lnTo>
                <a:lnTo>
                  <a:pt x="13970" y="19812"/>
                </a:lnTo>
                <a:lnTo>
                  <a:pt x="19939" y="17399"/>
                </a:lnTo>
                <a:lnTo>
                  <a:pt x="25019" y="19685"/>
                </a:lnTo>
                <a:lnTo>
                  <a:pt x="28702" y="21463"/>
                </a:lnTo>
                <a:lnTo>
                  <a:pt x="30835" y="25019"/>
                </a:lnTo>
                <a:lnTo>
                  <a:pt x="30886" y="31242"/>
                </a:lnTo>
                <a:lnTo>
                  <a:pt x="30822" y="31623"/>
                </a:lnTo>
                <a:lnTo>
                  <a:pt x="30607" y="32639"/>
                </a:lnTo>
                <a:lnTo>
                  <a:pt x="68707" y="32639"/>
                </a:lnTo>
                <a:lnTo>
                  <a:pt x="67056" y="27051"/>
                </a:lnTo>
                <a:lnTo>
                  <a:pt x="69977" y="21082"/>
                </a:lnTo>
                <a:lnTo>
                  <a:pt x="80518" y="17526"/>
                </a:lnTo>
                <a:lnTo>
                  <a:pt x="86233" y="20574"/>
                </a:lnTo>
                <a:lnTo>
                  <a:pt x="88011" y="26035"/>
                </a:lnTo>
                <a:lnTo>
                  <a:pt x="88519" y="27686"/>
                </a:lnTo>
                <a:lnTo>
                  <a:pt x="88646" y="29464"/>
                </a:lnTo>
                <a:lnTo>
                  <a:pt x="88265" y="31242"/>
                </a:lnTo>
                <a:lnTo>
                  <a:pt x="98044" y="31242"/>
                </a:lnTo>
                <a:lnTo>
                  <a:pt x="98044" y="24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10464800" y="3938778"/>
            <a:ext cx="10109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00000"/>
                </a:solidFill>
                <a:latin typeface="Calibri"/>
                <a:cs typeface="Calibri"/>
              </a:rPr>
              <a:t>Customers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909807" y="3523234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0727095" y="3002463"/>
            <a:ext cx="492125" cy="363220"/>
            <a:chOff x="10727095" y="3002463"/>
            <a:chExt cx="492125" cy="363220"/>
          </a:xfrm>
        </p:grpSpPr>
        <p:sp>
          <p:nvSpPr>
            <p:cNvPr id="79" name="object 79"/>
            <p:cNvSpPr/>
            <p:nvPr/>
          </p:nvSpPr>
          <p:spPr>
            <a:xfrm>
              <a:off x="10838733" y="3002463"/>
              <a:ext cx="363855" cy="363220"/>
            </a:xfrm>
            <a:custGeom>
              <a:avLst/>
              <a:gdLst/>
              <a:ahLst/>
              <a:cxnLst/>
              <a:rect l="l" t="t" r="r" b="b"/>
              <a:pathLst>
                <a:path w="363854" h="363220">
                  <a:moveTo>
                    <a:pt x="241403" y="233069"/>
                  </a:moveTo>
                  <a:lnTo>
                    <a:pt x="224838" y="233069"/>
                  </a:lnTo>
                  <a:lnTo>
                    <a:pt x="242407" y="250634"/>
                  </a:lnTo>
                  <a:lnTo>
                    <a:pt x="238551" y="255782"/>
                  </a:lnTo>
                  <a:lnTo>
                    <a:pt x="236184" y="261890"/>
                  </a:lnTo>
                  <a:lnTo>
                    <a:pt x="235574" y="268292"/>
                  </a:lnTo>
                  <a:lnTo>
                    <a:pt x="234681" y="276372"/>
                  </a:lnTo>
                  <a:lnTo>
                    <a:pt x="307728" y="354907"/>
                  </a:lnTo>
                  <a:lnTo>
                    <a:pt x="319821" y="362747"/>
                  </a:lnTo>
                  <a:lnTo>
                    <a:pt x="327034" y="362635"/>
                  </a:lnTo>
                  <a:lnTo>
                    <a:pt x="340071" y="359827"/>
                  </a:lnTo>
                  <a:lnTo>
                    <a:pt x="350955" y="352834"/>
                  </a:lnTo>
                  <a:lnTo>
                    <a:pt x="352471" y="350831"/>
                  </a:lnTo>
                  <a:lnTo>
                    <a:pt x="329186" y="350831"/>
                  </a:lnTo>
                  <a:lnTo>
                    <a:pt x="321995" y="350210"/>
                  </a:lnTo>
                  <a:lnTo>
                    <a:pt x="316019" y="346636"/>
                  </a:lnTo>
                  <a:lnTo>
                    <a:pt x="251450" y="281963"/>
                  </a:lnTo>
                  <a:lnTo>
                    <a:pt x="248229" y="278582"/>
                  </a:lnTo>
                  <a:lnTo>
                    <a:pt x="246691" y="273937"/>
                  </a:lnTo>
                  <a:lnTo>
                    <a:pt x="247257" y="269307"/>
                  </a:lnTo>
                  <a:lnTo>
                    <a:pt x="247853" y="263637"/>
                  </a:lnTo>
                  <a:lnTo>
                    <a:pt x="250434" y="258358"/>
                  </a:lnTo>
                  <a:lnTo>
                    <a:pt x="254534" y="254396"/>
                  </a:lnTo>
                  <a:lnTo>
                    <a:pt x="258887" y="249887"/>
                  </a:lnTo>
                  <a:lnTo>
                    <a:pt x="264836" y="247258"/>
                  </a:lnTo>
                  <a:lnTo>
                    <a:pt x="275211" y="246970"/>
                  </a:lnTo>
                  <a:lnTo>
                    <a:pt x="294280" y="246970"/>
                  </a:lnTo>
                  <a:lnTo>
                    <a:pt x="290428" y="243110"/>
                  </a:lnTo>
                  <a:lnTo>
                    <a:pt x="289232" y="242383"/>
                  </a:lnTo>
                  <a:lnTo>
                    <a:pt x="250722" y="242383"/>
                  </a:lnTo>
                  <a:lnTo>
                    <a:pt x="241403" y="233069"/>
                  </a:lnTo>
                  <a:close/>
                </a:path>
                <a:path w="363854" h="363220">
                  <a:moveTo>
                    <a:pt x="294280" y="246970"/>
                  </a:moveTo>
                  <a:lnTo>
                    <a:pt x="275211" y="246970"/>
                  </a:lnTo>
                  <a:lnTo>
                    <a:pt x="279196" y="248533"/>
                  </a:lnTo>
                  <a:lnTo>
                    <a:pt x="282136" y="251390"/>
                  </a:lnTo>
                  <a:lnTo>
                    <a:pt x="346711" y="316044"/>
                  </a:lnTo>
                  <a:lnTo>
                    <a:pt x="349932" y="319425"/>
                  </a:lnTo>
                  <a:lnTo>
                    <a:pt x="351445" y="324075"/>
                  </a:lnTo>
                  <a:lnTo>
                    <a:pt x="350801" y="329745"/>
                  </a:lnTo>
                  <a:lnTo>
                    <a:pt x="350322" y="334380"/>
                  </a:lnTo>
                  <a:lnTo>
                    <a:pt x="347736" y="339654"/>
                  </a:lnTo>
                  <a:lnTo>
                    <a:pt x="343636" y="343611"/>
                  </a:lnTo>
                  <a:lnTo>
                    <a:pt x="336698" y="348600"/>
                  </a:lnTo>
                  <a:lnTo>
                    <a:pt x="329186" y="350831"/>
                  </a:lnTo>
                  <a:lnTo>
                    <a:pt x="352471" y="350831"/>
                  </a:lnTo>
                  <a:lnTo>
                    <a:pt x="358763" y="342518"/>
                  </a:lnTo>
                  <a:lnTo>
                    <a:pt x="362571" y="329745"/>
                  </a:lnTo>
                  <a:lnTo>
                    <a:pt x="363450" y="321665"/>
                  </a:lnTo>
                  <a:lnTo>
                    <a:pt x="360668" y="313614"/>
                  </a:lnTo>
                  <a:lnTo>
                    <a:pt x="355007" y="307803"/>
                  </a:lnTo>
                  <a:lnTo>
                    <a:pt x="294280" y="246970"/>
                  </a:lnTo>
                  <a:close/>
                </a:path>
                <a:path w="363854" h="363220">
                  <a:moveTo>
                    <a:pt x="148657" y="0"/>
                  </a:moveTo>
                  <a:lnTo>
                    <a:pt x="107472" y="1792"/>
                  </a:lnTo>
                  <a:lnTo>
                    <a:pt x="68403" y="16123"/>
                  </a:lnTo>
                  <a:lnTo>
                    <a:pt x="34584" y="42855"/>
                  </a:lnTo>
                  <a:lnTo>
                    <a:pt x="10885" y="78862"/>
                  </a:lnTo>
                  <a:lnTo>
                    <a:pt x="0" y="119020"/>
                  </a:lnTo>
                  <a:lnTo>
                    <a:pt x="1792" y="160196"/>
                  </a:lnTo>
                  <a:lnTo>
                    <a:pt x="16126" y="199256"/>
                  </a:lnTo>
                  <a:lnTo>
                    <a:pt x="42865" y="233069"/>
                  </a:lnTo>
                  <a:lnTo>
                    <a:pt x="85778" y="259606"/>
                  </a:lnTo>
                  <a:lnTo>
                    <a:pt x="133852" y="268451"/>
                  </a:lnTo>
                  <a:lnTo>
                    <a:pt x="181926" y="259606"/>
                  </a:lnTo>
                  <a:lnTo>
                    <a:pt x="185899" y="257149"/>
                  </a:lnTo>
                  <a:lnTo>
                    <a:pt x="134933" y="257149"/>
                  </a:lnTo>
                  <a:lnTo>
                    <a:pt x="88979" y="248526"/>
                  </a:lnTo>
                  <a:lnTo>
                    <a:pt x="48473" y="222027"/>
                  </a:lnTo>
                  <a:lnTo>
                    <a:pt x="47298" y="220856"/>
                  </a:lnTo>
                  <a:lnTo>
                    <a:pt x="20334" y="180259"/>
                  </a:lnTo>
                  <a:lnTo>
                    <a:pt x="11346" y="134074"/>
                  </a:lnTo>
                  <a:lnTo>
                    <a:pt x="20336" y="87890"/>
                  </a:lnTo>
                  <a:lnTo>
                    <a:pt x="47301" y="47290"/>
                  </a:lnTo>
                  <a:lnTo>
                    <a:pt x="87911" y="20331"/>
                  </a:lnTo>
                  <a:lnTo>
                    <a:pt x="134105" y="11344"/>
                  </a:lnTo>
                  <a:lnTo>
                    <a:pt x="189526" y="11344"/>
                  </a:lnTo>
                  <a:lnTo>
                    <a:pt x="188823" y="10882"/>
                  </a:lnTo>
                  <a:lnTo>
                    <a:pt x="148657" y="0"/>
                  </a:lnTo>
                  <a:close/>
                </a:path>
                <a:path w="363854" h="363220">
                  <a:moveTo>
                    <a:pt x="189526" y="11344"/>
                  </a:moveTo>
                  <a:lnTo>
                    <a:pt x="134105" y="11344"/>
                  </a:lnTo>
                  <a:lnTo>
                    <a:pt x="180299" y="20331"/>
                  </a:lnTo>
                  <a:lnTo>
                    <a:pt x="220909" y="47290"/>
                  </a:lnTo>
                  <a:lnTo>
                    <a:pt x="247874" y="87892"/>
                  </a:lnTo>
                  <a:lnTo>
                    <a:pt x="256863" y="134076"/>
                  </a:lnTo>
                  <a:lnTo>
                    <a:pt x="247874" y="180260"/>
                  </a:lnTo>
                  <a:lnTo>
                    <a:pt x="220909" y="220861"/>
                  </a:lnTo>
                  <a:lnTo>
                    <a:pt x="180755" y="247912"/>
                  </a:lnTo>
                  <a:lnTo>
                    <a:pt x="134933" y="257149"/>
                  </a:lnTo>
                  <a:lnTo>
                    <a:pt x="185899" y="257149"/>
                  </a:lnTo>
                  <a:lnTo>
                    <a:pt x="224838" y="233069"/>
                  </a:lnTo>
                  <a:lnTo>
                    <a:pt x="241403" y="233069"/>
                  </a:lnTo>
                  <a:lnTo>
                    <a:pt x="233119" y="224789"/>
                  </a:lnTo>
                  <a:lnTo>
                    <a:pt x="256818" y="188782"/>
                  </a:lnTo>
                  <a:lnTo>
                    <a:pt x="267702" y="148624"/>
                  </a:lnTo>
                  <a:lnTo>
                    <a:pt x="265909" y="107448"/>
                  </a:lnTo>
                  <a:lnTo>
                    <a:pt x="251575" y="68388"/>
                  </a:lnTo>
                  <a:lnTo>
                    <a:pt x="224838" y="34575"/>
                  </a:lnTo>
                  <a:lnTo>
                    <a:pt x="189526" y="11344"/>
                  </a:lnTo>
                  <a:close/>
                </a:path>
                <a:path w="363854" h="363220">
                  <a:moveTo>
                    <a:pt x="270709" y="235423"/>
                  </a:moveTo>
                  <a:lnTo>
                    <a:pt x="260242" y="237062"/>
                  </a:lnTo>
                  <a:lnTo>
                    <a:pt x="250722" y="242383"/>
                  </a:lnTo>
                  <a:lnTo>
                    <a:pt x="289232" y="242383"/>
                  </a:lnTo>
                  <a:lnTo>
                    <a:pt x="281109" y="237445"/>
                  </a:lnTo>
                  <a:lnTo>
                    <a:pt x="270709" y="235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5800" y="3054784"/>
              <a:ext cx="174515" cy="15970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82569" y="3022064"/>
              <a:ext cx="136450" cy="22593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27095" y="3021869"/>
              <a:ext cx="160984" cy="294955"/>
            </a:xfrm>
            <a:prstGeom prst="rect">
              <a:avLst/>
            </a:prstGeom>
          </p:spPr>
        </p:pic>
      </p:grpSp>
      <p:sp>
        <p:nvSpPr>
          <p:cNvPr id="84" name="Slide Number Placeholder 83">
            <a:extLst>
              <a:ext uri="{FF2B5EF4-FFF2-40B4-BE49-F238E27FC236}">
                <a16:creationId xmlns:a16="http://schemas.microsoft.com/office/drawing/2014/main" id="{250F4DBD-1F78-84CA-9ABF-8987FF6F5D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06702"/>
            <a:ext cx="2804160" cy="342900"/>
          </a:xfrm>
        </p:spPr>
        <p:txBody>
          <a:bodyPr/>
          <a:lstStyle/>
          <a:p>
            <a:fld id="{B6F15528-21DE-4FAA-801E-634DDDAF4B2B}" type="slidenum">
              <a:rPr lang="el-GR" smtClean="0"/>
              <a:t>13</a:t>
            </a:fld>
            <a:endParaRPr lang="el-G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202827FC-9C0D-088D-966A-30BE5A118442}"/>
              </a:ext>
            </a:extLst>
          </p:cNvPr>
          <p:cNvSpPr txBox="1">
            <a:spLocks/>
          </p:cNvSpPr>
          <p:nvPr/>
        </p:nvSpPr>
        <p:spPr>
          <a:xfrm>
            <a:off x="-685800" y="-154150"/>
            <a:ext cx="9359443" cy="744357"/>
          </a:xfrm>
          <a:prstGeom prst="rect">
            <a:avLst/>
          </a:prstGeom>
        </p:spPr>
        <p:txBody>
          <a:bodyPr vert="horz" wrap="square" lIns="0" tIns="310438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77875">
              <a:spcBef>
                <a:spcPts val="95"/>
              </a:spcBef>
            </a:pPr>
            <a:r>
              <a:rPr lang="en-US" sz="2800" spc="-10" dirty="0">
                <a:solidFill>
                  <a:srgbClr val="002060"/>
                </a:solidFill>
                <a:latin typeface="Eurobank Sans Black"/>
                <a:cs typeface="Calibri"/>
              </a:rPr>
              <a:t>Global Auto Lending research: key findings</a:t>
            </a:r>
            <a:endParaRPr lang="en-US" sz="2800" spc="-10" dirty="0">
              <a:solidFill>
                <a:srgbClr val="002060"/>
              </a:solidFill>
              <a:latin typeface="Eurobank Sans Black" panose="02000503000000020003" pitchFamily="2" charset="0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04F28-5155-91E4-FCBF-C7DD2FA68153}"/>
              </a:ext>
            </a:extLst>
          </p:cNvPr>
          <p:cNvSpPr/>
          <p:nvPr/>
        </p:nvSpPr>
        <p:spPr>
          <a:xfrm>
            <a:off x="3108498" y="956673"/>
            <a:ext cx="8001000" cy="1872388"/>
          </a:xfrm>
          <a:prstGeom prst="rect">
            <a:avLst/>
          </a:prstGeom>
          <a:solidFill>
            <a:srgbClr val="021342"/>
          </a:solidFill>
          <a:ln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87D21F-9834-D18B-2C18-97617C9CF1F1}"/>
              </a:ext>
            </a:extLst>
          </p:cNvPr>
          <p:cNvSpPr/>
          <p:nvPr/>
        </p:nvSpPr>
        <p:spPr>
          <a:xfrm>
            <a:off x="457200" y="917751"/>
            <a:ext cx="2551328" cy="189632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457200" dist="76200" dir="5400000" sx="94000" sy="94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E23DE8-807E-4EAD-6408-B182FA01EB6B}"/>
              </a:ext>
            </a:extLst>
          </p:cNvPr>
          <p:cNvSpPr/>
          <p:nvPr/>
        </p:nvSpPr>
        <p:spPr>
          <a:xfrm>
            <a:off x="593898" y="1793775"/>
            <a:ext cx="602136" cy="587171"/>
          </a:xfrm>
          <a:prstGeom prst="rect">
            <a:avLst/>
          </a:prstGeom>
          <a:solidFill>
            <a:srgbClr val="FFFFFF"/>
          </a:solidFill>
          <a:ln>
            <a:solidFill>
              <a:srgbClr val="EA00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urobank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B753A-736E-2A27-B9DB-853D2B06C5C6}"/>
              </a:ext>
            </a:extLst>
          </p:cNvPr>
          <p:cNvSpPr txBox="1"/>
          <p:nvPr/>
        </p:nvSpPr>
        <p:spPr>
          <a:xfrm>
            <a:off x="1145638" y="1910717"/>
            <a:ext cx="1668849" cy="39010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buClr>
                <a:srgbClr val="EA002B"/>
              </a:buClr>
            </a:pPr>
            <a:r>
              <a:rPr lang="en-US" b="1" dirty="0">
                <a:solidFill>
                  <a:srgbClr val="051542"/>
                </a:solidFill>
                <a:latin typeface="+mj-lt"/>
              </a:rPr>
              <a:t>Toyota Finance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1F71B-E385-E4CD-DEBB-392C218004A1}"/>
              </a:ext>
            </a:extLst>
          </p:cNvPr>
          <p:cNvSpPr txBox="1"/>
          <p:nvPr/>
        </p:nvSpPr>
        <p:spPr>
          <a:xfrm>
            <a:off x="1226756" y="2249885"/>
            <a:ext cx="2354644" cy="56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buClr>
                <a:srgbClr val="EA002B"/>
              </a:buClr>
            </a:pPr>
            <a:r>
              <a:rPr lang="en-US" sz="1400" i="1" dirty="0">
                <a:solidFill>
                  <a:srgbClr val="051542"/>
                </a:solidFill>
                <a:latin typeface="+mj-lt"/>
              </a:rPr>
              <a:t>Phygital Loan</a:t>
            </a:r>
          </a:p>
          <a:p>
            <a:pPr>
              <a:lnSpc>
                <a:spcPct val="114000"/>
              </a:lnSpc>
              <a:buClr>
                <a:srgbClr val="EA002B"/>
              </a:buClr>
            </a:pPr>
            <a:endParaRPr lang="en-US" sz="1400" b="1" dirty="0">
              <a:solidFill>
                <a:srgbClr val="051542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77F29-28E4-DC54-58B3-0F67A1BD32A8}"/>
              </a:ext>
            </a:extLst>
          </p:cNvPr>
          <p:cNvSpPr txBox="1"/>
          <p:nvPr/>
        </p:nvSpPr>
        <p:spPr>
          <a:xfrm>
            <a:off x="3231691" y="967384"/>
            <a:ext cx="7877807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Product Presentation</a:t>
            </a:r>
            <a:r>
              <a:rPr lang="el-GR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: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 Business &amp;</a:t>
            </a:r>
            <a:r>
              <a:rPr lang="el-GR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Personal Finance (Loan, leasing, Buy Back </a:t>
            </a:r>
            <a:r>
              <a:rPr lang="en-US" sz="1400" dirty="0" err="1">
                <a:solidFill>
                  <a:schemeClr val="bg1"/>
                </a:solidFill>
                <a:latin typeface="Eurobank Sans Light" panose="02000503000000020003" pitchFamily="2" charset="0"/>
              </a:rPr>
              <a:t>etc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) /  Insurance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Selection &amp; customization</a:t>
            </a:r>
            <a:r>
              <a:rPr lang="el-GR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: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 vehicle &amp; financial solution</a:t>
            </a:r>
            <a:endParaRPr lang="el-GR" sz="1400" dirty="0">
              <a:solidFill>
                <a:schemeClr val="bg1"/>
              </a:solidFill>
              <a:latin typeface="Eurobank Sans Light" panose="02000503000000020003" pitchFamily="2" charset="0"/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Quote – Offer / Online application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: waiting for result - end of digital journey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Finance Agreement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: @dealer’s premises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Post Finance &amp; After Sales Services: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 payments, instalment change request , update personal data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3032FB-0BA7-EBED-BD1A-617AA26E3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74209"/>
            <a:ext cx="571940" cy="44079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EC60ABA-2A77-E42D-A0CF-A5DE07760F55}"/>
              </a:ext>
            </a:extLst>
          </p:cNvPr>
          <p:cNvSpPr/>
          <p:nvPr/>
        </p:nvSpPr>
        <p:spPr>
          <a:xfrm>
            <a:off x="3108498" y="3050698"/>
            <a:ext cx="8001000" cy="2207102"/>
          </a:xfrm>
          <a:prstGeom prst="rect">
            <a:avLst/>
          </a:prstGeom>
          <a:solidFill>
            <a:srgbClr val="021342"/>
          </a:solidFill>
          <a:ln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latin typeface="+mj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C3851E-2328-8B1D-49DB-6200F6209B53}"/>
              </a:ext>
            </a:extLst>
          </p:cNvPr>
          <p:cNvSpPr/>
          <p:nvPr/>
        </p:nvSpPr>
        <p:spPr>
          <a:xfrm>
            <a:off x="457200" y="3031706"/>
            <a:ext cx="2551328" cy="219230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457200" dist="76200" dir="5400000" sx="94000" sy="94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788B6D-AE04-6276-76C0-9558125E8749}"/>
              </a:ext>
            </a:extLst>
          </p:cNvPr>
          <p:cNvSpPr/>
          <p:nvPr/>
        </p:nvSpPr>
        <p:spPr>
          <a:xfrm>
            <a:off x="593898" y="3907729"/>
            <a:ext cx="602136" cy="587171"/>
          </a:xfrm>
          <a:prstGeom prst="rect">
            <a:avLst/>
          </a:prstGeom>
          <a:solidFill>
            <a:srgbClr val="FFFFFF"/>
          </a:solidFill>
          <a:ln>
            <a:solidFill>
              <a:srgbClr val="EA00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urobank Sans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6FADD6-C8B5-05B3-076D-37FFFD74CD73}"/>
              </a:ext>
            </a:extLst>
          </p:cNvPr>
          <p:cNvSpPr txBox="1"/>
          <p:nvPr/>
        </p:nvSpPr>
        <p:spPr>
          <a:xfrm>
            <a:off x="1110523" y="3986903"/>
            <a:ext cx="1618068" cy="39010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buClr>
                <a:srgbClr val="EA002B"/>
              </a:buClr>
            </a:pPr>
            <a:r>
              <a:rPr lang="en-US" b="1" dirty="0">
                <a:solidFill>
                  <a:srgbClr val="051542"/>
                </a:solidFill>
                <a:latin typeface="+mj-lt"/>
              </a:rPr>
              <a:t>Santander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A47211-7F8C-FA39-C242-0EBEC2F0D880}"/>
              </a:ext>
            </a:extLst>
          </p:cNvPr>
          <p:cNvSpPr txBox="1"/>
          <p:nvPr/>
        </p:nvSpPr>
        <p:spPr>
          <a:xfrm>
            <a:off x="3231691" y="3107354"/>
            <a:ext cx="7876178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Financial Solutions 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to end customer (physical / legal entities) &amp; Dealers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Program comparison 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Data entry on unified platform 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/  Financial services software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Use of Web browser based </a:t>
            </a:r>
            <a:r>
              <a:rPr lang="en-US" sz="1400" b="1" dirty="0" err="1">
                <a:solidFill>
                  <a:schemeClr val="bg1"/>
                </a:solidFill>
                <a:latin typeface="Eurobank Sans Light" panose="02000503000000020003" pitchFamily="2" charset="0"/>
              </a:rPr>
              <a:t>eSign</a:t>
            </a: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  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(Signature pad device abolished)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Post disbursements services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b="1" dirty="0" err="1">
                <a:solidFill>
                  <a:schemeClr val="bg1"/>
                </a:solidFill>
                <a:latin typeface="Eurobank Sans Light" panose="02000503000000020003" pitchFamily="2" charset="0"/>
              </a:rPr>
              <a:t>Santander@UK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: Digital personal loan for new / used car purchases – </a:t>
            </a:r>
            <a:r>
              <a:rPr lang="en-US" sz="1400" b="1" dirty="0">
                <a:solidFill>
                  <a:schemeClr val="bg1"/>
                </a:solidFill>
                <a:latin typeface="Eurobank Sans Light" panose="02000503000000020003" pitchFamily="2" charset="0"/>
              </a:rPr>
              <a:t>without  user authentication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C751466-993E-6152-C055-857710D5B7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31" t="2020"/>
          <a:stretch/>
        </p:blipFill>
        <p:spPr>
          <a:xfrm>
            <a:off x="743888" y="3981774"/>
            <a:ext cx="322912" cy="345352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3A48074-A03D-A036-0DCA-5D6F9088137D}"/>
              </a:ext>
            </a:extLst>
          </p:cNvPr>
          <p:cNvSpPr/>
          <p:nvPr/>
        </p:nvSpPr>
        <p:spPr>
          <a:xfrm>
            <a:off x="3108498" y="5529315"/>
            <a:ext cx="8001000" cy="1100085"/>
          </a:xfrm>
          <a:prstGeom prst="rect">
            <a:avLst/>
          </a:prstGeom>
          <a:solidFill>
            <a:srgbClr val="021342"/>
          </a:solidFill>
          <a:ln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latin typeface="+mj-lt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92D39B-C65C-CF42-B73E-C2CCAB71E37C}"/>
              </a:ext>
            </a:extLst>
          </p:cNvPr>
          <p:cNvSpPr/>
          <p:nvPr/>
        </p:nvSpPr>
        <p:spPr>
          <a:xfrm>
            <a:off x="531750" y="5529315"/>
            <a:ext cx="2551328" cy="1100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457200" dist="76200" dir="5400000" sx="94000" sy="94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783D15-D81F-C450-C807-178EF8612FD7}"/>
              </a:ext>
            </a:extLst>
          </p:cNvPr>
          <p:cNvSpPr/>
          <p:nvPr/>
        </p:nvSpPr>
        <p:spPr>
          <a:xfrm>
            <a:off x="593898" y="5898894"/>
            <a:ext cx="602136" cy="587171"/>
          </a:xfrm>
          <a:prstGeom prst="rect">
            <a:avLst/>
          </a:prstGeom>
          <a:solidFill>
            <a:srgbClr val="FFFFFF"/>
          </a:solidFill>
          <a:ln>
            <a:solidFill>
              <a:srgbClr val="EA00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urobank Sans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B44983-514C-A8C2-E4F4-DB0085BF8BAC}"/>
              </a:ext>
            </a:extLst>
          </p:cNvPr>
          <p:cNvSpPr txBox="1"/>
          <p:nvPr/>
        </p:nvSpPr>
        <p:spPr>
          <a:xfrm>
            <a:off x="1110523" y="6010693"/>
            <a:ext cx="1618068" cy="39010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  <a:buClr>
                <a:srgbClr val="EA002B"/>
              </a:buClr>
            </a:pPr>
            <a:r>
              <a:rPr lang="en-US" b="1" dirty="0">
                <a:solidFill>
                  <a:srgbClr val="051542"/>
                </a:solidFill>
                <a:latin typeface="+mj-lt"/>
              </a:rPr>
              <a:t>Barclays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06CD96-F713-650A-FE45-4904AF1BE2F7}"/>
              </a:ext>
            </a:extLst>
          </p:cNvPr>
          <p:cNvSpPr txBox="1"/>
          <p:nvPr/>
        </p:nvSpPr>
        <p:spPr>
          <a:xfrm>
            <a:off x="3231691" y="5502674"/>
            <a:ext cx="5531616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No Dealer</a:t>
            </a:r>
            <a:r>
              <a:rPr lang="el-GR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’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s involvement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Specific purpose loan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Eurobank Sans" panose="02000503000000020004" pitchFamily="2" charset="0"/>
              <a:buChar char="›"/>
            </a:pPr>
            <a:r>
              <a:rPr lang="en-US" sz="1400">
                <a:solidFill>
                  <a:schemeClr val="bg1"/>
                </a:solidFill>
                <a:latin typeface="Eurobank Sans Light" panose="02000503000000020003" pitchFamily="2" charset="0"/>
              </a:rPr>
              <a:t>Risk </a:t>
            </a:r>
            <a:r>
              <a:rPr lang="en-US" sz="1400" dirty="0">
                <a:solidFill>
                  <a:schemeClr val="bg1"/>
                </a:solidFill>
                <a:latin typeface="Eurobank Sans Light" panose="02000503000000020003" pitchFamily="2" charset="0"/>
              </a:rPr>
              <a:t>Based Pricing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C240FD4-8064-779C-8C87-1C17DD06BC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0" t="12096"/>
          <a:stretch/>
        </p:blipFill>
        <p:spPr>
          <a:xfrm>
            <a:off x="761958" y="6023968"/>
            <a:ext cx="304842" cy="37683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6143D73-C0FC-A7E6-08CD-A1324655DD4F}"/>
              </a:ext>
            </a:extLst>
          </p:cNvPr>
          <p:cNvSpPr txBox="1"/>
          <p:nvPr/>
        </p:nvSpPr>
        <p:spPr>
          <a:xfrm>
            <a:off x="1226756" y="6364685"/>
            <a:ext cx="2354644" cy="56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buClr>
                <a:srgbClr val="EA002B"/>
              </a:buClr>
            </a:pPr>
            <a:r>
              <a:rPr lang="en-US" sz="1400" i="1" dirty="0">
                <a:solidFill>
                  <a:srgbClr val="051542"/>
                </a:solidFill>
                <a:latin typeface="+mj-lt"/>
              </a:rPr>
              <a:t>Digital Personal Loan</a:t>
            </a:r>
          </a:p>
          <a:p>
            <a:pPr>
              <a:lnSpc>
                <a:spcPct val="114000"/>
              </a:lnSpc>
              <a:buClr>
                <a:srgbClr val="EA002B"/>
              </a:buClr>
            </a:pPr>
            <a:endParaRPr lang="en-US" sz="1400" b="1" dirty="0">
              <a:solidFill>
                <a:srgbClr val="05154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2745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1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1BCB9"/>
      </a:accent1>
      <a:accent2>
        <a:srgbClr val="BED381"/>
      </a:accent2>
      <a:accent3>
        <a:srgbClr val="63C7EE"/>
      </a:accent3>
      <a:accent4>
        <a:srgbClr val="E86162"/>
      </a:accent4>
      <a:accent5>
        <a:srgbClr val="7F7F7F"/>
      </a:accent5>
      <a:accent6>
        <a:srgbClr val="134055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6041</TotalTime>
  <Words>1157</Words>
  <Application>Microsoft Office PowerPoint</Application>
  <PresentationFormat>Widescreen</PresentationFormat>
  <Paragraphs>246</Paragraphs>
  <Slides>14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Arial MT</vt:lpstr>
      <vt:lpstr>Calibri</vt:lpstr>
      <vt:lpstr>Century Gothic</vt:lpstr>
      <vt:lpstr>Courier New</vt:lpstr>
      <vt:lpstr>Eurobank Sans</vt:lpstr>
      <vt:lpstr>Eurobank Sans Black</vt:lpstr>
      <vt:lpstr>Eurobank Sans Light</vt:lpstr>
      <vt:lpstr>Tahoma</vt:lpstr>
      <vt:lpstr>Trebuchet MS</vt:lpstr>
      <vt:lpstr>Wingdings</vt:lpstr>
      <vt:lpstr>Office Theme</vt:lpstr>
      <vt:lpstr>Contents Slide Master</vt:lpstr>
      <vt:lpstr>think-cell Slide</vt:lpstr>
      <vt:lpstr>Operationalisation Strategy for Auto Lending </vt:lpstr>
      <vt:lpstr>WHAT  is the scenery: The Greek Auto Market</vt:lpstr>
      <vt:lpstr>PowerPoint Presentation</vt:lpstr>
      <vt:lpstr>PowerPoint Presentation</vt:lpstr>
      <vt:lpstr>WHY the scenery is Changing: Global Dynamics and Trends</vt:lpstr>
      <vt:lpstr> Digitisation in Auto Lending: key trends</vt:lpstr>
      <vt:lpstr>PowerPoint Presentation</vt:lpstr>
      <vt:lpstr>PowerPoint Presentation</vt:lpstr>
      <vt:lpstr>PowerPoint Presentation</vt:lpstr>
      <vt:lpstr>PowerPoint Presentation</vt:lpstr>
      <vt:lpstr>Mobility  Strategy</vt:lpstr>
      <vt:lpstr>WHY the scenery is Changing: Global Dynamics and Trends (2/2)</vt:lpstr>
      <vt:lpstr>Ways to Response to Change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Chryssanthopoulos Theodoros</dc:creator>
  <cp:lastModifiedBy>Pouloupatis Vassileios</cp:lastModifiedBy>
  <cp:revision>152</cp:revision>
  <dcterms:created xsi:type="dcterms:W3CDTF">2023-06-21T12:53:18Z</dcterms:created>
  <dcterms:modified xsi:type="dcterms:W3CDTF">2026-07-06T06:20:25Z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2023-06-21T00:00:00Z</vt:filetime>
  </property>
  <property fmtid="{D5CDD505-2E9C-101B-9397-08002B2CF9AE}" pid="5" name="Producer">
    <vt:lpwstr>Microsoft® PowerPoint® for Microsoft 365</vt:lpwstr>
  </property>
</Properties>
</file>