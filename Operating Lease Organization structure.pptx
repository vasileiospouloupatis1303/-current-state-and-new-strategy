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536" r:id="rId2"/>
    <p:sldId id="526" r:id="rId3"/>
    <p:sldId id="525" r:id="rId4"/>
    <p:sldId id="529" r:id="rId5"/>
    <p:sldId id="527" r:id="rId6"/>
    <p:sldId id="528" r:id="rId7"/>
    <p:sldId id="530" r:id="rId8"/>
    <p:sldId id="531" r:id="rId9"/>
    <p:sldId id="532" r:id="rId10"/>
    <p:sldId id="533" r:id="rId11"/>
    <p:sldId id="534" r:id="rId12"/>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A3440-0EB3-4EEC-B8A6-67848BEE85D1}" type="datetimeFigureOut">
              <a:rPr lang="el-GR" smtClean="0"/>
              <a:t>15/7/2025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9EAF7-FE6F-494C-BCBF-27812AA7021B}" type="slidenum">
              <a:rPr lang="el-GR" smtClean="0"/>
              <a:t>‹#›</a:t>
            </a:fld>
            <a:endParaRPr lang="el-GR"/>
          </a:p>
        </p:txBody>
      </p:sp>
    </p:spTree>
    <p:extLst>
      <p:ext uri="{BB962C8B-B14F-4D97-AF65-F5344CB8AC3E}">
        <p14:creationId xmlns:p14="http://schemas.microsoft.com/office/powerpoint/2010/main" val="1093342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C883-3378-60F4-1C1E-219D78858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57FA7-7578-6B9F-20A7-329ED0C62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28EAF-FD8A-F4CE-C87B-82CCF2D24BE1}"/>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B837D989-DF8E-C413-690E-40C0277F73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9864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58F54-B9EA-53EE-0DF1-1C3197506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C12AA-D788-7E1C-A3D3-506A8B3CBF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FAE99-7709-3059-A09F-C59F34442501}"/>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BB08E643-58D6-5DF9-E770-8DB992B1D0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5737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79F1-9CCD-580C-F723-535B46244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02473-1551-032D-31E1-8EC48C837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9072C-12D3-7CF9-F701-1273419FD56A}"/>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C72C3B8B-86D3-F1B5-89E4-8D89EA163F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693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365F-AD2B-A10C-0918-7B6901A1A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F6EB0-F4DB-D45B-4F87-6B19E02FE1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0A51BB-780E-B870-B2F4-A25F6F9B96FB}"/>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F005CEF2-DCE1-1040-2009-475AD497FB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6976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8B1AE-90AC-58A4-6AF3-3683144C1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AC41B-349D-9D99-CFAC-CFCCBEA42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52755-559D-5320-EF78-31D219F730F3}"/>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81E97801-4C76-38DB-5704-3FF7CB0B87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037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115B6-0F83-1289-780E-34955DB16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BADCC-342E-10F2-C4C0-EC7466AD89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006838-B8F4-CB29-A91F-D68447732A0D}"/>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22B43E98-21C2-B022-ED5B-C0EA3DE667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327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ECAB1-AC83-B951-A184-CAF083116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8034D-35F3-CC25-CCA8-A6B3F3F9F9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3A3FD-C143-E540-D656-C2CCF7330658}"/>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2FE733FF-2EB4-F374-C915-C51C18E2B5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680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E60BE-0C06-FCEE-C29D-44E2BD443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77B30-1FAD-C952-2682-296620436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36F25D-DF0C-BBA7-64B2-2A4253B9E031}"/>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D8BCE9F2-9FCF-5DB4-C5BD-794B9FB031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156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3ABB-C730-2E37-E85C-D67C0098E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60A83-CF33-E247-F853-016848EBF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E40DA9-5042-FB0A-D00A-16318DC7B3D9}"/>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61C2E77A-A187-A7DD-2189-BF1204CD2E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3351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89B60-BB3A-CC4D-4DF1-7B78F7C7A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9E605-BB92-BEDF-D1F6-BAA0F0F2D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E50FC-AC5D-BAC1-3CFF-60C41B8D97E4}"/>
              </a:ext>
            </a:extLst>
          </p:cNvPr>
          <p:cNvSpPr>
            <a:spLocks noGrp="1"/>
          </p:cNvSpPr>
          <p:nvPr>
            <p:ph type="body" idx="1"/>
          </p:nvPr>
        </p:nvSpPr>
        <p:spPr/>
        <p:txBody>
          <a:bodyPr/>
          <a:lstStyle/>
          <a:p>
            <a:endParaRPr lang="el-GR" dirty="0"/>
          </a:p>
        </p:txBody>
      </p:sp>
      <p:sp>
        <p:nvSpPr>
          <p:cNvPr id="4" name="Slide Number Placeholder 3">
            <a:extLst>
              <a:ext uri="{FF2B5EF4-FFF2-40B4-BE49-F238E27FC236}">
                <a16:creationId xmlns:a16="http://schemas.microsoft.com/office/drawing/2014/main" id="{82071C71-07D8-A720-BCE9-FE261E7D36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319422-5329-40D0-A419-5FC3F4452515}"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447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8AD8-9FC6-9E10-B64F-DD33E40583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l-GR"/>
          </a:p>
        </p:txBody>
      </p:sp>
      <p:sp>
        <p:nvSpPr>
          <p:cNvPr id="3" name="Subtitle 2">
            <a:extLst>
              <a:ext uri="{FF2B5EF4-FFF2-40B4-BE49-F238E27FC236}">
                <a16:creationId xmlns:a16="http://schemas.microsoft.com/office/drawing/2014/main" id="{A37BA2DF-DC97-CC1F-5AB4-DE76A4EF2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l-GR"/>
          </a:p>
        </p:txBody>
      </p:sp>
      <p:sp>
        <p:nvSpPr>
          <p:cNvPr id="4" name="Date Placeholder 3">
            <a:extLst>
              <a:ext uri="{FF2B5EF4-FFF2-40B4-BE49-F238E27FC236}">
                <a16:creationId xmlns:a16="http://schemas.microsoft.com/office/drawing/2014/main" id="{A1353A1A-79E5-4B14-CEE4-F8732AB2CA67}"/>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31FD0622-AA6A-4A87-8C0C-AD03DF5DFC89}"/>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4D6C0685-9A59-088E-E009-374D38622906}"/>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3708668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F277F-2A41-7FB7-6302-CE0C65F71949}"/>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806BD9BF-A8A2-C14D-6C8F-DE39CD112B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9CCE4708-2587-CAE3-0EF9-5D5571664D1E}"/>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1A1CC063-10D8-434E-E899-EFED49FB22A3}"/>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D42E7DC7-5F54-8538-168E-8AF26C2791F4}"/>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2284423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8CC1F-5E7D-907A-EDE8-49CE7773AD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l-GR"/>
          </a:p>
        </p:txBody>
      </p:sp>
      <p:sp>
        <p:nvSpPr>
          <p:cNvPr id="3" name="Text Placeholder 2">
            <a:extLst>
              <a:ext uri="{FF2B5EF4-FFF2-40B4-BE49-F238E27FC236}">
                <a16:creationId xmlns:a16="http://schemas.microsoft.com/office/drawing/2014/main" id="{A5CB4188-9F8B-B301-7316-E9B1ED661D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B22EC-21C6-5ADD-81BC-FFC20F926779}"/>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334F804F-5670-2929-6600-2EE9291A874D}"/>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5E6CB1E2-A0D8-3066-9303-3D491B84FD47}"/>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2502361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F308A-20A3-3F93-0BB6-FB7947E44314}"/>
              </a:ext>
            </a:extLst>
          </p:cNvPr>
          <p:cNvSpPr>
            <a:spLocks noGrp="1"/>
          </p:cNvSpPr>
          <p:nvPr>
            <p:ph type="title"/>
          </p:nvPr>
        </p:nvSpPr>
        <p:spPr/>
        <p:txBody>
          <a:bodyPr/>
          <a:lstStyle/>
          <a:p>
            <a:r>
              <a:rPr lang="en-US"/>
              <a:t>Click to edit Master title style</a:t>
            </a:r>
            <a:endParaRPr lang="el-GR"/>
          </a:p>
        </p:txBody>
      </p:sp>
      <p:sp>
        <p:nvSpPr>
          <p:cNvPr id="3" name="Content Placeholder 2">
            <a:extLst>
              <a:ext uri="{FF2B5EF4-FFF2-40B4-BE49-F238E27FC236}">
                <a16:creationId xmlns:a16="http://schemas.microsoft.com/office/drawing/2014/main" id="{197B4321-7EDF-910F-E845-BC806610F7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Content Placeholder 3">
            <a:extLst>
              <a:ext uri="{FF2B5EF4-FFF2-40B4-BE49-F238E27FC236}">
                <a16:creationId xmlns:a16="http://schemas.microsoft.com/office/drawing/2014/main" id="{B878E9ED-6DAC-78BB-E276-1B948C8188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Date Placeholder 4">
            <a:extLst>
              <a:ext uri="{FF2B5EF4-FFF2-40B4-BE49-F238E27FC236}">
                <a16:creationId xmlns:a16="http://schemas.microsoft.com/office/drawing/2014/main" id="{A6CD3E38-6E01-B11B-8F1D-0CE4896B5DAD}"/>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6" name="Footer Placeholder 5">
            <a:extLst>
              <a:ext uri="{FF2B5EF4-FFF2-40B4-BE49-F238E27FC236}">
                <a16:creationId xmlns:a16="http://schemas.microsoft.com/office/drawing/2014/main" id="{7096A2CB-E35F-D3D4-1F45-5C79C94B110D}"/>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6C30B552-0591-A9FD-A771-795DA7743A22}"/>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4158649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CDE5-FC09-EDF8-1CA5-A61AE0CE6153}"/>
              </a:ext>
            </a:extLst>
          </p:cNvPr>
          <p:cNvSpPr>
            <a:spLocks noGrp="1"/>
          </p:cNvSpPr>
          <p:nvPr>
            <p:ph type="title"/>
          </p:nvPr>
        </p:nvSpPr>
        <p:spPr>
          <a:xfrm>
            <a:off x="839788" y="365125"/>
            <a:ext cx="10515600" cy="1325563"/>
          </a:xfrm>
        </p:spPr>
        <p:txBody>
          <a:bodyPr/>
          <a:lstStyle/>
          <a:p>
            <a:r>
              <a:rPr lang="en-US"/>
              <a:t>Click to edit Master title style</a:t>
            </a:r>
            <a:endParaRPr lang="el-GR"/>
          </a:p>
        </p:txBody>
      </p:sp>
      <p:sp>
        <p:nvSpPr>
          <p:cNvPr id="3" name="Text Placeholder 2">
            <a:extLst>
              <a:ext uri="{FF2B5EF4-FFF2-40B4-BE49-F238E27FC236}">
                <a16:creationId xmlns:a16="http://schemas.microsoft.com/office/drawing/2014/main" id="{616D0FED-CB0F-8847-9708-2540239192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67D7E4-C027-80B4-CEB0-B2AF71662C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5" name="Text Placeholder 4">
            <a:extLst>
              <a:ext uri="{FF2B5EF4-FFF2-40B4-BE49-F238E27FC236}">
                <a16:creationId xmlns:a16="http://schemas.microsoft.com/office/drawing/2014/main" id="{63EEA85D-7139-5207-E83A-DB71A38D8F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942C81-3582-0F74-C702-0F62FB75B8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7" name="Date Placeholder 6">
            <a:extLst>
              <a:ext uri="{FF2B5EF4-FFF2-40B4-BE49-F238E27FC236}">
                <a16:creationId xmlns:a16="http://schemas.microsoft.com/office/drawing/2014/main" id="{62B509AD-A63C-A7C2-ACAB-246A4E64E598}"/>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8" name="Footer Placeholder 7">
            <a:extLst>
              <a:ext uri="{FF2B5EF4-FFF2-40B4-BE49-F238E27FC236}">
                <a16:creationId xmlns:a16="http://schemas.microsoft.com/office/drawing/2014/main" id="{4E6555CA-1BB5-406B-7730-24F059459C04}"/>
              </a:ext>
            </a:extLst>
          </p:cNvPr>
          <p:cNvSpPr>
            <a:spLocks noGrp="1"/>
          </p:cNvSpPr>
          <p:nvPr>
            <p:ph type="ftr" sz="quarter" idx="11"/>
          </p:nvPr>
        </p:nvSpPr>
        <p:spPr/>
        <p:txBody>
          <a:bodyPr/>
          <a:lstStyle/>
          <a:p>
            <a:endParaRPr lang="el-GR"/>
          </a:p>
        </p:txBody>
      </p:sp>
      <p:sp>
        <p:nvSpPr>
          <p:cNvPr id="9" name="Slide Number Placeholder 8">
            <a:extLst>
              <a:ext uri="{FF2B5EF4-FFF2-40B4-BE49-F238E27FC236}">
                <a16:creationId xmlns:a16="http://schemas.microsoft.com/office/drawing/2014/main" id="{FF83A099-DD2D-E232-5D68-C233EBAB2A1E}"/>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962813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88443-8477-8FE1-D5F1-A77FA4357142}"/>
              </a:ext>
            </a:extLst>
          </p:cNvPr>
          <p:cNvSpPr>
            <a:spLocks noGrp="1"/>
          </p:cNvSpPr>
          <p:nvPr>
            <p:ph type="title"/>
          </p:nvPr>
        </p:nvSpPr>
        <p:spPr/>
        <p:txBody>
          <a:bodyPr/>
          <a:lstStyle/>
          <a:p>
            <a:r>
              <a:rPr lang="en-US"/>
              <a:t>Click to edit Master title style</a:t>
            </a:r>
            <a:endParaRPr lang="el-GR"/>
          </a:p>
        </p:txBody>
      </p:sp>
      <p:sp>
        <p:nvSpPr>
          <p:cNvPr id="3" name="Date Placeholder 2">
            <a:extLst>
              <a:ext uri="{FF2B5EF4-FFF2-40B4-BE49-F238E27FC236}">
                <a16:creationId xmlns:a16="http://schemas.microsoft.com/office/drawing/2014/main" id="{FAAC9246-567D-C76C-25EC-AC8E1023967F}"/>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4" name="Footer Placeholder 3">
            <a:extLst>
              <a:ext uri="{FF2B5EF4-FFF2-40B4-BE49-F238E27FC236}">
                <a16:creationId xmlns:a16="http://schemas.microsoft.com/office/drawing/2014/main" id="{12697313-FCF5-557F-8CEA-5C6D49D5CC86}"/>
              </a:ext>
            </a:extLst>
          </p:cNvPr>
          <p:cNvSpPr>
            <a:spLocks noGrp="1"/>
          </p:cNvSpPr>
          <p:nvPr>
            <p:ph type="ftr" sz="quarter" idx="11"/>
          </p:nvPr>
        </p:nvSpPr>
        <p:spPr/>
        <p:txBody>
          <a:bodyPr/>
          <a:lstStyle/>
          <a:p>
            <a:endParaRPr lang="el-GR"/>
          </a:p>
        </p:txBody>
      </p:sp>
      <p:sp>
        <p:nvSpPr>
          <p:cNvPr id="5" name="Slide Number Placeholder 4">
            <a:extLst>
              <a:ext uri="{FF2B5EF4-FFF2-40B4-BE49-F238E27FC236}">
                <a16:creationId xmlns:a16="http://schemas.microsoft.com/office/drawing/2014/main" id="{705034B3-EDE5-9EB0-6FA3-0B6A8843E0FD}"/>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127721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1DFAAF-3CD1-0946-B9ED-C32978EB271F}"/>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3" name="Footer Placeholder 2">
            <a:extLst>
              <a:ext uri="{FF2B5EF4-FFF2-40B4-BE49-F238E27FC236}">
                <a16:creationId xmlns:a16="http://schemas.microsoft.com/office/drawing/2014/main" id="{5B198E58-0C40-ABEB-0E46-BAA414E93A93}"/>
              </a:ext>
            </a:extLst>
          </p:cNvPr>
          <p:cNvSpPr>
            <a:spLocks noGrp="1"/>
          </p:cNvSpPr>
          <p:nvPr>
            <p:ph type="ftr" sz="quarter" idx="11"/>
          </p:nvPr>
        </p:nvSpPr>
        <p:spPr/>
        <p:txBody>
          <a:bodyPr/>
          <a:lstStyle/>
          <a:p>
            <a:endParaRPr lang="el-GR"/>
          </a:p>
        </p:txBody>
      </p:sp>
      <p:sp>
        <p:nvSpPr>
          <p:cNvPr id="4" name="Slide Number Placeholder 3">
            <a:extLst>
              <a:ext uri="{FF2B5EF4-FFF2-40B4-BE49-F238E27FC236}">
                <a16:creationId xmlns:a16="http://schemas.microsoft.com/office/drawing/2014/main" id="{B566E0A2-B8E7-06D6-33FD-6D28FDD2D348}"/>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1386893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1293-DA16-2080-E9D1-83C401576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Content Placeholder 2">
            <a:extLst>
              <a:ext uri="{FF2B5EF4-FFF2-40B4-BE49-F238E27FC236}">
                <a16:creationId xmlns:a16="http://schemas.microsoft.com/office/drawing/2014/main" id="{00FCF849-0E5C-8C9A-758B-35794C9AD0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Text Placeholder 3">
            <a:extLst>
              <a:ext uri="{FF2B5EF4-FFF2-40B4-BE49-F238E27FC236}">
                <a16:creationId xmlns:a16="http://schemas.microsoft.com/office/drawing/2014/main" id="{6916DC33-7E58-3727-FA94-974ADDB4AE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30488-4603-BA1D-1A69-8E634D1334FC}"/>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6" name="Footer Placeholder 5">
            <a:extLst>
              <a:ext uri="{FF2B5EF4-FFF2-40B4-BE49-F238E27FC236}">
                <a16:creationId xmlns:a16="http://schemas.microsoft.com/office/drawing/2014/main" id="{693B13AB-8198-8D6D-F19C-CD77B18B405B}"/>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138072FE-996F-BD6D-0A41-2944BB5DEF42}"/>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24638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59A9-9876-88FB-C472-BE2951EF12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l-GR"/>
          </a:p>
        </p:txBody>
      </p:sp>
      <p:sp>
        <p:nvSpPr>
          <p:cNvPr id="3" name="Picture Placeholder 2">
            <a:extLst>
              <a:ext uri="{FF2B5EF4-FFF2-40B4-BE49-F238E27FC236}">
                <a16:creationId xmlns:a16="http://schemas.microsoft.com/office/drawing/2014/main" id="{427E4F7D-EC5D-A197-1D10-AD81E2073C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Text Placeholder 3">
            <a:extLst>
              <a:ext uri="{FF2B5EF4-FFF2-40B4-BE49-F238E27FC236}">
                <a16:creationId xmlns:a16="http://schemas.microsoft.com/office/drawing/2014/main" id="{CBCE6C73-E18B-E093-4BB9-652E2D6FE2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9445C-6EE4-2A71-3013-8230C0A8050F}"/>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6" name="Footer Placeholder 5">
            <a:extLst>
              <a:ext uri="{FF2B5EF4-FFF2-40B4-BE49-F238E27FC236}">
                <a16:creationId xmlns:a16="http://schemas.microsoft.com/office/drawing/2014/main" id="{E2AEC3D2-0440-1E69-ADCA-19567C25AFC5}"/>
              </a:ext>
            </a:extLst>
          </p:cNvPr>
          <p:cNvSpPr>
            <a:spLocks noGrp="1"/>
          </p:cNvSpPr>
          <p:nvPr>
            <p:ph type="ftr" sz="quarter" idx="11"/>
          </p:nvPr>
        </p:nvSpPr>
        <p:spPr/>
        <p:txBody>
          <a:bodyPr/>
          <a:lstStyle/>
          <a:p>
            <a:endParaRPr lang="el-GR"/>
          </a:p>
        </p:txBody>
      </p:sp>
      <p:sp>
        <p:nvSpPr>
          <p:cNvPr id="7" name="Slide Number Placeholder 6">
            <a:extLst>
              <a:ext uri="{FF2B5EF4-FFF2-40B4-BE49-F238E27FC236}">
                <a16:creationId xmlns:a16="http://schemas.microsoft.com/office/drawing/2014/main" id="{EE8C9057-45C2-0B65-CF12-85672F17DCB4}"/>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3879327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8601D-8EBC-1471-5B97-FDE131F2690E}"/>
              </a:ext>
            </a:extLst>
          </p:cNvPr>
          <p:cNvSpPr>
            <a:spLocks noGrp="1"/>
          </p:cNvSpPr>
          <p:nvPr>
            <p:ph type="title"/>
          </p:nvPr>
        </p:nvSpPr>
        <p:spPr/>
        <p:txBody>
          <a:bodyPr/>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D7DF88E5-799D-3DC4-ABC8-866AAE72E8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1EA676B9-0F30-18CF-313A-ECEA7B1055CA}"/>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5A659ABC-8E04-6FA5-E246-A734864F53B2}"/>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0DBAFF96-A42B-293B-FB11-CE9BD6932A8A}"/>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3942575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C4E13-B3CD-A7A3-3FF9-CC5993D632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962CB79F-8B33-AA3E-A3D9-F6002CFD6A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D9278189-E6BA-7635-5500-23A63A643572}"/>
              </a:ext>
            </a:extLst>
          </p:cNvPr>
          <p:cNvSpPr>
            <a:spLocks noGrp="1"/>
          </p:cNvSpPr>
          <p:nvPr>
            <p:ph type="dt" sz="half" idx="10"/>
          </p:nvPr>
        </p:nvSpPr>
        <p:spPr/>
        <p:txBody>
          <a:body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E61C0A97-B610-AA9F-0A0A-6F348DC34E98}"/>
              </a:ext>
            </a:extLst>
          </p:cNvPr>
          <p:cNvSpPr>
            <a:spLocks noGrp="1"/>
          </p:cNvSpPr>
          <p:nvPr>
            <p:ph type="ftr" sz="quarter" idx="11"/>
          </p:nvPr>
        </p:nvSpPr>
        <p:spPr/>
        <p:txBody>
          <a:bodyPr/>
          <a:lstStyle/>
          <a:p>
            <a:endParaRPr lang="el-GR"/>
          </a:p>
        </p:txBody>
      </p:sp>
      <p:sp>
        <p:nvSpPr>
          <p:cNvPr id="6" name="Slide Number Placeholder 5">
            <a:extLst>
              <a:ext uri="{FF2B5EF4-FFF2-40B4-BE49-F238E27FC236}">
                <a16:creationId xmlns:a16="http://schemas.microsoft.com/office/drawing/2014/main" id="{B76D8BD5-63FE-27FA-9715-3900403DFC79}"/>
              </a:ext>
            </a:extLst>
          </p:cNvPr>
          <p:cNvSpPr>
            <a:spLocks noGrp="1"/>
          </p:cNvSpPr>
          <p:nvPr>
            <p:ph type="sldNum" sz="quarter" idx="12"/>
          </p:nvPr>
        </p:nvSpPr>
        <p:spPr/>
        <p:txBody>
          <a:bodyPr/>
          <a:lstStyle/>
          <a:p>
            <a:fld id="{33758EF6-DCB2-46C6-8996-6C9BA432DE91}" type="slidenum">
              <a:rPr lang="el-GR" smtClean="0"/>
              <a:t>‹#›</a:t>
            </a:fld>
            <a:endParaRPr lang="el-GR"/>
          </a:p>
        </p:txBody>
      </p:sp>
    </p:spTree>
    <p:extLst>
      <p:ext uri="{BB962C8B-B14F-4D97-AF65-F5344CB8AC3E}">
        <p14:creationId xmlns:p14="http://schemas.microsoft.com/office/powerpoint/2010/main" val="3639196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rezContent">
    <p:bg>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a:xfrm>
            <a:off x="304800" y="246374"/>
            <a:ext cx="10113818" cy="471587"/>
          </a:xfrm>
          <a:prstGeom prst="rect">
            <a:avLst/>
          </a:prstGeom>
        </p:spPr>
        <p:txBody>
          <a:bodyPr/>
          <a:lstStyle>
            <a:lvl1pPr>
              <a:defRPr lang="en-US" sz="2000" b="1" i="0" spc="0" baseline="0" dirty="0">
                <a:solidFill>
                  <a:srgbClr val="021342"/>
                </a:solidFill>
                <a:latin typeface="Eurobank Sans" panose="02000503000000020004" pitchFamily="2" charset="0"/>
                <a:ea typeface="+mn-ea"/>
                <a:cs typeface="Averta Std PE Extrabold" pitchFamily="2" charset="0"/>
              </a:defRPr>
            </a:lvl1pPr>
          </a:lstStyle>
          <a:p>
            <a:pPr lvl="0"/>
            <a:endParaRPr lang="en-US"/>
          </a:p>
        </p:txBody>
      </p:sp>
      <p:sp>
        <p:nvSpPr>
          <p:cNvPr id="4" name="Slide_Number"/>
          <p:cNvSpPr txBox="1"/>
          <p:nvPr userDrawn="1"/>
        </p:nvSpPr>
        <p:spPr>
          <a:xfrm>
            <a:off x="11302314" y="6524368"/>
            <a:ext cx="733167" cy="292388"/>
          </a:xfrm>
          <a:prstGeom prst="rect">
            <a:avLst/>
          </a:prstGeom>
          <a:noFill/>
        </p:spPr>
        <p:txBody>
          <a:bodyPr wrap="square" rtlCol="0">
            <a:spAutoFit/>
          </a:bodyPr>
          <a:lstStyle/>
          <a:p>
            <a:pPr algn="r"/>
            <a:fld id="{98B446DB-0502-4CDF-99C9-59ECDC31CDFC}" type="slidenum">
              <a:rPr lang="el-GR" sz="1300" smtClean="0">
                <a:solidFill>
                  <a:srgbClr val="808080"/>
                </a:solidFill>
                <a:latin typeface="Eurobank Sans" panose="02000503000000020004" pitchFamily="2" charset="0"/>
              </a:rPr>
              <a:pPr algn="r"/>
              <a:t>‹#›</a:t>
            </a:fld>
            <a:endParaRPr lang="el-GR" sz="1300">
              <a:solidFill>
                <a:srgbClr val="808080"/>
              </a:solidFill>
              <a:latin typeface="Eurobank Sans" panose="02000503000000020004" pitchFamily="2" charset="0"/>
            </a:endParaRPr>
          </a:p>
        </p:txBody>
      </p:sp>
      <p:pic>
        <p:nvPicPr>
          <p:cNvPr id="7" name="Picture 6">
            <a:extLst>
              <a:ext uri="{FF2B5EF4-FFF2-40B4-BE49-F238E27FC236}">
                <a16:creationId xmlns:a16="http://schemas.microsoft.com/office/drawing/2014/main" id="{86DD7620-D819-495C-8E08-87EBCBC04A92}"/>
              </a:ext>
            </a:extLst>
          </p:cNvPr>
          <p:cNvPicPr>
            <a:picLocks noChangeAspect="1"/>
          </p:cNvPicPr>
          <p:nvPr userDrawn="1"/>
        </p:nvPicPr>
        <p:blipFill>
          <a:blip r:embed="rId2"/>
          <a:stretch>
            <a:fillRect/>
          </a:stretch>
        </p:blipFill>
        <p:spPr>
          <a:xfrm>
            <a:off x="0" y="603566"/>
            <a:ext cx="12204000" cy="61020"/>
          </a:xfrm>
          <a:prstGeom prst="rect">
            <a:avLst/>
          </a:prstGeom>
        </p:spPr>
      </p:pic>
    </p:spTree>
    <p:extLst>
      <p:ext uri="{BB962C8B-B14F-4D97-AF65-F5344CB8AC3E}">
        <p14:creationId xmlns:p14="http://schemas.microsoft.com/office/powerpoint/2010/main" val="3158641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D222A3-EDA1-0146-102D-5FE140B43F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l-GR"/>
          </a:p>
        </p:txBody>
      </p:sp>
      <p:sp>
        <p:nvSpPr>
          <p:cNvPr id="3" name="Text Placeholder 2">
            <a:extLst>
              <a:ext uri="{FF2B5EF4-FFF2-40B4-BE49-F238E27FC236}">
                <a16:creationId xmlns:a16="http://schemas.microsoft.com/office/drawing/2014/main" id="{48968F92-A8B0-F731-F379-A10255EF51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4" name="Date Placeholder 3">
            <a:extLst>
              <a:ext uri="{FF2B5EF4-FFF2-40B4-BE49-F238E27FC236}">
                <a16:creationId xmlns:a16="http://schemas.microsoft.com/office/drawing/2014/main" id="{3402C3AD-9C7D-9BD6-3FDE-B5E1685CBE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E7B8B4-65FA-4704-90FB-4584742C8455}" type="datetimeFigureOut">
              <a:rPr lang="el-GR" smtClean="0"/>
              <a:t>15/7/2025</a:t>
            </a:fld>
            <a:endParaRPr lang="el-GR"/>
          </a:p>
        </p:txBody>
      </p:sp>
      <p:sp>
        <p:nvSpPr>
          <p:cNvPr id="5" name="Footer Placeholder 4">
            <a:extLst>
              <a:ext uri="{FF2B5EF4-FFF2-40B4-BE49-F238E27FC236}">
                <a16:creationId xmlns:a16="http://schemas.microsoft.com/office/drawing/2014/main" id="{7F1A272A-2DED-05E8-9B58-08DA56E85C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Slide Number Placeholder 5">
            <a:extLst>
              <a:ext uri="{FF2B5EF4-FFF2-40B4-BE49-F238E27FC236}">
                <a16:creationId xmlns:a16="http://schemas.microsoft.com/office/drawing/2014/main" id="{ED7FED43-9440-39B8-5D5C-197B80E46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758EF6-DCB2-46C6-8996-6C9BA432DE91}" type="slidenum">
              <a:rPr lang="el-GR" smtClean="0"/>
              <a:t>‹#›</a:t>
            </a:fld>
            <a:endParaRPr lang="el-GR"/>
          </a:p>
        </p:txBody>
      </p:sp>
    </p:spTree>
    <p:extLst>
      <p:ext uri="{BB962C8B-B14F-4D97-AF65-F5344CB8AC3E}">
        <p14:creationId xmlns:p14="http://schemas.microsoft.com/office/powerpoint/2010/main" val="2157118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5BF229-53A1-E022-5D49-B59A8BE7820C}"/>
              </a:ext>
            </a:extLst>
          </p:cNvPr>
          <p:cNvSpPr txBox="1"/>
          <p:nvPr/>
        </p:nvSpPr>
        <p:spPr>
          <a:xfrm>
            <a:off x="61453" y="282366"/>
            <a:ext cx="6100916" cy="338554"/>
          </a:xfrm>
          <a:prstGeom prst="rect">
            <a:avLst/>
          </a:prstGeom>
          <a:noFill/>
        </p:spPr>
        <p:txBody>
          <a:bodyPr wrap="square">
            <a:spAutoFit/>
          </a:bodyPr>
          <a:lstStyle/>
          <a:p>
            <a:r>
              <a:rPr lang="en-US" sz="1400" b="1" kern="0" dirty="0">
                <a:solidFill>
                  <a:srgbClr val="0F172A"/>
                </a:solidFill>
                <a:latin typeface="Arial" panose="020B0604020202020204" pitchFamily="34" charset="0"/>
                <a:cs typeface="Times New Roman" panose="02020603050405020304" pitchFamily="18" charset="0"/>
              </a:rPr>
              <a:t>Operating</a:t>
            </a:r>
            <a:r>
              <a:rPr lang="en-US" sz="16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7A8950B-0062-ADF3-A54B-59A6624DCF22}"/>
              </a:ext>
            </a:extLst>
          </p:cNvPr>
          <p:cNvSpPr txBox="1"/>
          <p:nvPr/>
        </p:nvSpPr>
        <p:spPr>
          <a:xfrm>
            <a:off x="390130" y="1732412"/>
            <a:ext cx="4376402"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l-GR"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Pricing Department</a:t>
            </a:r>
            <a:endParaRPr lang="el-GR"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B6FE16B-3C10-C4F6-518C-05BE4AD02FE1}"/>
              </a:ext>
            </a:extLst>
          </p:cNvPr>
          <p:cNvSpPr txBox="1"/>
          <p:nvPr/>
        </p:nvSpPr>
        <p:spPr>
          <a:xfrm>
            <a:off x="390130" y="2287935"/>
            <a:ext cx="4376402"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Procurement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7" name="TextBox 6">
            <a:extLst>
              <a:ext uri="{FF2B5EF4-FFF2-40B4-BE49-F238E27FC236}">
                <a16:creationId xmlns:a16="http://schemas.microsoft.com/office/drawing/2014/main" id="{2595C264-A7A2-8C21-948A-B3E6A6175E98}"/>
              </a:ext>
            </a:extLst>
          </p:cNvPr>
          <p:cNvSpPr txBox="1"/>
          <p:nvPr/>
        </p:nvSpPr>
        <p:spPr>
          <a:xfrm>
            <a:off x="390130" y="2843458"/>
            <a:ext cx="4376402" cy="375552"/>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Lease Contract Customer Service Department</a:t>
            </a:r>
          </a:p>
        </p:txBody>
      </p:sp>
      <p:sp>
        <p:nvSpPr>
          <p:cNvPr id="9" name="TextBox 8">
            <a:extLst>
              <a:ext uri="{FF2B5EF4-FFF2-40B4-BE49-F238E27FC236}">
                <a16:creationId xmlns:a16="http://schemas.microsoft.com/office/drawing/2014/main" id="{4B8C28BF-B5C2-2186-3005-A637B4770751}"/>
              </a:ext>
            </a:extLst>
          </p:cNvPr>
          <p:cNvSpPr txBox="1"/>
          <p:nvPr/>
        </p:nvSpPr>
        <p:spPr>
          <a:xfrm>
            <a:off x="390130" y="3398981"/>
            <a:ext cx="4376402"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SLA Management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10" name="TextBox 9">
            <a:extLst>
              <a:ext uri="{FF2B5EF4-FFF2-40B4-BE49-F238E27FC236}">
                <a16:creationId xmlns:a16="http://schemas.microsoft.com/office/drawing/2014/main" id="{0175773E-A79D-623A-85F8-7ED9DA4192D3}"/>
              </a:ext>
            </a:extLst>
          </p:cNvPr>
          <p:cNvSpPr txBox="1"/>
          <p:nvPr/>
        </p:nvSpPr>
        <p:spPr>
          <a:xfrm>
            <a:off x="390130" y="3954504"/>
            <a:ext cx="4376402"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Residual Value (RV) Management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11" name="TextBox 10">
            <a:extLst>
              <a:ext uri="{FF2B5EF4-FFF2-40B4-BE49-F238E27FC236}">
                <a16:creationId xmlns:a16="http://schemas.microsoft.com/office/drawing/2014/main" id="{A2630631-1831-7A06-8C6D-DFC124AF2271}"/>
              </a:ext>
            </a:extLst>
          </p:cNvPr>
          <p:cNvSpPr txBox="1"/>
          <p:nvPr/>
        </p:nvSpPr>
        <p:spPr>
          <a:xfrm>
            <a:off x="390130" y="4510027"/>
            <a:ext cx="4376405"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De-Fleeting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13" name="TextBox 12">
            <a:extLst>
              <a:ext uri="{FF2B5EF4-FFF2-40B4-BE49-F238E27FC236}">
                <a16:creationId xmlns:a16="http://schemas.microsoft.com/office/drawing/2014/main" id="{21B532A6-9818-CEC3-3127-A56256D46EDC}"/>
              </a:ext>
            </a:extLst>
          </p:cNvPr>
          <p:cNvSpPr txBox="1"/>
          <p:nvPr/>
        </p:nvSpPr>
        <p:spPr>
          <a:xfrm>
            <a:off x="390127" y="5058625"/>
            <a:ext cx="4376405"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Remarketing Department </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14" name="Flowchart: Connector 13">
            <a:extLst>
              <a:ext uri="{FF2B5EF4-FFF2-40B4-BE49-F238E27FC236}">
                <a16:creationId xmlns:a16="http://schemas.microsoft.com/office/drawing/2014/main" id="{39A7E977-01CB-0694-1760-99C2011D7EB8}"/>
              </a:ext>
            </a:extLst>
          </p:cNvPr>
          <p:cNvSpPr/>
          <p:nvPr/>
        </p:nvSpPr>
        <p:spPr>
          <a:xfrm>
            <a:off x="5034116" y="1766289"/>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l-GR" dirty="0"/>
          </a:p>
        </p:txBody>
      </p:sp>
      <p:sp>
        <p:nvSpPr>
          <p:cNvPr id="15" name="Flowchart: Connector 14">
            <a:extLst>
              <a:ext uri="{FF2B5EF4-FFF2-40B4-BE49-F238E27FC236}">
                <a16:creationId xmlns:a16="http://schemas.microsoft.com/office/drawing/2014/main" id="{A4C1388D-6293-8DB7-B452-ED9B1CD6B62D}"/>
              </a:ext>
            </a:extLst>
          </p:cNvPr>
          <p:cNvSpPr/>
          <p:nvPr/>
        </p:nvSpPr>
        <p:spPr>
          <a:xfrm>
            <a:off x="5034116" y="2321812"/>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l-GR" dirty="0"/>
          </a:p>
        </p:txBody>
      </p:sp>
      <p:sp>
        <p:nvSpPr>
          <p:cNvPr id="16" name="Flowchart: Connector 15">
            <a:extLst>
              <a:ext uri="{FF2B5EF4-FFF2-40B4-BE49-F238E27FC236}">
                <a16:creationId xmlns:a16="http://schemas.microsoft.com/office/drawing/2014/main" id="{CBD55DF7-0305-8436-1AE2-C0C63FC3D4FC}"/>
              </a:ext>
            </a:extLst>
          </p:cNvPr>
          <p:cNvSpPr/>
          <p:nvPr/>
        </p:nvSpPr>
        <p:spPr>
          <a:xfrm>
            <a:off x="5034116" y="2873873"/>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9</a:t>
            </a:r>
            <a:endParaRPr lang="el-GR" dirty="0"/>
          </a:p>
        </p:txBody>
      </p:sp>
      <p:sp>
        <p:nvSpPr>
          <p:cNvPr id="17" name="Flowchart: Connector 16">
            <a:extLst>
              <a:ext uri="{FF2B5EF4-FFF2-40B4-BE49-F238E27FC236}">
                <a16:creationId xmlns:a16="http://schemas.microsoft.com/office/drawing/2014/main" id="{D3536621-312F-8BD5-F332-544DAB71E0D7}"/>
              </a:ext>
            </a:extLst>
          </p:cNvPr>
          <p:cNvSpPr/>
          <p:nvPr/>
        </p:nvSpPr>
        <p:spPr>
          <a:xfrm>
            <a:off x="5034116" y="3437728"/>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l-GR" dirty="0"/>
          </a:p>
        </p:txBody>
      </p:sp>
      <p:sp>
        <p:nvSpPr>
          <p:cNvPr id="18" name="Flowchart: Connector 17">
            <a:extLst>
              <a:ext uri="{FF2B5EF4-FFF2-40B4-BE49-F238E27FC236}">
                <a16:creationId xmlns:a16="http://schemas.microsoft.com/office/drawing/2014/main" id="{41724793-D8D2-FC30-D35E-60173ECD0410}"/>
              </a:ext>
            </a:extLst>
          </p:cNvPr>
          <p:cNvSpPr/>
          <p:nvPr/>
        </p:nvSpPr>
        <p:spPr>
          <a:xfrm>
            <a:off x="5034116" y="3992865"/>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endParaRPr lang="el-GR" dirty="0"/>
          </a:p>
        </p:txBody>
      </p:sp>
      <p:sp>
        <p:nvSpPr>
          <p:cNvPr id="19" name="Flowchart: Connector 18">
            <a:extLst>
              <a:ext uri="{FF2B5EF4-FFF2-40B4-BE49-F238E27FC236}">
                <a16:creationId xmlns:a16="http://schemas.microsoft.com/office/drawing/2014/main" id="{5B040FF1-047D-6FC5-3765-22D039647E7E}"/>
              </a:ext>
            </a:extLst>
          </p:cNvPr>
          <p:cNvSpPr/>
          <p:nvPr/>
        </p:nvSpPr>
        <p:spPr>
          <a:xfrm>
            <a:off x="5034116" y="4548002"/>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l-GR" dirty="0"/>
          </a:p>
        </p:txBody>
      </p:sp>
      <p:sp>
        <p:nvSpPr>
          <p:cNvPr id="20" name="Flowchart: Connector 19">
            <a:extLst>
              <a:ext uri="{FF2B5EF4-FFF2-40B4-BE49-F238E27FC236}">
                <a16:creationId xmlns:a16="http://schemas.microsoft.com/office/drawing/2014/main" id="{A3C9EA1E-EE9E-70A5-1341-336342C6F599}"/>
              </a:ext>
            </a:extLst>
          </p:cNvPr>
          <p:cNvSpPr/>
          <p:nvPr/>
        </p:nvSpPr>
        <p:spPr>
          <a:xfrm>
            <a:off x="5034116" y="5103139"/>
            <a:ext cx="314632"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endParaRPr lang="el-GR" dirty="0"/>
          </a:p>
        </p:txBody>
      </p:sp>
      <p:cxnSp>
        <p:nvCxnSpPr>
          <p:cNvPr id="22" name="Straight Connector 21">
            <a:extLst>
              <a:ext uri="{FF2B5EF4-FFF2-40B4-BE49-F238E27FC236}">
                <a16:creationId xmlns:a16="http://schemas.microsoft.com/office/drawing/2014/main" id="{6E4BD20F-8A90-3238-569F-AB62678619A9}"/>
              </a:ext>
            </a:extLst>
          </p:cNvPr>
          <p:cNvCxnSpPr/>
          <p:nvPr/>
        </p:nvCxnSpPr>
        <p:spPr>
          <a:xfrm>
            <a:off x="5417574" y="4145741"/>
            <a:ext cx="7447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DD4F172-37FC-EE7D-7BF5-C1E9677493A7}"/>
              </a:ext>
            </a:extLst>
          </p:cNvPr>
          <p:cNvCxnSpPr>
            <a:cxnSpLocks/>
          </p:cNvCxnSpPr>
          <p:nvPr/>
        </p:nvCxnSpPr>
        <p:spPr>
          <a:xfrm flipV="1">
            <a:off x="6162369" y="1919165"/>
            <a:ext cx="0" cy="2226576"/>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9B05096-AB93-B17E-D6A5-0FEA2F35418F}"/>
              </a:ext>
            </a:extLst>
          </p:cNvPr>
          <p:cNvCxnSpPr/>
          <p:nvPr/>
        </p:nvCxnSpPr>
        <p:spPr>
          <a:xfrm flipH="1">
            <a:off x="5417574" y="1919165"/>
            <a:ext cx="74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8D5E443-6B53-44D1-C199-38F710DABECF}"/>
              </a:ext>
            </a:extLst>
          </p:cNvPr>
          <p:cNvCxnSpPr>
            <a:cxnSpLocks/>
          </p:cNvCxnSpPr>
          <p:nvPr/>
        </p:nvCxnSpPr>
        <p:spPr>
          <a:xfrm>
            <a:off x="4839341" y="5723818"/>
            <a:ext cx="671986"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32" name="Flowchart: Connector 31">
            <a:extLst>
              <a:ext uri="{FF2B5EF4-FFF2-40B4-BE49-F238E27FC236}">
                <a16:creationId xmlns:a16="http://schemas.microsoft.com/office/drawing/2014/main" id="{4F929E2E-5342-3FFE-1023-384B3ED08BD1}"/>
              </a:ext>
            </a:extLst>
          </p:cNvPr>
          <p:cNvSpPr/>
          <p:nvPr/>
        </p:nvSpPr>
        <p:spPr>
          <a:xfrm>
            <a:off x="4839341" y="5868922"/>
            <a:ext cx="671986" cy="4069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19</a:t>
            </a:r>
            <a:endParaRPr lang="el-GR" dirty="0"/>
          </a:p>
        </p:txBody>
      </p:sp>
      <p:sp>
        <p:nvSpPr>
          <p:cNvPr id="34" name="TextBox 33">
            <a:extLst>
              <a:ext uri="{FF2B5EF4-FFF2-40B4-BE49-F238E27FC236}">
                <a16:creationId xmlns:a16="http://schemas.microsoft.com/office/drawing/2014/main" id="{C6EB0E13-B1D4-F846-DBB9-8893A5BFD022}"/>
              </a:ext>
            </a:extLst>
          </p:cNvPr>
          <p:cNvSpPr txBox="1"/>
          <p:nvPr/>
        </p:nvSpPr>
        <p:spPr>
          <a:xfrm>
            <a:off x="7722009" y="747015"/>
            <a:ext cx="3384756" cy="523220"/>
          </a:xfrm>
          <a:prstGeom prst="rect">
            <a:avLst/>
          </a:prstGeom>
          <a:noFill/>
        </p:spPr>
        <p:txBody>
          <a:bodyPr wrap="square">
            <a:spAutoFit/>
          </a:bodyPr>
          <a:lstStyle/>
          <a:p>
            <a:pPr algn="ctr"/>
            <a:r>
              <a:rPr lang="en-US" sz="1400" b="1" dirty="0"/>
              <a:t>Process Collaboration &amp; Interdepartmental Interactions</a:t>
            </a:r>
            <a:endParaRPr lang="el-GR" sz="1400" b="1" dirty="0"/>
          </a:p>
        </p:txBody>
      </p:sp>
      <p:sp>
        <p:nvSpPr>
          <p:cNvPr id="36" name="TextBox 35">
            <a:extLst>
              <a:ext uri="{FF2B5EF4-FFF2-40B4-BE49-F238E27FC236}">
                <a16:creationId xmlns:a16="http://schemas.microsoft.com/office/drawing/2014/main" id="{A212778D-FA2F-7723-47C7-8316F721959E}"/>
              </a:ext>
            </a:extLst>
          </p:cNvPr>
          <p:cNvSpPr txBox="1"/>
          <p:nvPr/>
        </p:nvSpPr>
        <p:spPr>
          <a:xfrm>
            <a:off x="6789171" y="1270732"/>
            <a:ext cx="5294673" cy="830997"/>
          </a:xfrm>
          <a:prstGeom prst="rect">
            <a:avLst/>
          </a:prstGeom>
          <a:noFill/>
        </p:spPr>
        <p:txBody>
          <a:bodyPr wrap="square">
            <a:spAutoFit/>
          </a:bodyPr>
          <a:lstStyle/>
          <a:p>
            <a:r>
              <a:rPr lang="en-US" sz="1200" b="1" dirty="0"/>
              <a:t>Pricing</a:t>
            </a:r>
            <a:r>
              <a:rPr lang="en-US" sz="1200" dirty="0"/>
              <a:t> ↔ </a:t>
            </a:r>
            <a:r>
              <a:rPr lang="en-US" sz="1200" b="1" dirty="0"/>
              <a:t>Procurement</a:t>
            </a:r>
            <a:r>
              <a:rPr lang="en-US" sz="1200" dirty="0"/>
              <a:t>: Alignment on vehicle purchase prices and discounts reflected in pricing models.</a:t>
            </a:r>
          </a:p>
          <a:p>
            <a:r>
              <a:rPr lang="en-US" sz="1200" b="1" dirty="0"/>
              <a:t>Pricing</a:t>
            </a:r>
            <a:r>
              <a:rPr lang="en-US" sz="1200" dirty="0"/>
              <a:t> ↔ </a:t>
            </a:r>
            <a:r>
              <a:rPr lang="en-US" sz="1200" b="1" dirty="0"/>
              <a:t>RV Management</a:t>
            </a:r>
            <a:r>
              <a:rPr lang="en-US" sz="1200" dirty="0"/>
              <a:t>: Continuous data exchange to ensure residual value assumptions are accurately integrated into pricing.</a:t>
            </a:r>
          </a:p>
        </p:txBody>
      </p:sp>
      <p:sp>
        <p:nvSpPr>
          <p:cNvPr id="38" name="TextBox 37">
            <a:extLst>
              <a:ext uri="{FF2B5EF4-FFF2-40B4-BE49-F238E27FC236}">
                <a16:creationId xmlns:a16="http://schemas.microsoft.com/office/drawing/2014/main" id="{E44D916D-680A-6978-C7D5-31EEDABB101B}"/>
              </a:ext>
            </a:extLst>
          </p:cNvPr>
          <p:cNvSpPr txBox="1"/>
          <p:nvPr/>
        </p:nvSpPr>
        <p:spPr>
          <a:xfrm>
            <a:off x="6789171" y="2224943"/>
            <a:ext cx="5294671" cy="461665"/>
          </a:xfrm>
          <a:prstGeom prst="rect">
            <a:avLst/>
          </a:prstGeom>
          <a:noFill/>
        </p:spPr>
        <p:txBody>
          <a:bodyPr wrap="square">
            <a:spAutoFit/>
          </a:bodyPr>
          <a:lstStyle>
            <a:defPPr>
              <a:defRPr lang="el-GR"/>
            </a:defPPr>
            <a:lvl1pPr>
              <a:defRPr sz="1200"/>
            </a:lvl1pPr>
          </a:lstStyle>
          <a:p>
            <a:r>
              <a:rPr lang="en-US" b="1" dirty="0"/>
              <a:t>Procurement</a:t>
            </a:r>
            <a:r>
              <a:rPr lang="en-US" dirty="0"/>
              <a:t> ↔ </a:t>
            </a:r>
            <a:r>
              <a:rPr lang="en-US" b="1" dirty="0"/>
              <a:t>Remarketing</a:t>
            </a:r>
            <a:r>
              <a:rPr lang="en-US" dirty="0"/>
              <a:t>: Coordination to align vehicle procurement with remarketing strategies.</a:t>
            </a:r>
          </a:p>
        </p:txBody>
      </p:sp>
      <p:sp>
        <p:nvSpPr>
          <p:cNvPr id="40" name="TextBox 39">
            <a:extLst>
              <a:ext uri="{FF2B5EF4-FFF2-40B4-BE49-F238E27FC236}">
                <a16:creationId xmlns:a16="http://schemas.microsoft.com/office/drawing/2014/main" id="{6836D797-D60E-1D23-3FA4-1A3D6202B06F}"/>
              </a:ext>
            </a:extLst>
          </p:cNvPr>
          <p:cNvSpPr txBox="1"/>
          <p:nvPr/>
        </p:nvSpPr>
        <p:spPr>
          <a:xfrm>
            <a:off x="6789171" y="2809822"/>
            <a:ext cx="5294671" cy="461665"/>
          </a:xfrm>
          <a:prstGeom prst="rect">
            <a:avLst/>
          </a:prstGeom>
          <a:noFill/>
        </p:spPr>
        <p:txBody>
          <a:bodyPr wrap="square">
            <a:spAutoFit/>
          </a:bodyPr>
          <a:lstStyle>
            <a:defPPr>
              <a:defRPr lang="el-GR"/>
            </a:defPPr>
            <a:lvl1pPr>
              <a:defRPr sz="1200" b="1"/>
            </a:lvl1pPr>
          </a:lstStyle>
          <a:p>
            <a:r>
              <a:rPr lang="en-US" dirty="0"/>
              <a:t>SLA Management</a:t>
            </a:r>
            <a:r>
              <a:rPr lang="en-US" b="0" dirty="0"/>
              <a:t> ↔ </a:t>
            </a:r>
            <a:r>
              <a:rPr lang="en-US" dirty="0"/>
              <a:t>Customer Service (Car)</a:t>
            </a:r>
            <a:r>
              <a:rPr lang="en-US" b="0" dirty="0"/>
              <a:t>: Ensure SLAs cover agreed service levels and proper monitoring processes.</a:t>
            </a:r>
          </a:p>
        </p:txBody>
      </p:sp>
      <p:sp>
        <p:nvSpPr>
          <p:cNvPr id="42" name="TextBox 41">
            <a:extLst>
              <a:ext uri="{FF2B5EF4-FFF2-40B4-BE49-F238E27FC236}">
                <a16:creationId xmlns:a16="http://schemas.microsoft.com/office/drawing/2014/main" id="{E77573FD-DA54-55F7-F325-7BED05B224D8}"/>
              </a:ext>
            </a:extLst>
          </p:cNvPr>
          <p:cNvSpPr txBox="1"/>
          <p:nvPr/>
        </p:nvSpPr>
        <p:spPr>
          <a:xfrm>
            <a:off x="6789169" y="3329489"/>
            <a:ext cx="5294673" cy="830997"/>
          </a:xfrm>
          <a:prstGeom prst="rect">
            <a:avLst/>
          </a:prstGeom>
          <a:noFill/>
        </p:spPr>
        <p:txBody>
          <a:bodyPr wrap="square">
            <a:spAutoFit/>
          </a:bodyPr>
          <a:lstStyle>
            <a:defPPr>
              <a:defRPr lang="el-GR"/>
            </a:defPPr>
            <a:lvl1pPr>
              <a:defRPr sz="1200" b="1"/>
            </a:lvl1pPr>
          </a:lstStyle>
          <a:p>
            <a:r>
              <a:rPr lang="en-US" dirty="0"/>
              <a:t>De-Fleeting ↔ Remarketing</a:t>
            </a:r>
            <a:r>
              <a:rPr lang="en-US" b="0" dirty="0"/>
              <a:t>: Seamless handover of vehicles for timely preparation and sale.</a:t>
            </a:r>
          </a:p>
          <a:p>
            <a:r>
              <a:rPr lang="en-US" dirty="0"/>
              <a:t>De-Fleeting </a:t>
            </a:r>
            <a:r>
              <a:rPr lang="en-US" b="0" dirty="0"/>
              <a:t>↔ </a:t>
            </a:r>
            <a:r>
              <a:rPr lang="en-US" dirty="0"/>
              <a:t>Customer Service (Lease)</a:t>
            </a:r>
            <a:r>
              <a:rPr lang="en-US" b="0" dirty="0"/>
              <a:t>: Return process management and timely customer updates regarding charges and procedures.</a:t>
            </a:r>
          </a:p>
        </p:txBody>
      </p:sp>
      <p:sp>
        <p:nvSpPr>
          <p:cNvPr id="47" name="Flowchart: Connector 46">
            <a:extLst>
              <a:ext uri="{FF2B5EF4-FFF2-40B4-BE49-F238E27FC236}">
                <a16:creationId xmlns:a16="http://schemas.microsoft.com/office/drawing/2014/main" id="{BFE2578B-CBB3-B863-7F4E-13FF90FB780E}"/>
              </a:ext>
            </a:extLst>
          </p:cNvPr>
          <p:cNvSpPr/>
          <p:nvPr/>
        </p:nvSpPr>
        <p:spPr>
          <a:xfrm>
            <a:off x="4603856" y="1039178"/>
            <a:ext cx="1194817" cy="30575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FTEs</a:t>
            </a:r>
            <a:endParaRPr lang="el-GR" b="1" dirty="0"/>
          </a:p>
        </p:txBody>
      </p:sp>
      <p:sp>
        <p:nvSpPr>
          <p:cNvPr id="49" name="Flowchart: Connector 48">
            <a:extLst>
              <a:ext uri="{FF2B5EF4-FFF2-40B4-BE49-F238E27FC236}">
                <a16:creationId xmlns:a16="http://schemas.microsoft.com/office/drawing/2014/main" id="{9F2AD4B2-5B78-747F-157F-26C7C0F031ED}"/>
              </a:ext>
            </a:extLst>
          </p:cNvPr>
          <p:cNvSpPr/>
          <p:nvPr/>
        </p:nvSpPr>
        <p:spPr>
          <a:xfrm>
            <a:off x="452085" y="1007073"/>
            <a:ext cx="4124834" cy="36996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Functions</a:t>
            </a:r>
            <a:endParaRPr lang="el-GR" b="1" dirty="0"/>
          </a:p>
        </p:txBody>
      </p:sp>
    </p:spTree>
    <p:extLst>
      <p:ext uri="{BB962C8B-B14F-4D97-AF65-F5344CB8AC3E}">
        <p14:creationId xmlns:p14="http://schemas.microsoft.com/office/powerpoint/2010/main" val="312038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6D7AC-0ABB-4ECF-410D-E325ABE3055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CECA20A-5BD7-1F73-818F-C463E5145C2F}"/>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DABDF4F3-CCE6-FC5E-CFE7-234383F73FA8}"/>
              </a:ext>
            </a:extLst>
          </p:cNvPr>
          <p:cNvPicPr>
            <a:picLocks noChangeAspect="1"/>
          </p:cNvPicPr>
          <p:nvPr/>
        </p:nvPicPr>
        <p:blipFill>
          <a:blip r:embed="rId3"/>
          <a:stretch>
            <a:fillRect/>
          </a:stretch>
        </p:blipFill>
        <p:spPr>
          <a:xfrm>
            <a:off x="3387846" y="1013727"/>
            <a:ext cx="199037" cy="168024"/>
          </a:xfrm>
          <a:prstGeom prst="rect">
            <a:avLst/>
          </a:prstGeom>
        </p:spPr>
      </p:pic>
      <p:cxnSp>
        <p:nvCxnSpPr>
          <p:cNvPr id="54" name="Straight Arrow Connector 53">
            <a:extLst>
              <a:ext uri="{FF2B5EF4-FFF2-40B4-BE49-F238E27FC236}">
                <a16:creationId xmlns:a16="http://schemas.microsoft.com/office/drawing/2014/main" id="{AB2674D2-4B81-48FE-2516-5195D7F5427A}"/>
              </a:ext>
            </a:extLst>
          </p:cNvPr>
          <p:cNvCxnSpPr>
            <a:cxnSpLocks/>
            <a:stCxn id="56" idx="2"/>
            <a:endCxn id="69" idx="0"/>
          </p:cNvCxnSpPr>
          <p:nvPr/>
        </p:nvCxnSpPr>
        <p:spPr>
          <a:xfrm>
            <a:off x="5332247" y="1288978"/>
            <a:ext cx="3511"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DFDE1EB-FAB1-FFD7-E057-A4BA80CAABE2}"/>
              </a:ext>
            </a:extLst>
          </p:cNvPr>
          <p:cNvSpPr txBox="1"/>
          <p:nvPr/>
        </p:nvSpPr>
        <p:spPr>
          <a:xfrm>
            <a:off x="3722920" y="906501"/>
            <a:ext cx="3218653"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l-GR"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Pricing Department</a:t>
            </a:r>
            <a:endParaRPr lang="el-GR" sz="14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9" name="Rectangle: Rounded Corners 68">
            <a:extLst>
              <a:ext uri="{FF2B5EF4-FFF2-40B4-BE49-F238E27FC236}">
                <a16:creationId xmlns:a16="http://schemas.microsoft.com/office/drawing/2014/main" id="{DBC0C697-C226-39DF-50DB-0A8D40EFF48B}"/>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Pricing dept. to create the product pricing model</a:t>
            </a:r>
            <a:endParaRPr lang="el-GR" sz="12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C59811A8-E3E2-49E9-BDBE-87644155B23A}"/>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780A8EAD-718B-66EB-201B-8059647F55C4}"/>
              </a:ext>
            </a:extLst>
          </p:cNvPr>
          <p:cNvSpPr/>
          <p:nvPr/>
        </p:nvSpPr>
        <p:spPr>
          <a:xfrm>
            <a:off x="1518170" y="276086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Ensure pricing is developed at make x model level to reflect the true cost and RV of each vehicle configuration. </a:t>
            </a:r>
            <a:r>
              <a:rPr lang="en-US" sz="1200" kern="100" dirty="0">
                <a:solidFill>
                  <a:srgbClr val="0F172A"/>
                </a:solidFill>
                <a:highlight>
                  <a:srgbClr val="FFFF00"/>
                </a:highlight>
                <a:latin typeface="Aptos" panose="020B0004020202020204" pitchFamily="34" charset="0"/>
                <a:ea typeface="Aptos" panose="020B0004020202020204" pitchFamily="34" charset="0"/>
                <a:cs typeface="Times New Roman" panose="02020603050405020304" pitchFamily="18" charset="0"/>
              </a:rPr>
              <a:t>Monitor competitor pricing strategies and market positioning.</a:t>
            </a: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 </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CE013BF7-8D3C-D6EE-A197-4E5EFFEC1C77}"/>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DEAD687-F59C-3B82-3F3C-563D92CBC3F0}"/>
              </a:ext>
            </a:extLst>
          </p:cNvPr>
          <p:cNvSpPr/>
          <p:nvPr/>
        </p:nvSpPr>
        <p:spPr>
          <a:xfrm>
            <a:off x="1518170" y="386524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latin typeface="Aptos" panose="020B0004020202020204" pitchFamily="34" charset="0"/>
                <a:cs typeface="Times New Roman" panose="02020603050405020304" pitchFamily="18" charset="0"/>
              </a:rPr>
              <a:t>Gather internal and external data sources: maintenance and repair costs, residual value data from market benchmarks and external models, discount levels from procurement agreements, funding cost structures, </a:t>
            </a:r>
            <a:r>
              <a:rPr lang="en-US" sz="1200" kern="100" dirty="0">
                <a:solidFill>
                  <a:srgbClr val="0F172A"/>
                </a:solidFill>
                <a:highlight>
                  <a:srgbClr val="FFFF00"/>
                </a:highlight>
                <a:latin typeface="Aptos" panose="020B0004020202020204" pitchFamily="34" charset="0"/>
                <a:cs typeface="Times New Roman" panose="02020603050405020304" pitchFamily="18" charset="0"/>
              </a:rPr>
              <a:t>monitor market trends that could impact pricing assumptions</a:t>
            </a:r>
            <a:r>
              <a:rPr lang="en-US" sz="1200" kern="100" dirty="0">
                <a:solidFill>
                  <a:srgbClr val="0F172A"/>
                </a:solidFill>
                <a:latin typeface="Aptos" panose="020B0004020202020204" pitchFamily="34" charset="0"/>
                <a:cs typeface="Times New Roman" panose="02020603050405020304" pitchFamily="18" charset="0"/>
              </a:rPr>
              <a:t>.</a:t>
            </a:r>
            <a:endParaRPr lang="el-GR" sz="1200" kern="100" dirty="0">
              <a:solidFill>
                <a:srgbClr val="0F172A"/>
              </a:solidFill>
              <a:latin typeface="Aptos" panose="020B000402020202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3F2B3C93-C1B3-BD7A-9E58-1DD47BEF4104}"/>
              </a:ext>
            </a:extLst>
          </p:cNvPr>
          <p:cNvCxnSpPr>
            <a:cxnSpLocks/>
          </p:cNvCxnSpPr>
          <p:nvPr/>
        </p:nvCxnSpPr>
        <p:spPr>
          <a:xfrm>
            <a:off x="5335759" y="4549518"/>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0F11BED7-7291-E0C6-403B-F9EAAE92321C}"/>
              </a:ext>
            </a:extLst>
          </p:cNvPr>
          <p:cNvSpPr/>
          <p:nvPr/>
        </p:nvSpPr>
        <p:spPr>
          <a:xfrm>
            <a:off x="1518171" y="500480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Adjust pricing models according to evolving risk appetite and changing market conditions.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AF96BA40-42D2-3978-657B-569A2C6D759E}"/>
              </a:ext>
            </a:extLst>
          </p:cNvPr>
          <p:cNvCxnSpPr>
            <a:cxnSpLocks/>
          </p:cNvCxnSpPr>
          <p:nvPr/>
        </p:nvCxnSpPr>
        <p:spPr>
          <a:xfrm>
            <a:off x="5335759" y="566372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521F397B-3D7F-7E65-8AFE-53848F1176CF}"/>
              </a:ext>
            </a:extLst>
          </p:cNvPr>
          <p:cNvSpPr/>
          <p:nvPr/>
        </p:nvSpPr>
        <p:spPr>
          <a:xfrm>
            <a:off x="1518171" y="6109493"/>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Perform what-if analyses and sensitivity on key pricing drivers (e.g., funding cost changes, residual value fluctuations, maintenance cost increases).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76E677F-29FE-87D8-990F-865EEFAB059B}"/>
              </a:ext>
            </a:extLst>
          </p:cNvPr>
          <p:cNvSpPr txBox="1"/>
          <p:nvPr/>
        </p:nvSpPr>
        <p:spPr>
          <a:xfrm>
            <a:off x="8550900" y="1174356"/>
            <a:ext cx="3384756" cy="577081"/>
          </a:xfrm>
          <a:prstGeom prst="rect">
            <a:avLst/>
          </a:prstGeom>
          <a:noFill/>
        </p:spPr>
        <p:txBody>
          <a:bodyPr wrap="square">
            <a:spAutoFit/>
          </a:bodyPr>
          <a:lstStyle/>
          <a:p>
            <a:pPr algn="ctr"/>
            <a:r>
              <a:rPr lang="en-US" sz="1050" b="1" i="1" dirty="0"/>
              <a:t>Pricing Governance and Approval Committee</a:t>
            </a:r>
            <a:r>
              <a:rPr lang="en-US" sz="1050" i="1" dirty="0"/>
              <a:t> to approve discounts, exemptions and to ensure pricing aligns with credit, risk, and finance policies of the bank.  </a:t>
            </a:r>
            <a:endParaRPr lang="el-GR" sz="1050" i="1" dirty="0"/>
          </a:p>
        </p:txBody>
      </p:sp>
    </p:spTree>
    <p:extLst>
      <p:ext uri="{BB962C8B-B14F-4D97-AF65-F5344CB8AC3E}">
        <p14:creationId xmlns:p14="http://schemas.microsoft.com/office/powerpoint/2010/main" val="1549476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908A7-19E5-0E01-F6B7-43D177EB7D4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3B7C230-B0D6-1387-D087-CEF6467EA2B9}"/>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36997DC6-88CD-99E8-4646-9BE6B9677D75}"/>
              </a:ext>
            </a:extLst>
          </p:cNvPr>
          <p:cNvPicPr>
            <a:picLocks noChangeAspect="1"/>
          </p:cNvPicPr>
          <p:nvPr/>
        </p:nvPicPr>
        <p:blipFill>
          <a:blip r:embed="rId3"/>
          <a:stretch>
            <a:fillRect/>
          </a:stretch>
        </p:blipFill>
        <p:spPr>
          <a:xfrm>
            <a:off x="3387538" y="1013727"/>
            <a:ext cx="199037" cy="168024"/>
          </a:xfrm>
          <a:prstGeom prst="rect">
            <a:avLst/>
          </a:prstGeom>
        </p:spPr>
      </p:pic>
      <p:cxnSp>
        <p:nvCxnSpPr>
          <p:cNvPr id="54" name="Straight Arrow Connector 53">
            <a:extLst>
              <a:ext uri="{FF2B5EF4-FFF2-40B4-BE49-F238E27FC236}">
                <a16:creationId xmlns:a16="http://schemas.microsoft.com/office/drawing/2014/main" id="{5CBC7135-671B-3AFE-28EC-CC69325AA22C}"/>
              </a:ext>
            </a:extLst>
          </p:cNvPr>
          <p:cNvCxnSpPr>
            <a:cxnSpLocks/>
            <a:stCxn id="56" idx="2"/>
            <a:endCxn id="69" idx="0"/>
          </p:cNvCxnSpPr>
          <p:nvPr/>
        </p:nvCxnSpPr>
        <p:spPr>
          <a:xfrm>
            <a:off x="5332247" y="1288978"/>
            <a:ext cx="3511"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D0D5AA8-6F45-DB4B-B2D7-974AB1893431}"/>
              </a:ext>
            </a:extLst>
          </p:cNvPr>
          <p:cNvSpPr txBox="1"/>
          <p:nvPr/>
        </p:nvSpPr>
        <p:spPr>
          <a:xfrm>
            <a:off x="3722920" y="906501"/>
            <a:ext cx="3218653"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Procurement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69" name="Rectangle: Rounded Corners 68">
            <a:extLst>
              <a:ext uri="{FF2B5EF4-FFF2-40B4-BE49-F238E27FC236}">
                <a16:creationId xmlns:a16="http://schemas.microsoft.com/office/drawing/2014/main" id="{477ABD2B-0947-1245-E732-4FB87F8ACB7C}"/>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Procurement dept. to buy cars</a:t>
            </a:r>
            <a:endParaRPr lang="el-GR" sz="12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516E78B2-EC03-1E1F-C9BC-5A7F81FE6A7A}"/>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C65EC67E-AB24-9C9D-1E54-FE423DBD65E5}"/>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Build, expand, and maintain relationships with car manufacturers, importers, and authorized dealers.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E6944B22-2F83-3D2E-5A4F-E1174CA96FA1}"/>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F644B39D-6783-F83C-6FAE-9F53589AAB66}"/>
              </a:ext>
            </a:extLst>
          </p:cNvPr>
          <p:cNvSpPr/>
          <p:nvPr/>
        </p:nvSpPr>
        <p:spPr>
          <a:xfrm>
            <a:off x="1518170" y="3865240"/>
            <a:ext cx="7635173" cy="85424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endParaRPr lang="en-US" sz="1200" kern="100" dirty="0">
              <a:solidFill>
                <a:srgbClr val="0F172A"/>
              </a:solidFill>
              <a:latin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pPr>
            <a:endParaRPr lang="en-US" sz="1200" kern="100" dirty="0">
              <a:solidFill>
                <a:srgbClr val="0F172A"/>
              </a:solidFill>
              <a:latin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pPr>
            <a:r>
              <a:rPr lang="en-US" sz="1200" kern="100" dirty="0">
                <a:solidFill>
                  <a:srgbClr val="0F172A"/>
                </a:solidFill>
                <a:latin typeface="Aptos" panose="020B0004020202020204" pitchFamily="34" charset="0"/>
                <a:cs typeface="Times New Roman" panose="02020603050405020304" pitchFamily="18" charset="0"/>
              </a:rPr>
              <a:t>Negotiate purchasing agreements to secure discounts and delivery terms. </a:t>
            </a:r>
            <a:r>
              <a:rPr lang="en-US" sz="1200" kern="100" dirty="0">
                <a:solidFill>
                  <a:srgbClr val="0F172A"/>
                </a:solidFill>
                <a:highlight>
                  <a:srgbClr val="FFFF00"/>
                </a:highlight>
                <a:latin typeface="Aptos" panose="020B0004020202020204" pitchFamily="34" charset="0"/>
                <a:cs typeface="Times New Roman" panose="02020603050405020304" pitchFamily="18" charset="0"/>
              </a:rPr>
              <a:t>Work closely with Pricing, RV Management, and Remarketing teams to ensure the vehicle procurement strategy is aligned with pricing assumptions and resale strategies.</a:t>
            </a:r>
            <a:r>
              <a:rPr lang="en-US" sz="1200" kern="100" dirty="0">
                <a:solidFill>
                  <a:srgbClr val="0F172A"/>
                </a:solidFill>
                <a:latin typeface="Aptos" panose="020B0004020202020204" pitchFamily="34" charset="0"/>
                <a:cs typeface="Times New Roman" panose="02020603050405020304" pitchFamily="18" charset="0"/>
              </a:rPr>
              <a:t> In addition, this department should also negotiate the Vehicle Service Contract (VSC)</a:t>
            </a:r>
          </a:p>
          <a:p>
            <a:pPr>
              <a:lnSpc>
                <a:spcPct val="115000"/>
              </a:lnSpc>
              <a:spcAft>
                <a:spcPts val="800"/>
              </a:spcAft>
              <a:buSzPts val="1000"/>
              <a:tabLst>
                <a:tab pos="457200" algn="l"/>
              </a:tabLst>
            </a:pPr>
            <a:endParaRPr lang="en-US" sz="1200" kern="100" dirty="0">
              <a:solidFill>
                <a:srgbClr val="0F172A"/>
              </a:solidFill>
              <a:latin typeface="Aptos" panose="020B0004020202020204" pitchFamily="34" charset="0"/>
              <a:cs typeface="Times New Roman" panose="02020603050405020304" pitchFamily="18" charset="0"/>
            </a:endParaRPr>
          </a:p>
          <a:p>
            <a:pPr>
              <a:lnSpc>
                <a:spcPct val="115000"/>
              </a:lnSpc>
              <a:spcAft>
                <a:spcPts val="800"/>
              </a:spcAft>
              <a:buSzPts val="1000"/>
              <a:tabLst>
                <a:tab pos="457200" algn="l"/>
              </a:tabLst>
            </a:pPr>
            <a:endParaRPr lang="el-GR" sz="1200" kern="100" dirty="0">
              <a:solidFill>
                <a:srgbClr val="0F172A"/>
              </a:solidFill>
              <a:latin typeface="Aptos" panose="020B000402020202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6B686FDE-3974-C7CF-5E8E-9892876B519E}"/>
              </a:ext>
            </a:extLst>
          </p:cNvPr>
          <p:cNvCxnSpPr>
            <a:cxnSpLocks/>
            <a:stCxn id="8" idx="2"/>
          </p:cNvCxnSpPr>
          <p:nvPr/>
        </p:nvCxnSpPr>
        <p:spPr>
          <a:xfrm>
            <a:off x="5335757" y="4719484"/>
            <a:ext cx="2" cy="287942"/>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88323069-1106-4C5B-B74B-F3E215D31AD7}"/>
              </a:ext>
            </a:extLst>
          </p:cNvPr>
          <p:cNvSpPr/>
          <p:nvPr/>
        </p:nvSpPr>
        <p:spPr>
          <a:xfrm>
            <a:off x="1518171" y="498575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Monitor market trends, e.g. regulatory changes, EU promotions / discounts on </a:t>
            </a:r>
            <a:r>
              <a:rPr lang="en-US" sz="1200" kern="100" dirty="0" err="1">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Evs</a:t>
            </a:r>
            <a:r>
              <a:rPr lang="en-US" sz="1200" kern="100" dirty="0">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a:t>
            </a:r>
            <a:endParaRPr lang="el-GR" sz="1200" kern="100" dirty="0">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8EE346C0-747A-1CF0-9D89-1C6D5B9DA16D}"/>
              </a:ext>
            </a:extLst>
          </p:cNvPr>
          <p:cNvCxnSpPr>
            <a:cxnSpLocks/>
          </p:cNvCxnSpPr>
          <p:nvPr/>
        </p:nvCxnSpPr>
        <p:spPr>
          <a:xfrm>
            <a:off x="5335759" y="566372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9C958B8B-5E54-105A-A256-6124D70C3E07}"/>
              </a:ext>
            </a:extLst>
          </p:cNvPr>
          <p:cNvSpPr/>
          <p:nvPr/>
        </p:nvSpPr>
        <p:spPr>
          <a:xfrm>
            <a:off x="1518171" y="609996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Develop standardized procurement workflows, approval processes, , manage documentation, contracts, and compliance with procurement policies and internal controls.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7340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4D73C-8D71-41D1-13DA-450EFACB945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BFF4DA48-5FC9-B636-ABE9-251A344D5817}"/>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cxnSp>
        <p:nvCxnSpPr>
          <p:cNvPr id="54" name="Straight Arrow Connector 53">
            <a:extLst>
              <a:ext uri="{FF2B5EF4-FFF2-40B4-BE49-F238E27FC236}">
                <a16:creationId xmlns:a16="http://schemas.microsoft.com/office/drawing/2014/main" id="{7E9A6705-9D5A-7F44-FFA9-52CDD2D776F0}"/>
              </a:ext>
            </a:extLst>
          </p:cNvPr>
          <p:cNvCxnSpPr>
            <a:cxnSpLocks/>
            <a:endCxn id="69" idx="0"/>
          </p:cNvCxnSpPr>
          <p:nvPr/>
        </p:nvCxnSpPr>
        <p:spPr>
          <a:xfrm>
            <a:off x="5332247" y="1288978"/>
            <a:ext cx="3511"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BB44457D-4477-ECD2-7147-5B1D2BFE17EB}"/>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Customer Service Department (Lease Contract related issues)</a:t>
            </a:r>
          </a:p>
          <a:p>
            <a:pPr algn="ctr">
              <a:lnSpc>
                <a:spcPct val="115000"/>
              </a:lnSpc>
              <a:spcAft>
                <a:spcPts val="800"/>
              </a:spcAft>
              <a:buSzPts val="1000"/>
              <a:tabLst>
                <a:tab pos="457200" algn="l"/>
              </a:tabLst>
            </a:pPr>
            <a:r>
              <a:rPr lang="en-US" sz="1200" b="1" kern="0" dirty="0">
                <a:solidFill>
                  <a:srgbClr val="0F172A"/>
                </a:solidFill>
                <a:latin typeface="Arial" panose="020B0604020202020204" pitchFamily="34" charset="0"/>
                <a:ea typeface="Times New Roman" panose="02020603050405020304" pitchFamily="18" charset="0"/>
                <a:cs typeface="Times New Roman" panose="02020603050405020304" pitchFamily="18" charset="0"/>
              </a:rPr>
              <a:t> - Outsourced -</a:t>
            </a:r>
            <a:endPar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A88BF2A5-0062-13A8-CEAC-825D178E0DEE}"/>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C0B8AD0B-5D46-955B-3768-8F76BDE77A45}"/>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Road tax, fines, tolls, invoicing, contract terms, contract-end management (ensure smooth coordination with customers for return appointments and vehicle condition expectations.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6F724163-6E9F-E564-1BA9-A6F348E623F5}"/>
              </a:ext>
            </a:extLst>
          </p:cNvPr>
          <p:cNvPicPr>
            <a:picLocks noChangeAspect="1"/>
          </p:cNvPicPr>
          <p:nvPr/>
        </p:nvPicPr>
        <p:blipFill>
          <a:blip r:embed="rId3"/>
          <a:stretch>
            <a:fillRect/>
          </a:stretch>
        </p:blipFill>
        <p:spPr>
          <a:xfrm>
            <a:off x="2837237" y="1013727"/>
            <a:ext cx="199037" cy="168024"/>
          </a:xfrm>
          <a:prstGeom prst="rect">
            <a:avLst/>
          </a:prstGeom>
        </p:spPr>
      </p:pic>
      <p:sp>
        <p:nvSpPr>
          <p:cNvPr id="5" name="TextBox 4">
            <a:extLst>
              <a:ext uri="{FF2B5EF4-FFF2-40B4-BE49-F238E27FC236}">
                <a16:creationId xmlns:a16="http://schemas.microsoft.com/office/drawing/2014/main" id="{E65B911E-DE18-63A4-AEA2-3939E4943288}"/>
              </a:ext>
            </a:extLst>
          </p:cNvPr>
          <p:cNvSpPr txBox="1"/>
          <p:nvPr/>
        </p:nvSpPr>
        <p:spPr>
          <a:xfrm>
            <a:off x="3182144" y="906501"/>
            <a:ext cx="4286859" cy="375552"/>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Lease Contract Customer Service Department</a:t>
            </a:r>
          </a:p>
        </p:txBody>
      </p:sp>
    </p:spTree>
    <p:extLst>
      <p:ext uri="{BB962C8B-B14F-4D97-AF65-F5344CB8AC3E}">
        <p14:creationId xmlns:p14="http://schemas.microsoft.com/office/powerpoint/2010/main" val="423818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B9D6-0EE0-A629-5E6D-E5AF0B8562D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57A62B7-AE15-3676-C0F7-8D3CC06F7D8E}"/>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cxnSp>
        <p:nvCxnSpPr>
          <p:cNvPr id="54" name="Straight Arrow Connector 53">
            <a:extLst>
              <a:ext uri="{FF2B5EF4-FFF2-40B4-BE49-F238E27FC236}">
                <a16:creationId xmlns:a16="http://schemas.microsoft.com/office/drawing/2014/main" id="{35B8863D-10E9-97F8-DC35-8C43C6748C69}"/>
              </a:ext>
            </a:extLst>
          </p:cNvPr>
          <p:cNvCxnSpPr>
            <a:cxnSpLocks/>
            <a:stCxn id="56" idx="2"/>
            <a:endCxn id="69" idx="0"/>
          </p:cNvCxnSpPr>
          <p:nvPr/>
        </p:nvCxnSpPr>
        <p:spPr>
          <a:xfrm>
            <a:off x="5332247" y="1288978"/>
            <a:ext cx="3511"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246CE310-3092-F1C4-CDD9-8185700F6984}"/>
              </a:ext>
            </a:extLst>
          </p:cNvPr>
          <p:cNvSpPr txBox="1"/>
          <p:nvPr/>
        </p:nvSpPr>
        <p:spPr>
          <a:xfrm>
            <a:off x="3722920" y="906501"/>
            <a:ext cx="3218653" cy="382477"/>
          </a:xfrm>
          <a:prstGeom prst="rect">
            <a:avLst/>
          </a:prstGeom>
          <a:noFill/>
          <a:ln w="28575">
            <a:solidFill>
              <a:srgbClr val="FF000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Car Customer Service Department</a:t>
            </a:r>
          </a:p>
        </p:txBody>
      </p:sp>
      <p:sp>
        <p:nvSpPr>
          <p:cNvPr id="69" name="Rectangle: Rounded Corners 68">
            <a:extLst>
              <a:ext uri="{FF2B5EF4-FFF2-40B4-BE49-F238E27FC236}">
                <a16:creationId xmlns:a16="http://schemas.microsoft.com/office/drawing/2014/main" id="{49992011-076E-9696-EAE8-F5C9CE57F433}"/>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0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Customer Service Department (Car related issues)</a:t>
            </a:r>
          </a:p>
          <a:p>
            <a:pPr algn="ctr">
              <a:lnSpc>
                <a:spcPct val="115000"/>
              </a:lnSpc>
              <a:spcAft>
                <a:spcPts val="800"/>
              </a:spcAft>
              <a:buSzPts val="1000"/>
              <a:tabLst>
                <a:tab pos="457200" algn="l"/>
              </a:tabLst>
            </a:pPr>
            <a:r>
              <a:rPr lang="en-US" sz="1000" b="1" kern="0" dirty="0">
                <a:solidFill>
                  <a:srgbClr val="0F172A"/>
                </a:solidFill>
                <a:latin typeface="Arial" panose="020B0604020202020204" pitchFamily="34" charset="0"/>
                <a:ea typeface="Times New Roman" panose="02020603050405020304" pitchFamily="18" charset="0"/>
                <a:cs typeface="Times New Roman" panose="02020603050405020304" pitchFamily="18" charset="0"/>
              </a:rPr>
              <a:t> - Outsourced -</a:t>
            </a:r>
            <a:endParaRPr lang="en-US" sz="10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3E637380-0E9D-5C40-0383-FCC9503D3862}"/>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D65ED2C0-E28B-F74B-C07B-BECE86378AB5}"/>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Scheduled maintenance, service &amp; repairs (outside of the insurance coverage), replacement vehicles, MOT</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9713774-56D5-16D3-5AC0-46BC4F6E6BA2}"/>
              </a:ext>
            </a:extLst>
          </p:cNvPr>
          <p:cNvPicPr>
            <a:picLocks noChangeAspect="1"/>
          </p:cNvPicPr>
          <p:nvPr/>
        </p:nvPicPr>
        <p:blipFill>
          <a:blip r:embed="rId3"/>
          <a:stretch>
            <a:fillRect/>
          </a:stretch>
        </p:blipFill>
        <p:spPr>
          <a:xfrm>
            <a:off x="3248647" y="1056558"/>
            <a:ext cx="296686" cy="156150"/>
          </a:xfrm>
          <a:prstGeom prst="rect">
            <a:avLst/>
          </a:prstGeom>
        </p:spPr>
      </p:pic>
    </p:spTree>
    <p:extLst>
      <p:ext uri="{BB962C8B-B14F-4D97-AF65-F5344CB8AC3E}">
        <p14:creationId xmlns:p14="http://schemas.microsoft.com/office/powerpoint/2010/main" val="59763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1FE1-ED28-7C08-497E-BC0FF0169A79}"/>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9A4731D9-6B88-FCFF-DEAA-0A08D6FDE56E}"/>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EFC4D2F4-FCE0-805D-8F0C-A2D1735083CC}"/>
              </a:ext>
            </a:extLst>
          </p:cNvPr>
          <p:cNvPicPr>
            <a:picLocks noChangeAspect="1"/>
          </p:cNvPicPr>
          <p:nvPr/>
        </p:nvPicPr>
        <p:blipFill>
          <a:blip r:embed="rId3"/>
          <a:stretch>
            <a:fillRect/>
          </a:stretch>
        </p:blipFill>
        <p:spPr>
          <a:xfrm>
            <a:off x="3378013" y="1013727"/>
            <a:ext cx="199037" cy="168024"/>
          </a:xfrm>
          <a:prstGeom prst="rect">
            <a:avLst/>
          </a:prstGeom>
        </p:spPr>
      </p:pic>
      <p:cxnSp>
        <p:nvCxnSpPr>
          <p:cNvPr id="54" name="Straight Arrow Connector 53">
            <a:extLst>
              <a:ext uri="{FF2B5EF4-FFF2-40B4-BE49-F238E27FC236}">
                <a16:creationId xmlns:a16="http://schemas.microsoft.com/office/drawing/2014/main" id="{773A41E8-F3CB-AEC2-89E5-2E70BD9798EE}"/>
              </a:ext>
            </a:extLst>
          </p:cNvPr>
          <p:cNvCxnSpPr>
            <a:cxnSpLocks/>
            <a:stCxn id="56" idx="2"/>
            <a:endCxn id="69" idx="0"/>
          </p:cNvCxnSpPr>
          <p:nvPr/>
        </p:nvCxnSpPr>
        <p:spPr>
          <a:xfrm>
            <a:off x="5332247" y="1288978"/>
            <a:ext cx="3511"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CE21785-5268-6A81-7995-7164CE2FB47C}"/>
              </a:ext>
            </a:extLst>
          </p:cNvPr>
          <p:cNvSpPr txBox="1"/>
          <p:nvPr/>
        </p:nvSpPr>
        <p:spPr>
          <a:xfrm>
            <a:off x="3722920" y="906501"/>
            <a:ext cx="3218653"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SLA Management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69" name="Rectangle: Rounded Corners 68">
            <a:extLst>
              <a:ext uri="{FF2B5EF4-FFF2-40B4-BE49-F238E27FC236}">
                <a16:creationId xmlns:a16="http://schemas.microsoft.com/office/drawing/2014/main" id="{817B9302-73CC-882A-FFB9-2FE802B8014E}"/>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Service Level Agreement (SLA) Design and Implementation</a:t>
            </a:r>
            <a:endParaRPr lang="el-GR" sz="12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32B7C708-BE75-3F13-6503-5B3546E8488D}"/>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DA121E1B-8EC4-B686-89FD-8DFDB2561EBB}"/>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Define SLAs with dealers and service partners covering vehicle delivery timelines, maintenance response times, replacement vehicle provisions, car return procedures, de-fleeting process flow. Manage contract renewals, renegotiations, and terminations.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A9E7046F-97EB-56A8-77D2-D2300DD6C719}"/>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6B9342A2-B121-32AB-F35F-816E0C9CBDFE}"/>
              </a:ext>
            </a:extLst>
          </p:cNvPr>
          <p:cNvSpPr/>
          <p:nvPr/>
        </p:nvSpPr>
        <p:spPr>
          <a:xfrm>
            <a:off x="1518170" y="386524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latin typeface="Aptos" panose="020B0004020202020204" pitchFamily="34" charset="0"/>
                <a:cs typeface="Times New Roman" panose="02020603050405020304" pitchFamily="18" charset="0"/>
              </a:rPr>
              <a:t>Conduct regular reviews with partners to ensure adherence to SLAs and to resolve operational issues. Take corrective actions when performance or SLA terms deviates from agreed ones. Introduce lean practices to minimize service lead times and improve quality.</a:t>
            </a:r>
            <a:endParaRPr lang="el-GR" sz="1200" kern="100" dirty="0">
              <a:solidFill>
                <a:srgbClr val="0F172A"/>
              </a:solidFill>
              <a:latin typeface="Aptos" panose="020B000402020202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94B5D691-7866-0D20-9DDA-AE24CC799C85}"/>
              </a:ext>
            </a:extLst>
          </p:cNvPr>
          <p:cNvCxnSpPr>
            <a:cxnSpLocks/>
          </p:cNvCxnSpPr>
          <p:nvPr/>
        </p:nvCxnSpPr>
        <p:spPr>
          <a:xfrm>
            <a:off x="5335759" y="4549518"/>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B3FE5E38-374A-E959-312E-15052122C10B}"/>
              </a:ext>
            </a:extLst>
          </p:cNvPr>
          <p:cNvSpPr/>
          <p:nvPr/>
        </p:nvSpPr>
        <p:spPr>
          <a:xfrm>
            <a:off x="1518171" y="498575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Act as the central point of contact for service delivery issues raised by internal teams or customers. Implement a clear escalation path for unresolved or critical service failures. Collaborate with Car Customer Service to resolve operational bottlenecks.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8C9AA46A-9EB8-019B-5CBE-9FC49F82C51C}"/>
              </a:ext>
            </a:extLst>
          </p:cNvPr>
          <p:cNvCxnSpPr>
            <a:cxnSpLocks/>
          </p:cNvCxnSpPr>
          <p:nvPr/>
        </p:nvCxnSpPr>
        <p:spPr>
          <a:xfrm>
            <a:off x="5335759" y="566372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BE91C4EF-BAB0-B07E-460F-01B2CAD30B68}"/>
              </a:ext>
            </a:extLst>
          </p:cNvPr>
          <p:cNvSpPr/>
          <p:nvPr/>
        </p:nvSpPr>
        <p:spPr>
          <a:xfrm>
            <a:off x="1518171" y="609996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Work closely with: Customer Service to align on service expectations and issue tracking. Procurement to ensure dealers can support service obligations. Pricing to feed cost data related to dealer and service partner SLAs. De-Fleeting to coordinate smooth car return and refurbishment processes.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24909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F023-9305-77E4-FD3D-0F803C49434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73FEE36-81C3-8D57-A17E-629338E16B4D}"/>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6963C2EB-0EBB-46B5-8B38-9A204DDA401A}"/>
              </a:ext>
            </a:extLst>
          </p:cNvPr>
          <p:cNvPicPr>
            <a:picLocks noChangeAspect="1"/>
          </p:cNvPicPr>
          <p:nvPr/>
        </p:nvPicPr>
        <p:blipFill>
          <a:blip r:embed="rId3"/>
          <a:stretch>
            <a:fillRect/>
          </a:stretch>
        </p:blipFill>
        <p:spPr>
          <a:xfrm>
            <a:off x="2866735" y="1013727"/>
            <a:ext cx="199037" cy="168024"/>
          </a:xfrm>
          <a:prstGeom prst="rect">
            <a:avLst/>
          </a:prstGeom>
        </p:spPr>
      </p:pic>
      <p:cxnSp>
        <p:nvCxnSpPr>
          <p:cNvPr id="54" name="Straight Arrow Connector 53">
            <a:extLst>
              <a:ext uri="{FF2B5EF4-FFF2-40B4-BE49-F238E27FC236}">
                <a16:creationId xmlns:a16="http://schemas.microsoft.com/office/drawing/2014/main" id="{B7CC08F0-F44F-C43C-144D-016D743DE990}"/>
              </a:ext>
            </a:extLst>
          </p:cNvPr>
          <p:cNvCxnSpPr>
            <a:cxnSpLocks/>
            <a:stCxn id="56" idx="2"/>
            <a:endCxn id="69" idx="0"/>
          </p:cNvCxnSpPr>
          <p:nvPr/>
        </p:nvCxnSpPr>
        <p:spPr>
          <a:xfrm flipH="1">
            <a:off x="5335758" y="1288978"/>
            <a:ext cx="1405"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0D45651-FB61-6D1B-DCE2-3209F342B9D9}"/>
              </a:ext>
            </a:extLst>
          </p:cNvPr>
          <p:cNvSpPr txBox="1"/>
          <p:nvPr/>
        </p:nvSpPr>
        <p:spPr>
          <a:xfrm>
            <a:off x="3211642" y="906501"/>
            <a:ext cx="4251041"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Residual Value (RV) Management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69" name="Rectangle: Rounded Corners 68">
            <a:extLst>
              <a:ext uri="{FF2B5EF4-FFF2-40B4-BE49-F238E27FC236}">
                <a16:creationId xmlns:a16="http://schemas.microsoft.com/office/drawing/2014/main" id="{1680B6E1-B09D-045B-FF67-39FE778D4E51}"/>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0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Development of RV Models at make x model level</a:t>
            </a:r>
            <a:endParaRPr lang="el-GR" sz="10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E7A2C3C3-BE99-C128-6C11-283FADB217C9}"/>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53F5447C-753E-093E-7AC6-E96D0B34C9F0}"/>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rPr>
              <a:t>Build and maintain detailed Residual Value (RV) models for each vehicle brand and model. </a:t>
            </a:r>
            <a:r>
              <a:rPr lang="en-US" sz="1200" kern="100" dirty="0">
                <a:solidFill>
                  <a:srgbClr val="0F172A"/>
                </a:solidFill>
                <a:highlight>
                  <a:srgbClr val="FFFF00"/>
                </a:highlight>
                <a:latin typeface="Aptos" panose="020B0004020202020204" pitchFamily="34" charset="0"/>
                <a:ea typeface="Aptos" panose="020B0004020202020204" pitchFamily="34" charset="0"/>
                <a:cs typeface="Times New Roman" panose="02020603050405020304" pitchFamily="18" charset="0"/>
              </a:rPr>
              <a:t>Note: depreciation tables to be acquired from specialized company. Ensure continuous update and refinement of RV models based on real-time market input, de-fleeting outcomes. Benchmark RV assumptions against external sources.</a:t>
            </a:r>
            <a:endParaRPr lang="el-GR" sz="1200" kern="100" dirty="0">
              <a:solidFill>
                <a:srgbClr val="0F172A"/>
              </a:solidFill>
              <a:effectLst/>
              <a:highlight>
                <a:srgbClr val="FFFF00"/>
              </a:highligh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481748CF-7E7F-2909-F46E-AC42ED32300D}"/>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B6876C15-6070-6AC7-BD73-A10055A7157D}"/>
              </a:ext>
            </a:extLst>
          </p:cNvPr>
          <p:cNvSpPr/>
          <p:nvPr/>
        </p:nvSpPr>
        <p:spPr>
          <a:xfrm>
            <a:off x="1518170" y="386524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highlight>
                  <a:srgbClr val="FFFF00"/>
                </a:highlight>
                <a:latin typeface="Aptos" panose="020B0004020202020204" pitchFamily="34" charset="0"/>
                <a:cs typeface="Times New Roman" panose="02020603050405020304" pitchFamily="18" charset="0"/>
              </a:rPr>
              <a:t>Develop multi-scenario RV forecasts (base, optimistic, pessimistic) for all vehicle categories.</a:t>
            </a:r>
            <a:endParaRPr lang="el-GR" sz="1200" kern="100" dirty="0">
              <a:solidFill>
                <a:srgbClr val="0F172A"/>
              </a:solidFill>
              <a:highlight>
                <a:srgbClr val="FFFF00"/>
              </a:highlight>
              <a:latin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286E626-180D-0C31-F8D5-DDF575F198A5}"/>
              </a:ext>
            </a:extLst>
          </p:cNvPr>
          <p:cNvSpPr txBox="1"/>
          <p:nvPr/>
        </p:nvSpPr>
        <p:spPr>
          <a:xfrm>
            <a:off x="8535464" y="1024219"/>
            <a:ext cx="3384756" cy="1061829"/>
          </a:xfrm>
          <a:prstGeom prst="rect">
            <a:avLst/>
          </a:prstGeom>
          <a:noFill/>
        </p:spPr>
        <p:txBody>
          <a:bodyPr wrap="square">
            <a:spAutoFit/>
          </a:bodyPr>
          <a:lstStyle/>
          <a:p>
            <a:pPr algn="ctr"/>
            <a:r>
              <a:rPr lang="en-US" sz="1050" b="1" i="1" dirty="0"/>
              <a:t>RV Risk Governance Committee </a:t>
            </a:r>
            <a:r>
              <a:rPr lang="en-US" sz="1050" i="1" dirty="0"/>
              <a:t>to establish the RV approval process, the Risk limits and appetite for exposure by brand/model/segment, the policies for vehicle replacement, early terminations, and volume concentration, and ensure alignment with the bank’s overall risk management framework.</a:t>
            </a:r>
            <a:endParaRPr lang="el-GR" sz="1050" i="1" dirty="0"/>
          </a:p>
        </p:txBody>
      </p:sp>
      <p:sp>
        <p:nvSpPr>
          <p:cNvPr id="14" name="TextBox 13">
            <a:extLst>
              <a:ext uri="{FF2B5EF4-FFF2-40B4-BE49-F238E27FC236}">
                <a16:creationId xmlns:a16="http://schemas.microsoft.com/office/drawing/2014/main" id="{3E1FD538-F81E-1A91-93EE-3979AA2E220C}"/>
              </a:ext>
            </a:extLst>
          </p:cNvPr>
          <p:cNvSpPr txBox="1"/>
          <p:nvPr/>
        </p:nvSpPr>
        <p:spPr>
          <a:xfrm>
            <a:off x="9524461" y="2268313"/>
            <a:ext cx="2298737" cy="1061829"/>
          </a:xfrm>
          <a:prstGeom prst="rect">
            <a:avLst/>
          </a:prstGeom>
          <a:noFill/>
        </p:spPr>
        <p:txBody>
          <a:bodyPr wrap="square">
            <a:spAutoFit/>
          </a:bodyPr>
          <a:lstStyle>
            <a:defPPr>
              <a:defRPr lang="el-GR"/>
            </a:defPPr>
            <a:lvl1pPr algn="ctr">
              <a:defRPr sz="1050" b="1" i="1"/>
            </a:lvl1pPr>
          </a:lstStyle>
          <a:p>
            <a:r>
              <a:rPr lang="en-US" dirty="0"/>
              <a:t>RV Approval Committee </a:t>
            </a:r>
            <a:r>
              <a:rPr lang="en-US" b="0" dirty="0"/>
              <a:t>to validate RV assumptions provided to the Pricing Department before lease offers are finalized. Approve exceptions and changes to standard RV assumptions.  </a:t>
            </a:r>
            <a:endParaRPr lang="el-GR" b="0" dirty="0"/>
          </a:p>
        </p:txBody>
      </p:sp>
    </p:spTree>
    <p:extLst>
      <p:ext uri="{BB962C8B-B14F-4D97-AF65-F5344CB8AC3E}">
        <p14:creationId xmlns:p14="http://schemas.microsoft.com/office/powerpoint/2010/main" val="249998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2E5DD-51CE-2FB6-537C-12B371DF4871}"/>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4F241A5-763B-C7FD-2C85-10190E3D6A1B}"/>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cxnSp>
        <p:nvCxnSpPr>
          <p:cNvPr id="54" name="Straight Arrow Connector 53">
            <a:extLst>
              <a:ext uri="{FF2B5EF4-FFF2-40B4-BE49-F238E27FC236}">
                <a16:creationId xmlns:a16="http://schemas.microsoft.com/office/drawing/2014/main" id="{A6037043-5660-E747-E12E-F6D5F3381201}"/>
              </a:ext>
            </a:extLst>
          </p:cNvPr>
          <p:cNvCxnSpPr>
            <a:cxnSpLocks/>
            <a:stCxn id="56" idx="2"/>
            <a:endCxn id="69" idx="0"/>
          </p:cNvCxnSpPr>
          <p:nvPr/>
        </p:nvCxnSpPr>
        <p:spPr>
          <a:xfrm flipH="1">
            <a:off x="5335758" y="1288978"/>
            <a:ext cx="1405"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C86EDBB4-6B7F-7DB8-00FE-90E260697113}"/>
              </a:ext>
            </a:extLst>
          </p:cNvPr>
          <p:cNvSpPr txBox="1"/>
          <p:nvPr/>
        </p:nvSpPr>
        <p:spPr>
          <a:xfrm>
            <a:off x="3211642" y="906501"/>
            <a:ext cx="4251041"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De-Fleeting Department</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69" name="Rectangle: Rounded Corners 68">
            <a:extLst>
              <a:ext uri="{FF2B5EF4-FFF2-40B4-BE49-F238E27FC236}">
                <a16:creationId xmlns:a16="http://schemas.microsoft.com/office/drawing/2014/main" id="{B294952E-7623-F50C-BD2F-A500EB8ABF81}"/>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Car Return Process Management</a:t>
            </a:r>
            <a:endParaRPr lang="el-GR" sz="12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89C13BC3-3777-990C-B967-9174AC8BCD91}"/>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48D9710E-4558-998B-F8DC-D06128F356E5}"/>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Design and manage the end-to-end workflow for vehicle returns at contract maturity or early termination.</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0339AD94-0CED-95FE-4966-4324A4B36CA5}"/>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BBAA3F5B-F251-1741-5350-B11DA373060B}"/>
              </a:ext>
            </a:extLst>
          </p:cNvPr>
          <p:cNvSpPr/>
          <p:nvPr/>
        </p:nvSpPr>
        <p:spPr>
          <a:xfrm>
            <a:off x="1518170" y="386524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latin typeface="Aptos" panose="020B0004020202020204" pitchFamily="34" charset="0"/>
                <a:cs typeface="Times New Roman" panose="02020603050405020304" pitchFamily="18" charset="0"/>
              </a:rPr>
              <a:t>Develop clear customer communication guidelines for return procedures, potential penalties, and vehicle preparation according to SLA with the selected de-fleeting partner. Customer experience alignment. Minimize disputes over damage assessments through clear documentation and standardized processes.</a:t>
            </a:r>
          </a:p>
        </p:txBody>
      </p:sp>
      <p:cxnSp>
        <p:nvCxnSpPr>
          <p:cNvPr id="9" name="Straight Arrow Connector 8">
            <a:extLst>
              <a:ext uri="{FF2B5EF4-FFF2-40B4-BE49-F238E27FC236}">
                <a16:creationId xmlns:a16="http://schemas.microsoft.com/office/drawing/2014/main" id="{53BA32A4-AEEB-67F7-27A9-F841A24A9BA2}"/>
              </a:ext>
            </a:extLst>
          </p:cNvPr>
          <p:cNvCxnSpPr>
            <a:cxnSpLocks/>
          </p:cNvCxnSpPr>
          <p:nvPr/>
        </p:nvCxnSpPr>
        <p:spPr>
          <a:xfrm>
            <a:off x="5335759" y="4549518"/>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E5F4BA62-D798-84B1-E05C-B1C7EE818CAC}"/>
              </a:ext>
            </a:extLst>
          </p:cNvPr>
          <p:cNvSpPr/>
          <p:nvPr/>
        </p:nvSpPr>
        <p:spPr>
          <a:xfrm>
            <a:off x="1518171" y="498575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Manage relationships with internal or third-party inspection providers to ensure timely and accurate vehicle condition assessments.</a:t>
            </a: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 </a:t>
            </a: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Oversee the standardized inspection process for all returned vehicles according to the agreed and defined inspection criteria based on fair wear and tear guidelines. </a:t>
            </a:r>
          </a:p>
        </p:txBody>
      </p:sp>
      <p:cxnSp>
        <p:nvCxnSpPr>
          <p:cNvPr id="12" name="Straight Arrow Connector 11">
            <a:extLst>
              <a:ext uri="{FF2B5EF4-FFF2-40B4-BE49-F238E27FC236}">
                <a16:creationId xmlns:a16="http://schemas.microsoft.com/office/drawing/2014/main" id="{59B34089-6CF0-36A0-A745-02EE2A32C00F}"/>
              </a:ext>
            </a:extLst>
          </p:cNvPr>
          <p:cNvCxnSpPr>
            <a:cxnSpLocks/>
          </p:cNvCxnSpPr>
          <p:nvPr/>
        </p:nvCxnSpPr>
        <p:spPr>
          <a:xfrm>
            <a:off x="5335759" y="566372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Rectangle: Rounded Corners 28">
            <a:extLst>
              <a:ext uri="{FF2B5EF4-FFF2-40B4-BE49-F238E27FC236}">
                <a16:creationId xmlns:a16="http://schemas.microsoft.com/office/drawing/2014/main" id="{C6915562-1DA1-7518-CBB9-469140E0236F}"/>
              </a:ext>
            </a:extLst>
          </p:cNvPr>
          <p:cNvSpPr/>
          <p:nvPr/>
        </p:nvSpPr>
        <p:spPr>
          <a:xfrm>
            <a:off x="1508644" y="612320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Reporting and KPI Tracking. Develop de-fleeting KPIs such as: Average time to process vehicle returns. Reconditioning turnaround time. Average reconditioning cost per vehicle. Percentage of vehicles returned with damages. Report operational performance to senior management.</a:t>
            </a:r>
          </a:p>
        </p:txBody>
      </p:sp>
      <p:pic>
        <p:nvPicPr>
          <p:cNvPr id="30" name="Picture 29">
            <a:extLst>
              <a:ext uri="{FF2B5EF4-FFF2-40B4-BE49-F238E27FC236}">
                <a16:creationId xmlns:a16="http://schemas.microsoft.com/office/drawing/2014/main" id="{27114AAF-645A-8B37-A05B-818A5C48B0F6}"/>
              </a:ext>
            </a:extLst>
          </p:cNvPr>
          <p:cNvPicPr>
            <a:picLocks noChangeAspect="1"/>
          </p:cNvPicPr>
          <p:nvPr/>
        </p:nvPicPr>
        <p:blipFill>
          <a:blip r:embed="rId3"/>
          <a:stretch>
            <a:fillRect/>
          </a:stretch>
        </p:blipFill>
        <p:spPr>
          <a:xfrm>
            <a:off x="2866735" y="1013727"/>
            <a:ext cx="199037" cy="168024"/>
          </a:xfrm>
          <a:prstGeom prst="rect">
            <a:avLst/>
          </a:prstGeom>
        </p:spPr>
      </p:pic>
    </p:spTree>
    <p:extLst>
      <p:ext uri="{BB962C8B-B14F-4D97-AF65-F5344CB8AC3E}">
        <p14:creationId xmlns:p14="http://schemas.microsoft.com/office/powerpoint/2010/main" val="339496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7AA8-4F95-D8F8-5053-08E25D232EF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B0025CA-C475-73B2-C3F2-54A4F018276A}"/>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cxnSp>
        <p:nvCxnSpPr>
          <p:cNvPr id="54" name="Straight Arrow Connector 53">
            <a:extLst>
              <a:ext uri="{FF2B5EF4-FFF2-40B4-BE49-F238E27FC236}">
                <a16:creationId xmlns:a16="http://schemas.microsoft.com/office/drawing/2014/main" id="{49B5C522-C5A6-F7F0-903A-3AD929B6071D}"/>
              </a:ext>
            </a:extLst>
          </p:cNvPr>
          <p:cNvCxnSpPr>
            <a:cxnSpLocks/>
            <a:stCxn id="56" idx="2"/>
          </p:cNvCxnSpPr>
          <p:nvPr/>
        </p:nvCxnSpPr>
        <p:spPr>
          <a:xfrm flipH="1">
            <a:off x="5335758" y="1288978"/>
            <a:ext cx="1405"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B6C95AB5-73FD-75EC-0A5A-A8136C4D24B2}"/>
              </a:ext>
            </a:extLst>
          </p:cNvPr>
          <p:cNvSpPr txBox="1"/>
          <p:nvPr/>
        </p:nvSpPr>
        <p:spPr>
          <a:xfrm>
            <a:off x="3211642" y="906501"/>
            <a:ext cx="4251041" cy="382477"/>
          </a:xfrm>
          <a:prstGeom prst="rect">
            <a:avLst/>
          </a:prstGeom>
          <a:noFill/>
          <a:ln w="28575">
            <a:solidFill>
              <a:srgbClr val="FF000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De-Fleeting Partner</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cxnSp>
        <p:nvCxnSpPr>
          <p:cNvPr id="7" name="Straight Arrow Connector 6">
            <a:extLst>
              <a:ext uri="{FF2B5EF4-FFF2-40B4-BE49-F238E27FC236}">
                <a16:creationId xmlns:a16="http://schemas.microsoft.com/office/drawing/2014/main" id="{3CCBDE50-4864-5052-F813-CAF3B5772DCA}"/>
              </a:ext>
            </a:extLst>
          </p:cNvPr>
          <p:cNvCxnSpPr>
            <a:cxnSpLocks/>
          </p:cNvCxnSpPr>
          <p:nvPr/>
        </p:nvCxnSpPr>
        <p:spPr>
          <a:xfrm>
            <a:off x="5335758" y="3456346"/>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30133A2C-53E4-F69C-2339-2FE556B15C7F}"/>
              </a:ext>
            </a:extLst>
          </p:cNvPr>
          <p:cNvSpPr/>
          <p:nvPr/>
        </p:nvSpPr>
        <p:spPr>
          <a:xfrm>
            <a:off x="1518171" y="2778374"/>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Damage Assessment and Penalty Management Establish procedures for: Assessing excess wear and tear and missing equipment. Calculating customer charges for damage beyond acceptable limits. Collaborate with the Customer Service and Billing teams for timely customer communication and invoicing.</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BCBC2D5E-A4AC-A895-988A-B8F3DCB92F7B}"/>
              </a:ext>
            </a:extLst>
          </p:cNvPr>
          <p:cNvSpPr/>
          <p:nvPr/>
        </p:nvSpPr>
        <p:spPr>
          <a:xfrm>
            <a:off x="1514356" y="163771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Fleet Planning and Capacity Management. Monitor and plan for de-fleeting volumes to manage capacity for inspections, repairs, and remarketing efficiently. Ensure that peak return periods (end of lease contracts) are proactively managed to avoid operational backlogs.</a:t>
            </a:r>
          </a:p>
        </p:txBody>
      </p:sp>
      <p:cxnSp>
        <p:nvCxnSpPr>
          <p:cNvPr id="14" name="Straight Arrow Connector 13">
            <a:extLst>
              <a:ext uri="{FF2B5EF4-FFF2-40B4-BE49-F238E27FC236}">
                <a16:creationId xmlns:a16="http://schemas.microsoft.com/office/drawing/2014/main" id="{6C950B5B-4CCF-4074-5FBC-5A952D0E7B5C}"/>
              </a:ext>
            </a:extLst>
          </p:cNvPr>
          <p:cNvCxnSpPr>
            <a:cxnSpLocks/>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E692EF76-882C-EA09-1727-47EEDA4584B4}"/>
              </a:ext>
            </a:extLst>
          </p:cNvPr>
          <p:cNvSpPr/>
          <p:nvPr/>
        </p:nvSpPr>
        <p:spPr>
          <a:xfrm>
            <a:off x="1514355" y="3915981"/>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Workflow Tool and Process Optimization. Track each vehicle through the de-fleeting process / tool, monitor inspection and reconditioning. Continuously improve de-fleeting processes to minimize turnaround times and operational bottlenecks.</a:t>
            </a:r>
          </a:p>
        </p:txBody>
      </p:sp>
      <p:sp>
        <p:nvSpPr>
          <p:cNvPr id="18" name="Rectangle: Rounded Corners 17">
            <a:extLst>
              <a:ext uri="{FF2B5EF4-FFF2-40B4-BE49-F238E27FC236}">
                <a16:creationId xmlns:a16="http://schemas.microsoft.com/office/drawing/2014/main" id="{9BD6195A-892D-C203-5201-DFDF78C1023E}"/>
              </a:ext>
            </a:extLst>
          </p:cNvPr>
          <p:cNvSpPr/>
          <p:nvPr/>
        </p:nvSpPr>
        <p:spPr>
          <a:xfrm>
            <a:off x="1514354" y="505358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Collaboration with Remarketing Department. Ensure vehicles are ready and accurately documented for the remarketing team to maximize sales opportunities. Provide timely vehicle status updates, including final condition reports and readiness for sale.</a:t>
            </a:r>
          </a:p>
        </p:txBody>
      </p:sp>
      <p:cxnSp>
        <p:nvCxnSpPr>
          <p:cNvPr id="20" name="Straight Arrow Connector 19">
            <a:extLst>
              <a:ext uri="{FF2B5EF4-FFF2-40B4-BE49-F238E27FC236}">
                <a16:creationId xmlns:a16="http://schemas.microsoft.com/office/drawing/2014/main" id="{8BE5483C-5605-D704-AF1C-06A9CBDE41BD}"/>
              </a:ext>
            </a:extLst>
          </p:cNvPr>
          <p:cNvCxnSpPr>
            <a:cxnSpLocks/>
          </p:cNvCxnSpPr>
          <p:nvPr/>
        </p:nvCxnSpPr>
        <p:spPr>
          <a:xfrm>
            <a:off x="5331940" y="4593953"/>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190D80BE-4746-9863-6C31-0B47E05AB6E8}"/>
              </a:ext>
            </a:extLst>
          </p:cNvPr>
          <p:cNvSpPr/>
          <p:nvPr/>
        </p:nvSpPr>
        <p:spPr>
          <a:xfrm>
            <a:off x="1508646" y="6154106"/>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Optimize reconditioning times to reduce stock days. Balance repair costs with expected resale prices to maximize net remarketing value. </a:t>
            </a:r>
          </a:p>
        </p:txBody>
      </p:sp>
      <p:cxnSp>
        <p:nvCxnSpPr>
          <p:cNvPr id="27" name="Straight Arrow Connector 26">
            <a:extLst>
              <a:ext uri="{FF2B5EF4-FFF2-40B4-BE49-F238E27FC236}">
                <a16:creationId xmlns:a16="http://schemas.microsoft.com/office/drawing/2014/main" id="{1C579DC3-FDF2-A7FB-1273-343C4CA4593E}"/>
              </a:ext>
            </a:extLst>
          </p:cNvPr>
          <p:cNvCxnSpPr>
            <a:cxnSpLocks/>
          </p:cNvCxnSpPr>
          <p:nvPr/>
        </p:nvCxnSpPr>
        <p:spPr>
          <a:xfrm>
            <a:off x="5320355" y="5731560"/>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0651FD5B-2D68-39B1-7B2D-73A6FDE370FB}"/>
              </a:ext>
            </a:extLst>
          </p:cNvPr>
          <p:cNvPicPr>
            <a:picLocks noChangeAspect="1"/>
          </p:cNvPicPr>
          <p:nvPr/>
        </p:nvPicPr>
        <p:blipFill>
          <a:blip r:embed="rId3"/>
          <a:stretch>
            <a:fillRect/>
          </a:stretch>
        </p:blipFill>
        <p:spPr>
          <a:xfrm>
            <a:off x="2768895" y="977194"/>
            <a:ext cx="321543" cy="237977"/>
          </a:xfrm>
          <a:prstGeom prst="rect">
            <a:avLst/>
          </a:prstGeom>
        </p:spPr>
      </p:pic>
    </p:spTree>
    <p:extLst>
      <p:ext uri="{BB962C8B-B14F-4D97-AF65-F5344CB8AC3E}">
        <p14:creationId xmlns:p14="http://schemas.microsoft.com/office/powerpoint/2010/main" val="688768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3F88F-8D01-B188-A37F-6BFAFC7F709E}"/>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0741FDB-5A6E-1F09-B01B-607650A52AC7}"/>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CD94D8E5-5D99-22F4-713C-01C0E74ECA1D}"/>
              </a:ext>
            </a:extLst>
          </p:cNvPr>
          <p:cNvPicPr>
            <a:picLocks noChangeAspect="1"/>
          </p:cNvPicPr>
          <p:nvPr/>
        </p:nvPicPr>
        <p:blipFill>
          <a:blip r:embed="rId3"/>
          <a:stretch>
            <a:fillRect/>
          </a:stretch>
        </p:blipFill>
        <p:spPr>
          <a:xfrm>
            <a:off x="2866735" y="1013727"/>
            <a:ext cx="199037" cy="168024"/>
          </a:xfrm>
          <a:prstGeom prst="rect">
            <a:avLst/>
          </a:prstGeom>
        </p:spPr>
      </p:pic>
      <p:cxnSp>
        <p:nvCxnSpPr>
          <p:cNvPr id="54" name="Straight Arrow Connector 53">
            <a:extLst>
              <a:ext uri="{FF2B5EF4-FFF2-40B4-BE49-F238E27FC236}">
                <a16:creationId xmlns:a16="http://schemas.microsoft.com/office/drawing/2014/main" id="{5A6173BE-3D89-6CCA-7AF0-6ACFD7904439}"/>
              </a:ext>
            </a:extLst>
          </p:cNvPr>
          <p:cNvCxnSpPr>
            <a:cxnSpLocks/>
            <a:stCxn id="56" idx="2"/>
            <a:endCxn id="69" idx="0"/>
          </p:cNvCxnSpPr>
          <p:nvPr/>
        </p:nvCxnSpPr>
        <p:spPr>
          <a:xfrm flipH="1">
            <a:off x="5335758" y="1288978"/>
            <a:ext cx="1405"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52A0EC1-9806-C48F-B73A-1973044AE682}"/>
              </a:ext>
            </a:extLst>
          </p:cNvPr>
          <p:cNvSpPr txBox="1"/>
          <p:nvPr/>
        </p:nvSpPr>
        <p:spPr>
          <a:xfrm>
            <a:off x="3211642" y="906501"/>
            <a:ext cx="4251041"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Remarketing Department </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69" name="Rectangle: Rounded Corners 68">
            <a:extLst>
              <a:ext uri="{FF2B5EF4-FFF2-40B4-BE49-F238E27FC236}">
                <a16:creationId xmlns:a16="http://schemas.microsoft.com/office/drawing/2014/main" id="{E70EE03A-DA21-6D62-4181-A9E62A4587C6}"/>
              </a:ext>
            </a:extLst>
          </p:cNvPr>
          <p:cNvSpPr/>
          <p:nvPr/>
        </p:nvSpPr>
        <p:spPr>
          <a:xfrm>
            <a:off x="2838957" y="1636817"/>
            <a:ext cx="4993601" cy="677972"/>
          </a:xfrm>
          <a:prstGeom prst="round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SzPts val="1000"/>
              <a:tabLst>
                <a:tab pos="457200" algn="l"/>
              </a:tabLst>
            </a:pPr>
            <a:r>
              <a:rPr lang="en-US" sz="12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Development of Remarketing Strategy</a:t>
            </a:r>
            <a:endParaRPr lang="el-GR" sz="1200" b="1"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7ABB12A6-C94E-4F38-82D5-4ED2F72A6323}"/>
              </a:ext>
            </a:extLst>
          </p:cNvPr>
          <p:cNvCxnSpPr>
            <a:cxnSpLocks/>
            <a:stCxn id="69" idx="2"/>
          </p:cNvCxnSpPr>
          <p:nvPr/>
        </p:nvCxnSpPr>
        <p:spPr>
          <a:xfrm>
            <a:off x="5335758" y="231478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6" name="Rectangle: Rounded Corners 85">
            <a:extLst>
              <a:ext uri="{FF2B5EF4-FFF2-40B4-BE49-F238E27FC236}">
                <a16:creationId xmlns:a16="http://schemas.microsoft.com/office/drawing/2014/main" id="{3E9475E3-8A48-5D5D-1019-A0DA2B3D4D35}"/>
              </a:ext>
            </a:extLst>
          </p:cNvPr>
          <p:cNvSpPr/>
          <p:nvPr/>
        </p:nvSpPr>
        <p:spPr>
          <a:xfrm>
            <a:off x="1518170" y="275102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Define the optimal mix of channels: Wholesale (dealers, traders), Retail (direct to consumer), Online auctions and B2B </a:t>
            </a: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 / B2C </a:t>
            </a: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platforms, partnerships with rental companies and fleet resellers.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274768C6-90FD-8F5E-A683-BDC479C854F5}"/>
              </a:ext>
            </a:extLst>
          </p:cNvPr>
          <p:cNvCxnSpPr>
            <a:cxnSpLocks/>
          </p:cNvCxnSpPr>
          <p:nvPr/>
        </p:nvCxnSpPr>
        <p:spPr>
          <a:xfrm>
            <a:off x="5335758" y="3429001"/>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0310AB7A-6BB7-D72C-71F1-0168992C89B6}"/>
              </a:ext>
            </a:extLst>
          </p:cNvPr>
          <p:cNvSpPr/>
          <p:nvPr/>
        </p:nvSpPr>
        <p:spPr>
          <a:xfrm>
            <a:off x="1518170" y="3865240"/>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spcAft>
                <a:spcPts val="800"/>
              </a:spcAft>
              <a:buSzPts val="1000"/>
              <a:tabLst>
                <a:tab pos="457200" algn="l"/>
              </a:tabLst>
            </a:pPr>
            <a:r>
              <a:rPr lang="en-US" sz="1200" kern="100" dirty="0">
                <a:solidFill>
                  <a:srgbClr val="0F172A"/>
                </a:solidFill>
                <a:latin typeface="Aptos" panose="020B0004020202020204" pitchFamily="34" charset="0"/>
                <a:cs typeface="Times New Roman" panose="02020603050405020304" pitchFamily="18" charset="0"/>
              </a:rPr>
              <a:t>Sales Channel Management. Build and maintain a network of buyers including dealers, auction houses, corporate clients, and end customers. Negotiate commercial agreements with key sales channels to ensure consistent volume and competitive resale prices.</a:t>
            </a:r>
            <a:endParaRPr lang="el-GR" sz="1200" kern="100" dirty="0">
              <a:solidFill>
                <a:srgbClr val="0F172A"/>
              </a:solidFill>
              <a:latin typeface="Aptos" panose="020B000402020202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22FC9A3B-28B3-EB1A-546C-D36492B20662}"/>
              </a:ext>
            </a:extLst>
          </p:cNvPr>
          <p:cNvCxnSpPr>
            <a:cxnSpLocks/>
          </p:cNvCxnSpPr>
          <p:nvPr/>
        </p:nvCxnSpPr>
        <p:spPr>
          <a:xfrm>
            <a:off x="5335759" y="4549518"/>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7B47BAAB-D664-F553-56E8-06C907086E49}"/>
              </a:ext>
            </a:extLst>
          </p:cNvPr>
          <p:cNvSpPr/>
          <p:nvPr/>
        </p:nvSpPr>
        <p:spPr>
          <a:xfrm>
            <a:off x="1518171" y="4985757"/>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Pricing and Sales Preparation. Set vehicle sale pricing guidelines based on: Residual value (RV) targets, market prices, trends and comparable vehicle listings, vehicle condition and mileage. Coordinate with the De-Fleeting Department to ensure all vehicles are properly prepared, cleaned, and documented for sale.</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515F5DB9-445A-0236-5B70-D65036D707E0}"/>
              </a:ext>
            </a:extLst>
          </p:cNvPr>
          <p:cNvCxnSpPr>
            <a:cxnSpLocks/>
          </p:cNvCxnSpPr>
          <p:nvPr/>
        </p:nvCxnSpPr>
        <p:spPr>
          <a:xfrm>
            <a:off x="5335759" y="5663729"/>
            <a:ext cx="0" cy="457908"/>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5334A8D7-5707-E14E-342E-DBB71C139AA1}"/>
              </a:ext>
            </a:extLst>
          </p:cNvPr>
          <p:cNvSpPr/>
          <p:nvPr/>
        </p:nvSpPr>
        <p:spPr>
          <a:xfrm>
            <a:off x="1518171" y="6099968"/>
            <a:ext cx="7635173" cy="6779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15000"/>
              </a:lnSpc>
              <a:spcAft>
                <a:spcPts val="800"/>
              </a:spcAft>
              <a:buSzPts val="1000"/>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Compliance and Contract Management. Ensure all sales transactions comply with legal, tax, and regulatory requirements. Manage contracts and payment terms with dealers and other remarketing partners.</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5328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B2EF9-212B-4CD6-E540-3CBB9FAD739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8544A4D-AB8F-8528-ACC1-E9745C2DFC79}"/>
              </a:ext>
            </a:extLst>
          </p:cNvPr>
          <p:cNvSpPr>
            <a:spLocks noGrp="1"/>
          </p:cNvSpPr>
          <p:nvPr>
            <p:ph type="title"/>
          </p:nvPr>
        </p:nvSpPr>
        <p:spPr>
          <a:xfrm>
            <a:off x="15418" y="325974"/>
            <a:ext cx="10113818" cy="306475"/>
          </a:xfrm>
        </p:spPr>
        <p:txBody>
          <a:bodyPr>
            <a:normAutofit fontScale="90000"/>
          </a:bodyPr>
          <a:lstStyle/>
          <a:p>
            <a:r>
              <a:rPr lang="en-US" sz="1600" b="1" kern="0" dirty="0">
                <a:solidFill>
                  <a:srgbClr val="0F172A"/>
                </a:solidFill>
                <a:latin typeface="Arial" panose="020B0604020202020204" pitchFamily="34" charset="0"/>
                <a:cs typeface="Times New Roman" panose="02020603050405020304" pitchFamily="18" charset="0"/>
              </a:rPr>
              <a:t>Operating</a:t>
            </a:r>
            <a:r>
              <a:rPr lang="en-US" sz="18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 Lease </a:t>
            </a:r>
            <a:r>
              <a:rPr lang="en-US" sz="1600" b="1" kern="0" dirty="0">
                <a:solidFill>
                  <a:srgbClr val="0F172A"/>
                </a:solidFill>
                <a:latin typeface="Arial" panose="020B0604020202020204" pitchFamily="34" charset="0"/>
                <a:cs typeface="Times New Roman" panose="02020603050405020304" pitchFamily="18" charset="0"/>
              </a:rPr>
              <a:t>functional structure </a:t>
            </a:r>
            <a:endParaRPr lang="el-GR" sz="1600" b="1" kern="0" dirty="0">
              <a:solidFill>
                <a:srgbClr val="0F172A"/>
              </a:solidFill>
              <a:latin typeface="Arial" panose="020B06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62604C38-C982-3F22-8904-82A92CFD6CF8}"/>
              </a:ext>
            </a:extLst>
          </p:cNvPr>
          <p:cNvPicPr>
            <a:picLocks noChangeAspect="1"/>
          </p:cNvPicPr>
          <p:nvPr/>
        </p:nvPicPr>
        <p:blipFill>
          <a:blip r:embed="rId3"/>
          <a:stretch>
            <a:fillRect/>
          </a:stretch>
        </p:blipFill>
        <p:spPr>
          <a:xfrm>
            <a:off x="2866735" y="1013727"/>
            <a:ext cx="199037" cy="168024"/>
          </a:xfrm>
          <a:prstGeom prst="rect">
            <a:avLst/>
          </a:prstGeom>
        </p:spPr>
      </p:pic>
      <p:cxnSp>
        <p:nvCxnSpPr>
          <p:cNvPr id="54" name="Straight Arrow Connector 53">
            <a:extLst>
              <a:ext uri="{FF2B5EF4-FFF2-40B4-BE49-F238E27FC236}">
                <a16:creationId xmlns:a16="http://schemas.microsoft.com/office/drawing/2014/main" id="{C4702275-9B5E-3D44-CC27-9B696357512B}"/>
              </a:ext>
            </a:extLst>
          </p:cNvPr>
          <p:cNvCxnSpPr>
            <a:cxnSpLocks/>
            <a:stCxn id="56" idx="2"/>
          </p:cNvCxnSpPr>
          <p:nvPr/>
        </p:nvCxnSpPr>
        <p:spPr>
          <a:xfrm flipH="1">
            <a:off x="5335758" y="1288978"/>
            <a:ext cx="1405" cy="347839"/>
          </a:xfrm>
          <a:prstGeom prst="straightConnector1">
            <a:avLst/>
          </a:prstGeom>
          <a:ln w="19050">
            <a:solidFill>
              <a:srgbClr val="224A9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AD06210-D042-1585-7E03-14AA693DB07B}"/>
              </a:ext>
            </a:extLst>
          </p:cNvPr>
          <p:cNvSpPr txBox="1"/>
          <p:nvPr/>
        </p:nvSpPr>
        <p:spPr>
          <a:xfrm>
            <a:off x="3211642" y="906501"/>
            <a:ext cx="4251041"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latin typeface="Arial" panose="020B0604020202020204" pitchFamily="34" charset="0"/>
                <a:ea typeface="Times New Roman" panose="02020603050405020304" pitchFamily="18" charset="0"/>
                <a:cs typeface="Times New Roman" panose="02020603050405020304" pitchFamily="18" charset="0"/>
              </a:rPr>
              <a:t>Other </a:t>
            </a:r>
            <a:r>
              <a:rPr lang="en-US" sz="1400" b="1" kern="0" dirty="0">
                <a:solidFill>
                  <a:srgbClr val="0F172A"/>
                </a:solidFill>
                <a:effectLst/>
                <a:latin typeface="Arial" panose="020B0604020202020204" pitchFamily="34" charset="0"/>
                <a:ea typeface="Times New Roman" panose="02020603050405020304" pitchFamily="18" charset="0"/>
                <a:cs typeface="Times New Roman" panose="02020603050405020304" pitchFamily="18" charset="0"/>
              </a:rPr>
              <a:t>Departments  </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sp>
        <p:nvSpPr>
          <p:cNvPr id="2" name="Rectangle: Rounded Corners 1">
            <a:extLst>
              <a:ext uri="{FF2B5EF4-FFF2-40B4-BE49-F238E27FC236}">
                <a16:creationId xmlns:a16="http://schemas.microsoft.com/office/drawing/2014/main" id="{813F252A-57FC-1F26-6CD1-004BBB4DE95E}"/>
              </a:ext>
            </a:extLst>
          </p:cNvPr>
          <p:cNvSpPr/>
          <p:nvPr/>
        </p:nvSpPr>
        <p:spPr>
          <a:xfrm>
            <a:off x="1508645" y="1636816"/>
            <a:ext cx="7635173" cy="179218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0" indent="-171450">
              <a:lnSpc>
                <a:spcPct val="115000"/>
              </a:lnSpc>
              <a:spcAft>
                <a:spcPts val="800"/>
              </a:spcAft>
              <a:buSzPts val="1000"/>
              <a:buFont typeface="Wingdings" panose="05000000000000000000" pitchFamily="2" charset="2"/>
              <a:buChar char="q"/>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Dealers Sales – team to sell the product – staff the current dept.</a:t>
            </a:r>
          </a:p>
          <a:p>
            <a:pPr marL="171450" lvl="0" indent="-171450">
              <a:lnSpc>
                <a:spcPct val="115000"/>
              </a:lnSpc>
              <a:spcAft>
                <a:spcPts val="800"/>
              </a:spcAft>
              <a:buSzPts val="1000"/>
              <a:buFont typeface="Wingdings" panose="05000000000000000000" pitchFamily="2" charset="2"/>
              <a:buChar char="q"/>
              <a:tabLst>
                <a:tab pos="457200" algn="l"/>
              </a:tabLst>
            </a:pP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SMEs Sales </a:t>
            </a: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 team to sell the product – staff the current dept.</a:t>
            </a:r>
          </a:p>
          <a:p>
            <a:pPr marL="171450" lvl="0" indent="-171450">
              <a:lnSpc>
                <a:spcPct val="115000"/>
              </a:lnSpc>
              <a:spcAft>
                <a:spcPts val="800"/>
              </a:spcAft>
              <a:buSzPts val="1000"/>
              <a:buFont typeface="Wingdings" panose="05000000000000000000" pitchFamily="2" charset="2"/>
              <a:buChar char="q"/>
              <a:tabLst>
                <a:tab pos="457200" algn="l"/>
              </a:tabLst>
            </a:pP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Credit Policy / underwriting process – staff the current dept.</a:t>
            </a:r>
          </a:p>
          <a:p>
            <a:pPr marL="171450" lvl="0" indent="-171450">
              <a:lnSpc>
                <a:spcPct val="115000"/>
              </a:lnSpc>
              <a:spcAft>
                <a:spcPts val="800"/>
              </a:spcAft>
              <a:buSzPts val="1000"/>
              <a:buFont typeface="Wingdings" panose="05000000000000000000" pitchFamily="2" charset="2"/>
              <a:buChar char="q"/>
              <a:tabLst>
                <a:tab pos="457200" algn="l"/>
              </a:tabLst>
            </a:pP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Accounting – Invoicing, payments, customer charges </a:t>
            </a: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 staff the current dept.</a:t>
            </a: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 </a:t>
            </a:r>
            <a:endPar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a:p>
            <a:pPr marL="171450" lvl="0" indent="-171450">
              <a:lnSpc>
                <a:spcPct val="115000"/>
              </a:lnSpc>
              <a:spcAft>
                <a:spcPts val="800"/>
              </a:spcAft>
              <a:buSzPts val="1000"/>
              <a:buFont typeface="Wingdings" panose="05000000000000000000" pitchFamily="2" charset="2"/>
              <a:buChar char="q"/>
              <a:tabLst>
                <a:tab pos="457200" algn="l"/>
              </a:tabLst>
            </a:pPr>
            <a:r>
              <a:rPr lang="en-US" sz="1200" kern="100" dirty="0">
                <a:solidFill>
                  <a:srgbClr val="0F172A"/>
                </a:solidFill>
                <a:latin typeface="Aptos" panose="020B0004020202020204" pitchFamily="34" charset="0"/>
                <a:ea typeface="Aptos" panose="020B0004020202020204" pitchFamily="34" charset="0"/>
                <a:cs typeface="Times New Roman" panose="02020603050405020304" pitchFamily="18" charset="0"/>
              </a:rPr>
              <a:t>Collection / Legal – I guess this is for </a:t>
            </a:r>
            <a:r>
              <a:rPr lang="en-US" sz="1200" kern="100" dirty="0" err="1">
                <a:solidFill>
                  <a:srgbClr val="0F172A"/>
                </a:solidFill>
                <a:latin typeface="Aptos" panose="020B0004020202020204" pitchFamily="34" charset="0"/>
                <a:ea typeface="Aptos" panose="020B0004020202020204" pitchFamily="34" charset="0"/>
                <a:cs typeface="Times New Roman" panose="02020603050405020304" pitchFamily="18" charset="0"/>
              </a:rPr>
              <a:t>doValue</a:t>
            </a:r>
            <a:r>
              <a:rPr lang="en-US"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rPr>
              <a:t> (Asset repossession and debt recoveries). </a:t>
            </a:r>
            <a:endParaRPr lang="el-GR" sz="1200" kern="100" dirty="0">
              <a:solidFill>
                <a:srgbClr val="0F172A"/>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689B7B93-5AF4-E954-1545-EB8C0AAEDEA5}"/>
              </a:ext>
            </a:extLst>
          </p:cNvPr>
          <p:cNvSpPr txBox="1"/>
          <p:nvPr/>
        </p:nvSpPr>
        <p:spPr>
          <a:xfrm>
            <a:off x="1875503" y="4433366"/>
            <a:ext cx="6110748" cy="1477328"/>
          </a:xfrm>
          <a:prstGeom prst="rect">
            <a:avLst/>
          </a:prstGeom>
          <a:noFill/>
        </p:spPr>
        <p:txBody>
          <a:bodyPr wrap="square">
            <a:spAutoFit/>
          </a:bodyPr>
          <a:lstStyle/>
          <a:p>
            <a:r>
              <a:rPr lang="en-US" dirty="0"/>
              <a:t>SALES	                    6</a:t>
            </a:r>
          </a:p>
          <a:p>
            <a:r>
              <a:rPr lang="en-US" dirty="0"/>
              <a:t>CREDIT	                    2</a:t>
            </a:r>
          </a:p>
          <a:p>
            <a:r>
              <a:rPr lang="en-US" dirty="0"/>
              <a:t>INSURANCE  	2 </a:t>
            </a:r>
            <a:r>
              <a:rPr lang="en-US" dirty="0">
                <a:sym typeface="Wingdings" panose="05000000000000000000" pitchFamily="2" charset="2"/>
              </a:rPr>
              <a:t> outsourced (market practice)</a:t>
            </a:r>
            <a:endParaRPr lang="en-US" dirty="0"/>
          </a:p>
          <a:p>
            <a:r>
              <a:rPr lang="en-US" dirty="0"/>
              <a:t>ACCOUNTING	4</a:t>
            </a:r>
          </a:p>
          <a:p>
            <a:r>
              <a:rPr lang="en-US" dirty="0"/>
              <a:t>COLLECTION	2</a:t>
            </a:r>
          </a:p>
        </p:txBody>
      </p:sp>
      <p:sp>
        <p:nvSpPr>
          <p:cNvPr id="6" name="TextBox 5">
            <a:extLst>
              <a:ext uri="{FF2B5EF4-FFF2-40B4-BE49-F238E27FC236}">
                <a16:creationId xmlns:a16="http://schemas.microsoft.com/office/drawing/2014/main" id="{0D97081A-B5F0-5F17-B65F-4DA138D25FC6}"/>
              </a:ext>
            </a:extLst>
          </p:cNvPr>
          <p:cNvSpPr txBox="1"/>
          <p:nvPr/>
        </p:nvSpPr>
        <p:spPr>
          <a:xfrm>
            <a:off x="1618819" y="4050889"/>
            <a:ext cx="2795866" cy="382477"/>
          </a:xfrm>
          <a:prstGeom prst="rect">
            <a:avLst/>
          </a:prstGeom>
          <a:noFill/>
          <a:ln w="28575">
            <a:solidFill>
              <a:srgbClr val="002060"/>
            </a:solidFill>
            <a:prstDash val="solid"/>
          </a:ln>
          <a:effectLst/>
        </p:spPr>
        <p:txBody>
          <a:bodyPr wrap="square">
            <a:spAutoFit/>
          </a:bodyPr>
          <a:lstStyle/>
          <a:p>
            <a:pPr algn="ctr">
              <a:lnSpc>
                <a:spcPct val="150000"/>
              </a:lnSpc>
              <a:defRPr/>
            </a:pPr>
            <a:r>
              <a:rPr lang="en-US" sz="1400" b="1" kern="0" dirty="0">
                <a:solidFill>
                  <a:srgbClr val="0F172A"/>
                </a:solidFill>
                <a:latin typeface="Arial" panose="020B0604020202020204" pitchFamily="34" charset="0"/>
                <a:ea typeface="Times New Roman" panose="02020603050405020304" pitchFamily="18" charset="0"/>
                <a:cs typeface="Times New Roman" panose="02020603050405020304" pitchFamily="18" charset="0"/>
              </a:rPr>
              <a:t> Dept.                           FTEs </a:t>
            </a:r>
            <a:endParaRPr kumimoji="0" lang="en-US" sz="1400" b="0" i="0" u="none" strike="noStrike" kern="1200" cap="none" spc="0" normalizeH="0" baseline="0" noProof="0" dirty="0">
              <a:ln>
                <a:noFill/>
              </a:ln>
              <a:solidFill>
                <a:srgbClr val="021342"/>
              </a:solidFill>
              <a:effectLst/>
              <a:uLnTx/>
              <a:uFillTx/>
              <a:latin typeface="+mj-lt"/>
              <a:ea typeface="+mn-ea"/>
              <a:cs typeface="+mn-cs"/>
            </a:endParaRPr>
          </a:p>
        </p:txBody>
      </p:sp>
      <p:cxnSp>
        <p:nvCxnSpPr>
          <p:cNvPr id="7" name="Straight Connector 6">
            <a:extLst>
              <a:ext uri="{FF2B5EF4-FFF2-40B4-BE49-F238E27FC236}">
                <a16:creationId xmlns:a16="http://schemas.microsoft.com/office/drawing/2014/main" id="{71C41AF6-C3A8-DA98-7969-1C98505C8E00}"/>
              </a:ext>
            </a:extLst>
          </p:cNvPr>
          <p:cNvCxnSpPr>
            <a:cxnSpLocks/>
          </p:cNvCxnSpPr>
          <p:nvPr/>
        </p:nvCxnSpPr>
        <p:spPr>
          <a:xfrm>
            <a:off x="3462825" y="6028617"/>
            <a:ext cx="671986"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8" name="Flowchart: Connector 7">
            <a:extLst>
              <a:ext uri="{FF2B5EF4-FFF2-40B4-BE49-F238E27FC236}">
                <a16:creationId xmlns:a16="http://schemas.microsoft.com/office/drawing/2014/main" id="{EAE05DBE-85F2-14D3-8E62-FD5136CA27B2}"/>
              </a:ext>
            </a:extLst>
          </p:cNvPr>
          <p:cNvSpPr/>
          <p:nvPr/>
        </p:nvSpPr>
        <p:spPr>
          <a:xfrm>
            <a:off x="3462825" y="6293171"/>
            <a:ext cx="671986" cy="4069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16</a:t>
            </a:r>
            <a:endParaRPr lang="el-GR" dirty="0"/>
          </a:p>
        </p:txBody>
      </p:sp>
      <p:sp>
        <p:nvSpPr>
          <p:cNvPr id="9" name="Flowchart: Connector 8">
            <a:extLst>
              <a:ext uri="{FF2B5EF4-FFF2-40B4-BE49-F238E27FC236}">
                <a16:creationId xmlns:a16="http://schemas.microsoft.com/office/drawing/2014/main" id="{0A857A2A-747C-89BA-35A2-361FDD29DF60}"/>
              </a:ext>
            </a:extLst>
          </p:cNvPr>
          <p:cNvSpPr/>
          <p:nvPr/>
        </p:nvSpPr>
        <p:spPr>
          <a:xfrm>
            <a:off x="4594884" y="6293170"/>
            <a:ext cx="671986" cy="4069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19</a:t>
            </a:r>
            <a:endParaRPr lang="el-GR" dirty="0"/>
          </a:p>
        </p:txBody>
      </p:sp>
      <p:pic>
        <p:nvPicPr>
          <p:cNvPr id="12" name="Graphic 11" descr="Badge Follow with solid fill">
            <a:extLst>
              <a:ext uri="{FF2B5EF4-FFF2-40B4-BE49-F238E27FC236}">
                <a16:creationId xmlns:a16="http://schemas.microsoft.com/office/drawing/2014/main" id="{9F42EBB8-D44E-04C2-06F6-4A3C991EEE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64307" y="6293170"/>
            <a:ext cx="389389" cy="389389"/>
          </a:xfrm>
          <a:prstGeom prst="rect">
            <a:avLst/>
          </a:prstGeom>
        </p:spPr>
      </p:pic>
      <p:pic>
        <p:nvPicPr>
          <p:cNvPr id="14" name="Picture 13">
            <a:extLst>
              <a:ext uri="{FF2B5EF4-FFF2-40B4-BE49-F238E27FC236}">
                <a16:creationId xmlns:a16="http://schemas.microsoft.com/office/drawing/2014/main" id="{EDCC9D4E-8B94-B095-BF2F-8B362328DD68}"/>
              </a:ext>
            </a:extLst>
          </p:cNvPr>
          <p:cNvPicPr>
            <a:picLocks noChangeAspect="1"/>
          </p:cNvPicPr>
          <p:nvPr/>
        </p:nvPicPr>
        <p:blipFill>
          <a:blip r:embed="rId6"/>
          <a:stretch>
            <a:fillRect/>
          </a:stretch>
        </p:blipFill>
        <p:spPr>
          <a:xfrm>
            <a:off x="5366744" y="6361017"/>
            <a:ext cx="360199" cy="271261"/>
          </a:xfrm>
          <a:prstGeom prst="rect">
            <a:avLst/>
          </a:prstGeom>
        </p:spPr>
      </p:pic>
      <p:sp>
        <p:nvSpPr>
          <p:cNvPr id="15" name="Flowchart: Connector 14">
            <a:extLst>
              <a:ext uri="{FF2B5EF4-FFF2-40B4-BE49-F238E27FC236}">
                <a16:creationId xmlns:a16="http://schemas.microsoft.com/office/drawing/2014/main" id="{8C2DB880-8732-4AEA-80E5-0597EBAF6104}"/>
              </a:ext>
            </a:extLst>
          </p:cNvPr>
          <p:cNvSpPr/>
          <p:nvPr/>
        </p:nvSpPr>
        <p:spPr>
          <a:xfrm>
            <a:off x="5793073" y="6275602"/>
            <a:ext cx="671986" cy="406957"/>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35</a:t>
            </a:r>
            <a:endParaRPr lang="el-GR" dirty="0"/>
          </a:p>
        </p:txBody>
      </p:sp>
    </p:spTree>
    <p:extLst>
      <p:ext uri="{BB962C8B-B14F-4D97-AF65-F5344CB8AC3E}">
        <p14:creationId xmlns:p14="http://schemas.microsoft.com/office/powerpoint/2010/main" val="2538507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5893</TotalTime>
  <Words>1464</Words>
  <Application>Microsoft Office PowerPoint</Application>
  <PresentationFormat>Widescreen</PresentationFormat>
  <Paragraphs>113</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Calibri</vt:lpstr>
      <vt:lpstr>Eurobank Sans</vt:lpstr>
      <vt:lpstr>Wingdings</vt:lpstr>
      <vt:lpstr>Office Theme</vt:lpstr>
      <vt:lpstr>PowerPoint Presentation</vt:lpstr>
      <vt:lpstr>Operating Lease functional structure </vt:lpstr>
      <vt:lpstr>Operating Lease functional structure </vt:lpstr>
      <vt:lpstr>Operating Lease functional structure </vt:lpstr>
      <vt:lpstr>Operating Lease functional structure </vt:lpstr>
      <vt:lpstr>Operating Lease functional structure </vt:lpstr>
      <vt:lpstr>Operating Lease functional structure </vt:lpstr>
      <vt:lpstr>Operating Lease functional structure </vt:lpstr>
      <vt:lpstr>Operating Lease functional structure </vt:lpstr>
      <vt:lpstr>Operating Lease functional structure </vt:lpstr>
      <vt:lpstr>Operating Lease functional structure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Pouloupatis Vassileios</dc:creator>
  <cp:lastModifiedBy>Pouloupatis Vassileios</cp:lastModifiedBy>
  <cp:revision>95</cp:revision>
  <dcterms:created xsi:type="dcterms:W3CDTF">2025-06-30T08:58:49Z</dcterms:created>
  <dcterms:modified xsi:type="dcterms:W3CDTF">2025-07-18T09:22:49Z</dcterms:modified>
</cp:coreProperties>
</file>