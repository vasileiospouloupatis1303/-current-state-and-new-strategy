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256" r:id="rId2"/>
    <p:sldId id="269" r:id="rId3"/>
    <p:sldId id="272" r:id="rId4"/>
    <p:sldId id="270" r:id="rId5"/>
    <p:sldId id="271" r:id="rId6"/>
  </p:sldIdLst>
  <p:sldSz cx="9144000" cy="6858000" type="screen4x3"/>
  <p:notesSz cx="6864350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0B2E1C-19AC-4ED3-807D-CA8645FFC6CF}">
          <p14:sldIdLst>
            <p14:sldId id="256"/>
            <p14:sldId id="269"/>
            <p14:sldId id="272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7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ient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86437" autoAdjust="0"/>
  </p:normalViewPr>
  <p:slideViewPr>
    <p:cSldViewPr>
      <p:cViewPr varScale="1">
        <p:scale>
          <a:sx n="71" d="100"/>
          <a:sy n="71" d="100"/>
        </p:scale>
        <p:origin x="19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3972" y="-102"/>
      </p:cViewPr>
      <p:guideLst>
        <p:guide orient="horz" pos="3147"/>
        <p:guide pos="216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4975" cy="5017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7789" y="0"/>
            <a:ext cx="2974975" cy="5017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F3F21-DE40-42DA-9916-D1C1F61A41EF}" type="datetimeFigureOut">
              <a:rPr lang="el-GR" smtClean="0"/>
              <a:t>5/8/2025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94758"/>
            <a:ext cx="2974975" cy="5017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7789" y="9494758"/>
            <a:ext cx="2974975" cy="5017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32869-37F4-4275-9594-5A248F7704D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335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5300" cy="500384"/>
          </a:xfrm>
          <a:prstGeom prst="rect">
            <a:avLst/>
          </a:prstGeom>
        </p:spPr>
        <p:txBody>
          <a:bodyPr vert="horz" lIns="92172" tIns="46086" rIns="92172" bIns="46086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7448" y="1"/>
            <a:ext cx="2975300" cy="500384"/>
          </a:xfrm>
          <a:prstGeom prst="rect">
            <a:avLst/>
          </a:prstGeom>
        </p:spPr>
        <p:txBody>
          <a:bodyPr vert="horz" lIns="92172" tIns="46086" rIns="92172" bIns="46086" rtlCol="0"/>
          <a:lstStyle>
            <a:lvl1pPr algn="r">
              <a:defRPr sz="1200"/>
            </a:lvl1pPr>
          </a:lstStyle>
          <a:p>
            <a:fld id="{21808367-97B6-4915-9C57-DF21183E0AD7}" type="datetimeFigureOut">
              <a:rPr lang="el-GR" smtClean="0"/>
              <a:t>5/8/2025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9300"/>
            <a:ext cx="4997450" cy="3748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72" tIns="46086" rIns="92172" bIns="46086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6116" y="4748053"/>
            <a:ext cx="5492121" cy="4498660"/>
          </a:xfrm>
          <a:prstGeom prst="rect">
            <a:avLst/>
          </a:prstGeom>
        </p:spPr>
        <p:txBody>
          <a:bodyPr vert="horz" lIns="92172" tIns="46086" rIns="92172" bIns="46086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9494507"/>
            <a:ext cx="2975300" cy="500383"/>
          </a:xfrm>
          <a:prstGeom prst="rect">
            <a:avLst/>
          </a:prstGeom>
        </p:spPr>
        <p:txBody>
          <a:bodyPr vert="horz" lIns="92172" tIns="46086" rIns="92172" bIns="46086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7448" y="9494507"/>
            <a:ext cx="2975300" cy="500383"/>
          </a:xfrm>
          <a:prstGeom prst="rect">
            <a:avLst/>
          </a:prstGeom>
        </p:spPr>
        <p:txBody>
          <a:bodyPr vert="horz" lIns="92172" tIns="46086" rIns="92172" bIns="46086" rtlCol="0" anchor="b"/>
          <a:lstStyle>
            <a:lvl1pPr algn="r">
              <a:defRPr sz="1200"/>
            </a:lvl1pPr>
          </a:lstStyle>
          <a:p>
            <a:fld id="{094B456B-2215-4B17-BE81-B9579F86957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3392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AC18-A13A-49D2-8322-1FAAF69C2756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3AB-4F1F-4079-B2C3-FC0C576C081E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62845-A82E-49E2-BF75-84262D16FDA3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DAB3-C6F8-4BF9-AA41-26CE49100089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BE36-D045-4F67-8090-60192213616F}" type="datetime1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5B42-54C9-4B00-97C2-F053E9E850C1}" type="datetime1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D033-34AE-407C-A2A3-7165CFFA14D7}" type="datetime1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FE38-7558-4E5C-8577-151CE20BC3E4}" type="datetime1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DE626-5561-4B92-80D4-16EA14C0E31D}" type="datetime1">
              <a:rPr lang="en-US" smtClean="0"/>
              <a:t>8/5/2025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701BC-86C1-478D-84FC-5EE1D978BC9E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37F1-75FF-4988-9B43-01912D5D8DDC}" type="datetime1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FA1B775-78A2-4AA7-9B67-B7C587B8C8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C6768DF-4E76-4745-93DA-E41CDCF51706}" type="datetime1">
              <a:rPr lang="en-US" smtClean="0"/>
              <a:t>8/5/2025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362200"/>
            <a:ext cx="723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Procedure and Costs for Car Repossession</a:t>
            </a:r>
            <a:endParaRPr lang="el-GR" sz="2000" b="1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14487" y="272153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l-GR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5541009"/>
            <a:ext cx="175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2"/>
                </a:solidFill>
              </a:rPr>
              <a:t>January 2019</a:t>
            </a:r>
            <a:endParaRPr lang="en-US" sz="1600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262457"/>
            <a:ext cx="3155736" cy="63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9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4" y="161529"/>
            <a:ext cx="7924800" cy="485660"/>
          </a:xfrm>
        </p:spPr>
        <p:txBody>
          <a:bodyPr/>
          <a:lstStyle/>
          <a:p>
            <a:r>
              <a:rPr lang="en-US" sz="2000" b="1" dirty="0"/>
              <a:t>Legal Actions before car repossession</a:t>
            </a:r>
            <a:endParaRPr lang="el-GR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Στρογγυλεμένο ορθογώνιο 2"/>
          <p:cNvSpPr/>
          <p:nvPr/>
        </p:nvSpPr>
        <p:spPr>
          <a:xfrm>
            <a:off x="160117" y="1087355"/>
            <a:ext cx="1981200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Termination of Contract / issuing of extrajudicial letter and notification of the debtor through bailiff</a:t>
            </a:r>
            <a:endParaRPr lang="el-GR" sz="1200" dirty="0"/>
          </a:p>
        </p:txBody>
      </p:sp>
      <p:cxnSp>
        <p:nvCxnSpPr>
          <p:cNvPr id="7" name="Ευθύγραμμο βέλος σύνδεσης 6"/>
          <p:cNvCxnSpPr/>
          <p:nvPr/>
        </p:nvCxnSpPr>
        <p:spPr>
          <a:xfrm>
            <a:off x="2254217" y="1524000"/>
            <a:ext cx="1371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Στρογγυλεμένο ορθογώνιο 9"/>
          <p:cNvSpPr/>
          <p:nvPr/>
        </p:nvSpPr>
        <p:spPr>
          <a:xfrm>
            <a:off x="2362199" y="744307"/>
            <a:ext cx="1179897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Max 1 – 2 weeks 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11" name="Στρογγυλεμένο ορθογώνιο 10"/>
          <p:cNvSpPr/>
          <p:nvPr/>
        </p:nvSpPr>
        <p:spPr>
          <a:xfrm>
            <a:off x="2362199" y="1647425"/>
            <a:ext cx="1179897" cy="7086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10</a:t>
            </a:r>
            <a:r>
              <a:rPr lang="el-GR" sz="1200" dirty="0">
                <a:solidFill>
                  <a:schemeClr val="bg1"/>
                </a:solidFill>
              </a:rPr>
              <a:t>€ </a:t>
            </a:r>
            <a:r>
              <a:rPr lang="en-US" sz="1200" dirty="0">
                <a:solidFill>
                  <a:schemeClr val="bg1"/>
                </a:solidFill>
              </a:rPr>
              <a:t>for issuing + bailiff’s servicing expenses *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12" name="Στρογγυλεμένο ορθογώνιο 11"/>
          <p:cNvSpPr/>
          <p:nvPr/>
        </p:nvSpPr>
        <p:spPr>
          <a:xfrm>
            <a:off x="3905454" y="1100735"/>
            <a:ext cx="1885348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Filling a Lawsuit / Servicing of Lawsuit (through bailiff)</a:t>
            </a:r>
            <a:endParaRPr lang="el-GR" sz="1200" dirty="0"/>
          </a:p>
        </p:txBody>
      </p:sp>
      <p:cxnSp>
        <p:nvCxnSpPr>
          <p:cNvPr id="15" name="Ευθεία γραμμή σύνδεσης 14"/>
          <p:cNvCxnSpPr/>
          <p:nvPr/>
        </p:nvCxnSpPr>
        <p:spPr>
          <a:xfrm>
            <a:off x="5929162" y="1557935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Ευθύγραμμο βέλος σύνδεσης 17"/>
          <p:cNvCxnSpPr/>
          <p:nvPr/>
        </p:nvCxnSpPr>
        <p:spPr>
          <a:xfrm>
            <a:off x="7459579" y="1546205"/>
            <a:ext cx="0" cy="16058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Στρογγυλεμένο ορθογώνιο 22"/>
          <p:cNvSpPr/>
          <p:nvPr/>
        </p:nvSpPr>
        <p:spPr>
          <a:xfrm>
            <a:off x="5972876" y="740892"/>
            <a:ext cx="1179897" cy="6858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Max 30 days from Lawsuit filling date</a:t>
            </a:r>
            <a:endParaRPr lang="el-GR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24" name="Στρογγυλεμένο ορθογώνιο 23"/>
          <p:cNvSpPr/>
          <p:nvPr/>
        </p:nvSpPr>
        <p:spPr>
          <a:xfrm>
            <a:off x="5985710" y="1670730"/>
            <a:ext cx="1179897" cy="70866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89</a:t>
            </a:r>
            <a:r>
              <a:rPr lang="el-GR" sz="1200" dirty="0">
                <a:solidFill>
                  <a:schemeClr val="bg1"/>
                </a:solidFill>
              </a:rPr>
              <a:t>€ </a:t>
            </a:r>
            <a:r>
              <a:rPr lang="en-US" sz="1200" dirty="0">
                <a:solidFill>
                  <a:schemeClr val="bg1"/>
                </a:solidFill>
              </a:rPr>
              <a:t>for filling + bailiff’s servicing expenses 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27" name="Στρογγυλεμένο ορθογώνιο 26"/>
          <p:cNvSpPr/>
          <p:nvPr/>
        </p:nvSpPr>
        <p:spPr>
          <a:xfrm>
            <a:off x="6251001" y="3267374"/>
            <a:ext cx="1885348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Submission of proposals, procedural documents etc.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29" name="Ευθύγραμμο βέλος σύνδεσης 28"/>
          <p:cNvCxnSpPr/>
          <p:nvPr/>
        </p:nvCxnSpPr>
        <p:spPr>
          <a:xfrm flipH="1">
            <a:off x="4721596" y="3734600"/>
            <a:ext cx="1447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Στρογγυλεμένο ορθογώνιο 31"/>
          <p:cNvSpPr/>
          <p:nvPr/>
        </p:nvSpPr>
        <p:spPr>
          <a:xfrm>
            <a:off x="4848526" y="2933169"/>
            <a:ext cx="1179897" cy="685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100 days from Lawsuit filling date</a:t>
            </a:r>
            <a:r>
              <a:rPr lang="el-G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3" name="Στρογγυλεμένο ορθογώνιο 32"/>
          <p:cNvSpPr/>
          <p:nvPr/>
        </p:nvSpPr>
        <p:spPr>
          <a:xfrm>
            <a:off x="4867776" y="3891613"/>
            <a:ext cx="1179897" cy="7086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79€</a:t>
            </a:r>
          </a:p>
        </p:txBody>
      </p:sp>
      <p:sp>
        <p:nvSpPr>
          <p:cNvPr id="34" name="Στρογγυλεμένο ορθογώνιο 33"/>
          <p:cNvSpPr/>
          <p:nvPr/>
        </p:nvSpPr>
        <p:spPr>
          <a:xfrm>
            <a:off x="3585624" y="3321925"/>
            <a:ext cx="1054367" cy="914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Additions to previous step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36" name="Στρογγυλεμένο ορθογώνιο 35"/>
          <p:cNvSpPr/>
          <p:nvPr/>
        </p:nvSpPr>
        <p:spPr>
          <a:xfrm>
            <a:off x="2300849" y="2924474"/>
            <a:ext cx="1179897" cy="6858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Extra 15 days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40" name="Ευθύγραμμο βέλος σύνδεσης 39"/>
          <p:cNvCxnSpPr/>
          <p:nvPr/>
        </p:nvCxnSpPr>
        <p:spPr>
          <a:xfrm flipH="1">
            <a:off x="2034659" y="3749572"/>
            <a:ext cx="1482788" cy="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Στρογγυλεμένο ορθογώνιο 40"/>
          <p:cNvSpPr/>
          <p:nvPr/>
        </p:nvSpPr>
        <p:spPr>
          <a:xfrm>
            <a:off x="108685" y="3317914"/>
            <a:ext cx="188534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Court Hearing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42" name="Ευθύγραμμο βέλος σύνδεσης 41"/>
          <p:cNvCxnSpPr/>
          <p:nvPr/>
        </p:nvCxnSpPr>
        <p:spPr>
          <a:xfrm>
            <a:off x="1143297" y="4328052"/>
            <a:ext cx="0" cy="13055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Στρογγυλεμένο ορθογώνιο 44"/>
          <p:cNvSpPr/>
          <p:nvPr/>
        </p:nvSpPr>
        <p:spPr>
          <a:xfrm>
            <a:off x="99067" y="4600273"/>
            <a:ext cx="977063" cy="7313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89</a:t>
            </a:r>
            <a:r>
              <a:rPr lang="el-GR" sz="1200" dirty="0">
                <a:solidFill>
                  <a:schemeClr val="tx1"/>
                </a:solidFill>
              </a:rPr>
              <a:t>€</a:t>
            </a:r>
            <a:r>
              <a:rPr lang="en-US" sz="1200" dirty="0">
                <a:solidFill>
                  <a:schemeClr val="tx1"/>
                </a:solidFill>
              </a:rPr>
              <a:t>  + </a:t>
            </a:r>
            <a:r>
              <a:rPr lang="en-US" sz="1100" dirty="0">
                <a:solidFill>
                  <a:schemeClr val="tx1"/>
                </a:solidFill>
              </a:rPr>
              <a:t>Court expenses**</a:t>
            </a:r>
            <a:endParaRPr lang="el-GR" sz="1100" dirty="0">
              <a:solidFill>
                <a:schemeClr val="tx1"/>
              </a:solidFill>
            </a:endParaRPr>
          </a:p>
        </p:txBody>
      </p:sp>
      <p:sp>
        <p:nvSpPr>
          <p:cNvPr id="46" name="Στρογγυλεμένο ορθογώνιο 45"/>
          <p:cNvSpPr/>
          <p:nvPr/>
        </p:nvSpPr>
        <p:spPr>
          <a:xfrm>
            <a:off x="1223063" y="4600273"/>
            <a:ext cx="941359" cy="7313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180 days from previous step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47" name="Στρογγυλεμένο ορθογώνιο 46"/>
          <p:cNvSpPr/>
          <p:nvPr/>
        </p:nvSpPr>
        <p:spPr>
          <a:xfrm>
            <a:off x="128535" y="5692140"/>
            <a:ext cx="188534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Court Decision ***/ Servicing of the Decision (through bailiff)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48" name="Στρογγυλεμένο ορθογώνιο 47"/>
          <p:cNvSpPr/>
          <p:nvPr/>
        </p:nvSpPr>
        <p:spPr>
          <a:xfrm>
            <a:off x="2300848" y="5226001"/>
            <a:ext cx="1179897" cy="70866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3 – 9  months from Court Hearing 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51" name="Στρογγυλεμένο ορθογώνιο 50"/>
          <p:cNvSpPr/>
          <p:nvPr/>
        </p:nvSpPr>
        <p:spPr>
          <a:xfrm>
            <a:off x="2313573" y="6106729"/>
            <a:ext cx="1179897" cy="70866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Bailiff’s servicing expenses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54" name="Ευθύγραμμο βέλος σύνδεσης 53"/>
          <p:cNvCxnSpPr/>
          <p:nvPr/>
        </p:nvCxnSpPr>
        <p:spPr>
          <a:xfrm>
            <a:off x="2107931" y="6031950"/>
            <a:ext cx="1797523" cy="13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Στρογγυλεμένο ορθογώνιο 63"/>
          <p:cNvSpPr/>
          <p:nvPr/>
        </p:nvSpPr>
        <p:spPr>
          <a:xfrm>
            <a:off x="4043814" y="5633612"/>
            <a:ext cx="1885348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 Repossession by bailiff</a:t>
            </a:r>
            <a:endParaRPr lang="el-GR" sz="1200" dirty="0"/>
          </a:p>
        </p:txBody>
      </p:sp>
      <p:cxnSp>
        <p:nvCxnSpPr>
          <p:cNvPr id="65" name="Ευθεία γραμμή σύνδεσης 64"/>
          <p:cNvCxnSpPr/>
          <p:nvPr/>
        </p:nvCxnSpPr>
        <p:spPr>
          <a:xfrm>
            <a:off x="6096000" y="6045200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Στρογγυλεμένο ορθογώνιο 66"/>
          <p:cNvSpPr/>
          <p:nvPr/>
        </p:nvSpPr>
        <p:spPr>
          <a:xfrm>
            <a:off x="6251001" y="5177506"/>
            <a:ext cx="1179897" cy="70866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Depends on the case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68" name="Στρογγυλεμένο ορθογώνιο 67"/>
          <p:cNvSpPr/>
          <p:nvPr/>
        </p:nvSpPr>
        <p:spPr>
          <a:xfrm>
            <a:off x="6287703" y="6114207"/>
            <a:ext cx="1179897" cy="70866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350</a:t>
            </a:r>
            <a:r>
              <a:rPr lang="el-GR" sz="1200" dirty="0">
                <a:solidFill>
                  <a:schemeClr val="bg1"/>
                </a:solidFill>
              </a:rPr>
              <a:t>€ (</a:t>
            </a:r>
            <a:r>
              <a:rPr lang="en-US" sz="1200" dirty="0">
                <a:solidFill>
                  <a:schemeClr val="bg1"/>
                </a:solidFill>
              </a:rPr>
              <a:t>Attica) / 390</a:t>
            </a:r>
            <a:r>
              <a:rPr lang="el-GR" sz="1200" dirty="0">
                <a:solidFill>
                  <a:schemeClr val="bg1"/>
                </a:solidFill>
              </a:rPr>
              <a:t>€</a:t>
            </a:r>
            <a:r>
              <a:rPr lang="en-US" sz="1200" dirty="0">
                <a:solidFill>
                  <a:schemeClr val="bg1"/>
                </a:solidFill>
              </a:rPr>
              <a:t> (outside Attica)</a:t>
            </a:r>
            <a:endParaRPr lang="el-GR" sz="1200" dirty="0">
              <a:solidFill>
                <a:schemeClr val="bg1"/>
              </a:solidFill>
            </a:endParaRPr>
          </a:p>
        </p:txBody>
      </p:sp>
      <p:cxnSp>
        <p:nvCxnSpPr>
          <p:cNvPr id="6" name="Ευθεία γραμμή σύνδεσης 5"/>
          <p:cNvCxnSpPr/>
          <p:nvPr/>
        </p:nvCxnSpPr>
        <p:spPr>
          <a:xfrm>
            <a:off x="7620000" y="5903521"/>
            <a:ext cx="0" cy="279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1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6333-112F-3741-BE70-59A90A91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FBFA-BD39-79B6-C4D8-B9A17842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14" y="161529"/>
            <a:ext cx="7924800" cy="485660"/>
          </a:xfrm>
        </p:spPr>
        <p:txBody>
          <a:bodyPr/>
          <a:lstStyle/>
          <a:p>
            <a:r>
              <a:rPr lang="en-US" sz="2000" b="1" dirty="0"/>
              <a:t>Legal Actions before car repossession</a:t>
            </a:r>
            <a:endParaRPr lang="el-GR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51B29-22A4-91F4-6EFB-930D2C08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Στρογγυλεμένο ορθογώνιο 2">
            <a:extLst>
              <a:ext uri="{FF2B5EF4-FFF2-40B4-BE49-F238E27FC236}">
                <a16:creationId xmlns:a16="http://schemas.microsoft.com/office/drawing/2014/main" id="{7756F416-C79E-EDAA-B94D-0B82E70A00DC}"/>
              </a:ext>
            </a:extLst>
          </p:cNvPr>
          <p:cNvSpPr/>
          <p:nvPr/>
        </p:nvSpPr>
        <p:spPr>
          <a:xfrm>
            <a:off x="160117" y="1087355"/>
            <a:ext cx="1981200" cy="9144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Termination of Contract / issuing of extrajudicial letter and notification of the debtor through bailiff</a:t>
            </a:r>
            <a:endParaRPr lang="el-GR" sz="1200" dirty="0"/>
          </a:p>
        </p:txBody>
      </p:sp>
      <p:cxnSp>
        <p:nvCxnSpPr>
          <p:cNvPr id="7" name="Ευθύγραμμο βέλος σύνδεσης 6">
            <a:extLst>
              <a:ext uri="{FF2B5EF4-FFF2-40B4-BE49-F238E27FC236}">
                <a16:creationId xmlns:a16="http://schemas.microsoft.com/office/drawing/2014/main" id="{51AE7020-5048-A022-21EB-DF0F0D5C9361}"/>
              </a:ext>
            </a:extLst>
          </p:cNvPr>
          <p:cNvCxnSpPr/>
          <p:nvPr/>
        </p:nvCxnSpPr>
        <p:spPr>
          <a:xfrm>
            <a:off x="2254217" y="1524000"/>
            <a:ext cx="1371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Στρογγυλεμένο ορθογώνιο 9">
            <a:extLst>
              <a:ext uri="{FF2B5EF4-FFF2-40B4-BE49-F238E27FC236}">
                <a16:creationId xmlns:a16="http://schemas.microsoft.com/office/drawing/2014/main" id="{685960ED-A162-BA4F-EC42-08E64B28D01D}"/>
              </a:ext>
            </a:extLst>
          </p:cNvPr>
          <p:cNvSpPr/>
          <p:nvPr/>
        </p:nvSpPr>
        <p:spPr>
          <a:xfrm>
            <a:off x="2362199" y="744307"/>
            <a:ext cx="1179897" cy="68580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Max 1 – 2 weeks 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12" name="Στρογγυλεμένο ορθογώνιο 11">
            <a:extLst>
              <a:ext uri="{FF2B5EF4-FFF2-40B4-BE49-F238E27FC236}">
                <a16:creationId xmlns:a16="http://schemas.microsoft.com/office/drawing/2014/main" id="{E88144F4-0676-3BDE-1E46-3BFEE3D440A8}"/>
              </a:ext>
            </a:extLst>
          </p:cNvPr>
          <p:cNvSpPr/>
          <p:nvPr/>
        </p:nvSpPr>
        <p:spPr>
          <a:xfrm>
            <a:off x="3905454" y="1100735"/>
            <a:ext cx="1885348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Filling a Lawsuit / Servicing of Lawsuit (through bailiff)</a:t>
            </a:r>
            <a:endParaRPr lang="el-GR" sz="1200" dirty="0"/>
          </a:p>
        </p:txBody>
      </p:sp>
      <p:cxnSp>
        <p:nvCxnSpPr>
          <p:cNvPr id="15" name="Ευθεία γραμμή σύνδεσης 14">
            <a:extLst>
              <a:ext uri="{FF2B5EF4-FFF2-40B4-BE49-F238E27FC236}">
                <a16:creationId xmlns:a16="http://schemas.microsoft.com/office/drawing/2014/main" id="{9C314619-FB31-8210-21B1-AD257A7BD960}"/>
              </a:ext>
            </a:extLst>
          </p:cNvPr>
          <p:cNvCxnSpPr/>
          <p:nvPr/>
        </p:nvCxnSpPr>
        <p:spPr>
          <a:xfrm>
            <a:off x="5929162" y="1557935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9D9B6AE7-349A-8C87-0DB6-1070478F6D39}"/>
              </a:ext>
            </a:extLst>
          </p:cNvPr>
          <p:cNvCxnSpPr/>
          <p:nvPr/>
        </p:nvCxnSpPr>
        <p:spPr>
          <a:xfrm>
            <a:off x="7459579" y="1546205"/>
            <a:ext cx="0" cy="16058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Στρογγυλεμένο ορθογώνιο 22">
            <a:extLst>
              <a:ext uri="{FF2B5EF4-FFF2-40B4-BE49-F238E27FC236}">
                <a16:creationId xmlns:a16="http://schemas.microsoft.com/office/drawing/2014/main" id="{3C6DCFED-847D-A6DF-FBC9-A0DAF8001936}"/>
              </a:ext>
            </a:extLst>
          </p:cNvPr>
          <p:cNvSpPr/>
          <p:nvPr/>
        </p:nvSpPr>
        <p:spPr>
          <a:xfrm>
            <a:off x="5972876" y="740892"/>
            <a:ext cx="1179897" cy="6858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Max 30 days from Lawsuit filling date</a:t>
            </a:r>
            <a:endParaRPr lang="el-GR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l-GR" sz="1200" dirty="0">
              <a:solidFill>
                <a:schemeClr val="bg1"/>
              </a:solidFill>
            </a:endParaRPr>
          </a:p>
        </p:txBody>
      </p:sp>
      <p:sp>
        <p:nvSpPr>
          <p:cNvPr id="27" name="Στρογγυλεμένο ορθογώνιο 26">
            <a:extLst>
              <a:ext uri="{FF2B5EF4-FFF2-40B4-BE49-F238E27FC236}">
                <a16:creationId xmlns:a16="http://schemas.microsoft.com/office/drawing/2014/main" id="{484E46DA-9498-8FA0-789E-A36089704C3C}"/>
              </a:ext>
            </a:extLst>
          </p:cNvPr>
          <p:cNvSpPr/>
          <p:nvPr/>
        </p:nvSpPr>
        <p:spPr>
          <a:xfrm>
            <a:off x="6251001" y="3267374"/>
            <a:ext cx="1885348" cy="914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Submission of proposals, procedural documents etc.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29" name="Ευθύγραμμο βέλος σύνδεσης 28">
            <a:extLst>
              <a:ext uri="{FF2B5EF4-FFF2-40B4-BE49-F238E27FC236}">
                <a16:creationId xmlns:a16="http://schemas.microsoft.com/office/drawing/2014/main" id="{A3F0F676-E911-FA11-F648-100E183DBDAE}"/>
              </a:ext>
            </a:extLst>
          </p:cNvPr>
          <p:cNvCxnSpPr/>
          <p:nvPr/>
        </p:nvCxnSpPr>
        <p:spPr>
          <a:xfrm flipH="1">
            <a:off x="4721596" y="3734600"/>
            <a:ext cx="14478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Στρογγυλεμένο ορθογώνιο 31">
            <a:extLst>
              <a:ext uri="{FF2B5EF4-FFF2-40B4-BE49-F238E27FC236}">
                <a16:creationId xmlns:a16="http://schemas.microsoft.com/office/drawing/2014/main" id="{20865BCE-049C-3476-BBED-EAE0A0D2DB3A}"/>
              </a:ext>
            </a:extLst>
          </p:cNvPr>
          <p:cNvSpPr/>
          <p:nvPr/>
        </p:nvSpPr>
        <p:spPr>
          <a:xfrm>
            <a:off x="4848526" y="2933169"/>
            <a:ext cx="1179897" cy="6858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60 days from Lawsuit filling date</a:t>
            </a:r>
            <a:r>
              <a:rPr lang="el-G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4" name="Στρογγυλεμένο ορθογώνιο 33">
            <a:extLst>
              <a:ext uri="{FF2B5EF4-FFF2-40B4-BE49-F238E27FC236}">
                <a16:creationId xmlns:a16="http://schemas.microsoft.com/office/drawing/2014/main" id="{DE49A4A5-64A9-492A-1DE4-93B51A6F5403}"/>
              </a:ext>
            </a:extLst>
          </p:cNvPr>
          <p:cNvSpPr/>
          <p:nvPr/>
        </p:nvSpPr>
        <p:spPr>
          <a:xfrm>
            <a:off x="3585624" y="3321925"/>
            <a:ext cx="1054367" cy="9144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Additions to previous step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36" name="Στρογγυλεμένο ορθογώνιο 35">
            <a:extLst>
              <a:ext uri="{FF2B5EF4-FFF2-40B4-BE49-F238E27FC236}">
                <a16:creationId xmlns:a16="http://schemas.microsoft.com/office/drawing/2014/main" id="{4EFC7663-5BB9-F626-28AA-CDA271B1A920}"/>
              </a:ext>
            </a:extLst>
          </p:cNvPr>
          <p:cNvSpPr/>
          <p:nvPr/>
        </p:nvSpPr>
        <p:spPr>
          <a:xfrm>
            <a:off x="2300849" y="2924474"/>
            <a:ext cx="1179897" cy="6858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Extra 10 days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40" name="Ευθύγραμμο βέλος σύνδεσης 39">
            <a:extLst>
              <a:ext uri="{FF2B5EF4-FFF2-40B4-BE49-F238E27FC236}">
                <a16:creationId xmlns:a16="http://schemas.microsoft.com/office/drawing/2014/main" id="{8C813C35-98B8-BA87-6360-82F96745A0AB}"/>
              </a:ext>
            </a:extLst>
          </p:cNvPr>
          <p:cNvCxnSpPr/>
          <p:nvPr/>
        </p:nvCxnSpPr>
        <p:spPr>
          <a:xfrm flipH="1">
            <a:off x="2034659" y="3749572"/>
            <a:ext cx="1482788" cy="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Στρογγυλεμένο ορθογώνιο 40">
            <a:extLst>
              <a:ext uri="{FF2B5EF4-FFF2-40B4-BE49-F238E27FC236}">
                <a16:creationId xmlns:a16="http://schemas.microsoft.com/office/drawing/2014/main" id="{72843049-6437-9D49-7782-020D18F5544E}"/>
              </a:ext>
            </a:extLst>
          </p:cNvPr>
          <p:cNvSpPr/>
          <p:nvPr/>
        </p:nvSpPr>
        <p:spPr>
          <a:xfrm>
            <a:off x="108685" y="3317914"/>
            <a:ext cx="1885348" cy="9144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Court Hearing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42" name="Ευθύγραμμο βέλος σύνδεσης 41">
            <a:extLst>
              <a:ext uri="{FF2B5EF4-FFF2-40B4-BE49-F238E27FC236}">
                <a16:creationId xmlns:a16="http://schemas.microsoft.com/office/drawing/2014/main" id="{8F5BD115-8923-D81E-075C-8E219702D979}"/>
              </a:ext>
            </a:extLst>
          </p:cNvPr>
          <p:cNvCxnSpPr/>
          <p:nvPr/>
        </p:nvCxnSpPr>
        <p:spPr>
          <a:xfrm>
            <a:off x="1143297" y="4328052"/>
            <a:ext cx="0" cy="13055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Στρογγυλεμένο ορθογώνιο 45">
            <a:extLst>
              <a:ext uri="{FF2B5EF4-FFF2-40B4-BE49-F238E27FC236}">
                <a16:creationId xmlns:a16="http://schemas.microsoft.com/office/drawing/2014/main" id="{D7002765-2903-0E2B-A140-1A018DC65DBC}"/>
              </a:ext>
            </a:extLst>
          </p:cNvPr>
          <p:cNvSpPr/>
          <p:nvPr/>
        </p:nvSpPr>
        <p:spPr>
          <a:xfrm>
            <a:off x="1223063" y="4600273"/>
            <a:ext cx="941359" cy="73133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Max 150 days from previous step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47" name="Στρογγυλεμένο ορθογώνιο 46">
            <a:extLst>
              <a:ext uri="{FF2B5EF4-FFF2-40B4-BE49-F238E27FC236}">
                <a16:creationId xmlns:a16="http://schemas.microsoft.com/office/drawing/2014/main" id="{1D8C36DD-6AA8-557B-66E9-984683C5FD0D}"/>
              </a:ext>
            </a:extLst>
          </p:cNvPr>
          <p:cNvSpPr/>
          <p:nvPr/>
        </p:nvSpPr>
        <p:spPr>
          <a:xfrm>
            <a:off x="128535" y="5692140"/>
            <a:ext cx="188534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Court Decision ***/ Servicing of the Decision (through bailiff)</a:t>
            </a:r>
            <a:endParaRPr lang="el-GR" sz="1200" dirty="0">
              <a:solidFill>
                <a:schemeClr val="tx1"/>
              </a:solidFill>
            </a:endParaRPr>
          </a:p>
        </p:txBody>
      </p:sp>
      <p:sp>
        <p:nvSpPr>
          <p:cNvPr id="48" name="Στρογγυλεμένο ορθογώνιο 47">
            <a:extLst>
              <a:ext uri="{FF2B5EF4-FFF2-40B4-BE49-F238E27FC236}">
                <a16:creationId xmlns:a16="http://schemas.microsoft.com/office/drawing/2014/main" id="{5C1CA44E-35DF-3C25-74A4-153D58E24D3B}"/>
              </a:ext>
            </a:extLst>
          </p:cNvPr>
          <p:cNvSpPr/>
          <p:nvPr/>
        </p:nvSpPr>
        <p:spPr>
          <a:xfrm>
            <a:off x="2300848" y="5226001"/>
            <a:ext cx="1179897" cy="70866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3 – 9  months from Court Hearing </a:t>
            </a:r>
            <a:endParaRPr lang="el-GR" sz="1200" dirty="0">
              <a:solidFill>
                <a:schemeClr val="tx1"/>
              </a:solidFill>
            </a:endParaRPr>
          </a:p>
        </p:txBody>
      </p:sp>
      <p:cxnSp>
        <p:nvCxnSpPr>
          <p:cNvPr id="54" name="Ευθύγραμμο βέλος σύνδεσης 53">
            <a:extLst>
              <a:ext uri="{FF2B5EF4-FFF2-40B4-BE49-F238E27FC236}">
                <a16:creationId xmlns:a16="http://schemas.microsoft.com/office/drawing/2014/main" id="{09714B07-6ACC-F911-1A2B-CDB18D5E34F8}"/>
              </a:ext>
            </a:extLst>
          </p:cNvPr>
          <p:cNvCxnSpPr/>
          <p:nvPr/>
        </p:nvCxnSpPr>
        <p:spPr>
          <a:xfrm>
            <a:off x="2107931" y="6031950"/>
            <a:ext cx="1797523" cy="13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Στρογγυλεμένο ορθογώνιο 63">
            <a:extLst>
              <a:ext uri="{FF2B5EF4-FFF2-40B4-BE49-F238E27FC236}">
                <a16:creationId xmlns:a16="http://schemas.microsoft.com/office/drawing/2014/main" id="{01E97185-AAEF-DC15-13D6-DEF2B2AA3F5B}"/>
              </a:ext>
            </a:extLst>
          </p:cNvPr>
          <p:cNvSpPr/>
          <p:nvPr/>
        </p:nvSpPr>
        <p:spPr>
          <a:xfrm>
            <a:off x="4043814" y="5633612"/>
            <a:ext cx="1885348" cy="9144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 Repossession by bailiff</a:t>
            </a:r>
            <a:endParaRPr lang="el-GR" sz="1200" dirty="0"/>
          </a:p>
        </p:txBody>
      </p:sp>
      <p:cxnSp>
        <p:nvCxnSpPr>
          <p:cNvPr id="65" name="Ευθεία γραμμή σύνδεσης 64">
            <a:extLst>
              <a:ext uri="{FF2B5EF4-FFF2-40B4-BE49-F238E27FC236}">
                <a16:creationId xmlns:a16="http://schemas.microsoft.com/office/drawing/2014/main" id="{B6F75623-27B3-4415-2C8A-7ADA6C312144}"/>
              </a:ext>
            </a:extLst>
          </p:cNvPr>
          <p:cNvCxnSpPr/>
          <p:nvPr/>
        </p:nvCxnSpPr>
        <p:spPr>
          <a:xfrm>
            <a:off x="6096000" y="6045200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C3764BBC-6E9E-4E56-735F-D6D357B8FBA9}"/>
              </a:ext>
            </a:extLst>
          </p:cNvPr>
          <p:cNvCxnSpPr/>
          <p:nvPr/>
        </p:nvCxnSpPr>
        <p:spPr>
          <a:xfrm>
            <a:off x="7620000" y="5903521"/>
            <a:ext cx="0" cy="279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47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7924800" cy="563562"/>
          </a:xfrm>
        </p:spPr>
        <p:txBody>
          <a:bodyPr/>
          <a:lstStyle/>
          <a:p>
            <a:r>
              <a:rPr lang="en-US" sz="2000" b="1" dirty="0"/>
              <a:t>Costs after car repossession</a:t>
            </a:r>
            <a:endParaRPr lang="el-GR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6" name="Πίνακας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843733"/>
              </p:ext>
            </p:extLst>
          </p:nvPr>
        </p:nvGraphicFramePr>
        <p:xfrm>
          <a:off x="533400" y="762001"/>
          <a:ext cx="7239000" cy="5957546"/>
        </p:xfrm>
        <a:graphic>
          <a:graphicData uri="http://schemas.openxmlformats.org/drawingml/2006/table">
            <a:tbl>
              <a:tblPr firstRow="1" firstCol="1" bandRow="1"/>
              <a:tblGrid>
                <a:gridCol w="2359737">
                  <a:extLst>
                    <a:ext uri="{9D8B030D-6E8A-4147-A177-3AD203B41FA5}">
                      <a16:colId xmlns:a16="http://schemas.microsoft.com/office/drawing/2014/main" val="2734984978"/>
                    </a:ext>
                  </a:extLst>
                </a:gridCol>
                <a:gridCol w="2439287">
                  <a:extLst>
                    <a:ext uri="{9D8B030D-6E8A-4147-A177-3AD203B41FA5}">
                      <a16:colId xmlns:a16="http://schemas.microsoft.com/office/drawing/2014/main" val="693068862"/>
                    </a:ext>
                  </a:extLst>
                </a:gridCol>
                <a:gridCol w="2439976">
                  <a:extLst>
                    <a:ext uri="{9D8B030D-6E8A-4147-A177-3AD203B41FA5}">
                      <a16:colId xmlns:a16="http://schemas.microsoft.com/office/drawing/2014/main" val="1137990946"/>
                    </a:ext>
                  </a:extLst>
                </a:gridCol>
              </a:tblGrid>
              <a:tr h="2184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r>
                        <a:rPr lang="en-US" sz="700" b="1" u="sng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l-G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Pricing </a:t>
                      </a:r>
                      <a:endParaRPr lang="el-G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u="sng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Comment </a:t>
                      </a:r>
                      <a:endParaRPr lang="el-G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537009"/>
                  </a:ext>
                </a:extLst>
              </a:tr>
              <a:tr h="4072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Bailiff Cost for Car Repossession (enforcement)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€ 350 for cases in Attica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€ 390 for cases outside Attika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871293"/>
                  </a:ext>
                </a:extLst>
              </a:tr>
              <a:tr h="5430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 Transfer to Logistic Center in </a:t>
                      </a:r>
                      <a:r>
                        <a:rPr lang="en-US" sz="900" dirty="0" err="1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Aspropyrgos</a:t>
                      </a: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€ 45 from Athens and close suburbs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€ 75 from central cities outside Athens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€ 1/ km outside regions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Expense of third outsourcing company.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variable part refers to remote places (for example a village 30 km outside Patras – the total expense will be 75 + 30 )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139405"/>
                  </a:ext>
                </a:extLst>
              </a:tr>
              <a:tr h="3494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 Reception Fee (management , Scanning , report , washing for auction)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€21 per car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815466"/>
                  </a:ext>
                </a:extLst>
              </a:tr>
              <a:tr h="29202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 Parking cost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€ 0,55 per car /per day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429426"/>
                  </a:ext>
                </a:extLst>
              </a:tr>
              <a:tr h="2329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Insurance cost against Risks in Parking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85€ / month for max Limit € 700K per year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093740"/>
                  </a:ext>
                </a:extLst>
              </a:tr>
              <a:tr h="4344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 Valuation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€ 22 per car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Independent appraiser – Report via internet Platform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731362"/>
                  </a:ext>
                </a:extLst>
              </a:tr>
              <a:tr h="5823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Car Transfer of ownership Cost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(Greek state Cost )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 Cost – 75€ (no VAT) +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20€ fee for administration for Private individuals cars or € 100 for Business Trucks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01310"/>
                  </a:ext>
                </a:extLst>
              </a:tr>
              <a:tr h="4072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Administration fee for Transfer of Ownership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€ 20 for Private individuals cars or € 100 for Business Trucks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Outsourcing Cost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123290"/>
                  </a:ext>
                </a:extLst>
              </a:tr>
              <a:tr h="3320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Plates (if not exist)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€ 30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600896"/>
                  </a:ext>
                </a:extLst>
              </a:tr>
              <a:tr h="3494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Obtaining Car Licence original Copy (if not exist after repossession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€ 20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1916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Revert car from immobility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Athens € 20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Outside Athens – Per case cost coverage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process is to go to the relevant Tax authorities to apply for reverting immobility and receive the car plates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585906"/>
                  </a:ext>
                </a:extLst>
              </a:tr>
              <a:tr h="45255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Insurance of Car from the time the ownership is transferred to the Creditor until the Selling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Real cost per case (usually one month insurance contract – average cost 35€ )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obligation from the Law  - if the car is not in immobility it must be insured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202493"/>
                  </a:ext>
                </a:extLst>
              </a:tr>
              <a:tr h="8152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Auction Process Management </a:t>
                      </a:r>
                      <a:endParaRPr lang="el-GR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€ 30 per Car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Third Party cost – running the Auction Process in the network of dealers – the company is also responsible to follow up for collecting the money and dispatch the procedural issues for the dealer to receive the Car </a:t>
                      </a:r>
                      <a:endParaRPr lang="el-GR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005" marR="400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17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7924800" cy="563562"/>
          </a:xfrm>
        </p:spPr>
        <p:txBody>
          <a:bodyPr/>
          <a:lstStyle/>
          <a:p>
            <a:r>
              <a:rPr lang="en-US" sz="2000" b="1" dirty="0"/>
              <a:t>Procedure and Costs for Car Repossession</a:t>
            </a:r>
            <a:endParaRPr lang="el-GR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B775-78A2-4AA7-9B67-B7C587B8C8D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Ορθογώνιο 2"/>
          <p:cNvSpPr/>
          <p:nvPr/>
        </p:nvSpPr>
        <p:spPr>
          <a:xfrm>
            <a:off x="152400" y="3354204"/>
            <a:ext cx="76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 *** possible challenge from the debtor against the claims (appeal on lawsuit ) might delay the procedure up to 12 months on average </a:t>
            </a:r>
          </a:p>
        </p:txBody>
      </p:sp>
      <p:sp>
        <p:nvSpPr>
          <p:cNvPr id="6" name="Ορθογώνιο 5"/>
          <p:cNvSpPr/>
          <p:nvPr/>
        </p:nvSpPr>
        <p:spPr>
          <a:xfrm>
            <a:off x="152400" y="1031160"/>
            <a:ext cx="7620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 *</a:t>
            </a:r>
            <a:r>
              <a:rPr lang="el-GR" sz="1200" dirty="0">
                <a:solidFill>
                  <a:schemeClr val="tx2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Bailiff’s expenses for servicing legal documents and preparation of relevant reports:</a:t>
            </a:r>
            <a:endParaRPr lang="el-GR" sz="1200" dirty="0"/>
          </a:p>
        </p:txBody>
      </p:sp>
      <p:sp>
        <p:nvSpPr>
          <p:cNvPr id="10" name="Ορθογώνιο 9"/>
          <p:cNvSpPr/>
          <p:nvPr/>
        </p:nvSpPr>
        <p:spPr>
          <a:xfrm>
            <a:off x="152400" y="4724400"/>
            <a:ext cx="7734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i="1" u="sng" dirty="0">
                <a:solidFill>
                  <a:schemeClr val="tx2"/>
                </a:solidFill>
              </a:rPr>
              <a:t>NOTE 1: all the above expenses do not include VAT</a:t>
            </a:r>
          </a:p>
          <a:p>
            <a:endParaRPr lang="en-US" sz="1200" i="1" u="sng" dirty="0">
              <a:solidFill>
                <a:schemeClr val="tx2"/>
              </a:solidFill>
            </a:endParaRPr>
          </a:p>
          <a:p>
            <a:r>
              <a:rPr lang="en-US" sz="1200" i="1" u="sng" dirty="0">
                <a:solidFill>
                  <a:schemeClr val="tx2"/>
                </a:solidFill>
              </a:rPr>
              <a:t>NOTE 2: before liquidation possible Road Tax liabilities have to be paid – so before filing a lawsuit we will check for possible road tax liabilities and decide whether to proceed or not  </a:t>
            </a:r>
            <a:endParaRPr lang="el-GR" sz="1200" i="1" u="sng" dirty="0"/>
          </a:p>
        </p:txBody>
      </p:sp>
      <p:sp>
        <p:nvSpPr>
          <p:cNvPr id="9" name="Ορθογώνιο 8"/>
          <p:cNvSpPr/>
          <p:nvPr/>
        </p:nvSpPr>
        <p:spPr>
          <a:xfrm>
            <a:off x="342900" y="1349786"/>
            <a:ext cx="7543800" cy="1328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35€</a:t>
            </a:r>
            <a:r>
              <a:rPr lang="en-US" sz="1200" dirty="0">
                <a:solidFill>
                  <a:srgbClr val="002060"/>
                </a:solidFill>
                <a:cs typeface="Calibri" panose="020F0502020204030204" pitchFamily="34" charset="0"/>
              </a:rPr>
              <a:t> from </a:t>
            </a: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0</a:t>
            </a:r>
            <a:r>
              <a:rPr lang="en-US" sz="1200" dirty="0">
                <a:solidFill>
                  <a:srgbClr val="002060"/>
                </a:solidFill>
                <a:cs typeface="Calibri" panose="020F0502020204030204" pitchFamily="34" charset="0"/>
              </a:rPr>
              <a:t> to </a:t>
            </a: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12</a:t>
            </a:r>
            <a:r>
              <a:rPr lang="en-US" sz="1200" baseline="30000" dirty="0">
                <a:solidFill>
                  <a:srgbClr val="002060"/>
                </a:solidFill>
                <a:cs typeface="Calibri" panose="020F0502020204030204" pitchFamily="34" charset="0"/>
              </a:rPr>
              <a:t>th</a:t>
            </a: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002060"/>
                </a:solidFill>
                <a:cs typeface="Calibri" panose="020F0502020204030204" pitchFamily="34" charset="0"/>
              </a:rPr>
              <a:t>km</a:t>
            </a: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 (Α</a:t>
            </a:r>
            <a:r>
              <a:rPr lang="en-US" sz="1200" dirty="0">
                <a:solidFill>
                  <a:srgbClr val="002060"/>
                </a:solidFill>
                <a:cs typeface="Calibri" panose="020F0502020204030204" pitchFamily="34" charset="0"/>
              </a:rPr>
              <a:t> Zone</a:t>
            </a:r>
            <a:r>
              <a:rPr lang="el-GR" sz="1200" dirty="0">
                <a:solidFill>
                  <a:srgbClr val="002060"/>
                </a:solidFill>
                <a:cs typeface="Calibri" panose="020F0502020204030204" pitchFamily="34" charset="0"/>
              </a:rPr>
              <a:t>)</a:t>
            </a: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rgbClr val="002060"/>
                </a:solidFill>
              </a:rPr>
              <a:t>55€ </a:t>
            </a:r>
            <a:r>
              <a:rPr lang="en-US" sz="1200" dirty="0">
                <a:solidFill>
                  <a:srgbClr val="002060"/>
                </a:solidFill>
              </a:rPr>
              <a:t>from</a:t>
            </a:r>
            <a:r>
              <a:rPr lang="el-GR" sz="1200" dirty="0">
                <a:solidFill>
                  <a:srgbClr val="002060"/>
                </a:solidFill>
              </a:rPr>
              <a:t> 12</a:t>
            </a:r>
            <a:r>
              <a:rPr lang="en-US" sz="1200" baseline="30000" dirty="0">
                <a:solidFill>
                  <a:srgbClr val="002060"/>
                </a:solidFill>
              </a:rPr>
              <a:t>th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 to </a:t>
            </a:r>
            <a:r>
              <a:rPr lang="el-GR" sz="1200" dirty="0">
                <a:solidFill>
                  <a:srgbClr val="002060"/>
                </a:solidFill>
              </a:rPr>
              <a:t>32</a:t>
            </a:r>
            <a:r>
              <a:rPr lang="en-US" sz="1200" baseline="30000" dirty="0" err="1">
                <a:solidFill>
                  <a:srgbClr val="002060"/>
                </a:solidFill>
              </a:rPr>
              <a:t>nd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Km</a:t>
            </a:r>
            <a:r>
              <a:rPr lang="el-GR" sz="1200" dirty="0">
                <a:solidFill>
                  <a:srgbClr val="002060"/>
                </a:solidFill>
              </a:rPr>
              <a:t> (Β</a:t>
            </a:r>
            <a:r>
              <a:rPr lang="en-US" sz="1200" dirty="0">
                <a:solidFill>
                  <a:srgbClr val="002060"/>
                </a:solidFill>
              </a:rPr>
              <a:t> Zone</a:t>
            </a:r>
            <a:r>
              <a:rPr lang="el-GR" sz="1200" dirty="0">
                <a:solidFill>
                  <a:srgbClr val="002060"/>
                </a:solidFill>
              </a:rPr>
              <a:t>)</a:t>
            </a: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rgbClr val="002060"/>
                </a:solidFill>
              </a:rPr>
              <a:t>73€</a:t>
            </a:r>
            <a:r>
              <a:rPr lang="en-US" sz="1200" dirty="0">
                <a:solidFill>
                  <a:srgbClr val="002060"/>
                </a:solidFill>
              </a:rPr>
              <a:t> from</a:t>
            </a:r>
            <a:r>
              <a:rPr lang="el-GR" sz="1200" dirty="0">
                <a:solidFill>
                  <a:srgbClr val="002060"/>
                </a:solidFill>
              </a:rPr>
              <a:t> 32</a:t>
            </a:r>
            <a:r>
              <a:rPr lang="en-US" sz="1200" baseline="30000" dirty="0" err="1">
                <a:solidFill>
                  <a:srgbClr val="002060"/>
                </a:solidFill>
              </a:rPr>
              <a:t>nd</a:t>
            </a:r>
            <a:r>
              <a:rPr lang="en-US" sz="1200" baseline="30000" dirty="0">
                <a:solidFill>
                  <a:srgbClr val="002060"/>
                </a:solidFill>
              </a:rPr>
              <a:t> 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to</a:t>
            </a:r>
            <a:r>
              <a:rPr lang="el-GR" sz="1200" dirty="0">
                <a:solidFill>
                  <a:srgbClr val="002060"/>
                </a:solidFill>
              </a:rPr>
              <a:t> 62</a:t>
            </a:r>
            <a:r>
              <a:rPr lang="en-US" sz="1200" baseline="30000" dirty="0" err="1">
                <a:solidFill>
                  <a:srgbClr val="002060"/>
                </a:solidFill>
              </a:rPr>
              <a:t>nd</a:t>
            </a:r>
            <a:r>
              <a:rPr lang="en-US" sz="1200" dirty="0">
                <a:solidFill>
                  <a:srgbClr val="002060"/>
                </a:solidFill>
              </a:rPr>
              <a:t> km</a:t>
            </a:r>
            <a:r>
              <a:rPr lang="el-GR" sz="1200" dirty="0">
                <a:solidFill>
                  <a:srgbClr val="002060"/>
                </a:solidFill>
              </a:rPr>
              <a:t> (</a:t>
            </a:r>
            <a:r>
              <a:rPr lang="en-US" sz="1200" dirty="0">
                <a:solidFill>
                  <a:srgbClr val="002060"/>
                </a:solidFill>
              </a:rPr>
              <a:t>C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Zone</a:t>
            </a:r>
            <a:r>
              <a:rPr lang="el-GR" sz="1200" dirty="0">
                <a:solidFill>
                  <a:srgbClr val="002060"/>
                </a:solidFill>
              </a:rPr>
              <a:t>)</a:t>
            </a:r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rgbClr val="002060"/>
                </a:solidFill>
              </a:rPr>
              <a:t>95€</a:t>
            </a:r>
            <a:r>
              <a:rPr lang="en-US" sz="1200" dirty="0">
                <a:solidFill>
                  <a:srgbClr val="002060"/>
                </a:solidFill>
              </a:rPr>
              <a:t> from </a:t>
            </a:r>
            <a:r>
              <a:rPr lang="el-GR" sz="1200" dirty="0">
                <a:solidFill>
                  <a:srgbClr val="002060"/>
                </a:solidFill>
              </a:rPr>
              <a:t>62</a:t>
            </a:r>
            <a:r>
              <a:rPr lang="en-US" sz="1200" baseline="30000" dirty="0" err="1">
                <a:solidFill>
                  <a:srgbClr val="002060"/>
                </a:solidFill>
              </a:rPr>
              <a:t>nd</a:t>
            </a:r>
            <a:r>
              <a:rPr lang="en-US" sz="1200" baseline="300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+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km </a:t>
            </a:r>
            <a:r>
              <a:rPr lang="el-GR" sz="1200" dirty="0">
                <a:solidFill>
                  <a:srgbClr val="002060"/>
                </a:solidFill>
              </a:rPr>
              <a:t> (</a:t>
            </a:r>
            <a:r>
              <a:rPr lang="en-US" sz="1200" dirty="0">
                <a:solidFill>
                  <a:srgbClr val="002060"/>
                </a:solidFill>
              </a:rPr>
              <a:t>D</a:t>
            </a:r>
            <a:r>
              <a:rPr lang="el-GR" sz="1200" dirty="0">
                <a:solidFill>
                  <a:srgbClr val="002060"/>
                </a:solidFill>
              </a:rPr>
              <a:t> </a:t>
            </a:r>
            <a:r>
              <a:rPr lang="en-US" sz="1200" dirty="0">
                <a:solidFill>
                  <a:srgbClr val="002060"/>
                </a:solidFill>
              </a:rPr>
              <a:t>Zone</a:t>
            </a:r>
            <a:r>
              <a:rPr lang="el-GR" sz="1200" dirty="0">
                <a:solidFill>
                  <a:srgbClr val="002060"/>
                </a:solidFill>
              </a:rPr>
              <a:t>)</a:t>
            </a:r>
            <a:r>
              <a:rPr lang="en-US" sz="1200" dirty="0">
                <a:solidFill>
                  <a:srgbClr val="002060"/>
                </a:solidFill>
              </a:rPr>
              <a:t> or for servicing in islands or different island from the one that the bailiff has his main office.</a:t>
            </a:r>
          </a:p>
          <a:p>
            <a:pPr>
              <a:spcAft>
                <a:spcPts val="200"/>
              </a:spcAft>
            </a:pPr>
            <a:r>
              <a:rPr lang="el-GR" sz="1200" dirty="0"/>
              <a:t> </a:t>
            </a:r>
            <a:endParaRPr lang="el-GR" sz="1200" dirty="0">
              <a:effectLst/>
            </a:endParaRPr>
          </a:p>
        </p:txBody>
      </p:sp>
      <p:sp>
        <p:nvSpPr>
          <p:cNvPr id="8" name="Ορθογώνιο 7"/>
          <p:cNvSpPr/>
          <p:nvPr/>
        </p:nvSpPr>
        <p:spPr>
          <a:xfrm>
            <a:off x="158416" y="2653412"/>
            <a:ext cx="76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</a:rPr>
              <a:t> ** Court expenses:</a:t>
            </a:r>
            <a:r>
              <a:rPr lang="el-GR" sz="1200" dirty="0">
                <a:solidFill>
                  <a:schemeClr val="tx2"/>
                </a:solidFill>
              </a:rPr>
              <a:t> </a:t>
            </a:r>
            <a:r>
              <a:rPr lang="en-US" sz="1200" dirty="0">
                <a:solidFill>
                  <a:schemeClr val="tx2"/>
                </a:solidFill>
              </a:rPr>
              <a:t>(Lawsuit amount*8/1000)+[(Lawsuit Amount*8/1000)*(30/100]</a:t>
            </a:r>
            <a:r>
              <a:rPr lang="el-GR" sz="1200" dirty="0">
                <a:solidFill>
                  <a:schemeClr val="tx2"/>
                </a:solidFill>
              </a:rPr>
              <a:t> +</a:t>
            </a:r>
            <a:r>
              <a:rPr lang="en-US" sz="1200" dirty="0">
                <a:solidFill>
                  <a:schemeClr val="tx2"/>
                </a:solidFill>
              </a:rPr>
              <a:t>tax stamp. Approximately 10,59</a:t>
            </a:r>
            <a:r>
              <a:rPr lang="el-GR" sz="1200" dirty="0">
                <a:solidFill>
                  <a:schemeClr val="tx2"/>
                </a:solidFill>
              </a:rPr>
              <a:t>€ </a:t>
            </a:r>
            <a:r>
              <a:rPr lang="en-US" sz="1200" dirty="0">
                <a:solidFill>
                  <a:schemeClr val="tx2"/>
                </a:solidFill>
              </a:rPr>
              <a:t>for every 1.000</a:t>
            </a:r>
            <a:r>
              <a:rPr lang="el-GR" sz="1200" dirty="0">
                <a:solidFill>
                  <a:schemeClr val="tx2"/>
                </a:solidFill>
              </a:rPr>
              <a:t>€</a:t>
            </a:r>
            <a:r>
              <a:rPr lang="en-US" sz="1200" dirty="0">
                <a:solidFill>
                  <a:schemeClr val="tx2"/>
                </a:solidFill>
              </a:rPr>
              <a:t> of lawsuit amount.</a:t>
            </a:r>
          </a:p>
        </p:txBody>
      </p:sp>
    </p:spTree>
    <p:extLst>
      <p:ext uri="{BB962C8B-B14F-4D97-AF65-F5344CB8AC3E}">
        <p14:creationId xmlns:p14="http://schemas.microsoft.com/office/powerpoint/2010/main" val="2712866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3167</TotalTime>
  <Words>800</Words>
  <Application>Microsoft Office PowerPoint</Application>
  <PresentationFormat>On-screen Show (4:3)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Adjacency</vt:lpstr>
      <vt:lpstr>PowerPoint Presentation</vt:lpstr>
      <vt:lpstr>Legal Actions before car repossession</vt:lpstr>
      <vt:lpstr>Legal Actions before car repossession</vt:lpstr>
      <vt:lpstr>Costs after car repossession</vt:lpstr>
      <vt:lpstr>Procedure and Costs for Car Repossession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Achilleas</dc:creator>
  <cp:lastModifiedBy>Pouloupatis Vassileios</cp:lastModifiedBy>
  <cp:revision>304</cp:revision>
  <cp:lastPrinted>2015-08-07T13:53:22Z</cp:lastPrinted>
  <dcterms:created xsi:type="dcterms:W3CDTF">2014-06-11T12:37:31Z</dcterms:created>
  <dcterms:modified xsi:type="dcterms:W3CDTF">2025-08-05T08:03:43Z</dcterms:modified>
</cp:coreProperties>
</file>