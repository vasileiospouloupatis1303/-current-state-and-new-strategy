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55" r:id="rId10"/>
    <p:sldId id="347" r:id="rId11"/>
    <p:sldId id="348" r:id="rId12"/>
    <p:sldId id="349" r:id="rId13"/>
    <p:sldId id="350" r:id="rId14"/>
    <p:sldId id="351" r:id="rId15"/>
    <p:sldId id="352" r:id="rId16"/>
    <p:sldId id="353" r:id="rId1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945F0-0549-4CF7-8161-C553596D027A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3F8D5-A460-4D90-84E5-1E6C9DE893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466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3F8D5-A460-4D90-84E5-1E6C9DE893A6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6245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908E-81CC-CA9D-AFA2-912B4314E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D1863-DF97-381D-0F31-2AF35049B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70B98-8228-8B9A-816B-BFD4C4A6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EF82F-9D45-DF21-2B0B-E36AF734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B89A-E79F-3815-CBA0-4B30645D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746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2C54-F152-FAFC-F10C-3A82D1FA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99D2-FAF1-604F-9CEC-36FDA3E22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D71B4-5890-405E-2932-BBD3A0D1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B0576-8C45-A0F8-BEC8-0E477E31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703FB-5D1B-7404-2CD5-B49CF655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2654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BC37-0288-7386-57C1-9B8C55FD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34F0E-FED5-25E5-8FDF-A435BB3A5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A0EA6-6329-1A04-C291-D075A22C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898B-F2B5-D2C3-E847-19193F93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C9A76-6CE4-BB11-73A1-35C37FD9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2332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95EE-3CA9-309A-0CFD-CF4B76F5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0A1E6-6CCB-93F4-94EE-5E9B1F35E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25A0A-40DB-790A-DF1F-6B163012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85B6-E52F-DE81-A596-510A9499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3F7A0-D384-345E-5027-84184A26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BA402-23B4-7185-D12A-B111D0A8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883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7756E-B418-326A-973D-E69CF5EA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78ABE-EAD4-08D7-B9FE-D2AD7FAD5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DB906-23BE-4866-B481-EADBA650A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7F4E-F7F3-D516-2DF3-DB3028051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22A86-0A1F-A98B-FBCD-A8AB13D05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B2FA5-10DD-F7A9-CDCE-AB6E10DE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CA05E-B1D3-4934-F9FC-5CA32F17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670A0-0A8A-2A26-1D19-2A5473E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9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5104-11C1-1678-9409-50A552BF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79361F-DDBE-7E50-9DC2-2F97F3C1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297C3-D0F5-CD4C-A729-4C3FDC594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D3F5B-2117-7E7E-2135-889FA621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1651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F0C4F-190F-E74E-0AFF-F6061AA6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9413F1-9154-DA79-2359-5ECAA6FC0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62A3D-4C77-6CA3-ADD2-0337BC47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9996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6638-0258-8AAB-1F6E-8688DE1D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4AA3-D211-222E-BEBE-1853D91A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7715D-186F-D4A2-76CD-3B3C45A99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AAD69-BB99-84C8-CD0F-A5F2C0FA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C709B-C2E8-34CE-3F70-DC5C9B65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33149-7470-FF6A-3C97-EC5480FC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647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9071-BB50-7F45-27E6-6F0082D3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25FCA-41D0-C6F6-F1F6-50291FC94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1D42D-63AD-531E-32FD-76891F513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8ACCB-7056-60D6-CC6F-206ADBEC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7D8EB-AC89-55ED-95C2-9F5A7CB9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65346-7DDA-8EA2-2D9C-84862200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71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06A7-FEBE-FF39-6BC6-164898E8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114DA-8915-235E-8979-69CF761C5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65FE-202B-F168-8A80-01BC19BF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4A6DD-0E62-2CB4-5920-12D1A1FF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511F-6FD6-F4E9-008A-43F835DE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0432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992E6B-8B38-6572-2A99-87095EE69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F5553-1912-C5D6-A44F-38711B5E6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CCF57-264C-555C-7074-7C49FF63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1EFE0-BB2C-D999-4882-27DE579C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F514-ECDB-CAF2-CB42-F7FEEC3C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71994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EE623A0-BD16-2E4C-BD4B-C2DC787EF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5921" y="451062"/>
            <a:ext cx="1514269" cy="204380"/>
          </a:xfrm>
          <a:prstGeom prst="rect">
            <a:avLst/>
          </a:prstGeom>
        </p:spPr>
      </p:pic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41ECE60-3954-494A-BB6A-38F46E3B12D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15139" y="6385943"/>
            <a:ext cx="7806943" cy="200845"/>
          </a:xfrm>
        </p:spPr>
        <p:txBody>
          <a:bodyPr>
            <a:noAutofit/>
          </a:bodyPr>
          <a:lstStyle>
            <a:lvl1pPr algn="l">
              <a:lnSpc>
                <a:spcPts val="907"/>
              </a:lnSpc>
              <a:spcAft>
                <a:spcPts val="600"/>
              </a:spcAft>
              <a:defRPr sz="864" b="0" i="0" baseline="0">
                <a:solidFill>
                  <a:schemeClr val="tx1"/>
                </a:solidFill>
                <a:latin typeface="Eurobank Sans Light" panose="02000503000000020003" pitchFamily="2" charset="0"/>
                <a:cs typeface="Eurobank Sans Light" panose="02000503000000020003" pitchFamily="2" charset="0"/>
              </a:defRPr>
            </a:lvl1pPr>
            <a:lvl2pPr algn="ctr">
              <a:lnSpc>
                <a:spcPct val="120000"/>
              </a:lnSpc>
              <a:defRPr sz="900"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4AA33B-7B78-9C44-ADD8-2ED83043DA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04755"/>
            <a:ext cx="12192000" cy="60960"/>
          </a:xfrm>
          <a:prstGeom prst="rect">
            <a:avLst/>
          </a:prstGeom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D9F6A77-466C-2840-96F4-2DF0971A763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32827" y="2616107"/>
            <a:ext cx="3716004" cy="2425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365"/>
              </a:lnSpc>
              <a:buNone/>
              <a:defRPr sz="1867" b="1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ED2C98C-43E1-2047-828B-BD7E50B2E390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4406079" y="2616107"/>
            <a:ext cx="3716004" cy="2425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365"/>
              </a:lnSpc>
              <a:buNone/>
              <a:defRPr sz="1867" b="1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76A6FAC-7E02-B74F-9631-905D103783B5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4406079" y="3221676"/>
            <a:ext cx="3716003" cy="20204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228585" indent="-228585" algn="l">
              <a:lnSpc>
                <a:spcPts val="1573"/>
              </a:lnSpc>
              <a:buFont typeface="Arial" panose="020B0604020202020204" pitchFamily="34" charset="0"/>
              <a:buChar char="•"/>
              <a:defRPr sz="1467" b="0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4BBF55F-62CF-5E4C-9BB2-DA21A3F3D9EA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32828" y="1337372"/>
            <a:ext cx="9803093" cy="26138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67" b="1" i="0">
                <a:solidFill>
                  <a:srgbClr val="EA002A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4BBF55F-62CF-5E4C-9BB2-DA21A3F3D9EA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432827" y="1809028"/>
            <a:ext cx="9803093" cy="55991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67" b="0" i="0">
                <a:solidFill>
                  <a:srgbClr val="021342"/>
                </a:solidFill>
                <a:latin typeface="Eurobank Sans Light" panose="02000503000000020003" pitchFamily="2" charset="0"/>
                <a:cs typeface="Eurobank Sans Light" panose="02000503000000020003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6DF6CD4-8CD4-704C-A62B-0487B53AFF8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2828" y="505131"/>
            <a:ext cx="8160756" cy="19944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365"/>
              </a:lnSpc>
              <a:buNone/>
              <a:defRPr sz="2133" b="0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0F4EBE1-12D9-4749-96C8-27E4A47D6A7F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32829" y="3221676"/>
            <a:ext cx="3716003" cy="20204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228585" indent="-228585" algn="l">
              <a:lnSpc>
                <a:spcPts val="1573"/>
              </a:lnSpc>
              <a:buFont typeface="Arial" panose="020B0604020202020204" pitchFamily="34" charset="0"/>
              <a:buChar char="•"/>
              <a:defRPr sz="1467" b="0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58DF273-FD9B-0687-7BB6-7FD23268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4E7427C8-6876-4535-AF9E-86C931914F0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129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0069B-1966-D476-57AC-DD500D88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96DFC-AF14-3E3A-0EA7-7D54D746E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A980D-3FF7-3299-6CBE-E924E8D39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903E0-6331-45D0-977A-BD16E2FEE8AD}" type="datetimeFigureOut">
              <a:rPr lang="el-GR" smtClean="0"/>
              <a:t>3/3/2026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7BC0C-3121-B524-692A-4C2B1873D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B03D5-F5C1-4139-85E6-C275BFF28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0E68A-2CD5-4C0E-9E66-145BD63868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5483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2356-614B-D314-9C23-9D9A92F4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ADA238D7-23B7-C13A-5559-87DEF852856C}"/>
              </a:ext>
            </a:extLst>
          </p:cNvPr>
          <p:cNvSpPr/>
          <p:nvPr/>
        </p:nvSpPr>
        <p:spPr>
          <a:xfrm>
            <a:off x="2598442" y="1661814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708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Securing Remarketing of </a:t>
            </a:r>
            <a:r>
              <a:rPr lang="en-US" sz="40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Repossessed</a:t>
            </a:r>
            <a:r>
              <a:rPr lang="en-US" sz="3708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 Vehicles</a:t>
            </a:r>
            <a:endParaRPr lang="en-US" sz="3708" dirty="0">
              <a:latin typeface="Eurobank Sans" panose="02000503000000020004" pitchFamily="2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50BAE0B-72C6-3B88-FFDA-F9901EF65864}"/>
              </a:ext>
            </a:extLst>
          </p:cNvPr>
          <p:cNvSpPr/>
          <p:nvPr/>
        </p:nvSpPr>
        <p:spPr>
          <a:xfrm>
            <a:off x="2598442" y="3126581"/>
            <a:ext cx="6297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Strategic Initiative to Optimise Recovery &amp; Resilience</a:t>
            </a:r>
            <a:endParaRPr lang="en-US" sz="1458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214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3D32-D8D1-902A-9A49-DE70091F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04D2D3D-BC78-AB7D-1B5C-16CE82CFDF01}"/>
              </a:ext>
            </a:extLst>
          </p:cNvPr>
          <p:cNvSpPr/>
          <p:nvPr/>
        </p:nvSpPr>
        <p:spPr>
          <a:xfrm>
            <a:off x="661492" y="1531343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3600" dirty="0">
              <a:latin typeface="Eurobank Sans" panose="02000503000000020004" pitchFamily="2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6EF00BC-EE6A-FA4F-8AFE-0D9A15361DAA}"/>
              </a:ext>
            </a:extLst>
          </p:cNvPr>
          <p:cNvSpPr/>
          <p:nvPr/>
        </p:nvSpPr>
        <p:spPr>
          <a:xfrm>
            <a:off x="2224823" y="2500015"/>
            <a:ext cx="3496965" cy="2009081"/>
          </a:xfrm>
          <a:prstGeom prst="roundRect">
            <a:avLst>
              <a:gd name="adj" fmla="val 3952"/>
            </a:avLst>
          </a:prstGeom>
          <a:noFill/>
          <a:ln w="7620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D379D8C-7D48-0D7B-18D9-FBC3B43347E8}"/>
              </a:ext>
            </a:extLst>
          </p:cNvPr>
          <p:cNvSpPr/>
          <p:nvPr/>
        </p:nvSpPr>
        <p:spPr>
          <a:xfrm>
            <a:off x="6864532" y="2500015"/>
            <a:ext cx="3496965" cy="2009081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536A257-FB1D-4058-ED1C-25A11E3164B8}"/>
              </a:ext>
            </a:extLst>
          </p:cNvPr>
          <p:cNvSpPr/>
          <p:nvPr/>
        </p:nvSpPr>
        <p:spPr>
          <a:xfrm>
            <a:off x="661492" y="4977361"/>
            <a:ext cx="10869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Investment Request:</a:t>
            </a:r>
            <a:r>
              <a:rPr lang="en-US" sz="1458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Approval to proceed with phased implementation of integrated remarketing platform and strategic partnerships</a:t>
            </a:r>
            <a:endParaRPr lang="en-US" sz="1458" dirty="0">
              <a:latin typeface="Eurobank Sans" panose="02000503000000020004" pitchFamily="2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22E28AC-BBC7-BD56-422A-8955220DF35D}"/>
              </a:ext>
            </a:extLst>
          </p:cNvPr>
          <p:cNvSpPr/>
          <p:nvPr/>
        </p:nvSpPr>
        <p:spPr>
          <a:xfrm>
            <a:off x="2420185" y="26953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A6E5488-C3C6-C761-DA8E-EEF174B5B5A1}"/>
              </a:ext>
            </a:extLst>
          </p:cNvPr>
          <p:cNvSpPr/>
          <p:nvPr/>
        </p:nvSpPr>
        <p:spPr>
          <a:xfrm>
            <a:off x="2420184" y="3104058"/>
            <a:ext cx="31062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Efficient remarketing of repossessed vehicles requires strategic transformation, especially when markets are volatile </a:t>
            </a:r>
            <a:endParaRPr lang="en-US" sz="1458" dirty="0">
              <a:latin typeface="Eurobank Sans" panose="02000503000000020004" pitchFamily="2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21093E1-3601-3DA9-BDA8-2FAFEE5DBC1B}"/>
              </a:ext>
            </a:extLst>
          </p:cNvPr>
          <p:cNvSpPr/>
          <p:nvPr/>
        </p:nvSpPr>
        <p:spPr>
          <a:xfrm>
            <a:off x="7059894" y="26953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Solution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EDED56A-C074-6215-C052-D3D99AFA975D}"/>
              </a:ext>
            </a:extLst>
          </p:cNvPr>
          <p:cNvSpPr/>
          <p:nvPr/>
        </p:nvSpPr>
        <p:spPr>
          <a:xfrm>
            <a:off x="7059894" y="3104058"/>
            <a:ext cx="31062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Multi-channel ecosystem integrating dealer agreements, cross-border marketplaces, and digital infrastructure</a:t>
            </a:r>
            <a:endParaRPr lang="en-US" sz="1458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5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0E4A-DC82-9126-4A0C-0869896B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CD7645-BA24-D334-9C90-4A05887E835C}"/>
              </a:ext>
            </a:extLst>
          </p:cNvPr>
          <p:cNvSpPr/>
          <p:nvPr/>
        </p:nvSpPr>
        <p:spPr>
          <a:xfrm>
            <a:off x="661492" y="1298080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Market Challenge</a:t>
            </a:r>
            <a:endParaRPr lang="en-US" sz="3600" dirty="0">
              <a:latin typeface="Eurobank Sans" panose="02000503000000020004" pitchFamily="2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7728876-73F8-E340-E761-A39EE1BFFAE6}"/>
              </a:ext>
            </a:extLst>
          </p:cNvPr>
          <p:cNvSpPr/>
          <p:nvPr/>
        </p:nvSpPr>
        <p:spPr>
          <a:xfrm>
            <a:off x="661492" y="2246876"/>
            <a:ext cx="311834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2208" dirty="0">
              <a:latin typeface="Eurobank Sans" panose="02000503000000020004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A145C18-A5A1-498F-0F07-5F91CF4F0A90}"/>
              </a:ext>
            </a:extLst>
          </p:cNvPr>
          <p:cNvSpPr/>
          <p:nvPr/>
        </p:nvSpPr>
        <p:spPr>
          <a:xfrm>
            <a:off x="661492" y="2973485"/>
            <a:ext cx="63369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  <a:buSzPct val="100000"/>
            </a:pPr>
            <a:r>
              <a:rPr lang="en-US" sz="1458" dirty="0"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     Remarketing bottlenecks exposed during market volatility</a:t>
            </a:r>
            <a:endParaRPr lang="en-US" sz="1458" dirty="0">
              <a:latin typeface="Eurobank Sans" panose="02000503000000020004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97721B8-F63A-5189-8984-ACD8D9659152}"/>
              </a:ext>
            </a:extLst>
          </p:cNvPr>
          <p:cNvSpPr/>
          <p:nvPr/>
        </p:nvSpPr>
        <p:spPr>
          <a:xfrm>
            <a:off x="661492" y="3459970"/>
            <a:ext cx="6336903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  <a:buSzPct val="100000"/>
            </a:pPr>
            <a:r>
              <a:rPr lang="en-US" sz="1458" dirty="0"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     Over-reliance on local dealers constrains volume absorption capacity</a:t>
            </a:r>
            <a:endParaRPr lang="en-US" sz="1458" dirty="0">
              <a:latin typeface="Eurobank Sans" panose="02000503000000020004" pitchFamily="2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71B0DEE-0722-0DAC-9622-9D3EC3444EFB}"/>
              </a:ext>
            </a:extLst>
          </p:cNvPr>
          <p:cNvSpPr/>
          <p:nvPr/>
        </p:nvSpPr>
        <p:spPr>
          <a:xfrm>
            <a:off x="661492" y="3950970"/>
            <a:ext cx="63369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  <a:buSzPct val="100000"/>
            </a:pPr>
            <a:r>
              <a:rPr lang="en-US" sz="1458" dirty="0"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     Absence of integrated digital platform limits pricing agility</a:t>
            </a:r>
            <a:endParaRPr lang="en-US" sz="1458" dirty="0">
              <a:latin typeface="Eurobank Sans" panose="02000503000000020004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1E096AC-F45F-9E2B-BFAC-833C9D838760}"/>
              </a:ext>
            </a:extLst>
          </p:cNvPr>
          <p:cNvSpPr/>
          <p:nvPr/>
        </p:nvSpPr>
        <p:spPr>
          <a:xfrm>
            <a:off x="704372" y="5030831"/>
            <a:ext cx="1078325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These </a:t>
            </a:r>
            <a:r>
              <a:rPr lang="en-US" sz="1458" b="1" dirty="0"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constraints</a:t>
            </a:r>
            <a:r>
              <a:rPr lang="en-US" sz="1458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resulted in extended inventory holding periods and suboptimal recovery rates during critical market conditions.</a:t>
            </a:r>
            <a:endParaRPr lang="en-US" sz="1458" b="1" dirty="0">
              <a:latin typeface="Eurobank Sans" panose="02000503000000020004" pitchFamily="2" charset="0"/>
            </a:endParaRPr>
          </a:p>
        </p:txBody>
      </p:sp>
      <p:pic>
        <p:nvPicPr>
          <p:cNvPr id="24" name="Graphic 23" descr="Exclamation mark with solid fill">
            <a:extLst>
              <a:ext uri="{FF2B5EF4-FFF2-40B4-BE49-F238E27FC236}">
                <a16:creationId xmlns:a16="http://schemas.microsoft.com/office/drawing/2014/main" id="{91CF8A29-8463-398D-E5F1-0A2064AFF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962" y="3057761"/>
            <a:ext cx="198819" cy="198819"/>
          </a:xfrm>
          <a:prstGeom prst="rect">
            <a:avLst/>
          </a:prstGeom>
        </p:spPr>
      </p:pic>
      <p:pic>
        <p:nvPicPr>
          <p:cNvPr id="25" name="Graphic 24" descr="Exclamation mark with solid fill">
            <a:extLst>
              <a:ext uri="{FF2B5EF4-FFF2-40B4-BE49-F238E27FC236}">
                <a16:creationId xmlns:a16="http://schemas.microsoft.com/office/drawing/2014/main" id="{8E6EEA94-CCE9-6E3F-7F23-61A919ECD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961" y="3544246"/>
            <a:ext cx="198819" cy="198819"/>
          </a:xfrm>
          <a:prstGeom prst="rect">
            <a:avLst/>
          </a:prstGeom>
        </p:spPr>
      </p:pic>
      <p:pic>
        <p:nvPicPr>
          <p:cNvPr id="26" name="Graphic 25" descr="Exclamation mark with solid fill">
            <a:extLst>
              <a:ext uri="{FF2B5EF4-FFF2-40B4-BE49-F238E27FC236}">
                <a16:creationId xmlns:a16="http://schemas.microsoft.com/office/drawing/2014/main" id="{50C4864A-9889-5E8B-6074-CA46FB9F4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961" y="4011958"/>
            <a:ext cx="198819" cy="198819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933A1ADD-F824-EB6F-B152-60DA131B489F}"/>
              </a:ext>
            </a:extLst>
          </p:cNvPr>
          <p:cNvSpPr/>
          <p:nvPr/>
        </p:nvSpPr>
        <p:spPr>
          <a:xfrm>
            <a:off x="481781" y="2172929"/>
            <a:ext cx="6145161" cy="2336167"/>
          </a:xfrm>
          <a:prstGeom prst="roundRect">
            <a:avLst>
              <a:gd name="adj" fmla="val 3952"/>
            </a:avLst>
          </a:prstGeom>
          <a:noFill/>
          <a:ln w="7620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72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3BEC-0E60-800B-07F4-CF4931FE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E85DF1A-0B40-8E69-D238-1396C07729E0}"/>
              </a:ext>
            </a:extLst>
          </p:cNvPr>
          <p:cNvSpPr/>
          <p:nvPr/>
        </p:nvSpPr>
        <p:spPr>
          <a:xfrm>
            <a:off x="170982" y="955111"/>
            <a:ext cx="11706386" cy="272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7625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Strategic </a:t>
            </a:r>
          </a:p>
          <a:p>
            <a:pPr algn="ctr">
              <a:lnSpc>
                <a:spcPts val="7625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Transformation Initiatives</a:t>
            </a:r>
            <a:endParaRPr lang="en-US" sz="3600" dirty="0">
              <a:latin typeface="Eurobank Sans" panose="0200050300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DF6E4F-4328-8839-5531-B4AE601FB205}"/>
              </a:ext>
            </a:extLst>
          </p:cNvPr>
          <p:cNvSpPr/>
          <p:nvPr/>
        </p:nvSpPr>
        <p:spPr>
          <a:xfrm>
            <a:off x="544314" y="3781643"/>
            <a:ext cx="111033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Cross-Market, Partner-Integrated Remarketing Ecosystem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B6B7A21-F279-67A5-7A03-37D924FDA3FF}"/>
              </a:ext>
            </a:extLst>
          </p:cNvPr>
          <p:cNvSpPr/>
          <p:nvPr/>
        </p:nvSpPr>
        <p:spPr>
          <a:xfrm>
            <a:off x="554147" y="4205406"/>
            <a:ext cx="155476" cy="19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Light" pitchFamily="34" charset="-122"/>
                <a:cs typeface="Inter Light" pitchFamily="34" charset="-120"/>
              </a:rPr>
              <a:t>1</a:t>
            </a: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100E1C4-C72B-FE6D-A2FE-19D61B930395}"/>
              </a:ext>
            </a:extLst>
          </p:cNvPr>
          <p:cNvSpPr/>
          <p:nvPr/>
        </p:nvSpPr>
        <p:spPr>
          <a:xfrm>
            <a:off x="544314" y="4566364"/>
            <a:ext cx="28159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Network Formalisation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B8EDA6D-D85B-19F2-8E20-D4D7C1A532D0}"/>
              </a:ext>
            </a:extLst>
          </p:cNvPr>
          <p:cNvSpPr/>
          <p:nvPr/>
        </p:nvSpPr>
        <p:spPr>
          <a:xfrm>
            <a:off x="544314" y="4902517"/>
            <a:ext cx="547389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Performance-driven agreements with volume incentives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7A6B17C-28F2-2E8E-4E24-E063B6ACD534}"/>
              </a:ext>
            </a:extLst>
          </p:cNvPr>
          <p:cNvSpPr/>
          <p:nvPr/>
        </p:nvSpPr>
        <p:spPr>
          <a:xfrm>
            <a:off x="6173689" y="4205406"/>
            <a:ext cx="155476" cy="19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Light" pitchFamily="34" charset="-122"/>
                <a:cs typeface="Inter Light" pitchFamily="34" charset="-120"/>
              </a:rPr>
              <a:t>2</a:t>
            </a: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D78B94D-9E20-7468-FE3B-9B6512919DF9}"/>
              </a:ext>
            </a:extLst>
          </p:cNvPr>
          <p:cNvSpPr/>
          <p:nvPr/>
        </p:nvSpPr>
        <p:spPr>
          <a:xfrm>
            <a:off x="6173688" y="4566364"/>
            <a:ext cx="25521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Cross-Border Partnerships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EE1A5F4-D4F0-78F6-8D94-E5C15287856C}"/>
              </a:ext>
            </a:extLst>
          </p:cNvPr>
          <p:cNvSpPr/>
          <p:nvPr/>
        </p:nvSpPr>
        <p:spPr>
          <a:xfrm>
            <a:off x="6173689" y="4902517"/>
            <a:ext cx="547399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Strategic alliances with specialised marketplaces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E2DB4B6-13A6-287E-AC7D-060FC8675E9C}"/>
              </a:ext>
            </a:extLst>
          </p:cNvPr>
          <p:cNvSpPr/>
          <p:nvPr/>
        </p:nvSpPr>
        <p:spPr>
          <a:xfrm>
            <a:off x="544315" y="5423416"/>
            <a:ext cx="155476" cy="19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Light" pitchFamily="34" charset="-122"/>
                <a:cs typeface="Inter Light" pitchFamily="34" charset="-120"/>
              </a:rPr>
              <a:t>3</a:t>
            </a: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4DBFDB1-4B31-AD35-CDC9-4FFF37437411}"/>
              </a:ext>
            </a:extLst>
          </p:cNvPr>
          <p:cNvSpPr/>
          <p:nvPr/>
        </p:nvSpPr>
        <p:spPr>
          <a:xfrm>
            <a:off x="544314" y="5677465"/>
            <a:ext cx="5473898" cy="20955"/>
          </a:xfrm>
          <a:prstGeom prst="rect">
            <a:avLst/>
          </a:prstGeom>
          <a:solidFill>
            <a:srgbClr val="4950BC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B283F553-5E39-103F-8CCD-21DC67FCC894}"/>
              </a:ext>
            </a:extLst>
          </p:cNvPr>
          <p:cNvSpPr/>
          <p:nvPr/>
        </p:nvSpPr>
        <p:spPr>
          <a:xfrm>
            <a:off x="544314" y="5784374"/>
            <a:ext cx="254188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Digital Platform Integration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FAEA3F2-D0EA-58FB-693D-4344DF3B628E}"/>
              </a:ext>
            </a:extLst>
          </p:cNvPr>
          <p:cNvSpPr/>
          <p:nvPr/>
        </p:nvSpPr>
        <p:spPr>
          <a:xfrm>
            <a:off x="544314" y="6120527"/>
            <a:ext cx="547389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Unified inventory management and dynamic pricing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FF9CC2F9-7A24-54D5-14D7-63BAB6AAF73B}"/>
              </a:ext>
            </a:extLst>
          </p:cNvPr>
          <p:cNvSpPr/>
          <p:nvPr/>
        </p:nvSpPr>
        <p:spPr>
          <a:xfrm>
            <a:off x="6173689" y="5423416"/>
            <a:ext cx="155476" cy="19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Light" pitchFamily="34" charset="-122"/>
                <a:cs typeface="Inter Light" pitchFamily="34" charset="-120"/>
              </a:rPr>
              <a:t>4</a:t>
            </a: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40221770-3071-B9CB-1950-21184E3FACB0}"/>
              </a:ext>
            </a:extLst>
          </p:cNvPr>
          <p:cNvSpPr/>
          <p:nvPr/>
        </p:nvSpPr>
        <p:spPr>
          <a:xfrm>
            <a:off x="6173689" y="5677465"/>
            <a:ext cx="5473998" cy="20955"/>
          </a:xfrm>
          <a:prstGeom prst="rect">
            <a:avLst/>
          </a:prstGeom>
          <a:solidFill>
            <a:srgbClr val="4950BC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A86056E6-5B1A-6A51-7A4F-4E44365D5E16}"/>
              </a:ext>
            </a:extLst>
          </p:cNvPr>
          <p:cNvSpPr/>
          <p:nvPr/>
        </p:nvSpPr>
        <p:spPr>
          <a:xfrm>
            <a:off x="6173689" y="5784374"/>
            <a:ext cx="211851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Logistics Optimisation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59E1247-2D31-20CB-724D-1B843CC71054}"/>
              </a:ext>
            </a:extLst>
          </p:cNvPr>
          <p:cNvSpPr/>
          <p:nvPr/>
        </p:nvSpPr>
        <p:spPr>
          <a:xfrm>
            <a:off x="6173689" y="6120527"/>
            <a:ext cx="547399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Rapid fulfilment and cross-border transport network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AE5C1A6-F054-0957-7EB3-F1A88E0ACC5D}"/>
              </a:ext>
            </a:extLst>
          </p:cNvPr>
          <p:cNvSpPr/>
          <p:nvPr/>
        </p:nvSpPr>
        <p:spPr>
          <a:xfrm>
            <a:off x="436162" y="4225897"/>
            <a:ext cx="310954" cy="194369"/>
          </a:xfrm>
          <a:prstGeom prst="flowChartConnector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5FB52B2-E10E-C4C1-7191-2661FD4E9BFA}"/>
              </a:ext>
            </a:extLst>
          </p:cNvPr>
          <p:cNvSpPr/>
          <p:nvPr/>
        </p:nvSpPr>
        <p:spPr>
          <a:xfrm>
            <a:off x="437862" y="5456590"/>
            <a:ext cx="310954" cy="194369"/>
          </a:xfrm>
          <a:prstGeom prst="flowChartConnector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41BD7E5-70AE-299D-F8CB-0172AE15250D}"/>
              </a:ext>
            </a:extLst>
          </p:cNvPr>
          <p:cNvSpPr/>
          <p:nvPr/>
        </p:nvSpPr>
        <p:spPr>
          <a:xfrm>
            <a:off x="6076286" y="4227846"/>
            <a:ext cx="310954" cy="194369"/>
          </a:xfrm>
          <a:prstGeom prst="flowChartConnector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597867D-0FBA-395B-69ED-D0C534BD541A}"/>
              </a:ext>
            </a:extLst>
          </p:cNvPr>
          <p:cNvSpPr/>
          <p:nvPr/>
        </p:nvSpPr>
        <p:spPr>
          <a:xfrm>
            <a:off x="6077987" y="5448816"/>
            <a:ext cx="310954" cy="194369"/>
          </a:xfrm>
          <a:prstGeom prst="flowChartConnector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9AAB8B3-3F51-B431-31CB-0B3A5094C440}"/>
              </a:ext>
            </a:extLst>
          </p:cNvPr>
          <p:cNvSpPr/>
          <p:nvPr/>
        </p:nvSpPr>
        <p:spPr>
          <a:xfrm>
            <a:off x="568895" y="4463177"/>
            <a:ext cx="5473898" cy="20955"/>
          </a:xfrm>
          <a:prstGeom prst="rect">
            <a:avLst/>
          </a:prstGeom>
          <a:solidFill>
            <a:srgbClr val="4950BC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5D48682-4AD0-710F-A2E5-C514F4E2B426}"/>
              </a:ext>
            </a:extLst>
          </p:cNvPr>
          <p:cNvSpPr/>
          <p:nvPr/>
        </p:nvSpPr>
        <p:spPr>
          <a:xfrm>
            <a:off x="6198270" y="4453345"/>
            <a:ext cx="5473998" cy="20955"/>
          </a:xfrm>
          <a:prstGeom prst="rect">
            <a:avLst/>
          </a:prstGeom>
          <a:solidFill>
            <a:srgbClr val="4950BC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20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2994-19E9-CFB3-1710-6316FA9F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C1B2A2A-08F9-D491-E965-F52B8361E810}"/>
              </a:ext>
            </a:extLst>
          </p:cNvPr>
          <p:cNvSpPr/>
          <p:nvPr/>
        </p:nvSpPr>
        <p:spPr>
          <a:xfrm>
            <a:off x="631131" y="1648932"/>
            <a:ext cx="5425480" cy="56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Network Strategy</a:t>
            </a:r>
            <a:endParaRPr lang="en-US" sz="3600" dirty="0">
              <a:latin typeface="Eurobank Sans" panose="02000503000000020004" pitchFamily="2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67A23AD-79E3-F246-5347-121ABCE59B8F}"/>
              </a:ext>
            </a:extLst>
          </p:cNvPr>
          <p:cNvSpPr/>
          <p:nvPr/>
        </p:nvSpPr>
        <p:spPr>
          <a:xfrm>
            <a:off x="631131" y="3584178"/>
            <a:ext cx="3523059" cy="277812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ECF0040-40D9-C51A-81E3-0353007C8C47}"/>
              </a:ext>
            </a:extLst>
          </p:cNvPr>
          <p:cNvSpPr/>
          <p:nvPr/>
        </p:nvSpPr>
        <p:spPr>
          <a:xfrm>
            <a:off x="656531" y="3609579"/>
            <a:ext cx="347225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D764950-364E-426F-285C-A01B1F26BAA8}"/>
              </a:ext>
            </a:extLst>
          </p:cNvPr>
          <p:cNvSpPr/>
          <p:nvPr/>
        </p:nvSpPr>
        <p:spPr>
          <a:xfrm>
            <a:off x="2257425" y="3707805"/>
            <a:ext cx="27047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125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25" dirty="0">
              <a:latin typeface="Eurobank Sans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D34B43A1-98CC-4A94-653F-07420C77DEF4}"/>
              </a:ext>
            </a:extLst>
          </p:cNvPr>
          <p:cNvSpPr/>
          <p:nvPr/>
        </p:nvSpPr>
        <p:spPr>
          <a:xfrm>
            <a:off x="836811" y="4330799"/>
            <a:ext cx="3111698" cy="563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Tiered Performance Agreements</a:t>
            </a:r>
            <a:endParaRPr lang="en-US" sz="1750" dirty="0">
              <a:latin typeface="Eurobank Sans" panose="02000503000000020004" pitchFamily="2" charset="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CAF3A563-A338-5E25-F6DC-7055169D3AA3}"/>
              </a:ext>
            </a:extLst>
          </p:cNvPr>
          <p:cNvSpPr/>
          <p:nvPr/>
        </p:nvSpPr>
        <p:spPr>
          <a:xfrm>
            <a:off x="836811" y="5002510"/>
            <a:ext cx="3111698" cy="115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Structured incentive programmes with minimum purchase commitments and volume-based discounts</a:t>
            </a:r>
            <a:endParaRPr lang="en-US" sz="1417" dirty="0">
              <a:latin typeface="Eurobank Sans" panose="02000503000000020004" pitchFamily="2" charset="0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85ECE9AC-1DD2-0867-AE3B-E095B62C7A6A}"/>
              </a:ext>
            </a:extLst>
          </p:cNvPr>
          <p:cNvSpPr/>
          <p:nvPr/>
        </p:nvSpPr>
        <p:spPr>
          <a:xfrm>
            <a:off x="4334471" y="3584178"/>
            <a:ext cx="3523059" cy="277812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D185411A-1377-9C46-B7EA-5C78CEEA8AA4}"/>
              </a:ext>
            </a:extLst>
          </p:cNvPr>
          <p:cNvSpPr/>
          <p:nvPr/>
        </p:nvSpPr>
        <p:spPr>
          <a:xfrm>
            <a:off x="4359871" y="3609579"/>
            <a:ext cx="347225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D5BA6828-784B-7300-0E40-B784B322231C}"/>
              </a:ext>
            </a:extLst>
          </p:cNvPr>
          <p:cNvSpPr/>
          <p:nvPr/>
        </p:nvSpPr>
        <p:spPr>
          <a:xfrm>
            <a:off x="5960765" y="3707805"/>
            <a:ext cx="27047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125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25" dirty="0">
              <a:latin typeface="Eurobank Sans" panose="02000503000000020004" pitchFamily="2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DAE38502-C556-E2E7-2DCA-FBE5816417BF}"/>
              </a:ext>
            </a:extLst>
          </p:cNvPr>
          <p:cNvSpPr/>
          <p:nvPr/>
        </p:nvSpPr>
        <p:spPr>
          <a:xfrm>
            <a:off x="4540151" y="4330799"/>
            <a:ext cx="3111698" cy="563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Transparency &amp; Accountability</a:t>
            </a:r>
            <a:endParaRPr lang="en-US" sz="1750" dirty="0">
              <a:latin typeface="Eurobank Sans" panose="02000503000000020004" pitchFamily="2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F3CD243C-0323-B2F9-0C72-31761F814765}"/>
              </a:ext>
            </a:extLst>
          </p:cNvPr>
          <p:cNvSpPr/>
          <p:nvPr/>
        </p:nvSpPr>
        <p:spPr>
          <a:xfrm>
            <a:off x="4540151" y="5002510"/>
            <a:ext cx="3111698" cy="115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Real-time sales reporting, inventory turnover monitoring, and performance-based exclusivity clauses</a:t>
            </a:r>
            <a:endParaRPr lang="en-US" sz="1417" dirty="0">
              <a:latin typeface="Eurobank Sans" panose="02000503000000020004" pitchFamily="2" charset="0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38C9BACD-BC70-1B41-8B3E-407E16B146C2}"/>
              </a:ext>
            </a:extLst>
          </p:cNvPr>
          <p:cNvSpPr/>
          <p:nvPr/>
        </p:nvSpPr>
        <p:spPr>
          <a:xfrm>
            <a:off x="8037811" y="3584178"/>
            <a:ext cx="3523059" cy="277812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EBA42D82-A79C-0B59-8B5E-70E1D0B68966}"/>
              </a:ext>
            </a:extLst>
          </p:cNvPr>
          <p:cNvSpPr/>
          <p:nvPr/>
        </p:nvSpPr>
        <p:spPr>
          <a:xfrm>
            <a:off x="8063211" y="3609579"/>
            <a:ext cx="347225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D72750B-50A1-1110-1CA8-3E44F5A5953B}"/>
              </a:ext>
            </a:extLst>
          </p:cNvPr>
          <p:cNvSpPr/>
          <p:nvPr/>
        </p:nvSpPr>
        <p:spPr>
          <a:xfrm>
            <a:off x="9664105" y="3707805"/>
            <a:ext cx="27047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125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25" dirty="0">
              <a:latin typeface="Eurobank Sans" panose="02000503000000020004" pitchFamily="2" charset="0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9BD20029-999D-4F1D-4790-8D4801FC5D70}"/>
              </a:ext>
            </a:extLst>
          </p:cNvPr>
          <p:cNvSpPr/>
          <p:nvPr/>
        </p:nvSpPr>
        <p:spPr>
          <a:xfrm>
            <a:off x="8247130" y="4330799"/>
            <a:ext cx="2683669" cy="28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Comprehensive Support</a:t>
            </a:r>
            <a:endParaRPr lang="en-US" sz="1750" dirty="0">
              <a:latin typeface="Eurobank Sans" panose="02000503000000020004" pitchFamily="2" charset="0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F4B18C96-5359-CDB3-2C81-63613C2989CD}"/>
              </a:ext>
            </a:extLst>
          </p:cNvPr>
          <p:cNvSpPr/>
          <p:nvPr/>
        </p:nvSpPr>
        <p:spPr>
          <a:xfrm>
            <a:off x="8308540" y="4973241"/>
            <a:ext cx="3111698" cy="115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Financing facilitation, inspection certification, and warranty programmes to enhance dealer capability</a:t>
            </a:r>
            <a:endParaRPr lang="en-US" sz="1417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22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7772-38BD-5CEC-9E52-122ACC8C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136D06D9-2DC3-8B59-9646-73C2CB2D7372}"/>
              </a:ext>
            </a:extLst>
          </p:cNvPr>
          <p:cNvSpPr/>
          <p:nvPr/>
        </p:nvSpPr>
        <p:spPr>
          <a:xfrm>
            <a:off x="631131" y="3584178"/>
            <a:ext cx="3523059" cy="277812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EB13174-B69A-3C00-1856-2216155BE4A9}"/>
              </a:ext>
            </a:extLst>
          </p:cNvPr>
          <p:cNvSpPr/>
          <p:nvPr/>
        </p:nvSpPr>
        <p:spPr>
          <a:xfrm>
            <a:off x="4334471" y="3584178"/>
            <a:ext cx="3523059" cy="277812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85FB2B97-C7AD-C7E0-56D3-750A455C9E31}"/>
              </a:ext>
            </a:extLst>
          </p:cNvPr>
          <p:cNvSpPr/>
          <p:nvPr/>
        </p:nvSpPr>
        <p:spPr>
          <a:xfrm>
            <a:off x="8037811" y="3584178"/>
            <a:ext cx="3523059" cy="277812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4BBF0BA-F62C-67A8-0786-54F0C15FD2F9}"/>
              </a:ext>
            </a:extLst>
          </p:cNvPr>
          <p:cNvSpPr/>
          <p:nvPr/>
        </p:nvSpPr>
        <p:spPr>
          <a:xfrm>
            <a:off x="498773" y="1514473"/>
            <a:ext cx="5597228" cy="45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83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Marketplace Partnership Model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5A06B02-0166-FC81-B6D0-6E1B2A95D71A}"/>
              </a:ext>
            </a:extLst>
          </p:cNvPr>
          <p:cNvSpPr/>
          <p:nvPr/>
        </p:nvSpPr>
        <p:spPr>
          <a:xfrm>
            <a:off x="498773" y="2334515"/>
            <a:ext cx="2187278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208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Strategic Alliances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D423151-F912-B547-404D-1AE3C528E78A}"/>
              </a:ext>
            </a:extLst>
          </p:cNvPr>
          <p:cNvSpPr/>
          <p:nvPr/>
        </p:nvSpPr>
        <p:spPr>
          <a:xfrm>
            <a:off x="498773" y="2911030"/>
            <a:ext cx="1029704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Partnership with established cross-border marketplaces including platforms for expanded market reach.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6AF6277-8C04-183A-9957-77A27C41B5CE}"/>
              </a:ext>
            </a:extLst>
          </p:cNvPr>
          <p:cNvSpPr/>
          <p:nvPr/>
        </p:nvSpPr>
        <p:spPr>
          <a:xfrm>
            <a:off x="1147543" y="4644201"/>
            <a:ext cx="2490233" cy="612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  <a:buSzPct val="100000"/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API integration for real-time </a:t>
            </a:r>
          </a:p>
          <a:p>
            <a:pPr algn="ctr">
              <a:lnSpc>
                <a:spcPts val="1833"/>
              </a:lnSpc>
              <a:buSzPct val="100000"/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inventory synchronisation</a:t>
            </a: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970335D-1505-79C5-EF34-D696415A8B27}"/>
              </a:ext>
            </a:extLst>
          </p:cNvPr>
          <p:cNvSpPr/>
          <p:nvPr/>
        </p:nvSpPr>
        <p:spPr>
          <a:xfrm>
            <a:off x="4683735" y="4640829"/>
            <a:ext cx="282453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  <a:buSzPct val="100000"/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Joint marketing initiatives </a:t>
            </a:r>
          </a:p>
          <a:p>
            <a:pPr algn="ctr">
              <a:lnSpc>
                <a:spcPts val="1833"/>
              </a:lnSpc>
              <a:buSzPct val="100000"/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for enhanced demand matching</a:t>
            </a:r>
          </a:p>
          <a:p>
            <a:pPr marL="285739" indent="-285739" algn="ctr">
              <a:lnSpc>
                <a:spcPts val="1833"/>
              </a:lnSpc>
              <a:buSzPct val="100000"/>
              <a:buChar char="•"/>
            </a:pP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475E6CA-BEBF-001C-0F45-0DCAE5CA9DA0}"/>
              </a:ext>
            </a:extLst>
          </p:cNvPr>
          <p:cNvSpPr/>
          <p:nvPr/>
        </p:nvSpPr>
        <p:spPr>
          <a:xfrm>
            <a:off x="8443651" y="4640829"/>
            <a:ext cx="298184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  <a:buSzPct val="100000"/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SLA-driven accountability </a:t>
            </a:r>
          </a:p>
          <a:p>
            <a:pPr algn="ctr">
              <a:lnSpc>
                <a:spcPts val="1833"/>
              </a:lnSpc>
              <a:buSzPct val="100000"/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frameworks</a:t>
            </a:r>
            <a:endParaRPr lang="en-US" sz="1500" b="1" dirty="0">
              <a:latin typeface="Eurobank Sans" panose="02000503000000020004" pitchFamily="2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7F330C1-7C0E-B591-5CAC-DAE38DE83548}"/>
              </a:ext>
            </a:extLst>
          </p:cNvPr>
          <p:cNvSpPr/>
          <p:nvPr/>
        </p:nvSpPr>
        <p:spPr>
          <a:xfrm>
            <a:off x="656531" y="3609579"/>
            <a:ext cx="347225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87E237B-CCC3-FEAE-3B19-B55B57D6FD25}"/>
              </a:ext>
            </a:extLst>
          </p:cNvPr>
          <p:cNvSpPr/>
          <p:nvPr/>
        </p:nvSpPr>
        <p:spPr>
          <a:xfrm>
            <a:off x="2257425" y="3707805"/>
            <a:ext cx="27047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125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25" dirty="0">
              <a:latin typeface="Eurobank Sans" panose="02000503000000020004" pitchFamily="2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0D18B5A-19BF-984C-D20A-54901DA07569}"/>
              </a:ext>
            </a:extLst>
          </p:cNvPr>
          <p:cNvSpPr/>
          <p:nvPr/>
        </p:nvSpPr>
        <p:spPr>
          <a:xfrm>
            <a:off x="4359871" y="3609579"/>
            <a:ext cx="347225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5163BBC-1831-05EB-640D-0D6D6E946614}"/>
              </a:ext>
            </a:extLst>
          </p:cNvPr>
          <p:cNvSpPr/>
          <p:nvPr/>
        </p:nvSpPr>
        <p:spPr>
          <a:xfrm>
            <a:off x="5960765" y="3707805"/>
            <a:ext cx="27047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125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25" dirty="0">
              <a:latin typeface="Eurobank Sans" panose="02000503000000020004" pitchFamily="2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98714601-1A21-F194-E1C8-467AADE73BE5}"/>
              </a:ext>
            </a:extLst>
          </p:cNvPr>
          <p:cNvSpPr/>
          <p:nvPr/>
        </p:nvSpPr>
        <p:spPr>
          <a:xfrm>
            <a:off x="8063211" y="3609579"/>
            <a:ext cx="347225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F8902B1-8E32-8232-8C4C-AF8845B7CD2F}"/>
              </a:ext>
            </a:extLst>
          </p:cNvPr>
          <p:cNvSpPr/>
          <p:nvPr/>
        </p:nvSpPr>
        <p:spPr>
          <a:xfrm>
            <a:off x="9664105" y="3707805"/>
            <a:ext cx="27047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2125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25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8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885B-B12E-7E32-E254-6729508B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6">
            <a:extLst>
              <a:ext uri="{FF2B5EF4-FFF2-40B4-BE49-F238E27FC236}">
                <a16:creationId xmlns:a16="http://schemas.microsoft.com/office/drawing/2014/main" id="{F9E4980B-CC13-80C5-CB5D-6E3486A97E2F}"/>
              </a:ext>
            </a:extLst>
          </p:cNvPr>
          <p:cNvSpPr/>
          <p:nvPr/>
        </p:nvSpPr>
        <p:spPr>
          <a:xfrm>
            <a:off x="629444" y="5092948"/>
            <a:ext cx="4955279" cy="1103016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AE01FE5F-9851-F5A0-A710-C343D9A6A62E}"/>
              </a:ext>
            </a:extLst>
          </p:cNvPr>
          <p:cNvSpPr/>
          <p:nvPr/>
        </p:nvSpPr>
        <p:spPr>
          <a:xfrm>
            <a:off x="6206938" y="5123618"/>
            <a:ext cx="4955279" cy="1103016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23884900-D74C-E43A-92F4-2284BF4397BA}"/>
              </a:ext>
            </a:extLst>
          </p:cNvPr>
          <p:cNvSpPr/>
          <p:nvPr/>
        </p:nvSpPr>
        <p:spPr>
          <a:xfrm>
            <a:off x="6206939" y="3672432"/>
            <a:ext cx="4955279" cy="1103016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F75D938-4F9E-2657-1DFF-389BE9D9B2FC}"/>
              </a:ext>
            </a:extLst>
          </p:cNvPr>
          <p:cNvSpPr/>
          <p:nvPr/>
        </p:nvSpPr>
        <p:spPr>
          <a:xfrm>
            <a:off x="629444" y="3672432"/>
            <a:ext cx="4955279" cy="1103016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48D93D5B-F075-7FF6-6282-9F12CDBFFCB3}"/>
              </a:ext>
            </a:extLst>
          </p:cNvPr>
          <p:cNvSpPr/>
          <p:nvPr/>
        </p:nvSpPr>
        <p:spPr>
          <a:xfrm>
            <a:off x="629444" y="5109526"/>
            <a:ext cx="495527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DC10E76-8DD8-CB96-8B31-9E26691EFC97}"/>
              </a:ext>
            </a:extLst>
          </p:cNvPr>
          <p:cNvSpPr/>
          <p:nvPr/>
        </p:nvSpPr>
        <p:spPr>
          <a:xfrm>
            <a:off x="6208315" y="5123618"/>
            <a:ext cx="495527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75973926-3A4C-E480-F017-B99AA96AD462}"/>
              </a:ext>
            </a:extLst>
          </p:cNvPr>
          <p:cNvSpPr/>
          <p:nvPr/>
        </p:nvSpPr>
        <p:spPr>
          <a:xfrm>
            <a:off x="6208316" y="3672431"/>
            <a:ext cx="495527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83D65D9-50C2-B4C3-BB51-2DF27BAED422}"/>
              </a:ext>
            </a:extLst>
          </p:cNvPr>
          <p:cNvSpPr/>
          <p:nvPr/>
        </p:nvSpPr>
        <p:spPr>
          <a:xfrm>
            <a:off x="629444" y="3672432"/>
            <a:ext cx="4955279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6D57DBD0-B35D-BF5D-4E35-81AF50E21532}"/>
              </a:ext>
            </a:extLst>
          </p:cNvPr>
          <p:cNvSpPr/>
          <p:nvPr/>
        </p:nvSpPr>
        <p:spPr>
          <a:xfrm>
            <a:off x="629444" y="1806470"/>
            <a:ext cx="6268641" cy="5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Digital Remarketing Platform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F12C29A-1441-E878-EAA5-C87467C7D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44" y="3718123"/>
            <a:ext cx="449560" cy="44956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0865B66-C607-E3B6-8D4F-D6619170DD68}"/>
              </a:ext>
            </a:extLst>
          </p:cNvPr>
          <p:cNvSpPr/>
          <p:nvPr/>
        </p:nvSpPr>
        <p:spPr>
          <a:xfrm>
            <a:off x="1303735" y="3824883"/>
            <a:ext cx="2764929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Centralised Management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8B7F70-52E7-7E4F-95B0-3089E0B39789}"/>
              </a:ext>
            </a:extLst>
          </p:cNvPr>
          <p:cNvSpPr/>
          <p:nvPr/>
        </p:nvSpPr>
        <p:spPr>
          <a:xfrm>
            <a:off x="1303736" y="4213721"/>
            <a:ext cx="4280988" cy="57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Unified inventory control and auction management system for streamlined operations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BBACF74B-6FBC-6650-F927-225C3BD8D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316" y="3718123"/>
            <a:ext cx="449560" cy="44956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4C7696B-895D-4C87-3E9E-27C9332EEC36}"/>
              </a:ext>
            </a:extLst>
          </p:cNvPr>
          <p:cNvSpPr/>
          <p:nvPr/>
        </p:nvSpPr>
        <p:spPr>
          <a:xfrm>
            <a:off x="6882606" y="3824883"/>
            <a:ext cx="224819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Dynamic Pricing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C1D3E54-F10D-079C-A66B-48647B4ECF6A}"/>
              </a:ext>
            </a:extLst>
          </p:cNvPr>
          <p:cNvSpPr/>
          <p:nvPr/>
        </p:nvSpPr>
        <p:spPr>
          <a:xfrm>
            <a:off x="6882606" y="4213721"/>
            <a:ext cx="4280989" cy="57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Market-responsive pricing algorithms based on real-time signals and vehicle condition assessments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13D20459-DB85-2812-52C7-5E8CCC51A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44" y="5148858"/>
            <a:ext cx="449560" cy="44956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3F3F7B4-6A55-CE91-52A4-6428AC3D4B9C}"/>
              </a:ext>
            </a:extLst>
          </p:cNvPr>
          <p:cNvSpPr/>
          <p:nvPr/>
        </p:nvSpPr>
        <p:spPr>
          <a:xfrm>
            <a:off x="1303734" y="5255618"/>
            <a:ext cx="252571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Performance Analytics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D472169-FFEB-C63E-B9DD-DA5D29ED45C8}"/>
              </a:ext>
            </a:extLst>
          </p:cNvPr>
          <p:cNvSpPr/>
          <p:nvPr/>
        </p:nvSpPr>
        <p:spPr>
          <a:xfrm>
            <a:off x="1303736" y="5644456"/>
            <a:ext cx="4280988" cy="57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Comprehensive dashboard for tracking KPIs and supporting data-driven decision making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215E6FB8-E46B-D3EA-E4DB-8549004EA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316" y="5148858"/>
            <a:ext cx="449560" cy="4495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769C8610-8B37-6A79-5BE9-79AAD9448A9B}"/>
              </a:ext>
            </a:extLst>
          </p:cNvPr>
          <p:cNvSpPr/>
          <p:nvPr/>
        </p:nvSpPr>
        <p:spPr>
          <a:xfrm>
            <a:off x="6882606" y="5255618"/>
            <a:ext cx="224819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System Integration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7267548-669A-6F18-5E35-67B41F347398}"/>
              </a:ext>
            </a:extLst>
          </p:cNvPr>
          <p:cNvSpPr/>
          <p:nvPr/>
        </p:nvSpPr>
        <p:spPr>
          <a:xfrm>
            <a:off x="6882606" y="5644456"/>
            <a:ext cx="4280988" cy="57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Seamless connectivity with dealer CRM, marketplace platforms, and logistics providers</a:t>
            </a:r>
            <a:endParaRPr lang="en-US" sz="1500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9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9CA0-2E15-0C00-F011-0CED5F55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">
            <a:extLst>
              <a:ext uri="{FF2B5EF4-FFF2-40B4-BE49-F238E27FC236}">
                <a16:creationId xmlns:a16="http://schemas.microsoft.com/office/drawing/2014/main" id="{AA13CC69-1709-2144-2E7C-CBA44F9E7D94}"/>
              </a:ext>
            </a:extLst>
          </p:cNvPr>
          <p:cNvSpPr/>
          <p:nvPr/>
        </p:nvSpPr>
        <p:spPr>
          <a:xfrm>
            <a:off x="78837" y="5264356"/>
            <a:ext cx="5865516" cy="146811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r>
              <a:rPr lang="en-US" sz="1400" dirty="0">
                <a:latin typeface="Eurobank Sans" panose="02000503000000020004" pitchFamily="2" charset="0"/>
              </a:rPr>
              <a:t>Integration with EU logistics platforms (customs clearance, tax handling).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Eurobank Sans" panose="02000503000000020004" pitchFamily="2" charset="0"/>
              </a:rPr>
              <a:t>Multi-country transport scheduling with SLA-based commitments</a:t>
            </a:r>
            <a:endParaRPr lang="el-GR" sz="1400" dirty="0">
              <a:latin typeface="Eurobank Sans" panose="02000503000000020004" pitchFamily="2" charset="0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4ACC8DF7-E0A6-9D9C-A196-24268E752C28}"/>
              </a:ext>
            </a:extLst>
          </p:cNvPr>
          <p:cNvSpPr/>
          <p:nvPr/>
        </p:nvSpPr>
        <p:spPr>
          <a:xfrm>
            <a:off x="6059453" y="3666861"/>
            <a:ext cx="6083385" cy="146811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r>
              <a:rPr lang="en-US" sz="1400" dirty="0">
                <a:latin typeface="Eurobank Sans" panose="02000503000000020004" pitchFamily="2" charset="0"/>
              </a:rPr>
              <a:t>Partnerships with specialized car transporters for domestic &amp; cross-border delivery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Eurobank Sans" panose="02000503000000020004" pitchFamily="2" charset="0"/>
              </a:rPr>
              <a:t>Route optimization to minimize costs and reduce time-to- market</a:t>
            </a:r>
            <a:endParaRPr lang="el-GR" sz="1400" dirty="0">
              <a:latin typeface="Eurobank Sans" panose="02000503000000020004" pitchFamily="2" charset="0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D1E325C-5F57-A5B1-39BB-3E2BCDCEF789}"/>
              </a:ext>
            </a:extLst>
          </p:cNvPr>
          <p:cNvSpPr/>
          <p:nvPr/>
        </p:nvSpPr>
        <p:spPr>
          <a:xfrm>
            <a:off x="78837" y="3666861"/>
            <a:ext cx="5865515" cy="1468115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r>
              <a:rPr lang="en-US" sz="1400" dirty="0">
                <a:latin typeface="Eurobank Sans" panose="02000503000000020004" pitchFamily="2" charset="0"/>
              </a:rPr>
              <a:t>Dedicated hub for repossessed vehicle storage, inspection, and re-dispatch.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Eurobank Sans" panose="02000503000000020004" pitchFamily="2" charset="0"/>
              </a:rPr>
              <a:t>Real-time tracking of vehicle location and status.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84125CD-E5D4-D6A4-1596-D783311ED6A7}"/>
              </a:ext>
            </a:extLst>
          </p:cNvPr>
          <p:cNvSpPr/>
          <p:nvPr/>
        </p:nvSpPr>
        <p:spPr>
          <a:xfrm>
            <a:off x="661491" y="953432"/>
            <a:ext cx="876764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600" b="1" dirty="0">
                <a:latin typeface="Eurobank Sans" panose="02000503000000020004" pitchFamily="2" charset="0"/>
              </a:rPr>
              <a:t>Logistics Optimization</a:t>
            </a:r>
          </a:p>
          <a:p>
            <a:pPr>
              <a:lnSpc>
                <a:spcPts val="4625"/>
              </a:lnSpc>
            </a:pPr>
            <a:r>
              <a:rPr lang="en-US" sz="1400" dirty="0">
                <a:latin typeface="Eurobank Sans" panose="02000503000000020004" pitchFamily="2" charset="0"/>
              </a:rPr>
              <a:t>Rapid fulfilment and cross-border transport network</a:t>
            </a:r>
            <a:endParaRPr lang="en-US" sz="1400" b="1" i="1" dirty="0">
              <a:solidFill>
                <a:srgbClr val="000000"/>
              </a:solidFill>
              <a:latin typeface="Eurobank Sans" panose="02000503000000020004" pitchFamily="2" charset="0"/>
              <a:ea typeface="Inter Bold" pitchFamily="34" charset="-122"/>
            </a:endParaRPr>
          </a:p>
          <a:p>
            <a:pPr>
              <a:lnSpc>
                <a:spcPts val="4625"/>
              </a:lnSpc>
            </a:pPr>
            <a:r>
              <a:rPr lang="en-US" sz="30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  </a:t>
            </a:r>
            <a:endParaRPr lang="en-US" sz="3000" dirty="0">
              <a:latin typeface="Eurobank Sans" panose="0200050300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FA6733-6D23-5C15-6292-6F6A28E22282}"/>
              </a:ext>
            </a:extLst>
          </p:cNvPr>
          <p:cNvSpPr/>
          <p:nvPr/>
        </p:nvSpPr>
        <p:spPr>
          <a:xfrm>
            <a:off x="661492" y="2396088"/>
            <a:ext cx="28549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8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Key Pillars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1CEA1407-CBAA-403F-3915-CAC891F4CFC2}"/>
              </a:ext>
            </a:extLst>
          </p:cNvPr>
          <p:cNvSpPr/>
          <p:nvPr/>
        </p:nvSpPr>
        <p:spPr>
          <a:xfrm>
            <a:off x="6059452" y="5285194"/>
            <a:ext cx="6083387" cy="1447277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endParaRPr lang="en-US" sz="1400" dirty="0">
              <a:latin typeface="Eurobank Sans" panose="02000503000000020004" pitchFamily="2" charset="0"/>
            </a:endParaRPr>
          </a:p>
          <a:p>
            <a:r>
              <a:rPr lang="en-US" sz="1400" dirty="0">
                <a:latin typeface="Eurobank Sans" panose="02000503000000020004" pitchFamily="2" charset="0"/>
              </a:rPr>
              <a:t>Automatic allocation of vehicles to closest logistics hub based on demand.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Eurobank Sans" panose="02000503000000020004" pitchFamily="2" charset="0"/>
              </a:rPr>
              <a:t>Digital docs: transport orders, customs paperwork, delivery confirmations.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DD872F6-3EF9-01D0-73A8-D05DB3A53FDB}"/>
              </a:ext>
            </a:extLst>
          </p:cNvPr>
          <p:cNvSpPr/>
          <p:nvPr/>
        </p:nvSpPr>
        <p:spPr>
          <a:xfrm>
            <a:off x="78837" y="5276673"/>
            <a:ext cx="5865516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Eurobank Sans" panose="02000503000000020004" pitchFamily="2" charset="0"/>
              </a:rPr>
              <a:t>          Cross-Border Capabilities</a:t>
            </a:r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F18C533-F3CC-5B5C-2625-0C48064AF084}"/>
              </a:ext>
            </a:extLst>
          </p:cNvPr>
          <p:cNvSpPr/>
          <p:nvPr/>
        </p:nvSpPr>
        <p:spPr>
          <a:xfrm>
            <a:off x="6060830" y="5290765"/>
            <a:ext cx="6062163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Eurobank Sans" panose="02000503000000020004" pitchFamily="2" charset="0"/>
              </a:rPr>
              <a:t>          Workflow Automation</a:t>
            </a:r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7E95492-A857-E7B2-F86C-189E6688558E}"/>
              </a:ext>
            </a:extLst>
          </p:cNvPr>
          <p:cNvSpPr/>
          <p:nvPr/>
        </p:nvSpPr>
        <p:spPr>
          <a:xfrm>
            <a:off x="6060830" y="3672431"/>
            <a:ext cx="6062163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Eurobank Sans" panose="02000503000000020004" pitchFamily="2" charset="0"/>
              </a:rPr>
              <a:t>          Transport Network Optimization</a:t>
            </a:r>
            <a:endParaRPr lang="el-GR" sz="1500" dirty="0">
              <a:latin typeface="Eurobank Sans" panose="02000503000000020004" pitchFamily="2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49AE5B1-7F16-B039-B679-A22155D54EA6}"/>
              </a:ext>
            </a:extLst>
          </p:cNvPr>
          <p:cNvSpPr/>
          <p:nvPr/>
        </p:nvSpPr>
        <p:spPr>
          <a:xfrm>
            <a:off x="78838" y="3672432"/>
            <a:ext cx="5865514" cy="540941"/>
          </a:xfrm>
          <a:prstGeom prst="roundRect">
            <a:avLst>
              <a:gd name="adj" fmla="val 8367"/>
            </a:avLst>
          </a:prstGeom>
          <a:solidFill>
            <a:srgbClr val="DADBF1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Eurobank Sans" panose="02000503000000020004" pitchFamily="2" charset="0"/>
              </a:rPr>
              <a:t>          Centralized Logistics Coordination</a:t>
            </a:r>
          </a:p>
        </p:txBody>
      </p:sp>
      <p:pic>
        <p:nvPicPr>
          <p:cNvPr id="22" name="Graphic 21" descr="Car Mechanic outline">
            <a:extLst>
              <a:ext uri="{FF2B5EF4-FFF2-40B4-BE49-F238E27FC236}">
                <a16:creationId xmlns:a16="http://schemas.microsoft.com/office/drawing/2014/main" id="{7C0691E0-E630-4128-19C2-05F11E0AA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12" y="3776952"/>
            <a:ext cx="331897" cy="331897"/>
          </a:xfrm>
          <a:prstGeom prst="rect">
            <a:avLst/>
          </a:prstGeom>
        </p:spPr>
      </p:pic>
      <p:pic>
        <p:nvPicPr>
          <p:cNvPr id="23" name="Graphic 22" descr="Car Mechanic outline">
            <a:extLst>
              <a:ext uri="{FF2B5EF4-FFF2-40B4-BE49-F238E27FC236}">
                <a16:creationId xmlns:a16="http://schemas.microsoft.com/office/drawing/2014/main" id="{5B9773EC-1D2C-384C-B3B2-2C7418C2D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3776951"/>
            <a:ext cx="331897" cy="331897"/>
          </a:xfrm>
          <a:prstGeom prst="rect">
            <a:avLst/>
          </a:prstGeom>
        </p:spPr>
      </p:pic>
      <p:pic>
        <p:nvPicPr>
          <p:cNvPr id="17" name="Graphic 16" descr="Car Mechanic outline">
            <a:extLst>
              <a:ext uri="{FF2B5EF4-FFF2-40B4-BE49-F238E27FC236}">
                <a16:creationId xmlns:a16="http://schemas.microsoft.com/office/drawing/2014/main" id="{ED5DBF50-D8E7-43AE-1F1E-179A135A1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12" y="5381194"/>
            <a:ext cx="331897" cy="331897"/>
          </a:xfrm>
          <a:prstGeom prst="rect">
            <a:avLst/>
          </a:prstGeom>
        </p:spPr>
      </p:pic>
      <p:pic>
        <p:nvPicPr>
          <p:cNvPr id="18" name="Graphic 17" descr="Car Mechanic outline">
            <a:extLst>
              <a:ext uri="{FF2B5EF4-FFF2-40B4-BE49-F238E27FC236}">
                <a16:creationId xmlns:a16="http://schemas.microsoft.com/office/drawing/2014/main" id="{CECFD739-8E8B-7C9D-2B6F-1F4F48AF2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3889" y="5381193"/>
            <a:ext cx="331897" cy="33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7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9955-173E-4309-C5FF-CF723FF8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E2F48E4-1D24-CC0F-8216-ED6898E26D5C}"/>
              </a:ext>
            </a:extLst>
          </p:cNvPr>
          <p:cNvSpPr/>
          <p:nvPr/>
        </p:nvSpPr>
        <p:spPr>
          <a:xfrm>
            <a:off x="661492" y="953432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6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Risk Management Framework</a:t>
            </a:r>
          </a:p>
          <a:p>
            <a:pPr>
              <a:lnSpc>
                <a:spcPts val="4625"/>
              </a:lnSpc>
            </a:pPr>
            <a:r>
              <a:rPr lang="en-US" sz="1600" b="1" i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(enhancement of current state)</a:t>
            </a:r>
          </a:p>
          <a:p>
            <a:pPr>
              <a:lnSpc>
                <a:spcPts val="4625"/>
              </a:lnSpc>
            </a:pPr>
            <a:r>
              <a:rPr lang="en-US" sz="30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</a:rPr>
              <a:t>  </a:t>
            </a:r>
            <a:endParaRPr lang="en-US" sz="3000" dirty="0">
              <a:latin typeface="Eurobank Sans" panose="02000503000000020004" pitchFamily="2" charset="0"/>
            </a:endParaRP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0AEB07D-6D36-8E16-2673-3F101A75F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92" y="2418198"/>
            <a:ext cx="945058" cy="1391543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97312C5-0896-FACF-C9C2-D20ECE8FFE1D}"/>
              </a:ext>
            </a:extLst>
          </p:cNvPr>
          <p:cNvSpPr/>
          <p:nvPr/>
        </p:nvSpPr>
        <p:spPr>
          <a:xfrm>
            <a:off x="1795562" y="2607210"/>
            <a:ext cx="28549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Performance Risk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05DB98-891D-5717-00C2-1D0972A4B287}"/>
              </a:ext>
            </a:extLst>
          </p:cNvPr>
          <p:cNvSpPr/>
          <p:nvPr/>
        </p:nvSpPr>
        <p:spPr>
          <a:xfrm>
            <a:off x="1795562" y="3015892"/>
            <a:ext cx="51629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Mitigation:</a:t>
            </a: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Performance clauses with secondary sales channels and regular monitoring protocols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8C6F9D38-01B1-2B2A-FDA5-AE56FB621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3809741"/>
            <a:ext cx="945058" cy="1391543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0E24362-D2C4-164B-B705-A5F7BAB7984B}"/>
              </a:ext>
            </a:extLst>
          </p:cNvPr>
          <p:cNvSpPr/>
          <p:nvPr/>
        </p:nvSpPr>
        <p:spPr>
          <a:xfrm>
            <a:off x="1795562" y="3998752"/>
            <a:ext cx="25909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Partner Reliability Risk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C74863E-8FB6-BFBC-5025-D77A5035922F}"/>
              </a:ext>
            </a:extLst>
          </p:cNvPr>
          <p:cNvSpPr/>
          <p:nvPr/>
        </p:nvSpPr>
        <p:spPr>
          <a:xfrm>
            <a:off x="1795562" y="4407435"/>
            <a:ext cx="51629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Mitigation:</a:t>
            </a: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Service Level Agreements with multiple marketplace partnerships for redundancy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CC15F873-FD3C-47BB-6301-C7E404B98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5201284"/>
            <a:ext cx="945058" cy="1391543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81C6DE9-068C-C7B2-A95F-34B206240C57}"/>
              </a:ext>
            </a:extLst>
          </p:cNvPr>
          <p:cNvSpPr/>
          <p:nvPr/>
        </p:nvSpPr>
        <p:spPr>
          <a:xfrm>
            <a:off x="1795562" y="5390296"/>
            <a:ext cx="2436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Market Volatility Risk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253AC8A-2FD8-B1BE-F66B-9FC24891F659}"/>
              </a:ext>
            </a:extLst>
          </p:cNvPr>
          <p:cNvSpPr/>
          <p:nvPr/>
        </p:nvSpPr>
        <p:spPr>
          <a:xfrm>
            <a:off x="1795562" y="5798978"/>
            <a:ext cx="51629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Mitigation:</a:t>
            </a: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 Dynamic pricing algorithms and diversified logistics network capabilities</a:t>
            </a:r>
            <a:endParaRPr lang="en-US" sz="1500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29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C3B5-B538-6563-644F-8E9C3CE7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F7D4A4-C6DD-88A1-7B01-4EA6D9B8F494}"/>
              </a:ext>
            </a:extLst>
          </p:cNvPr>
          <p:cNvSpPr/>
          <p:nvPr/>
        </p:nvSpPr>
        <p:spPr>
          <a:xfrm>
            <a:off x="485510" y="1085095"/>
            <a:ext cx="5653981" cy="494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75"/>
              </a:lnSpc>
            </a:pPr>
            <a:r>
              <a:rPr lang="en-US" sz="3083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Implementation plan</a:t>
            </a:r>
            <a:endParaRPr lang="en-US" sz="3083" dirty="0">
              <a:latin typeface="Eurobank Sans" panose="02000503000000020004" pitchFamily="2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45EE6-6155-D86D-00DA-FDBB22573ED4}"/>
              </a:ext>
            </a:extLst>
          </p:cNvPr>
          <p:cNvSpPr/>
          <p:nvPr/>
        </p:nvSpPr>
        <p:spPr>
          <a:xfrm>
            <a:off x="485510" y="3728382"/>
            <a:ext cx="11083330" cy="19050"/>
          </a:xfrm>
          <a:prstGeom prst="roundRect">
            <a:avLst>
              <a:gd name="adj" fmla="val 34924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3A8119-4750-B89D-8D13-76FB70536AF8}"/>
              </a:ext>
            </a:extLst>
          </p:cNvPr>
          <p:cNvSpPr/>
          <p:nvPr/>
        </p:nvSpPr>
        <p:spPr>
          <a:xfrm>
            <a:off x="2633199" y="3253223"/>
            <a:ext cx="19050" cy="475158"/>
          </a:xfrm>
          <a:prstGeom prst="roundRect">
            <a:avLst>
              <a:gd name="adj" fmla="val 34924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7E2342-E0FB-4A2F-07CB-86EF57BE4AF2}"/>
              </a:ext>
            </a:extLst>
          </p:cNvPr>
          <p:cNvSpPr/>
          <p:nvPr/>
        </p:nvSpPr>
        <p:spPr>
          <a:xfrm>
            <a:off x="2464528" y="3550185"/>
            <a:ext cx="356394" cy="356394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622DBF-030E-0870-59AD-E08FCDC9B39B}"/>
              </a:ext>
            </a:extLst>
          </p:cNvPr>
          <p:cNvSpPr/>
          <p:nvPr/>
        </p:nvSpPr>
        <p:spPr>
          <a:xfrm>
            <a:off x="2523959" y="3579901"/>
            <a:ext cx="237530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1FF174-D9B3-998C-9EC4-38B25418ABBB}"/>
              </a:ext>
            </a:extLst>
          </p:cNvPr>
          <p:cNvSpPr/>
          <p:nvPr/>
        </p:nvSpPr>
        <p:spPr>
          <a:xfrm>
            <a:off x="1652720" y="1896804"/>
            <a:ext cx="198000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Phase 1: Foundation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E92BCE-1416-A63E-DBE3-5AF85E3D644F}"/>
              </a:ext>
            </a:extLst>
          </p:cNvPr>
          <p:cNvSpPr/>
          <p:nvPr/>
        </p:nvSpPr>
        <p:spPr>
          <a:xfrm>
            <a:off x="643864" y="2239307"/>
            <a:ext cx="3997821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Dealer network audit, contract negotiation, and initial onboarding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296ACF-78DF-4658-5F89-1F74F6DBD2E0}"/>
              </a:ext>
            </a:extLst>
          </p:cNvPr>
          <p:cNvSpPr/>
          <p:nvPr/>
        </p:nvSpPr>
        <p:spPr>
          <a:xfrm>
            <a:off x="643864" y="2841267"/>
            <a:ext cx="3997821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i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0-2 months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B6F21A-122C-6E85-9CD7-69E274E9C01A}"/>
              </a:ext>
            </a:extLst>
          </p:cNvPr>
          <p:cNvSpPr/>
          <p:nvPr/>
        </p:nvSpPr>
        <p:spPr>
          <a:xfrm>
            <a:off x="4889433" y="3728382"/>
            <a:ext cx="19050" cy="475158"/>
          </a:xfrm>
          <a:prstGeom prst="roundRect">
            <a:avLst>
              <a:gd name="adj" fmla="val 34924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7D168A-648D-2513-350E-3B471F89D44E}"/>
              </a:ext>
            </a:extLst>
          </p:cNvPr>
          <p:cNvSpPr/>
          <p:nvPr/>
        </p:nvSpPr>
        <p:spPr>
          <a:xfrm>
            <a:off x="4720762" y="3550185"/>
            <a:ext cx="356394" cy="356394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1A9819-1C8D-B6C7-9FD2-B36DEB76699B}"/>
              </a:ext>
            </a:extLst>
          </p:cNvPr>
          <p:cNvSpPr/>
          <p:nvPr/>
        </p:nvSpPr>
        <p:spPr>
          <a:xfrm>
            <a:off x="4780194" y="3579901"/>
            <a:ext cx="237530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C7DF11-534C-982F-F660-EC672BAEC2A0}"/>
              </a:ext>
            </a:extLst>
          </p:cNvPr>
          <p:cNvSpPr/>
          <p:nvPr/>
        </p:nvSpPr>
        <p:spPr>
          <a:xfrm>
            <a:off x="3837715" y="4361993"/>
            <a:ext cx="2122488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Phase 2: Partnerships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DB39B42-ACA9-9610-F515-9FDF15AF5ED1}"/>
              </a:ext>
            </a:extLst>
          </p:cNvPr>
          <p:cNvSpPr/>
          <p:nvPr/>
        </p:nvSpPr>
        <p:spPr>
          <a:xfrm>
            <a:off x="2900098" y="4704496"/>
            <a:ext cx="3997821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Marketplace partner identification and system integration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9FCABE-58A2-D142-54F3-E3A79CB5537E}"/>
              </a:ext>
            </a:extLst>
          </p:cNvPr>
          <p:cNvSpPr/>
          <p:nvPr/>
        </p:nvSpPr>
        <p:spPr>
          <a:xfrm>
            <a:off x="2900098" y="5306456"/>
            <a:ext cx="3997821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i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2-4 months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B672A5B-6A77-6FA9-575F-94B2CE114DB9}"/>
              </a:ext>
            </a:extLst>
          </p:cNvPr>
          <p:cNvSpPr/>
          <p:nvPr/>
        </p:nvSpPr>
        <p:spPr>
          <a:xfrm>
            <a:off x="7145668" y="3253223"/>
            <a:ext cx="19050" cy="475158"/>
          </a:xfrm>
          <a:prstGeom prst="roundRect">
            <a:avLst>
              <a:gd name="adj" fmla="val 34924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2F6717-80E6-743A-C97E-9702512BFA5C}"/>
              </a:ext>
            </a:extLst>
          </p:cNvPr>
          <p:cNvSpPr/>
          <p:nvPr/>
        </p:nvSpPr>
        <p:spPr>
          <a:xfrm>
            <a:off x="6976996" y="3550185"/>
            <a:ext cx="356394" cy="356394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E34F8BE-E30A-311D-6730-1C873DF26A3B}"/>
              </a:ext>
            </a:extLst>
          </p:cNvPr>
          <p:cNvSpPr/>
          <p:nvPr/>
        </p:nvSpPr>
        <p:spPr>
          <a:xfrm>
            <a:off x="7036428" y="3579901"/>
            <a:ext cx="237530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E0F611F-C1AF-77C0-3C12-A1218159D4FB}"/>
              </a:ext>
            </a:extLst>
          </p:cNvPr>
          <p:cNvSpPr/>
          <p:nvPr/>
        </p:nvSpPr>
        <p:spPr>
          <a:xfrm>
            <a:off x="6165189" y="1896804"/>
            <a:ext cx="198000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Phase 3: Platform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BB14803-189F-8EB4-2980-FFD589D7A363}"/>
              </a:ext>
            </a:extLst>
          </p:cNvPr>
          <p:cNvSpPr/>
          <p:nvPr/>
        </p:nvSpPr>
        <p:spPr>
          <a:xfrm>
            <a:off x="5156332" y="2239307"/>
            <a:ext cx="3997821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Digital platform deployment, training, and pilot programme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F0A64E4-A6B4-334B-5628-7BB6AEC4269B}"/>
              </a:ext>
            </a:extLst>
          </p:cNvPr>
          <p:cNvSpPr/>
          <p:nvPr/>
        </p:nvSpPr>
        <p:spPr>
          <a:xfrm>
            <a:off x="5156332" y="2841267"/>
            <a:ext cx="3997821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i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4-6 months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1345EE9-16C8-8DC5-0150-2FF9DD3900F0}"/>
              </a:ext>
            </a:extLst>
          </p:cNvPr>
          <p:cNvSpPr/>
          <p:nvPr/>
        </p:nvSpPr>
        <p:spPr>
          <a:xfrm>
            <a:off x="9401903" y="3728382"/>
            <a:ext cx="19050" cy="475158"/>
          </a:xfrm>
          <a:prstGeom prst="roundRect">
            <a:avLst>
              <a:gd name="adj" fmla="val 34924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1FB2CC6-E234-AEB6-4F34-4AF76905A0C9}"/>
              </a:ext>
            </a:extLst>
          </p:cNvPr>
          <p:cNvSpPr/>
          <p:nvPr/>
        </p:nvSpPr>
        <p:spPr>
          <a:xfrm>
            <a:off x="9233231" y="3550185"/>
            <a:ext cx="356394" cy="356394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l-GR" sz="1500">
              <a:latin typeface="Eurobank Sans" panose="02000503000000020004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B478EE7-8CF1-9B95-89E4-4021F263EEA6}"/>
              </a:ext>
            </a:extLst>
          </p:cNvPr>
          <p:cNvSpPr/>
          <p:nvPr/>
        </p:nvSpPr>
        <p:spPr>
          <a:xfrm>
            <a:off x="9292663" y="3579901"/>
            <a:ext cx="237530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33"/>
              </a:lnSpc>
            </a:pPr>
            <a:r>
              <a:rPr lang="en-US" sz="1833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33" dirty="0">
              <a:latin typeface="Eurobank Sans" panose="02000503000000020004" pitchFamily="2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130CD4E-09A7-7411-F48A-B245ADB4BC6C}"/>
              </a:ext>
            </a:extLst>
          </p:cNvPr>
          <p:cNvSpPr/>
          <p:nvPr/>
        </p:nvSpPr>
        <p:spPr>
          <a:xfrm>
            <a:off x="8421423" y="4361993"/>
            <a:ext cx="198000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Phase 4: Scale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39A2BC-B560-7A97-A206-A081FBE37D21}"/>
              </a:ext>
            </a:extLst>
          </p:cNvPr>
          <p:cNvSpPr/>
          <p:nvPr/>
        </p:nvSpPr>
        <p:spPr>
          <a:xfrm>
            <a:off x="7412567" y="4704496"/>
            <a:ext cx="3997821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Full deployment and continuous improvement initiatives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CD361B3-A9C4-DF56-0016-E791AF03FE20}"/>
              </a:ext>
            </a:extLst>
          </p:cNvPr>
          <p:cNvSpPr/>
          <p:nvPr/>
        </p:nvSpPr>
        <p:spPr>
          <a:xfrm>
            <a:off x="7412567" y="5306456"/>
            <a:ext cx="3997821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00" i="1" dirty="0">
                <a:solidFill>
                  <a:srgbClr val="272525"/>
                </a:solidFill>
                <a:latin typeface="Eurobank Sans" panose="02000503000000020004" pitchFamily="2" charset="0"/>
                <a:ea typeface="Inter" pitchFamily="34" charset="-122"/>
                <a:cs typeface="Inter" pitchFamily="34" charset="-120"/>
              </a:rPr>
              <a:t>6-7 months</a:t>
            </a:r>
            <a:endParaRPr lang="en-US" sz="1500" dirty="0">
              <a:latin typeface="Eurobank Sans" panose="02000503000000020004" pitchFamily="2" charset="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319B58F0-B6C2-4F62-0119-893AB56E5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840" y="3628797"/>
            <a:ext cx="247452" cy="1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0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24CEAB7-F0D0-73FE-4DEF-02204ECB07F2}"/>
              </a:ext>
            </a:extLst>
          </p:cNvPr>
          <p:cNvSpPr txBox="1"/>
          <p:nvPr/>
        </p:nvSpPr>
        <p:spPr>
          <a:xfrm>
            <a:off x="0" y="796412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u="sng" dirty="0"/>
              <a:t>Παράδειγμα 1: </a:t>
            </a:r>
            <a:endParaRPr lang="en-US" sz="1400" b="1" u="sng" dirty="0"/>
          </a:p>
          <a:p>
            <a:r>
              <a:rPr lang="el-GR" sz="1400" b="1" dirty="0"/>
              <a:t>Στρατηγική με πολλαπλά επίπεδα για αντιπροσώπους που αναλαμβάνουν</a:t>
            </a:r>
            <a:r>
              <a:rPr lang="en-US" sz="1400" b="1" dirty="0"/>
              <a:t> </a:t>
            </a:r>
            <a:r>
              <a:rPr lang="el-GR" sz="1400" b="1" dirty="0"/>
              <a:t>την αγορά κατασχεμένων οχημάτων</a:t>
            </a:r>
            <a:r>
              <a:rPr lang="en-US" sz="1400" b="1" dirty="0"/>
              <a:t>:</a:t>
            </a:r>
          </a:p>
          <a:p>
            <a:r>
              <a:rPr lang="el-GR" sz="1400" u="sng" dirty="0"/>
              <a:t>Επίπεδο 1 (Bronze):</a:t>
            </a:r>
            <a:endParaRPr lang="en-US" sz="1400" u="sng" dirty="0"/>
          </a:p>
          <a:p>
            <a:r>
              <a:rPr lang="el-GR" sz="1400" dirty="0"/>
              <a:t>Δέσμευση: Αγορά τουλάχιστον 10 κατασχεμένων οχημάτων ανά 6μηνο</a:t>
            </a:r>
            <a:endParaRPr lang="en-US" sz="1400" dirty="0"/>
          </a:p>
          <a:p>
            <a:r>
              <a:rPr lang="el-GR" sz="1400" dirty="0"/>
              <a:t>Κίνητρο: 2% έκπτωση στις χονδρικές τιμές για τα </a:t>
            </a:r>
            <a:r>
              <a:rPr lang="en-US" sz="1400" dirty="0"/>
              <a:t>bulk purchase </a:t>
            </a:r>
            <a:r>
              <a:rPr lang="el-GR" sz="1400" dirty="0"/>
              <a:t>οχημάτων (μετά τα 10 οχήματα του ελάχιστου στόχου)</a:t>
            </a:r>
            <a:endParaRPr lang="en-US" sz="1400" dirty="0"/>
          </a:p>
          <a:p>
            <a:r>
              <a:rPr lang="el-GR" sz="1400" u="sng" dirty="0"/>
              <a:t>Επίπεδο 2 (Silver):</a:t>
            </a:r>
            <a:endParaRPr lang="en-US" sz="1400" u="sng" dirty="0"/>
          </a:p>
          <a:p>
            <a:r>
              <a:rPr lang="el-GR" sz="1400" dirty="0"/>
              <a:t>Δέσμευση: Αγορά 25+ οχημάτων ανά 6μηνο</a:t>
            </a:r>
            <a:endParaRPr lang="en-US" sz="1400" dirty="0"/>
          </a:p>
          <a:p>
            <a:r>
              <a:rPr lang="el-GR" sz="1400" dirty="0"/>
              <a:t>Κίνητρο: 3% έκπτωση για τα </a:t>
            </a:r>
            <a:r>
              <a:rPr lang="en-US" sz="1400" dirty="0"/>
              <a:t>bulk purchase </a:t>
            </a:r>
            <a:r>
              <a:rPr lang="el-GR" sz="1400" dirty="0"/>
              <a:t>οχημάτων + μπόνους επιδόσεων (πάνω από το όριο)</a:t>
            </a:r>
            <a:endParaRPr lang="en-US" sz="1400" dirty="0"/>
          </a:p>
          <a:p>
            <a:r>
              <a:rPr lang="el-GR" sz="1400" dirty="0"/>
              <a:t>Υποστήριξη: Προτεραιότητα στην επιλογή οχημάτων</a:t>
            </a:r>
            <a:endParaRPr lang="en-US" sz="1400" dirty="0"/>
          </a:p>
          <a:p>
            <a:r>
              <a:rPr lang="el-GR" sz="1400" u="sng" dirty="0"/>
              <a:t>Επίπεδο 3 (Gold):</a:t>
            </a:r>
            <a:endParaRPr lang="en-US" sz="1400" u="sng" dirty="0"/>
          </a:p>
          <a:p>
            <a:r>
              <a:rPr lang="el-GR" sz="1400" dirty="0"/>
              <a:t>Δέσμευση: Αγορά 50+ οχημάτων ανά 6μηνο</a:t>
            </a:r>
            <a:endParaRPr lang="en-US" sz="1400" dirty="0"/>
          </a:p>
          <a:p>
            <a:r>
              <a:rPr lang="el-GR" sz="1400" dirty="0"/>
              <a:t>Κίνητρο: 5% έκπτωση για τα </a:t>
            </a:r>
            <a:r>
              <a:rPr lang="en-US" sz="1400" dirty="0"/>
              <a:t>bulk purchase </a:t>
            </a:r>
            <a:r>
              <a:rPr lang="el-GR" sz="1400" dirty="0"/>
              <a:t>οχημάτων + επιπλέον χρηματικά μπόνους</a:t>
            </a:r>
            <a:endParaRPr lang="en-US" sz="1400" dirty="0"/>
          </a:p>
          <a:p>
            <a:r>
              <a:rPr lang="el-GR" sz="1400" dirty="0"/>
              <a:t>Υποστήριξη: Αποκλειστική πρόσβαση σε νέα αποθέματα κατασχεμένων, ενισχυμένη διαφημιστική υποστήριξη</a:t>
            </a:r>
            <a:endParaRPr lang="en-US" sz="1400" dirty="0"/>
          </a:p>
          <a:p>
            <a:endParaRPr lang="en-US" sz="1400" dirty="0"/>
          </a:p>
          <a:p>
            <a:r>
              <a:rPr lang="el-GR" sz="1400" b="1" u="sng" dirty="0"/>
              <a:t>Παράδειγμα 2: </a:t>
            </a:r>
            <a:endParaRPr lang="en-US" sz="1400" b="1" u="sng" dirty="0"/>
          </a:p>
          <a:p>
            <a:r>
              <a:rPr lang="el-GR" sz="1400" b="1" dirty="0"/>
              <a:t>Συμβάσεις με ελάχιστες πωλήσεις ανά όγκο για dealers σε remarketing κατασχεμένων</a:t>
            </a:r>
            <a:endParaRPr lang="en-US" sz="1400" b="1" dirty="0"/>
          </a:p>
          <a:p>
            <a:r>
              <a:rPr lang="el-GR" sz="1400" u="sng" dirty="0"/>
              <a:t>Tier.1:</a:t>
            </a:r>
            <a:endParaRPr lang="en-US" sz="1400" u="sng" dirty="0"/>
          </a:p>
          <a:p>
            <a:r>
              <a:rPr lang="el-GR" sz="1400" dirty="0"/>
              <a:t>Ελάχιστη δέσμευση: 50% οχημάτων/από </a:t>
            </a:r>
            <a:r>
              <a:rPr lang="en-US" sz="1400" dirty="0"/>
              <a:t>stock</a:t>
            </a:r>
            <a:r>
              <a:rPr lang="el-GR" sz="1400" dirty="0"/>
              <a:t> σε διάστημα 2μηνών</a:t>
            </a:r>
            <a:r>
              <a:rPr lang="en-US" sz="1400" dirty="0"/>
              <a:t> </a:t>
            </a:r>
            <a:r>
              <a:rPr lang="el-GR" sz="1400" dirty="0"/>
              <a:t>από την αγορά τους</a:t>
            </a:r>
            <a:endParaRPr lang="en-US" sz="1400" dirty="0"/>
          </a:p>
          <a:p>
            <a:r>
              <a:rPr lang="en-US" sz="1400" dirty="0"/>
              <a:t>Bonus</a:t>
            </a:r>
            <a:r>
              <a:rPr lang="el-GR" sz="1400" dirty="0"/>
              <a:t>: 2%</a:t>
            </a:r>
            <a:r>
              <a:rPr lang="en-US" sz="1400" dirty="0"/>
              <a:t> extra commission </a:t>
            </a:r>
            <a:r>
              <a:rPr lang="el-GR" sz="1400" dirty="0"/>
              <a:t>στο συνολικό ποσό δανείων που εκταμιεύτηκαν για την αγορά των συγκεκριμένων οχημάτων</a:t>
            </a:r>
            <a:endParaRPr lang="en-US" sz="1400" dirty="0"/>
          </a:p>
          <a:p>
            <a:r>
              <a:rPr lang="el-GR" sz="1400" dirty="0"/>
              <a:t>Κίνητρο: Πρόσβαση σε online πλατφόρμα για άμεση ενημέρωση οχημάτων</a:t>
            </a:r>
            <a:endParaRPr lang="en-US" sz="1400" dirty="0"/>
          </a:p>
          <a:p>
            <a:r>
              <a:rPr lang="el-GR" sz="1400" u="sng" dirty="0"/>
              <a:t>Tier.2:</a:t>
            </a:r>
            <a:endParaRPr lang="en-US" sz="1400" u="sng" dirty="0"/>
          </a:p>
          <a:p>
            <a:r>
              <a:rPr lang="el-GR" sz="1400" dirty="0"/>
              <a:t>Ελάχιστη δέσμευση: 70% οχημάτων/από </a:t>
            </a:r>
            <a:r>
              <a:rPr lang="en-US" sz="1400" dirty="0"/>
              <a:t>stock</a:t>
            </a:r>
            <a:r>
              <a:rPr lang="el-GR" sz="1400" dirty="0"/>
              <a:t> σε διάστημα 2μηνών από την αγορά τους</a:t>
            </a:r>
            <a:r>
              <a:rPr lang="en-US" sz="1400" dirty="0"/>
              <a:t> </a:t>
            </a:r>
          </a:p>
          <a:p>
            <a:r>
              <a:rPr lang="en-US" sz="1400" dirty="0"/>
              <a:t>Bonus</a:t>
            </a:r>
            <a:r>
              <a:rPr lang="el-GR" sz="1400" dirty="0"/>
              <a:t>: 3% </a:t>
            </a:r>
            <a:r>
              <a:rPr lang="en-US" sz="1400" dirty="0"/>
              <a:t>extra commission </a:t>
            </a:r>
            <a:r>
              <a:rPr lang="el-GR" sz="1400" dirty="0"/>
              <a:t>στο συνολικό ποσό δανείων που εκταμιεύτηκαν για την αγορά των συγκεκριμένων οχημάτων</a:t>
            </a:r>
            <a:endParaRPr lang="en-US" sz="1400" dirty="0"/>
          </a:p>
          <a:p>
            <a:r>
              <a:rPr lang="el-GR" sz="1400" dirty="0"/>
              <a:t>Κίνητρο: Προτεραιότητα στην επιλογή οχημάτων</a:t>
            </a:r>
            <a:endParaRPr lang="en-US" sz="1400" dirty="0"/>
          </a:p>
          <a:p>
            <a:r>
              <a:rPr lang="el-GR" sz="1400" u="sng" dirty="0"/>
              <a:t>Tier.3:</a:t>
            </a:r>
          </a:p>
          <a:p>
            <a:r>
              <a:rPr lang="el-GR" sz="1400" dirty="0"/>
              <a:t>Ελάχιστη δέσμευση: 80% οχημάτων/από </a:t>
            </a:r>
            <a:r>
              <a:rPr lang="en-US" sz="1400" dirty="0"/>
              <a:t>stock</a:t>
            </a:r>
            <a:r>
              <a:rPr lang="el-GR" sz="1400" dirty="0"/>
              <a:t> σε διάστημα 2μηνών από την αγορά τους</a:t>
            </a:r>
            <a:r>
              <a:rPr lang="en-US" sz="1400" dirty="0"/>
              <a:t> </a:t>
            </a:r>
          </a:p>
          <a:p>
            <a:r>
              <a:rPr lang="en-US" sz="1400" dirty="0"/>
              <a:t>Bonus</a:t>
            </a:r>
            <a:r>
              <a:rPr lang="el-GR" sz="1400" dirty="0"/>
              <a:t>: 5% </a:t>
            </a:r>
            <a:r>
              <a:rPr lang="en-US" sz="1400" dirty="0"/>
              <a:t>extra commission </a:t>
            </a:r>
            <a:r>
              <a:rPr lang="el-GR" sz="1400" dirty="0"/>
              <a:t>στο συνολικό ποσό δανείων που εκταμιεύτηκαν για την αγορά των συγκεκριμένων οχημάτων</a:t>
            </a:r>
            <a:endParaRPr lang="en-US" sz="1400" dirty="0"/>
          </a:p>
          <a:p>
            <a:r>
              <a:rPr lang="el-GR" sz="1400" dirty="0"/>
              <a:t>Κίνητρο: Προτεραιότητα σε οχήματα με μεγαλύτερη ζήτηση, διαφημιστική υποστήριξη</a:t>
            </a:r>
            <a:endParaRPr lang="en-US" sz="1400" dirty="0"/>
          </a:p>
          <a:p>
            <a:endParaRPr lang="el-G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11DBD7-6D0E-9A77-732F-CAD4BFF169F0}"/>
              </a:ext>
            </a:extLst>
          </p:cNvPr>
          <p:cNvSpPr txBox="1"/>
          <p:nvPr/>
        </p:nvSpPr>
        <p:spPr>
          <a:xfrm>
            <a:off x="162230" y="81238"/>
            <a:ext cx="11351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16"/>
              </a:lnSpc>
            </a:pPr>
            <a:r>
              <a:rPr lang="en-US" sz="18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Network Strategy - </a:t>
            </a:r>
            <a:r>
              <a:rPr lang="en-US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Tiered Performance Agreements</a:t>
            </a:r>
            <a:endParaRPr lang="en-US" sz="1800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98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FA13-1E40-7B62-C962-79D19F70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0951D3A-E2E9-20A2-F3C2-62E49FDD4A95}"/>
              </a:ext>
            </a:extLst>
          </p:cNvPr>
          <p:cNvSpPr txBox="1"/>
          <p:nvPr/>
        </p:nvSpPr>
        <p:spPr>
          <a:xfrm>
            <a:off x="0" y="1248696"/>
            <a:ext cx="1219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u="sng" dirty="0"/>
              <a:t>Παράδειγμα 3: </a:t>
            </a:r>
            <a:endParaRPr lang="en-US" sz="1400" b="1" u="sng" dirty="0"/>
          </a:p>
          <a:p>
            <a:r>
              <a:rPr lang="el-GR" sz="1400" b="1" dirty="0"/>
              <a:t>Πρόγραμμα κινήτρων με βάση την απόδοση και το χρόνο πώλησης των κατασχεμένων οχημάτων</a:t>
            </a:r>
            <a:endParaRPr lang="en-US" sz="1400" b="1" dirty="0"/>
          </a:p>
          <a:p>
            <a:endParaRPr lang="en-US" sz="1400" u="sng" dirty="0"/>
          </a:p>
          <a:p>
            <a:r>
              <a:rPr lang="el-GR" sz="1400" u="sng" dirty="0"/>
              <a:t>Bronze:</a:t>
            </a:r>
            <a:endParaRPr lang="en-US" sz="1400" u="sng" dirty="0"/>
          </a:p>
          <a:p>
            <a:r>
              <a:rPr lang="el-GR" sz="1400" dirty="0"/>
              <a:t>Bonus: 200€ για κάθε όχημα που πωλείται εντός 30 ημερών</a:t>
            </a:r>
            <a:endParaRPr lang="en-US" sz="1400" dirty="0"/>
          </a:p>
          <a:p>
            <a:r>
              <a:rPr lang="el-GR" sz="1400" u="sng" dirty="0"/>
              <a:t>Silver:</a:t>
            </a:r>
            <a:endParaRPr lang="en-US" sz="1400" u="sng" dirty="0"/>
          </a:p>
          <a:p>
            <a:r>
              <a:rPr lang="el-GR" sz="1400" dirty="0"/>
              <a:t>Bonus: 300€ αν πωληθούν τα οχήματα εντός 20 ημερών</a:t>
            </a:r>
          </a:p>
          <a:p>
            <a:r>
              <a:rPr lang="el-GR" sz="1400" u="sng" dirty="0" err="1"/>
              <a:t>Gold</a:t>
            </a:r>
            <a:r>
              <a:rPr lang="el-GR" sz="1400" u="sng" dirty="0"/>
              <a:t>:</a:t>
            </a:r>
            <a:endParaRPr lang="en-US" sz="1400" u="sng" dirty="0"/>
          </a:p>
          <a:p>
            <a:r>
              <a:rPr lang="el-GR" sz="1400" dirty="0"/>
              <a:t>Ελάχιστη πώληση: 40 οχήματα/μήνα</a:t>
            </a:r>
            <a:endParaRPr lang="en-US" sz="1400" dirty="0"/>
          </a:p>
          <a:p>
            <a:r>
              <a:rPr lang="el-GR" sz="1400" dirty="0"/>
              <a:t>Bonus: 500€ αν πωληθούν τα οχήματα εντός 10 ημερών</a:t>
            </a:r>
          </a:p>
          <a:p>
            <a:endParaRPr lang="el-G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A8583-7C48-1FA1-4CCE-28839DD7AFBF}"/>
              </a:ext>
            </a:extLst>
          </p:cNvPr>
          <p:cNvSpPr txBox="1"/>
          <p:nvPr/>
        </p:nvSpPr>
        <p:spPr>
          <a:xfrm>
            <a:off x="231057" y="123574"/>
            <a:ext cx="8273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16"/>
              </a:lnSpc>
            </a:pPr>
            <a:r>
              <a:rPr lang="en-US" sz="18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Network Strategy - </a:t>
            </a:r>
            <a:r>
              <a:rPr lang="en-US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Tiered Performance Agreements</a:t>
            </a:r>
            <a:endParaRPr lang="en-US" dirty="0">
              <a:latin typeface="Eurobank Sans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082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5507C-479F-C07F-7B8D-39B43798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57C2D-3DAA-E85D-DAF0-39540F35F434}"/>
              </a:ext>
            </a:extLst>
          </p:cNvPr>
          <p:cNvSpPr txBox="1"/>
          <p:nvPr/>
        </p:nvSpPr>
        <p:spPr>
          <a:xfrm>
            <a:off x="231057" y="123574"/>
            <a:ext cx="8273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16"/>
              </a:lnSpc>
            </a:pPr>
            <a:r>
              <a:rPr lang="en-US" sz="18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Network Strategy - </a:t>
            </a:r>
            <a:r>
              <a:rPr lang="en-US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Transparency &amp; Accountability</a:t>
            </a:r>
            <a:endParaRPr lang="en-US" dirty="0">
              <a:latin typeface="Eurobank Sans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74DE7A-AFFF-DF46-3EFC-0B1F707A2F70}"/>
              </a:ext>
            </a:extLst>
          </p:cNvPr>
          <p:cNvSpPr txBox="1"/>
          <p:nvPr/>
        </p:nvSpPr>
        <p:spPr>
          <a:xfrm>
            <a:off x="0" y="1439175"/>
            <a:ext cx="12192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dirty="0"/>
              <a:t>Παράδειγμα 1: </a:t>
            </a:r>
            <a:endParaRPr lang="en-US" sz="1400" b="1" dirty="0"/>
          </a:p>
          <a:p>
            <a:r>
              <a:rPr lang="el-GR" sz="1400" b="1" dirty="0"/>
              <a:t>Real-time sales reporting</a:t>
            </a:r>
            <a:endParaRPr lang="en-US" sz="1400" b="1" dirty="0"/>
          </a:p>
          <a:p>
            <a:r>
              <a:rPr lang="el-GR" sz="1400" dirty="0"/>
              <a:t>Κάθε dealer υποχρεούται να καταχωρεί σε ηλεκτρονική πλατφόρμα κάθε πώληση κατασχεμένου οχήματος μέσα σε 24 ώρες από την ολοκλήρωση.</a:t>
            </a:r>
            <a:endParaRPr lang="en-US" sz="1400" dirty="0"/>
          </a:p>
          <a:p>
            <a:r>
              <a:rPr lang="el-GR" sz="1400" dirty="0"/>
              <a:t>Η τράπεζα και ο έμπορος έχουν άμεση πρόσβαση σε αναλυτικά reports, ώστε να παρακολουθούνται οι επιδόσεις και να εντοπίζονται τυχόν καθυστερήσεις και προβλήματα.</a:t>
            </a:r>
            <a:endParaRPr lang="en-US" sz="1400" dirty="0"/>
          </a:p>
          <a:p>
            <a:r>
              <a:rPr lang="el-GR" sz="1400" dirty="0"/>
              <a:t>Σε περίπτωση καθυστερημένης αναφοράς, εφαρμόζονται ποινές ή μειωμένα κίνητρα.</a:t>
            </a:r>
            <a:endParaRPr lang="en-US" sz="1400" dirty="0"/>
          </a:p>
          <a:p>
            <a:endParaRPr lang="en-US" sz="1400" dirty="0"/>
          </a:p>
          <a:p>
            <a:r>
              <a:rPr lang="el-GR" sz="1400" b="1" dirty="0"/>
              <a:t>Παράδειγμα 2: </a:t>
            </a:r>
            <a:endParaRPr lang="en-US" sz="1400" b="1" dirty="0"/>
          </a:p>
          <a:p>
            <a:r>
              <a:rPr lang="el-GR" sz="1400" b="1" dirty="0"/>
              <a:t>Inventory turnover monitoring</a:t>
            </a:r>
            <a:endParaRPr lang="en-US" sz="1400" b="1" dirty="0"/>
          </a:p>
          <a:p>
            <a:r>
              <a:rPr lang="el-GR" sz="1400" dirty="0"/>
              <a:t>Ο dealer δεσμεύεται να πουλάει τουλάχιστον το </a:t>
            </a:r>
            <a:r>
              <a:rPr lang="en-US" sz="1400" dirty="0"/>
              <a:t>x</a:t>
            </a:r>
            <a:r>
              <a:rPr lang="el-GR" sz="1400" dirty="0"/>
              <a:t>% των κατασχεμένων οχημάτων που λαμβάνει εντός 60 ημερών.</a:t>
            </a:r>
            <a:endParaRPr lang="en-US" sz="1400" dirty="0"/>
          </a:p>
          <a:p>
            <a:r>
              <a:rPr lang="el-GR" sz="1400" dirty="0"/>
              <a:t>Η τράπεζα παρακολουθεί συνεχώς τον ρυθμό κυκλοφορίας (turnover rate) των οχημάτων ανά αντιπρόσωπο.</a:t>
            </a:r>
            <a:endParaRPr lang="en-US" sz="1400" dirty="0"/>
          </a:p>
          <a:p>
            <a:r>
              <a:rPr lang="el-GR" sz="1400" dirty="0"/>
              <a:t>Αν ο ρυθμός είναι κάτω από το αποδεκτό όριο, τότε δεν γίνεται η απόδοση των </a:t>
            </a:r>
            <a:r>
              <a:rPr lang="en-US" sz="1400" dirty="0"/>
              <a:t>bonuses </a:t>
            </a:r>
            <a:r>
              <a:rPr lang="el-GR" sz="1400" dirty="0"/>
              <a:t>ή/και γίνεται αναθεώρηση των συμφωνιών.</a:t>
            </a:r>
            <a:endParaRPr lang="en-US" sz="1400" dirty="0"/>
          </a:p>
          <a:p>
            <a:endParaRPr lang="en-US" sz="1400" dirty="0"/>
          </a:p>
          <a:p>
            <a:r>
              <a:rPr lang="el-GR" sz="1400" b="1" dirty="0"/>
              <a:t>Παράδειγμα 3: </a:t>
            </a:r>
            <a:endParaRPr lang="en-US" sz="1400" b="1" dirty="0"/>
          </a:p>
          <a:p>
            <a:r>
              <a:rPr lang="el-GR" sz="1400" b="1" dirty="0"/>
              <a:t>Performance-based exclusivity clauses</a:t>
            </a:r>
            <a:endParaRPr lang="en-US" sz="1400" b="1" dirty="0"/>
          </a:p>
          <a:p>
            <a:r>
              <a:rPr lang="el-GR" sz="1400" dirty="0"/>
              <a:t>Οι dealers που πετυχαίνουν πωλήσεις πάνω από </a:t>
            </a:r>
            <a:r>
              <a:rPr lang="en-US" sz="1400" dirty="0"/>
              <a:t>x</a:t>
            </a:r>
            <a:r>
              <a:rPr lang="el-GR" sz="1400" dirty="0"/>
              <a:t> οχήματα/μήνα με πλήρη και άμεση αναφορά πωλήσεων, λαμβάνουν αποκλειστικά δικαιώματα για συγκεκριμένες περιοχές ή κατηγορίες οχημάτων (π.χ. premium οχήματα).</a:t>
            </a:r>
            <a:r>
              <a:rPr lang="en-US" sz="1400" dirty="0"/>
              <a:t> </a:t>
            </a:r>
            <a:r>
              <a:rPr lang="el-GR" sz="1400" dirty="0"/>
              <a:t>Αν ένας dealer δεν ανταποκρίνεται στα επίπεδα διαφάνειας ή πωλήσεων, η τράπεζα διατηρεί το δικαίωμα να ανακαλέσει τα αποκλειστικά δικαιώματα και να δώσει σε άλλον dealer την ευκαιρία.</a:t>
            </a:r>
            <a:endParaRPr lang="en-US" sz="1400" dirty="0"/>
          </a:p>
          <a:p>
            <a:endParaRPr lang="en-US" sz="1400" dirty="0"/>
          </a:p>
          <a:p>
            <a:r>
              <a:rPr lang="el-GR" sz="1400" dirty="0"/>
              <a:t>Παράδειγμα 4: </a:t>
            </a:r>
            <a:endParaRPr lang="en-US" sz="1400" dirty="0"/>
          </a:p>
          <a:p>
            <a:r>
              <a:rPr lang="el-GR" sz="1400" b="1" dirty="0"/>
              <a:t>Συνδυασμός πρακτικών</a:t>
            </a:r>
          </a:p>
        </p:txBody>
      </p:sp>
    </p:spTree>
    <p:extLst>
      <p:ext uri="{BB962C8B-B14F-4D97-AF65-F5344CB8AC3E}">
        <p14:creationId xmlns:p14="http://schemas.microsoft.com/office/powerpoint/2010/main" val="849536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13A3-5BC5-763A-52FD-E8057651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16368-769A-E83B-03F6-47B43DBC3543}"/>
              </a:ext>
            </a:extLst>
          </p:cNvPr>
          <p:cNvSpPr txBox="1"/>
          <p:nvPr/>
        </p:nvSpPr>
        <p:spPr>
          <a:xfrm>
            <a:off x="231057" y="123574"/>
            <a:ext cx="8273846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16"/>
              </a:lnSpc>
            </a:pPr>
            <a:r>
              <a:rPr lang="en-US" sz="18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Dealer Network Strategy – </a:t>
            </a:r>
            <a:r>
              <a:rPr lang="en-US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Comprehensive Support</a:t>
            </a:r>
            <a:endParaRPr lang="en-US" dirty="0">
              <a:latin typeface="Eurobank Sans" panose="02000503000000020004" pitchFamily="2" charset="0"/>
            </a:endParaRPr>
          </a:p>
          <a:p>
            <a:pPr>
              <a:lnSpc>
                <a:spcPts val="4416"/>
              </a:lnSpc>
            </a:pPr>
            <a:endParaRPr lang="en-US" dirty="0">
              <a:latin typeface="Eurobank Sans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A415D4-CD3C-253D-0FC1-0B71E662CAF1}"/>
              </a:ext>
            </a:extLst>
          </p:cNvPr>
          <p:cNvSpPr txBox="1"/>
          <p:nvPr/>
        </p:nvSpPr>
        <p:spPr>
          <a:xfrm>
            <a:off x="0" y="1439175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dirty="0"/>
              <a:t>Παράδειγμα 1:</a:t>
            </a:r>
            <a:endParaRPr lang="en-US" sz="1400" b="1" dirty="0"/>
          </a:p>
          <a:p>
            <a:r>
              <a:rPr lang="el-GR" sz="1400" b="1" dirty="0"/>
              <a:t>Financing facilitation</a:t>
            </a:r>
            <a:endParaRPr lang="en-US" sz="1400" b="1" dirty="0"/>
          </a:p>
          <a:p>
            <a:endParaRPr lang="en-US" sz="1400" dirty="0"/>
          </a:p>
          <a:p>
            <a:r>
              <a:rPr lang="el-GR" sz="1400" dirty="0"/>
              <a:t>Η τράπεζα παρέχει ευνοϊκά</a:t>
            </a:r>
            <a:r>
              <a:rPr lang="en-US" sz="1400" dirty="0"/>
              <a:t> B</a:t>
            </a:r>
            <a:r>
              <a:rPr lang="el-CY" sz="1400" dirty="0"/>
              <a:t>2</a:t>
            </a:r>
            <a:r>
              <a:rPr lang="en-US" sz="1400" dirty="0"/>
              <a:t>B</a:t>
            </a:r>
            <a:r>
              <a:rPr lang="el-CY" sz="1400" dirty="0"/>
              <a:t> </a:t>
            </a:r>
            <a:r>
              <a:rPr lang="el-GR" sz="1400" dirty="0"/>
              <a:t>δάνεια για τους dealers που αγοράζουν κατασχεμένα οχήματα.</a:t>
            </a:r>
            <a:endParaRPr lang="en-US" sz="1400" dirty="0"/>
          </a:p>
          <a:p>
            <a:r>
              <a:rPr lang="el-GR" sz="1400" dirty="0"/>
              <a:t>Οι dealers μπορούν να προωθούν ευνοϊκά χρηματοδοτικά πακέτα στους τελικούς πελάτες, διευκολύνοντας την πώληση των οχημάτων.</a:t>
            </a:r>
            <a:endParaRPr lang="en-US" sz="1400" dirty="0"/>
          </a:p>
          <a:p>
            <a:endParaRPr lang="en-US" sz="1400" dirty="0"/>
          </a:p>
          <a:p>
            <a:r>
              <a:rPr lang="el-GR" sz="1400" dirty="0"/>
              <a:t>Inspection certification. Κάθε κατασχεμένο όχημα υποβάλλεται σε αυστηρό τεχνικό έλεγχο από εξουσιοδοτημένα συνεργεία και μετά τον έλεγχο, εκδίδεται πιστοποιητικό ποιότητας και αξιοπιστίας, που συνοδεύει το όχημα κατά την πώληση.</a:t>
            </a:r>
          </a:p>
          <a:p>
            <a:r>
              <a:rPr lang="el-GR" sz="1400" dirty="0"/>
              <a:t>Έτσι, οι dealers εφαρμόζουν προγράμματα εγγύησης που καλύπτουν το βασικό μηχανικό σύστημα των κατασχεμένων οχημάτων για </a:t>
            </a:r>
            <a:r>
              <a:rPr lang="en-US" sz="1400" dirty="0"/>
              <a:t>X</a:t>
            </a:r>
            <a:r>
              <a:rPr lang="el-GR" sz="1400" dirty="0"/>
              <a:t> μήνες μετά την πώληση. Αυτή η εγγύηση λειτουργεί ως ισχυρό εργαλείο πώλησης, αυξάνοντας την εμπιστοσύνη των αγοραστών. </a:t>
            </a:r>
          </a:p>
        </p:txBody>
      </p:sp>
    </p:spTree>
    <p:extLst>
      <p:ext uri="{BB962C8B-B14F-4D97-AF65-F5344CB8AC3E}">
        <p14:creationId xmlns:p14="http://schemas.microsoft.com/office/powerpoint/2010/main" val="36755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C0AA-4F20-00B8-4C53-93160C6B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BD64A-4A30-1A36-F449-E33C851D13AB}"/>
              </a:ext>
            </a:extLst>
          </p:cNvPr>
          <p:cNvSpPr txBox="1"/>
          <p:nvPr/>
        </p:nvSpPr>
        <p:spPr>
          <a:xfrm>
            <a:off x="231057" y="123574"/>
            <a:ext cx="10486104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16"/>
              </a:lnSpc>
            </a:pPr>
            <a:r>
              <a:rPr lang="en-US" b="1" dirty="0">
                <a:solidFill>
                  <a:srgbClr val="272525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Cross-Border Partnerships</a:t>
            </a:r>
            <a:r>
              <a:rPr lang="en-US" sz="1800" b="1" dirty="0">
                <a:solidFill>
                  <a:srgbClr val="000000"/>
                </a:solidFill>
                <a:latin typeface="Eurobank Sans" panose="02000503000000020004" pitchFamily="2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dirty="0">
              <a:latin typeface="Eurobank Sans" panose="02000503000000020004" pitchFamily="2" charset="0"/>
            </a:endParaRPr>
          </a:p>
          <a:p>
            <a:pPr>
              <a:lnSpc>
                <a:spcPts val="4416"/>
              </a:lnSpc>
            </a:pPr>
            <a:endParaRPr lang="en-US" dirty="0">
              <a:latin typeface="Eurobank Sans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CBD5D-BA4B-B8D5-111E-281EDBD9BF0D}"/>
              </a:ext>
            </a:extLst>
          </p:cNvPr>
          <p:cNvSpPr txBox="1"/>
          <p:nvPr/>
        </p:nvSpPr>
        <p:spPr>
          <a:xfrm>
            <a:off x="88490" y="1080469"/>
            <a:ext cx="119461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API Integration for Real-Time Inventory Synchronization.</a:t>
            </a:r>
          </a:p>
          <a:p>
            <a:endParaRPr lang="el-GR" sz="1400" dirty="0"/>
          </a:p>
          <a:p>
            <a:r>
              <a:rPr lang="el-GR" sz="1400" b="1" dirty="0"/>
              <a:t>Συνδέεται μέσω API με μεγάλες cross-border πλατφόρμες</a:t>
            </a:r>
            <a:r>
              <a:rPr lang="el-GR" sz="1400" dirty="0"/>
              <a:t> </a:t>
            </a:r>
          </a:p>
          <a:p>
            <a:r>
              <a:rPr lang="el-GR" sz="1400" dirty="0"/>
              <a:t>(π.χ. Mobile.de, AutoTrader, CarNext) για αυτόματη ενημέρωση αποθέματος κατασχεμένων οχημάτων. Κάθε πώληση ή εισαγωγή καταχωρείται άμεσα και ενημερώνεται στο σύστημα, αποφεύγοντας λάθη ή διπλοκρατήσεις. </a:t>
            </a:r>
          </a:p>
          <a:p>
            <a:endParaRPr lang="el-GR" sz="1400" dirty="0"/>
          </a:p>
          <a:p>
            <a:r>
              <a:rPr lang="el-GR" sz="1400" b="1" dirty="0"/>
              <a:t>Joint Marketing Initiatives for Enhanced Demand Matching</a:t>
            </a:r>
          </a:p>
          <a:p>
            <a:r>
              <a:rPr lang="el-GR" sz="1400" dirty="0"/>
              <a:t>Η τράπεζα και οι dealers υλοποιούν κοινές καμπάνιες διαφήμισης σε διεθνείς αγορές, αξιοποιώντας δεδομένα ζήτησης από τις marketplaces.</a:t>
            </a:r>
          </a:p>
          <a:p>
            <a:r>
              <a:rPr lang="el-GR" sz="1400" dirty="0"/>
              <a:t>Παράδειγμα: Προωθητικές ενέργειες σε συγκεκριμένες χώρες με μεγάλη ζήτηση για συγκεκριμένα μοντέλα κατασχεμένων οχημάτων.</a:t>
            </a:r>
          </a:p>
          <a:p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2558101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ACBD-F18A-185C-8F8A-B73450C9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27441-9136-2385-A28F-6AB1BA20EF1B}"/>
              </a:ext>
            </a:extLst>
          </p:cNvPr>
          <p:cNvSpPr txBox="1"/>
          <p:nvPr/>
        </p:nvSpPr>
        <p:spPr>
          <a:xfrm>
            <a:off x="231057" y="123574"/>
            <a:ext cx="8273846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16"/>
              </a:lnSpc>
            </a:pPr>
            <a:r>
              <a:rPr lang="el-GR" b="1" dirty="0"/>
              <a:t>ψηφιακής πλατφόρμας remarketing με κεντρική διαχείριση</a:t>
            </a:r>
            <a:r>
              <a:rPr lang="el-GR" dirty="0"/>
              <a:t>,</a:t>
            </a:r>
            <a:endParaRPr lang="en-US" dirty="0">
              <a:latin typeface="Eurobank Sans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E67D5-AFA4-A717-9FCC-7D259422B458}"/>
              </a:ext>
            </a:extLst>
          </p:cNvPr>
          <p:cNvSpPr txBox="1"/>
          <p:nvPr/>
        </p:nvSpPr>
        <p:spPr>
          <a:xfrm>
            <a:off x="0" y="908070"/>
            <a:ext cx="116954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Παραδείγματα Χρήσης / Εφαρμογές</a:t>
            </a:r>
            <a:endParaRPr lang="en-US" sz="1400" dirty="0"/>
          </a:p>
          <a:p>
            <a:endParaRPr lang="en-US" sz="1400" dirty="0"/>
          </a:p>
          <a:p>
            <a:r>
              <a:rPr lang="el-GR" sz="1400" dirty="0"/>
              <a:t>Πλατφόρμα Remarketing:</a:t>
            </a:r>
            <a:endParaRPr lang="en-US" sz="1400" dirty="0"/>
          </a:p>
          <a:p>
            <a:r>
              <a:rPr lang="el-GR" sz="1400" dirty="0"/>
              <a:t>Κεντρική καταγραφή και φωτογράφηση των οχημάτων.</a:t>
            </a:r>
            <a:endParaRPr lang="en-US" sz="1400" dirty="0"/>
          </a:p>
          <a:p>
            <a:r>
              <a:rPr lang="el-GR" sz="1400" dirty="0"/>
              <a:t>Κατηγοριοποίηση κατά κατάσταση, χιλιόμετρα, τιμή, κ.λπ.</a:t>
            </a:r>
            <a:endParaRPr lang="en-US" sz="1400" dirty="0"/>
          </a:p>
          <a:p>
            <a:r>
              <a:rPr lang="el-GR" sz="1400" dirty="0"/>
              <a:t>Δημιουργία δημοπρασιών (ανοιχτές ή κλειστές</a:t>
            </a:r>
            <a:r>
              <a:rPr lang="en-US" sz="1400" dirty="0"/>
              <a:t> / </a:t>
            </a:r>
            <a:r>
              <a:rPr lang="el-GR" sz="1400" dirty="0"/>
              <a:t>προτεραιότητα σε επιλεγμένους εμπόρους).</a:t>
            </a:r>
            <a:endParaRPr lang="en-US" sz="1400" dirty="0"/>
          </a:p>
          <a:p>
            <a:r>
              <a:rPr lang="el-GR" sz="1400" dirty="0"/>
              <a:t>Real-time bidding από εξουσιοδοτημένους εμπόρους.</a:t>
            </a:r>
            <a:endParaRPr lang="en-US" sz="1400" dirty="0"/>
          </a:p>
          <a:p>
            <a:r>
              <a:rPr lang="el-GR" sz="1400" dirty="0"/>
              <a:t>Ειδοποιήσεις όταν υπάρχουν νέες καταχωρήσεις ή νέες προσφορές.</a:t>
            </a:r>
            <a:endParaRPr lang="en-US" sz="1400" dirty="0"/>
          </a:p>
          <a:p>
            <a:r>
              <a:rPr lang="el-GR" sz="1400" dirty="0"/>
              <a:t>Όφελος: Ταχύτερη ρευστοποίηση στόλου, διαφάνεια και μείωση κόστους διαχείρισης.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C6FBE-FCE2-4959-F9C8-8405FD63CD16}"/>
              </a:ext>
            </a:extLst>
          </p:cNvPr>
          <p:cNvSpPr txBox="1"/>
          <p:nvPr/>
        </p:nvSpPr>
        <p:spPr>
          <a:xfrm>
            <a:off x="0" y="3010665"/>
            <a:ext cx="115676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Δίκτυο Εμπόρων Μεταχειρισμένων Οχημάτων - Πρόβλημα: Κάθε κατάστημα έχει το δικό του στοκ και εργαλείο. Δυσκολία στον εσωτερικό έλεγχο και μεταφορά οχημάτων.</a:t>
            </a:r>
            <a:endParaRPr lang="en-US" sz="1400" dirty="0"/>
          </a:p>
          <a:p>
            <a:r>
              <a:rPr lang="el-GR" sz="1400" dirty="0"/>
              <a:t>Πλατφόρμα Remarketing:</a:t>
            </a:r>
            <a:endParaRPr lang="en-US" sz="1400" dirty="0"/>
          </a:p>
          <a:p>
            <a:r>
              <a:rPr lang="el-GR" sz="1400" dirty="0"/>
              <a:t>Όλοι οι έμποροι συνδέονται στην ίδια πλατφόρμα.</a:t>
            </a:r>
            <a:endParaRPr lang="en-US" sz="1400" dirty="0"/>
          </a:p>
          <a:p>
            <a:r>
              <a:rPr lang="el-GR" sz="1400" dirty="0"/>
              <a:t>Κοινή θέαση αποθέματος σε όλα τα καταστήματα.</a:t>
            </a:r>
            <a:endParaRPr lang="en-US" sz="1400" dirty="0"/>
          </a:p>
          <a:p>
            <a:r>
              <a:rPr lang="el-GR" sz="1400" dirty="0"/>
              <a:t>Διαχείριση εσωτερικής ‘Β2Β δημοπρασίας’ (π.χ., ο έμπορος Α μπορεί να "διεκδικήσει" όχημα από τον Β).</a:t>
            </a:r>
            <a:endParaRPr lang="en-US" sz="1400" dirty="0"/>
          </a:p>
          <a:p>
            <a:r>
              <a:rPr lang="el-GR" sz="1400" dirty="0"/>
              <a:t>Κεντρικός έλεγχος τιμών, logistics και ιστορικό πωλήσεων.</a:t>
            </a:r>
            <a:endParaRPr lang="en-US" sz="1400" dirty="0"/>
          </a:p>
          <a:p>
            <a:r>
              <a:rPr lang="el-GR" sz="1400" dirty="0"/>
              <a:t>Όφελος: Καλύτερη αξιοποίηση αποθέματος, βελτιωμένη συνεργασία, αποφυγή πλεονασμών.</a:t>
            </a:r>
          </a:p>
        </p:txBody>
      </p:sp>
    </p:spTree>
    <p:extLst>
      <p:ext uri="{BB962C8B-B14F-4D97-AF65-F5344CB8AC3E}">
        <p14:creationId xmlns:p14="http://schemas.microsoft.com/office/powerpoint/2010/main" val="120835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8883</TotalTime>
  <Words>1449</Words>
  <Application>Microsoft Office PowerPoint</Application>
  <PresentationFormat>Widescreen</PresentationFormat>
  <Paragraphs>209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Eurobank Sans</vt:lpstr>
      <vt:lpstr>Eurobank Sans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Pouloupatis Vassileios</dc:creator>
  <cp:lastModifiedBy>Pouloupatis Vassileios</cp:lastModifiedBy>
  <cp:revision>65</cp:revision>
  <dcterms:created xsi:type="dcterms:W3CDTF">2025-09-16T14:16:48Z</dcterms:created>
  <dcterms:modified xsi:type="dcterms:W3CDTF">2026-03-03T07:47:43Z</dcterms:modified>
</cp:coreProperties>
</file>