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media/image3.jpg" ContentType="image/png"/>
  <Override PartName="/ppt/theme/theme2.xml" ContentType="application/vnd.openxmlformats-officedocument.theme+xml"/>
  <Override PartName="/ppt/media/image12.jpg" ContentType="image/jpg"/>
  <Override PartName="/ppt/media/image14.jpg" ContentType="image/jpg"/>
  <Override PartName="/ppt/media/image16.jpg" ContentType="image/jpg"/>
  <Override PartName="/ppt/media/image18.jpg" ContentType="image/jpg"/>
  <Override PartName="/ppt/media/image21.jpg" ContentType="image/jpg"/>
  <Override PartName="/ppt/media/image25.jpg" ContentType="image/jpg"/>
  <Override PartName="/ppt/media/image26.jpg" ContentType="image/jpg"/>
  <Override PartName="/ppt/media/image33.jpg" ContentType="image/jpg"/>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60.jpg" ContentType="image/jpg"/>
  <Override PartName="/ppt/media/image69.jpg" ContentType="image/jpg"/>
  <Override PartName="/ppt/media/image87.jpg" ContentType="image/jpg"/>
  <Override PartName="/ppt/media/image95.jpg" ContentType="image/jpg"/>
  <Override PartName="/ppt/media/image96.jpg" ContentType="image/jpg"/>
  <Override PartName="/ppt/media/image98.jpg" ContentType="image/jpg"/>
  <Override PartName="/ppt/media/image102.jpg" ContentType="image/jpg"/>
  <Override PartName="/ppt/media/image104.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82" r:id="rId2"/>
    <p:sldId id="258" r:id="rId3"/>
    <p:sldId id="259" r:id="rId4"/>
    <p:sldId id="260" r:id="rId5"/>
    <p:sldId id="261" r:id="rId6"/>
    <p:sldId id="262" r:id="rId7"/>
    <p:sldId id="289" r:id="rId8"/>
    <p:sldId id="264" r:id="rId9"/>
    <p:sldId id="267" r:id="rId10"/>
    <p:sldId id="286" r:id="rId11"/>
    <p:sldId id="271" r:id="rId12"/>
    <p:sldId id="284" r:id="rId13"/>
    <p:sldId id="277" r:id="rId14"/>
    <p:sldId id="278" r:id="rId15"/>
    <p:sldId id="285" r:id="rId16"/>
    <p:sldId id="283" r:id="rId17"/>
    <p:sldId id="263" r:id="rId18"/>
    <p:sldId id="266" r:id="rId19"/>
    <p:sldId id="281" r:id="rId20"/>
    <p:sldId id="270" r:id="rId21"/>
    <p:sldId id="273" r:id="rId22"/>
    <p:sldId id="269" r:id="rId23"/>
    <p:sldId id="272" r:id="rId24"/>
    <p:sldId id="274" r:id="rId25"/>
    <p:sldId id="275" r:id="rId26"/>
    <p:sldId id="276" r:id="rId27"/>
    <p:sldId id="287" r:id="rId28"/>
    <p:sldId id="288" r:id="rId29"/>
  </p:sldIdLst>
  <p:sldSz cx="12192000" cy="6858000"/>
  <p:notesSz cx="12192000" cy="6858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7" autoAdjust="0"/>
    <p:restoredTop sz="94660"/>
  </p:normalViewPr>
  <p:slideViewPr>
    <p:cSldViewPr>
      <p:cViewPr varScale="1">
        <p:scale>
          <a:sx n="78" d="100"/>
          <a:sy n="78" d="100"/>
        </p:scale>
        <p:origin x="845"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1712E29-9EA5-42B9-B12A-139762E15366}" type="datetimeFigureOut">
              <a:rPr lang="el-GR" smtClean="0"/>
              <a:t>1/7/2026</a:t>
            </a:fld>
            <a:endParaRPr lang="el-GR"/>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436106A-82B6-4FA5-8F31-8D78386BF1AC}" type="slidenum">
              <a:rPr lang="el-GR" smtClean="0"/>
              <a:t>‹#›</a:t>
            </a:fld>
            <a:endParaRPr lang="el-GR"/>
          </a:p>
        </p:txBody>
      </p:sp>
    </p:spTree>
    <p:extLst>
      <p:ext uri="{BB962C8B-B14F-4D97-AF65-F5344CB8AC3E}">
        <p14:creationId xmlns:p14="http://schemas.microsoft.com/office/powerpoint/2010/main" val="1546564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endParaRPr lang="el-GR" dirty="0"/>
          </a:p>
        </p:txBody>
      </p:sp>
      <p:sp>
        <p:nvSpPr>
          <p:cNvPr id="4" name="Slide Number Placeholder 3"/>
          <p:cNvSpPr>
            <a:spLocks noGrp="1"/>
          </p:cNvSpPr>
          <p:nvPr>
            <p:ph type="sldNum" sz="quarter" idx="5"/>
          </p:nvPr>
        </p:nvSpPr>
        <p:spPr/>
        <p:txBody>
          <a:bodyPr/>
          <a:lstStyle/>
          <a:p>
            <a:fld id="{2436106A-82B6-4FA5-8F31-8D78386BF1AC}" type="slidenum">
              <a:rPr lang="el-GR" smtClean="0"/>
              <a:t>10</a:t>
            </a:fld>
            <a:endParaRPr lang="el-GR"/>
          </a:p>
        </p:txBody>
      </p:sp>
    </p:spTree>
    <p:extLst>
      <p:ext uri="{BB962C8B-B14F-4D97-AF65-F5344CB8AC3E}">
        <p14:creationId xmlns:p14="http://schemas.microsoft.com/office/powerpoint/2010/main" val="3728990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l-GR"/>
          </a:p>
        </p:txBody>
      </p:sp>
      <p:sp>
        <p:nvSpPr>
          <p:cNvPr id="3" name="Notes Placeholder 2"/>
          <p:cNvSpPr>
            <a:spLocks noGrp="1"/>
          </p:cNvSpPr>
          <p:nvPr>
            <p:ph type="body" idx="1"/>
          </p:nvPr>
        </p:nvSpPr>
        <p:spPr/>
        <p:txBody>
          <a:bodyPr/>
          <a:lstStyle/>
          <a:p>
            <a:endParaRPr lang="el-GR" dirty="0"/>
          </a:p>
        </p:txBody>
      </p:sp>
      <p:sp>
        <p:nvSpPr>
          <p:cNvPr id="4" name="Slide Number Placeholder 3"/>
          <p:cNvSpPr>
            <a:spLocks noGrp="1"/>
          </p:cNvSpPr>
          <p:nvPr>
            <p:ph type="sldNum" sz="quarter" idx="5"/>
          </p:nvPr>
        </p:nvSpPr>
        <p:spPr/>
        <p:txBody>
          <a:bodyPr/>
          <a:lstStyle/>
          <a:p>
            <a:fld id="{2436106A-82B6-4FA5-8F31-8D78386BF1AC}" type="slidenum">
              <a:rPr lang="el-GR" smtClean="0"/>
              <a:t>11</a:t>
            </a:fld>
            <a:endParaRPr lang="el-GR"/>
          </a:p>
        </p:txBody>
      </p:sp>
    </p:spTree>
    <p:extLst>
      <p:ext uri="{BB962C8B-B14F-4D97-AF65-F5344CB8AC3E}">
        <p14:creationId xmlns:p14="http://schemas.microsoft.com/office/powerpoint/2010/main" val="4232101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7/1/2026</a:t>
            </a:fld>
            <a:endParaRPr lang="en-US"/>
          </a:p>
        </p:txBody>
      </p:sp>
      <p:sp>
        <p:nvSpPr>
          <p:cNvPr id="6" name="Holder 6"/>
          <p:cNvSpPr>
            <a:spLocks noGrp="1"/>
          </p:cNvSpPr>
          <p:nvPr>
            <p:ph type="sldNum" sz="quarter" idx="7"/>
          </p:nvPr>
        </p:nvSpPr>
        <p:spPr/>
        <p:txBody>
          <a:bodyPr lIns="0" tIns="0" rIns="0" bIns="0"/>
          <a:lstStyle>
            <a:lvl1pPr>
              <a:defRPr sz="900" b="0" i="0">
                <a:solidFill>
                  <a:schemeClr val="tx1"/>
                </a:solidFill>
                <a:latin typeface="Arial"/>
                <a:cs typeface="Arial"/>
              </a:defRPr>
            </a:lvl1pPr>
          </a:lstStyle>
          <a:p>
            <a:pPr marL="38100">
              <a:lnSpc>
                <a:spcPct val="100000"/>
              </a:lnSpc>
              <a:spcBef>
                <a:spcPts val="15"/>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tx1"/>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sz="16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7/1/2026</a:t>
            </a:fld>
            <a:endParaRPr lang="en-US"/>
          </a:p>
        </p:txBody>
      </p:sp>
      <p:sp>
        <p:nvSpPr>
          <p:cNvPr id="6" name="Holder 6"/>
          <p:cNvSpPr>
            <a:spLocks noGrp="1"/>
          </p:cNvSpPr>
          <p:nvPr>
            <p:ph type="sldNum" sz="quarter" idx="7"/>
          </p:nvPr>
        </p:nvSpPr>
        <p:spPr/>
        <p:txBody>
          <a:bodyPr lIns="0" tIns="0" rIns="0" bIns="0"/>
          <a:lstStyle>
            <a:lvl1pPr>
              <a:defRPr sz="900" b="0" i="0">
                <a:solidFill>
                  <a:schemeClr val="tx1"/>
                </a:solidFill>
                <a:latin typeface="Arial"/>
                <a:cs typeface="Arial"/>
              </a:defRPr>
            </a:lvl1pPr>
          </a:lstStyle>
          <a:p>
            <a:pPr marL="38100">
              <a:lnSpc>
                <a:spcPct val="100000"/>
              </a:lnSpc>
              <a:spcBef>
                <a:spcPts val="15"/>
              </a:spcBef>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tx1"/>
                </a:solidFill>
                <a:latin typeface="Georgia"/>
                <a:cs typeface="Georg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7/1/2026</a:t>
            </a:fld>
            <a:endParaRPr lang="en-US"/>
          </a:p>
        </p:txBody>
      </p:sp>
      <p:sp>
        <p:nvSpPr>
          <p:cNvPr id="7" name="Holder 7"/>
          <p:cNvSpPr>
            <a:spLocks noGrp="1"/>
          </p:cNvSpPr>
          <p:nvPr>
            <p:ph type="sldNum" sz="quarter" idx="7"/>
          </p:nvPr>
        </p:nvSpPr>
        <p:spPr/>
        <p:txBody>
          <a:bodyPr lIns="0" tIns="0" rIns="0" bIns="0"/>
          <a:lstStyle>
            <a:lvl1pPr>
              <a:defRPr sz="900" b="0" i="0">
                <a:solidFill>
                  <a:schemeClr val="tx1"/>
                </a:solidFill>
                <a:latin typeface="Arial"/>
                <a:cs typeface="Arial"/>
              </a:defRPr>
            </a:lvl1pPr>
          </a:lstStyle>
          <a:p>
            <a:pPr marL="38100">
              <a:lnSpc>
                <a:spcPct val="100000"/>
              </a:lnSpc>
              <a:spcBef>
                <a:spcPts val="15"/>
              </a:spcBef>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chemeClr val="tx1"/>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7/1/2026</a:t>
            </a:fld>
            <a:endParaRPr lang="en-US"/>
          </a:p>
        </p:txBody>
      </p:sp>
      <p:sp>
        <p:nvSpPr>
          <p:cNvPr id="5" name="Holder 5"/>
          <p:cNvSpPr>
            <a:spLocks noGrp="1"/>
          </p:cNvSpPr>
          <p:nvPr>
            <p:ph type="sldNum" sz="quarter" idx="7"/>
          </p:nvPr>
        </p:nvSpPr>
        <p:spPr/>
        <p:txBody>
          <a:bodyPr lIns="0" tIns="0" rIns="0" bIns="0"/>
          <a:lstStyle>
            <a:lvl1pPr>
              <a:defRPr sz="900" b="0" i="0">
                <a:solidFill>
                  <a:schemeClr val="tx1"/>
                </a:solidFill>
                <a:latin typeface="Arial"/>
                <a:cs typeface="Arial"/>
              </a:defRPr>
            </a:lvl1pPr>
          </a:lstStyle>
          <a:p>
            <a:pPr marL="38100">
              <a:lnSpc>
                <a:spcPct val="100000"/>
              </a:lnSpc>
              <a:spcBef>
                <a:spcPts val="15"/>
              </a:spcBef>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7/1/2026</a:t>
            </a:fld>
            <a:endParaRPr lang="en-US"/>
          </a:p>
        </p:txBody>
      </p:sp>
      <p:sp>
        <p:nvSpPr>
          <p:cNvPr id="4" name="Holder 4"/>
          <p:cNvSpPr>
            <a:spLocks noGrp="1"/>
          </p:cNvSpPr>
          <p:nvPr>
            <p:ph type="sldNum" sz="quarter" idx="7"/>
          </p:nvPr>
        </p:nvSpPr>
        <p:spPr/>
        <p:txBody>
          <a:bodyPr lIns="0" tIns="0" rIns="0" bIns="0"/>
          <a:lstStyle>
            <a:lvl1pPr>
              <a:defRPr sz="900" b="0" i="0">
                <a:solidFill>
                  <a:schemeClr val="tx1"/>
                </a:solidFill>
                <a:latin typeface="Arial"/>
                <a:cs typeface="Arial"/>
              </a:defRPr>
            </a:lvl1pPr>
          </a:lstStyle>
          <a:p>
            <a:pPr marL="38100">
              <a:lnSpc>
                <a:spcPct val="100000"/>
              </a:lnSpc>
              <a:spcBef>
                <a:spcPts val="15"/>
              </a:spcBef>
            </a:pPr>
            <a:fld id="{81D60167-4931-47E6-BA6A-407CBD079E47}" type="slidenum">
              <a:rPr dirty="0"/>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ver 1">
    <p:bg>
      <p:bgPr>
        <a:solidFill>
          <a:schemeClr val="tx1"/>
        </a:solidFill>
        <a:effectLst/>
      </p:bgPr>
    </p:bg>
    <p:spTree>
      <p:nvGrpSpPr>
        <p:cNvPr id="1" name=""/>
        <p:cNvGrpSpPr/>
        <p:nvPr/>
      </p:nvGrpSpPr>
      <p:grpSpPr>
        <a:xfrm>
          <a:off x="0" y="0"/>
          <a:ext cx="0" cy="0"/>
          <a:chOff x="0" y="0"/>
          <a:chExt cx="0" cy="0"/>
        </a:xfrm>
      </p:grpSpPr>
      <p:sp>
        <p:nvSpPr>
          <p:cNvPr id="13" name="Text Placeholder 2"/>
          <p:cNvSpPr>
            <a:spLocks noGrp="1"/>
          </p:cNvSpPr>
          <p:nvPr>
            <p:ph type="body" idx="11"/>
          </p:nvPr>
        </p:nvSpPr>
        <p:spPr>
          <a:xfrm>
            <a:off x="438749" y="1654854"/>
            <a:ext cx="8537913" cy="365195"/>
          </a:xfrm>
          <a:prstGeom prst="rect">
            <a:avLst/>
          </a:prstGeom>
        </p:spPr>
        <p:txBody>
          <a:bodyPr lIns="0" tIns="0" rIns="0" bIns="0" anchor="t" anchorCtr="0">
            <a:noAutofit/>
          </a:bodyPr>
          <a:lstStyle>
            <a:lvl1pPr marL="0" indent="0" algn="l">
              <a:lnSpc>
                <a:spcPts val="2724"/>
              </a:lnSpc>
              <a:buNone/>
              <a:defRPr sz="2400" b="1" i="0">
                <a:solidFill>
                  <a:srgbClr val="021342"/>
                </a:solidFill>
                <a:latin typeface="Eurobank Sans" panose="02000503000000020004" pitchFamily="2" charset="0"/>
                <a:cs typeface="Eurobank Sans" panose="02000503000000020004" pitchFamily="2" charset="0"/>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dirty="0"/>
              <a:t>Click to edit Master text styles</a:t>
            </a:r>
          </a:p>
        </p:txBody>
      </p:sp>
      <p:sp>
        <p:nvSpPr>
          <p:cNvPr id="18" name="Text Placeholder 2">
            <a:extLst>
              <a:ext uri="{FF2B5EF4-FFF2-40B4-BE49-F238E27FC236}">
                <a16:creationId xmlns:a16="http://schemas.microsoft.com/office/drawing/2014/main" id="{BE3A1B37-4C33-494E-81DA-990F51BAF98F}"/>
              </a:ext>
            </a:extLst>
          </p:cNvPr>
          <p:cNvSpPr>
            <a:spLocks noGrp="1"/>
          </p:cNvSpPr>
          <p:nvPr>
            <p:ph type="body" idx="14"/>
          </p:nvPr>
        </p:nvSpPr>
        <p:spPr>
          <a:xfrm>
            <a:off x="438749" y="2097109"/>
            <a:ext cx="8537913" cy="353995"/>
          </a:xfrm>
          <a:prstGeom prst="rect">
            <a:avLst/>
          </a:prstGeom>
        </p:spPr>
        <p:txBody>
          <a:bodyPr lIns="0" tIns="0" rIns="0" bIns="0" anchor="t" anchorCtr="0">
            <a:noAutofit/>
          </a:bodyPr>
          <a:lstStyle>
            <a:lvl1pPr marL="0" indent="0" algn="l">
              <a:lnSpc>
                <a:spcPts val="2024"/>
              </a:lnSpc>
              <a:buNone/>
              <a:defRPr sz="1800" b="0" i="0">
                <a:solidFill>
                  <a:srgbClr val="021342"/>
                </a:solidFill>
                <a:latin typeface="Eurobank Sans Light" panose="02000503000000020003" pitchFamily="2" charset="0"/>
                <a:cs typeface="Eurobank Sans Light" panose="02000503000000020003" pitchFamily="2" charset="0"/>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dirty="0"/>
              <a:t>Click to edit Master text styles</a:t>
            </a:r>
          </a:p>
        </p:txBody>
      </p:sp>
      <p:pic>
        <p:nvPicPr>
          <p:cNvPr id="34" name="Picture 33"/>
          <p:cNvPicPr>
            <a:picLocks noChangeAspect="1"/>
          </p:cNvPicPr>
          <p:nvPr userDrawn="1"/>
        </p:nvPicPr>
        <p:blipFill rotWithShape="1">
          <a:blip r:embed="rId2">
            <a:extLst>
              <a:ext uri="{28A0092B-C50C-407E-A947-70E740481C1C}">
                <a14:useLocalDpi xmlns:a14="http://schemas.microsoft.com/office/drawing/2010/main" val="0"/>
              </a:ext>
            </a:extLst>
          </a:blip>
          <a:srcRect t="68025" b="8122"/>
          <a:stretch/>
        </p:blipFill>
        <p:spPr>
          <a:xfrm>
            <a:off x="0" y="4675815"/>
            <a:ext cx="12192000" cy="2182191"/>
          </a:xfrm>
          <a:prstGeom prst="rect">
            <a:avLst/>
          </a:prstGeom>
        </p:spPr>
      </p:pic>
      <p:pic>
        <p:nvPicPr>
          <p:cNvPr id="35" name="Picture 34">
            <a:extLst>
              <a:ext uri="{FF2B5EF4-FFF2-40B4-BE49-F238E27FC236}">
                <a16:creationId xmlns:a16="http://schemas.microsoft.com/office/drawing/2014/main" id="{75FDDA22-DBC3-FD4D-901B-CB3243036769}"/>
              </a:ext>
            </a:extLst>
          </p:cNvPr>
          <p:cNvPicPr>
            <a:picLocks noChangeAspect="1"/>
          </p:cNvPicPr>
          <p:nvPr userDrawn="1"/>
        </p:nvPicPr>
        <p:blipFill>
          <a:blip r:embed="rId3"/>
          <a:stretch>
            <a:fillRect/>
          </a:stretch>
        </p:blipFill>
        <p:spPr>
          <a:xfrm>
            <a:off x="0" y="5013913"/>
            <a:ext cx="12192000" cy="121920"/>
          </a:xfrm>
          <a:prstGeom prst="rect">
            <a:avLst/>
          </a:prstGeom>
        </p:spPr>
      </p:pic>
      <p:sp>
        <p:nvSpPr>
          <p:cNvPr id="16" name="Text Placeholder 6">
            <a:extLst>
              <a:ext uri="{FF2B5EF4-FFF2-40B4-BE49-F238E27FC236}">
                <a16:creationId xmlns:a16="http://schemas.microsoft.com/office/drawing/2014/main" id="{F1C7C581-293B-954F-9360-6AF12CD3A9AA}"/>
              </a:ext>
            </a:extLst>
          </p:cNvPr>
          <p:cNvSpPr>
            <a:spLocks noGrp="1"/>
          </p:cNvSpPr>
          <p:nvPr>
            <p:ph type="body" idx="4294967295"/>
          </p:nvPr>
        </p:nvSpPr>
        <p:spPr>
          <a:xfrm>
            <a:off x="6604607" y="3602902"/>
            <a:ext cx="2981472" cy="826135"/>
          </a:xfrm>
        </p:spPr>
        <p:txBody>
          <a:bodyPr>
            <a:noAutofit/>
          </a:bodyPr>
          <a:lstStyle>
            <a:lvl1pPr>
              <a:defRPr>
                <a:solidFill>
                  <a:srgbClr val="021342"/>
                </a:solidFill>
                <a:latin typeface="Eurobank Sans" panose="02000503000000020004" pitchFamily="2" charset="0"/>
              </a:defRPr>
            </a:lvl1pPr>
          </a:lstStyle>
          <a:p>
            <a:r>
              <a:rPr lang="el-GR" sz="1100" b="0" dirty="0"/>
              <a:t>Κείμενο  πχ. Διεύθυνση, </a:t>
            </a:r>
            <a:br>
              <a:rPr lang="en-US" sz="1100" b="0" dirty="0"/>
            </a:br>
            <a:r>
              <a:rPr lang="el-GR" sz="1100" b="0" dirty="0"/>
              <a:t>Εισηγητής κτλ.</a:t>
            </a:r>
            <a:br>
              <a:rPr lang="en-US" sz="1100" b="0" dirty="0"/>
            </a:br>
            <a:r>
              <a:rPr lang="el-GR" sz="1100" b="0" dirty="0"/>
              <a:t>(</a:t>
            </a:r>
            <a:r>
              <a:rPr lang="en-US" sz="1100" b="0" dirty="0"/>
              <a:t>Eurobank Sans, </a:t>
            </a:r>
            <a:r>
              <a:rPr lang="el-GR" sz="1100" b="0" dirty="0"/>
              <a:t>11</a:t>
            </a:r>
            <a:r>
              <a:rPr lang="en-US" sz="1100" b="0" dirty="0"/>
              <a:t>pt, </a:t>
            </a:r>
            <a:r>
              <a:rPr lang="en-US" sz="1100" b="0" dirty="0" err="1"/>
              <a:t>Unbold</a:t>
            </a:r>
            <a:r>
              <a:rPr lang="el-GR" sz="1100" b="0" dirty="0"/>
              <a:t>)</a:t>
            </a:r>
            <a:endParaRPr lang="en-GR" sz="1100" b="0" dirty="0"/>
          </a:p>
        </p:txBody>
      </p:sp>
      <p:sp>
        <p:nvSpPr>
          <p:cNvPr id="17" name="Text Placeholder 7">
            <a:extLst>
              <a:ext uri="{FF2B5EF4-FFF2-40B4-BE49-F238E27FC236}">
                <a16:creationId xmlns:a16="http://schemas.microsoft.com/office/drawing/2014/main" id="{7C909CC5-FAD7-7945-A67E-C3E8ED2DD172}"/>
              </a:ext>
            </a:extLst>
          </p:cNvPr>
          <p:cNvSpPr>
            <a:spLocks noGrp="1"/>
          </p:cNvSpPr>
          <p:nvPr>
            <p:ph type="body" idx="4294967295"/>
          </p:nvPr>
        </p:nvSpPr>
        <p:spPr>
          <a:xfrm>
            <a:off x="9264214" y="3614453"/>
            <a:ext cx="2713873" cy="820104"/>
          </a:xfrm>
        </p:spPr>
        <p:txBody>
          <a:bodyPr>
            <a:noAutofit/>
          </a:bodyPr>
          <a:lstStyle>
            <a:lvl1pPr>
              <a:defRPr>
                <a:solidFill>
                  <a:srgbClr val="021342"/>
                </a:solidFill>
                <a:latin typeface="Eurobank Sans" panose="02000503000000020004" pitchFamily="2" charset="0"/>
              </a:defRPr>
            </a:lvl1pPr>
          </a:lstStyle>
          <a:p>
            <a:r>
              <a:rPr lang="el-GR" sz="1100" b="0" dirty="0"/>
              <a:t>Ημέρα, Μήνας, Έτος </a:t>
            </a:r>
            <a:br>
              <a:rPr lang="en-US" sz="1100" b="0" dirty="0"/>
            </a:br>
            <a:r>
              <a:rPr lang="el-GR" sz="1100" b="0" dirty="0"/>
              <a:t>(</a:t>
            </a:r>
            <a:r>
              <a:rPr lang="en-US" sz="1100" b="0" dirty="0"/>
              <a:t>Eurobank Sans, </a:t>
            </a:r>
            <a:r>
              <a:rPr lang="el-GR" sz="1100" b="0" dirty="0"/>
              <a:t>11</a:t>
            </a:r>
            <a:r>
              <a:rPr lang="en-US" sz="1100" b="0" dirty="0"/>
              <a:t>pt, </a:t>
            </a:r>
            <a:r>
              <a:rPr lang="en-US" sz="1100" b="0" dirty="0" err="1"/>
              <a:t>Unbold</a:t>
            </a:r>
            <a:r>
              <a:rPr lang="el-GR" sz="1100" b="0" dirty="0"/>
              <a:t>)</a:t>
            </a:r>
            <a:endParaRPr lang="en-GR" sz="1100" b="0" dirty="0"/>
          </a:p>
        </p:txBody>
      </p:sp>
      <p:pic>
        <p:nvPicPr>
          <p:cNvPr id="9" name="Picture 8">
            <a:extLst>
              <a:ext uri="{FF2B5EF4-FFF2-40B4-BE49-F238E27FC236}">
                <a16:creationId xmlns:a16="http://schemas.microsoft.com/office/drawing/2014/main" id="{9EE623A0-BD16-2E4C-BD4B-C2DC787EF41C}"/>
              </a:ext>
            </a:extLst>
          </p:cNvPr>
          <p:cNvPicPr>
            <a:picLocks noChangeAspect="1"/>
          </p:cNvPicPr>
          <p:nvPr userDrawn="1"/>
        </p:nvPicPr>
        <p:blipFill>
          <a:blip r:embed="rId4"/>
          <a:stretch>
            <a:fillRect/>
          </a:stretch>
        </p:blipFill>
        <p:spPr>
          <a:xfrm>
            <a:off x="10235923" y="505131"/>
            <a:ext cx="1514271" cy="150313"/>
          </a:xfrm>
          <a:prstGeom prst="rect">
            <a:avLst/>
          </a:prstGeom>
        </p:spPr>
      </p:pic>
    </p:spTree>
    <p:extLst>
      <p:ext uri="{BB962C8B-B14F-4D97-AF65-F5344CB8AC3E}">
        <p14:creationId xmlns:p14="http://schemas.microsoft.com/office/powerpoint/2010/main" val="425558945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42036" y="147066"/>
            <a:ext cx="10979150" cy="770255"/>
          </a:xfrm>
          <a:prstGeom prst="rect">
            <a:avLst/>
          </a:prstGeom>
        </p:spPr>
        <p:txBody>
          <a:bodyPr wrap="square" lIns="0" tIns="0" rIns="0" bIns="0">
            <a:spAutoFit/>
          </a:bodyPr>
          <a:lstStyle>
            <a:lvl1pPr>
              <a:defRPr sz="2500" b="1" i="0">
                <a:solidFill>
                  <a:schemeClr val="tx1"/>
                </a:solidFill>
                <a:latin typeface="Georgia"/>
                <a:cs typeface="Georgia"/>
              </a:defRPr>
            </a:lvl1pPr>
          </a:lstStyle>
          <a:p>
            <a:endParaRPr/>
          </a:p>
        </p:txBody>
      </p:sp>
      <p:sp>
        <p:nvSpPr>
          <p:cNvPr id="3" name="Holder 3"/>
          <p:cNvSpPr>
            <a:spLocks noGrp="1"/>
          </p:cNvSpPr>
          <p:nvPr>
            <p:ph type="body" idx="1"/>
          </p:nvPr>
        </p:nvSpPr>
        <p:spPr>
          <a:xfrm>
            <a:off x="1174623" y="1450086"/>
            <a:ext cx="9842753" cy="1637030"/>
          </a:xfrm>
          <a:prstGeom prst="rect">
            <a:avLst/>
          </a:prstGeom>
        </p:spPr>
        <p:txBody>
          <a:bodyPr wrap="square" lIns="0" tIns="0" rIns="0" bIns="0">
            <a:spAutoFit/>
          </a:bodyPr>
          <a:lstStyle>
            <a:lvl1pPr>
              <a:defRPr sz="1600" b="1" i="0">
                <a:solidFill>
                  <a:schemeClr val="tx1"/>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7/1/2026</a:t>
            </a:fld>
            <a:endParaRPr lang="en-US"/>
          </a:p>
        </p:txBody>
      </p:sp>
      <p:sp>
        <p:nvSpPr>
          <p:cNvPr id="6" name="Holder 6"/>
          <p:cNvSpPr>
            <a:spLocks noGrp="1"/>
          </p:cNvSpPr>
          <p:nvPr>
            <p:ph type="sldNum" sz="quarter" idx="7"/>
          </p:nvPr>
        </p:nvSpPr>
        <p:spPr>
          <a:xfrm>
            <a:off x="11473942" y="6496463"/>
            <a:ext cx="204470" cy="153670"/>
          </a:xfrm>
          <a:prstGeom prst="rect">
            <a:avLst/>
          </a:prstGeom>
        </p:spPr>
        <p:txBody>
          <a:bodyPr wrap="square" lIns="0" tIns="0" rIns="0" bIns="0">
            <a:spAutoFit/>
          </a:bodyPr>
          <a:lstStyle>
            <a:lvl1pPr>
              <a:defRPr sz="900" b="0" i="0">
                <a:solidFill>
                  <a:schemeClr val="tx1"/>
                </a:solidFill>
                <a:latin typeface="Arial"/>
                <a:cs typeface="Arial"/>
              </a:defRPr>
            </a:lvl1pPr>
          </a:lstStyle>
          <a:p>
            <a:pPr marL="38100">
              <a:lnSpc>
                <a:spcPct val="100000"/>
              </a:lnSpc>
              <a:spcBef>
                <a:spcPts val="15"/>
              </a:spcBef>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jp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image" Target="../media/image4.png"/><Relationship Id="rId16" Type="http://schemas.openxmlformats.org/officeDocument/2006/relationships/image" Target="../media/image18.jpg"/><Relationship Id="rId20"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jp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jpg"/><Relationship Id="rId10" Type="http://schemas.openxmlformats.org/officeDocument/2006/relationships/image" Target="../media/image12.jpg"/><Relationship Id="rId19" Type="http://schemas.openxmlformats.org/officeDocument/2006/relationships/image" Target="../media/image21.jp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jp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39.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8.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33.jpg"/><Relationship Id="rId11" Type="http://schemas.openxmlformats.org/officeDocument/2006/relationships/image" Target="../media/image37.png"/><Relationship Id="rId5" Type="http://schemas.openxmlformats.org/officeDocument/2006/relationships/image" Target="../media/image32.png"/><Relationship Id="rId10" Type="http://schemas.openxmlformats.org/officeDocument/2006/relationships/image" Target="../media/image20.png"/><Relationship Id="rId4" Type="http://schemas.openxmlformats.org/officeDocument/2006/relationships/image" Target="../media/image31.png"/><Relationship Id="rId9" Type="http://schemas.openxmlformats.org/officeDocument/2006/relationships/image" Target="../media/image36.pn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1.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18" Type="http://schemas.openxmlformats.org/officeDocument/2006/relationships/image" Target="../media/image63.png"/><Relationship Id="rId3" Type="http://schemas.openxmlformats.org/officeDocument/2006/relationships/image" Target="../media/image4.png"/><Relationship Id="rId21" Type="http://schemas.openxmlformats.org/officeDocument/2006/relationships/image" Target="../media/image66.png"/><Relationship Id="rId7" Type="http://schemas.openxmlformats.org/officeDocument/2006/relationships/image" Target="../media/image52.png"/><Relationship Id="rId12" Type="http://schemas.openxmlformats.org/officeDocument/2006/relationships/image" Target="../media/image57.png"/><Relationship Id="rId17" Type="http://schemas.openxmlformats.org/officeDocument/2006/relationships/image" Target="../media/image62.png"/><Relationship Id="rId2" Type="http://schemas.openxmlformats.org/officeDocument/2006/relationships/notesSlide" Target="../notesSlides/notesSlide2.xml"/><Relationship Id="rId16" Type="http://schemas.openxmlformats.org/officeDocument/2006/relationships/image" Target="../media/image61.png"/><Relationship Id="rId20"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51.png"/><Relationship Id="rId11" Type="http://schemas.openxmlformats.org/officeDocument/2006/relationships/image" Target="../media/image56.png"/><Relationship Id="rId24" Type="http://schemas.openxmlformats.org/officeDocument/2006/relationships/image" Target="../media/image69.jpg"/><Relationship Id="rId5" Type="http://schemas.openxmlformats.org/officeDocument/2006/relationships/image" Target="../media/image50.png"/><Relationship Id="rId15" Type="http://schemas.openxmlformats.org/officeDocument/2006/relationships/image" Target="../media/image60.jpg"/><Relationship Id="rId23" Type="http://schemas.openxmlformats.org/officeDocument/2006/relationships/image" Target="../media/image68.png"/><Relationship Id="rId10" Type="http://schemas.openxmlformats.org/officeDocument/2006/relationships/image" Target="../media/image55.png"/><Relationship Id="rId19" Type="http://schemas.openxmlformats.org/officeDocument/2006/relationships/image" Target="../media/image64.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png"/><Relationship Id="rId22" Type="http://schemas.openxmlformats.org/officeDocument/2006/relationships/image" Target="../media/image67.png"/></Relationships>
</file>

<file path=ppt/slides/_rels/slide1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png"/><Relationship Id="rId1" Type="http://schemas.openxmlformats.org/officeDocument/2006/relationships/slideLayout" Target="../slideLayouts/slideLayout5.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1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85.png"/></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87.jpg"/><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s>
</file>

<file path=ppt/slides/_rels/slide2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23.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57.png"/><Relationship Id="rId7" Type="http://schemas.openxmlformats.org/officeDocument/2006/relationships/image" Target="../media/image60.jp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96.jpg"/><Relationship Id="rId5" Type="http://schemas.openxmlformats.org/officeDocument/2006/relationships/image" Target="../media/image95.jpg"/><Relationship Id="rId10" Type="http://schemas.openxmlformats.org/officeDocument/2006/relationships/image" Target="../media/image98.jpg"/><Relationship Id="rId4" Type="http://schemas.openxmlformats.org/officeDocument/2006/relationships/image" Target="../media/image66.png"/><Relationship Id="rId9" Type="http://schemas.openxmlformats.org/officeDocument/2006/relationships/image" Target="../media/image64.png"/></Relationships>
</file>

<file path=ppt/slides/_rels/slide24.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04.jpg"/><Relationship Id="rId2"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jpg"/><Relationship Id="rId4" Type="http://schemas.openxmlformats.org/officeDocument/2006/relationships/image" Target="../media/image101.png"/></Relationships>
</file>

<file path=ppt/slides/_rels/slide25.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106.png"/><Relationship Id="rId7" Type="http://schemas.openxmlformats.org/officeDocument/2006/relationships/image" Target="../media/image109.pn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7C909CC5-FAD7-7945-A67E-C3E8ED2DD172}"/>
              </a:ext>
            </a:extLst>
          </p:cNvPr>
          <p:cNvSpPr>
            <a:spLocks noGrp="1"/>
          </p:cNvSpPr>
          <p:nvPr>
            <p:ph type="body" idx="4294967295"/>
          </p:nvPr>
        </p:nvSpPr>
        <p:spPr>
          <a:xfrm>
            <a:off x="11354026" y="4419600"/>
            <a:ext cx="827088" cy="355688"/>
          </a:xfrm>
        </p:spPr>
        <p:txBody>
          <a:bodyPr>
            <a:noAutofit/>
          </a:bodyPr>
          <a:lstStyle>
            <a:lvl1pPr>
              <a:defRPr>
                <a:solidFill>
                  <a:srgbClr val="021342"/>
                </a:solidFill>
                <a:latin typeface="Eurobank Sans" panose="02000503000000020004" pitchFamily="2" charset="0"/>
              </a:defRPr>
            </a:lvl1pPr>
          </a:lstStyle>
          <a:p>
            <a:pPr algn="ctr"/>
            <a:r>
              <a:rPr lang="en-US" sz="1100" dirty="0">
                <a:solidFill>
                  <a:schemeClr val="accent1"/>
                </a:solidFill>
              </a:rPr>
              <a:t>March </a:t>
            </a:r>
            <a:r>
              <a:rPr lang="el-GR" sz="1100" dirty="0">
                <a:solidFill>
                  <a:schemeClr val="accent1"/>
                </a:solidFill>
              </a:rPr>
              <a:t>202</a:t>
            </a:r>
            <a:r>
              <a:rPr lang="en-US" sz="1100" dirty="0">
                <a:solidFill>
                  <a:schemeClr val="accent1"/>
                </a:solidFill>
              </a:rPr>
              <a:t>6</a:t>
            </a:r>
            <a:endParaRPr lang="el-GR" sz="1100" dirty="0">
              <a:solidFill>
                <a:schemeClr val="accent1"/>
              </a:solidFill>
            </a:endParaRPr>
          </a:p>
        </p:txBody>
      </p:sp>
      <p:sp>
        <p:nvSpPr>
          <p:cNvPr id="2" name="object 46">
            <a:extLst>
              <a:ext uri="{FF2B5EF4-FFF2-40B4-BE49-F238E27FC236}">
                <a16:creationId xmlns:a16="http://schemas.microsoft.com/office/drawing/2014/main" id="{51554577-375E-C1F9-1051-112F3E46CEE8}"/>
              </a:ext>
            </a:extLst>
          </p:cNvPr>
          <p:cNvSpPr txBox="1">
            <a:spLocks/>
          </p:cNvSpPr>
          <p:nvPr/>
        </p:nvSpPr>
        <p:spPr>
          <a:xfrm>
            <a:off x="228600" y="1524000"/>
            <a:ext cx="7633618" cy="700833"/>
          </a:xfrm>
          <a:prstGeom prst="rect">
            <a:avLst/>
          </a:prstGeom>
        </p:spPr>
        <p:txBody>
          <a:bodyPr vert="horz" wrap="square" lIns="0" tIns="71755" rIns="0" bIns="0" rtlCol="0">
            <a:spAutoFit/>
          </a:bodyPr>
          <a:lstStyle>
            <a:lvl1pPr>
              <a:defRPr>
                <a:latin typeface="+mj-lt"/>
                <a:ea typeface="+mj-ea"/>
                <a:cs typeface="+mj-cs"/>
              </a:defRPr>
            </a:lvl1pPr>
          </a:lstStyle>
          <a:p>
            <a:pPr marL="12700" marR="5080">
              <a:lnSpc>
                <a:spcPts val="4920"/>
              </a:lnSpc>
              <a:spcBef>
                <a:spcPts val="565"/>
              </a:spcBef>
            </a:pPr>
            <a:r>
              <a:rPr lang="en-US" sz="4400" b="1" kern="0" spc="-5" dirty="0">
                <a:solidFill>
                  <a:schemeClr val="bg2">
                    <a:lumMod val="50000"/>
                  </a:schemeClr>
                </a:solidFill>
              </a:rPr>
              <a:t>Auto</a:t>
            </a:r>
            <a:r>
              <a:rPr lang="en-US" sz="4400" b="1" kern="0" spc="-85" dirty="0">
                <a:solidFill>
                  <a:schemeClr val="bg2">
                    <a:lumMod val="50000"/>
                  </a:schemeClr>
                </a:solidFill>
              </a:rPr>
              <a:t> </a:t>
            </a:r>
            <a:r>
              <a:rPr lang="en-US" sz="4400" b="1" kern="0" dirty="0">
                <a:solidFill>
                  <a:schemeClr val="bg2">
                    <a:lumMod val="50000"/>
                  </a:schemeClr>
                </a:solidFill>
              </a:rPr>
              <a:t>New Operating Model</a:t>
            </a:r>
          </a:p>
        </p:txBody>
      </p:sp>
    </p:spTree>
    <p:extLst>
      <p:ext uri="{BB962C8B-B14F-4D97-AF65-F5344CB8AC3E}">
        <p14:creationId xmlns:p14="http://schemas.microsoft.com/office/powerpoint/2010/main" val="2073662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B2F90BB9-1BB5-4C02-1733-483F055F572A}"/>
              </a:ext>
            </a:extLst>
          </p:cNvPr>
          <p:cNvPicPr>
            <a:picLocks noChangeAspect="1"/>
          </p:cNvPicPr>
          <p:nvPr/>
        </p:nvPicPr>
        <p:blipFill>
          <a:blip r:embed="rId2"/>
          <a:stretch>
            <a:fillRect/>
          </a:stretch>
        </p:blipFill>
        <p:spPr>
          <a:xfrm>
            <a:off x="-21771" y="-152400"/>
            <a:ext cx="12191999" cy="1025191"/>
          </a:xfrm>
          <a:prstGeom prst="rect">
            <a:avLst/>
          </a:prstGeom>
        </p:spPr>
      </p:pic>
      <p:sp>
        <p:nvSpPr>
          <p:cNvPr id="3" name="object 3"/>
          <p:cNvSpPr txBox="1"/>
          <p:nvPr/>
        </p:nvSpPr>
        <p:spPr>
          <a:xfrm>
            <a:off x="11506200" y="6569716"/>
            <a:ext cx="81395" cy="151323"/>
          </a:xfrm>
          <a:prstGeom prst="rect">
            <a:avLst/>
          </a:prstGeom>
        </p:spPr>
        <p:txBody>
          <a:bodyPr vert="horz" wrap="square" lIns="0" tIns="12700" rIns="0" bIns="0" rtlCol="0">
            <a:spAutoFit/>
          </a:bodyPr>
          <a:lstStyle/>
          <a:p>
            <a:pPr marL="12700">
              <a:lnSpc>
                <a:spcPct val="100000"/>
              </a:lnSpc>
              <a:spcBef>
                <a:spcPts val="100"/>
              </a:spcBef>
            </a:pPr>
            <a:r>
              <a:rPr lang="en-US" sz="900" dirty="0">
                <a:latin typeface="Arial"/>
                <a:cs typeface="Arial"/>
              </a:rPr>
              <a:t>1</a:t>
            </a:r>
            <a:endParaRPr sz="900" dirty="0">
              <a:latin typeface="Arial"/>
              <a:cs typeface="Arial"/>
            </a:endParaRPr>
          </a:p>
        </p:txBody>
      </p:sp>
      <p:sp>
        <p:nvSpPr>
          <p:cNvPr id="4" name="object 4"/>
          <p:cNvSpPr txBox="1">
            <a:spLocks noGrp="1"/>
          </p:cNvSpPr>
          <p:nvPr>
            <p:ph type="title"/>
          </p:nvPr>
        </p:nvSpPr>
        <p:spPr>
          <a:xfrm>
            <a:off x="542036" y="167386"/>
            <a:ext cx="6566534" cy="406400"/>
          </a:xfrm>
          <a:prstGeom prst="rect">
            <a:avLst/>
          </a:prstGeom>
        </p:spPr>
        <p:txBody>
          <a:bodyPr vert="horz" wrap="square" lIns="0" tIns="12065" rIns="0" bIns="0" rtlCol="0">
            <a:spAutoFit/>
          </a:bodyPr>
          <a:lstStyle/>
          <a:p>
            <a:pPr marL="12700">
              <a:lnSpc>
                <a:spcPct val="100000"/>
              </a:lnSpc>
              <a:spcBef>
                <a:spcPts val="95"/>
              </a:spcBef>
            </a:pPr>
            <a:r>
              <a:rPr spc="-5" dirty="0">
                <a:solidFill>
                  <a:srgbClr val="2151FF"/>
                </a:solidFill>
              </a:rPr>
              <a:t>Executive summary</a:t>
            </a:r>
            <a:endParaRPr spc="-5" dirty="0"/>
          </a:p>
        </p:txBody>
      </p:sp>
      <p:sp>
        <p:nvSpPr>
          <p:cNvPr id="10" name="object 10"/>
          <p:cNvSpPr txBox="1"/>
          <p:nvPr/>
        </p:nvSpPr>
        <p:spPr>
          <a:xfrm>
            <a:off x="743102" y="1905000"/>
            <a:ext cx="10162540" cy="444352"/>
          </a:xfrm>
          <a:prstGeom prst="rect">
            <a:avLst/>
          </a:prstGeom>
        </p:spPr>
        <p:txBody>
          <a:bodyPr vert="horz" wrap="square" lIns="0" tIns="13335" rIns="0" bIns="0" rtlCol="0">
            <a:spAutoFit/>
          </a:bodyPr>
          <a:lstStyle/>
          <a:p>
            <a:pPr marL="12700" marR="5080">
              <a:lnSpc>
                <a:spcPct val="100000"/>
              </a:lnSpc>
              <a:spcBef>
                <a:spcPts val="105"/>
              </a:spcBef>
            </a:pPr>
            <a:r>
              <a:rPr sz="1400" dirty="0">
                <a:latin typeface="Arial"/>
                <a:cs typeface="Arial"/>
              </a:rPr>
              <a:t>In </a:t>
            </a:r>
            <a:r>
              <a:rPr sz="1400" spc="-5" dirty="0">
                <a:latin typeface="Arial"/>
                <a:cs typeface="Arial"/>
              </a:rPr>
              <a:t>this context, </a:t>
            </a:r>
            <a:r>
              <a:rPr sz="1400" b="1" spc="-5" dirty="0">
                <a:latin typeface="Arial"/>
                <a:cs typeface="Arial"/>
              </a:rPr>
              <a:t>Eurobank </a:t>
            </a:r>
            <a:r>
              <a:rPr sz="1400" b="1" dirty="0">
                <a:latin typeface="Arial"/>
                <a:cs typeface="Arial"/>
              </a:rPr>
              <a:t>is </a:t>
            </a:r>
            <a:r>
              <a:rPr sz="1400" b="1" spc="-5" dirty="0">
                <a:latin typeface="Arial"/>
                <a:cs typeface="Arial"/>
              </a:rPr>
              <a:t>losing share </a:t>
            </a:r>
            <a:r>
              <a:rPr sz="1400" spc="-5" dirty="0">
                <a:latin typeface="Arial"/>
                <a:cs typeface="Arial"/>
              </a:rPr>
              <a:t>(-10pp since 21’) </a:t>
            </a:r>
            <a:r>
              <a:rPr sz="1400" dirty="0">
                <a:latin typeface="Arial"/>
                <a:cs typeface="Arial"/>
              </a:rPr>
              <a:t>to a </a:t>
            </a:r>
            <a:r>
              <a:rPr sz="1400" spc="-5" dirty="0">
                <a:latin typeface="Arial"/>
                <a:cs typeface="Arial"/>
              </a:rPr>
              <a:t>combination of </a:t>
            </a:r>
            <a:r>
              <a:rPr sz="1400" b="1" spc="-10" dirty="0">
                <a:latin typeface="Arial"/>
                <a:cs typeface="Arial"/>
              </a:rPr>
              <a:t>systemic </a:t>
            </a:r>
            <a:r>
              <a:rPr sz="1400" b="1" spc="-5" dirty="0">
                <a:latin typeface="Arial"/>
                <a:cs typeface="Arial"/>
              </a:rPr>
              <a:t>banks </a:t>
            </a:r>
            <a:r>
              <a:rPr sz="1400" spc="-5" dirty="0">
                <a:latin typeface="Arial"/>
                <a:cs typeface="Arial"/>
              </a:rPr>
              <a:t>and </a:t>
            </a:r>
            <a:r>
              <a:rPr sz="1400" b="1" dirty="0">
                <a:latin typeface="Arial"/>
                <a:cs typeface="Arial"/>
              </a:rPr>
              <a:t>OEM </a:t>
            </a:r>
            <a:r>
              <a:rPr sz="1400" b="1" spc="-5" dirty="0">
                <a:latin typeface="Arial"/>
                <a:cs typeface="Arial"/>
              </a:rPr>
              <a:t>captives/specialized  </a:t>
            </a:r>
            <a:r>
              <a:rPr sz="1400" b="1" spc="-10" dirty="0">
                <a:latin typeface="Arial"/>
                <a:cs typeface="Arial"/>
              </a:rPr>
              <a:t>players </a:t>
            </a:r>
            <a:r>
              <a:rPr sz="1400" spc="-5" dirty="0">
                <a:latin typeface="Arial"/>
                <a:cs typeface="Arial"/>
              </a:rPr>
              <a:t>due </a:t>
            </a:r>
            <a:r>
              <a:rPr sz="1400" dirty="0">
                <a:latin typeface="Arial"/>
                <a:cs typeface="Arial"/>
              </a:rPr>
              <a:t>to</a:t>
            </a:r>
            <a:r>
              <a:rPr sz="1400" b="1" dirty="0">
                <a:latin typeface="Arial"/>
                <a:cs typeface="Arial"/>
              </a:rPr>
              <a:t>: </a:t>
            </a:r>
            <a:r>
              <a:rPr sz="1400" dirty="0">
                <a:latin typeface="Arial"/>
                <a:cs typeface="Arial"/>
              </a:rPr>
              <a:t>i) </a:t>
            </a:r>
            <a:r>
              <a:rPr sz="1400" b="1" spc="-5" dirty="0">
                <a:latin typeface="Arial"/>
                <a:cs typeface="Arial"/>
              </a:rPr>
              <a:t>stricter credit policy than competitors</a:t>
            </a:r>
            <a:r>
              <a:rPr sz="1400" spc="-5" dirty="0">
                <a:latin typeface="Arial"/>
                <a:cs typeface="Arial"/>
              </a:rPr>
              <a:t>; ii) </a:t>
            </a:r>
            <a:r>
              <a:rPr sz="1400" b="1" spc="-5" dirty="0">
                <a:latin typeface="Arial"/>
                <a:cs typeface="Arial"/>
              </a:rPr>
              <a:t>absence of </a:t>
            </a:r>
            <a:r>
              <a:rPr sz="1400" b="1" dirty="0">
                <a:latin typeface="Arial"/>
                <a:cs typeface="Arial"/>
              </a:rPr>
              <a:t>a </a:t>
            </a:r>
            <a:r>
              <a:rPr sz="1400" b="1" spc="-5" dirty="0">
                <a:latin typeface="Arial"/>
                <a:cs typeface="Arial"/>
              </a:rPr>
              <a:t>competitive offering </a:t>
            </a:r>
            <a:r>
              <a:rPr sz="1400" b="1" dirty="0">
                <a:latin typeface="Arial"/>
                <a:cs typeface="Arial"/>
              </a:rPr>
              <a:t>(e.g </a:t>
            </a:r>
            <a:r>
              <a:rPr sz="1400" b="1" spc="-5" dirty="0">
                <a:latin typeface="Arial"/>
                <a:cs typeface="Arial"/>
              </a:rPr>
              <a:t>B2B</a:t>
            </a:r>
            <a:r>
              <a:rPr sz="1400" b="1" spc="-240" dirty="0">
                <a:latin typeface="Arial"/>
                <a:cs typeface="Arial"/>
              </a:rPr>
              <a:t> </a:t>
            </a:r>
            <a:r>
              <a:rPr sz="1400" b="1" spc="-5" dirty="0">
                <a:latin typeface="Arial"/>
                <a:cs typeface="Arial"/>
              </a:rPr>
              <a:t>financing)</a:t>
            </a:r>
            <a:endParaRPr lang="en-US" sz="1400" b="1" spc="-5" dirty="0">
              <a:latin typeface="Arial"/>
              <a:cs typeface="Arial"/>
            </a:endParaRPr>
          </a:p>
        </p:txBody>
      </p:sp>
      <p:sp>
        <p:nvSpPr>
          <p:cNvPr id="19" name="object 19"/>
          <p:cNvSpPr txBox="1"/>
          <p:nvPr/>
        </p:nvSpPr>
        <p:spPr>
          <a:xfrm>
            <a:off x="743102" y="3276600"/>
            <a:ext cx="11067898" cy="887422"/>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Four </a:t>
            </a:r>
            <a:r>
              <a:rPr sz="1400" b="1" spc="-5" dirty="0">
                <a:latin typeface="Arial"/>
                <a:cs typeface="Arial"/>
              </a:rPr>
              <a:t>concrete initiatives </a:t>
            </a:r>
            <a:r>
              <a:rPr sz="1400" b="1" spc="-10" dirty="0">
                <a:latin typeface="Arial"/>
                <a:cs typeface="Arial"/>
              </a:rPr>
              <a:t>have </a:t>
            </a:r>
            <a:r>
              <a:rPr sz="1400" b="1" spc="-5" dirty="0">
                <a:latin typeface="Arial"/>
                <a:cs typeface="Arial"/>
              </a:rPr>
              <a:t>been identified</a:t>
            </a:r>
            <a:r>
              <a:rPr sz="1400" spc="-5" dirty="0">
                <a:latin typeface="Arial"/>
                <a:cs typeface="Arial"/>
              </a:rPr>
              <a:t>: 1) </a:t>
            </a:r>
            <a:r>
              <a:rPr sz="1400" dirty="0">
                <a:latin typeface="Arial"/>
                <a:cs typeface="Arial"/>
              </a:rPr>
              <a:t>Increase </a:t>
            </a:r>
            <a:r>
              <a:rPr sz="1400" b="1" spc="-5" dirty="0">
                <a:latin typeface="Arial"/>
                <a:cs typeface="Arial"/>
              </a:rPr>
              <a:t>used car financing </a:t>
            </a:r>
            <a:r>
              <a:rPr sz="1400" spc="-5" dirty="0">
                <a:latin typeface="Arial"/>
                <a:cs typeface="Arial"/>
              </a:rPr>
              <a:t>(+6</a:t>
            </a:r>
            <a:r>
              <a:rPr lang="en-US" sz="1400" spc="-5" dirty="0">
                <a:latin typeface="Arial"/>
                <a:cs typeface="Arial"/>
              </a:rPr>
              <a:t>-</a:t>
            </a:r>
            <a:r>
              <a:rPr sz="1400" spc="-5" dirty="0">
                <a:latin typeface="Arial"/>
                <a:cs typeface="Arial"/>
              </a:rPr>
              <a:t>8M€ RAR); 2) Redesign </a:t>
            </a:r>
            <a:r>
              <a:rPr sz="1400" b="1" spc="-5" dirty="0">
                <a:latin typeface="Arial"/>
                <a:cs typeface="Arial"/>
              </a:rPr>
              <a:t>B2B offering </a:t>
            </a:r>
            <a:r>
              <a:rPr sz="1400" dirty="0">
                <a:latin typeface="Arial"/>
                <a:cs typeface="Arial"/>
              </a:rPr>
              <a:t>(+8</a:t>
            </a:r>
            <a:r>
              <a:rPr lang="en-US" sz="1400" dirty="0">
                <a:latin typeface="Arial"/>
                <a:cs typeface="Arial"/>
              </a:rPr>
              <a:t>-</a:t>
            </a:r>
            <a:r>
              <a:rPr sz="1400" spc="-5" dirty="0">
                <a:latin typeface="Arial"/>
                <a:cs typeface="Arial"/>
              </a:rPr>
              <a:t>10M€ RAR); 3) </a:t>
            </a:r>
            <a:r>
              <a:rPr sz="1400" dirty="0">
                <a:latin typeface="Arial"/>
                <a:cs typeface="Arial"/>
              </a:rPr>
              <a:t>Enter </a:t>
            </a:r>
            <a:r>
              <a:rPr sz="1400" b="1" spc="-5" dirty="0">
                <a:latin typeface="Arial"/>
                <a:cs typeface="Arial"/>
              </a:rPr>
              <a:t>retail leasing </a:t>
            </a:r>
            <a:r>
              <a:rPr sz="1400" spc="-5" dirty="0">
                <a:latin typeface="Arial"/>
                <a:cs typeface="Arial"/>
              </a:rPr>
              <a:t>(+12</a:t>
            </a:r>
            <a:r>
              <a:rPr lang="en-US" sz="1400" spc="-5" dirty="0">
                <a:latin typeface="Arial"/>
                <a:cs typeface="Arial"/>
              </a:rPr>
              <a:t>-</a:t>
            </a:r>
            <a:r>
              <a:rPr sz="1400" spc="-5" dirty="0">
                <a:latin typeface="Arial"/>
                <a:cs typeface="Arial"/>
              </a:rPr>
              <a:t>15M€ RAR); 4) Expand </a:t>
            </a:r>
            <a:r>
              <a:rPr sz="1400" b="1" dirty="0">
                <a:latin typeface="Arial"/>
                <a:cs typeface="Arial"/>
              </a:rPr>
              <a:t>digital presence </a:t>
            </a:r>
            <a:r>
              <a:rPr sz="1400" spc="-5" dirty="0">
                <a:latin typeface="Arial"/>
                <a:cs typeface="Arial"/>
              </a:rPr>
              <a:t>(+</a:t>
            </a:r>
            <a:r>
              <a:rPr lang="el-GR" sz="1400" spc="-5" dirty="0">
                <a:latin typeface="Arial"/>
                <a:cs typeface="Arial"/>
              </a:rPr>
              <a:t>4</a:t>
            </a:r>
            <a:r>
              <a:rPr lang="en-US" sz="1400" spc="-5" dirty="0">
                <a:latin typeface="Arial"/>
                <a:cs typeface="Arial"/>
              </a:rPr>
              <a:t>-</a:t>
            </a:r>
            <a:r>
              <a:rPr lang="el-GR" sz="1400" spc="-5" dirty="0">
                <a:latin typeface="Arial"/>
                <a:cs typeface="Arial"/>
              </a:rPr>
              <a:t>6</a:t>
            </a:r>
            <a:r>
              <a:rPr sz="1400" spc="-5" dirty="0">
                <a:latin typeface="Arial"/>
                <a:cs typeface="Arial"/>
              </a:rPr>
              <a:t>M€</a:t>
            </a:r>
            <a:r>
              <a:rPr sz="1400" spc="-270" dirty="0">
                <a:latin typeface="Arial"/>
                <a:cs typeface="Arial"/>
              </a:rPr>
              <a:t> </a:t>
            </a:r>
            <a:r>
              <a:rPr sz="1400" spc="-5" dirty="0">
                <a:latin typeface="Arial"/>
                <a:cs typeface="Arial"/>
              </a:rPr>
              <a:t>RAR)</a:t>
            </a:r>
            <a:r>
              <a:rPr lang="en-US" sz="1400" spc="-5" dirty="0">
                <a:latin typeface="Arial"/>
                <a:cs typeface="Arial"/>
              </a:rPr>
              <a:t>. </a:t>
            </a:r>
          </a:p>
          <a:p>
            <a:pPr marL="12700">
              <a:lnSpc>
                <a:spcPct val="100000"/>
              </a:lnSpc>
              <a:spcBef>
                <a:spcPts val="100"/>
              </a:spcBef>
            </a:pPr>
            <a:r>
              <a:rPr lang="en-US" sz="1400" spc="-5" dirty="0">
                <a:latin typeface="Arial"/>
                <a:cs typeface="Arial"/>
              </a:rPr>
              <a:t>This overall plan </a:t>
            </a:r>
            <a:r>
              <a:rPr lang="en-US" sz="1400" dirty="0">
                <a:latin typeface="Arial"/>
                <a:cs typeface="Arial"/>
              </a:rPr>
              <a:t>can create a </a:t>
            </a:r>
            <a:r>
              <a:rPr lang="en-US" sz="1400" spc="-5" dirty="0">
                <a:latin typeface="Arial"/>
                <a:cs typeface="Arial"/>
              </a:rPr>
              <a:t>growth opportunity of </a:t>
            </a:r>
            <a:r>
              <a:rPr lang="en-US" sz="1400" b="1" spc="-5" dirty="0">
                <a:latin typeface="Arial"/>
                <a:cs typeface="Arial"/>
              </a:rPr>
              <a:t>30-40M€ </a:t>
            </a:r>
            <a:r>
              <a:rPr lang="en-US" sz="1400" b="1" dirty="0">
                <a:latin typeface="Arial"/>
                <a:cs typeface="Arial"/>
              </a:rPr>
              <a:t>in </a:t>
            </a:r>
            <a:r>
              <a:rPr lang="en-US" sz="1400" b="1" spc="-5" dirty="0">
                <a:latin typeface="Arial"/>
                <a:cs typeface="Arial"/>
              </a:rPr>
              <a:t>additional </a:t>
            </a:r>
            <a:r>
              <a:rPr lang="en-US" sz="1400" b="1" spc="-20" dirty="0">
                <a:latin typeface="Arial"/>
                <a:cs typeface="Arial"/>
              </a:rPr>
              <a:t>RAR </a:t>
            </a:r>
            <a:r>
              <a:rPr lang="en-US" sz="1400" spc="-5" dirty="0">
                <a:latin typeface="Arial"/>
                <a:cs typeface="Arial"/>
              </a:rPr>
              <a:t>(x3 vs. today), </a:t>
            </a:r>
            <a:r>
              <a:rPr lang="en-US" sz="1400" dirty="0">
                <a:latin typeface="Arial"/>
                <a:cs typeface="Arial"/>
              </a:rPr>
              <a:t>reaching </a:t>
            </a:r>
            <a:r>
              <a:rPr lang="en-US" sz="1400" spc="-5" dirty="0">
                <a:latin typeface="Arial"/>
                <a:cs typeface="Arial"/>
              </a:rPr>
              <a:t>55-65M€ RAR by 2030</a:t>
            </a:r>
            <a:r>
              <a:rPr lang="en-US" sz="1400" spc="-160" dirty="0">
                <a:latin typeface="Arial"/>
                <a:cs typeface="Arial"/>
              </a:rPr>
              <a:t> </a:t>
            </a:r>
            <a:r>
              <a:rPr lang="en-US" sz="1400" dirty="0">
                <a:latin typeface="Arial"/>
                <a:cs typeface="Arial"/>
              </a:rPr>
              <a:t>(~30% </a:t>
            </a:r>
            <a:r>
              <a:rPr lang="en-US" sz="1400" spc="-5" dirty="0">
                <a:latin typeface="Arial"/>
                <a:cs typeface="Arial"/>
              </a:rPr>
              <a:t>market </a:t>
            </a:r>
            <a:r>
              <a:rPr lang="en-US" sz="1400" dirty="0">
                <a:latin typeface="Arial"/>
                <a:cs typeface="Arial"/>
              </a:rPr>
              <a:t>share in retail). </a:t>
            </a:r>
            <a:endParaRPr sz="1400" dirty="0">
              <a:latin typeface="Arial"/>
              <a:cs typeface="Arial"/>
            </a:endParaRPr>
          </a:p>
        </p:txBody>
      </p:sp>
      <p:sp>
        <p:nvSpPr>
          <p:cNvPr id="26" name="object 26"/>
          <p:cNvSpPr/>
          <p:nvPr/>
        </p:nvSpPr>
        <p:spPr>
          <a:xfrm>
            <a:off x="165710" y="826769"/>
            <a:ext cx="279400" cy="279400"/>
          </a:xfrm>
          <a:custGeom>
            <a:avLst/>
            <a:gdLst/>
            <a:ahLst/>
            <a:cxnLst/>
            <a:rect l="l" t="t" r="r" b="b"/>
            <a:pathLst>
              <a:path w="279400" h="279400">
                <a:moveTo>
                  <a:pt x="139674" y="0"/>
                </a:moveTo>
                <a:lnTo>
                  <a:pt x="95526" y="7128"/>
                </a:lnTo>
                <a:lnTo>
                  <a:pt x="57184" y="26972"/>
                </a:lnTo>
                <a:lnTo>
                  <a:pt x="26949" y="57223"/>
                </a:lnTo>
                <a:lnTo>
                  <a:pt x="7120" y="95569"/>
                </a:lnTo>
                <a:lnTo>
                  <a:pt x="0" y="139700"/>
                </a:lnTo>
                <a:lnTo>
                  <a:pt x="7120" y="183879"/>
                </a:lnTo>
                <a:lnTo>
                  <a:pt x="26949" y="222231"/>
                </a:lnTo>
                <a:lnTo>
                  <a:pt x="57184" y="252463"/>
                </a:lnTo>
                <a:lnTo>
                  <a:pt x="95526" y="272283"/>
                </a:lnTo>
                <a:lnTo>
                  <a:pt x="139674" y="279400"/>
                </a:lnTo>
                <a:lnTo>
                  <a:pt x="183816" y="272283"/>
                </a:lnTo>
                <a:lnTo>
                  <a:pt x="222154" y="252463"/>
                </a:lnTo>
                <a:lnTo>
                  <a:pt x="252388" y="222231"/>
                </a:lnTo>
                <a:lnTo>
                  <a:pt x="272215" y="183879"/>
                </a:lnTo>
                <a:lnTo>
                  <a:pt x="279336" y="139700"/>
                </a:lnTo>
                <a:lnTo>
                  <a:pt x="272215" y="95569"/>
                </a:lnTo>
                <a:lnTo>
                  <a:pt x="252388" y="57223"/>
                </a:lnTo>
                <a:lnTo>
                  <a:pt x="222154" y="26972"/>
                </a:lnTo>
                <a:lnTo>
                  <a:pt x="183816" y="7128"/>
                </a:lnTo>
                <a:lnTo>
                  <a:pt x="139674" y="0"/>
                </a:lnTo>
                <a:close/>
              </a:path>
            </a:pathLst>
          </a:custGeom>
          <a:solidFill>
            <a:srgbClr val="051F79"/>
          </a:solidFill>
        </p:spPr>
        <p:txBody>
          <a:bodyPr wrap="square" lIns="0" tIns="0" rIns="0" bIns="0" rtlCol="0"/>
          <a:lstStyle/>
          <a:p>
            <a:endParaRPr/>
          </a:p>
        </p:txBody>
      </p:sp>
      <p:sp>
        <p:nvSpPr>
          <p:cNvPr id="27" name="object 27"/>
          <p:cNvSpPr txBox="1"/>
          <p:nvPr/>
        </p:nvSpPr>
        <p:spPr>
          <a:xfrm>
            <a:off x="243230" y="841375"/>
            <a:ext cx="12509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Arial"/>
                <a:cs typeface="Arial"/>
              </a:rPr>
              <a:t>1</a:t>
            </a:r>
            <a:endParaRPr sz="1400">
              <a:latin typeface="Arial"/>
              <a:cs typeface="Arial"/>
            </a:endParaRPr>
          </a:p>
        </p:txBody>
      </p:sp>
      <p:sp>
        <p:nvSpPr>
          <p:cNvPr id="28" name="object 28"/>
          <p:cNvSpPr txBox="1"/>
          <p:nvPr/>
        </p:nvSpPr>
        <p:spPr>
          <a:xfrm>
            <a:off x="717702" y="808101"/>
            <a:ext cx="11093298" cy="888064"/>
          </a:xfrm>
          <a:prstGeom prst="rect">
            <a:avLst/>
          </a:prstGeom>
        </p:spPr>
        <p:txBody>
          <a:bodyPr vert="horz" wrap="square" lIns="0" tIns="13335" rIns="0" bIns="0" rtlCol="0">
            <a:spAutoFit/>
          </a:bodyPr>
          <a:lstStyle/>
          <a:p>
            <a:pPr marL="38100">
              <a:lnSpc>
                <a:spcPct val="100000"/>
              </a:lnSpc>
              <a:spcBef>
                <a:spcPts val="105"/>
              </a:spcBef>
            </a:pPr>
            <a:r>
              <a:rPr sz="1400" b="1" dirty="0">
                <a:latin typeface="Arial"/>
                <a:cs typeface="Arial"/>
              </a:rPr>
              <a:t>Greek </a:t>
            </a:r>
            <a:r>
              <a:rPr sz="1400" b="1" spc="-5" dirty="0">
                <a:latin typeface="Arial"/>
                <a:cs typeface="Arial"/>
              </a:rPr>
              <a:t>auto finance market </a:t>
            </a:r>
            <a:r>
              <a:rPr sz="1400" spc="-5" dirty="0">
                <a:latin typeface="Arial"/>
                <a:cs typeface="Arial"/>
              </a:rPr>
              <a:t>is estimated at </a:t>
            </a:r>
            <a:r>
              <a:rPr sz="1400" b="1" spc="-5" dirty="0">
                <a:latin typeface="Arial"/>
                <a:cs typeface="Arial"/>
              </a:rPr>
              <a:t>~240M€ </a:t>
            </a:r>
            <a:r>
              <a:rPr sz="1400" b="1" spc="-10" dirty="0">
                <a:latin typeface="Arial"/>
                <a:cs typeface="Arial"/>
              </a:rPr>
              <a:t>RAR</a:t>
            </a:r>
            <a:r>
              <a:rPr sz="1350" b="1" spc="-15" baseline="24691" dirty="0">
                <a:latin typeface="Arial"/>
                <a:cs typeface="Arial"/>
              </a:rPr>
              <a:t>1 </a:t>
            </a:r>
            <a:r>
              <a:rPr sz="1400" dirty="0">
                <a:latin typeface="Arial"/>
                <a:cs typeface="Arial"/>
              </a:rPr>
              <a:t>(of </a:t>
            </a:r>
            <a:r>
              <a:rPr sz="1400" spc="-5" dirty="0">
                <a:latin typeface="Arial"/>
                <a:cs typeface="Arial"/>
              </a:rPr>
              <a:t>which ~120M€ Retail); </a:t>
            </a:r>
            <a:r>
              <a:rPr sz="1400" dirty="0">
                <a:latin typeface="Arial"/>
                <a:cs typeface="Arial"/>
              </a:rPr>
              <a:t>Eurobank </a:t>
            </a:r>
            <a:r>
              <a:rPr sz="1400" spc="-5" dirty="0">
                <a:latin typeface="Arial"/>
                <a:cs typeface="Arial"/>
              </a:rPr>
              <a:t>holds </a:t>
            </a:r>
            <a:r>
              <a:rPr sz="1400" dirty="0">
                <a:latin typeface="Arial"/>
                <a:cs typeface="Arial"/>
              </a:rPr>
              <a:t>a strong </a:t>
            </a:r>
            <a:r>
              <a:rPr sz="1400" spc="-5" dirty="0">
                <a:latin typeface="Arial"/>
                <a:cs typeface="Arial"/>
              </a:rPr>
              <a:t>position in auto</a:t>
            </a:r>
            <a:r>
              <a:rPr sz="1400" spc="-170" dirty="0">
                <a:latin typeface="Arial"/>
                <a:cs typeface="Arial"/>
              </a:rPr>
              <a:t> </a:t>
            </a:r>
            <a:r>
              <a:rPr sz="1400" spc="-5" dirty="0">
                <a:latin typeface="Arial"/>
                <a:cs typeface="Arial"/>
              </a:rPr>
              <a:t>loan</a:t>
            </a:r>
            <a:endParaRPr sz="1400" dirty="0">
              <a:latin typeface="Arial"/>
              <a:cs typeface="Arial"/>
            </a:endParaRPr>
          </a:p>
          <a:p>
            <a:pPr marL="38100">
              <a:lnSpc>
                <a:spcPct val="100000"/>
              </a:lnSpc>
            </a:pPr>
            <a:r>
              <a:rPr sz="1400" spc="-5" dirty="0">
                <a:latin typeface="Arial"/>
                <a:cs typeface="Arial"/>
              </a:rPr>
              <a:t>(~27%</a:t>
            </a:r>
            <a:r>
              <a:rPr sz="1400" spc="-25" dirty="0">
                <a:latin typeface="Arial"/>
                <a:cs typeface="Arial"/>
              </a:rPr>
              <a:t> </a:t>
            </a:r>
            <a:r>
              <a:rPr sz="1400" spc="-5" dirty="0">
                <a:latin typeface="Arial"/>
                <a:cs typeface="Arial"/>
              </a:rPr>
              <a:t>market</a:t>
            </a:r>
            <a:r>
              <a:rPr sz="1400" spc="-35" dirty="0">
                <a:latin typeface="Arial"/>
                <a:cs typeface="Arial"/>
              </a:rPr>
              <a:t> </a:t>
            </a:r>
            <a:r>
              <a:rPr sz="1400" spc="-5" dirty="0">
                <a:latin typeface="Arial"/>
                <a:cs typeface="Arial"/>
              </a:rPr>
              <a:t>share),</a:t>
            </a:r>
            <a:r>
              <a:rPr sz="1400" spc="-40" dirty="0">
                <a:latin typeface="Arial"/>
                <a:cs typeface="Arial"/>
              </a:rPr>
              <a:t> </a:t>
            </a:r>
            <a:r>
              <a:rPr sz="1400" spc="-5" dirty="0">
                <a:latin typeface="Arial"/>
                <a:cs typeface="Arial"/>
              </a:rPr>
              <a:t>but</a:t>
            </a:r>
            <a:r>
              <a:rPr sz="1400" spc="-15" dirty="0">
                <a:latin typeface="Arial"/>
                <a:cs typeface="Arial"/>
              </a:rPr>
              <a:t> </a:t>
            </a:r>
            <a:r>
              <a:rPr sz="1400" spc="-5" dirty="0">
                <a:latin typeface="Arial"/>
                <a:cs typeface="Arial"/>
              </a:rPr>
              <a:t>with </a:t>
            </a:r>
            <a:r>
              <a:rPr sz="1400" dirty="0">
                <a:latin typeface="Arial"/>
                <a:cs typeface="Arial"/>
              </a:rPr>
              <a:t>no</a:t>
            </a:r>
            <a:r>
              <a:rPr sz="1400" spc="-10" dirty="0">
                <a:latin typeface="Arial"/>
                <a:cs typeface="Arial"/>
              </a:rPr>
              <a:t> </a:t>
            </a:r>
            <a:r>
              <a:rPr sz="1400" spc="-5" dirty="0">
                <a:latin typeface="Arial"/>
                <a:cs typeface="Arial"/>
              </a:rPr>
              <a:t>presence</a:t>
            </a:r>
            <a:r>
              <a:rPr sz="1400" spc="-40" dirty="0">
                <a:latin typeface="Arial"/>
                <a:cs typeface="Arial"/>
              </a:rPr>
              <a:t> </a:t>
            </a:r>
            <a:r>
              <a:rPr sz="1400" dirty="0">
                <a:latin typeface="Arial"/>
                <a:cs typeface="Arial"/>
              </a:rPr>
              <a:t>in</a:t>
            </a:r>
            <a:r>
              <a:rPr sz="1400" spc="-10" dirty="0">
                <a:latin typeface="Arial"/>
                <a:cs typeface="Arial"/>
              </a:rPr>
              <a:t> </a:t>
            </a:r>
            <a:r>
              <a:rPr sz="1400" dirty="0">
                <a:latin typeface="Arial"/>
                <a:cs typeface="Arial"/>
              </a:rPr>
              <a:t>retail</a:t>
            </a:r>
            <a:r>
              <a:rPr sz="1400" spc="-15" dirty="0">
                <a:latin typeface="Arial"/>
                <a:cs typeface="Arial"/>
              </a:rPr>
              <a:t> </a:t>
            </a:r>
            <a:r>
              <a:rPr sz="1400" spc="-5" dirty="0">
                <a:latin typeface="Arial"/>
                <a:cs typeface="Arial"/>
              </a:rPr>
              <a:t>operating</a:t>
            </a:r>
            <a:r>
              <a:rPr sz="1400" spc="-40" dirty="0">
                <a:latin typeface="Arial"/>
                <a:cs typeface="Arial"/>
              </a:rPr>
              <a:t> </a:t>
            </a:r>
            <a:r>
              <a:rPr sz="1400" spc="-5" dirty="0">
                <a:latin typeface="Arial"/>
                <a:cs typeface="Arial"/>
              </a:rPr>
              <a:t>leasing,</a:t>
            </a:r>
            <a:r>
              <a:rPr sz="1400" spc="-30" dirty="0">
                <a:latin typeface="Arial"/>
                <a:cs typeface="Arial"/>
              </a:rPr>
              <a:t> </a:t>
            </a:r>
            <a:r>
              <a:rPr sz="1400" dirty="0">
                <a:latin typeface="Arial"/>
                <a:cs typeface="Arial"/>
              </a:rPr>
              <a:t>resulting</a:t>
            </a:r>
            <a:r>
              <a:rPr sz="1400" spc="-40" dirty="0">
                <a:latin typeface="Arial"/>
                <a:cs typeface="Arial"/>
              </a:rPr>
              <a:t> </a:t>
            </a:r>
            <a:r>
              <a:rPr sz="1400" dirty="0">
                <a:latin typeface="Arial"/>
                <a:cs typeface="Arial"/>
              </a:rPr>
              <a:t>in</a:t>
            </a:r>
            <a:r>
              <a:rPr sz="1400" spc="-20" dirty="0">
                <a:latin typeface="Arial"/>
                <a:cs typeface="Arial"/>
              </a:rPr>
              <a:t> </a:t>
            </a:r>
            <a:r>
              <a:rPr sz="1400" dirty="0">
                <a:latin typeface="Arial"/>
                <a:cs typeface="Arial"/>
              </a:rPr>
              <a:t>an</a:t>
            </a:r>
            <a:r>
              <a:rPr sz="1400" spc="15" dirty="0">
                <a:latin typeface="Arial"/>
                <a:cs typeface="Arial"/>
              </a:rPr>
              <a:t> </a:t>
            </a:r>
            <a:r>
              <a:rPr sz="1400" b="1" spc="-5" dirty="0">
                <a:latin typeface="Arial"/>
                <a:cs typeface="Arial"/>
              </a:rPr>
              <a:t>effective</a:t>
            </a:r>
            <a:r>
              <a:rPr sz="1400" b="1" spc="-40" dirty="0">
                <a:latin typeface="Arial"/>
                <a:cs typeface="Arial"/>
              </a:rPr>
              <a:t> </a:t>
            </a:r>
            <a:r>
              <a:rPr sz="1400" b="1" dirty="0">
                <a:latin typeface="Arial"/>
                <a:cs typeface="Arial"/>
              </a:rPr>
              <a:t>8%</a:t>
            </a:r>
            <a:r>
              <a:rPr sz="1400" b="1" spc="-15" dirty="0">
                <a:latin typeface="Arial"/>
                <a:cs typeface="Arial"/>
              </a:rPr>
              <a:t> </a:t>
            </a:r>
            <a:r>
              <a:rPr sz="1400" b="1" dirty="0">
                <a:latin typeface="Arial"/>
                <a:cs typeface="Arial"/>
              </a:rPr>
              <a:t>market</a:t>
            </a:r>
            <a:r>
              <a:rPr sz="1400" b="1" spc="-20" dirty="0">
                <a:latin typeface="Arial"/>
                <a:cs typeface="Arial"/>
              </a:rPr>
              <a:t> </a:t>
            </a:r>
            <a:r>
              <a:rPr sz="1400" b="1" spc="-5" dirty="0">
                <a:latin typeface="Arial"/>
                <a:cs typeface="Arial"/>
              </a:rPr>
              <a:t>share</a:t>
            </a:r>
            <a:r>
              <a:rPr lang="en-US" sz="1400" b="1" spc="-5" dirty="0">
                <a:latin typeface="Arial"/>
                <a:cs typeface="Arial"/>
              </a:rPr>
              <a:t>.</a:t>
            </a:r>
          </a:p>
          <a:p>
            <a:pPr marL="12700">
              <a:lnSpc>
                <a:spcPct val="100000"/>
              </a:lnSpc>
              <a:spcBef>
                <a:spcPts val="105"/>
              </a:spcBef>
            </a:pPr>
            <a:r>
              <a:rPr lang="en-US" sz="1400" dirty="0">
                <a:latin typeface="Arial"/>
                <a:cs typeface="Arial"/>
              </a:rPr>
              <a:t>By </a:t>
            </a:r>
            <a:r>
              <a:rPr lang="en-US" sz="1400" spc="-5" dirty="0">
                <a:latin typeface="Arial"/>
                <a:cs typeface="Arial"/>
              </a:rPr>
              <a:t>2030, </a:t>
            </a:r>
            <a:r>
              <a:rPr lang="en-US" sz="1400" b="1" spc="-5" dirty="0">
                <a:latin typeface="Arial"/>
                <a:cs typeface="Arial"/>
              </a:rPr>
              <a:t>the market </a:t>
            </a:r>
            <a:r>
              <a:rPr lang="en-US" sz="1400" b="1" dirty="0">
                <a:latin typeface="Arial"/>
                <a:cs typeface="Arial"/>
              </a:rPr>
              <a:t>is </a:t>
            </a:r>
            <a:r>
              <a:rPr lang="en-US" sz="1400" b="1" spc="-5" dirty="0">
                <a:latin typeface="Arial"/>
                <a:cs typeface="Arial"/>
              </a:rPr>
              <a:t>projected </a:t>
            </a:r>
            <a:r>
              <a:rPr lang="en-US" sz="1400" b="1" dirty="0">
                <a:latin typeface="Arial"/>
                <a:cs typeface="Arial"/>
              </a:rPr>
              <a:t>to </a:t>
            </a:r>
            <a:r>
              <a:rPr lang="en-US" sz="1400" b="1" spc="-5" dirty="0">
                <a:latin typeface="Arial"/>
                <a:cs typeface="Arial"/>
              </a:rPr>
              <a:t>grow by </a:t>
            </a:r>
            <a:r>
              <a:rPr lang="en-US" sz="1400" b="1" dirty="0">
                <a:latin typeface="Arial"/>
                <a:cs typeface="Arial"/>
              </a:rPr>
              <a:t>~50% </a:t>
            </a:r>
            <a:r>
              <a:rPr lang="en-US" sz="1400" dirty="0">
                <a:latin typeface="Arial"/>
                <a:cs typeface="Arial"/>
              </a:rPr>
              <a:t>reaching </a:t>
            </a:r>
            <a:r>
              <a:rPr lang="en-US" sz="1400" spc="-5" dirty="0">
                <a:latin typeface="Arial"/>
                <a:cs typeface="Arial"/>
              </a:rPr>
              <a:t>~380M€ in RAR, driven primarily by </a:t>
            </a:r>
            <a:r>
              <a:rPr lang="en-US" sz="1400" b="1" spc="-5" dirty="0">
                <a:latin typeface="Arial"/>
                <a:cs typeface="Arial"/>
              </a:rPr>
              <a:t>Retail </a:t>
            </a:r>
            <a:r>
              <a:rPr lang="en-US" sz="1400" dirty="0">
                <a:latin typeface="Arial"/>
                <a:cs typeface="Arial"/>
              </a:rPr>
              <a:t>(2x </a:t>
            </a:r>
            <a:r>
              <a:rPr lang="en-US" sz="1400" spc="-5" dirty="0">
                <a:latin typeface="Arial"/>
                <a:cs typeface="Arial"/>
              </a:rPr>
              <a:t>vs. 2024) on </a:t>
            </a:r>
            <a:r>
              <a:rPr lang="en-US" sz="1400" dirty="0">
                <a:latin typeface="Arial"/>
                <a:cs typeface="Arial"/>
              </a:rPr>
              <a:t>the </a:t>
            </a:r>
            <a:r>
              <a:rPr lang="en-US" sz="1400" spc="-5" dirty="0">
                <a:latin typeface="Arial"/>
                <a:cs typeface="Arial"/>
              </a:rPr>
              <a:t>back</a:t>
            </a:r>
            <a:r>
              <a:rPr lang="en-US" sz="1400" spc="-245" dirty="0">
                <a:latin typeface="Arial"/>
                <a:cs typeface="Arial"/>
              </a:rPr>
              <a:t> </a:t>
            </a:r>
            <a:r>
              <a:rPr lang="en-US" sz="1400" spc="-5" dirty="0">
                <a:latin typeface="Arial"/>
                <a:cs typeface="Arial"/>
              </a:rPr>
              <a:t>of</a:t>
            </a:r>
            <a:endParaRPr lang="en-US" sz="1400" dirty="0">
              <a:latin typeface="Arial"/>
              <a:cs typeface="Arial"/>
            </a:endParaRPr>
          </a:p>
          <a:p>
            <a:pPr marL="12700">
              <a:lnSpc>
                <a:spcPct val="100000"/>
              </a:lnSpc>
            </a:pPr>
            <a:r>
              <a:rPr lang="en-US" sz="1400" b="1" spc="-5" dirty="0">
                <a:latin typeface="Arial"/>
                <a:cs typeface="Arial"/>
              </a:rPr>
              <a:t>increased car sales, car prices </a:t>
            </a:r>
            <a:r>
              <a:rPr lang="en-US" sz="1400" spc="-5" dirty="0">
                <a:latin typeface="Arial"/>
                <a:cs typeface="Arial"/>
              </a:rPr>
              <a:t>and </a:t>
            </a:r>
            <a:r>
              <a:rPr lang="en-US" sz="1400" b="1" spc="-5" dirty="0">
                <a:latin typeface="Arial"/>
                <a:cs typeface="Arial"/>
              </a:rPr>
              <a:t>financing penetration </a:t>
            </a:r>
            <a:r>
              <a:rPr lang="en-US" sz="1400" spc="-5" dirty="0">
                <a:latin typeface="Arial"/>
                <a:cs typeface="Arial"/>
              </a:rPr>
              <a:t>as </a:t>
            </a:r>
            <a:r>
              <a:rPr lang="en-US" sz="1400" spc="-10" dirty="0">
                <a:latin typeface="Arial"/>
                <a:cs typeface="Arial"/>
              </a:rPr>
              <a:t>well </a:t>
            </a:r>
            <a:r>
              <a:rPr lang="en-US" sz="1400" spc="-5" dirty="0">
                <a:latin typeface="Arial"/>
                <a:cs typeface="Arial"/>
              </a:rPr>
              <a:t>as </a:t>
            </a:r>
            <a:r>
              <a:rPr lang="en-US" sz="1400" dirty="0">
                <a:latin typeface="Arial"/>
                <a:cs typeface="Arial"/>
              </a:rPr>
              <a:t>a </a:t>
            </a:r>
            <a:r>
              <a:rPr lang="en-US" sz="1400" b="1" spc="-5" dirty="0">
                <a:latin typeface="Arial"/>
                <a:cs typeface="Arial"/>
              </a:rPr>
              <a:t>shift from ownership </a:t>
            </a:r>
            <a:r>
              <a:rPr lang="en-US" sz="1400" b="1" dirty="0">
                <a:latin typeface="Arial"/>
                <a:cs typeface="Arial"/>
              </a:rPr>
              <a:t>to</a:t>
            </a:r>
            <a:r>
              <a:rPr lang="en-US" sz="1400" b="1" spc="-229" dirty="0">
                <a:latin typeface="Arial"/>
                <a:cs typeface="Arial"/>
              </a:rPr>
              <a:t> </a:t>
            </a:r>
            <a:r>
              <a:rPr lang="en-US" sz="1400" b="1" spc="-5" dirty="0">
                <a:latin typeface="Arial"/>
                <a:cs typeface="Arial"/>
              </a:rPr>
              <a:t>usership.</a:t>
            </a:r>
            <a:endParaRPr lang="en-US" sz="1400" dirty="0">
              <a:latin typeface="Arial"/>
              <a:cs typeface="Arial"/>
            </a:endParaRPr>
          </a:p>
        </p:txBody>
      </p:sp>
      <p:sp>
        <p:nvSpPr>
          <p:cNvPr id="2" name="object 5">
            <a:extLst>
              <a:ext uri="{FF2B5EF4-FFF2-40B4-BE49-F238E27FC236}">
                <a16:creationId xmlns:a16="http://schemas.microsoft.com/office/drawing/2014/main" id="{95D2B079-C809-3F3E-E1AE-6D5C2665BA1C}"/>
              </a:ext>
            </a:extLst>
          </p:cNvPr>
          <p:cNvSpPr/>
          <p:nvPr/>
        </p:nvSpPr>
        <p:spPr>
          <a:xfrm>
            <a:off x="165710" y="1930400"/>
            <a:ext cx="279400" cy="279400"/>
          </a:xfrm>
          <a:custGeom>
            <a:avLst/>
            <a:gdLst/>
            <a:ahLst/>
            <a:cxnLst/>
            <a:rect l="l" t="t" r="r" b="b"/>
            <a:pathLst>
              <a:path w="279400" h="279400">
                <a:moveTo>
                  <a:pt x="139674" y="0"/>
                </a:moveTo>
                <a:lnTo>
                  <a:pt x="95526" y="7128"/>
                </a:lnTo>
                <a:lnTo>
                  <a:pt x="57184" y="26972"/>
                </a:lnTo>
                <a:lnTo>
                  <a:pt x="26949" y="57223"/>
                </a:lnTo>
                <a:lnTo>
                  <a:pt x="7120" y="95569"/>
                </a:lnTo>
                <a:lnTo>
                  <a:pt x="0" y="139700"/>
                </a:lnTo>
                <a:lnTo>
                  <a:pt x="7120" y="183879"/>
                </a:lnTo>
                <a:lnTo>
                  <a:pt x="26949" y="222231"/>
                </a:lnTo>
                <a:lnTo>
                  <a:pt x="57184" y="252463"/>
                </a:lnTo>
                <a:lnTo>
                  <a:pt x="95526" y="272283"/>
                </a:lnTo>
                <a:lnTo>
                  <a:pt x="139674" y="279400"/>
                </a:lnTo>
                <a:lnTo>
                  <a:pt x="183816" y="272283"/>
                </a:lnTo>
                <a:lnTo>
                  <a:pt x="222154" y="252463"/>
                </a:lnTo>
                <a:lnTo>
                  <a:pt x="252388" y="222231"/>
                </a:lnTo>
                <a:lnTo>
                  <a:pt x="272215" y="183879"/>
                </a:lnTo>
                <a:lnTo>
                  <a:pt x="279336" y="139700"/>
                </a:lnTo>
                <a:lnTo>
                  <a:pt x="272215" y="95569"/>
                </a:lnTo>
                <a:lnTo>
                  <a:pt x="252388" y="57223"/>
                </a:lnTo>
                <a:lnTo>
                  <a:pt x="222154" y="26972"/>
                </a:lnTo>
                <a:lnTo>
                  <a:pt x="183816" y="7128"/>
                </a:lnTo>
                <a:lnTo>
                  <a:pt x="139674" y="0"/>
                </a:lnTo>
                <a:close/>
              </a:path>
            </a:pathLst>
          </a:custGeom>
          <a:solidFill>
            <a:srgbClr val="051F79"/>
          </a:solidFill>
        </p:spPr>
        <p:txBody>
          <a:bodyPr wrap="square" lIns="0" tIns="0" rIns="0" bIns="0" rtlCol="0"/>
          <a:lstStyle/>
          <a:p>
            <a:endParaRPr/>
          </a:p>
        </p:txBody>
      </p:sp>
      <p:sp>
        <p:nvSpPr>
          <p:cNvPr id="13" name="object 6">
            <a:extLst>
              <a:ext uri="{FF2B5EF4-FFF2-40B4-BE49-F238E27FC236}">
                <a16:creationId xmlns:a16="http://schemas.microsoft.com/office/drawing/2014/main" id="{11B0C7F0-5E81-8292-6BDF-5A7B0093930A}"/>
              </a:ext>
            </a:extLst>
          </p:cNvPr>
          <p:cNvSpPr txBox="1"/>
          <p:nvPr/>
        </p:nvSpPr>
        <p:spPr>
          <a:xfrm>
            <a:off x="243230" y="1944877"/>
            <a:ext cx="12509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Arial"/>
                <a:cs typeface="Arial"/>
              </a:rPr>
              <a:t>2</a:t>
            </a:r>
            <a:endParaRPr sz="1400">
              <a:latin typeface="Arial"/>
              <a:cs typeface="Arial"/>
            </a:endParaRPr>
          </a:p>
        </p:txBody>
      </p:sp>
      <p:sp>
        <p:nvSpPr>
          <p:cNvPr id="20" name="TextBox 19">
            <a:extLst>
              <a:ext uri="{FF2B5EF4-FFF2-40B4-BE49-F238E27FC236}">
                <a16:creationId xmlns:a16="http://schemas.microsoft.com/office/drawing/2014/main" id="{76B4A981-5844-7AFE-0759-CD2F37C7EA87}"/>
              </a:ext>
            </a:extLst>
          </p:cNvPr>
          <p:cNvSpPr txBox="1"/>
          <p:nvPr/>
        </p:nvSpPr>
        <p:spPr>
          <a:xfrm>
            <a:off x="707071" y="2590800"/>
            <a:ext cx="10552717"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proposed recalibration aligns risk governance within the B2B structure of auto finance, balancing CoR discipline with collateral management, while restoring dealer channel competitiveness.</a:t>
            </a:r>
            <a:endParaRPr lang="el-GR" sz="1400" dirty="0">
              <a:latin typeface="Arial" panose="020B0604020202020204" pitchFamily="34" charset="0"/>
              <a:cs typeface="Arial" panose="020B0604020202020204" pitchFamily="34" charset="0"/>
            </a:endParaRPr>
          </a:p>
        </p:txBody>
      </p:sp>
      <p:sp>
        <p:nvSpPr>
          <p:cNvPr id="21" name="object 8">
            <a:extLst>
              <a:ext uri="{FF2B5EF4-FFF2-40B4-BE49-F238E27FC236}">
                <a16:creationId xmlns:a16="http://schemas.microsoft.com/office/drawing/2014/main" id="{C0F9F027-30C6-F04C-3940-19FE26811D5B}"/>
              </a:ext>
            </a:extLst>
          </p:cNvPr>
          <p:cNvSpPr/>
          <p:nvPr/>
        </p:nvSpPr>
        <p:spPr>
          <a:xfrm>
            <a:off x="165710" y="2656820"/>
            <a:ext cx="279400" cy="279400"/>
          </a:xfrm>
          <a:custGeom>
            <a:avLst/>
            <a:gdLst/>
            <a:ahLst/>
            <a:cxnLst/>
            <a:rect l="l" t="t" r="r" b="b"/>
            <a:pathLst>
              <a:path w="279400" h="279400">
                <a:moveTo>
                  <a:pt x="139674" y="0"/>
                </a:moveTo>
                <a:lnTo>
                  <a:pt x="95526" y="7128"/>
                </a:lnTo>
                <a:lnTo>
                  <a:pt x="57184" y="26972"/>
                </a:lnTo>
                <a:lnTo>
                  <a:pt x="26949" y="57223"/>
                </a:lnTo>
                <a:lnTo>
                  <a:pt x="7120" y="95569"/>
                </a:lnTo>
                <a:lnTo>
                  <a:pt x="0" y="139700"/>
                </a:lnTo>
                <a:lnTo>
                  <a:pt x="7120" y="183830"/>
                </a:lnTo>
                <a:lnTo>
                  <a:pt x="26949" y="222176"/>
                </a:lnTo>
                <a:lnTo>
                  <a:pt x="57184" y="252427"/>
                </a:lnTo>
                <a:lnTo>
                  <a:pt x="95526" y="272271"/>
                </a:lnTo>
                <a:lnTo>
                  <a:pt x="139674" y="279400"/>
                </a:lnTo>
                <a:lnTo>
                  <a:pt x="183816" y="272271"/>
                </a:lnTo>
                <a:lnTo>
                  <a:pt x="222154" y="252427"/>
                </a:lnTo>
                <a:lnTo>
                  <a:pt x="252388" y="222176"/>
                </a:lnTo>
                <a:lnTo>
                  <a:pt x="272215" y="183830"/>
                </a:lnTo>
                <a:lnTo>
                  <a:pt x="279336" y="139700"/>
                </a:lnTo>
                <a:lnTo>
                  <a:pt x="272215" y="95569"/>
                </a:lnTo>
                <a:lnTo>
                  <a:pt x="252388" y="57223"/>
                </a:lnTo>
                <a:lnTo>
                  <a:pt x="222154" y="26972"/>
                </a:lnTo>
                <a:lnTo>
                  <a:pt x="183816" y="7128"/>
                </a:lnTo>
                <a:lnTo>
                  <a:pt x="139674" y="0"/>
                </a:lnTo>
                <a:close/>
              </a:path>
            </a:pathLst>
          </a:custGeom>
          <a:solidFill>
            <a:srgbClr val="051F79"/>
          </a:solidFill>
        </p:spPr>
        <p:txBody>
          <a:bodyPr wrap="square" lIns="0" tIns="0" rIns="0" bIns="0" rtlCol="0"/>
          <a:lstStyle/>
          <a:p>
            <a:endParaRPr/>
          </a:p>
        </p:txBody>
      </p:sp>
      <p:sp>
        <p:nvSpPr>
          <p:cNvPr id="29" name="object 9">
            <a:extLst>
              <a:ext uri="{FF2B5EF4-FFF2-40B4-BE49-F238E27FC236}">
                <a16:creationId xmlns:a16="http://schemas.microsoft.com/office/drawing/2014/main" id="{4319E19E-692E-0DCC-A5DB-60AAC813831F}"/>
              </a:ext>
            </a:extLst>
          </p:cNvPr>
          <p:cNvSpPr txBox="1"/>
          <p:nvPr/>
        </p:nvSpPr>
        <p:spPr>
          <a:xfrm>
            <a:off x="243230" y="2671553"/>
            <a:ext cx="12509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Arial"/>
                <a:cs typeface="Arial"/>
              </a:rPr>
              <a:t>3</a:t>
            </a:r>
            <a:endParaRPr sz="1400">
              <a:latin typeface="Arial"/>
              <a:cs typeface="Arial"/>
            </a:endParaRPr>
          </a:p>
        </p:txBody>
      </p:sp>
      <p:sp>
        <p:nvSpPr>
          <p:cNvPr id="35" name="object 11">
            <a:extLst>
              <a:ext uri="{FF2B5EF4-FFF2-40B4-BE49-F238E27FC236}">
                <a16:creationId xmlns:a16="http://schemas.microsoft.com/office/drawing/2014/main" id="{0326E55A-0D46-87C9-1BC0-ABC0AE5D7640}"/>
              </a:ext>
            </a:extLst>
          </p:cNvPr>
          <p:cNvSpPr/>
          <p:nvPr/>
        </p:nvSpPr>
        <p:spPr>
          <a:xfrm>
            <a:off x="165710" y="3307532"/>
            <a:ext cx="279400" cy="279400"/>
          </a:xfrm>
          <a:custGeom>
            <a:avLst/>
            <a:gdLst/>
            <a:ahLst/>
            <a:cxnLst/>
            <a:rect l="l" t="t" r="r" b="b"/>
            <a:pathLst>
              <a:path w="279400" h="279400">
                <a:moveTo>
                  <a:pt x="139674" y="0"/>
                </a:moveTo>
                <a:lnTo>
                  <a:pt x="95526" y="7128"/>
                </a:lnTo>
                <a:lnTo>
                  <a:pt x="57184" y="26972"/>
                </a:lnTo>
                <a:lnTo>
                  <a:pt x="26949" y="57223"/>
                </a:lnTo>
                <a:lnTo>
                  <a:pt x="7120" y="95569"/>
                </a:lnTo>
                <a:lnTo>
                  <a:pt x="0" y="139700"/>
                </a:lnTo>
                <a:lnTo>
                  <a:pt x="7120" y="183830"/>
                </a:lnTo>
                <a:lnTo>
                  <a:pt x="26949" y="222176"/>
                </a:lnTo>
                <a:lnTo>
                  <a:pt x="57184" y="252427"/>
                </a:lnTo>
                <a:lnTo>
                  <a:pt x="95526" y="272271"/>
                </a:lnTo>
                <a:lnTo>
                  <a:pt x="139674" y="279400"/>
                </a:lnTo>
                <a:lnTo>
                  <a:pt x="183816" y="272271"/>
                </a:lnTo>
                <a:lnTo>
                  <a:pt x="222154" y="252427"/>
                </a:lnTo>
                <a:lnTo>
                  <a:pt x="252388" y="222176"/>
                </a:lnTo>
                <a:lnTo>
                  <a:pt x="272215" y="183830"/>
                </a:lnTo>
                <a:lnTo>
                  <a:pt x="279336" y="139700"/>
                </a:lnTo>
                <a:lnTo>
                  <a:pt x="272215" y="95569"/>
                </a:lnTo>
                <a:lnTo>
                  <a:pt x="252388" y="57223"/>
                </a:lnTo>
                <a:lnTo>
                  <a:pt x="222154" y="26972"/>
                </a:lnTo>
                <a:lnTo>
                  <a:pt x="183816" y="7128"/>
                </a:lnTo>
                <a:lnTo>
                  <a:pt x="139674" y="0"/>
                </a:lnTo>
                <a:close/>
              </a:path>
            </a:pathLst>
          </a:custGeom>
          <a:solidFill>
            <a:srgbClr val="051F79"/>
          </a:solidFill>
        </p:spPr>
        <p:txBody>
          <a:bodyPr wrap="square" lIns="0" tIns="0" rIns="0" bIns="0" rtlCol="0"/>
          <a:lstStyle/>
          <a:p>
            <a:endParaRPr/>
          </a:p>
        </p:txBody>
      </p:sp>
      <p:sp>
        <p:nvSpPr>
          <p:cNvPr id="36" name="object 12">
            <a:extLst>
              <a:ext uri="{FF2B5EF4-FFF2-40B4-BE49-F238E27FC236}">
                <a16:creationId xmlns:a16="http://schemas.microsoft.com/office/drawing/2014/main" id="{D88AE743-63FD-CFE6-75CB-8BEE1B1F4214}"/>
              </a:ext>
            </a:extLst>
          </p:cNvPr>
          <p:cNvSpPr txBox="1"/>
          <p:nvPr/>
        </p:nvSpPr>
        <p:spPr>
          <a:xfrm>
            <a:off x="243230" y="3322517"/>
            <a:ext cx="12509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Arial"/>
                <a:cs typeface="Arial"/>
              </a:rPr>
              <a:t>4</a:t>
            </a:r>
            <a:endParaRPr sz="1400">
              <a:latin typeface="Arial"/>
              <a:cs typeface="Arial"/>
            </a:endParaRPr>
          </a:p>
        </p:txBody>
      </p:sp>
      <p:sp>
        <p:nvSpPr>
          <p:cNvPr id="37" name="object 17">
            <a:extLst>
              <a:ext uri="{FF2B5EF4-FFF2-40B4-BE49-F238E27FC236}">
                <a16:creationId xmlns:a16="http://schemas.microsoft.com/office/drawing/2014/main" id="{BAE5CE63-705F-1BD7-62B3-DF57ACA32670}"/>
              </a:ext>
            </a:extLst>
          </p:cNvPr>
          <p:cNvSpPr/>
          <p:nvPr/>
        </p:nvSpPr>
        <p:spPr>
          <a:xfrm>
            <a:off x="165710" y="5030830"/>
            <a:ext cx="279400" cy="279400"/>
          </a:xfrm>
          <a:custGeom>
            <a:avLst/>
            <a:gdLst/>
            <a:ahLst/>
            <a:cxnLst/>
            <a:rect l="l" t="t" r="r" b="b"/>
            <a:pathLst>
              <a:path w="279400" h="279400">
                <a:moveTo>
                  <a:pt x="139674" y="0"/>
                </a:moveTo>
                <a:lnTo>
                  <a:pt x="95526" y="7128"/>
                </a:lnTo>
                <a:lnTo>
                  <a:pt x="57184" y="26972"/>
                </a:lnTo>
                <a:lnTo>
                  <a:pt x="26949" y="57223"/>
                </a:lnTo>
                <a:lnTo>
                  <a:pt x="7120" y="95569"/>
                </a:lnTo>
                <a:lnTo>
                  <a:pt x="0" y="139700"/>
                </a:lnTo>
                <a:lnTo>
                  <a:pt x="7120" y="183830"/>
                </a:lnTo>
                <a:lnTo>
                  <a:pt x="26949" y="222176"/>
                </a:lnTo>
                <a:lnTo>
                  <a:pt x="57184" y="252427"/>
                </a:lnTo>
                <a:lnTo>
                  <a:pt x="95526" y="272271"/>
                </a:lnTo>
                <a:lnTo>
                  <a:pt x="139674" y="279400"/>
                </a:lnTo>
                <a:lnTo>
                  <a:pt x="183816" y="272271"/>
                </a:lnTo>
                <a:lnTo>
                  <a:pt x="222154" y="252427"/>
                </a:lnTo>
                <a:lnTo>
                  <a:pt x="252388" y="222176"/>
                </a:lnTo>
                <a:lnTo>
                  <a:pt x="272215" y="183830"/>
                </a:lnTo>
                <a:lnTo>
                  <a:pt x="279336" y="139700"/>
                </a:lnTo>
                <a:lnTo>
                  <a:pt x="272215" y="95569"/>
                </a:lnTo>
                <a:lnTo>
                  <a:pt x="252388" y="57223"/>
                </a:lnTo>
                <a:lnTo>
                  <a:pt x="222154" y="26972"/>
                </a:lnTo>
                <a:lnTo>
                  <a:pt x="183816" y="7128"/>
                </a:lnTo>
                <a:lnTo>
                  <a:pt x="139674" y="0"/>
                </a:lnTo>
                <a:close/>
              </a:path>
            </a:pathLst>
          </a:custGeom>
          <a:solidFill>
            <a:srgbClr val="051F79"/>
          </a:solidFill>
        </p:spPr>
        <p:txBody>
          <a:bodyPr wrap="square" lIns="0" tIns="0" rIns="0" bIns="0" rtlCol="0"/>
          <a:lstStyle/>
          <a:p>
            <a:endParaRPr/>
          </a:p>
        </p:txBody>
      </p:sp>
      <p:sp>
        <p:nvSpPr>
          <p:cNvPr id="38" name="object 18">
            <a:extLst>
              <a:ext uri="{FF2B5EF4-FFF2-40B4-BE49-F238E27FC236}">
                <a16:creationId xmlns:a16="http://schemas.microsoft.com/office/drawing/2014/main" id="{B4B97735-2E06-B0C8-2B09-6023D1027914}"/>
              </a:ext>
            </a:extLst>
          </p:cNvPr>
          <p:cNvSpPr txBox="1"/>
          <p:nvPr/>
        </p:nvSpPr>
        <p:spPr>
          <a:xfrm>
            <a:off x="243230" y="5045816"/>
            <a:ext cx="125095" cy="228268"/>
          </a:xfrm>
          <a:prstGeom prst="rect">
            <a:avLst/>
          </a:prstGeom>
        </p:spPr>
        <p:txBody>
          <a:bodyPr vert="horz" wrap="square" lIns="0" tIns="12700" rIns="0" bIns="0" rtlCol="0">
            <a:spAutoFit/>
          </a:bodyPr>
          <a:lstStyle/>
          <a:p>
            <a:pPr marL="12700">
              <a:lnSpc>
                <a:spcPct val="100000"/>
              </a:lnSpc>
              <a:spcBef>
                <a:spcPts val="100"/>
              </a:spcBef>
            </a:pPr>
            <a:r>
              <a:rPr lang="en-US" sz="1400" b="1" dirty="0">
                <a:solidFill>
                  <a:srgbClr val="FFFFFF"/>
                </a:solidFill>
                <a:latin typeface="Arial"/>
                <a:cs typeface="Arial"/>
              </a:rPr>
              <a:t>6</a:t>
            </a:r>
            <a:endParaRPr sz="1400" dirty="0">
              <a:latin typeface="Arial"/>
              <a:cs typeface="Arial"/>
            </a:endParaRPr>
          </a:p>
        </p:txBody>
      </p:sp>
      <p:sp>
        <p:nvSpPr>
          <p:cNvPr id="39" name="object 3">
            <a:extLst>
              <a:ext uri="{FF2B5EF4-FFF2-40B4-BE49-F238E27FC236}">
                <a16:creationId xmlns:a16="http://schemas.microsoft.com/office/drawing/2014/main" id="{267288CD-EF6F-5323-0F6F-60D96DA81DEF}"/>
              </a:ext>
            </a:extLst>
          </p:cNvPr>
          <p:cNvSpPr txBox="1"/>
          <p:nvPr/>
        </p:nvSpPr>
        <p:spPr>
          <a:xfrm>
            <a:off x="11178394" y="7697277"/>
            <a:ext cx="81395" cy="151323"/>
          </a:xfrm>
          <a:prstGeom prst="rect">
            <a:avLst/>
          </a:prstGeom>
        </p:spPr>
        <p:txBody>
          <a:bodyPr vert="horz" wrap="square" lIns="0" tIns="12700" rIns="0" bIns="0" rtlCol="0">
            <a:spAutoFit/>
          </a:bodyPr>
          <a:lstStyle/>
          <a:p>
            <a:pPr marL="12700">
              <a:lnSpc>
                <a:spcPct val="100000"/>
              </a:lnSpc>
              <a:spcBef>
                <a:spcPts val="100"/>
              </a:spcBef>
            </a:pPr>
            <a:r>
              <a:rPr lang="en-US" sz="900" dirty="0">
                <a:latin typeface="Arial"/>
                <a:cs typeface="Arial"/>
              </a:rPr>
              <a:t>1</a:t>
            </a:r>
            <a:endParaRPr sz="900" dirty="0">
              <a:latin typeface="Arial"/>
              <a:cs typeface="Arial"/>
            </a:endParaRPr>
          </a:p>
        </p:txBody>
      </p:sp>
      <p:sp>
        <p:nvSpPr>
          <p:cNvPr id="41" name="object 15">
            <a:extLst>
              <a:ext uri="{FF2B5EF4-FFF2-40B4-BE49-F238E27FC236}">
                <a16:creationId xmlns:a16="http://schemas.microsoft.com/office/drawing/2014/main" id="{0FA20948-24BA-4188-40CB-D4A741AFEA57}"/>
              </a:ext>
            </a:extLst>
          </p:cNvPr>
          <p:cNvSpPr txBox="1"/>
          <p:nvPr/>
        </p:nvSpPr>
        <p:spPr>
          <a:xfrm>
            <a:off x="243230" y="5584935"/>
            <a:ext cx="12509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FFFF"/>
                </a:solidFill>
                <a:latin typeface="Arial"/>
                <a:cs typeface="Arial"/>
              </a:rPr>
              <a:t>6</a:t>
            </a:r>
            <a:endParaRPr sz="1400" dirty="0">
              <a:latin typeface="Arial"/>
              <a:cs typeface="Arial"/>
            </a:endParaRPr>
          </a:p>
        </p:txBody>
      </p:sp>
      <p:sp>
        <p:nvSpPr>
          <p:cNvPr id="43" name="object 18">
            <a:extLst>
              <a:ext uri="{FF2B5EF4-FFF2-40B4-BE49-F238E27FC236}">
                <a16:creationId xmlns:a16="http://schemas.microsoft.com/office/drawing/2014/main" id="{FC511917-165D-EF08-6CE3-F9893B0EA81C}"/>
              </a:ext>
            </a:extLst>
          </p:cNvPr>
          <p:cNvSpPr txBox="1"/>
          <p:nvPr/>
        </p:nvSpPr>
        <p:spPr>
          <a:xfrm>
            <a:off x="243230" y="5556484"/>
            <a:ext cx="12509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FFFF"/>
                </a:solidFill>
                <a:latin typeface="Arial"/>
                <a:cs typeface="Arial"/>
              </a:rPr>
              <a:t>5</a:t>
            </a:r>
            <a:endParaRPr sz="1400">
              <a:latin typeface="Arial"/>
              <a:cs typeface="Arial"/>
            </a:endParaRPr>
          </a:p>
        </p:txBody>
      </p:sp>
      <p:sp>
        <p:nvSpPr>
          <p:cNvPr id="45" name="object 23">
            <a:extLst>
              <a:ext uri="{FF2B5EF4-FFF2-40B4-BE49-F238E27FC236}">
                <a16:creationId xmlns:a16="http://schemas.microsoft.com/office/drawing/2014/main" id="{0244F299-B174-2045-F11A-74A8D603AA53}"/>
              </a:ext>
            </a:extLst>
          </p:cNvPr>
          <p:cNvSpPr txBox="1"/>
          <p:nvPr/>
        </p:nvSpPr>
        <p:spPr>
          <a:xfrm>
            <a:off x="728841" y="5035819"/>
            <a:ext cx="10346690" cy="228268"/>
          </a:xfrm>
          <a:prstGeom prst="rect">
            <a:avLst/>
          </a:prstGeom>
        </p:spPr>
        <p:txBody>
          <a:bodyPr vert="horz" wrap="square" lIns="0" tIns="12700" rIns="0" bIns="0" rtlCol="0">
            <a:spAutoFit/>
          </a:bodyPr>
          <a:lstStyle/>
          <a:p>
            <a:pPr marL="12700" marR="5080">
              <a:lnSpc>
                <a:spcPct val="100000"/>
              </a:lnSpc>
              <a:spcBef>
                <a:spcPts val="100"/>
              </a:spcBef>
            </a:pPr>
            <a:r>
              <a:rPr lang="en-US" sz="1400" b="1" spc="-5" dirty="0">
                <a:latin typeface="Arial"/>
                <a:cs typeface="Arial"/>
              </a:rPr>
              <a:t>End-to-end</a:t>
            </a:r>
            <a:r>
              <a:rPr lang="en-US" sz="1400" spc="-5" dirty="0">
                <a:latin typeface="Arial"/>
                <a:cs typeface="Arial"/>
              </a:rPr>
              <a:t> </a:t>
            </a:r>
            <a:r>
              <a:rPr lang="en-US" sz="1400" b="1" spc="-5" dirty="0">
                <a:latin typeface="Arial"/>
                <a:cs typeface="Arial"/>
              </a:rPr>
              <a:t>repossession </a:t>
            </a:r>
            <a:r>
              <a:rPr lang="en-US" sz="1400" spc="-5" dirty="0">
                <a:latin typeface="Arial"/>
                <a:cs typeface="Arial"/>
              </a:rPr>
              <a:t>and </a:t>
            </a:r>
            <a:r>
              <a:rPr lang="en-US" sz="1400" b="1" spc="-5" dirty="0">
                <a:latin typeface="Arial"/>
                <a:cs typeface="Arial"/>
              </a:rPr>
              <a:t>remarketing </a:t>
            </a:r>
            <a:r>
              <a:rPr lang="en-US" sz="1400" spc="-5" dirty="0">
                <a:latin typeface="Arial"/>
                <a:cs typeface="Arial"/>
              </a:rPr>
              <a:t>value chain with quantified cost and time drivers across each step.</a:t>
            </a:r>
            <a:endParaRPr sz="1400" dirty="0">
              <a:latin typeface="Arial"/>
              <a:cs typeface="Arial"/>
            </a:endParaRPr>
          </a:p>
        </p:txBody>
      </p:sp>
      <p:sp>
        <p:nvSpPr>
          <p:cNvPr id="46" name="object 24">
            <a:extLst>
              <a:ext uri="{FF2B5EF4-FFF2-40B4-BE49-F238E27FC236}">
                <a16:creationId xmlns:a16="http://schemas.microsoft.com/office/drawing/2014/main" id="{A7C0F85F-F9A1-5168-E66F-A81DFB0355B1}"/>
              </a:ext>
            </a:extLst>
          </p:cNvPr>
          <p:cNvSpPr/>
          <p:nvPr/>
        </p:nvSpPr>
        <p:spPr>
          <a:xfrm>
            <a:off x="165710" y="6172200"/>
            <a:ext cx="279400" cy="279400"/>
          </a:xfrm>
          <a:custGeom>
            <a:avLst/>
            <a:gdLst/>
            <a:ahLst/>
            <a:cxnLst/>
            <a:rect l="l" t="t" r="r" b="b"/>
            <a:pathLst>
              <a:path w="279400" h="279400">
                <a:moveTo>
                  <a:pt x="139674" y="0"/>
                </a:moveTo>
                <a:lnTo>
                  <a:pt x="95526" y="7128"/>
                </a:lnTo>
                <a:lnTo>
                  <a:pt x="57184" y="26972"/>
                </a:lnTo>
                <a:lnTo>
                  <a:pt x="26949" y="57223"/>
                </a:lnTo>
                <a:lnTo>
                  <a:pt x="7120" y="95569"/>
                </a:lnTo>
                <a:lnTo>
                  <a:pt x="0" y="139700"/>
                </a:lnTo>
                <a:lnTo>
                  <a:pt x="7120" y="183830"/>
                </a:lnTo>
                <a:lnTo>
                  <a:pt x="26949" y="222176"/>
                </a:lnTo>
                <a:lnTo>
                  <a:pt x="57184" y="252427"/>
                </a:lnTo>
                <a:lnTo>
                  <a:pt x="95526" y="272271"/>
                </a:lnTo>
                <a:lnTo>
                  <a:pt x="139674" y="279400"/>
                </a:lnTo>
                <a:lnTo>
                  <a:pt x="183816" y="272271"/>
                </a:lnTo>
                <a:lnTo>
                  <a:pt x="222154" y="252427"/>
                </a:lnTo>
                <a:lnTo>
                  <a:pt x="252388" y="222176"/>
                </a:lnTo>
                <a:lnTo>
                  <a:pt x="272215" y="183830"/>
                </a:lnTo>
                <a:lnTo>
                  <a:pt x="279336" y="139700"/>
                </a:lnTo>
                <a:lnTo>
                  <a:pt x="272215" y="95569"/>
                </a:lnTo>
                <a:lnTo>
                  <a:pt x="252388" y="57223"/>
                </a:lnTo>
                <a:lnTo>
                  <a:pt x="222154" y="26972"/>
                </a:lnTo>
                <a:lnTo>
                  <a:pt x="183816" y="7128"/>
                </a:lnTo>
                <a:lnTo>
                  <a:pt x="139674" y="0"/>
                </a:lnTo>
                <a:close/>
              </a:path>
            </a:pathLst>
          </a:custGeom>
          <a:solidFill>
            <a:srgbClr val="051F79"/>
          </a:solidFill>
        </p:spPr>
        <p:txBody>
          <a:bodyPr wrap="square" lIns="0" tIns="0" rIns="0" bIns="0" rtlCol="0"/>
          <a:lstStyle/>
          <a:p>
            <a:endParaRPr/>
          </a:p>
        </p:txBody>
      </p:sp>
      <p:sp>
        <p:nvSpPr>
          <p:cNvPr id="47" name="object 25">
            <a:extLst>
              <a:ext uri="{FF2B5EF4-FFF2-40B4-BE49-F238E27FC236}">
                <a16:creationId xmlns:a16="http://schemas.microsoft.com/office/drawing/2014/main" id="{6F57E721-B1B5-D699-39F7-BFA85A921662}"/>
              </a:ext>
            </a:extLst>
          </p:cNvPr>
          <p:cNvSpPr txBox="1"/>
          <p:nvPr/>
        </p:nvSpPr>
        <p:spPr>
          <a:xfrm>
            <a:off x="243230" y="6187441"/>
            <a:ext cx="125095" cy="228268"/>
          </a:xfrm>
          <a:prstGeom prst="rect">
            <a:avLst/>
          </a:prstGeom>
        </p:spPr>
        <p:txBody>
          <a:bodyPr vert="horz" wrap="square" lIns="0" tIns="12700" rIns="0" bIns="0" rtlCol="0">
            <a:spAutoFit/>
          </a:bodyPr>
          <a:lstStyle/>
          <a:p>
            <a:pPr marL="12700">
              <a:lnSpc>
                <a:spcPct val="100000"/>
              </a:lnSpc>
              <a:spcBef>
                <a:spcPts val="100"/>
              </a:spcBef>
            </a:pPr>
            <a:r>
              <a:rPr lang="en-US" sz="1400" b="1" dirty="0">
                <a:solidFill>
                  <a:srgbClr val="FFFFFF"/>
                </a:solidFill>
                <a:latin typeface="Arial"/>
                <a:cs typeface="Arial"/>
              </a:rPr>
              <a:t>8</a:t>
            </a:r>
            <a:endParaRPr sz="1400" dirty="0">
              <a:latin typeface="Arial"/>
              <a:cs typeface="Arial"/>
            </a:endParaRPr>
          </a:p>
        </p:txBody>
      </p:sp>
      <p:sp>
        <p:nvSpPr>
          <p:cNvPr id="48" name="TextBox 47">
            <a:extLst>
              <a:ext uri="{FF2B5EF4-FFF2-40B4-BE49-F238E27FC236}">
                <a16:creationId xmlns:a16="http://schemas.microsoft.com/office/drawing/2014/main" id="{541383F5-AA00-44CA-8E85-55D2145C4144}"/>
              </a:ext>
            </a:extLst>
          </p:cNvPr>
          <p:cNvSpPr txBox="1"/>
          <p:nvPr/>
        </p:nvSpPr>
        <p:spPr>
          <a:xfrm>
            <a:off x="250574" y="5597339"/>
            <a:ext cx="10608652" cy="228268"/>
          </a:xfrm>
          <a:prstGeom prst="rect">
            <a:avLst/>
          </a:prstGeom>
        </p:spPr>
        <p:txBody>
          <a:bodyPr vert="horz" wrap="square" lIns="0" tIns="12700" rIns="0" bIns="0" rtlCol="0">
            <a:spAutoFit/>
          </a:bodyPr>
          <a:lstStyle>
            <a:defPPr>
              <a:defRPr lang="el-GR"/>
            </a:defPPr>
            <a:lvl1pPr marL="12700" marR="5080">
              <a:lnSpc>
                <a:spcPct val="100000"/>
              </a:lnSpc>
              <a:spcBef>
                <a:spcPts val="100"/>
              </a:spcBef>
              <a:defRPr sz="1400" spc="-5">
                <a:latin typeface="Arial"/>
                <a:cs typeface="Arial"/>
              </a:defRPr>
            </a:lvl1pPr>
          </a:lstStyle>
          <a:p>
            <a:pPr lvl="1"/>
            <a:r>
              <a:rPr lang="en-US" sz="1400" b="1" dirty="0">
                <a:latin typeface="Arial"/>
                <a:cs typeface="Arial"/>
              </a:rPr>
              <a:t>Sustainability</a:t>
            </a:r>
            <a:r>
              <a:rPr lang="en-US" sz="1400" dirty="0">
                <a:latin typeface="Arial"/>
                <a:cs typeface="Arial"/>
              </a:rPr>
              <a:t> is becoming a </a:t>
            </a:r>
            <a:r>
              <a:rPr lang="en-US" sz="1400" b="1" dirty="0">
                <a:latin typeface="Arial"/>
                <a:cs typeface="Arial"/>
              </a:rPr>
              <a:t>structural growth driver</a:t>
            </a:r>
            <a:r>
              <a:rPr lang="en-US" sz="1400" dirty="0">
                <a:latin typeface="Arial"/>
                <a:cs typeface="Arial"/>
              </a:rPr>
              <a:t> for the auto finance market.</a:t>
            </a:r>
          </a:p>
        </p:txBody>
      </p:sp>
      <p:sp>
        <p:nvSpPr>
          <p:cNvPr id="51" name="TextBox 50">
            <a:extLst>
              <a:ext uri="{FF2B5EF4-FFF2-40B4-BE49-F238E27FC236}">
                <a16:creationId xmlns:a16="http://schemas.microsoft.com/office/drawing/2014/main" id="{A8FB9E11-3B7C-BF9C-9934-76AC2CE4E722}"/>
              </a:ext>
            </a:extLst>
          </p:cNvPr>
          <p:cNvSpPr txBox="1"/>
          <p:nvPr/>
        </p:nvSpPr>
        <p:spPr>
          <a:xfrm>
            <a:off x="239688" y="6181240"/>
            <a:ext cx="10580712" cy="228268"/>
          </a:xfrm>
          <a:prstGeom prst="rect">
            <a:avLst/>
          </a:prstGeom>
        </p:spPr>
        <p:txBody>
          <a:bodyPr vert="horz" wrap="square" lIns="0" tIns="12700" rIns="0" bIns="0" rtlCol="0">
            <a:spAutoFit/>
          </a:bodyPr>
          <a:lstStyle>
            <a:defPPr>
              <a:defRPr lang="el-GR"/>
            </a:defPPr>
            <a:lvl1pPr marL="12700" marR="5080">
              <a:lnSpc>
                <a:spcPct val="100000"/>
              </a:lnSpc>
              <a:spcBef>
                <a:spcPts val="100"/>
              </a:spcBef>
              <a:defRPr sz="1400" spc="-5">
                <a:latin typeface="Arial"/>
                <a:cs typeface="Arial"/>
              </a:defRPr>
            </a:lvl1pPr>
          </a:lstStyle>
          <a:p>
            <a:pPr lvl="1"/>
            <a:r>
              <a:rPr lang="en-US" sz="1400" dirty="0">
                <a:latin typeface="Arial"/>
                <a:cs typeface="Arial"/>
              </a:rPr>
              <a:t>Time-bound </a:t>
            </a:r>
            <a:r>
              <a:rPr lang="en-US" sz="1400" b="1" dirty="0">
                <a:latin typeface="Arial"/>
                <a:cs typeface="Arial"/>
              </a:rPr>
              <a:t>execution roadmap translating strategy into delivery, </a:t>
            </a:r>
            <a:r>
              <a:rPr lang="en-US" sz="1400" dirty="0">
                <a:latin typeface="Arial"/>
                <a:cs typeface="Arial"/>
              </a:rPr>
              <a:t>with clear milestones and phased product go-live</a:t>
            </a:r>
          </a:p>
        </p:txBody>
      </p:sp>
      <p:sp>
        <p:nvSpPr>
          <p:cNvPr id="52" name="object 14">
            <a:extLst>
              <a:ext uri="{FF2B5EF4-FFF2-40B4-BE49-F238E27FC236}">
                <a16:creationId xmlns:a16="http://schemas.microsoft.com/office/drawing/2014/main" id="{F72B06B4-9AA9-F441-BC71-4117D831A5B0}"/>
              </a:ext>
            </a:extLst>
          </p:cNvPr>
          <p:cNvSpPr/>
          <p:nvPr/>
        </p:nvSpPr>
        <p:spPr>
          <a:xfrm>
            <a:off x="165710" y="5590333"/>
            <a:ext cx="279400" cy="279400"/>
          </a:xfrm>
          <a:custGeom>
            <a:avLst/>
            <a:gdLst/>
            <a:ahLst/>
            <a:cxnLst/>
            <a:rect l="l" t="t" r="r" b="b"/>
            <a:pathLst>
              <a:path w="279400" h="279400">
                <a:moveTo>
                  <a:pt x="139674" y="0"/>
                </a:moveTo>
                <a:lnTo>
                  <a:pt x="95526" y="7128"/>
                </a:lnTo>
                <a:lnTo>
                  <a:pt x="57184" y="26972"/>
                </a:lnTo>
                <a:lnTo>
                  <a:pt x="26949" y="57223"/>
                </a:lnTo>
                <a:lnTo>
                  <a:pt x="7120" y="95569"/>
                </a:lnTo>
                <a:lnTo>
                  <a:pt x="0" y="139700"/>
                </a:lnTo>
                <a:lnTo>
                  <a:pt x="7120" y="183830"/>
                </a:lnTo>
                <a:lnTo>
                  <a:pt x="26949" y="222176"/>
                </a:lnTo>
                <a:lnTo>
                  <a:pt x="57184" y="252427"/>
                </a:lnTo>
                <a:lnTo>
                  <a:pt x="95526" y="272271"/>
                </a:lnTo>
                <a:lnTo>
                  <a:pt x="139674" y="279400"/>
                </a:lnTo>
                <a:lnTo>
                  <a:pt x="183816" y="272271"/>
                </a:lnTo>
                <a:lnTo>
                  <a:pt x="222154" y="252427"/>
                </a:lnTo>
                <a:lnTo>
                  <a:pt x="252388" y="222176"/>
                </a:lnTo>
                <a:lnTo>
                  <a:pt x="272215" y="183830"/>
                </a:lnTo>
                <a:lnTo>
                  <a:pt x="279336" y="139700"/>
                </a:lnTo>
                <a:lnTo>
                  <a:pt x="272215" y="95569"/>
                </a:lnTo>
                <a:lnTo>
                  <a:pt x="252388" y="57223"/>
                </a:lnTo>
                <a:lnTo>
                  <a:pt x="222154" y="26972"/>
                </a:lnTo>
                <a:lnTo>
                  <a:pt x="183816" y="7128"/>
                </a:lnTo>
                <a:lnTo>
                  <a:pt x="139674" y="0"/>
                </a:lnTo>
                <a:close/>
              </a:path>
            </a:pathLst>
          </a:custGeom>
          <a:solidFill>
            <a:srgbClr val="051F79"/>
          </a:solidFill>
        </p:spPr>
        <p:txBody>
          <a:bodyPr wrap="square" lIns="0" tIns="0" rIns="0" bIns="0" rtlCol="0"/>
          <a:lstStyle/>
          <a:p>
            <a:endParaRPr/>
          </a:p>
        </p:txBody>
      </p:sp>
      <p:sp>
        <p:nvSpPr>
          <p:cNvPr id="53" name="object 15">
            <a:extLst>
              <a:ext uri="{FF2B5EF4-FFF2-40B4-BE49-F238E27FC236}">
                <a16:creationId xmlns:a16="http://schemas.microsoft.com/office/drawing/2014/main" id="{76CA7BFD-060E-1D24-FD7C-B04CFB4971AF}"/>
              </a:ext>
            </a:extLst>
          </p:cNvPr>
          <p:cNvSpPr txBox="1"/>
          <p:nvPr/>
        </p:nvSpPr>
        <p:spPr>
          <a:xfrm>
            <a:off x="243230" y="5610335"/>
            <a:ext cx="125095" cy="228268"/>
          </a:xfrm>
          <a:prstGeom prst="rect">
            <a:avLst/>
          </a:prstGeom>
        </p:spPr>
        <p:txBody>
          <a:bodyPr vert="horz" wrap="square" lIns="0" tIns="12700" rIns="0" bIns="0" rtlCol="0">
            <a:spAutoFit/>
          </a:bodyPr>
          <a:lstStyle/>
          <a:p>
            <a:pPr marL="12700">
              <a:lnSpc>
                <a:spcPct val="100000"/>
              </a:lnSpc>
              <a:spcBef>
                <a:spcPts val="100"/>
              </a:spcBef>
            </a:pPr>
            <a:r>
              <a:rPr lang="en-US" sz="1400" b="1" dirty="0">
                <a:solidFill>
                  <a:srgbClr val="FFFFFF"/>
                </a:solidFill>
                <a:latin typeface="Arial"/>
                <a:cs typeface="Arial"/>
              </a:rPr>
              <a:t>7</a:t>
            </a:r>
            <a:endParaRPr sz="1400" dirty="0">
              <a:latin typeface="Arial"/>
              <a:cs typeface="Arial"/>
            </a:endParaRPr>
          </a:p>
        </p:txBody>
      </p:sp>
      <p:sp>
        <p:nvSpPr>
          <p:cNvPr id="54" name="object 11">
            <a:extLst>
              <a:ext uri="{FF2B5EF4-FFF2-40B4-BE49-F238E27FC236}">
                <a16:creationId xmlns:a16="http://schemas.microsoft.com/office/drawing/2014/main" id="{1925EBA9-7F3D-5B98-F013-501A8C459242}"/>
              </a:ext>
            </a:extLst>
          </p:cNvPr>
          <p:cNvSpPr/>
          <p:nvPr/>
        </p:nvSpPr>
        <p:spPr>
          <a:xfrm>
            <a:off x="165710" y="4368800"/>
            <a:ext cx="279400" cy="279400"/>
          </a:xfrm>
          <a:custGeom>
            <a:avLst/>
            <a:gdLst/>
            <a:ahLst/>
            <a:cxnLst/>
            <a:rect l="l" t="t" r="r" b="b"/>
            <a:pathLst>
              <a:path w="279400" h="279400">
                <a:moveTo>
                  <a:pt x="139674" y="0"/>
                </a:moveTo>
                <a:lnTo>
                  <a:pt x="95526" y="7128"/>
                </a:lnTo>
                <a:lnTo>
                  <a:pt x="57184" y="26972"/>
                </a:lnTo>
                <a:lnTo>
                  <a:pt x="26949" y="57223"/>
                </a:lnTo>
                <a:lnTo>
                  <a:pt x="7120" y="95569"/>
                </a:lnTo>
                <a:lnTo>
                  <a:pt x="0" y="139700"/>
                </a:lnTo>
                <a:lnTo>
                  <a:pt x="7120" y="183830"/>
                </a:lnTo>
                <a:lnTo>
                  <a:pt x="26949" y="222176"/>
                </a:lnTo>
                <a:lnTo>
                  <a:pt x="57184" y="252427"/>
                </a:lnTo>
                <a:lnTo>
                  <a:pt x="95526" y="272271"/>
                </a:lnTo>
                <a:lnTo>
                  <a:pt x="139674" y="279400"/>
                </a:lnTo>
                <a:lnTo>
                  <a:pt x="183816" y="272271"/>
                </a:lnTo>
                <a:lnTo>
                  <a:pt x="222154" y="252427"/>
                </a:lnTo>
                <a:lnTo>
                  <a:pt x="252388" y="222176"/>
                </a:lnTo>
                <a:lnTo>
                  <a:pt x="272215" y="183830"/>
                </a:lnTo>
                <a:lnTo>
                  <a:pt x="279336" y="139700"/>
                </a:lnTo>
                <a:lnTo>
                  <a:pt x="272215" y="95569"/>
                </a:lnTo>
                <a:lnTo>
                  <a:pt x="252388" y="57223"/>
                </a:lnTo>
                <a:lnTo>
                  <a:pt x="222154" y="26972"/>
                </a:lnTo>
                <a:lnTo>
                  <a:pt x="183816" y="7128"/>
                </a:lnTo>
                <a:lnTo>
                  <a:pt x="139674" y="0"/>
                </a:lnTo>
                <a:close/>
              </a:path>
            </a:pathLst>
          </a:custGeom>
          <a:solidFill>
            <a:srgbClr val="051F79"/>
          </a:solidFill>
        </p:spPr>
        <p:txBody>
          <a:bodyPr wrap="square" lIns="0" tIns="0" rIns="0" bIns="0" rtlCol="0"/>
          <a:lstStyle/>
          <a:p>
            <a:endParaRPr/>
          </a:p>
        </p:txBody>
      </p:sp>
      <p:sp>
        <p:nvSpPr>
          <p:cNvPr id="55" name="object 12">
            <a:extLst>
              <a:ext uri="{FF2B5EF4-FFF2-40B4-BE49-F238E27FC236}">
                <a16:creationId xmlns:a16="http://schemas.microsoft.com/office/drawing/2014/main" id="{04AFBD25-3263-964A-8A53-D27124B17B19}"/>
              </a:ext>
            </a:extLst>
          </p:cNvPr>
          <p:cNvSpPr txBox="1"/>
          <p:nvPr/>
        </p:nvSpPr>
        <p:spPr>
          <a:xfrm>
            <a:off x="243230" y="4383785"/>
            <a:ext cx="125095" cy="228909"/>
          </a:xfrm>
          <a:prstGeom prst="rect">
            <a:avLst/>
          </a:prstGeom>
        </p:spPr>
        <p:txBody>
          <a:bodyPr vert="horz" wrap="square" lIns="0" tIns="13335" rIns="0" bIns="0" rtlCol="0">
            <a:spAutoFit/>
          </a:bodyPr>
          <a:lstStyle/>
          <a:p>
            <a:pPr marL="12700">
              <a:lnSpc>
                <a:spcPct val="100000"/>
              </a:lnSpc>
              <a:spcBef>
                <a:spcPts val="105"/>
              </a:spcBef>
            </a:pPr>
            <a:r>
              <a:rPr lang="en-US" sz="1400" b="1" dirty="0">
                <a:solidFill>
                  <a:srgbClr val="FFFFFF"/>
                </a:solidFill>
                <a:latin typeface="Arial"/>
                <a:cs typeface="Arial"/>
              </a:rPr>
              <a:t>5</a:t>
            </a:r>
            <a:endParaRPr sz="1400" dirty="0">
              <a:latin typeface="Arial"/>
              <a:cs typeface="Arial"/>
            </a:endParaRPr>
          </a:p>
        </p:txBody>
      </p:sp>
      <p:sp>
        <p:nvSpPr>
          <p:cNvPr id="57" name="TextBox 56">
            <a:extLst>
              <a:ext uri="{FF2B5EF4-FFF2-40B4-BE49-F238E27FC236}">
                <a16:creationId xmlns:a16="http://schemas.microsoft.com/office/drawing/2014/main" id="{95676F35-60B3-3064-6550-10B5650FDE95}"/>
              </a:ext>
            </a:extLst>
          </p:cNvPr>
          <p:cNvSpPr txBox="1"/>
          <p:nvPr/>
        </p:nvSpPr>
        <p:spPr>
          <a:xfrm>
            <a:off x="728841" y="4326602"/>
            <a:ext cx="11067897" cy="444352"/>
          </a:xfrm>
          <a:prstGeom prst="rect">
            <a:avLst/>
          </a:prstGeom>
        </p:spPr>
        <p:txBody>
          <a:bodyPr vert="horz" wrap="square" lIns="0" tIns="13335" rIns="0" bIns="0" rtlCol="0">
            <a:spAutoFit/>
          </a:bodyPr>
          <a:lstStyle>
            <a:defPPr>
              <a:defRPr lang="el-GR"/>
            </a:defPPr>
            <a:lvl1pPr marL="38100">
              <a:lnSpc>
                <a:spcPct val="100000"/>
              </a:lnSpc>
              <a:spcBef>
                <a:spcPts val="105"/>
              </a:spcBef>
              <a:defRPr sz="1400" b="1">
                <a:latin typeface="Arial"/>
                <a:cs typeface="Arial"/>
              </a:defRPr>
            </a:lvl1pPr>
          </a:lstStyle>
          <a:p>
            <a:r>
              <a:rPr lang="en-US" dirty="0"/>
              <a:t>Four key enablers: </a:t>
            </a:r>
            <a:r>
              <a:rPr lang="en-US" b="0" dirty="0"/>
              <a:t>i)</a:t>
            </a:r>
            <a:r>
              <a:rPr lang="en-US" dirty="0"/>
              <a:t> </a:t>
            </a:r>
            <a:r>
              <a:rPr lang="en-US" b="0" dirty="0"/>
              <a:t>Creating a dedicated </a:t>
            </a:r>
            <a:r>
              <a:rPr lang="en-US" dirty="0"/>
              <a:t>auto finance value stream</a:t>
            </a:r>
            <a:r>
              <a:rPr lang="en-US" b="0" dirty="0"/>
              <a:t>, ii) Building </a:t>
            </a:r>
            <a:r>
              <a:rPr lang="en-US" dirty="0"/>
              <a:t>repossession capabilities </a:t>
            </a:r>
            <a:r>
              <a:rPr lang="en-US" b="0" dirty="0"/>
              <a:t>to collateralize lending,      iii) </a:t>
            </a:r>
            <a:r>
              <a:rPr lang="en-US" dirty="0"/>
              <a:t>credit policy refinement</a:t>
            </a:r>
            <a:r>
              <a:rPr lang="en-US" b="0" dirty="0"/>
              <a:t>, iv) Investing €4-6M in IT for </a:t>
            </a:r>
            <a:r>
              <a:rPr lang="en-US" dirty="0"/>
              <a:t>B2B platform </a:t>
            </a:r>
            <a:r>
              <a:rPr lang="en-US" b="0" dirty="0"/>
              <a:t>enhancement and digital journeys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781415" y="0"/>
            <a:ext cx="3410585" cy="6858000"/>
          </a:xfrm>
          <a:custGeom>
            <a:avLst/>
            <a:gdLst/>
            <a:ahLst/>
            <a:cxnLst/>
            <a:rect l="l" t="t" r="r" b="b"/>
            <a:pathLst>
              <a:path w="3410584" h="6858000">
                <a:moveTo>
                  <a:pt x="0" y="6858000"/>
                </a:moveTo>
                <a:lnTo>
                  <a:pt x="3410584" y="6858000"/>
                </a:lnTo>
                <a:lnTo>
                  <a:pt x="3410584" y="0"/>
                </a:lnTo>
                <a:lnTo>
                  <a:pt x="0" y="0"/>
                </a:lnTo>
                <a:lnTo>
                  <a:pt x="0" y="6858000"/>
                </a:lnTo>
                <a:close/>
              </a:path>
            </a:pathLst>
          </a:custGeom>
          <a:solidFill>
            <a:srgbClr val="E6E6E6"/>
          </a:solidFill>
        </p:spPr>
        <p:txBody>
          <a:bodyPr wrap="square" lIns="0" tIns="0" rIns="0" bIns="0" rtlCol="0"/>
          <a:lstStyle/>
          <a:p>
            <a:endParaRPr/>
          </a:p>
        </p:txBody>
      </p:sp>
      <p:pic>
        <p:nvPicPr>
          <p:cNvPr id="3" name="Picture 2">
            <a:extLst>
              <a:ext uri="{FF2B5EF4-FFF2-40B4-BE49-F238E27FC236}">
                <a16:creationId xmlns:a16="http://schemas.microsoft.com/office/drawing/2014/main" id="{3B85F707-2444-0DCD-FD3E-D60322933356}"/>
              </a:ext>
            </a:extLst>
          </p:cNvPr>
          <p:cNvPicPr>
            <a:picLocks noChangeAspect="1"/>
          </p:cNvPicPr>
          <p:nvPr/>
        </p:nvPicPr>
        <p:blipFill>
          <a:blip r:embed="rId2"/>
          <a:stretch>
            <a:fillRect/>
          </a:stretch>
        </p:blipFill>
        <p:spPr>
          <a:xfrm>
            <a:off x="-21771" y="14059"/>
            <a:ext cx="12191999" cy="976542"/>
          </a:xfrm>
          <a:prstGeom prst="rect">
            <a:avLst/>
          </a:prstGeom>
        </p:spPr>
      </p:pic>
      <p:sp>
        <p:nvSpPr>
          <p:cNvPr id="4" name="object 4"/>
          <p:cNvSpPr txBox="1"/>
          <p:nvPr/>
        </p:nvSpPr>
        <p:spPr>
          <a:xfrm>
            <a:off x="11563350" y="6485635"/>
            <a:ext cx="89535" cy="151323"/>
          </a:xfrm>
          <a:prstGeom prst="rect">
            <a:avLst/>
          </a:prstGeom>
        </p:spPr>
        <p:txBody>
          <a:bodyPr vert="horz" wrap="square" lIns="0" tIns="12700" rIns="0" bIns="0" rtlCol="0">
            <a:spAutoFit/>
          </a:bodyPr>
          <a:lstStyle/>
          <a:p>
            <a:pPr marL="12700">
              <a:lnSpc>
                <a:spcPct val="100000"/>
              </a:lnSpc>
              <a:spcBef>
                <a:spcPts val="100"/>
              </a:spcBef>
            </a:pPr>
            <a:r>
              <a:rPr lang="en-US" sz="900" dirty="0">
                <a:latin typeface="Arial"/>
                <a:cs typeface="Arial"/>
              </a:rPr>
              <a:t>2</a:t>
            </a:r>
            <a:endParaRPr sz="900" dirty="0">
              <a:latin typeface="Arial"/>
              <a:cs typeface="Arial"/>
            </a:endParaRPr>
          </a:p>
        </p:txBody>
      </p:sp>
      <p:sp>
        <p:nvSpPr>
          <p:cNvPr id="5" name="object 5"/>
          <p:cNvSpPr txBox="1">
            <a:spLocks noGrp="1"/>
          </p:cNvSpPr>
          <p:nvPr>
            <p:ph type="title"/>
          </p:nvPr>
        </p:nvSpPr>
        <p:spPr>
          <a:xfrm>
            <a:off x="542036" y="107391"/>
            <a:ext cx="11628192" cy="1166345"/>
          </a:xfrm>
          <a:prstGeom prst="rect">
            <a:avLst/>
          </a:prstGeom>
        </p:spPr>
        <p:txBody>
          <a:bodyPr vert="horz" wrap="square" lIns="0" tIns="12065" rIns="0" bIns="0" rtlCol="0">
            <a:spAutoFit/>
          </a:bodyPr>
          <a:lstStyle/>
          <a:p>
            <a:pPr marL="12700">
              <a:spcBef>
                <a:spcPts val="95"/>
              </a:spcBef>
            </a:pPr>
            <a:r>
              <a:rPr spc="-5" dirty="0"/>
              <a:t>1 | </a:t>
            </a:r>
            <a:r>
              <a:rPr lang="en-US" spc="-5" dirty="0"/>
              <a:t>S</a:t>
            </a:r>
            <a:r>
              <a:rPr spc="-5" dirty="0"/>
              <a:t>trong position in </a:t>
            </a:r>
            <a:r>
              <a:rPr lang="en-US" spc="-5" dirty="0"/>
              <a:t>R</a:t>
            </a:r>
            <a:r>
              <a:rPr spc="-5" dirty="0"/>
              <a:t>etail </a:t>
            </a:r>
            <a:r>
              <a:rPr lang="en-US" spc="-5" dirty="0"/>
              <a:t>A</a:t>
            </a:r>
            <a:r>
              <a:rPr spc="-5" dirty="0"/>
              <a:t>uto </a:t>
            </a:r>
            <a:r>
              <a:rPr lang="en-US" spc="-5" dirty="0"/>
              <a:t>L</a:t>
            </a:r>
            <a:r>
              <a:rPr spc="-5" dirty="0"/>
              <a:t>oans,</a:t>
            </a:r>
            <a:r>
              <a:rPr spc="100" dirty="0"/>
              <a:t> </a:t>
            </a:r>
            <a:r>
              <a:rPr spc="-5" dirty="0"/>
              <a:t>capturing</a:t>
            </a:r>
            <a:r>
              <a:rPr lang="en-US" spc="-5" dirty="0"/>
              <a:t> </a:t>
            </a:r>
            <a:r>
              <a:rPr lang="en-US" spc="-10" dirty="0"/>
              <a:t>~27%                            </a:t>
            </a:r>
            <a:r>
              <a:rPr lang="en-US" spc="-5" dirty="0"/>
              <a:t>of value generated, </a:t>
            </a:r>
            <a:r>
              <a:rPr lang="en-US" spc="-10" dirty="0"/>
              <a:t>yet </a:t>
            </a:r>
            <a:r>
              <a:rPr lang="en-US" spc="-5" dirty="0"/>
              <a:t>only </a:t>
            </a:r>
            <a:r>
              <a:rPr lang="en-US" spc="-10" dirty="0"/>
              <a:t>~8% </a:t>
            </a:r>
            <a:r>
              <a:rPr lang="en-US" spc="-5" dirty="0"/>
              <a:t>of </a:t>
            </a:r>
            <a:r>
              <a:rPr lang="en-US" spc="-10" dirty="0"/>
              <a:t>the total</a:t>
            </a:r>
            <a:r>
              <a:rPr lang="en-US" spc="150" dirty="0"/>
              <a:t> </a:t>
            </a:r>
            <a:r>
              <a:rPr lang="en-US" spc="-5" dirty="0"/>
              <a:t>market</a:t>
            </a:r>
            <a:br>
              <a:rPr lang="en-US" dirty="0"/>
            </a:br>
            <a:endParaRPr spc="-5" dirty="0"/>
          </a:p>
        </p:txBody>
      </p:sp>
      <p:sp>
        <p:nvSpPr>
          <p:cNvPr id="7" name="object 7"/>
          <p:cNvSpPr/>
          <p:nvPr/>
        </p:nvSpPr>
        <p:spPr>
          <a:xfrm>
            <a:off x="9119869" y="1542922"/>
            <a:ext cx="2520950" cy="0"/>
          </a:xfrm>
          <a:custGeom>
            <a:avLst/>
            <a:gdLst/>
            <a:ahLst/>
            <a:cxnLst/>
            <a:rect l="l" t="t" r="r" b="b"/>
            <a:pathLst>
              <a:path w="2520950">
                <a:moveTo>
                  <a:pt x="0" y="0"/>
                </a:moveTo>
                <a:lnTo>
                  <a:pt x="2520441" y="0"/>
                </a:lnTo>
              </a:path>
            </a:pathLst>
          </a:custGeom>
          <a:ln w="6350">
            <a:solidFill>
              <a:srgbClr val="000000"/>
            </a:solidFill>
          </a:ln>
        </p:spPr>
        <p:txBody>
          <a:bodyPr wrap="square" lIns="0" tIns="0" rIns="0" bIns="0" rtlCol="0"/>
          <a:lstStyle/>
          <a:p>
            <a:endParaRPr/>
          </a:p>
        </p:txBody>
      </p:sp>
      <p:sp>
        <p:nvSpPr>
          <p:cNvPr id="8" name="object 8"/>
          <p:cNvSpPr txBox="1"/>
          <p:nvPr/>
        </p:nvSpPr>
        <p:spPr>
          <a:xfrm>
            <a:off x="542036" y="1267713"/>
            <a:ext cx="425005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041C2C"/>
                </a:solidFill>
                <a:latin typeface="Arial"/>
                <a:cs typeface="Arial"/>
              </a:rPr>
              <a:t>Market size </a:t>
            </a:r>
            <a:r>
              <a:rPr sz="1400" b="1" spc="-5" dirty="0">
                <a:solidFill>
                  <a:srgbClr val="041C2C"/>
                </a:solidFill>
                <a:latin typeface="Arial"/>
                <a:cs typeface="Arial"/>
              </a:rPr>
              <a:t>and </a:t>
            </a:r>
            <a:r>
              <a:rPr sz="1400" b="1" dirty="0">
                <a:solidFill>
                  <a:srgbClr val="041C2C"/>
                </a:solidFill>
                <a:latin typeface="Arial"/>
                <a:cs typeface="Arial"/>
              </a:rPr>
              <a:t>growth </a:t>
            </a:r>
            <a:r>
              <a:rPr sz="1400" b="1" spc="-5" dirty="0">
                <a:solidFill>
                  <a:srgbClr val="041C2C"/>
                </a:solidFill>
                <a:latin typeface="Arial"/>
                <a:cs typeface="Arial"/>
              </a:rPr>
              <a:t>potential </a:t>
            </a:r>
            <a:r>
              <a:rPr sz="1400" b="1" spc="-15" dirty="0">
                <a:solidFill>
                  <a:srgbClr val="041C2C"/>
                </a:solidFill>
                <a:latin typeface="Arial"/>
                <a:cs typeface="Arial"/>
              </a:rPr>
              <a:t>(RAR </a:t>
            </a:r>
            <a:r>
              <a:rPr sz="1400" b="1" spc="-5" dirty="0">
                <a:solidFill>
                  <a:srgbClr val="041C2C"/>
                </a:solidFill>
                <a:latin typeface="Arial"/>
                <a:cs typeface="Arial"/>
              </a:rPr>
              <a:t>and </a:t>
            </a:r>
            <a:r>
              <a:rPr sz="1400" b="1" dirty="0">
                <a:solidFill>
                  <a:srgbClr val="041C2C"/>
                </a:solidFill>
                <a:latin typeface="Arial"/>
                <a:cs typeface="Arial"/>
              </a:rPr>
              <a:t>#</a:t>
            </a:r>
            <a:r>
              <a:rPr sz="1400" b="1" spc="-150" dirty="0">
                <a:solidFill>
                  <a:srgbClr val="041C2C"/>
                </a:solidFill>
                <a:latin typeface="Arial"/>
                <a:cs typeface="Arial"/>
              </a:rPr>
              <a:t> </a:t>
            </a:r>
            <a:r>
              <a:rPr sz="1400" b="1" spc="-5" dirty="0">
                <a:solidFill>
                  <a:srgbClr val="041C2C"/>
                </a:solidFill>
                <a:latin typeface="Arial"/>
                <a:cs typeface="Arial"/>
              </a:rPr>
              <a:t>cars)</a:t>
            </a:r>
            <a:endParaRPr sz="1400">
              <a:latin typeface="Arial"/>
              <a:cs typeface="Arial"/>
            </a:endParaRPr>
          </a:p>
        </p:txBody>
      </p:sp>
      <p:sp>
        <p:nvSpPr>
          <p:cNvPr id="9" name="object 9"/>
          <p:cNvSpPr/>
          <p:nvPr/>
        </p:nvSpPr>
        <p:spPr>
          <a:xfrm>
            <a:off x="554736" y="1542922"/>
            <a:ext cx="7919084" cy="0"/>
          </a:xfrm>
          <a:custGeom>
            <a:avLst/>
            <a:gdLst/>
            <a:ahLst/>
            <a:cxnLst/>
            <a:rect l="l" t="t" r="r" b="b"/>
            <a:pathLst>
              <a:path w="7919084">
                <a:moveTo>
                  <a:pt x="0" y="0"/>
                </a:moveTo>
                <a:lnTo>
                  <a:pt x="7918704" y="0"/>
                </a:lnTo>
              </a:path>
            </a:pathLst>
          </a:custGeom>
          <a:ln w="6350">
            <a:solidFill>
              <a:srgbClr val="000000"/>
            </a:solidFill>
          </a:ln>
        </p:spPr>
        <p:txBody>
          <a:bodyPr wrap="square" lIns="0" tIns="0" rIns="0" bIns="0" rtlCol="0"/>
          <a:lstStyle/>
          <a:p>
            <a:endParaRPr/>
          </a:p>
        </p:txBody>
      </p:sp>
      <p:sp>
        <p:nvSpPr>
          <p:cNvPr id="10" name="object 10"/>
          <p:cNvSpPr txBox="1"/>
          <p:nvPr/>
        </p:nvSpPr>
        <p:spPr>
          <a:xfrm>
            <a:off x="542036" y="1940432"/>
            <a:ext cx="1341755"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a:cs typeface="Arial"/>
              </a:rPr>
              <a:t>Market </a:t>
            </a:r>
            <a:r>
              <a:rPr sz="1400" b="1" spc="-15" dirty="0">
                <a:latin typeface="Arial"/>
                <a:cs typeface="Arial"/>
              </a:rPr>
              <a:t>RAR,</a:t>
            </a:r>
            <a:r>
              <a:rPr sz="1400" b="1" spc="-75" dirty="0">
                <a:latin typeface="Arial"/>
                <a:cs typeface="Arial"/>
              </a:rPr>
              <a:t> </a:t>
            </a:r>
            <a:r>
              <a:rPr sz="1200" spc="-5" dirty="0">
                <a:latin typeface="Arial"/>
                <a:cs typeface="Arial"/>
              </a:rPr>
              <a:t>M€</a:t>
            </a:r>
            <a:endParaRPr sz="1200">
              <a:latin typeface="Arial"/>
              <a:cs typeface="Arial"/>
            </a:endParaRPr>
          </a:p>
        </p:txBody>
      </p:sp>
      <p:sp>
        <p:nvSpPr>
          <p:cNvPr id="11" name="object 11"/>
          <p:cNvSpPr txBox="1"/>
          <p:nvPr/>
        </p:nvSpPr>
        <p:spPr>
          <a:xfrm>
            <a:off x="6709918" y="6184493"/>
            <a:ext cx="1237615"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 </a:t>
            </a:r>
            <a:r>
              <a:rPr sz="1400" b="1" spc="-5" dirty="0">
                <a:latin typeface="Arial"/>
                <a:cs typeface="Arial"/>
              </a:rPr>
              <a:t>cars sold</a:t>
            </a:r>
            <a:r>
              <a:rPr sz="1400" spc="-5" dirty="0">
                <a:latin typeface="Arial"/>
                <a:cs typeface="Arial"/>
              </a:rPr>
              <a:t>,</a:t>
            </a:r>
            <a:r>
              <a:rPr sz="1400" spc="-110" dirty="0">
                <a:latin typeface="Arial"/>
                <a:cs typeface="Arial"/>
              </a:rPr>
              <a:t> </a:t>
            </a:r>
            <a:r>
              <a:rPr sz="1400" spc="-5" dirty="0">
                <a:latin typeface="Arial"/>
                <a:cs typeface="Arial"/>
              </a:rPr>
              <a:t>#k</a:t>
            </a:r>
            <a:endParaRPr sz="1400">
              <a:latin typeface="Arial"/>
              <a:cs typeface="Arial"/>
            </a:endParaRPr>
          </a:p>
        </p:txBody>
      </p:sp>
      <p:sp>
        <p:nvSpPr>
          <p:cNvPr id="12" name="object 12"/>
          <p:cNvSpPr txBox="1"/>
          <p:nvPr/>
        </p:nvSpPr>
        <p:spPr>
          <a:xfrm>
            <a:off x="4529454" y="1643633"/>
            <a:ext cx="990600" cy="177800"/>
          </a:xfrm>
          <a:prstGeom prst="rect">
            <a:avLst/>
          </a:prstGeom>
        </p:spPr>
        <p:txBody>
          <a:bodyPr vert="horz" wrap="square" lIns="0" tIns="12065" rIns="0" bIns="0" rtlCol="0">
            <a:spAutoFit/>
          </a:bodyPr>
          <a:lstStyle/>
          <a:p>
            <a:pPr marL="12700">
              <a:lnSpc>
                <a:spcPct val="100000"/>
              </a:lnSpc>
              <a:spcBef>
                <a:spcPts val="95"/>
              </a:spcBef>
            </a:pPr>
            <a:r>
              <a:rPr sz="1000" b="1" spc="-5" dirty="0">
                <a:latin typeface="Arial"/>
                <a:cs typeface="Arial"/>
              </a:rPr>
              <a:t>Market </a:t>
            </a:r>
            <a:r>
              <a:rPr sz="1000" b="1" spc="-15" dirty="0">
                <a:latin typeface="Arial"/>
                <a:cs typeface="Arial"/>
              </a:rPr>
              <a:t>RAR,</a:t>
            </a:r>
            <a:r>
              <a:rPr sz="1000" b="1" spc="-30" dirty="0">
                <a:latin typeface="Arial"/>
                <a:cs typeface="Arial"/>
              </a:rPr>
              <a:t> </a:t>
            </a:r>
            <a:r>
              <a:rPr sz="1000" spc="-10" dirty="0">
                <a:latin typeface="Arial"/>
                <a:cs typeface="Arial"/>
              </a:rPr>
              <a:t>M€</a:t>
            </a:r>
            <a:endParaRPr sz="1000">
              <a:latin typeface="Arial"/>
              <a:cs typeface="Arial"/>
            </a:endParaRPr>
          </a:p>
        </p:txBody>
      </p:sp>
      <p:sp>
        <p:nvSpPr>
          <p:cNvPr id="13" name="object 13"/>
          <p:cNvSpPr txBox="1"/>
          <p:nvPr/>
        </p:nvSpPr>
        <p:spPr>
          <a:xfrm>
            <a:off x="4541520" y="1914690"/>
            <a:ext cx="448309" cy="237490"/>
          </a:xfrm>
          <a:prstGeom prst="rect">
            <a:avLst/>
          </a:prstGeom>
          <a:solidFill>
            <a:srgbClr val="051F79"/>
          </a:solidFill>
          <a:ln w="6350">
            <a:solidFill>
              <a:srgbClr val="000000"/>
            </a:solidFill>
          </a:ln>
        </p:spPr>
        <p:txBody>
          <a:bodyPr vert="horz" wrap="square" lIns="0" tIns="38735" rIns="0" bIns="0" rtlCol="0">
            <a:spAutoFit/>
          </a:bodyPr>
          <a:lstStyle/>
          <a:p>
            <a:pPr algn="ctr">
              <a:lnSpc>
                <a:spcPct val="100000"/>
              </a:lnSpc>
              <a:spcBef>
                <a:spcPts val="305"/>
              </a:spcBef>
            </a:pPr>
            <a:r>
              <a:rPr sz="1000" b="1" spc="-10" dirty="0">
                <a:solidFill>
                  <a:srgbClr val="FFFFFF"/>
                </a:solidFill>
                <a:latin typeface="Arial"/>
                <a:cs typeface="Arial"/>
              </a:rPr>
              <a:t>xx</a:t>
            </a:r>
            <a:endParaRPr sz="1000">
              <a:latin typeface="Arial"/>
              <a:cs typeface="Arial"/>
            </a:endParaRPr>
          </a:p>
        </p:txBody>
      </p:sp>
      <p:sp>
        <p:nvSpPr>
          <p:cNvPr id="14" name="object 14"/>
          <p:cNvSpPr txBox="1"/>
          <p:nvPr/>
        </p:nvSpPr>
        <p:spPr>
          <a:xfrm>
            <a:off x="5193410" y="1914690"/>
            <a:ext cx="448309" cy="237490"/>
          </a:xfrm>
          <a:prstGeom prst="rect">
            <a:avLst/>
          </a:prstGeom>
          <a:solidFill>
            <a:srgbClr val="00A9F4"/>
          </a:solidFill>
          <a:ln w="6350">
            <a:solidFill>
              <a:srgbClr val="000000"/>
            </a:solidFill>
          </a:ln>
        </p:spPr>
        <p:txBody>
          <a:bodyPr vert="horz" wrap="square" lIns="0" tIns="38735" rIns="0" bIns="0" rtlCol="0">
            <a:spAutoFit/>
          </a:bodyPr>
          <a:lstStyle/>
          <a:p>
            <a:pPr algn="ctr">
              <a:lnSpc>
                <a:spcPct val="100000"/>
              </a:lnSpc>
              <a:spcBef>
                <a:spcPts val="305"/>
              </a:spcBef>
            </a:pPr>
            <a:r>
              <a:rPr sz="1000" b="1" spc="-10" dirty="0">
                <a:solidFill>
                  <a:srgbClr val="FFFFFF"/>
                </a:solidFill>
                <a:latin typeface="Arial"/>
                <a:cs typeface="Arial"/>
              </a:rPr>
              <a:t>xx</a:t>
            </a:r>
            <a:endParaRPr sz="1000">
              <a:latin typeface="Arial"/>
              <a:cs typeface="Arial"/>
            </a:endParaRPr>
          </a:p>
        </p:txBody>
      </p:sp>
      <p:sp>
        <p:nvSpPr>
          <p:cNvPr id="15" name="object 15"/>
          <p:cNvSpPr txBox="1"/>
          <p:nvPr/>
        </p:nvSpPr>
        <p:spPr>
          <a:xfrm>
            <a:off x="4639183" y="2215133"/>
            <a:ext cx="306070" cy="177800"/>
          </a:xfrm>
          <a:prstGeom prst="rect">
            <a:avLst/>
          </a:prstGeom>
        </p:spPr>
        <p:txBody>
          <a:bodyPr vert="horz" wrap="square" lIns="0" tIns="12065" rIns="0" bIns="0" rtlCol="0">
            <a:spAutoFit/>
          </a:bodyPr>
          <a:lstStyle/>
          <a:p>
            <a:pPr marL="12700">
              <a:lnSpc>
                <a:spcPct val="100000"/>
              </a:lnSpc>
              <a:spcBef>
                <a:spcPts val="95"/>
              </a:spcBef>
            </a:pPr>
            <a:r>
              <a:rPr sz="1000" b="1" spc="-10" dirty="0">
                <a:latin typeface="Arial"/>
                <a:cs typeface="Arial"/>
              </a:rPr>
              <a:t>2024</a:t>
            </a:r>
            <a:endParaRPr sz="1000">
              <a:latin typeface="Arial"/>
              <a:cs typeface="Arial"/>
            </a:endParaRPr>
          </a:p>
        </p:txBody>
      </p:sp>
      <p:sp>
        <p:nvSpPr>
          <p:cNvPr id="16" name="object 16"/>
          <p:cNvSpPr txBox="1"/>
          <p:nvPr/>
        </p:nvSpPr>
        <p:spPr>
          <a:xfrm>
            <a:off x="5274055" y="2215133"/>
            <a:ext cx="306070" cy="177800"/>
          </a:xfrm>
          <a:prstGeom prst="rect">
            <a:avLst/>
          </a:prstGeom>
        </p:spPr>
        <p:txBody>
          <a:bodyPr vert="horz" wrap="square" lIns="0" tIns="12065" rIns="0" bIns="0" rtlCol="0">
            <a:spAutoFit/>
          </a:bodyPr>
          <a:lstStyle/>
          <a:p>
            <a:pPr marL="12700">
              <a:lnSpc>
                <a:spcPct val="100000"/>
              </a:lnSpc>
              <a:spcBef>
                <a:spcPts val="95"/>
              </a:spcBef>
            </a:pPr>
            <a:r>
              <a:rPr sz="1000" b="1" spc="-10" dirty="0">
                <a:latin typeface="Arial"/>
                <a:cs typeface="Arial"/>
              </a:rPr>
              <a:t>2030</a:t>
            </a:r>
            <a:endParaRPr sz="1000">
              <a:latin typeface="Arial"/>
              <a:cs typeface="Arial"/>
            </a:endParaRPr>
          </a:p>
        </p:txBody>
      </p:sp>
      <p:sp>
        <p:nvSpPr>
          <p:cNvPr id="17" name="object 17"/>
          <p:cNvSpPr/>
          <p:nvPr/>
        </p:nvSpPr>
        <p:spPr>
          <a:xfrm>
            <a:off x="5856096" y="1914651"/>
            <a:ext cx="448309" cy="237490"/>
          </a:xfrm>
          <a:custGeom>
            <a:avLst/>
            <a:gdLst/>
            <a:ahLst/>
            <a:cxnLst/>
            <a:rect l="l" t="t" r="r" b="b"/>
            <a:pathLst>
              <a:path w="448310" h="237489">
                <a:moveTo>
                  <a:pt x="223900" y="0"/>
                </a:moveTo>
                <a:lnTo>
                  <a:pt x="164365" y="4235"/>
                </a:lnTo>
                <a:lnTo>
                  <a:pt x="110875" y="16190"/>
                </a:lnTo>
                <a:lnTo>
                  <a:pt x="65563" y="34734"/>
                </a:lnTo>
                <a:lnTo>
                  <a:pt x="30559" y="58739"/>
                </a:lnTo>
                <a:lnTo>
                  <a:pt x="0" y="118618"/>
                </a:lnTo>
                <a:lnTo>
                  <a:pt x="7995" y="150105"/>
                </a:lnTo>
                <a:lnTo>
                  <a:pt x="65563" y="202390"/>
                </a:lnTo>
                <a:lnTo>
                  <a:pt x="110875" y="220923"/>
                </a:lnTo>
                <a:lnTo>
                  <a:pt x="164365" y="232873"/>
                </a:lnTo>
                <a:lnTo>
                  <a:pt x="223900" y="237109"/>
                </a:lnTo>
                <a:lnTo>
                  <a:pt x="283392" y="232873"/>
                </a:lnTo>
                <a:lnTo>
                  <a:pt x="336869" y="220923"/>
                </a:lnTo>
                <a:lnTo>
                  <a:pt x="382190" y="202390"/>
                </a:lnTo>
                <a:lnTo>
                  <a:pt x="417213" y="178406"/>
                </a:lnTo>
                <a:lnTo>
                  <a:pt x="447801" y="118618"/>
                </a:lnTo>
                <a:lnTo>
                  <a:pt x="439798" y="87077"/>
                </a:lnTo>
                <a:lnTo>
                  <a:pt x="382190" y="34734"/>
                </a:lnTo>
                <a:lnTo>
                  <a:pt x="336869" y="16190"/>
                </a:lnTo>
                <a:lnTo>
                  <a:pt x="283392" y="4235"/>
                </a:lnTo>
                <a:lnTo>
                  <a:pt x="223900" y="0"/>
                </a:lnTo>
                <a:close/>
              </a:path>
            </a:pathLst>
          </a:custGeom>
          <a:solidFill>
            <a:srgbClr val="051F79"/>
          </a:solidFill>
        </p:spPr>
        <p:txBody>
          <a:bodyPr wrap="square" lIns="0" tIns="0" rIns="0" bIns="0" rtlCol="0"/>
          <a:lstStyle/>
          <a:p>
            <a:endParaRPr/>
          </a:p>
        </p:txBody>
      </p:sp>
      <p:sp>
        <p:nvSpPr>
          <p:cNvPr id="18" name="object 18"/>
          <p:cNvSpPr/>
          <p:nvPr/>
        </p:nvSpPr>
        <p:spPr>
          <a:xfrm>
            <a:off x="5856096" y="1914651"/>
            <a:ext cx="448309" cy="237490"/>
          </a:xfrm>
          <a:custGeom>
            <a:avLst/>
            <a:gdLst/>
            <a:ahLst/>
            <a:cxnLst/>
            <a:rect l="l" t="t" r="r" b="b"/>
            <a:pathLst>
              <a:path w="448310" h="237489">
                <a:moveTo>
                  <a:pt x="0" y="118618"/>
                </a:moveTo>
                <a:lnTo>
                  <a:pt x="30559" y="58739"/>
                </a:lnTo>
                <a:lnTo>
                  <a:pt x="65563" y="34734"/>
                </a:lnTo>
                <a:lnTo>
                  <a:pt x="110875" y="16190"/>
                </a:lnTo>
                <a:lnTo>
                  <a:pt x="164365" y="4235"/>
                </a:lnTo>
                <a:lnTo>
                  <a:pt x="223900" y="0"/>
                </a:lnTo>
                <a:lnTo>
                  <a:pt x="283392" y="4235"/>
                </a:lnTo>
                <a:lnTo>
                  <a:pt x="336869" y="16190"/>
                </a:lnTo>
                <a:lnTo>
                  <a:pt x="382190" y="34734"/>
                </a:lnTo>
                <a:lnTo>
                  <a:pt x="417213" y="58739"/>
                </a:lnTo>
                <a:lnTo>
                  <a:pt x="447801" y="118618"/>
                </a:lnTo>
                <a:lnTo>
                  <a:pt x="439798" y="150105"/>
                </a:lnTo>
                <a:lnTo>
                  <a:pt x="382190" y="202390"/>
                </a:lnTo>
                <a:lnTo>
                  <a:pt x="336869" y="220923"/>
                </a:lnTo>
                <a:lnTo>
                  <a:pt x="283392" y="232873"/>
                </a:lnTo>
                <a:lnTo>
                  <a:pt x="223900" y="237109"/>
                </a:lnTo>
                <a:lnTo>
                  <a:pt x="164365" y="232873"/>
                </a:lnTo>
                <a:lnTo>
                  <a:pt x="110875" y="220923"/>
                </a:lnTo>
                <a:lnTo>
                  <a:pt x="65563" y="202390"/>
                </a:lnTo>
                <a:lnTo>
                  <a:pt x="30559" y="178406"/>
                </a:lnTo>
                <a:lnTo>
                  <a:pt x="0" y="118618"/>
                </a:lnTo>
                <a:close/>
              </a:path>
            </a:pathLst>
          </a:custGeom>
          <a:ln w="6350">
            <a:solidFill>
              <a:srgbClr val="000000"/>
            </a:solidFill>
          </a:ln>
        </p:spPr>
        <p:txBody>
          <a:bodyPr wrap="square" lIns="0" tIns="0" rIns="0" bIns="0" rtlCol="0"/>
          <a:lstStyle/>
          <a:p>
            <a:endParaRPr/>
          </a:p>
        </p:txBody>
      </p:sp>
      <p:sp>
        <p:nvSpPr>
          <p:cNvPr id="19" name="object 19"/>
          <p:cNvSpPr/>
          <p:nvPr/>
        </p:nvSpPr>
        <p:spPr>
          <a:xfrm>
            <a:off x="6507988" y="1914651"/>
            <a:ext cx="448309" cy="237490"/>
          </a:xfrm>
          <a:custGeom>
            <a:avLst/>
            <a:gdLst/>
            <a:ahLst/>
            <a:cxnLst/>
            <a:rect l="l" t="t" r="r" b="b"/>
            <a:pathLst>
              <a:path w="448309" h="237489">
                <a:moveTo>
                  <a:pt x="223900" y="0"/>
                </a:moveTo>
                <a:lnTo>
                  <a:pt x="164365" y="4235"/>
                </a:lnTo>
                <a:lnTo>
                  <a:pt x="110875" y="16190"/>
                </a:lnTo>
                <a:lnTo>
                  <a:pt x="65563" y="34734"/>
                </a:lnTo>
                <a:lnTo>
                  <a:pt x="30559" y="58739"/>
                </a:lnTo>
                <a:lnTo>
                  <a:pt x="0" y="118618"/>
                </a:lnTo>
                <a:lnTo>
                  <a:pt x="7995" y="150105"/>
                </a:lnTo>
                <a:lnTo>
                  <a:pt x="65563" y="202390"/>
                </a:lnTo>
                <a:lnTo>
                  <a:pt x="110875" y="220923"/>
                </a:lnTo>
                <a:lnTo>
                  <a:pt x="164365" y="232873"/>
                </a:lnTo>
                <a:lnTo>
                  <a:pt x="223900" y="237109"/>
                </a:lnTo>
                <a:lnTo>
                  <a:pt x="283436" y="232873"/>
                </a:lnTo>
                <a:lnTo>
                  <a:pt x="336926" y="220923"/>
                </a:lnTo>
                <a:lnTo>
                  <a:pt x="382238" y="202390"/>
                </a:lnTo>
                <a:lnTo>
                  <a:pt x="417242" y="178406"/>
                </a:lnTo>
                <a:lnTo>
                  <a:pt x="447801" y="118618"/>
                </a:lnTo>
                <a:lnTo>
                  <a:pt x="439806" y="87077"/>
                </a:lnTo>
                <a:lnTo>
                  <a:pt x="382238" y="34734"/>
                </a:lnTo>
                <a:lnTo>
                  <a:pt x="336926" y="16190"/>
                </a:lnTo>
                <a:lnTo>
                  <a:pt x="283436" y="4235"/>
                </a:lnTo>
                <a:lnTo>
                  <a:pt x="223900" y="0"/>
                </a:lnTo>
                <a:close/>
              </a:path>
            </a:pathLst>
          </a:custGeom>
          <a:solidFill>
            <a:srgbClr val="00A9F4"/>
          </a:solidFill>
        </p:spPr>
        <p:txBody>
          <a:bodyPr wrap="square" lIns="0" tIns="0" rIns="0" bIns="0" rtlCol="0"/>
          <a:lstStyle/>
          <a:p>
            <a:endParaRPr/>
          </a:p>
        </p:txBody>
      </p:sp>
      <p:sp>
        <p:nvSpPr>
          <p:cNvPr id="20" name="object 20"/>
          <p:cNvSpPr/>
          <p:nvPr/>
        </p:nvSpPr>
        <p:spPr>
          <a:xfrm>
            <a:off x="6507988" y="1914651"/>
            <a:ext cx="448309" cy="237490"/>
          </a:xfrm>
          <a:custGeom>
            <a:avLst/>
            <a:gdLst/>
            <a:ahLst/>
            <a:cxnLst/>
            <a:rect l="l" t="t" r="r" b="b"/>
            <a:pathLst>
              <a:path w="448309" h="237489">
                <a:moveTo>
                  <a:pt x="0" y="118618"/>
                </a:moveTo>
                <a:lnTo>
                  <a:pt x="30559" y="58739"/>
                </a:lnTo>
                <a:lnTo>
                  <a:pt x="65563" y="34734"/>
                </a:lnTo>
                <a:lnTo>
                  <a:pt x="110875" y="16190"/>
                </a:lnTo>
                <a:lnTo>
                  <a:pt x="164365" y="4235"/>
                </a:lnTo>
                <a:lnTo>
                  <a:pt x="223900" y="0"/>
                </a:lnTo>
                <a:lnTo>
                  <a:pt x="283436" y="4235"/>
                </a:lnTo>
                <a:lnTo>
                  <a:pt x="336926" y="16190"/>
                </a:lnTo>
                <a:lnTo>
                  <a:pt x="382238" y="34734"/>
                </a:lnTo>
                <a:lnTo>
                  <a:pt x="417242" y="58739"/>
                </a:lnTo>
                <a:lnTo>
                  <a:pt x="447801" y="118618"/>
                </a:lnTo>
                <a:lnTo>
                  <a:pt x="439806" y="150105"/>
                </a:lnTo>
                <a:lnTo>
                  <a:pt x="382238" y="202390"/>
                </a:lnTo>
                <a:lnTo>
                  <a:pt x="336926" y="220923"/>
                </a:lnTo>
                <a:lnTo>
                  <a:pt x="283436" y="232873"/>
                </a:lnTo>
                <a:lnTo>
                  <a:pt x="223900" y="237109"/>
                </a:lnTo>
                <a:lnTo>
                  <a:pt x="164365" y="232873"/>
                </a:lnTo>
                <a:lnTo>
                  <a:pt x="110875" y="220923"/>
                </a:lnTo>
                <a:lnTo>
                  <a:pt x="65563" y="202390"/>
                </a:lnTo>
                <a:lnTo>
                  <a:pt x="30559" y="178406"/>
                </a:lnTo>
                <a:lnTo>
                  <a:pt x="0" y="118618"/>
                </a:lnTo>
                <a:close/>
              </a:path>
            </a:pathLst>
          </a:custGeom>
          <a:ln w="6350">
            <a:solidFill>
              <a:srgbClr val="000000"/>
            </a:solidFill>
          </a:ln>
        </p:spPr>
        <p:txBody>
          <a:bodyPr wrap="square" lIns="0" tIns="0" rIns="0" bIns="0" rtlCol="0"/>
          <a:lstStyle/>
          <a:p>
            <a:endParaRPr/>
          </a:p>
        </p:txBody>
      </p:sp>
      <p:sp>
        <p:nvSpPr>
          <p:cNvPr id="21" name="object 21"/>
          <p:cNvSpPr txBox="1"/>
          <p:nvPr/>
        </p:nvSpPr>
        <p:spPr>
          <a:xfrm>
            <a:off x="5844032" y="1643633"/>
            <a:ext cx="1050925" cy="749300"/>
          </a:xfrm>
          <a:prstGeom prst="rect">
            <a:avLst/>
          </a:prstGeom>
        </p:spPr>
        <p:txBody>
          <a:bodyPr vert="horz" wrap="square" lIns="0" tIns="12065" rIns="0" bIns="0" rtlCol="0">
            <a:spAutoFit/>
          </a:bodyPr>
          <a:lstStyle/>
          <a:p>
            <a:pPr marR="145415" algn="r">
              <a:lnSpc>
                <a:spcPct val="100000"/>
              </a:lnSpc>
              <a:spcBef>
                <a:spcPts val="95"/>
              </a:spcBef>
            </a:pPr>
            <a:r>
              <a:rPr sz="1000" b="1" spc="-5" dirty="0">
                <a:latin typeface="Arial"/>
                <a:cs typeface="Arial"/>
              </a:rPr>
              <a:t># </a:t>
            </a:r>
            <a:r>
              <a:rPr sz="1000" b="1" spc="-10" dirty="0">
                <a:latin typeface="Arial"/>
                <a:cs typeface="Arial"/>
              </a:rPr>
              <a:t>Cars </a:t>
            </a:r>
            <a:r>
              <a:rPr sz="1000" b="1" spc="-5" dirty="0">
                <a:latin typeface="Arial"/>
                <a:cs typeface="Arial"/>
              </a:rPr>
              <a:t>sold</a:t>
            </a:r>
            <a:r>
              <a:rPr sz="1000" spc="-5" dirty="0">
                <a:latin typeface="Arial"/>
                <a:cs typeface="Arial"/>
              </a:rPr>
              <a:t>,</a:t>
            </a:r>
            <a:r>
              <a:rPr sz="1000" spc="-60" dirty="0">
                <a:latin typeface="Arial"/>
                <a:cs typeface="Arial"/>
              </a:rPr>
              <a:t> </a:t>
            </a:r>
            <a:r>
              <a:rPr sz="1000" spc="-10" dirty="0">
                <a:latin typeface="Arial"/>
                <a:cs typeface="Arial"/>
              </a:rPr>
              <a:t>#k</a:t>
            </a:r>
            <a:endParaRPr sz="1000">
              <a:latin typeface="Arial"/>
              <a:cs typeface="Arial"/>
            </a:endParaRPr>
          </a:p>
          <a:p>
            <a:pPr>
              <a:lnSpc>
                <a:spcPct val="100000"/>
              </a:lnSpc>
              <a:spcBef>
                <a:spcPts val="55"/>
              </a:spcBef>
            </a:pPr>
            <a:endParaRPr sz="950">
              <a:latin typeface="Arial"/>
              <a:cs typeface="Arial"/>
            </a:endParaRPr>
          </a:p>
          <a:p>
            <a:pPr marR="83820" algn="r">
              <a:lnSpc>
                <a:spcPct val="100000"/>
              </a:lnSpc>
              <a:tabLst>
                <a:tab pos="651510" algn="l"/>
              </a:tabLst>
            </a:pPr>
            <a:r>
              <a:rPr sz="1000" b="1" spc="-10" dirty="0">
                <a:solidFill>
                  <a:srgbClr val="FFFFFF"/>
                </a:solidFill>
                <a:latin typeface="Arial"/>
                <a:cs typeface="Arial"/>
              </a:rPr>
              <a:t>x</a:t>
            </a:r>
            <a:r>
              <a:rPr sz="1000" b="1" spc="-5" dirty="0">
                <a:solidFill>
                  <a:srgbClr val="FFFFFF"/>
                </a:solidFill>
                <a:latin typeface="Arial"/>
                <a:cs typeface="Arial"/>
              </a:rPr>
              <a:t>x</a:t>
            </a:r>
            <a:r>
              <a:rPr sz="1000" b="1" dirty="0">
                <a:solidFill>
                  <a:srgbClr val="FFFFFF"/>
                </a:solidFill>
                <a:latin typeface="Arial"/>
                <a:cs typeface="Arial"/>
              </a:rPr>
              <a:t>	</a:t>
            </a:r>
            <a:r>
              <a:rPr sz="1000" b="1" spc="-10" dirty="0">
                <a:solidFill>
                  <a:srgbClr val="FFFFFF"/>
                </a:solidFill>
                <a:latin typeface="Arial"/>
                <a:cs typeface="Arial"/>
              </a:rPr>
              <a:t>xx</a:t>
            </a:r>
            <a:endParaRPr sz="1000">
              <a:latin typeface="Arial"/>
              <a:cs typeface="Arial"/>
            </a:endParaRPr>
          </a:p>
          <a:p>
            <a:pPr marL="121920">
              <a:lnSpc>
                <a:spcPct val="100000"/>
              </a:lnSpc>
              <a:spcBef>
                <a:spcPts val="950"/>
              </a:spcBef>
              <a:tabLst>
                <a:tab pos="757555" algn="l"/>
              </a:tabLst>
            </a:pPr>
            <a:r>
              <a:rPr sz="1000" b="1" spc="-10" dirty="0">
                <a:latin typeface="Arial"/>
                <a:cs typeface="Arial"/>
              </a:rPr>
              <a:t>202</a:t>
            </a:r>
            <a:r>
              <a:rPr sz="1000" b="1" spc="-5" dirty="0">
                <a:latin typeface="Arial"/>
                <a:cs typeface="Arial"/>
              </a:rPr>
              <a:t>4</a:t>
            </a:r>
            <a:r>
              <a:rPr sz="1000" b="1" dirty="0">
                <a:latin typeface="Arial"/>
                <a:cs typeface="Arial"/>
              </a:rPr>
              <a:t>	</a:t>
            </a:r>
            <a:r>
              <a:rPr sz="1000" b="1" spc="-10" dirty="0">
                <a:latin typeface="Arial"/>
                <a:cs typeface="Arial"/>
              </a:rPr>
              <a:t>2030</a:t>
            </a:r>
            <a:endParaRPr sz="1000">
              <a:latin typeface="Arial"/>
              <a:cs typeface="Arial"/>
            </a:endParaRPr>
          </a:p>
        </p:txBody>
      </p:sp>
      <p:sp>
        <p:nvSpPr>
          <p:cNvPr id="22" name="object 22"/>
          <p:cNvSpPr/>
          <p:nvPr/>
        </p:nvSpPr>
        <p:spPr>
          <a:xfrm>
            <a:off x="7167753" y="1886839"/>
            <a:ext cx="448309" cy="237490"/>
          </a:xfrm>
          <a:custGeom>
            <a:avLst/>
            <a:gdLst/>
            <a:ahLst/>
            <a:cxnLst/>
            <a:rect l="l" t="t" r="r" b="b"/>
            <a:pathLst>
              <a:path w="448309" h="237489">
                <a:moveTo>
                  <a:pt x="0" y="118618"/>
                </a:moveTo>
                <a:lnTo>
                  <a:pt x="30588" y="58739"/>
                </a:lnTo>
                <a:lnTo>
                  <a:pt x="65611" y="34734"/>
                </a:lnTo>
                <a:lnTo>
                  <a:pt x="110932" y="16190"/>
                </a:lnTo>
                <a:lnTo>
                  <a:pt x="164409" y="4235"/>
                </a:lnTo>
                <a:lnTo>
                  <a:pt x="223900" y="0"/>
                </a:lnTo>
                <a:lnTo>
                  <a:pt x="283446" y="4235"/>
                </a:lnTo>
                <a:lnTo>
                  <a:pt x="336959" y="16190"/>
                </a:lnTo>
                <a:lnTo>
                  <a:pt x="382301" y="34734"/>
                </a:lnTo>
                <a:lnTo>
                  <a:pt x="417336" y="58739"/>
                </a:lnTo>
                <a:lnTo>
                  <a:pt x="447928" y="118618"/>
                </a:lnTo>
                <a:lnTo>
                  <a:pt x="439924" y="150105"/>
                </a:lnTo>
                <a:lnTo>
                  <a:pt x="382301" y="202390"/>
                </a:lnTo>
                <a:lnTo>
                  <a:pt x="336959" y="220923"/>
                </a:lnTo>
                <a:lnTo>
                  <a:pt x="283446" y="232873"/>
                </a:lnTo>
                <a:lnTo>
                  <a:pt x="223900" y="237109"/>
                </a:lnTo>
                <a:lnTo>
                  <a:pt x="164409" y="232873"/>
                </a:lnTo>
                <a:lnTo>
                  <a:pt x="110932" y="220923"/>
                </a:lnTo>
                <a:lnTo>
                  <a:pt x="65611" y="202390"/>
                </a:lnTo>
                <a:lnTo>
                  <a:pt x="30588" y="178406"/>
                </a:lnTo>
                <a:lnTo>
                  <a:pt x="0" y="118618"/>
                </a:lnTo>
                <a:close/>
              </a:path>
            </a:pathLst>
          </a:custGeom>
          <a:ln w="12700">
            <a:solidFill>
              <a:srgbClr val="051F79"/>
            </a:solidFill>
          </a:ln>
        </p:spPr>
        <p:txBody>
          <a:bodyPr wrap="square" lIns="0" tIns="0" rIns="0" bIns="0" rtlCol="0"/>
          <a:lstStyle/>
          <a:p>
            <a:endParaRPr/>
          </a:p>
        </p:txBody>
      </p:sp>
      <p:sp>
        <p:nvSpPr>
          <p:cNvPr id="23" name="object 23"/>
          <p:cNvSpPr txBox="1"/>
          <p:nvPr/>
        </p:nvSpPr>
        <p:spPr>
          <a:xfrm>
            <a:off x="7310119" y="1913889"/>
            <a:ext cx="165735" cy="177800"/>
          </a:xfrm>
          <a:prstGeom prst="rect">
            <a:avLst/>
          </a:prstGeom>
        </p:spPr>
        <p:txBody>
          <a:bodyPr vert="horz" wrap="square" lIns="0" tIns="12065" rIns="0" bIns="0" rtlCol="0">
            <a:spAutoFit/>
          </a:bodyPr>
          <a:lstStyle/>
          <a:p>
            <a:pPr marL="12700">
              <a:lnSpc>
                <a:spcPct val="100000"/>
              </a:lnSpc>
              <a:spcBef>
                <a:spcPts val="95"/>
              </a:spcBef>
            </a:pPr>
            <a:r>
              <a:rPr sz="1000" b="1" spc="-10" dirty="0">
                <a:latin typeface="Arial"/>
                <a:cs typeface="Arial"/>
              </a:rPr>
              <a:t>xx</a:t>
            </a:r>
            <a:endParaRPr sz="1000">
              <a:latin typeface="Arial"/>
              <a:cs typeface="Arial"/>
            </a:endParaRPr>
          </a:p>
        </p:txBody>
      </p:sp>
      <p:sp>
        <p:nvSpPr>
          <p:cNvPr id="24" name="object 24"/>
          <p:cNvSpPr txBox="1"/>
          <p:nvPr/>
        </p:nvSpPr>
        <p:spPr>
          <a:xfrm>
            <a:off x="7155942" y="1643633"/>
            <a:ext cx="1296670" cy="177800"/>
          </a:xfrm>
          <a:prstGeom prst="rect">
            <a:avLst/>
          </a:prstGeom>
        </p:spPr>
        <p:txBody>
          <a:bodyPr vert="horz" wrap="square" lIns="0" tIns="12065" rIns="0" bIns="0" rtlCol="0">
            <a:spAutoFit/>
          </a:bodyPr>
          <a:lstStyle/>
          <a:p>
            <a:pPr marL="12700">
              <a:lnSpc>
                <a:spcPct val="100000"/>
              </a:lnSpc>
              <a:spcBef>
                <a:spcPts val="95"/>
              </a:spcBef>
            </a:pPr>
            <a:r>
              <a:rPr sz="1000" b="1" spc="-5" dirty="0">
                <a:latin typeface="Arial"/>
                <a:cs typeface="Arial"/>
              </a:rPr>
              <a:t>ERB </a:t>
            </a:r>
            <a:r>
              <a:rPr sz="1000" b="1" spc="-10" dirty="0">
                <a:latin typeface="Arial"/>
                <a:cs typeface="Arial"/>
              </a:rPr>
              <a:t>market share</a:t>
            </a:r>
            <a:r>
              <a:rPr sz="1000" spc="-10" dirty="0">
                <a:latin typeface="Arial"/>
                <a:cs typeface="Arial"/>
              </a:rPr>
              <a:t>,</a:t>
            </a:r>
            <a:r>
              <a:rPr sz="1000" spc="-35" dirty="0">
                <a:latin typeface="Arial"/>
                <a:cs typeface="Arial"/>
              </a:rPr>
              <a:t> </a:t>
            </a:r>
            <a:r>
              <a:rPr sz="1000" spc="-5" dirty="0">
                <a:latin typeface="Arial"/>
                <a:cs typeface="Arial"/>
              </a:rPr>
              <a:t>%</a:t>
            </a:r>
            <a:endParaRPr sz="1000">
              <a:latin typeface="Arial"/>
              <a:cs typeface="Arial"/>
            </a:endParaRPr>
          </a:p>
        </p:txBody>
      </p:sp>
      <p:sp>
        <p:nvSpPr>
          <p:cNvPr id="25" name="object 25"/>
          <p:cNvSpPr txBox="1"/>
          <p:nvPr/>
        </p:nvSpPr>
        <p:spPr>
          <a:xfrm>
            <a:off x="7265669" y="2186762"/>
            <a:ext cx="306070" cy="177800"/>
          </a:xfrm>
          <a:prstGeom prst="rect">
            <a:avLst/>
          </a:prstGeom>
        </p:spPr>
        <p:txBody>
          <a:bodyPr vert="horz" wrap="square" lIns="0" tIns="12065" rIns="0" bIns="0" rtlCol="0">
            <a:spAutoFit/>
          </a:bodyPr>
          <a:lstStyle/>
          <a:p>
            <a:pPr marL="12700">
              <a:lnSpc>
                <a:spcPct val="100000"/>
              </a:lnSpc>
              <a:spcBef>
                <a:spcPts val="95"/>
              </a:spcBef>
            </a:pPr>
            <a:r>
              <a:rPr sz="1000" b="1" spc="-10" dirty="0">
                <a:latin typeface="Arial"/>
                <a:cs typeface="Arial"/>
              </a:rPr>
              <a:t>2024</a:t>
            </a:r>
            <a:endParaRPr sz="1000">
              <a:latin typeface="Arial"/>
              <a:cs typeface="Arial"/>
            </a:endParaRPr>
          </a:p>
        </p:txBody>
      </p:sp>
      <p:sp>
        <p:nvSpPr>
          <p:cNvPr id="26" name="object 26"/>
          <p:cNvSpPr/>
          <p:nvPr/>
        </p:nvSpPr>
        <p:spPr>
          <a:xfrm>
            <a:off x="9116694" y="1622678"/>
            <a:ext cx="237235" cy="237109"/>
          </a:xfrm>
          <a:prstGeom prst="rect">
            <a:avLst/>
          </a:prstGeom>
          <a:blipFill>
            <a:blip r:embed="rId3" cstate="print"/>
            <a:stretch>
              <a:fillRect/>
            </a:stretch>
          </a:blipFill>
        </p:spPr>
        <p:txBody>
          <a:bodyPr wrap="square" lIns="0" tIns="0" rIns="0" bIns="0" rtlCol="0"/>
          <a:lstStyle/>
          <a:p>
            <a:endParaRPr/>
          </a:p>
        </p:txBody>
      </p:sp>
      <p:sp>
        <p:nvSpPr>
          <p:cNvPr id="27" name="object 27"/>
          <p:cNvSpPr/>
          <p:nvPr/>
        </p:nvSpPr>
        <p:spPr>
          <a:xfrm>
            <a:off x="9145651" y="4423409"/>
            <a:ext cx="237108" cy="237235"/>
          </a:xfrm>
          <a:prstGeom prst="rect">
            <a:avLst/>
          </a:prstGeom>
          <a:blipFill>
            <a:blip r:embed="rId4" cstate="print"/>
            <a:stretch>
              <a:fillRect/>
            </a:stretch>
          </a:blipFill>
        </p:spPr>
        <p:txBody>
          <a:bodyPr wrap="square" lIns="0" tIns="0" rIns="0" bIns="0" rtlCol="0"/>
          <a:lstStyle/>
          <a:p>
            <a:endParaRPr/>
          </a:p>
        </p:txBody>
      </p:sp>
      <p:sp>
        <p:nvSpPr>
          <p:cNvPr id="28" name="object 28"/>
          <p:cNvSpPr txBox="1"/>
          <p:nvPr/>
        </p:nvSpPr>
        <p:spPr>
          <a:xfrm>
            <a:off x="9202293" y="4417567"/>
            <a:ext cx="12509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FFFF"/>
                </a:solidFill>
                <a:latin typeface="Arial"/>
                <a:cs typeface="Arial"/>
              </a:rPr>
              <a:t>2</a:t>
            </a:r>
            <a:endParaRPr sz="1400">
              <a:latin typeface="Arial"/>
              <a:cs typeface="Arial"/>
            </a:endParaRPr>
          </a:p>
        </p:txBody>
      </p:sp>
      <p:sp>
        <p:nvSpPr>
          <p:cNvPr id="29" name="object 29"/>
          <p:cNvSpPr txBox="1"/>
          <p:nvPr/>
        </p:nvSpPr>
        <p:spPr>
          <a:xfrm>
            <a:off x="9439782" y="4459604"/>
            <a:ext cx="105410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041C2C"/>
                </a:solidFill>
                <a:latin typeface="Arial"/>
                <a:cs typeface="Arial"/>
              </a:rPr>
              <a:t>2030</a:t>
            </a:r>
            <a:r>
              <a:rPr sz="1400" b="1" spc="-75" dirty="0">
                <a:solidFill>
                  <a:srgbClr val="041C2C"/>
                </a:solidFill>
                <a:latin typeface="Arial"/>
                <a:cs typeface="Arial"/>
              </a:rPr>
              <a:t> </a:t>
            </a:r>
            <a:r>
              <a:rPr sz="1400" b="1" spc="-5" dirty="0">
                <a:solidFill>
                  <a:srgbClr val="041C2C"/>
                </a:solidFill>
                <a:latin typeface="Arial"/>
                <a:cs typeface="Arial"/>
              </a:rPr>
              <a:t>market</a:t>
            </a:r>
            <a:endParaRPr sz="1400">
              <a:latin typeface="Arial"/>
              <a:cs typeface="Arial"/>
            </a:endParaRPr>
          </a:p>
        </p:txBody>
      </p:sp>
      <p:sp>
        <p:nvSpPr>
          <p:cNvPr id="30" name="object 30"/>
          <p:cNvSpPr/>
          <p:nvPr/>
        </p:nvSpPr>
        <p:spPr>
          <a:xfrm>
            <a:off x="646264" y="2481491"/>
            <a:ext cx="7412355" cy="3606800"/>
          </a:xfrm>
          <a:custGeom>
            <a:avLst/>
            <a:gdLst/>
            <a:ahLst/>
            <a:cxnLst/>
            <a:rect l="l" t="t" r="r" b="b"/>
            <a:pathLst>
              <a:path w="7412355" h="3606800">
                <a:moveTo>
                  <a:pt x="0" y="3606291"/>
                </a:moveTo>
                <a:lnTo>
                  <a:pt x="7412101" y="3606291"/>
                </a:lnTo>
                <a:lnTo>
                  <a:pt x="7412101" y="0"/>
                </a:lnTo>
                <a:lnTo>
                  <a:pt x="0" y="0"/>
                </a:lnTo>
                <a:lnTo>
                  <a:pt x="0" y="3606291"/>
                </a:lnTo>
                <a:close/>
              </a:path>
            </a:pathLst>
          </a:custGeom>
          <a:solidFill>
            <a:srgbClr val="ACF6F0"/>
          </a:solidFill>
        </p:spPr>
        <p:txBody>
          <a:bodyPr wrap="square" lIns="0" tIns="0" rIns="0" bIns="0" rtlCol="0"/>
          <a:lstStyle/>
          <a:p>
            <a:endParaRPr/>
          </a:p>
        </p:txBody>
      </p:sp>
      <p:sp>
        <p:nvSpPr>
          <p:cNvPr id="31" name="object 31"/>
          <p:cNvSpPr/>
          <p:nvPr/>
        </p:nvSpPr>
        <p:spPr>
          <a:xfrm>
            <a:off x="646264" y="2481491"/>
            <a:ext cx="7412355" cy="3606800"/>
          </a:xfrm>
          <a:custGeom>
            <a:avLst/>
            <a:gdLst/>
            <a:ahLst/>
            <a:cxnLst/>
            <a:rect l="l" t="t" r="r" b="b"/>
            <a:pathLst>
              <a:path w="7412355" h="3606800">
                <a:moveTo>
                  <a:pt x="0" y="3606291"/>
                </a:moveTo>
                <a:lnTo>
                  <a:pt x="7412101" y="3606291"/>
                </a:lnTo>
                <a:lnTo>
                  <a:pt x="7412101" y="0"/>
                </a:lnTo>
                <a:lnTo>
                  <a:pt x="0" y="0"/>
                </a:lnTo>
                <a:lnTo>
                  <a:pt x="0" y="3606291"/>
                </a:lnTo>
                <a:close/>
              </a:path>
            </a:pathLst>
          </a:custGeom>
          <a:ln w="6350">
            <a:solidFill>
              <a:srgbClr val="000000"/>
            </a:solidFill>
          </a:ln>
        </p:spPr>
        <p:txBody>
          <a:bodyPr wrap="square" lIns="0" tIns="0" rIns="0" bIns="0" rtlCol="0"/>
          <a:lstStyle/>
          <a:p>
            <a:endParaRPr/>
          </a:p>
        </p:txBody>
      </p:sp>
      <p:sp>
        <p:nvSpPr>
          <p:cNvPr id="32" name="object 32"/>
          <p:cNvSpPr/>
          <p:nvPr/>
        </p:nvSpPr>
        <p:spPr>
          <a:xfrm>
            <a:off x="646264" y="3673386"/>
            <a:ext cx="4807585" cy="2414905"/>
          </a:xfrm>
          <a:custGeom>
            <a:avLst/>
            <a:gdLst/>
            <a:ahLst/>
            <a:cxnLst/>
            <a:rect l="l" t="t" r="r" b="b"/>
            <a:pathLst>
              <a:path w="4807585" h="2414904">
                <a:moveTo>
                  <a:pt x="0" y="2414397"/>
                </a:moveTo>
                <a:lnTo>
                  <a:pt x="4807331" y="2414397"/>
                </a:lnTo>
                <a:lnTo>
                  <a:pt x="4807331" y="0"/>
                </a:lnTo>
                <a:lnTo>
                  <a:pt x="0" y="0"/>
                </a:lnTo>
                <a:lnTo>
                  <a:pt x="0" y="2414397"/>
                </a:lnTo>
                <a:close/>
              </a:path>
            </a:pathLst>
          </a:custGeom>
          <a:solidFill>
            <a:srgbClr val="E2FBF9"/>
          </a:solidFill>
        </p:spPr>
        <p:txBody>
          <a:bodyPr wrap="square" lIns="0" tIns="0" rIns="0" bIns="0" rtlCol="0"/>
          <a:lstStyle/>
          <a:p>
            <a:endParaRPr/>
          </a:p>
        </p:txBody>
      </p:sp>
      <p:sp>
        <p:nvSpPr>
          <p:cNvPr id="33" name="object 33"/>
          <p:cNvSpPr/>
          <p:nvPr/>
        </p:nvSpPr>
        <p:spPr>
          <a:xfrm>
            <a:off x="646264" y="3673386"/>
            <a:ext cx="4807585" cy="2414905"/>
          </a:xfrm>
          <a:custGeom>
            <a:avLst/>
            <a:gdLst/>
            <a:ahLst/>
            <a:cxnLst/>
            <a:rect l="l" t="t" r="r" b="b"/>
            <a:pathLst>
              <a:path w="4807585" h="2414904">
                <a:moveTo>
                  <a:pt x="0" y="2414397"/>
                </a:moveTo>
                <a:lnTo>
                  <a:pt x="4807331" y="2414397"/>
                </a:lnTo>
                <a:lnTo>
                  <a:pt x="4807331" y="0"/>
                </a:lnTo>
                <a:lnTo>
                  <a:pt x="0" y="0"/>
                </a:lnTo>
                <a:lnTo>
                  <a:pt x="0" y="2414397"/>
                </a:lnTo>
                <a:close/>
              </a:path>
            </a:pathLst>
          </a:custGeom>
          <a:ln w="6350">
            <a:solidFill>
              <a:srgbClr val="000000"/>
            </a:solidFill>
          </a:ln>
        </p:spPr>
        <p:txBody>
          <a:bodyPr wrap="square" lIns="0" tIns="0" rIns="0" bIns="0" rtlCol="0"/>
          <a:lstStyle/>
          <a:p>
            <a:endParaRPr/>
          </a:p>
        </p:txBody>
      </p:sp>
      <p:sp>
        <p:nvSpPr>
          <p:cNvPr id="34" name="object 34"/>
          <p:cNvSpPr/>
          <p:nvPr/>
        </p:nvSpPr>
        <p:spPr>
          <a:xfrm>
            <a:off x="646264" y="4643030"/>
            <a:ext cx="2764155" cy="1445260"/>
          </a:xfrm>
          <a:custGeom>
            <a:avLst/>
            <a:gdLst/>
            <a:ahLst/>
            <a:cxnLst/>
            <a:rect l="l" t="t" r="r" b="b"/>
            <a:pathLst>
              <a:path w="2764154" h="1445260">
                <a:moveTo>
                  <a:pt x="0" y="1444752"/>
                </a:moveTo>
                <a:lnTo>
                  <a:pt x="2764028" y="1444752"/>
                </a:lnTo>
                <a:lnTo>
                  <a:pt x="2764028" y="0"/>
                </a:lnTo>
                <a:lnTo>
                  <a:pt x="0" y="0"/>
                </a:lnTo>
                <a:lnTo>
                  <a:pt x="0" y="1444752"/>
                </a:lnTo>
                <a:close/>
              </a:path>
            </a:pathLst>
          </a:custGeom>
          <a:solidFill>
            <a:srgbClr val="C9EEFF"/>
          </a:solidFill>
        </p:spPr>
        <p:txBody>
          <a:bodyPr wrap="square" lIns="0" tIns="0" rIns="0" bIns="0" rtlCol="0"/>
          <a:lstStyle/>
          <a:p>
            <a:endParaRPr/>
          </a:p>
        </p:txBody>
      </p:sp>
      <p:sp>
        <p:nvSpPr>
          <p:cNvPr id="35" name="object 35"/>
          <p:cNvSpPr/>
          <p:nvPr/>
        </p:nvSpPr>
        <p:spPr>
          <a:xfrm>
            <a:off x="646264" y="4643030"/>
            <a:ext cx="2764155" cy="1445260"/>
          </a:xfrm>
          <a:custGeom>
            <a:avLst/>
            <a:gdLst/>
            <a:ahLst/>
            <a:cxnLst/>
            <a:rect l="l" t="t" r="r" b="b"/>
            <a:pathLst>
              <a:path w="2764154" h="1445260">
                <a:moveTo>
                  <a:pt x="0" y="1444752"/>
                </a:moveTo>
                <a:lnTo>
                  <a:pt x="2764028" y="1444752"/>
                </a:lnTo>
                <a:lnTo>
                  <a:pt x="2764028" y="0"/>
                </a:lnTo>
                <a:lnTo>
                  <a:pt x="0" y="0"/>
                </a:lnTo>
                <a:lnTo>
                  <a:pt x="0" y="1444752"/>
                </a:lnTo>
                <a:close/>
              </a:path>
            </a:pathLst>
          </a:custGeom>
          <a:ln w="6350">
            <a:solidFill>
              <a:srgbClr val="000000"/>
            </a:solidFill>
          </a:ln>
        </p:spPr>
        <p:txBody>
          <a:bodyPr wrap="square" lIns="0" tIns="0" rIns="0" bIns="0" rtlCol="0"/>
          <a:lstStyle/>
          <a:p>
            <a:endParaRPr/>
          </a:p>
        </p:txBody>
      </p:sp>
      <p:sp>
        <p:nvSpPr>
          <p:cNvPr id="36" name="object 36"/>
          <p:cNvSpPr/>
          <p:nvPr/>
        </p:nvSpPr>
        <p:spPr>
          <a:xfrm>
            <a:off x="608164" y="2233929"/>
            <a:ext cx="7865745" cy="3892550"/>
          </a:xfrm>
          <a:custGeom>
            <a:avLst/>
            <a:gdLst/>
            <a:ahLst/>
            <a:cxnLst/>
            <a:rect l="l" t="t" r="r" b="b"/>
            <a:pathLst>
              <a:path w="7865745" h="3892550">
                <a:moveTo>
                  <a:pt x="7789075" y="3815753"/>
                </a:moveTo>
                <a:lnTo>
                  <a:pt x="7789075" y="3891953"/>
                </a:lnTo>
                <a:lnTo>
                  <a:pt x="7852575" y="3860203"/>
                </a:lnTo>
                <a:lnTo>
                  <a:pt x="7801775" y="3860203"/>
                </a:lnTo>
                <a:lnTo>
                  <a:pt x="7801775" y="3847503"/>
                </a:lnTo>
                <a:lnTo>
                  <a:pt x="7852575" y="3847503"/>
                </a:lnTo>
                <a:lnTo>
                  <a:pt x="7789075" y="3815753"/>
                </a:lnTo>
                <a:close/>
              </a:path>
              <a:path w="7865745" h="3892550">
                <a:moveTo>
                  <a:pt x="44450" y="63500"/>
                </a:moveTo>
                <a:lnTo>
                  <a:pt x="31750" y="63500"/>
                </a:lnTo>
                <a:lnTo>
                  <a:pt x="31750" y="3860203"/>
                </a:lnTo>
                <a:lnTo>
                  <a:pt x="7789075" y="3860203"/>
                </a:lnTo>
                <a:lnTo>
                  <a:pt x="7789075" y="3853853"/>
                </a:lnTo>
                <a:lnTo>
                  <a:pt x="44450" y="3853853"/>
                </a:lnTo>
                <a:lnTo>
                  <a:pt x="38100" y="3847503"/>
                </a:lnTo>
                <a:lnTo>
                  <a:pt x="44450" y="3847503"/>
                </a:lnTo>
                <a:lnTo>
                  <a:pt x="44450" y="63500"/>
                </a:lnTo>
                <a:close/>
              </a:path>
              <a:path w="7865745" h="3892550">
                <a:moveTo>
                  <a:pt x="7852575" y="3847503"/>
                </a:moveTo>
                <a:lnTo>
                  <a:pt x="7801775" y="3847503"/>
                </a:lnTo>
                <a:lnTo>
                  <a:pt x="7801775" y="3860203"/>
                </a:lnTo>
                <a:lnTo>
                  <a:pt x="7852575" y="3860203"/>
                </a:lnTo>
                <a:lnTo>
                  <a:pt x="7865275" y="3853853"/>
                </a:lnTo>
                <a:lnTo>
                  <a:pt x="7852575" y="3847503"/>
                </a:lnTo>
                <a:close/>
              </a:path>
              <a:path w="7865745" h="3892550">
                <a:moveTo>
                  <a:pt x="44450" y="3847503"/>
                </a:moveTo>
                <a:lnTo>
                  <a:pt x="38100" y="3847503"/>
                </a:lnTo>
                <a:lnTo>
                  <a:pt x="44450" y="3853853"/>
                </a:lnTo>
                <a:lnTo>
                  <a:pt x="44450" y="3847503"/>
                </a:lnTo>
                <a:close/>
              </a:path>
              <a:path w="7865745" h="3892550">
                <a:moveTo>
                  <a:pt x="7789075" y="3847503"/>
                </a:moveTo>
                <a:lnTo>
                  <a:pt x="44450" y="3847503"/>
                </a:lnTo>
                <a:lnTo>
                  <a:pt x="44450" y="3853853"/>
                </a:lnTo>
                <a:lnTo>
                  <a:pt x="7789075" y="3853853"/>
                </a:lnTo>
                <a:lnTo>
                  <a:pt x="7789075" y="3847503"/>
                </a:lnTo>
                <a:close/>
              </a:path>
              <a:path w="7865745" h="3892550">
                <a:moveTo>
                  <a:pt x="38100" y="0"/>
                </a:moveTo>
                <a:lnTo>
                  <a:pt x="0" y="76200"/>
                </a:lnTo>
                <a:lnTo>
                  <a:pt x="31750" y="76200"/>
                </a:lnTo>
                <a:lnTo>
                  <a:pt x="31750" y="63500"/>
                </a:lnTo>
                <a:lnTo>
                  <a:pt x="69850" y="63500"/>
                </a:lnTo>
                <a:lnTo>
                  <a:pt x="38100" y="0"/>
                </a:lnTo>
                <a:close/>
              </a:path>
              <a:path w="7865745" h="3892550">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37" name="object 37"/>
          <p:cNvSpPr txBox="1"/>
          <p:nvPr/>
        </p:nvSpPr>
        <p:spPr>
          <a:xfrm>
            <a:off x="710183" y="3733927"/>
            <a:ext cx="898525" cy="452755"/>
          </a:xfrm>
          <a:prstGeom prst="rect">
            <a:avLst/>
          </a:prstGeom>
        </p:spPr>
        <p:txBody>
          <a:bodyPr vert="horz" wrap="square" lIns="0" tIns="12700" rIns="0" bIns="0" rtlCol="0">
            <a:spAutoFit/>
          </a:bodyPr>
          <a:lstStyle/>
          <a:p>
            <a:pPr marR="5080">
              <a:lnSpc>
                <a:spcPct val="100000"/>
              </a:lnSpc>
              <a:spcBef>
                <a:spcPts val="100"/>
              </a:spcBef>
            </a:pPr>
            <a:r>
              <a:rPr sz="1400" b="1" spc="-25" dirty="0">
                <a:latin typeface="Arial"/>
                <a:cs typeface="Arial"/>
              </a:rPr>
              <a:t>Total</a:t>
            </a:r>
            <a:r>
              <a:rPr sz="1400" b="1" spc="-75" dirty="0">
                <a:latin typeface="Arial"/>
                <a:cs typeface="Arial"/>
              </a:rPr>
              <a:t> </a:t>
            </a:r>
            <a:r>
              <a:rPr sz="1400" b="1" spc="-5" dirty="0">
                <a:latin typeface="Arial"/>
                <a:cs typeface="Arial"/>
              </a:rPr>
              <a:t>retail  market</a:t>
            </a:r>
            <a:endParaRPr sz="1400">
              <a:latin typeface="Arial"/>
              <a:cs typeface="Arial"/>
            </a:endParaRPr>
          </a:p>
        </p:txBody>
      </p:sp>
      <p:sp>
        <p:nvSpPr>
          <p:cNvPr id="38" name="object 38"/>
          <p:cNvSpPr txBox="1"/>
          <p:nvPr/>
        </p:nvSpPr>
        <p:spPr>
          <a:xfrm>
            <a:off x="710183" y="2528062"/>
            <a:ext cx="1056640" cy="239395"/>
          </a:xfrm>
          <a:prstGeom prst="rect">
            <a:avLst/>
          </a:prstGeom>
        </p:spPr>
        <p:txBody>
          <a:bodyPr vert="horz" wrap="square" lIns="0" tIns="13335" rIns="0" bIns="0" rtlCol="0">
            <a:spAutoFit/>
          </a:bodyPr>
          <a:lstStyle/>
          <a:p>
            <a:pPr>
              <a:lnSpc>
                <a:spcPct val="100000"/>
              </a:lnSpc>
              <a:spcBef>
                <a:spcPts val="105"/>
              </a:spcBef>
            </a:pPr>
            <a:r>
              <a:rPr sz="1400" b="1" spc="-25" dirty="0">
                <a:latin typeface="Arial"/>
                <a:cs typeface="Arial"/>
              </a:rPr>
              <a:t>Total</a:t>
            </a:r>
            <a:r>
              <a:rPr sz="1400" b="1" spc="-70" dirty="0">
                <a:latin typeface="Arial"/>
                <a:cs typeface="Arial"/>
              </a:rPr>
              <a:t> </a:t>
            </a:r>
            <a:r>
              <a:rPr sz="1400" b="1" spc="-5" dirty="0">
                <a:latin typeface="Arial"/>
                <a:cs typeface="Arial"/>
              </a:rPr>
              <a:t>market</a:t>
            </a:r>
            <a:endParaRPr sz="1400">
              <a:latin typeface="Arial"/>
              <a:cs typeface="Arial"/>
            </a:endParaRPr>
          </a:p>
        </p:txBody>
      </p:sp>
      <p:sp>
        <p:nvSpPr>
          <p:cNvPr id="39" name="object 39"/>
          <p:cNvSpPr txBox="1"/>
          <p:nvPr/>
        </p:nvSpPr>
        <p:spPr>
          <a:xfrm>
            <a:off x="3460496" y="5492051"/>
            <a:ext cx="1942464" cy="521970"/>
          </a:xfrm>
          <a:prstGeom prst="rect">
            <a:avLst/>
          </a:prstGeom>
          <a:solidFill>
            <a:srgbClr val="E2FBF9"/>
          </a:solidFill>
          <a:ln w="28575">
            <a:solidFill>
              <a:srgbClr val="051F79"/>
            </a:solidFill>
          </a:ln>
        </p:spPr>
        <p:txBody>
          <a:bodyPr vert="horz" wrap="square" lIns="0" tIns="42545" rIns="0" bIns="0" rtlCol="0">
            <a:spAutoFit/>
          </a:bodyPr>
          <a:lstStyle/>
          <a:p>
            <a:pPr marL="12700" indent="115570">
              <a:lnSpc>
                <a:spcPct val="100000"/>
              </a:lnSpc>
              <a:spcBef>
                <a:spcPts val="335"/>
              </a:spcBef>
            </a:pPr>
            <a:r>
              <a:rPr sz="1400" b="1" spc="-35" dirty="0">
                <a:latin typeface="Arial"/>
                <a:cs typeface="Arial"/>
              </a:rPr>
              <a:t>Overall </a:t>
            </a:r>
            <a:r>
              <a:rPr sz="1400" b="1" spc="-30" dirty="0">
                <a:latin typeface="Arial"/>
                <a:cs typeface="Arial"/>
              </a:rPr>
              <a:t>retail </a:t>
            </a:r>
            <a:r>
              <a:rPr sz="1400" b="1" dirty="0">
                <a:latin typeface="Arial"/>
                <a:cs typeface="Arial"/>
              </a:rPr>
              <a:t>&amp; </a:t>
            </a:r>
            <a:r>
              <a:rPr sz="1400" b="1" spc="-25" dirty="0">
                <a:latin typeface="Arial"/>
                <a:cs typeface="Arial"/>
              </a:rPr>
              <a:t>SMEs  </a:t>
            </a:r>
            <a:r>
              <a:rPr sz="1400" b="1" spc="-35" dirty="0">
                <a:latin typeface="Arial"/>
                <a:cs typeface="Arial"/>
              </a:rPr>
              <a:t>(incl. </a:t>
            </a:r>
            <a:r>
              <a:rPr sz="1400" b="1" spc="-30" dirty="0">
                <a:latin typeface="Arial"/>
                <a:cs typeface="Arial"/>
              </a:rPr>
              <a:t>cash</a:t>
            </a:r>
            <a:r>
              <a:rPr sz="1400" b="1" spc="-310" dirty="0">
                <a:latin typeface="Arial"/>
                <a:cs typeface="Arial"/>
              </a:rPr>
              <a:t> </a:t>
            </a:r>
            <a:r>
              <a:rPr sz="1400" b="1" spc="-35" dirty="0">
                <a:latin typeface="Arial"/>
                <a:cs typeface="Arial"/>
              </a:rPr>
              <a:t>loan, </a:t>
            </a:r>
            <a:r>
              <a:rPr sz="1400" b="1" spc="-40" dirty="0">
                <a:latin typeface="Arial"/>
                <a:cs typeface="Arial"/>
              </a:rPr>
              <a:t>leasing)</a:t>
            </a:r>
            <a:endParaRPr sz="1400">
              <a:latin typeface="Arial"/>
              <a:cs typeface="Arial"/>
            </a:endParaRPr>
          </a:p>
        </p:txBody>
      </p:sp>
      <p:sp>
        <p:nvSpPr>
          <p:cNvPr id="40" name="object 40"/>
          <p:cNvSpPr txBox="1"/>
          <p:nvPr/>
        </p:nvSpPr>
        <p:spPr>
          <a:xfrm>
            <a:off x="5698363" y="5492051"/>
            <a:ext cx="2115185" cy="521970"/>
          </a:xfrm>
          <a:prstGeom prst="rect">
            <a:avLst/>
          </a:prstGeom>
          <a:solidFill>
            <a:srgbClr val="ACF6F0"/>
          </a:solidFill>
          <a:ln w="28575">
            <a:solidFill>
              <a:srgbClr val="051F79"/>
            </a:solidFill>
          </a:ln>
        </p:spPr>
        <p:txBody>
          <a:bodyPr vert="horz" wrap="square" lIns="0" tIns="42545" rIns="0" bIns="0" rtlCol="0">
            <a:spAutoFit/>
          </a:bodyPr>
          <a:lstStyle/>
          <a:p>
            <a:pPr marL="386080" marR="201930" indent="-177165">
              <a:lnSpc>
                <a:spcPct val="100000"/>
              </a:lnSpc>
              <a:spcBef>
                <a:spcPts val="335"/>
              </a:spcBef>
            </a:pPr>
            <a:r>
              <a:rPr sz="1400" b="1" spc="-5" dirty="0">
                <a:latin typeface="Arial"/>
                <a:cs typeface="Arial"/>
              </a:rPr>
              <a:t>Overall auto</a:t>
            </a:r>
            <a:r>
              <a:rPr sz="1400" b="1" spc="-95" dirty="0">
                <a:latin typeface="Arial"/>
                <a:cs typeface="Arial"/>
              </a:rPr>
              <a:t> </a:t>
            </a:r>
            <a:r>
              <a:rPr sz="1400" b="1" spc="-5" dirty="0">
                <a:latin typeface="Arial"/>
                <a:cs typeface="Arial"/>
              </a:rPr>
              <a:t>finance  (incl.</a:t>
            </a:r>
            <a:r>
              <a:rPr sz="1400" b="1" spc="-55" dirty="0">
                <a:latin typeface="Arial"/>
                <a:cs typeface="Arial"/>
              </a:rPr>
              <a:t> </a:t>
            </a:r>
            <a:r>
              <a:rPr sz="1400" b="1" spc="-5" dirty="0">
                <a:latin typeface="Arial"/>
                <a:cs typeface="Arial"/>
              </a:rPr>
              <a:t>corporate)</a:t>
            </a:r>
            <a:endParaRPr sz="1400">
              <a:latin typeface="Arial"/>
              <a:cs typeface="Arial"/>
            </a:endParaRPr>
          </a:p>
        </p:txBody>
      </p:sp>
      <p:sp>
        <p:nvSpPr>
          <p:cNvPr id="41" name="object 41"/>
          <p:cNvSpPr txBox="1"/>
          <p:nvPr/>
        </p:nvSpPr>
        <p:spPr>
          <a:xfrm>
            <a:off x="710183" y="4690617"/>
            <a:ext cx="842644" cy="452755"/>
          </a:xfrm>
          <a:prstGeom prst="rect">
            <a:avLst/>
          </a:prstGeom>
        </p:spPr>
        <p:txBody>
          <a:bodyPr vert="horz" wrap="square" lIns="0" tIns="12700" rIns="0" bIns="0" rtlCol="0">
            <a:spAutoFit/>
          </a:bodyPr>
          <a:lstStyle/>
          <a:p>
            <a:pPr marR="5080">
              <a:lnSpc>
                <a:spcPct val="100000"/>
              </a:lnSpc>
              <a:spcBef>
                <a:spcPts val="100"/>
              </a:spcBef>
            </a:pPr>
            <a:r>
              <a:rPr sz="1400" b="1" spc="-5" dirty="0">
                <a:latin typeface="Arial"/>
                <a:cs typeface="Arial"/>
              </a:rPr>
              <a:t>Core</a:t>
            </a:r>
            <a:r>
              <a:rPr sz="1400" b="1" spc="-85" dirty="0">
                <a:latin typeface="Arial"/>
                <a:cs typeface="Arial"/>
              </a:rPr>
              <a:t> </a:t>
            </a:r>
            <a:r>
              <a:rPr sz="1400" b="1" spc="-5" dirty="0">
                <a:latin typeface="Arial"/>
                <a:cs typeface="Arial"/>
              </a:rPr>
              <a:t>auto  market</a:t>
            </a:r>
            <a:endParaRPr sz="1400">
              <a:latin typeface="Arial"/>
              <a:cs typeface="Arial"/>
            </a:endParaRPr>
          </a:p>
        </p:txBody>
      </p:sp>
      <p:sp>
        <p:nvSpPr>
          <p:cNvPr id="42" name="object 42"/>
          <p:cNvSpPr/>
          <p:nvPr/>
        </p:nvSpPr>
        <p:spPr>
          <a:xfrm>
            <a:off x="542505" y="3035173"/>
            <a:ext cx="258292" cy="203835"/>
          </a:xfrm>
          <a:prstGeom prst="rect">
            <a:avLst/>
          </a:prstGeom>
          <a:blipFill>
            <a:blip r:embed="rId5" cstate="print"/>
            <a:stretch>
              <a:fillRect/>
            </a:stretch>
          </a:blipFill>
        </p:spPr>
        <p:txBody>
          <a:bodyPr wrap="square" lIns="0" tIns="0" rIns="0" bIns="0" rtlCol="0"/>
          <a:lstStyle/>
          <a:p>
            <a:endParaRPr/>
          </a:p>
        </p:txBody>
      </p:sp>
      <p:sp>
        <p:nvSpPr>
          <p:cNvPr id="43" name="object 43"/>
          <p:cNvSpPr/>
          <p:nvPr/>
        </p:nvSpPr>
        <p:spPr>
          <a:xfrm>
            <a:off x="6569456" y="2866008"/>
            <a:ext cx="648970" cy="235585"/>
          </a:xfrm>
          <a:custGeom>
            <a:avLst/>
            <a:gdLst/>
            <a:ahLst/>
            <a:cxnLst/>
            <a:rect l="l" t="t" r="r" b="b"/>
            <a:pathLst>
              <a:path w="648970" h="235585">
                <a:moveTo>
                  <a:pt x="324230" y="0"/>
                </a:moveTo>
                <a:lnTo>
                  <a:pt x="258886" y="2391"/>
                </a:lnTo>
                <a:lnTo>
                  <a:pt x="198024" y="9251"/>
                </a:lnTo>
                <a:lnTo>
                  <a:pt x="142949" y="20105"/>
                </a:lnTo>
                <a:lnTo>
                  <a:pt x="94964" y="34480"/>
                </a:lnTo>
                <a:lnTo>
                  <a:pt x="55372" y="51903"/>
                </a:lnTo>
                <a:lnTo>
                  <a:pt x="6587" y="94001"/>
                </a:lnTo>
                <a:lnTo>
                  <a:pt x="0" y="117728"/>
                </a:lnTo>
                <a:lnTo>
                  <a:pt x="6587" y="141498"/>
                </a:lnTo>
                <a:lnTo>
                  <a:pt x="55372" y="183650"/>
                </a:lnTo>
                <a:lnTo>
                  <a:pt x="94964" y="201088"/>
                </a:lnTo>
                <a:lnTo>
                  <a:pt x="142949" y="215473"/>
                </a:lnTo>
                <a:lnTo>
                  <a:pt x="198024" y="226331"/>
                </a:lnTo>
                <a:lnTo>
                  <a:pt x="258886" y="233193"/>
                </a:lnTo>
                <a:lnTo>
                  <a:pt x="324230" y="235585"/>
                </a:lnTo>
                <a:lnTo>
                  <a:pt x="389617" y="233193"/>
                </a:lnTo>
                <a:lnTo>
                  <a:pt x="450510" y="226331"/>
                </a:lnTo>
                <a:lnTo>
                  <a:pt x="505608" y="215473"/>
                </a:lnTo>
                <a:lnTo>
                  <a:pt x="553608" y="201088"/>
                </a:lnTo>
                <a:lnTo>
                  <a:pt x="593209" y="183650"/>
                </a:lnTo>
                <a:lnTo>
                  <a:pt x="642001" y="141498"/>
                </a:lnTo>
                <a:lnTo>
                  <a:pt x="648589" y="117728"/>
                </a:lnTo>
                <a:lnTo>
                  <a:pt x="642001" y="94001"/>
                </a:lnTo>
                <a:lnTo>
                  <a:pt x="593209" y="51903"/>
                </a:lnTo>
                <a:lnTo>
                  <a:pt x="553608" y="34480"/>
                </a:lnTo>
                <a:lnTo>
                  <a:pt x="505608" y="20105"/>
                </a:lnTo>
                <a:lnTo>
                  <a:pt x="450510" y="9251"/>
                </a:lnTo>
                <a:lnTo>
                  <a:pt x="389617" y="2391"/>
                </a:lnTo>
                <a:lnTo>
                  <a:pt x="324230" y="0"/>
                </a:lnTo>
                <a:close/>
              </a:path>
            </a:pathLst>
          </a:custGeom>
          <a:solidFill>
            <a:srgbClr val="051F79"/>
          </a:solidFill>
        </p:spPr>
        <p:txBody>
          <a:bodyPr wrap="square" lIns="0" tIns="0" rIns="0" bIns="0" rtlCol="0"/>
          <a:lstStyle/>
          <a:p>
            <a:endParaRPr/>
          </a:p>
        </p:txBody>
      </p:sp>
      <p:sp>
        <p:nvSpPr>
          <p:cNvPr id="44" name="object 44"/>
          <p:cNvSpPr/>
          <p:nvPr/>
        </p:nvSpPr>
        <p:spPr>
          <a:xfrm>
            <a:off x="6569456" y="2866008"/>
            <a:ext cx="648970" cy="235585"/>
          </a:xfrm>
          <a:custGeom>
            <a:avLst/>
            <a:gdLst/>
            <a:ahLst/>
            <a:cxnLst/>
            <a:rect l="l" t="t" r="r" b="b"/>
            <a:pathLst>
              <a:path w="648970" h="235585">
                <a:moveTo>
                  <a:pt x="0" y="117728"/>
                </a:moveTo>
                <a:lnTo>
                  <a:pt x="25479" y="71901"/>
                </a:lnTo>
                <a:lnTo>
                  <a:pt x="94964" y="34480"/>
                </a:lnTo>
                <a:lnTo>
                  <a:pt x="142949" y="20105"/>
                </a:lnTo>
                <a:lnTo>
                  <a:pt x="198024" y="9251"/>
                </a:lnTo>
                <a:lnTo>
                  <a:pt x="258886" y="2391"/>
                </a:lnTo>
                <a:lnTo>
                  <a:pt x="324230" y="0"/>
                </a:lnTo>
                <a:lnTo>
                  <a:pt x="389617" y="2391"/>
                </a:lnTo>
                <a:lnTo>
                  <a:pt x="450510" y="9251"/>
                </a:lnTo>
                <a:lnTo>
                  <a:pt x="505608" y="20105"/>
                </a:lnTo>
                <a:lnTo>
                  <a:pt x="553608" y="34480"/>
                </a:lnTo>
                <a:lnTo>
                  <a:pt x="593209" y="51903"/>
                </a:lnTo>
                <a:lnTo>
                  <a:pt x="642001" y="94001"/>
                </a:lnTo>
                <a:lnTo>
                  <a:pt x="648589" y="117728"/>
                </a:lnTo>
                <a:lnTo>
                  <a:pt x="642001" y="141498"/>
                </a:lnTo>
                <a:lnTo>
                  <a:pt x="593209" y="183650"/>
                </a:lnTo>
                <a:lnTo>
                  <a:pt x="553608" y="201088"/>
                </a:lnTo>
                <a:lnTo>
                  <a:pt x="505608" y="215473"/>
                </a:lnTo>
                <a:lnTo>
                  <a:pt x="450510" y="226331"/>
                </a:lnTo>
                <a:lnTo>
                  <a:pt x="389617" y="233193"/>
                </a:lnTo>
                <a:lnTo>
                  <a:pt x="324230" y="235585"/>
                </a:lnTo>
                <a:lnTo>
                  <a:pt x="258886" y="233193"/>
                </a:lnTo>
                <a:lnTo>
                  <a:pt x="198024" y="226331"/>
                </a:lnTo>
                <a:lnTo>
                  <a:pt x="142949" y="215473"/>
                </a:lnTo>
                <a:lnTo>
                  <a:pt x="94964" y="201088"/>
                </a:lnTo>
                <a:lnTo>
                  <a:pt x="55372" y="183650"/>
                </a:lnTo>
                <a:lnTo>
                  <a:pt x="6587" y="141498"/>
                </a:lnTo>
                <a:lnTo>
                  <a:pt x="0" y="117728"/>
                </a:lnTo>
                <a:close/>
              </a:path>
            </a:pathLst>
          </a:custGeom>
          <a:ln w="6350">
            <a:solidFill>
              <a:srgbClr val="000000"/>
            </a:solidFill>
          </a:ln>
        </p:spPr>
        <p:txBody>
          <a:bodyPr wrap="square" lIns="0" tIns="0" rIns="0" bIns="0" rtlCol="0"/>
          <a:lstStyle/>
          <a:p>
            <a:endParaRPr/>
          </a:p>
        </p:txBody>
      </p:sp>
      <p:sp>
        <p:nvSpPr>
          <p:cNvPr id="45" name="object 45"/>
          <p:cNvSpPr txBox="1"/>
          <p:nvPr/>
        </p:nvSpPr>
        <p:spPr>
          <a:xfrm>
            <a:off x="6679692" y="2875534"/>
            <a:ext cx="441959" cy="208279"/>
          </a:xfrm>
          <a:prstGeom prst="rect">
            <a:avLst/>
          </a:prstGeom>
        </p:spPr>
        <p:txBody>
          <a:bodyPr vert="horz" wrap="square" lIns="0" tIns="12700" rIns="0" bIns="0" rtlCol="0">
            <a:spAutoFit/>
          </a:bodyPr>
          <a:lstStyle/>
          <a:p>
            <a:pPr>
              <a:lnSpc>
                <a:spcPct val="100000"/>
              </a:lnSpc>
              <a:spcBef>
                <a:spcPts val="100"/>
              </a:spcBef>
            </a:pPr>
            <a:r>
              <a:rPr sz="1200" b="1" spc="-5" dirty="0">
                <a:solidFill>
                  <a:srgbClr val="FFFFFF"/>
                </a:solidFill>
                <a:latin typeface="Arial"/>
                <a:cs typeface="Arial"/>
              </a:rPr>
              <a:t>~</a:t>
            </a:r>
            <a:r>
              <a:rPr sz="1200" b="1" dirty="0">
                <a:solidFill>
                  <a:srgbClr val="FFFFFF"/>
                </a:solidFill>
                <a:latin typeface="Arial"/>
                <a:cs typeface="Arial"/>
              </a:rPr>
              <a:t>287k</a:t>
            </a:r>
            <a:endParaRPr sz="1200">
              <a:latin typeface="Arial"/>
              <a:cs typeface="Arial"/>
            </a:endParaRPr>
          </a:p>
        </p:txBody>
      </p:sp>
      <p:sp>
        <p:nvSpPr>
          <p:cNvPr id="46" name="object 46"/>
          <p:cNvSpPr/>
          <p:nvPr/>
        </p:nvSpPr>
        <p:spPr>
          <a:xfrm>
            <a:off x="7349743" y="2866008"/>
            <a:ext cx="648970" cy="235585"/>
          </a:xfrm>
          <a:custGeom>
            <a:avLst/>
            <a:gdLst/>
            <a:ahLst/>
            <a:cxnLst/>
            <a:rect l="l" t="t" r="r" b="b"/>
            <a:pathLst>
              <a:path w="648970" h="235585">
                <a:moveTo>
                  <a:pt x="324357" y="0"/>
                </a:moveTo>
                <a:lnTo>
                  <a:pt x="259008" y="2391"/>
                </a:lnTo>
                <a:lnTo>
                  <a:pt x="198131" y="9251"/>
                </a:lnTo>
                <a:lnTo>
                  <a:pt x="143036" y="20105"/>
                </a:lnTo>
                <a:lnTo>
                  <a:pt x="95027" y="34480"/>
                </a:lnTo>
                <a:lnTo>
                  <a:pt x="55413" y="51903"/>
                </a:lnTo>
                <a:lnTo>
                  <a:pt x="6592" y="94001"/>
                </a:lnTo>
                <a:lnTo>
                  <a:pt x="0" y="117728"/>
                </a:lnTo>
                <a:lnTo>
                  <a:pt x="6592" y="141498"/>
                </a:lnTo>
                <a:lnTo>
                  <a:pt x="55413" y="183650"/>
                </a:lnTo>
                <a:lnTo>
                  <a:pt x="95027" y="201088"/>
                </a:lnTo>
                <a:lnTo>
                  <a:pt x="143036" y="215473"/>
                </a:lnTo>
                <a:lnTo>
                  <a:pt x="198131" y="226331"/>
                </a:lnTo>
                <a:lnTo>
                  <a:pt x="259008" y="233193"/>
                </a:lnTo>
                <a:lnTo>
                  <a:pt x="324357" y="235585"/>
                </a:lnTo>
                <a:lnTo>
                  <a:pt x="389702" y="233193"/>
                </a:lnTo>
                <a:lnTo>
                  <a:pt x="450564" y="226331"/>
                </a:lnTo>
                <a:lnTo>
                  <a:pt x="505639" y="215473"/>
                </a:lnTo>
                <a:lnTo>
                  <a:pt x="553624" y="201088"/>
                </a:lnTo>
                <a:lnTo>
                  <a:pt x="593216" y="183650"/>
                </a:lnTo>
                <a:lnTo>
                  <a:pt x="642001" y="141498"/>
                </a:lnTo>
                <a:lnTo>
                  <a:pt x="648588" y="117728"/>
                </a:lnTo>
                <a:lnTo>
                  <a:pt x="642001" y="94001"/>
                </a:lnTo>
                <a:lnTo>
                  <a:pt x="593216" y="51903"/>
                </a:lnTo>
                <a:lnTo>
                  <a:pt x="553624" y="34480"/>
                </a:lnTo>
                <a:lnTo>
                  <a:pt x="505639" y="20105"/>
                </a:lnTo>
                <a:lnTo>
                  <a:pt x="450564" y="9251"/>
                </a:lnTo>
                <a:lnTo>
                  <a:pt x="389702" y="2391"/>
                </a:lnTo>
                <a:lnTo>
                  <a:pt x="324357" y="0"/>
                </a:lnTo>
                <a:close/>
              </a:path>
            </a:pathLst>
          </a:custGeom>
          <a:solidFill>
            <a:srgbClr val="00A9F4"/>
          </a:solidFill>
        </p:spPr>
        <p:txBody>
          <a:bodyPr wrap="square" lIns="0" tIns="0" rIns="0" bIns="0" rtlCol="0"/>
          <a:lstStyle/>
          <a:p>
            <a:endParaRPr/>
          </a:p>
        </p:txBody>
      </p:sp>
      <p:sp>
        <p:nvSpPr>
          <p:cNvPr id="47" name="object 47"/>
          <p:cNvSpPr/>
          <p:nvPr/>
        </p:nvSpPr>
        <p:spPr>
          <a:xfrm>
            <a:off x="7349743" y="2866008"/>
            <a:ext cx="648970" cy="235585"/>
          </a:xfrm>
          <a:custGeom>
            <a:avLst/>
            <a:gdLst/>
            <a:ahLst/>
            <a:cxnLst/>
            <a:rect l="l" t="t" r="r" b="b"/>
            <a:pathLst>
              <a:path w="648970" h="235585">
                <a:moveTo>
                  <a:pt x="0" y="117728"/>
                </a:moveTo>
                <a:lnTo>
                  <a:pt x="25499" y="71901"/>
                </a:lnTo>
                <a:lnTo>
                  <a:pt x="95027" y="34480"/>
                </a:lnTo>
                <a:lnTo>
                  <a:pt x="143036" y="20105"/>
                </a:lnTo>
                <a:lnTo>
                  <a:pt x="198131" y="9251"/>
                </a:lnTo>
                <a:lnTo>
                  <a:pt x="259008" y="2391"/>
                </a:lnTo>
                <a:lnTo>
                  <a:pt x="324357" y="0"/>
                </a:lnTo>
                <a:lnTo>
                  <a:pt x="389702" y="2391"/>
                </a:lnTo>
                <a:lnTo>
                  <a:pt x="450564" y="9251"/>
                </a:lnTo>
                <a:lnTo>
                  <a:pt x="505639" y="20105"/>
                </a:lnTo>
                <a:lnTo>
                  <a:pt x="553624" y="34480"/>
                </a:lnTo>
                <a:lnTo>
                  <a:pt x="593216" y="51903"/>
                </a:lnTo>
                <a:lnTo>
                  <a:pt x="642001" y="94001"/>
                </a:lnTo>
                <a:lnTo>
                  <a:pt x="648588" y="117728"/>
                </a:lnTo>
                <a:lnTo>
                  <a:pt x="642001" y="141498"/>
                </a:lnTo>
                <a:lnTo>
                  <a:pt x="593216" y="183650"/>
                </a:lnTo>
                <a:lnTo>
                  <a:pt x="553624" y="201088"/>
                </a:lnTo>
                <a:lnTo>
                  <a:pt x="505639" y="215473"/>
                </a:lnTo>
                <a:lnTo>
                  <a:pt x="450564" y="226331"/>
                </a:lnTo>
                <a:lnTo>
                  <a:pt x="389702" y="233193"/>
                </a:lnTo>
                <a:lnTo>
                  <a:pt x="324357" y="235585"/>
                </a:lnTo>
                <a:lnTo>
                  <a:pt x="259008" y="233193"/>
                </a:lnTo>
                <a:lnTo>
                  <a:pt x="198131" y="226331"/>
                </a:lnTo>
                <a:lnTo>
                  <a:pt x="143036" y="215473"/>
                </a:lnTo>
                <a:lnTo>
                  <a:pt x="95027" y="201088"/>
                </a:lnTo>
                <a:lnTo>
                  <a:pt x="55413" y="183650"/>
                </a:lnTo>
                <a:lnTo>
                  <a:pt x="6592" y="141498"/>
                </a:lnTo>
                <a:lnTo>
                  <a:pt x="0" y="117728"/>
                </a:lnTo>
                <a:close/>
              </a:path>
            </a:pathLst>
          </a:custGeom>
          <a:ln w="6350">
            <a:solidFill>
              <a:srgbClr val="000000"/>
            </a:solidFill>
          </a:ln>
        </p:spPr>
        <p:txBody>
          <a:bodyPr wrap="square" lIns="0" tIns="0" rIns="0" bIns="0" rtlCol="0"/>
          <a:lstStyle/>
          <a:p>
            <a:endParaRPr/>
          </a:p>
        </p:txBody>
      </p:sp>
      <p:sp>
        <p:nvSpPr>
          <p:cNvPr id="48" name="object 48"/>
          <p:cNvSpPr txBox="1"/>
          <p:nvPr/>
        </p:nvSpPr>
        <p:spPr>
          <a:xfrm>
            <a:off x="7459980" y="2875534"/>
            <a:ext cx="441959" cy="208279"/>
          </a:xfrm>
          <a:prstGeom prst="rect">
            <a:avLst/>
          </a:prstGeom>
        </p:spPr>
        <p:txBody>
          <a:bodyPr vert="horz" wrap="square" lIns="0" tIns="12700" rIns="0" bIns="0" rtlCol="0">
            <a:spAutoFit/>
          </a:bodyPr>
          <a:lstStyle/>
          <a:p>
            <a:pPr>
              <a:lnSpc>
                <a:spcPct val="100000"/>
              </a:lnSpc>
              <a:spcBef>
                <a:spcPts val="100"/>
              </a:spcBef>
            </a:pPr>
            <a:r>
              <a:rPr sz="1200" b="1" spc="-5" dirty="0">
                <a:solidFill>
                  <a:srgbClr val="FFFFFF"/>
                </a:solidFill>
                <a:latin typeface="Arial"/>
                <a:cs typeface="Arial"/>
              </a:rPr>
              <a:t>~</a:t>
            </a:r>
            <a:r>
              <a:rPr sz="1200" b="1" dirty="0">
                <a:solidFill>
                  <a:srgbClr val="FFFFFF"/>
                </a:solidFill>
                <a:latin typeface="Arial"/>
                <a:cs typeface="Arial"/>
              </a:rPr>
              <a:t>362k</a:t>
            </a:r>
            <a:endParaRPr sz="1200">
              <a:latin typeface="Arial"/>
              <a:cs typeface="Arial"/>
            </a:endParaRPr>
          </a:p>
        </p:txBody>
      </p:sp>
      <p:sp>
        <p:nvSpPr>
          <p:cNvPr id="49" name="object 49"/>
          <p:cNvSpPr txBox="1"/>
          <p:nvPr/>
        </p:nvSpPr>
        <p:spPr>
          <a:xfrm>
            <a:off x="6569456" y="2546197"/>
            <a:ext cx="648970" cy="236220"/>
          </a:xfrm>
          <a:prstGeom prst="rect">
            <a:avLst/>
          </a:prstGeom>
          <a:solidFill>
            <a:srgbClr val="051F79"/>
          </a:solidFill>
          <a:ln w="6350">
            <a:solidFill>
              <a:srgbClr val="000000"/>
            </a:solidFill>
          </a:ln>
        </p:spPr>
        <p:txBody>
          <a:bodyPr vert="horz" wrap="square" lIns="0" tIns="22225" rIns="0" bIns="0" rtlCol="0">
            <a:spAutoFit/>
          </a:bodyPr>
          <a:lstStyle/>
          <a:p>
            <a:pPr marL="46355">
              <a:lnSpc>
                <a:spcPct val="100000"/>
              </a:lnSpc>
              <a:spcBef>
                <a:spcPts val="175"/>
              </a:spcBef>
            </a:pPr>
            <a:r>
              <a:rPr sz="1200" b="1" spc="-5" dirty="0">
                <a:solidFill>
                  <a:srgbClr val="FFFFFF"/>
                </a:solidFill>
                <a:latin typeface="Arial"/>
                <a:cs typeface="Arial"/>
              </a:rPr>
              <a:t>~240M€</a:t>
            </a:r>
            <a:endParaRPr sz="1200">
              <a:latin typeface="Arial"/>
              <a:cs typeface="Arial"/>
            </a:endParaRPr>
          </a:p>
        </p:txBody>
      </p:sp>
      <p:sp>
        <p:nvSpPr>
          <p:cNvPr id="50" name="object 50"/>
          <p:cNvSpPr txBox="1"/>
          <p:nvPr/>
        </p:nvSpPr>
        <p:spPr>
          <a:xfrm>
            <a:off x="7349743" y="2546197"/>
            <a:ext cx="648970" cy="236220"/>
          </a:xfrm>
          <a:prstGeom prst="rect">
            <a:avLst/>
          </a:prstGeom>
          <a:solidFill>
            <a:srgbClr val="00A9F4"/>
          </a:solidFill>
          <a:ln w="6350">
            <a:solidFill>
              <a:srgbClr val="000000"/>
            </a:solidFill>
          </a:ln>
        </p:spPr>
        <p:txBody>
          <a:bodyPr vert="horz" wrap="square" lIns="0" tIns="22225" rIns="0" bIns="0" rtlCol="0">
            <a:spAutoFit/>
          </a:bodyPr>
          <a:lstStyle/>
          <a:p>
            <a:pPr marL="46355">
              <a:lnSpc>
                <a:spcPct val="100000"/>
              </a:lnSpc>
              <a:spcBef>
                <a:spcPts val="175"/>
              </a:spcBef>
            </a:pPr>
            <a:r>
              <a:rPr sz="1200" b="1" dirty="0">
                <a:solidFill>
                  <a:srgbClr val="FFFFFF"/>
                </a:solidFill>
                <a:latin typeface="Arial"/>
                <a:cs typeface="Arial"/>
              </a:rPr>
              <a:t>~380M€</a:t>
            </a:r>
            <a:endParaRPr sz="1200">
              <a:latin typeface="Arial"/>
              <a:cs typeface="Arial"/>
            </a:endParaRPr>
          </a:p>
        </p:txBody>
      </p:sp>
      <p:sp>
        <p:nvSpPr>
          <p:cNvPr id="51" name="object 51"/>
          <p:cNvSpPr/>
          <p:nvPr/>
        </p:nvSpPr>
        <p:spPr>
          <a:xfrm>
            <a:off x="3954145" y="4071620"/>
            <a:ext cx="648970" cy="235585"/>
          </a:xfrm>
          <a:custGeom>
            <a:avLst/>
            <a:gdLst/>
            <a:ahLst/>
            <a:cxnLst/>
            <a:rect l="l" t="t" r="r" b="b"/>
            <a:pathLst>
              <a:path w="648970" h="235585">
                <a:moveTo>
                  <a:pt x="324230" y="0"/>
                </a:moveTo>
                <a:lnTo>
                  <a:pt x="258886" y="2391"/>
                </a:lnTo>
                <a:lnTo>
                  <a:pt x="198024" y="9253"/>
                </a:lnTo>
                <a:lnTo>
                  <a:pt x="142949" y="20111"/>
                </a:lnTo>
                <a:lnTo>
                  <a:pt x="94964" y="34496"/>
                </a:lnTo>
                <a:lnTo>
                  <a:pt x="55372" y="51934"/>
                </a:lnTo>
                <a:lnTo>
                  <a:pt x="6587" y="94086"/>
                </a:lnTo>
                <a:lnTo>
                  <a:pt x="0" y="117855"/>
                </a:lnTo>
                <a:lnTo>
                  <a:pt x="6587" y="141583"/>
                </a:lnTo>
                <a:lnTo>
                  <a:pt x="55372" y="183681"/>
                </a:lnTo>
                <a:lnTo>
                  <a:pt x="94964" y="201104"/>
                </a:lnTo>
                <a:lnTo>
                  <a:pt x="142949" y="215479"/>
                </a:lnTo>
                <a:lnTo>
                  <a:pt x="198024" y="226333"/>
                </a:lnTo>
                <a:lnTo>
                  <a:pt x="258886" y="233193"/>
                </a:lnTo>
                <a:lnTo>
                  <a:pt x="324230" y="235584"/>
                </a:lnTo>
                <a:lnTo>
                  <a:pt x="389580" y="233193"/>
                </a:lnTo>
                <a:lnTo>
                  <a:pt x="450457" y="226333"/>
                </a:lnTo>
                <a:lnTo>
                  <a:pt x="505552" y="215479"/>
                </a:lnTo>
                <a:lnTo>
                  <a:pt x="553561" y="201104"/>
                </a:lnTo>
                <a:lnTo>
                  <a:pt x="593175" y="183681"/>
                </a:lnTo>
                <a:lnTo>
                  <a:pt x="641996" y="141583"/>
                </a:lnTo>
                <a:lnTo>
                  <a:pt x="648588" y="117855"/>
                </a:lnTo>
                <a:lnTo>
                  <a:pt x="641996" y="94086"/>
                </a:lnTo>
                <a:lnTo>
                  <a:pt x="593175" y="51934"/>
                </a:lnTo>
                <a:lnTo>
                  <a:pt x="553561" y="34496"/>
                </a:lnTo>
                <a:lnTo>
                  <a:pt x="505552" y="20111"/>
                </a:lnTo>
                <a:lnTo>
                  <a:pt x="450457" y="9253"/>
                </a:lnTo>
                <a:lnTo>
                  <a:pt x="389580" y="2391"/>
                </a:lnTo>
                <a:lnTo>
                  <a:pt x="324230" y="0"/>
                </a:lnTo>
                <a:close/>
              </a:path>
            </a:pathLst>
          </a:custGeom>
          <a:solidFill>
            <a:srgbClr val="051F79"/>
          </a:solidFill>
        </p:spPr>
        <p:txBody>
          <a:bodyPr wrap="square" lIns="0" tIns="0" rIns="0" bIns="0" rtlCol="0"/>
          <a:lstStyle/>
          <a:p>
            <a:endParaRPr/>
          </a:p>
        </p:txBody>
      </p:sp>
      <p:sp>
        <p:nvSpPr>
          <p:cNvPr id="52" name="object 52"/>
          <p:cNvSpPr/>
          <p:nvPr/>
        </p:nvSpPr>
        <p:spPr>
          <a:xfrm>
            <a:off x="3954145" y="4071620"/>
            <a:ext cx="648970" cy="235585"/>
          </a:xfrm>
          <a:custGeom>
            <a:avLst/>
            <a:gdLst/>
            <a:ahLst/>
            <a:cxnLst/>
            <a:rect l="l" t="t" r="r" b="b"/>
            <a:pathLst>
              <a:path w="648970" h="235585">
                <a:moveTo>
                  <a:pt x="0" y="117855"/>
                </a:moveTo>
                <a:lnTo>
                  <a:pt x="25479" y="71955"/>
                </a:lnTo>
                <a:lnTo>
                  <a:pt x="94964" y="34496"/>
                </a:lnTo>
                <a:lnTo>
                  <a:pt x="142949" y="20111"/>
                </a:lnTo>
                <a:lnTo>
                  <a:pt x="198024" y="9253"/>
                </a:lnTo>
                <a:lnTo>
                  <a:pt x="258886" y="2391"/>
                </a:lnTo>
                <a:lnTo>
                  <a:pt x="324230" y="0"/>
                </a:lnTo>
                <a:lnTo>
                  <a:pt x="389580" y="2391"/>
                </a:lnTo>
                <a:lnTo>
                  <a:pt x="450457" y="9253"/>
                </a:lnTo>
                <a:lnTo>
                  <a:pt x="505552" y="20111"/>
                </a:lnTo>
                <a:lnTo>
                  <a:pt x="553561" y="34496"/>
                </a:lnTo>
                <a:lnTo>
                  <a:pt x="593175" y="51934"/>
                </a:lnTo>
                <a:lnTo>
                  <a:pt x="641996" y="94086"/>
                </a:lnTo>
                <a:lnTo>
                  <a:pt x="648588" y="117855"/>
                </a:lnTo>
                <a:lnTo>
                  <a:pt x="641996" y="141583"/>
                </a:lnTo>
                <a:lnTo>
                  <a:pt x="593175" y="183681"/>
                </a:lnTo>
                <a:lnTo>
                  <a:pt x="553561" y="201104"/>
                </a:lnTo>
                <a:lnTo>
                  <a:pt x="505552" y="215479"/>
                </a:lnTo>
                <a:lnTo>
                  <a:pt x="450457" y="226333"/>
                </a:lnTo>
                <a:lnTo>
                  <a:pt x="389580" y="233193"/>
                </a:lnTo>
                <a:lnTo>
                  <a:pt x="324230" y="235584"/>
                </a:lnTo>
                <a:lnTo>
                  <a:pt x="258886" y="233193"/>
                </a:lnTo>
                <a:lnTo>
                  <a:pt x="198024" y="226333"/>
                </a:lnTo>
                <a:lnTo>
                  <a:pt x="142949" y="215479"/>
                </a:lnTo>
                <a:lnTo>
                  <a:pt x="94964" y="201104"/>
                </a:lnTo>
                <a:lnTo>
                  <a:pt x="55372" y="183681"/>
                </a:lnTo>
                <a:lnTo>
                  <a:pt x="6587" y="141583"/>
                </a:lnTo>
                <a:lnTo>
                  <a:pt x="0" y="117855"/>
                </a:lnTo>
                <a:close/>
              </a:path>
            </a:pathLst>
          </a:custGeom>
          <a:ln w="6350">
            <a:solidFill>
              <a:srgbClr val="000000"/>
            </a:solidFill>
          </a:ln>
        </p:spPr>
        <p:txBody>
          <a:bodyPr wrap="square" lIns="0" tIns="0" rIns="0" bIns="0" rtlCol="0"/>
          <a:lstStyle/>
          <a:p>
            <a:endParaRPr/>
          </a:p>
        </p:txBody>
      </p:sp>
      <p:sp>
        <p:nvSpPr>
          <p:cNvPr id="53" name="object 53"/>
          <p:cNvSpPr txBox="1"/>
          <p:nvPr/>
        </p:nvSpPr>
        <p:spPr>
          <a:xfrm>
            <a:off x="4063872" y="4081653"/>
            <a:ext cx="441959" cy="208279"/>
          </a:xfrm>
          <a:prstGeom prst="rect">
            <a:avLst/>
          </a:prstGeom>
        </p:spPr>
        <p:txBody>
          <a:bodyPr vert="horz" wrap="square" lIns="0" tIns="12700" rIns="0" bIns="0" rtlCol="0">
            <a:spAutoFit/>
          </a:bodyPr>
          <a:lstStyle/>
          <a:p>
            <a:pPr>
              <a:lnSpc>
                <a:spcPct val="100000"/>
              </a:lnSpc>
              <a:spcBef>
                <a:spcPts val="100"/>
              </a:spcBef>
            </a:pPr>
            <a:r>
              <a:rPr sz="1200" b="1" spc="-5" dirty="0">
                <a:solidFill>
                  <a:srgbClr val="FFFFFF"/>
                </a:solidFill>
                <a:latin typeface="Arial"/>
                <a:cs typeface="Arial"/>
              </a:rPr>
              <a:t>~</a:t>
            </a:r>
            <a:r>
              <a:rPr sz="1200" b="1" dirty="0">
                <a:solidFill>
                  <a:srgbClr val="FFFFFF"/>
                </a:solidFill>
                <a:latin typeface="Arial"/>
                <a:cs typeface="Arial"/>
              </a:rPr>
              <a:t>215k</a:t>
            </a:r>
            <a:endParaRPr sz="1200">
              <a:latin typeface="Arial"/>
              <a:cs typeface="Arial"/>
            </a:endParaRPr>
          </a:p>
        </p:txBody>
      </p:sp>
      <p:sp>
        <p:nvSpPr>
          <p:cNvPr id="54" name="object 54"/>
          <p:cNvSpPr/>
          <p:nvPr/>
        </p:nvSpPr>
        <p:spPr>
          <a:xfrm>
            <a:off x="4734433" y="4071620"/>
            <a:ext cx="648970" cy="235585"/>
          </a:xfrm>
          <a:custGeom>
            <a:avLst/>
            <a:gdLst/>
            <a:ahLst/>
            <a:cxnLst/>
            <a:rect l="l" t="t" r="r" b="b"/>
            <a:pathLst>
              <a:path w="648970" h="235585">
                <a:moveTo>
                  <a:pt x="324357" y="0"/>
                </a:moveTo>
                <a:lnTo>
                  <a:pt x="258971" y="2391"/>
                </a:lnTo>
                <a:lnTo>
                  <a:pt x="198078" y="9253"/>
                </a:lnTo>
                <a:lnTo>
                  <a:pt x="142980" y="20111"/>
                </a:lnTo>
                <a:lnTo>
                  <a:pt x="94980" y="34496"/>
                </a:lnTo>
                <a:lnTo>
                  <a:pt x="55379" y="51934"/>
                </a:lnTo>
                <a:lnTo>
                  <a:pt x="6587" y="94086"/>
                </a:lnTo>
                <a:lnTo>
                  <a:pt x="0" y="117855"/>
                </a:lnTo>
                <a:lnTo>
                  <a:pt x="6587" y="141583"/>
                </a:lnTo>
                <a:lnTo>
                  <a:pt x="55379" y="183681"/>
                </a:lnTo>
                <a:lnTo>
                  <a:pt x="94980" y="201104"/>
                </a:lnTo>
                <a:lnTo>
                  <a:pt x="142980" y="215479"/>
                </a:lnTo>
                <a:lnTo>
                  <a:pt x="198078" y="226333"/>
                </a:lnTo>
                <a:lnTo>
                  <a:pt x="258971" y="233193"/>
                </a:lnTo>
                <a:lnTo>
                  <a:pt x="324357" y="235584"/>
                </a:lnTo>
                <a:lnTo>
                  <a:pt x="389702" y="233193"/>
                </a:lnTo>
                <a:lnTo>
                  <a:pt x="450564" y="226333"/>
                </a:lnTo>
                <a:lnTo>
                  <a:pt x="505639" y="215479"/>
                </a:lnTo>
                <a:lnTo>
                  <a:pt x="553624" y="201104"/>
                </a:lnTo>
                <a:lnTo>
                  <a:pt x="593216" y="183681"/>
                </a:lnTo>
                <a:lnTo>
                  <a:pt x="642001" y="141583"/>
                </a:lnTo>
                <a:lnTo>
                  <a:pt x="648588" y="117855"/>
                </a:lnTo>
                <a:lnTo>
                  <a:pt x="642001" y="94086"/>
                </a:lnTo>
                <a:lnTo>
                  <a:pt x="593216" y="51934"/>
                </a:lnTo>
                <a:lnTo>
                  <a:pt x="553624" y="34496"/>
                </a:lnTo>
                <a:lnTo>
                  <a:pt x="505639" y="20111"/>
                </a:lnTo>
                <a:lnTo>
                  <a:pt x="450564" y="9253"/>
                </a:lnTo>
                <a:lnTo>
                  <a:pt x="389702" y="2391"/>
                </a:lnTo>
                <a:lnTo>
                  <a:pt x="324357" y="0"/>
                </a:lnTo>
                <a:close/>
              </a:path>
            </a:pathLst>
          </a:custGeom>
          <a:solidFill>
            <a:srgbClr val="00A9F4"/>
          </a:solidFill>
        </p:spPr>
        <p:txBody>
          <a:bodyPr wrap="square" lIns="0" tIns="0" rIns="0" bIns="0" rtlCol="0"/>
          <a:lstStyle/>
          <a:p>
            <a:endParaRPr/>
          </a:p>
        </p:txBody>
      </p:sp>
      <p:sp>
        <p:nvSpPr>
          <p:cNvPr id="55" name="object 55"/>
          <p:cNvSpPr/>
          <p:nvPr/>
        </p:nvSpPr>
        <p:spPr>
          <a:xfrm>
            <a:off x="4734433" y="4071620"/>
            <a:ext cx="648970" cy="235585"/>
          </a:xfrm>
          <a:custGeom>
            <a:avLst/>
            <a:gdLst/>
            <a:ahLst/>
            <a:cxnLst/>
            <a:rect l="l" t="t" r="r" b="b"/>
            <a:pathLst>
              <a:path w="648970" h="235585">
                <a:moveTo>
                  <a:pt x="0" y="117855"/>
                </a:moveTo>
                <a:lnTo>
                  <a:pt x="25481" y="71955"/>
                </a:lnTo>
                <a:lnTo>
                  <a:pt x="94980" y="34496"/>
                </a:lnTo>
                <a:lnTo>
                  <a:pt x="142980" y="20111"/>
                </a:lnTo>
                <a:lnTo>
                  <a:pt x="198078" y="9253"/>
                </a:lnTo>
                <a:lnTo>
                  <a:pt x="258971" y="2391"/>
                </a:lnTo>
                <a:lnTo>
                  <a:pt x="324357" y="0"/>
                </a:lnTo>
                <a:lnTo>
                  <a:pt x="389702" y="2391"/>
                </a:lnTo>
                <a:lnTo>
                  <a:pt x="450564" y="9253"/>
                </a:lnTo>
                <a:lnTo>
                  <a:pt x="505639" y="20111"/>
                </a:lnTo>
                <a:lnTo>
                  <a:pt x="553624" y="34496"/>
                </a:lnTo>
                <a:lnTo>
                  <a:pt x="593216" y="51934"/>
                </a:lnTo>
                <a:lnTo>
                  <a:pt x="642001" y="94086"/>
                </a:lnTo>
                <a:lnTo>
                  <a:pt x="648588" y="117855"/>
                </a:lnTo>
                <a:lnTo>
                  <a:pt x="642001" y="141583"/>
                </a:lnTo>
                <a:lnTo>
                  <a:pt x="593216" y="183681"/>
                </a:lnTo>
                <a:lnTo>
                  <a:pt x="553624" y="201104"/>
                </a:lnTo>
                <a:lnTo>
                  <a:pt x="505639" y="215479"/>
                </a:lnTo>
                <a:lnTo>
                  <a:pt x="450564" y="226333"/>
                </a:lnTo>
                <a:lnTo>
                  <a:pt x="389702" y="233193"/>
                </a:lnTo>
                <a:lnTo>
                  <a:pt x="324357" y="235584"/>
                </a:lnTo>
                <a:lnTo>
                  <a:pt x="258971" y="233193"/>
                </a:lnTo>
                <a:lnTo>
                  <a:pt x="198078" y="226333"/>
                </a:lnTo>
                <a:lnTo>
                  <a:pt x="142980" y="215479"/>
                </a:lnTo>
                <a:lnTo>
                  <a:pt x="94980" y="201104"/>
                </a:lnTo>
                <a:lnTo>
                  <a:pt x="55379" y="183681"/>
                </a:lnTo>
                <a:lnTo>
                  <a:pt x="6587" y="141583"/>
                </a:lnTo>
                <a:lnTo>
                  <a:pt x="0" y="117855"/>
                </a:lnTo>
                <a:close/>
              </a:path>
            </a:pathLst>
          </a:custGeom>
          <a:ln w="6350">
            <a:solidFill>
              <a:srgbClr val="000000"/>
            </a:solidFill>
          </a:ln>
        </p:spPr>
        <p:txBody>
          <a:bodyPr wrap="square" lIns="0" tIns="0" rIns="0" bIns="0" rtlCol="0"/>
          <a:lstStyle/>
          <a:p>
            <a:endParaRPr/>
          </a:p>
        </p:txBody>
      </p:sp>
      <p:sp>
        <p:nvSpPr>
          <p:cNvPr id="56" name="object 56"/>
          <p:cNvSpPr txBox="1"/>
          <p:nvPr/>
        </p:nvSpPr>
        <p:spPr>
          <a:xfrm>
            <a:off x="4844160" y="4081653"/>
            <a:ext cx="441959" cy="208279"/>
          </a:xfrm>
          <a:prstGeom prst="rect">
            <a:avLst/>
          </a:prstGeom>
        </p:spPr>
        <p:txBody>
          <a:bodyPr vert="horz" wrap="square" lIns="0" tIns="12700" rIns="0" bIns="0" rtlCol="0">
            <a:spAutoFit/>
          </a:bodyPr>
          <a:lstStyle/>
          <a:p>
            <a:pPr>
              <a:lnSpc>
                <a:spcPct val="100000"/>
              </a:lnSpc>
              <a:spcBef>
                <a:spcPts val="100"/>
              </a:spcBef>
            </a:pPr>
            <a:r>
              <a:rPr sz="1200" b="1" spc="-5" dirty="0">
                <a:solidFill>
                  <a:srgbClr val="FFFFFF"/>
                </a:solidFill>
                <a:latin typeface="Arial"/>
                <a:cs typeface="Arial"/>
              </a:rPr>
              <a:t>~</a:t>
            </a:r>
            <a:r>
              <a:rPr sz="1200" b="1" dirty="0">
                <a:solidFill>
                  <a:srgbClr val="FFFFFF"/>
                </a:solidFill>
                <a:latin typeface="Arial"/>
                <a:cs typeface="Arial"/>
              </a:rPr>
              <a:t>277k</a:t>
            </a:r>
            <a:endParaRPr sz="1200">
              <a:latin typeface="Arial"/>
              <a:cs typeface="Arial"/>
            </a:endParaRPr>
          </a:p>
        </p:txBody>
      </p:sp>
      <p:sp>
        <p:nvSpPr>
          <p:cNvPr id="57" name="object 57"/>
          <p:cNvSpPr txBox="1"/>
          <p:nvPr/>
        </p:nvSpPr>
        <p:spPr>
          <a:xfrm>
            <a:off x="3954145" y="3751808"/>
            <a:ext cx="648970" cy="236220"/>
          </a:xfrm>
          <a:prstGeom prst="rect">
            <a:avLst/>
          </a:prstGeom>
          <a:solidFill>
            <a:srgbClr val="051F79"/>
          </a:solidFill>
          <a:ln w="6350">
            <a:solidFill>
              <a:srgbClr val="000000"/>
            </a:solidFill>
          </a:ln>
        </p:spPr>
        <p:txBody>
          <a:bodyPr vert="horz" wrap="square" lIns="0" tIns="22225" rIns="0" bIns="0" rtlCol="0">
            <a:spAutoFit/>
          </a:bodyPr>
          <a:lstStyle/>
          <a:p>
            <a:pPr marL="45720">
              <a:lnSpc>
                <a:spcPct val="100000"/>
              </a:lnSpc>
              <a:spcBef>
                <a:spcPts val="175"/>
              </a:spcBef>
            </a:pPr>
            <a:r>
              <a:rPr sz="1200" b="1" spc="-5" dirty="0">
                <a:solidFill>
                  <a:srgbClr val="FFFFFF"/>
                </a:solidFill>
                <a:latin typeface="Arial"/>
                <a:cs typeface="Arial"/>
              </a:rPr>
              <a:t>~120M€</a:t>
            </a:r>
            <a:endParaRPr sz="1200">
              <a:latin typeface="Arial"/>
              <a:cs typeface="Arial"/>
            </a:endParaRPr>
          </a:p>
        </p:txBody>
      </p:sp>
      <p:sp>
        <p:nvSpPr>
          <p:cNvPr id="58" name="object 58"/>
          <p:cNvSpPr txBox="1"/>
          <p:nvPr/>
        </p:nvSpPr>
        <p:spPr>
          <a:xfrm>
            <a:off x="4734433" y="3751808"/>
            <a:ext cx="648970" cy="236220"/>
          </a:xfrm>
          <a:prstGeom prst="rect">
            <a:avLst/>
          </a:prstGeom>
          <a:solidFill>
            <a:srgbClr val="00A9F4"/>
          </a:solidFill>
          <a:ln w="6350">
            <a:solidFill>
              <a:srgbClr val="000000"/>
            </a:solidFill>
          </a:ln>
        </p:spPr>
        <p:txBody>
          <a:bodyPr vert="horz" wrap="square" lIns="0" tIns="22225" rIns="0" bIns="0" rtlCol="0">
            <a:spAutoFit/>
          </a:bodyPr>
          <a:lstStyle/>
          <a:p>
            <a:pPr marL="46355">
              <a:lnSpc>
                <a:spcPct val="100000"/>
              </a:lnSpc>
              <a:spcBef>
                <a:spcPts val="175"/>
              </a:spcBef>
            </a:pPr>
            <a:r>
              <a:rPr sz="1200" b="1" spc="-5" dirty="0">
                <a:solidFill>
                  <a:srgbClr val="FFFFFF"/>
                </a:solidFill>
                <a:latin typeface="Arial"/>
                <a:cs typeface="Arial"/>
              </a:rPr>
              <a:t>~210M€</a:t>
            </a:r>
            <a:endParaRPr sz="1200">
              <a:latin typeface="Arial"/>
              <a:cs typeface="Arial"/>
            </a:endParaRPr>
          </a:p>
        </p:txBody>
      </p:sp>
      <p:sp>
        <p:nvSpPr>
          <p:cNvPr id="59" name="object 59"/>
          <p:cNvSpPr txBox="1"/>
          <p:nvPr/>
        </p:nvSpPr>
        <p:spPr>
          <a:xfrm>
            <a:off x="1920367" y="4708372"/>
            <a:ext cx="648970" cy="236220"/>
          </a:xfrm>
          <a:prstGeom prst="rect">
            <a:avLst/>
          </a:prstGeom>
          <a:solidFill>
            <a:srgbClr val="051F79"/>
          </a:solidFill>
          <a:ln w="6350">
            <a:solidFill>
              <a:srgbClr val="000000"/>
            </a:solidFill>
          </a:ln>
        </p:spPr>
        <p:txBody>
          <a:bodyPr vert="horz" wrap="square" lIns="0" tIns="22860" rIns="0" bIns="0" rtlCol="0">
            <a:spAutoFit/>
          </a:bodyPr>
          <a:lstStyle/>
          <a:p>
            <a:pPr marL="88900">
              <a:lnSpc>
                <a:spcPct val="100000"/>
              </a:lnSpc>
              <a:spcBef>
                <a:spcPts val="180"/>
              </a:spcBef>
            </a:pPr>
            <a:r>
              <a:rPr sz="1200" b="1" spc="-5" dirty="0">
                <a:solidFill>
                  <a:srgbClr val="FFFFFF"/>
                </a:solidFill>
                <a:latin typeface="Arial"/>
                <a:cs typeface="Arial"/>
              </a:rPr>
              <a:t>~50M€</a:t>
            </a:r>
            <a:endParaRPr sz="1200">
              <a:latin typeface="Arial"/>
              <a:cs typeface="Arial"/>
            </a:endParaRPr>
          </a:p>
        </p:txBody>
      </p:sp>
      <p:sp>
        <p:nvSpPr>
          <p:cNvPr id="60" name="object 60"/>
          <p:cNvSpPr txBox="1"/>
          <p:nvPr/>
        </p:nvSpPr>
        <p:spPr>
          <a:xfrm>
            <a:off x="2700782" y="4708372"/>
            <a:ext cx="648970" cy="236220"/>
          </a:xfrm>
          <a:prstGeom prst="rect">
            <a:avLst/>
          </a:prstGeom>
          <a:solidFill>
            <a:srgbClr val="00A9F4"/>
          </a:solidFill>
          <a:ln w="6350">
            <a:solidFill>
              <a:srgbClr val="000000"/>
            </a:solidFill>
          </a:ln>
        </p:spPr>
        <p:txBody>
          <a:bodyPr vert="horz" wrap="square" lIns="0" tIns="22860" rIns="0" bIns="0" rtlCol="0">
            <a:spAutoFit/>
          </a:bodyPr>
          <a:lstStyle/>
          <a:p>
            <a:pPr marL="88900">
              <a:lnSpc>
                <a:spcPct val="100000"/>
              </a:lnSpc>
              <a:spcBef>
                <a:spcPts val="180"/>
              </a:spcBef>
            </a:pPr>
            <a:r>
              <a:rPr sz="1200" b="1" spc="-5" dirty="0">
                <a:solidFill>
                  <a:srgbClr val="FFFFFF"/>
                </a:solidFill>
                <a:latin typeface="Arial"/>
                <a:cs typeface="Arial"/>
              </a:rPr>
              <a:t>~80M€</a:t>
            </a:r>
            <a:endParaRPr sz="1200">
              <a:latin typeface="Arial"/>
              <a:cs typeface="Arial"/>
            </a:endParaRPr>
          </a:p>
        </p:txBody>
      </p:sp>
      <p:sp>
        <p:nvSpPr>
          <p:cNvPr id="61" name="object 61"/>
          <p:cNvSpPr/>
          <p:nvPr/>
        </p:nvSpPr>
        <p:spPr>
          <a:xfrm>
            <a:off x="6569456" y="3210686"/>
            <a:ext cx="648970" cy="235585"/>
          </a:xfrm>
          <a:custGeom>
            <a:avLst/>
            <a:gdLst/>
            <a:ahLst/>
            <a:cxnLst/>
            <a:rect l="l" t="t" r="r" b="b"/>
            <a:pathLst>
              <a:path w="648970" h="235585">
                <a:moveTo>
                  <a:pt x="0" y="117728"/>
                </a:moveTo>
                <a:lnTo>
                  <a:pt x="25479" y="71901"/>
                </a:lnTo>
                <a:lnTo>
                  <a:pt x="94964" y="34480"/>
                </a:lnTo>
                <a:lnTo>
                  <a:pt x="142949" y="20105"/>
                </a:lnTo>
                <a:lnTo>
                  <a:pt x="198024" y="9251"/>
                </a:lnTo>
                <a:lnTo>
                  <a:pt x="258886" y="2391"/>
                </a:lnTo>
                <a:lnTo>
                  <a:pt x="324230" y="0"/>
                </a:lnTo>
                <a:lnTo>
                  <a:pt x="389617" y="2391"/>
                </a:lnTo>
                <a:lnTo>
                  <a:pt x="450510" y="9251"/>
                </a:lnTo>
                <a:lnTo>
                  <a:pt x="505608" y="20105"/>
                </a:lnTo>
                <a:lnTo>
                  <a:pt x="553608" y="34480"/>
                </a:lnTo>
                <a:lnTo>
                  <a:pt x="593209" y="51903"/>
                </a:lnTo>
                <a:lnTo>
                  <a:pt x="642001" y="94001"/>
                </a:lnTo>
                <a:lnTo>
                  <a:pt x="648589" y="117728"/>
                </a:lnTo>
                <a:lnTo>
                  <a:pt x="642001" y="141498"/>
                </a:lnTo>
                <a:lnTo>
                  <a:pt x="593209" y="183650"/>
                </a:lnTo>
                <a:lnTo>
                  <a:pt x="553608" y="201088"/>
                </a:lnTo>
                <a:lnTo>
                  <a:pt x="505608" y="215473"/>
                </a:lnTo>
                <a:lnTo>
                  <a:pt x="450510" y="226331"/>
                </a:lnTo>
                <a:lnTo>
                  <a:pt x="389617" y="233193"/>
                </a:lnTo>
                <a:lnTo>
                  <a:pt x="324230" y="235585"/>
                </a:lnTo>
                <a:lnTo>
                  <a:pt x="258886" y="233193"/>
                </a:lnTo>
                <a:lnTo>
                  <a:pt x="198024" y="226331"/>
                </a:lnTo>
                <a:lnTo>
                  <a:pt x="142949" y="215473"/>
                </a:lnTo>
                <a:lnTo>
                  <a:pt x="94964" y="201088"/>
                </a:lnTo>
                <a:lnTo>
                  <a:pt x="55372" y="183650"/>
                </a:lnTo>
                <a:lnTo>
                  <a:pt x="6587" y="141498"/>
                </a:lnTo>
                <a:lnTo>
                  <a:pt x="0" y="117728"/>
                </a:lnTo>
                <a:close/>
              </a:path>
            </a:pathLst>
          </a:custGeom>
          <a:ln w="12700">
            <a:solidFill>
              <a:srgbClr val="051F79"/>
            </a:solidFill>
          </a:ln>
        </p:spPr>
        <p:txBody>
          <a:bodyPr wrap="square" lIns="0" tIns="0" rIns="0" bIns="0" rtlCol="0"/>
          <a:lstStyle/>
          <a:p>
            <a:endParaRPr/>
          </a:p>
        </p:txBody>
      </p:sp>
      <p:sp>
        <p:nvSpPr>
          <p:cNvPr id="62" name="object 62"/>
          <p:cNvSpPr txBox="1"/>
          <p:nvPr/>
        </p:nvSpPr>
        <p:spPr>
          <a:xfrm>
            <a:off x="6687819" y="3220339"/>
            <a:ext cx="428625" cy="208279"/>
          </a:xfrm>
          <a:prstGeom prst="rect">
            <a:avLst/>
          </a:prstGeom>
        </p:spPr>
        <p:txBody>
          <a:bodyPr vert="horz" wrap="square" lIns="0" tIns="12700" rIns="0" bIns="0" rtlCol="0">
            <a:spAutoFit/>
          </a:bodyPr>
          <a:lstStyle/>
          <a:p>
            <a:pPr marL="25400">
              <a:lnSpc>
                <a:spcPct val="100000"/>
              </a:lnSpc>
              <a:spcBef>
                <a:spcPts val="100"/>
              </a:spcBef>
            </a:pPr>
            <a:r>
              <a:rPr sz="1200" b="1" spc="-5" dirty="0">
                <a:latin typeface="Arial"/>
                <a:cs typeface="Arial"/>
              </a:rPr>
              <a:t>~8%</a:t>
            </a:r>
            <a:r>
              <a:rPr sz="1200" b="1" spc="-7" baseline="24305" dirty="0">
                <a:latin typeface="Arial"/>
                <a:cs typeface="Arial"/>
              </a:rPr>
              <a:t>3</a:t>
            </a:r>
            <a:endParaRPr sz="1200" baseline="24305" dirty="0">
              <a:latin typeface="Arial"/>
              <a:cs typeface="Arial"/>
            </a:endParaRPr>
          </a:p>
        </p:txBody>
      </p:sp>
      <p:sp>
        <p:nvSpPr>
          <p:cNvPr id="63" name="object 63"/>
          <p:cNvSpPr/>
          <p:nvPr/>
        </p:nvSpPr>
        <p:spPr>
          <a:xfrm>
            <a:off x="3954145" y="4400422"/>
            <a:ext cx="648970" cy="235585"/>
          </a:xfrm>
          <a:custGeom>
            <a:avLst/>
            <a:gdLst/>
            <a:ahLst/>
            <a:cxnLst/>
            <a:rect l="l" t="t" r="r" b="b"/>
            <a:pathLst>
              <a:path w="648970" h="235585">
                <a:moveTo>
                  <a:pt x="0" y="117856"/>
                </a:moveTo>
                <a:lnTo>
                  <a:pt x="25479" y="72008"/>
                </a:lnTo>
                <a:lnTo>
                  <a:pt x="94964" y="34543"/>
                </a:lnTo>
                <a:lnTo>
                  <a:pt x="142949" y="20145"/>
                </a:lnTo>
                <a:lnTo>
                  <a:pt x="198024" y="9271"/>
                </a:lnTo>
                <a:lnTo>
                  <a:pt x="258886" y="2397"/>
                </a:lnTo>
                <a:lnTo>
                  <a:pt x="324230" y="0"/>
                </a:lnTo>
                <a:lnTo>
                  <a:pt x="389580" y="2397"/>
                </a:lnTo>
                <a:lnTo>
                  <a:pt x="450457" y="9270"/>
                </a:lnTo>
                <a:lnTo>
                  <a:pt x="505552" y="20145"/>
                </a:lnTo>
                <a:lnTo>
                  <a:pt x="553561" y="34543"/>
                </a:lnTo>
                <a:lnTo>
                  <a:pt x="593175" y="51990"/>
                </a:lnTo>
                <a:lnTo>
                  <a:pt x="641996" y="94122"/>
                </a:lnTo>
                <a:lnTo>
                  <a:pt x="648588" y="117856"/>
                </a:lnTo>
                <a:lnTo>
                  <a:pt x="641996" y="141583"/>
                </a:lnTo>
                <a:lnTo>
                  <a:pt x="593175" y="183681"/>
                </a:lnTo>
                <a:lnTo>
                  <a:pt x="553561" y="201104"/>
                </a:lnTo>
                <a:lnTo>
                  <a:pt x="505552" y="215479"/>
                </a:lnTo>
                <a:lnTo>
                  <a:pt x="450457" y="226333"/>
                </a:lnTo>
                <a:lnTo>
                  <a:pt x="389580" y="233193"/>
                </a:lnTo>
                <a:lnTo>
                  <a:pt x="324230" y="235584"/>
                </a:lnTo>
                <a:lnTo>
                  <a:pt x="258886" y="233193"/>
                </a:lnTo>
                <a:lnTo>
                  <a:pt x="198024" y="226333"/>
                </a:lnTo>
                <a:lnTo>
                  <a:pt x="142949" y="215479"/>
                </a:lnTo>
                <a:lnTo>
                  <a:pt x="94964" y="201104"/>
                </a:lnTo>
                <a:lnTo>
                  <a:pt x="55372" y="183681"/>
                </a:lnTo>
                <a:lnTo>
                  <a:pt x="6587" y="141583"/>
                </a:lnTo>
                <a:lnTo>
                  <a:pt x="0" y="117856"/>
                </a:lnTo>
                <a:close/>
              </a:path>
            </a:pathLst>
          </a:custGeom>
          <a:ln w="12700">
            <a:solidFill>
              <a:srgbClr val="051F79"/>
            </a:solidFill>
          </a:ln>
        </p:spPr>
        <p:txBody>
          <a:bodyPr wrap="square" lIns="0" tIns="0" rIns="0" bIns="0" rtlCol="0"/>
          <a:lstStyle/>
          <a:p>
            <a:endParaRPr/>
          </a:p>
        </p:txBody>
      </p:sp>
      <p:sp>
        <p:nvSpPr>
          <p:cNvPr id="64" name="object 64"/>
          <p:cNvSpPr txBox="1"/>
          <p:nvPr/>
        </p:nvSpPr>
        <p:spPr>
          <a:xfrm>
            <a:off x="4082159" y="4410583"/>
            <a:ext cx="803570" cy="197490"/>
          </a:xfrm>
          <a:prstGeom prst="rect">
            <a:avLst/>
          </a:prstGeom>
        </p:spPr>
        <p:txBody>
          <a:bodyPr vert="horz" wrap="square" lIns="0" tIns="12700" rIns="0" bIns="0" rtlCol="0">
            <a:spAutoFit/>
          </a:bodyPr>
          <a:lstStyle/>
          <a:p>
            <a:pPr>
              <a:lnSpc>
                <a:spcPct val="100000"/>
              </a:lnSpc>
              <a:spcBef>
                <a:spcPts val="100"/>
              </a:spcBef>
            </a:pPr>
            <a:r>
              <a:rPr sz="1200" b="1" spc="-5" dirty="0">
                <a:latin typeface="Arial"/>
                <a:cs typeface="Arial"/>
              </a:rPr>
              <a:t>~</a:t>
            </a:r>
            <a:r>
              <a:rPr sz="1200" b="1" dirty="0">
                <a:latin typeface="Arial"/>
                <a:cs typeface="Arial"/>
              </a:rPr>
              <a:t>17%</a:t>
            </a:r>
            <a:endParaRPr sz="1200" dirty="0">
              <a:latin typeface="Arial"/>
              <a:cs typeface="Arial"/>
            </a:endParaRPr>
          </a:p>
        </p:txBody>
      </p:sp>
      <p:sp>
        <p:nvSpPr>
          <p:cNvPr id="65" name="object 65"/>
          <p:cNvSpPr/>
          <p:nvPr/>
        </p:nvSpPr>
        <p:spPr>
          <a:xfrm>
            <a:off x="1920367" y="5035169"/>
            <a:ext cx="648970" cy="236220"/>
          </a:xfrm>
          <a:custGeom>
            <a:avLst/>
            <a:gdLst/>
            <a:ahLst/>
            <a:cxnLst/>
            <a:rect l="l" t="t" r="r" b="b"/>
            <a:pathLst>
              <a:path w="648969" h="236220">
                <a:moveTo>
                  <a:pt x="0" y="117855"/>
                </a:moveTo>
                <a:lnTo>
                  <a:pt x="25481" y="72008"/>
                </a:lnTo>
                <a:lnTo>
                  <a:pt x="94980" y="34543"/>
                </a:lnTo>
                <a:lnTo>
                  <a:pt x="142980" y="20145"/>
                </a:lnTo>
                <a:lnTo>
                  <a:pt x="198078" y="9270"/>
                </a:lnTo>
                <a:lnTo>
                  <a:pt x="258971" y="2397"/>
                </a:lnTo>
                <a:lnTo>
                  <a:pt x="324357" y="0"/>
                </a:lnTo>
                <a:lnTo>
                  <a:pt x="389702" y="2397"/>
                </a:lnTo>
                <a:lnTo>
                  <a:pt x="450564" y="9270"/>
                </a:lnTo>
                <a:lnTo>
                  <a:pt x="505639" y="20145"/>
                </a:lnTo>
                <a:lnTo>
                  <a:pt x="553624" y="34543"/>
                </a:lnTo>
                <a:lnTo>
                  <a:pt x="593216" y="51990"/>
                </a:lnTo>
                <a:lnTo>
                  <a:pt x="642001" y="94122"/>
                </a:lnTo>
                <a:lnTo>
                  <a:pt x="648588" y="117855"/>
                </a:lnTo>
                <a:lnTo>
                  <a:pt x="642001" y="141589"/>
                </a:lnTo>
                <a:lnTo>
                  <a:pt x="593216" y="183721"/>
                </a:lnTo>
                <a:lnTo>
                  <a:pt x="553624" y="201167"/>
                </a:lnTo>
                <a:lnTo>
                  <a:pt x="505639" y="215566"/>
                </a:lnTo>
                <a:lnTo>
                  <a:pt x="450564" y="226440"/>
                </a:lnTo>
                <a:lnTo>
                  <a:pt x="389702" y="233314"/>
                </a:lnTo>
                <a:lnTo>
                  <a:pt x="324357" y="235711"/>
                </a:lnTo>
                <a:lnTo>
                  <a:pt x="258971" y="233314"/>
                </a:lnTo>
                <a:lnTo>
                  <a:pt x="198078" y="226440"/>
                </a:lnTo>
                <a:lnTo>
                  <a:pt x="142980" y="215566"/>
                </a:lnTo>
                <a:lnTo>
                  <a:pt x="94980" y="201167"/>
                </a:lnTo>
                <a:lnTo>
                  <a:pt x="55379" y="183721"/>
                </a:lnTo>
                <a:lnTo>
                  <a:pt x="6587" y="141589"/>
                </a:lnTo>
                <a:lnTo>
                  <a:pt x="0" y="117855"/>
                </a:lnTo>
                <a:close/>
              </a:path>
            </a:pathLst>
          </a:custGeom>
          <a:ln w="12699">
            <a:solidFill>
              <a:srgbClr val="051F79"/>
            </a:solidFill>
          </a:ln>
        </p:spPr>
        <p:txBody>
          <a:bodyPr wrap="square" lIns="0" tIns="0" rIns="0" bIns="0" rtlCol="0"/>
          <a:lstStyle/>
          <a:p>
            <a:endParaRPr/>
          </a:p>
        </p:txBody>
      </p:sp>
      <p:sp>
        <p:nvSpPr>
          <p:cNvPr id="66" name="object 66"/>
          <p:cNvSpPr txBox="1"/>
          <p:nvPr/>
        </p:nvSpPr>
        <p:spPr>
          <a:xfrm>
            <a:off x="2048255" y="5045455"/>
            <a:ext cx="407034" cy="208279"/>
          </a:xfrm>
          <a:prstGeom prst="rect">
            <a:avLst/>
          </a:prstGeom>
        </p:spPr>
        <p:txBody>
          <a:bodyPr vert="horz" wrap="square" lIns="0" tIns="12700" rIns="0" bIns="0" rtlCol="0">
            <a:spAutoFit/>
          </a:bodyPr>
          <a:lstStyle/>
          <a:p>
            <a:pPr>
              <a:lnSpc>
                <a:spcPct val="100000"/>
              </a:lnSpc>
              <a:spcBef>
                <a:spcPts val="100"/>
              </a:spcBef>
            </a:pPr>
            <a:r>
              <a:rPr sz="1200" b="1" spc="-5" dirty="0">
                <a:latin typeface="Arial"/>
                <a:cs typeface="Arial"/>
              </a:rPr>
              <a:t>~</a:t>
            </a:r>
            <a:r>
              <a:rPr sz="1200" b="1" dirty="0">
                <a:latin typeface="Arial"/>
                <a:cs typeface="Arial"/>
              </a:rPr>
              <a:t>27%</a:t>
            </a:r>
            <a:endParaRPr sz="1200">
              <a:latin typeface="Arial"/>
              <a:cs typeface="Arial"/>
            </a:endParaRPr>
          </a:p>
        </p:txBody>
      </p:sp>
      <p:sp>
        <p:nvSpPr>
          <p:cNvPr id="67" name="object 67"/>
          <p:cNvSpPr/>
          <p:nvPr/>
        </p:nvSpPr>
        <p:spPr>
          <a:xfrm>
            <a:off x="1851660" y="5979426"/>
            <a:ext cx="258317" cy="203923"/>
          </a:xfrm>
          <a:prstGeom prst="rect">
            <a:avLst/>
          </a:prstGeom>
          <a:blipFill>
            <a:blip r:embed="rId6" cstate="print"/>
            <a:stretch>
              <a:fillRect/>
            </a:stretch>
          </a:blipFill>
        </p:spPr>
        <p:txBody>
          <a:bodyPr wrap="square" lIns="0" tIns="0" rIns="0" bIns="0" rtlCol="0"/>
          <a:lstStyle/>
          <a:p>
            <a:endParaRPr/>
          </a:p>
        </p:txBody>
      </p:sp>
      <p:sp>
        <p:nvSpPr>
          <p:cNvPr id="68" name="object 68"/>
          <p:cNvSpPr/>
          <p:nvPr/>
        </p:nvSpPr>
        <p:spPr>
          <a:xfrm>
            <a:off x="739508" y="5200091"/>
            <a:ext cx="807300" cy="101777"/>
          </a:xfrm>
          <a:prstGeom prst="rect">
            <a:avLst/>
          </a:prstGeom>
          <a:blipFill>
            <a:blip r:embed="rId7" cstate="print"/>
            <a:stretch>
              <a:fillRect/>
            </a:stretch>
          </a:blipFill>
        </p:spPr>
        <p:txBody>
          <a:bodyPr wrap="square" lIns="0" tIns="0" rIns="0" bIns="0" rtlCol="0"/>
          <a:lstStyle/>
          <a:p>
            <a:endParaRPr/>
          </a:p>
        </p:txBody>
      </p:sp>
      <p:sp>
        <p:nvSpPr>
          <p:cNvPr id="69" name="object 69"/>
          <p:cNvSpPr/>
          <p:nvPr/>
        </p:nvSpPr>
        <p:spPr>
          <a:xfrm>
            <a:off x="4954270" y="4530077"/>
            <a:ext cx="331114" cy="295287"/>
          </a:xfrm>
          <a:prstGeom prst="rect">
            <a:avLst/>
          </a:prstGeom>
          <a:blipFill>
            <a:blip r:embed="rId8" cstate="print"/>
            <a:stretch>
              <a:fillRect/>
            </a:stretch>
          </a:blipFill>
        </p:spPr>
        <p:txBody>
          <a:bodyPr wrap="square" lIns="0" tIns="0" rIns="0" bIns="0" rtlCol="0"/>
          <a:lstStyle/>
          <a:p>
            <a:endParaRPr/>
          </a:p>
        </p:txBody>
      </p:sp>
      <p:sp>
        <p:nvSpPr>
          <p:cNvPr id="70" name="object 70"/>
          <p:cNvSpPr/>
          <p:nvPr/>
        </p:nvSpPr>
        <p:spPr>
          <a:xfrm>
            <a:off x="4431665" y="4665179"/>
            <a:ext cx="400596" cy="358051"/>
          </a:xfrm>
          <a:prstGeom prst="rect">
            <a:avLst/>
          </a:prstGeom>
          <a:blipFill>
            <a:blip r:embed="rId9" cstate="print"/>
            <a:stretch>
              <a:fillRect/>
            </a:stretch>
          </a:blipFill>
        </p:spPr>
        <p:txBody>
          <a:bodyPr wrap="square" lIns="0" tIns="0" rIns="0" bIns="0" rtlCol="0"/>
          <a:lstStyle/>
          <a:p>
            <a:endParaRPr/>
          </a:p>
        </p:txBody>
      </p:sp>
      <p:sp>
        <p:nvSpPr>
          <p:cNvPr id="71" name="object 71"/>
          <p:cNvSpPr/>
          <p:nvPr/>
        </p:nvSpPr>
        <p:spPr>
          <a:xfrm>
            <a:off x="1447038" y="4102557"/>
            <a:ext cx="923785" cy="168706"/>
          </a:xfrm>
          <a:prstGeom prst="rect">
            <a:avLst/>
          </a:prstGeom>
          <a:blipFill>
            <a:blip r:embed="rId10" cstate="print"/>
            <a:stretch>
              <a:fillRect/>
            </a:stretch>
          </a:blipFill>
        </p:spPr>
        <p:txBody>
          <a:bodyPr wrap="square" lIns="0" tIns="0" rIns="0" bIns="0" rtlCol="0"/>
          <a:lstStyle/>
          <a:p>
            <a:endParaRPr/>
          </a:p>
        </p:txBody>
      </p:sp>
      <p:sp>
        <p:nvSpPr>
          <p:cNvPr id="72" name="object 72"/>
          <p:cNvSpPr/>
          <p:nvPr/>
        </p:nvSpPr>
        <p:spPr>
          <a:xfrm>
            <a:off x="3309620" y="4376394"/>
            <a:ext cx="558888" cy="164871"/>
          </a:xfrm>
          <a:prstGeom prst="rect">
            <a:avLst/>
          </a:prstGeom>
          <a:blipFill>
            <a:blip r:embed="rId11" cstate="print"/>
            <a:stretch>
              <a:fillRect/>
            </a:stretch>
          </a:blipFill>
        </p:spPr>
        <p:txBody>
          <a:bodyPr wrap="square" lIns="0" tIns="0" rIns="0" bIns="0" rtlCol="0"/>
          <a:lstStyle/>
          <a:p>
            <a:endParaRPr/>
          </a:p>
        </p:txBody>
      </p:sp>
      <p:sp>
        <p:nvSpPr>
          <p:cNvPr id="73" name="object 73"/>
          <p:cNvSpPr/>
          <p:nvPr/>
        </p:nvSpPr>
        <p:spPr>
          <a:xfrm>
            <a:off x="3524758" y="4691646"/>
            <a:ext cx="614502" cy="317360"/>
          </a:xfrm>
          <a:prstGeom prst="rect">
            <a:avLst/>
          </a:prstGeom>
          <a:blipFill>
            <a:blip r:embed="rId12" cstate="print"/>
            <a:stretch>
              <a:fillRect/>
            </a:stretch>
          </a:blipFill>
        </p:spPr>
        <p:txBody>
          <a:bodyPr wrap="square" lIns="0" tIns="0" rIns="0" bIns="0" rtlCol="0"/>
          <a:lstStyle/>
          <a:p>
            <a:endParaRPr/>
          </a:p>
        </p:txBody>
      </p:sp>
      <p:sp>
        <p:nvSpPr>
          <p:cNvPr id="74" name="object 74"/>
          <p:cNvSpPr/>
          <p:nvPr/>
        </p:nvSpPr>
        <p:spPr>
          <a:xfrm>
            <a:off x="3589020" y="5102339"/>
            <a:ext cx="708317" cy="278904"/>
          </a:xfrm>
          <a:prstGeom prst="rect">
            <a:avLst/>
          </a:prstGeom>
          <a:blipFill>
            <a:blip r:embed="rId13" cstate="print"/>
            <a:stretch>
              <a:fillRect/>
            </a:stretch>
          </a:blipFill>
        </p:spPr>
        <p:txBody>
          <a:bodyPr wrap="square" lIns="0" tIns="0" rIns="0" bIns="0" rtlCol="0"/>
          <a:lstStyle/>
          <a:p>
            <a:endParaRPr/>
          </a:p>
        </p:txBody>
      </p:sp>
      <p:sp>
        <p:nvSpPr>
          <p:cNvPr id="75" name="object 75"/>
          <p:cNvSpPr/>
          <p:nvPr/>
        </p:nvSpPr>
        <p:spPr>
          <a:xfrm>
            <a:off x="754278" y="4419549"/>
            <a:ext cx="729919" cy="137337"/>
          </a:xfrm>
          <a:prstGeom prst="rect">
            <a:avLst/>
          </a:prstGeom>
          <a:blipFill>
            <a:blip r:embed="rId14" cstate="print"/>
            <a:stretch>
              <a:fillRect/>
            </a:stretch>
          </a:blipFill>
        </p:spPr>
        <p:txBody>
          <a:bodyPr wrap="square" lIns="0" tIns="0" rIns="0" bIns="0" rtlCol="0"/>
          <a:lstStyle/>
          <a:p>
            <a:endParaRPr/>
          </a:p>
        </p:txBody>
      </p:sp>
      <p:sp>
        <p:nvSpPr>
          <p:cNvPr id="76" name="object 76"/>
          <p:cNvSpPr/>
          <p:nvPr/>
        </p:nvSpPr>
        <p:spPr>
          <a:xfrm>
            <a:off x="1562480" y="4419549"/>
            <a:ext cx="729919" cy="137337"/>
          </a:xfrm>
          <a:prstGeom prst="rect">
            <a:avLst/>
          </a:prstGeom>
          <a:blipFill>
            <a:blip r:embed="rId15" cstate="print"/>
            <a:stretch>
              <a:fillRect/>
            </a:stretch>
          </a:blipFill>
        </p:spPr>
        <p:txBody>
          <a:bodyPr wrap="square" lIns="0" tIns="0" rIns="0" bIns="0" rtlCol="0"/>
          <a:lstStyle/>
          <a:p>
            <a:endParaRPr/>
          </a:p>
        </p:txBody>
      </p:sp>
      <p:sp>
        <p:nvSpPr>
          <p:cNvPr id="77" name="object 77"/>
          <p:cNvSpPr/>
          <p:nvPr/>
        </p:nvSpPr>
        <p:spPr>
          <a:xfrm>
            <a:off x="2732151" y="4071620"/>
            <a:ext cx="898905" cy="190119"/>
          </a:xfrm>
          <a:prstGeom prst="rect">
            <a:avLst/>
          </a:prstGeom>
          <a:blipFill>
            <a:blip r:embed="rId16" cstate="print"/>
            <a:stretch>
              <a:fillRect/>
            </a:stretch>
          </a:blipFill>
        </p:spPr>
        <p:txBody>
          <a:bodyPr wrap="square" lIns="0" tIns="0" rIns="0" bIns="0" rtlCol="0"/>
          <a:lstStyle/>
          <a:p>
            <a:endParaRPr/>
          </a:p>
        </p:txBody>
      </p:sp>
      <p:sp>
        <p:nvSpPr>
          <p:cNvPr id="78" name="object 78"/>
          <p:cNvSpPr/>
          <p:nvPr/>
        </p:nvSpPr>
        <p:spPr>
          <a:xfrm>
            <a:off x="2570988" y="5293131"/>
            <a:ext cx="737806" cy="140182"/>
          </a:xfrm>
          <a:prstGeom prst="rect">
            <a:avLst/>
          </a:prstGeom>
          <a:blipFill>
            <a:blip r:embed="rId17" cstate="print"/>
            <a:stretch>
              <a:fillRect/>
            </a:stretch>
          </a:blipFill>
        </p:spPr>
        <p:txBody>
          <a:bodyPr wrap="square" lIns="0" tIns="0" rIns="0" bIns="0" rtlCol="0"/>
          <a:lstStyle/>
          <a:p>
            <a:endParaRPr/>
          </a:p>
        </p:txBody>
      </p:sp>
      <p:sp>
        <p:nvSpPr>
          <p:cNvPr id="79" name="object 79"/>
          <p:cNvSpPr/>
          <p:nvPr/>
        </p:nvSpPr>
        <p:spPr>
          <a:xfrm>
            <a:off x="1596389" y="5295607"/>
            <a:ext cx="510692" cy="257975"/>
          </a:xfrm>
          <a:prstGeom prst="rect">
            <a:avLst/>
          </a:prstGeom>
          <a:blipFill>
            <a:blip r:embed="rId18" cstate="print"/>
            <a:stretch>
              <a:fillRect/>
            </a:stretch>
          </a:blipFill>
        </p:spPr>
        <p:txBody>
          <a:bodyPr wrap="square" lIns="0" tIns="0" rIns="0" bIns="0" rtlCol="0"/>
          <a:lstStyle/>
          <a:p>
            <a:endParaRPr/>
          </a:p>
        </p:txBody>
      </p:sp>
      <p:sp>
        <p:nvSpPr>
          <p:cNvPr id="80" name="object 80"/>
          <p:cNvSpPr/>
          <p:nvPr/>
        </p:nvSpPr>
        <p:spPr>
          <a:xfrm>
            <a:off x="1054252" y="5522987"/>
            <a:ext cx="500418" cy="106986"/>
          </a:xfrm>
          <a:prstGeom prst="rect">
            <a:avLst/>
          </a:prstGeom>
          <a:blipFill>
            <a:blip r:embed="rId19" cstate="print"/>
            <a:stretch>
              <a:fillRect/>
            </a:stretch>
          </a:blipFill>
        </p:spPr>
        <p:txBody>
          <a:bodyPr wrap="square" lIns="0" tIns="0" rIns="0" bIns="0" rtlCol="0"/>
          <a:lstStyle/>
          <a:p>
            <a:endParaRPr/>
          </a:p>
        </p:txBody>
      </p:sp>
      <p:sp>
        <p:nvSpPr>
          <p:cNvPr id="81" name="object 81"/>
          <p:cNvSpPr/>
          <p:nvPr/>
        </p:nvSpPr>
        <p:spPr>
          <a:xfrm>
            <a:off x="2152014" y="5487261"/>
            <a:ext cx="688467" cy="100827"/>
          </a:xfrm>
          <a:prstGeom prst="rect">
            <a:avLst/>
          </a:prstGeom>
          <a:blipFill>
            <a:blip r:embed="rId20" cstate="print"/>
            <a:stretch>
              <a:fillRect/>
            </a:stretch>
          </a:blipFill>
        </p:spPr>
        <p:txBody>
          <a:bodyPr wrap="square" lIns="0" tIns="0" rIns="0" bIns="0" rtlCol="0"/>
          <a:lstStyle/>
          <a:p>
            <a:endParaRPr/>
          </a:p>
        </p:txBody>
      </p:sp>
      <p:sp>
        <p:nvSpPr>
          <p:cNvPr id="82" name="object 82"/>
          <p:cNvSpPr/>
          <p:nvPr/>
        </p:nvSpPr>
        <p:spPr>
          <a:xfrm>
            <a:off x="754278" y="5367502"/>
            <a:ext cx="378193" cy="145313"/>
          </a:xfrm>
          <a:prstGeom prst="rect">
            <a:avLst/>
          </a:prstGeom>
          <a:blipFill>
            <a:blip r:embed="rId21" cstate="print"/>
            <a:stretch>
              <a:fillRect/>
            </a:stretch>
          </a:blipFill>
        </p:spPr>
        <p:txBody>
          <a:bodyPr wrap="square" lIns="0" tIns="0" rIns="0" bIns="0" rtlCol="0"/>
          <a:lstStyle/>
          <a:p>
            <a:endParaRPr/>
          </a:p>
        </p:txBody>
      </p:sp>
      <p:sp>
        <p:nvSpPr>
          <p:cNvPr id="83" name="object 83"/>
          <p:cNvSpPr/>
          <p:nvPr/>
        </p:nvSpPr>
        <p:spPr>
          <a:xfrm>
            <a:off x="6532880" y="3630396"/>
            <a:ext cx="1315466" cy="473100"/>
          </a:xfrm>
          <a:prstGeom prst="rect">
            <a:avLst/>
          </a:prstGeom>
          <a:blipFill>
            <a:blip r:embed="rId22" cstate="print"/>
            <a:stretch>
              <a:fillRect/>
            </a:stretch>
          </a:blipFill>
        </p:spPr>
        <p:txBody>
          <a:bodyPr wrap="square" lIns="0" tIns="0" rIns="0" bIns="0" rtlCol="0"/>
          <a:lstStyle/>
          <a:p>
            <a:endParaRPr dirty="0"/>
          </a:p>
        </p:txBody>
      </p:sp>
      <p:sp>
        <p:nvSpPr>
          <p:cNvPr id="84" name="object 84"/>
          <p:cNvSpPr/>
          <p:nvPr/>
        </p:nvSpPr>
        <p:spPr>
          <a:xfrm>
            <a:off x="5704966" y="4096168"/>
            <a:ext cx="1044384" cy="308571"/>
          </a:xfrm>
          <a:prstGeom prst="rect">
            <a:avLst/>
          </a:prstGeom>
          <a:blipFill>
            <a:blip r:embed="rId23" cstate="print"/>
            <a:stretch>
              <a:fillRect/>
            </a:stretch>
          </a:blipFill>
        </p:spPr>
        <p:txBody>
          <a:bodyPr wrap="square" lIns="0" tIns="0" rIns="0" bIns="0" rtlCol="0"/>
          <a:lstStyle/>
          <a:p>
            <a:endParaRPr/>
          </a:p>
        </p:txBody>
      </p:sp>
      <p:sp>
        <p:nvSpPr>
          <p:cNvPr id="85" name="object 85"/>
          <p:cNvSpPr/>
          <p:nvPr/>
        </p:nvSpPr>
        <p:spPr>
          <a:xfrm>
            <a:off x="4597146" y="5090274"/>
            <a:ext cx="678954" cy="295287"/>
          </a:xfrm>
          <a:prstGeom prst="rect">
            <a:avLst/>
          </a:prstGeom>
          <a:blipFill>
            <a:blip r:embed="rId24" cstate="print"/>
            <a:stretch>
              <a:fillRect/>
            </a:stretch>
          </a:blipFill>
        </p:spPr>
        <p:txBody>
          <a:bodyPr wrap="square" lIns="0" tIns="0" rIns="0" bIns="0" rtlCol="0"/>
          <a:lstStyle/>
          <a:p>
            <a:endParaRPr/>
          </a:p>
        </p:txBody>
      </p:sp>
      <p:sp>
        <p:nvSpPr>
          <p:cNvPr id="86" name="object 86"/>
          <p:cNvSpPr/>
          <p:nvPr/>
        </p:nvSpPr>
        <p:spPr>
          <a:xfrm>
            <a:off x="9119869" y="4385945"/>
            <a:ext cx="2520950" cy="0"/>
          </a:xfrm>
          <a:custGeom>
            <a:avLst/>
            <a:gdLst/>
            <a:ahLst/>
            <a:cxnLst/>
            <a:rect l="l" t="t" r="r" b="b"/>
            <a:pathLst>
              <a:path w="2520950">
                <a:moveTo>
                  <a:pt x="0" y="0"/>
                </a:moveTo>
                <a:lnTo>
                  <a:pt x="2520441" y="0"/>
                </a:lnTo>
              </a:path>
            </a:pathLst>
          </a:custGeom>
          <a:ln w="6350">
            <a:solidFill>
              <a:srgbClr val="000000"/>
            </a:solidFill>
          </a:ln>
        </p:spPr>
        <p:txBody>
          <a:bodyPr wrap="square" lIns="0" tIns="0" rIns="0" bIns="0" rtlCol="0"/>
          <a:lstStyle/>
          <a:p>
            <a:endParaRPr/>
          </a:p>
        </p:txBody>
      </p:sp>
      <p:sp>
        <p:nvSpPr>
          <p:cNvPr id="87" name="object 87"/>
          <p:cNvSpPr txBox="1"/>
          <p:nvPr/>
        </p:nvSpPr>
        <p:spPr>
          <a:xfrm>
            <a:off x="9108440" y="1267713"/>
            <a:ext cx="2532380" cy="2997200"/>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041C2C"/>
                </a:solidFill>
                <a:latin typeface="Arial"/>
                <a:cs typeface="Arial"/>
              </a:rPr>
              <a:t>Key</a:t>
            </a:r>
            <a:r>
              <a:rPr sz="1400" b="1" spc="-15" dirty="0">
                <a:solidFill>
                  <a:srgbClr val="041C2C"/>
                </a:solidFill>
                <a:latin typeface="Arial"/>
                <a:cs typeface="Arial"/>
              </a:rPr>
              <a:t> </a:t>
            </a:r>
            <a:r>
              <a:rPr sz="1400" b="1" spc="-5" dirty="0">
                <a:solidFill>
                  <a:srgbClr val="041C2C"/>
                </a:solidFill>
                <a:latin typeface="Arial"/>
                <a:cs typeface="Arial"/>
              </a:rPr>
              <a:t>insights</a:t>
            </a:r>
            <a:endParaRPr sz="1400" dirty="0">
              <a:latin typeface="Arial"/>
              <a:cs typeface="Arial"/>
            </a:endParaRPr>
          </a:p>
          <a:p>
            <a:pPr marL="101600" marR="311150" indent="-24130">
              <a:lnSpc>
                <a:spcPct val="129000"/>
              </a:lnSpc>
              <a:spcBef>
                <a:spcPts val="575"/>
              </a:spcBef>
              <a:tabLst>
                <a:tab pos="343535" algn="l"/>
              </a:tabLst>
            </a:pPr>
            <a:r>
              <a:rPr sz="1400" b="1" dirty="0">
                <a:solidFill>
                  <a:srgbClr val="FFFFFF"/>
                </a:solidFill>
                <a:latin typeface="Arial"/>
                <a:cs typeface="Arial"/>
              </a:rPr>
              <a:t>1	</a:t>
            </a:r>
            <a:r>
              <a:rPr sz="2100" b="1" spc="-7" baseline="1984" dirty="0">
                <a:solidFill>
                  <a:srgbClr val="041C2C"/>
                </a:solidFill>
                <a:latin typeface="Arial"/>
                <a:cs typeface="Arial"/>
              </a:rPr>
              <a:t>2024 market </a:t>
            </a:r>
            <a:r>
              <a:rPr sz="1400" b="1" spc="-5" dirty="0">
                <a:solidFill>
                  <a:srgbClr val="041C2C"/>
                </a:solidFill>
                <a:latin typeface="Arial"/>
                <a:cs typeface="Arial"/>
              </a:rPr>
              <a:t> Eurobank </a:t>
            </a:r>
            <a:r>
              <a:rPr sz="1400" spc="-5" dirty="0">
                <a:solidFill>
                  <a:srgbClr val="041C2C"/>
                </a:solidFill>
                <a:latin typeface="Arial"/>
                <a:cs typeface="Arial"/>
              </a:rPr>
              <a:t>holds </a:t>
            </a:r>
            <a:r>
              <a:rPr sz="1400" dirty="0">
                <a:solidFill>
                  <a:srgbClr val="041C2C"/>
                </a:solidFill>
                <a:latin typeface="Arial"/>
                <a:cs typeface="Arial"/>
              </a:rPr>
              <a:t>a</a:t>
            </a:r>
            <a:r>
              <a:rPr sz="1400" spc="-95" dirty="0">
                <a:solidFill>
                  <a:srgbClr val="041C2C"/>
                </a:solidFill>
                <a:latin typeface="Arial"/>
                <a:cs typeface="Arial"/>
              </a:rPr>
              <a:t> </a:t>
            </a:r>
            <a:r>
              <a:rPr sz="1400" b="1" spc="-5" dirty="0">
                <a:solidFill>
                  <a:srgbClr val="041C2C"/>
                </a:solidFill>
                <a:latin typeface="Arial"/>
                <a:cs typeface="Arial"/>
              </a:rPr>
              <a:t>leading</a:t>
            </a:r>
            <a:endParaRPr sz="1400" dirty="0">
              <a:latin typeface="Arial"/>
              <a:cs typeface="Arial"/>
            </a:endParaRPr>
          </a:p>
          <a:p>
            <a:pPr marL="101600" marR="108585">
              <a:lnSpc>
                <a:spcPct val="100000"/>
              </a:lnSpc>
            </a:pPr>
            <a:r>
              <a:rPr sz="1400" b="1" spc="-5" dirty="0">
                <a:solidFill>
                  <a:srgbClr val="041C2C"/>
                </a:solidFill>
                <a:latin typeface="Arial"/>
                <a:cs typeface="Arial"/>
              </a:rPr>
              <a:t>position </a:t>
            </a:r>
            <a:r>
              <a:rPr sz="1400" b="1" dirty="0">
                <a:solidFill>
                  <a:srgbClr val="041C2C"/>
                </a:solidFill>
                <a:latin typeface="Arial"/>
                <a:cs typeface="Arial"/>
              </a:rPr>
              <a:t>in </a:t>
            </a:r>
            <a:r>
              <a:rPr sz="1400" b="1" spc="-5" dirty="0">
                <a:solidFill>
                  <a:srgbClr val="041C2C"/>
                </a:solidFill>
                <a:latin typeface="Arial"/>
                <a:cs typeface="Arial"/>
              </a:rPr>
              <a:t>retail auto</a:t>
            </a:r>
            <a:r>
              <a:rPr sz="1400" b="1" spc="-125" dirty="0">
                <a:solidFill>
                  <a:srgbClr val="041C2C"/>
                </a:solidFill>
                <a:latin typeface="Arial"/>
                <a:cs typeface="Arial"/>
              </a:rPr>
              <a:t> </a:t>
            </a:r>
            <a:r>
              <a:rPr sz="1400" spc="-5" dirty="0">
                <a:solidFill>
                  <a:srgbClr val="041C2C"/>
                </a:solidFill>
                <a:latin typeface="Arial"/>
                <a:cs typeface="Arial"/>
              </a:rPr>
              <a:t>loans,  capturing </a:t>
            </a:r>
            <a:r>
              <a:rPr sz="1400" dirty="0">
                <a:solidFill>
                  <a:srgbClr val="041C2C"/>
                </a:solidFill>
                <a:latin typeface="Arial"/>
                <a:cs typeface="Arial"/>
              </a:rPr>
              <a:t>~27% </a:t>
            </a:r>
            <a:r>
              <a:rPr sz="1400" spc="-5" dirty="0">
                <a:solidFill>
                  <a:srgbClr val="041C2C"/>
                </a:solidFill>
                <a:latin typeface="Arial"/>
                <a:cs typeface="Arial"/>
              </a:rPr>
              <a:t>of </a:t>
            </a:r>
            <a:r>
              <a:rPr sz="1400" spc="-10" dirty="0">
                <a:solidFill>
                  <a:srgbClr val="041C2C"/>
                </a:solidFill>
                <a:latin typeface="Arial"/>
                <a:cs typeface="Arial"/>
              </a:rPr>
              <a:t>value  </a:t>
            </a:r>
            <a:r>
              <a:rPr sz="1400" spc="-5" dirty="0">
                <a:solidFill>
                  <a:srgbClr val="041C2C"/>
                </a:solidFill>
                <a:latin typeface="Arial"/>
                <a:cs typeface="Arial"/>
              </a:rPr>
              <a:t>generated, </a:t>
            </a:r>
            <a:r>
              <a:rPr sz="1400" spc="-10" dirty="0">
                <a:solidFill>
                  <a:srgbClr val="041C2C"/>
                </a:solidFill>
                <a:latin typeface="Arial"/>
                <a:cs typeface="Arial"/>
              </a:rPr>
              <a:t>yet </a:t>
            </a:r>
            <a:r>
              <a:rPr sz="1400" b="1" dirty="0">
                <a:solidFill>
                  <a:srgbClr val="041C2C"/>
                </a:solidFill>
                <a:latin typeface="Arial"/>
                <a:cs typeface="Arial"/>
              </a:rPr>
              <a:t>it</a:t>
            </a:r>
            <a:r>
              <a:rPr sz="1400" b="1" spc="-65" dirty="0">
                <a:solidFill>
                  <a:srgbClr val="041C2C"/>
                </a:solidFill>
                <a:latin typeface="Arial"/>
                <a:cs typeface="Arial"/>
              </a:rPr>
              <a:t> </a:t>
            </a:r>
            <a:r>
              <a:rPr sz="1400" b="1" spc="-5" dirty="0">
                <a:solidFill>
                  <a:srgbClr val="041C2C"/>
                </a:solidFill>
                <a:latin typeface="Arial"/>
                <a:cs typeface="Arial"/>
              </a:rPr>
              <a:t>captures</a:t>
            </a:r>
            <a:endParaRPr sz="1400" dirty="0">
              <a:latin typeface="Arial"/>
              <a:cs typeface="Arial"/>
            </a:endParaRPr>
          </a:p>
          <a:p>
            <a:pPr marL="101600" marR="5080">
              <a:lnSpc>
                <a:spcPct val="100000"/>
              </a:lnSpc>
            </a:pPr>
            <a:r>
              <a:rPr sz="1400" b="1" dirty="0">
                <a:solidFill>
                  <a:srgbClr val="041C2C"/>
                </a:solidFill>
                <a:latin typeface="Arial"/>
                <a:cs typeface="Arial"/>
              </a:rPr>
              <a:t>&lt;10% </a:t>
            </a:r>
            <a:r>
              <a:rPr sz="1400" b="1" spc="-5" dirty="0">
                <a:solidFill>
                  <a:srgbClr val="041C2C"/>
                </a:solidFill>
                <a:latin typeface="Arial"/>
                <a:cs typeface="Arial"/>
              </a:rPr>
              <a:t>of the total market </a:t>
            </a:r>
            <a:r>
              <a:rPr sz="1400" spc="-5" dirty="0">
                <a:solidFill>
                  <a:srgbClr val="041C2C"/>
                </a:solidFill>
                <a:latin typeface="Arial"/>
                <a:cs typeface="Arial"/>
              </a:rPr>
              <a:t>as</a:t>
            </a:r>
            <a:r>
              <a:rPr sz="1400" spc="-114" dirty="0">
                <a:solidFill>
                  <a:srgbClr val="041C2C"/>
                </a:solidFill>
                <a:latin typeface="Arial"/>
                <a:cs typeface="Arial"/>
              </a:rPr>
              <a:t> </a:t>
            </a:r>
            <a:r>
              <a:rPr sz="1400" spc="-5" dirty="0">
                <a:solidFill>
                  <a:srgbClr val="041C2C"/>
                </a:solidFill>
                <a:latin typeface="Arial"/>
                <a:cs typeface="Arial"/>
              </a:rPr>
              <a:t>it  is not present in new pockets  of growth </a:t>
            </a:r>
            <a:r>
              <a:rPr sz="1400" dirty="0">
                <a:solidFill>
                  <a:srgbClr val="041C2C"/>
                </a:solidFill>
                <a:latin typeface="Arial"/>
                <a:cs typeface="Arial"/>
              </a:rPr>
              <a:t>(e.g., </a:t>
            </a:r>
            <a:r>
              <a:rPr sz="1400" spc="-5" dirty="0">
                <a:solidFill>
                  <a:srgbClr val="041C2C"/>
                </a:solidFill>
                <a:latin typeface="Arial"/>
                <a:cs typeface="Arial"/>
              </a:rPr>
              <a:t>operating  leasing) and (almost)  </a:t>
            </a:r>
            <a:r>
              <a:rPr sz="1400" b="1" spc="-5" dirty="0">
                <a:solidFill>
                  <a:srgbClr val="041C2C"/>
                </a:solidFill>
                <a:latin typeface="Arial"/>
                <a:cs typeface="Arial"/>
              </a:rPr>
              <a:t>corporate segments </a:t>
            </a:r>
            <a:r>
              <a:rPr sz="1400" spc="-5" dirty="0">
                <a:solidFill>
                  <a:srgbClr val="041C2C"/>
                </a:solidFill>
                <a:latin typeface="Arial"/>
                <a:cs typeface="Arial"/>
              </a:rPr>
              <a:t>which  are dominated by Captive  </a:t>
            </a:r>
            <a:r>
              <a:rPr sz="1400" dirty="0">
                <a:solidFill>
                  <a:srgbClr val="041C2C"/>
                </a:solidFill>
                <a:latin typeface="Arial"/>
                <a:cs typeface="Arial"/>
              </a:rPr>
              <a:t>OEMs and</a:t>
            </a:r>
            <a:r>
              <a:rPr sz="1400" spc="-50" dirty="0">
                <a:solidFill>
                  <a:srgbClr val="041C2C"/>
                </a:solidFill>
                <a:latin typeface="Arial"/>
                <a:cs typeface="Arial"/>
              </a:rPr>
              <a:t> </a:t>
            </a:r>
            <a:r>
              <a:rPr sz="1400" spc="-5" dirty="0">
                <a:solidFill>
                  <a:srgbClr val="041C2C"/>
                </a:solidFill>
                <a:latin typeface="Arial"/>
                <a:cs typeface="Arial"/>
              </a:rPr>
              <a:t>LeaseCos</a:t>
            </a:r>
            <a:endParaRPr sz="1400" dirty="0">
              <a:latin typeface="Arial"/>
              <a:cs typeface="Arial"/>
            </a:endParaRPr>
          </a:p>
        </p:txBody>
      </p:sp>
      <p:sp>
        <p:nvSpPr>
          <p:cNvPr id="88" name="object 88"/>
          <p:cNvSpPr txBox="1"/>
          <p:nvPr/>
        </p:nvSpPr>
        <p:spPr>
          <a:xfrm>
            <a:off x="9197467" y="4748910"/>
            <a:ext cx="2453005" cy="1520190"/>
          </a:xfrm>
          <a:prstGeom prst="rect">
            <a:avLst/>
          </a:prstGeom>
        </p:spPr>
        <p:txBody>
          <a:bodyPr vert="horz" wrap="square" lIns="0" tIns="12700" rIns="0" bIns="0" rtlCol="0">
            <a:spAutoFit/>
          </a:bodyPr>
          <a:lstStyle/>
          <a:p>
            <a:pPr marL="12700" marR="327025">
              <a:lnSpc>
                <a:spcPct val="100000"/>
              </a:lnSpc>
              <a:spcBef>
                <a:spcPts val="100"/>
              </a:spcBef>
            </a:pPr>
            <a:r>
              <a:rPr sz="1400" b="1" spc="-5" dirty="0">
                <a:solidFill>
                  <a:srgbClr val="041C2C"/>
                </a:solidFill>
                <a:latin typeface="Arial"/>
                <a:cs typeface="Arial"/>
              </a:rPr>
              <a:t>The </a:t>
            </a:r>
            <a:r>
              <a:rPr sz="1400" b="1" dirty="0">
                <a:solidFill>
                  <a:srgbClr val="041C2C"/>
                </a:solidFill>
                <a:latin typeface="Arial"/>
                <a:cs typeface="Arial"/>
              </a:rPr>
              <a:t>Greek </a:t>
            </a:r>
            <a:r>
              <a:rPr sz="1400" b="1" spc="-5" dirty="0">
                <a:solidFill>
                  <a:srgbClr val="041C2C"/>
                </a:solidFill>
                <a:latin typeface="Arial"/>
                <a:cs typeface="Arial"/>
              </a:rPr>
              <a:t>auto finance  value </a:t>
            </a:r>
            <a:r>
              <a:rPr sz="1400" b="1" spc="-10" dirty="0">
                <a:solidFill>
                  <a:srgbClr val="041C2C"/>
                </a:solidFill>
                <a:latin typeface="Arial"/>
                <a:cs typeface="Arial"/>
              </a:rPr>
              <a:t>pool </a:t>
            </a:r>
            <a:r>
              <a:rPr sz="1400" b="1" dirty="0">
                <a:solidFill>
                  <a:srgbClr val="041C2C"/>
                </a:solidFill>
                <a:latin typeface="Arial"/>
                <a:cs typeface="Arial"/>
              </a:rPr>
              <a:t>is </a:t>
            </a:r>
            <a:r>
              <a:rPr sz="1400" b="1" spc="-5" dirty="0">
                <a:solidFill>
                  <a:srgbClr val="041C2C"/>
                </a:solidFill>
                <a:latin typeface="Arial"/>
                <a:cs typeface="Arial"/>
              </a:rPr>
              <a:t>expected</a:t>
            </a:r>
            <a:r>
              <a:rPr sz="1400" b="1" spc="-130" dirty="0">
                <a:solidFill>
                  <a:srgbClr val="041C2C"/>
                </a:solidFill>
                <a:latin typeface="Arial"/>
                <a:cs typeface="Arial"/>
              </a:rPr>
              <a:t> </a:t>
            </a:r>
            <a:r>
              <a:rPr sz="1400" b="1" dirty="0">
                <a:solidFill>
                  <a:srgbClr val="041C2C"/>
                </a:solidFill>
                <a:latin typeface="Arial"/>
                <a:cs typeface="Arial"/>
              </a:rPr>
              <a:t>to  </a:t>
            </a:r>
            <a:r>
              <a:rPr sz="1400" b="1" spc="-5" dirty="0">
                <a:solidFill>
                  <a:srgbClr val="041C2C"/>
                </a:solidFill>
                <a:latin typeface="Arial"/>
                <a:cs typeface="Arial"/>
              </a:rPr>
              <a:t>grow by </a:t>
            </a:r>
            <a:r>
              <a:rPr sz="1400" b="1" spc="-15" dirty="0">
                <a:solidFill>
                  <a:srgbClr val="041C2C"/>
                </a:solidFill>
                <a:latin typeface="Arial"/>
                <a:cs typeface="Arial"/>
              </a:rPr>
              <a:t>~50%</a:t>
            </a:r>
            <a:r>
              <a:rPr sz="1400" spc="-15" dirty="0">
                <a:solidFill>
                  <a:srgbClr val="041C2C"/>
                </a:solidFill>
                <a:latin typeface="Arial"/>
                <a:cs typeface="Arial"/>
              </a:rPr>
              <a:t>,</a:t>
            </a:r>
            <a:r>
              <a:rPr sz="1400" spc="5" dirty="0">
                <a:solidFill>
                  <a:srgbClr val="041C2C"/>
                </a:solidFill>
                <a:latin typeface="Arial"/>
                <a:cs typeface="Arial"/>
              </a:rPr>
              <a:t> </a:t>
            </a:r>
            <a:r>
              <a:rPr sz="1400" spc="-5" dirty="0">
                <a:solidFill>
                  <a:srgbClr val="041C2C"/>
                </a:solidFill>
                <a:latin typeface="Arial"/>
                <a:cs typeface="Arial"/>
              </a:rPr>
              <a:t>reaching</a:t>
            </a:r>
            <a:endParaRPr sz="1400" dirty="0">
              <a:latin typeface="Arial"/>
              <a:cs typeface="Arial"/>
            </a:endParaRPr>
          </a:p>
          <a:p>
            <a:pPr marL="12700" marR="5080">
              <a:lnSpc>
                <a:spcPct val="100000"/>
              </a:lnSpc>
              <a:spcBef>
                <a:spcPts val="5"/>
              </a:spcBef>
            </a:pPr>
            <a:r>
              <a:rPr sz="1400" b="1" spc="-5" dirty="0">
                <a:solidFill>
                  <a:srgbClr val="041C2C"/>
                </a:solidFill>
                <a:latin typeface="Arial"/>
                <a:cs typeface="Arial"/>
              </a:rPr>
              <a:t>~380M€ </a:t>
            </a:r>
            <a:r>
              <a:rPr sz="1400" b="1" dirty="0">
                <a:solidFill>
                  <a:srgbClr val="041C2C"/>
                </a:solidFill>
                <a:latin typeface="Arial"/>
                <a:cs typeface="Arial"/>
              </a:rPr>
              <a:t>in </a:t>
            </a:r>
            <a:r>
              <a:rPr sz="1400" b="1" spc="-5" dirty="0">
                <a:solidFill>
                  <a:srgbClr val="041C2C"/>
                </a:solidFill>
                <a:latin typeface="Arial"/>
                <a:cs typeface="Arial"/>
              </a:rPr>
              <a:t>revenue after</a:t>
            </a:r>
            <a:r>
              <a:rPr sz="1400" b="1" spc="-130" dirty="0">
                <a:solidFill>
                  <a:srgbClr val="041C2C"/>
                </a:solidFill>
                <a:latin typeface="Arial"/>
                <a:cs typeface="Arial"/>
              </a:rPr>
              <a:t> </a:t>
            </a:r>
            <a:r>
              <a:rPr sz="1400" b="1" spc="-5" dirty="0">
                <a:solidFill>
                  <a:srgbClr val="041C2C"/>
                </a:solidFill>
                <a:latin typeface="Arial"/>
                <a:cs typeface="Arial"/>
              </a:rPr>
              <a:t>risk</a:t>
            </a:r>
            <a:r>
              <a:rPr sz="1400" spc="-5" dirty="0">
                <a:solidFill>
                  <a:srgbClr val="041C2C"/>
                </a:solidFill>
                <a:latin typeface="Arial"/>
                <a:cs typeface="Arial"/>
              </a:rPr>
              <a:t>,  driven </a:t>
            </a:r>
            <a:r>
              <a:rPr sz="1400" dirty="0">
                <a:solidFill>
                  <a:srgbClr val="041C2C"/>
                </a:solidFill>
                <a:latin typeface="Arial"/>
                <a:cs typeface="Arial"/>
              </a:rPr>
              <a:t>by rising car sales </a:t>
            </a:r>
            <a:r>
              <a:rPr sz="1400" spc="-5" dirty="0">
                <a:solidFill>
                  <a:srgbClr val="041C2C"/>
                </a:solidFill>
                <a:latin typeface="Arial"/>
                <a:cs typeface="Arial"/>
              </a:rPr>
              <a:t>and  increasing financing  penetration</a:t>
            </a:r>
            <a:endParaRPr sz="1400" dirty="0">
              <a:latin typeface="Arial"/>
              <a:cs typeface="Arial"/>
            </a:endParaRPr>
          </a:p>
        </p:txBody>
      </p:sp>
      <p:sp>
        <p:nvSpPr>
          <p:cNvPr id="89" name="object 89"/>
          <p:cNvSpPr txBox="1"/>
          <p:nvPr/>
        </p:nvSpPr>
        <p:spPr>
          <a:xfrm>
            <a:off x="541426" y="6265875"/>
            <a:ext cx="3379470" cy="391795"/>
          </a:xfrm>
          <a:prstGeom prst="rect">
            <a:avLst/>
          </a:prstGeom>
        </p:spPr>
        <p:txBody>
          <a:bodyPr vert="horz" wrap="square" lIns="0" tIns="12700" rIns="0" bIns="0" rtlCol="0">
            <a:spAutoFit/>
          </a:bodyPr>
          <a:lstStyle/>
          <a:p>
            <a:pPr marL="241300" indent="-228600">
              <a:lnSpc>
                <a:spcPct val="100000"/>
              </a:lnSpc>
              <a:spcBef>
                <a:spcPts val="100"/>
              </a:spcBef>
              <a:buAutoNum type="arabicPeriod"/>
              <a:tabLst>
                <a:tab pos="240665" algn="l"/>
                <a:tab pos="241300" algn="l"/>
              </a:tabLst>
            </a:pPr>
            <a:r>
              <a:rPr sz="800" spc="-5" dirty="0">
                <a:latin typeface="Arial"/>
                <a:cs typeface="Arial"/>
              </a:rPr>
              <a:t>Individuals, freelancers, personal</a:t>
            </a:r>
            <a:r>
              <a:rPr sz="800" spc="35" dirty="0">
                <a:latin typeface="Arial"/>
                <a:cs typeface="Arial"/>
              </a:rPr>
              <a:t> </a:t>
            </a:r>
            <a:r>
              <a:rPr sz="800" spc="-5" dirty="0">
                <a:latin typeface="Arial"/>
                <a:cs typeface="Arial"/>
              </a:rPr>
              <a:t>companies</a:t>
            </a:r>
            <a:endParaRPr sz="800">
              <a:latin typeface="Arial"/>
              <a:cs typeface="Arial"/>
            </a:endParaRPr>
          </a:p>
          <a:p>
            <a:pPr marL="241300" indent="-228600">
              <a:lnSpc>
                <a:spcPct val="100000"/>
              </a:lnSpc>
              <a:spcBef>
                <a:spcPts val="5"/>
              </a:spcBef>
              <a:buAutoNum type="arabicPeriod"/>
              <a:tabLst>
                <a:tab pos="240665" algn="l"/>
                <a:tab pos="241300" algn="l"/>
              </a:tabLst>
            </a:pPr>
            <a:r>
              <a:rPr sz="800" spc="-5" dirty="0">
                <a:latin typeface="Arial"/>
                <a:cs typeface="Arial"/>
              </a:rPr>
              <a:t>Including dealers with </a:t>
            </a:r>
            <a:r>
              <a:rPr sz="800" dirty="0">
                <a:latin typeface="Arial"/>
                <a:cs typeface="Arial"/>
              </a:rPr>
              <a:t>OEM</a:t>
            </a:r>
            <a:r>
              <a:rPr sz="800" spc="25" dirty="0">
                <a:latin typeface="Arial"/>
                <a:cs typeface="Arial"/>
              </a:rPr>
              <a:t> </a:t>
            </a:r>
            <a:r>
              <a:rPr sz="800" spc="-5" dirty="0">
                <a:latin typeface="Arial"/>
                <a:cs typeface="Arial"/>
              </a:rPr>
              <a:t>captives</a:t>
            </a:r>
            <a:endParaRPr sz="800">
              <a:latin typeface="Arial"/>
              <a:cs typeface="Arial"/>
            </a:endParaRPr>
          </a:p>
          <a:p>
            <a:pPr marL="241300" indent="-228600">
              <a:lnSpc>
                <a:spcPct val="100000"/>
              </a:lnSpc>
              <a:buAutoNum type="arabicPeriod"/>
              <a:tabLst>
                <a:tab pos="240665" algn="l"/>
                <a:tab pos="241300" algn="l"/>
              </a:tabLst>
            </a:pPr>
            <a:r>
              <a:rPr sz="800" spc="-5" dirty="0">
                <a:latin typeface="Arial"/>
                <a:cs typeface="Arial"/>
              </a:rPr>
              <a:t>Does not include Eurobank Leasing exposures in Corporate</a:t>
            </a:r>
            <a:r>
              <a:rPr sz="800" spc="190" dirty="0">
                <a:latin typeface="Arial"/>
                <a:cs typeface="Arial"/>
              </a:rPr>
              <a:t> </a:t>
            </a:r>
            <a:r>
              <a:rPr sz="800" dirty="0">
                <a:latin typeface="Arial"/>
                <a:cs typeface="Arial"/>
              </a:rPr>
              <a:t>segment</a:t>
            </a:r>
            <a:endParaRPr sz="800">
              <a:latin typeface="Arial"/>
              <a:cs typeface="Arial"/>
            </a:endParaRPr>
          </a:p>
        </p:txBody>
      </p:sp>
      <p:sp>
        <p:nvSpPr>
          <p:cNvPr id="90" name="object 90"/>
          <p:cNvSpPr/>
          <p:nvPr/>
        </p:nvSpPr>
        <p:spPr>
          <a:xfrm>
            <a:off x="2408427" y="4349699"/>
            <a:ext cx="845438" cy="267385"/>
          </a:xfrm>
          <a:prstGeom prst="rect">
            <a:avLst/>
          </a:prstGeom>
          <a:blipFill>
            <a:blip r:embed="rId25" cstate="print"/>
            <a:stretch>
              <a:fillRect/>
            </a:stretch>
          </a:blipFill>
        </p:spPr>
        <p:txBody>
          <a:bodyPr wrap="square" lIns="0" tIns="0" rIns="0" bIns="0" rtlCol="0"/>
          <a:lstStyle/>
          <a:p>
            <a:endParaRPr/>
          </a:p>
        </p:txBody>
      </p:sp>
      <p:sp>
        <p:nvSpPr>
          <p:cNvPr id="91" name="object 91"/>
          <p:cNvSpPr/>
          <p:nvPr/>
        </p:nvSpPr>
        <p:spPr>
          <a:xfrm>
            <a:off x="6790308" y="4901793"/>
            <a:ext cx="980770" cy="194716"/>
          </a:xfrm>
          <a:prstGeom prst="rect">
            <a:avLst/>
          </a:prstGeom>
          <a:blipFill>
            <a:blip r:embed="rId10" cstate="print"/>
            <a:stretch>
              <a:fillRect/>
            </a:stretch>
          </a:blipFill>
        </p:spPr>
        <p:txBody>
          <a:bodyPr wrap="square" lIns="0" tIns="0" rIns="0" bIns="0" rtlCol="0"/>
          <a:lstStyle/>
          <a:p>
            <a:endParaRPr/>
          </a:p>
        </p:txBody>
      </p:sp>
      <p:sp>
        <p:nvSpPr>
          <p:cNvPr id="92" name="object 92"/>
          <p:cNvSpPr/>
          <p:nvPr/>
        </p:nvSpPr>
        <p:spPr>
          <a:xfrm>
            <a:off x="5853557" y="4617110"/>
            <a:ext cx="558888" cy="156057"/>
          </a:xfrm>
          <a:prstGeom prst="rect">
            <a:avLst/>
          </a:prstGeom>
          <a:blipFill>
            <a:blip r:embed="rId11" cstate="print"/>
            <a:stretch>
              <a:fillRect/>
            </a:stretch>
          </a:blipFill>
        </p:spPr>
        <p:txBody>
          <a:bodyPr wrap="square" lIns="0" tIns="0" rIns="0" bIns="0" rtlCol="0"/>
          <a:lstStyle/>
          <a:p>
            <a:endParaRPr dirty="0"/>
          </a:p>
        </p:txBody>
      </p:sp>
      <p:sp>
        <p:nvSpPr>
          <p:cNvPr id="93" name="object 93"/>
          <p:cNvSpPr txBox="1"/>
          <p:nvPr/>
        </p:nvSpPr>
        <p:spPr>
          <a:xfrm>
            <a:off x="747750" y="5699924"/>
            <a:ext cx="2561590" cy="313690"/>
          </a:xfrm>
          <a:prstGeom prst="rect">
            <a:avLst/>
          </a:prstGeom>
          <a:solidFill>
            <a:srgbClr val="C9EEFF"/>
          </a:solidFill>
          <a:ln w="28575">
            <a:solidFill>
              <a:srgbClr val="051F79"/>
            </a:solidFill>
          </a:ln>
        </p:spPr>
        <p:txBody>
          <a:bodyPr vert="horz" wrap="square" lIns="0" tIns="45720" rIns="0" bIns="0" rtlCol="0">
            <a:spAutoFit/>
          </a:bodyPr>
          <a:lstStyle/>
          <a:p>
            <a:pPr marL="57785">
              <a:lnSpc>
                <a:spcPct val="100000"/>
              </a:lnSpc>
              <a:spcBef>
                <a:spcPts val="360"/>
              </a:spcBef>
            </a:pPr>
            <a:r>
              <a:rPr sz="1400" b="1" dirty="0">
                <a:latin typeface="Arial"/>
                <a:cs typeface="Arial"/>
              </a:rPr>
              <a:t>Retail</a:t>
            </a:r>
            <a:r>
              <a:rPr sz="1350" b="1" baseline="24691" dirty="0">
                <a:latin typeface="Arial"/>
                <a:cs typeface="Arial"/>
              </a:rPr>
              <a:t>1 </a:t>
            </a:r>
            <a:r>
              <a:rPr sz="1400" b="1" spc="-15" dirty="0">
                <a:latin typeface="Arial"/>
                <a:cs typeface="Arial"/>
              </a:rPr>
              <a:t>Auto </a:t>
            </a:r>
            <a:r>
              <a:rPr sz="1400" b="1" spc="-5" dirty="0">
                <a:latin typeface="Arial"/>
                <a:cs typeface="Arial"/>
              </a:rPr>
              <a:t>loan via</a:t>
            </a:r>
            <a:r>
              <a:rPr sz="1400" b="1" spc="30" dirty="0">
                <a:latin typeface="Arial"/>
                <a:cs typeface="Arial"/>
              </a:rPr>
              <a:t> </a:t>
            </a:r>
            <a:r>
              <a:rPr sz="1400" b="1" dirty="0">
                <a:latin typeface="Arial"/>
                <a:cs typeface="Arial"/>
              </a:rPr>
              <a:t>dealers</a:t>
            </a:r>
            <a:r>
              <a:rPr sz="1350" b="1" baseline="24691" dirty="0">
                <a:latin typeface="Arial"/>
                <a:cs typeface="Arial"/>
              </a:rPr>
              <a:t>2</a:t>
            </a:r>
            <a:endParaRPr sz="1350" baseline="24691">
              <a:latin typeface="Arial"/>
              <a:cs typeface="Arial"/>
            </a:endParaRPr>
          </a:p>
        </p:txBody>
      </p:sp>
    </p:spTree>
    <p:extLst>
      <p:ext uri="{BB962C8B-B14F-4D97-AF65-F5344CB8AC3E}">
        <p14:creationId xmlns:p14="http://schemas.microsoft.com/office/powerpoint/2010/main" val="657549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2EDE69-AD90-423C-C72C-E6BEE80849F9}"/>
              </a:ext>
            </a:extLst>
          </p:cNvPr>
          <p:cNvPicPr>
            <a:picLocks noChangeAspect="1"/>
          </p:cNvPicPr>
          <p:nvPr/>
        </p:nvPicPr>
        <p:blipFill>
          <a:blip r:embed="rId2"/>
          <a:stretch>
            <a:fillRect/>
          </a:stretch>
        </p:blipFill>
        <p:spPr>
          <a:xfrm>
            <a:off x="-21771" y="14059"/>
            <a:ext cx="12191999" cy="976542"/>
          </a:xfrm>
          <a:prstGeom prst="rect">
            <a:avLst/>
          </a:prstGeom>
        </p:spPr>
      </p:pic>
      <p:sp>
        <p:nvSpPr>
          <p:cNvPr id="3" name="object 3"/>
          <p:cNvSpPr txBox="1"/>
          <p:nvPr/>
        </p:nvSpPr>
        <p:spPr>
          <a:xfrm>
            <a:off x="11563350" y="6485635"/>
            <a:ext cx="89535" cy="151323"/>
          </a:xfrm>
          <a:prstGeom prst="rect">
            <a:avLst/>
          </a:prstGeom>
        </p:spPr>
        <p:txBody>
          <a:bodyPr vert="horz" wrap="square" lIns="0" tIns="12700" rIns="0" bIns="0" rtlCol="0">
            <a:spAutoFit/>
          </a:bodyPr>
          <a:lstStyle/>
          <a:p>
            <a:pPr marL="12700">
              <a:lnSpc>
                <a:spcPct val="100000"/>
              </a:lnSpc>
              <a:spcBef>
                <a:spcPts val="100"/>
              </a:spcBef>
            </a:pPr>
            <a:r>
              <a:rPr lang="en-US" sz="900" dirty="0">
                <a:latin typeface="Arial"/>
                <a:cs typeface="Arial"/>
              </a:rPr>
              <a:t>3</a:t>
            </a:r>
            <a:endParaRPr sz="900" dirty="0">
              <a:latin typeface="Arial"/>
              <a:cs typeface="Arial"/>
            </a:endParaRPr>
          </a:p>
        </p:txBody>
      </p:sp>
      <p:sp>
        <p:nvSpPr>
          <p:cNvPr id="4" name="object 4"/>
          <p:cNvSpPr txBox="1">
            <a:spLocks noGrp="1"/>
          </p:cNvSpPr>
          <p:nvPr>
            <p:ph type="title"/>
          </p:nvPr>
        </p:nvSpPr>
        <p:spPr>
          <a:xfrm>
            <a:off x="542036" y="156210"/>
            <a:ext cx="10836910" cy="755976"/>
          </a:xfrm>
          <a:prstGeom prst="rect">
            <a:avLst/>
          </a:prstGeom>
        </p:spPr>
        <p:txBody>
          <a:bodyPr vert="horz" wrap="square" lIns="0" tIns="12065" rIns="0" bIns="0" rtlCol="0">
            <a:spAutoFit/>
          </a:bodyPr>
          <a:lstStyle/>
          <a:p>
            <a:pPr marL="12700">
              <a:lnSpc>
                <a:spcPts val="2900"/>
              </a:lnSpc>
              <a:spcBef>
                <a:spcPts val="95"/>
              </a:spcBef>
            </a:pPr>
            <a:r>
              <a:rPr lang="en-US" spc="-5" dirty="0"/>
              <a:t>1i</a:t>
            </a:r>
            <a:r>
              <a:rPr spc="-5" dirty="0"/>
              <a:t> | </a:t>
            </a:r>
            <a:r>
              <a:rPr lang="en-US" spc="-5" dirty="0"/>
              <a:t>T</a:t>
            </a:r>
            <a:r>
              <a:rPr spc="-10" dirty="0"/>
              <a:t>he Greek </a:t>
            </a:r>
            <a:r>
              <a:rPr spc="-5" dirty="0"/>
              <a:t>auto finance value pool is expected</a:t>
            </a:r>
            <a:r>
              <a:rPr spc="140" dirty="0"/>
              <a:t> </a:t>
            </a:r>
            <a:r>
              <a:rPr spc="-5" dirty="0"/>
              <a:t>to</a:t>
            </a:r>
          </a:p>
          <a:p>
            <a:pPr marL="12700">
              <a:lnSpc>
                <a:spcPts val="2900"/>
              </a:lnSpc>
            </a:pPr>
            <a:r>
              <a:rPr spc="-5" dirty="0"/>
              <a:t>increase by 50%, reaching </a:t>
            </a:r>
            <a:r>
              <a:rPr spc="-10" dirty="0"/>
              <a:t>~380M€ </a:t>
            </a:r>
            <a:r>
              <a:rPr spc="-5" dirty="0"/>
              <a:t>in </a:t>
            </a:r>
            <a:r>
              <a:rPr lang="en-US" spc="-5" dirty="0"/>
              <a:t>RAR</a:t>
            </a:r>
            <a:r>
              <a:rPr spc="-10" dirty="0"/>
              <a:t> </a:t>
            </a:r>
            <a:r>
              <a:rPr spc="-5" dirty="0"/>
              <a:t>by</a:t>
            </a:r>
            <a:r>
              <a:rPr spc="95" dirty="0"/>
              <a:t> </a:t>
            </a:r>
            <a:r>
              <a:rPr spc="-10" dirty="0"/>
              <a:t>2030</a:t>
            </a:r>
          </a:p>
        </p:txBody>
      </p:sp>
      <p:sp>
        <p:nvSpPr>
          <p:cNvPr id="5" name="object 5"/>
          <p:cNvSpPr/>
          <p:nvPr/>
        </p:nvSpPr>
        <p:spPr>
          <a:xfrm>
            <a:off x="1339850" y="3175000"/>
            <a:ext cx="262255" cy="0"/>
          </a:xfrm>
          <a:custGeom>
            <a:avLst/>
            <a:gdLst/>
            <a:ahLst/>
            <a:cxnLst/>
            <a:rect l="l" t="t" r="r" b="b"/>
            <a:pathLst>
              <a:path w="262255">
                <a:moveTo>
                  <a:pt x="0" y="0"/>
                </a:moveTo>
                <a:lnTo>
                  <a:pt x="262000" y="0"/>
                </a:lnTo>
              </a:path>
            </a:pathLst>
          </a:custGeom>
          <a:ln w="9525">
            <a:solidFill>
              <a:srgbClr val="E6E6E6"/>
            </a:solidFill>
          </a:ln>
        </p:spPr>
        <p:txBody>
          <a:bodyPr wrap="square" lIns="0" tIns="0" rIns="0" bIns="0" rtlCol="0"/>
          <a:lstStyle/>
          <a:p>
            <a:endParaRPr/>
          </a:p>
        </p:txBody>
      </p:sp>
      <p:sp>
        <p:nvSpPr>
          <p:cNvPr id="6" name="object 6"/>
          <p:cNvSpPr/>
          <p:nvPr/>
        </p:nvSpPr>
        <p:spPr>
          <a:xfrm>
            <a:off x="2259076" y="2959100"/>
            <a:ext cx="262255" cy="0"/>
          </a:xfrm>
          <a:custGeom>
            <a:avLst/>
            <a:gdLst/>
            <a:ahLst/>
            <a:cxnLst/>
            <a:rect l="l" t="t" r="r" b="b"/>
            <a:pathLst>
              <a:path w="262255">
                <a:moveTo>
                  <a:pt x="0" y="0"/>
                </a:moveTo>
                <a:lnTo>
                  <a:pt x="261874" y="0"/>
                </a:lnTo>
              </a:path>
            </a:pathLst>
          </a:custGeom>
          <a:ln w="9525">
            <a:solidFill>
              <a:srgbClr val="E6E6E6"/>
            </a:solidFill>
          </a:ln>
        </p:spPr>
        <p:txBody>
          <a:bodyPr wrap="square" lIns="0" tIns="0" rIns="0" bIns="0" rtlCol="0"/>
          <a:lstStyle/>
          <a:p>
            <a:endParaRPr/>
          </a:p>
        </p:txBody>
      </p:sp>
      <p:sp>
        <p:nvSpPr>
          <p:cNvPr id="7" name="object 7"/>
          <p:cNvSpPr/>
          <p:nvPr/>
        </p:nvSpPr>
        <p:spPr>
          <a:xfrm>
            <a:off x="3176651" y="2819400"/>
            <a:ext cx="262255" cy="0"/>
          </a:xfrm>
          <a:custGeom>
            <a:avLst/>
            <a:gdLst/>
            <a:ahLst/>
            <a:cxnLst/>
            <a:rect l="l" t="t" r="r" b="b"/>
            <a:pathLst>
              <a:path w="262254">
                <a:moveTo>
                  <a:pt x="0" y="0"/>
                </a:moveTo>
                <a:lnTo>
                  <a:pt x="261874" y="0"/>
                </a:lnTo>
              </a:path>
            </a:pathLst>
          </a:custGeom>
          <a:ln w="9525">
            <a:solidFill>
              <a:srgbClr val="E6E6E6"/>
            </a:solidFill>
          </a:ln>
        </p:spPr>
        <p:txBody>
          <a:bodyPr wrap="square" lIns="0" tIns="0" rIns="0" bIns="0" rtlCol="0"/>
          <a:lstStyle/>
          <a:p>
            <a:endParaRPr/>
          </a:p>
        </p:txBody>
      </p:sp>
      <p:sp>
        <p:nvSpPr>
          <p:cNvPr id="8" name="object 8"/>
          <p:cNvSpPr/>
          <p:nvPr/>
        </p:nvSpPr>
        <p:spPr>
          <a:xfrm>
            <a:off x="4094226" y="2754376"/>
            <a:ext cx="262255" cy="0"/>
          </a:xfrm>
          <a:custGeom>
            <a:avLst/>
            <a:gdLst/>
            <a:ahLst/>
            <a:cxnLst/>
            <a:rect l="l" t="t" r="r" b="b"/>
            <a:pathLst>
              <a:path w="262254">
                <a:moveTo>
                  <a:pt x="0" y="0"/>
                </a:moveTo>
                <a:lnTo>
                  <a:pt x="261874" y="0"/>
                </a:lnTo>
              </a:path>
            </a:pathLst>
          </a:custGeom>
          <a:ln w="9525">
            <a:solidFill>
              <a:srgbClr val="E6E6E6"/>
            </a:solidFill>
          </a:ln>
        </p:spPr>
        <p:txBody>
          <a:bodyPr wrap="square" lIns="0" tIns="0" rIns="0" bIns="0" rtlCol="0"/>
          <a:lstStyle/>
          <a:p>
            <a:endParaRPr/>
          </a:p>
        </p:txBody>
      </p:sp>
      <p:sp>
        <p:nvSpPr>
          <p:cNvPr id="9" name="object 9"/>
          <p:cNvSpPr/>
          <p:nvPr/>
        </p:nvSpPr>
        <p:spPr>
          <a:xfrm>
            <a:off x="5013325" y="2738501"/>
            <a:ext cx="262255" cy="0"/>
          </a:xfrm>
          <a:custGeom>
            <a:avLst/>
            <a:gdLst/>
            <a:ahLst/>
            <a:cxnLst/>
            <a:rect l="l" t="t" r="r" b="b"/>
            <a:pathLst>
              <a:path w="262254">
                <a:moveTo>
                  <a:pt x="0" y="0"/>
                </a:moveTo>
                <a:lnTo>
                  <a:pt x="262000" y="0"/>
                </a:lnTo>
              </a:path>
            </a:pathLst>
          </a:custGeom>
          <a:ln w="9525">
            <a:solidFill>
              <a:srgbClr val="E6E6E6"/>
            </a:solidFill>
          </a:ln>
        </p:spPr>
        <p:txBody>
          <a:bodyPr wrap="square" lIns="0" tIns="0" rIns="0" bIns="0" rtlCol="0"/>
          <a:lstStyle/>
          <a:p>
            <a:endParaRPr/>
          </a:p>
        </p:txBody>
      </p:sp>
      <p:sp>
        <p:nvSpPr>
          <p:cNvPr id="10" name="object 10"/>
          <p:cNvSpPr/>
          <p:nvPr/>
        </p:nvSpPr>
        <p:spPr>
          <a:xfrm>
            <a:off x="685190" y="3175711"/>
            <a:ext cx="655955" cy="393065"/>
          </a:xfrm>
          <a:custGeom>
            <a:avLst/>
            <a:gdLst/>
            <a:ahLst/>
            <a:cxnLst/>
            <a:rect l="l" t="t" r="r" b="b"/>
            <a:pathLst>
              <a:path w="655955" h="393064">
                <a:moveTo>
                  <a:pt x="0" y="392734"/>
                </a:moveTo>
                <a:lnTo>
                  <a:pt x="655789" y="392734"/>
                </a:lnTo>
                <a:lnTo>
                  <a:pt x="655789" y="0"/>
                </a:lnTo>
                <a:lnTo>
                  <a:pt x="0" y="0"/>
                </a:lnTo>
                <a:lnTo>
                  <a:pt x="0" y="392734"/>
                </a:lnTo>
                <a:close/>
              </a:path>
            </a:pathLst>
          </a:custGeom>
          <a:solidFill>
            <a:srgbClr val="00A9F4"/>
          </a:solidFill>
        </p:spPr>
        <p:txBody>
          <a:bodyPr wrap="square" lIns="0" tIns="0" rIns="0" bIns="0" rtlCol="0"/>
          <a:lstStyle/>
          <a:p>
            <a:endParaRPr/>
          </a:p>
        </p:txBody>
      </p:sp>
      <p:sp>
        <p:nvSpPr>
          <p:cNvPr id="11" name="object 11"/>
          <p:cNvSpPr/>
          <p:nvPr/>
        </p:nvSpPr>
        <p:spPr>
          <a:xfrm>
            <a:off x="685190" y="3175711"/>
            <a:ext cx="655955" cy="393065"/>
          </a:xfrm>
          <a:custGeom>
            <a:avLst/>
            <a:gdLst/>
            <a:ahLst/>
            <a:cxnLst/>
            <a:rect l="l" t="t" r="r" b="b"/>
            <a:pathLst>
              <a:path w="655955" h="393064">
                <a:moveTo>
                  <a:pt x="0" y="392734"/>
                </a:moveTo>
                <a:lnTo>
                  <a:pt x="655789" y="392734"/>
                </a:lnTo>
                <a:lnTo>
                  <a:pt x="655789" y="0"/>
                </a:lnTo>
                <a:lnTo>
                  <a:pt x="0" y="0"/>
                </a:lnTo>
                <a:lnTo>
                  <a:pt x="0" y="392734"/>
                </a:lnTo>
                <a:close/>
              </a:path>
            </a:pathLst>
          </a:custGeom>
          <a:ln w="9525">
            <a:solidFill>
              <a:srgbClr val="FFFFFF"/>
            </a:solidFill>
          </a:ln>
        </p:spPr>
        <p:txBody>
          <a:bodyPr wrap="square" lIns="0" tIns="0" rIns="0" bIns="0" rtlCol="0"/>
          <a:lstStyle/>
          <a:p>
            <a:endParaRPr/>
          </a:p>
        </p:txBody>
      </p:sp>
      <p:sp>
        <p:nvSpPr>
          <p:cNvPr id="12" name="object 12"/>
          <p:cNvSpPr/>
          <p:nvPr/>
        </p:nvSpPr>
        <p:spPr>
          <a:xfrm>
            <a:off x="5275707" y="2738450"/>
            <a:ext cx="655955" cy="542925"/>
          </a:xfrm>
          <a:custGeom>
            <a:avLst/>
            <a:gdLst/>
            <a:ahLst/>
            <a:cxnLst/>
            <a:rect l="l" t="t" r="r" b="b"/>
            <a:pathLst>
              <a:path w="655954" h="542925">
                <a:moveTo>
                  <a:pt x="0" y="542594"/>
                </a:moveTo>
                <a:lnTo>
                  <a:pt x="655789" y="542594"/>
                </a:lnTo>
                <a:lnTo>
                  <a:pt x="655789" y="0"/>
                </a:lnTo>
                <a:lnTo>
                  <a:pt x="0" y="0"/>
                </a:lnTo>
                <a:lnTo>
                  <a:pt x="0" y="542594"/>
                </a:lnTo>
                <a:close/>
              </a:path>
            </a:pathLst>
          </a:custGeom>
          <a:solidFill>
            <a:srgbClr val="00A9F4"/>
          </a:solidFill>
        </p:spPr>
        <p:txBody>
          <a:bodyPr wrap="square" lIns="0" tIns="0" rIns="0" bIns="0" rtlCol="0"/>
          <a:lstStyle/>
          <a:p>
            <a:endParaRPr/>
          </a:p>
        </p:txBody>
      </p:sp>
      <p:sp>
        <p:nvSpPr>
          <p:cNvPr id="13" name="object 13"/>
          <p:cNvSpPr/>
          <p:nvPr/>
        </p:nvSpPr>
        <p:spPr>
          <a:xfrm>
            <a:off x="5275707" y="2738450"/>
            <a:ext cx="655955" cy="542925"/>
          </a:xfrm>
          <a:custGeom>
            <a:avLst/>
            <a:gdLst/>
            <a:ahLst/>
            <a:cxnLst/>
            <a:rect l="l" t="t" r="r" b="b"/>
            <a:pathLst>
              <a:path w="655954" h="542925">
                <a:moveTo>
                  <a:pt x="0" y="542594"/>
                </a:moveTo>
                <a:lnTo>
                  <a:pt x="655789" y="542594"/>
                </a:lnTo>
                <a:lnTo>
                  <a:pt x="655789" y="0"/>
                </a:lnTo>
                <a:lnTo>
                  <a:pt x="0" y="0"/>
                </a:lnTo>
                <a:lnTo>
                  <a:pt x="0" y="542594"/>
                </a:lnTo>
                <a:close/>
              </a:path>
            </a:pathLst>
          </a:custGeom>
          <a:ln w="9525">
            <a:solidFill>
              <a:srgbClr val="FFFFFF"/>
            </a:solidFill>
          </a:ln>
        </p:spPr>
        <p:txBody>
          <a:bodyPr wrap="square" lIns="0" tIns="0" rIns="0" bIns="0" rtlCol="0"/>
          <a:lstStyle/>
          <a:p>
            <a:endParaRPr/>
          </a:p>
        </p:txBody>
      </p:sp>
      <p:sp>
        <p:nvSpPr>
          <p:cNvPr id="14" name="object 14"/>
          <p:cNvSpPr/>
          <p:nvPr/>
        </p:nvSpPr>
        <p:spPr>
          <a:xfrm>
            <a:off x="1890776" y="3046476"/>
            <a:ext cx="368300" cy="129539"/>
          </a:xfrm>
          <a:custGeom>
            <a:avLst/>
            <a:gdLst/>
            <a:ahLst/>
            <a:cxnLst/>
            <a:rect l="l" t="t" r="r" b="b"/>
            <a:pathLst>
              <a:path w="368300" h="129539">
                <a:moveTo>
                  <a:pt x="0" y="129539"/>
                </a:moveTo>
                <a:lnTo>
                  <a:pt x="367792" y="129539"/>
                </a:lnTo>
                <a:lnTo>
                  <a:pt x="367792" y="0"/>
                </a:lnTo>
                <a:lnTo>
                  <a:pt x="0" y="0"/>
                </a:lnTo>
                <a:lnTo>
                  <a:pt x="0" y="129539"/>
                </a:lnTo>
                <a:close/>
              </a:path>
            </a:pathLst>
          </a:custGeom>
          <a:solidFill>
            <a:srgbClr val="2151FF"/>
          </a:solidFill>
        </p:spPr>
        <p:txBody>
          <a:bodyPr wrap="square" lIns="0" tIns="0" rIns="0" bIns="0" rtlCol="0"/>
          <a:lstStyle/>
          <a:p>
            <a:endParaRPr/>
          </a:p>
        </p:txBody>
      </p:sp>
      <p:sp>
        <p:nvSpPr>
          <p:cNvPr id="15" name="object 15"/>
          <p:cNvSpPr/>
          <p:nvPr/>
        </p:nvSpPr>
        <p:spPr>
          <a:xfrm>
            <a:off x="1603247" y="3046476"/>
            <a:ext cx="40005" cy="129539"/>
          </a:xfrm>
          <a:custGeom>
            <a:avLst/>
            <a:gdLst/>
            <a:ahLst/>
            <a:cxnLst/>
            <a:rect l="l" t="t" r="r" b="b"/>
            <a:pathLst>
              <a:path w="40005" h="129539">
                <a:moveTo>
                  <a:pt x="0" y="129539"/>
                </a:moveTo>
                <a:lnTo>
                  <a:pt x="39878" y="129539"/>
                </a:lnTo>
                <a:lnTo>
                  <a:pt x="39878" y="0"/>
                </a:lnTo>
                <a:lnTo>
                  <a:pt x="0" y="0"/>
                </a:lnTo>
                <a:lnTo>
                  <a:pt x="0" y="129539"/>
                </a:lnTo>
                <a:close/>
              </a:path>
            </a:pathLst>
          </a:custGeom>
          <a:solidFill>
            <a:srgbClr val="2151FF"/>
          </a:solidFill>
        </p:spPr>
        <p:txBody>
          <a:bodyPr wrap="square" lIns="0" tIns="0" rIns="0" bIns="0" rtlCol="0"/>
          <a:lstStyle/>
          <a:p>
            <a:endParaRPr/>
          </a:p>
        </p:txBody>
      </p:sp>
      <p:sp>
        <p:nvSpPr>
          <p:cNvPr id="16" name="object 16"/>
          <p:cNvSpPr/>
          <p:nvPr/>
        </p:nvSpPr>
        <p:spPr>
          <a:xfrm>
            <a:off x="2808351" y="2919983"/>
            <a:ext cx="369570" cy="0"/>
          </a:xfrm>
          <a:custGeom>
            <a:avLst/>
            <a:gdLst/>
            <a:ahLst/>
            <a:cxnLst/>
            <a:rect l="l" t="t" r="r" b="b"/>
            <a:pathLst>
              <a:path w="369569">
                <a:moveTo>
                  <a:pt x="0" y="0"/>
                </a:moveTo>
                <a:lnTo>
                  <a:pt x="369188" y="0"/>
                </a:lnTo>
              </a:path>
            </a:pathLst>
          </a:custGeom>
          <a:ln w="40005">
            <a:solidFill>
              <a:srgbClr val="2151FF"/>
            </a:solidFill>
          </a:ln>
        </p:spPr>
        <p:txBody>
          <a:bodyPr wrap="square" lIns="0" tIns="0" rIns="0" bIns="0" rtlCol="0"/>
          <a:lstStyle/>
          <a:p>
            <a:endParaRPr/>
          </a:p>
        </p:txBody>
      </p:sp>
      <p:sp>
        <p:nvSpPr>
          <p:cNvPr id="17" name="object 17"/>
          <p:cNvSpPr/>
          <p:nvPr/>
        </p:nvSpPr>
        <p:spPr>
          <a:xfrm>
            <a:off x="2520695" y="2881883"/>
            <a:ext cx="40005" cy="76200"/>
          </a:xfrm>
          <a:custGeom>
            <a:avLst/>
            <a:gdLst/>
            <a:ahLst/>
            <a:cxnLst/>
            <a:rect l="l" t="t" r="r" b="b"/>
            <a:pathLst>
              <a:path w="40005" h="76200">
                <a:moveTo>
                  <a:pt x="0" y="76200"/>
                </a:moveTo>
                <a:lnTo>
                  <a:pt x="40004" y="76200"/>
                </a:lnTo>
                <a:lnTo>
                  <a:pt x="40004" y="0"/>
                </a:lnTo>
                <a:lnTo>
                  <a:pt x="0" y="0"/>
                </a:lnTo>
                <a:lnTo>
                  <a:pt x="0" y="76200"/>
                </a:lnTo>
                <a:close/>
              </a:path>
            </a:pathLst>
          </a:custGeom>
          <a:solidFill>
            <a:srgbClr val="2151FF"/>
          </a:solidFill>
        </p:spPr>
        <p:txBody>
          <a:bodyPr wrap="square" lIns="0" tIns="0" rIns="0" bIns="0" rtlCol="0"/>
          <a:lstStyle/>
          <a:p>
            <a:endParaRPr/>
          </a:p>
        </p:txBody>
      </p:sp>
      <p:sp>
        <p:nvSpPr>
          <p:cNvPr id="18" name="object 18"/>
          <p:cNvSpPr/>
          <p:nvPr/>
        </p:nvSpPr>
        <p:spPr>
          <a:xfrm>
            <a:off x="3889375" y="2786633"/>
            <a:ext cx="205740" cy="0"/>
          </a:xfrm>
          <a:custGeom>
            <a:avLst/>
            <a:gdLst/>
            <a:ahLst/>
            <a:cxnLst/>
            <a:rect l="l" t="t" r="r" b="b"/>
            <a:pathLst>
              <a:path w="205739">
                <a:moveTo>
                  <a:pt x="0" y="0"/>
                </a:moveTo>
                <a:lnTo>
                  <a:pt x="205612" y="0"/>
                </a:lnTo>
              </a:path>
            </a:pathLst>
          </a:custGeom>
          <a:ln w="65532">
            <a:solidFill>
              <a:srgbClr val="2151FF"/>
            </a:solidFill>
          </a:ln>
        </p:spPr>
        <p:txBody>
          <a:bodyPr wrap="square" lIns="0" tIns="0" rIns="0" bIns="0" rtlCol="0"/>
          <a:lstStyle/>
          <a:p>
            <a:endParaRPr/>
          </a:p>
        </p:txBody>
      </p:sp>
      <p:sp>
        <p:nvSpPr>
          <p:cNvPr id="19" name="object 19"/>
          <p:cNvSpPr/>
          <p:nvPr/>
        </p:nvSpPr>
        <p:spPr>
          <a:xfrm>
            <a:off x="3439667" y="2786633"/>
            <a:ext cx="202565" cy="0"/>
          </a:xfrm>
          <a:custGeom>
            <a:avLst/>
            <a:gdLst/>
            <a:ahLst/>
            <a:cxnLst/>
            <a:rect l="l" t="t" r="r" b="b"/>
            <a:pathLst>
              <a:path w="202564">
                <a:moveTo>
                  <a:pt x="0" y="0"/>
                </a:moveTo>
                <a:lnTo>
                  <a:pt x="202057" y="0"/>
                </a:lnTo>
              </a:path>
            </a:pathLst>
          </a:custGeom>
          <a:ln w="65532">
            <a:solidFill>
              <a:srgbClr val="2151FF"/>
            </a:solidFill>
          </a:ln>
        </p:spPr>
        <p:txBody>
          <a:bodyPr wrap="square" lIns="0" tIns="0" rIns="0" bIns="0" rtlCol="0"/>
          <a:lstStyle/>
          <a:p>
            <a:endParaRPr/>
          </a:p>
        </p:txBody>
      </p:sp>
      <p:sp>
        <p:nvSpPr>
          <p:cNvPr id="20" name="object 20"/>
          <p:cNvSpPr/>
          <p:nvPr/>
        </p:nvSpPr>
        <p:spPr>
          <a:xfrm>
            <a:off x="4759325" y="2738501"/>
            <a:ext cx="254635" cy="15875"/>
          </a:xfrm>
          <a:custGeom>
            <a:avLst/>
            <a:gdLst/>
            <a:ahLst/>
            <a:cxnLst/>
            <a:rect l="l" t="t" r="r" b="b"/>
            <a:pathLst>
              <a:path w="254635" h="15875">
                <a:moveTo>
                  <a:pt x="0" y="15367"/>
                </a:moveTo>
                <a:lnTo>
                  <a:pt x="254635" y="15367"/>
                </a:lnTo>
                <a:lnTo>
                  <a:pt x="254635" y="0"/>
                </a:lnTo>
                <a:lnTo>
                  <a:pt x="0" y="0"/>
                </a:lnTo>
                <a:lnTo>
                  <a:pt x="0" y="15367"/>
                </a:lnTo>
                <a:close/>
              </a:path>
            </a:pathLst>
          </a:custGeom>
          <a:solidFill>
            <a:srgbClr val="2151FF"/>
          </a:solidFill>
        </p:spPr>
        <p:txBody>
          <a:bodyPr wrap="square" lIns="0" tIns="0" rIns="0" bIns="0" rtlCol="0"/>
          <a:lstStyle/>
          <a:p>
            <a:endParaRPr/>
          </a:p>
        </p:txBody>
      </p:sp>
      <p:sp>
        <p:nvSpPr>
          <p:cNvPr id="21" name="object 21"/>
          <p:cNvSpPr/>
          <p:nvPr/>
        </p:nvSpPr>
        <p:spPr>
          <a:xfrm>
            <a:off x="4357115" y="2738501"/>
            <a:ext cx="253365" cy="15875"/>
          </a:xfrm>
          <a:custGeom>
            <a:avLst/>
            <a:gdLst/>
            <a:ahLst/>
            <a:cxnLst/>
            <a:rect l="l" t="t" r="r" b="b"/>
            <a:pathLst>
              <a:path w="253364" h="15875">
                <a:moveTo>
                  <a:pt x="0" y="15367"/>
                </a:moveTo>
                <a:lnTo>
                  <a:pt x="252984" y="15367"/>
                </a:lnTo>
                <a:lnTo>
                  <a:pt x="252984" y="0"/>
                </a:lnTo>
                <a:lnTo>
                  <a:pt x="0" y="0"/>
                </a:lnTo>
                <a:lnTo>
                  <a:pt x="0" y="15367"/>
                </a:lnTo>
                <a:close/>
              </a:path>
            </a:pathLst>
          </a:custGeom>
          <a:solidFill>
            <a:srgbClr val="2151FF"/>
          </a:solidFill>
        </p:spPr>
        <p:txBody>
          <a:bodyPr wrap="square" lIns="0" tIns="0" rIns="0" bIns="0" rtlCol="0"/>
          <a:lstStyle/>
          <a:p>
            <a:endParaRPr/>
          </a:p>
        </p:txBody>
      </p:sp>
      <p:sp>
        <p:nvSpPr>
          <p:cNvPr id="22" name="object 22"/>
          <p:cNvSpPr/>
          <p:nvPr/>
        </p:nvSpPr>
        <p:spPr>
          <a:xfrm>
            <a:off x="1603247" y="3046476"/>
            <a:ext cx="655320" cy="129539"/>
          </a:xfrm>
          <a:custGeom>
            <a:avLst/>
            <a:gdLst/>
            <a:ahLst/>
            <a:cxnLst/>
            <a:rect l="l" t="t" r="r" b="b"/>
            <a:pathLst>
              <a:path w="655319" h="129539">
                <a:moveTo>
                  <a:pt x="0" y="0"/>
                </a:moveTo>
                <a:lnTo>
                  <a:pt x="655320" y="0"/>
                </a:lnTo>
                <a:lnTo>
                  <a:pt x="655320" y="129539"/>
                </a:lnTo>
                <a:lnTo>
                  <a:pt x="0" y="129539"/>
                </a:lnTo>
                <a:lnTo>
                  <a:pt x="0" y="0"/>
                </a:lnTo>
                <a:close/>
              </a:path>
            </a:pathLst>
          </a:custGeom>
          <a:ln w="9524">
            <a:solidFill>
              <a:srgbClr val="FFFFFF"/>
            </a:solidFill>
          </a:ln>
        </p:spPr>
        <p:txBody>
          <a:bodyPr wrap="square" lIns="0" tIns="0" rIns="0" bIns="0" rtlCol="0"/>
          <a:lstStyle/>
          <a:p>
            <a:endParaRPr/>
          </a:p>
        </p:txBody>
      </p:sp>
      <p:sp>
        <p:nvSpPr>
          <p:cNvPr id="23" name="object 23"/>
          <p:cNvSpPr/>
          <p:nvPr/>
        </p:nvSpPr>
        <p:spPr>
          <a:xfrm>
            <a:off x="2520695" y="2881883"/>
            <a:ext cx="657225" cy="76200"/>
          </a:xfrm>
          <a:custGeom>
            <a:avLst/>
            <a:gdLst/>
            <a:ahLst/>
            <a:cxnLst/>
            <a:rect l="l" t="t" r="r" b="b"/>
            <a:pathLst>
              <a:path w="657225" h="76200">
                <a:moveTo>
                  <a:pt x="0" y="0"/>
                </a:moveTo>
                <a:lnTo>
                  <a:pt x="656844" y="0"/>
                </a:lnTo>
                <a:lnTo>
                  <a:pt x="656844" y="76200"/>
                </a:lnTo>
                <a:lnTo>
                  <a:pt x="0" y="76200"/>
                </a:lnTo>
                <a:lnTo>
                  <a:pt x="0" y="0"/>
                </a:lnTo>
                <a:close/>
              </a:path>
            </a:pathLst>
          </a:custGeom>
          <a:ln w="9525">
            <a:solidFill>
              <a:srgbClr val="FFFFFF"/>
            </a:solidFill>
          </a:ln>
        </p:spPr>
        <p:txBody>
          <a:bodyPr wrap="square" lIns="0" tIns="0" rIns="0" bIns="0" rtlCol="0"/>
          <a:lstStyle/>
          <a:p>
            <a:endParaRPr/>
          </a:p>
        </p:txBody>
      </p:sp>
      <p:sp>
        <p:nvSpPr>
          <p:cNvPr id="24" name="object 24"/>
          <p:cNvSpPr/>
          <p:nvPr/>
        </p:nvSpPr>
        <p:spPr>
          <a:xfrm>
            <a:off x="3439667" y="2753867"/>
            <a:ext cx="655320" cy="66040"/>
          </a:xfrm>
          <a:custGeom>
            <a:avLst/>
            <a:gdLst/>
            <a:ahLst/>
            <a:cxnLst/>
            <a:rect l="l" t="t" r="r" b="b"/>
            <a:pathLst>
              <a:path w="655320" h="66039">
                <a:moveTo>
                  <a:pt x="0" y="0"/>
                </a:moveTo>
                <a:lnTo>
                  <a:pt x="655320" y="0"/>
                </a:lnTo>
                <a:lnTo>
                  <a:pt x="655320" y="65532"/>
                </a:lnTo>
                <a:lnTo>
                  <a:pt x="0" y="65532"/>
                </a:lnTo>
                <a:lnTo>
                  <a:pt x="0" y="0"/>
                </a:lnTo>
                <a:close/>
              </a:path>
            </a:pathLst>
          </a:custGeom>
          <a:ln w="9525">
            <a:solidFill>
              <a:srgbClr val="FFFFFF"/>
            </a:solidFill>
          </a:ln>
        </p:spPr>
        <p:txBody>
          <a:bodyPr wrap="square" lIns="0" tIns="0" rIns="0" bIns="0" rtlCol="0"/>
          <a:lstStyle/>
          <a:p>
            <a:endParaRPr/>
          </a:p>
        </p:txBody>
      </p:sp>
      <p:sp>
        <p:nvSpPr>
          <p:cNvPr id="25" name="object 25"/>
          <p:cNvSpPr/>
          <p:nvPr/>
        </p:nvSpPr>
        <p:spPr>
          <a:xfrm>
            <a:off x="4759325" y="2733738"/>
            <a:ext cx="259715" cy="25400"/>
          </a:xfrm>
          <a:custGeom>
            <a:avLst/>
            <a:gdLst/>
            <a:ahLst/>
            <a:cxnLst/>
            <a:rect l="l" t="t" r="r" b="b"/>
            <a:pathLst>
              <a:path w="259714" h="25400">
                <a:moveTo>
                  <a:pt x="0" y="24892"/>
                </a:moveTo>
                <a:lnTo>
                  <a:pt x="259397" y="24892"/>
                </a:lnTo>
                <a:lnTo>
                  <a:pt x="259397" y="0"/>
                </a:lnTo>
                <a:lnTo>
                  <a:pt x="0" y="0"/>
                </a:lnTo>
                <a:lnTo>
                  <a:pt x="0" y="24892"/>
                </a:lnTo>
                <a:close/>
              </a:path>
            </a:pathLst>
          </a:custGeom>
          <a:solidFill>
            <a:srgbClr val="FFFFFF"/>
          </a:solidFill>
        </p:spPr>
        <p:txBody>
          <a:bodyPr wrap="square" lIns="0" tIns="0" rIns="0" bIns="0" rtlCol="0"/>
          <a:lstStyle/>
          <a:p>
            <a:endParaRPr/>
          </a:p>
        </p:txBody>
      </p:sp>
      <p:sp>
        <p:nvSpPr>
          <p:cNvPr id="26" name="object 26"/>
          <p:cNvSpPr/>
          <p:nvPr/>
        </p:nvSpPr>
        <p:spPr>
          <a:xfrm>
            <a:off x="4352353" y="2733738"/>
            <a:ext cx="257810" cy="25400"/>
          </a:xfrm>
          <a:custGeom>
            <a:avLst/>
            <a:gdLst/>
            <a:ahLst/>
            <a:cxnLst/>
            <a:rect l="l" t="t" r="r" b="b"/>
            <a:pathLst>
              <a:path w="257810" h="25400">
                <a:moveTo>
                  <a:pt x="0" y="24892"/>
                </a:moveTo>
                <a:lnTo>
                  <a:pt x="257746" y="24892"/>
                </a:lnTo>
                <a:lnTo>
                  <a:pt x="257746" y="0"/>
                </a:lnTo>
                <a:lnTo>
                  <a:pt x="0" y="0"/>
                </a:lnTo>
                <a:lnTo>
                  <a:pt x="0" y="24892"/>
                </a:lnTo>
                <a:close/>
              </a:path>
            </a:pathLst>
          </a:custGeom>
          <a:solidFill>
            <a:srgbClr val="FFFFFF"/>
          </a:solidFill>
        </p:spPr>
        <p:txBody>
          <a:bodyPr wrap="square" lIns="0" tIns="0" rIns="0" bIns="0" rtlCol="0"/>
          <a:lstStyle/>
          <a:p>
            <a:endParaRPr/>
          </a:p>
        </p:txBody>
      </p:sp>
      <p:sp>
        <p:nvSpPr>
          <p:cNvPr id="27" name="object 27"/>
          <p:cNvSpPr/>
          <p:nvPr/>
        </p:nvSpPr>
        <p:spPr>
          <a:xfrm>
            <a:off x="2219325" y="2958083"/>
            <a:ext cx="39370" cy="88900"/>
          </a:xfrm>
          <a:custGeom>
            <a:avLst/>
            <a:gdLst/>
            <a:ahLst/>
            <a:cxnLst/>
            <a:rect l="l" t="t" r="r" b="b"/>
            <a:pathLst>
              <a:path w="39369" h="88900">
                <a:moveTo>
                  <a:pt x="0" y="88391"/>
                </a:moveTo>
                <a:lnTo>
                  <a:pt x="39243" y="88391"/>
                </a:lnTo>
                <a:lnTo>
                  <a:pt x="39243" y="0"/>
                </a:lnTo>
                <a:lnTo>
                  <a:pt x="0" y="0"/>
                </a:lnTo>
                <a:lnTo>
                  <a:pt x="0" y="88391"/>
                </a:lnTo>
                <a:close/>
              </a:path>
            </a:pathLst>
          </a:custGeom>
          <a:solidFill>
            <a:srgbClr val="00A9F4"/>
          </a:solidFill>
        </p:spPr>
        <p:txBody>
          <a:bodyPr wrap="square" lIns="0" tIns="0" rIns="0" bIns="0" rtlCol="0"/>
          <a:lstStyle/>
          <a:p>
            <a:endParaRPr/>
          </a:p>
        </p:txBody>
      </p:sp>
      <p:sp>
        <p:nvSpPr>
          <p:cNvPr id="28" name="object 28"/>
          <p:cNvSpPr/>
          <p:nvPr/>
        </p:nvSpPr>
        <p:spPr>
          <a:xfrm>
            <a:off x="1603247" y="2958083"/>
            <a:ext cx="368935" cy="88900"/>
          </a:xfrm>
          <a:custGeom>
            <a:avLst/>
            <a:gdLst/>
            <a:ahLst/>
            <a:cxnLst/>
            <a:rect l="l" t="t" r="r" b="b"/>
            <a:pathLst>
              <a:path w="368935" h="88900">
                <a:moveTo>
                  <a:pt x="0" y="88391"/>
                </a:moveTo>
                <a:lnTo>
                  <a:pt x="368427" y="88391"/>
                </a:lnTo>
                <a:lnTo>
                  <a:pt x="368427" y="0"/>
                </a:lnTo>
                <a:lnTo>
                  <a:pt x="0" y="0"/>
                </a:lnTo>
                <a:lnTo>
                  <a:pt x="0" y="88391"/>
                </a:lnTo>
                <a:close/>
              </a:path>
            </a:pathLst>
          </a:custGeom>
          <a:solidFill>
            <a:srgbClr val="00A9F4"/>
          </a:solidFill>
        </p:spPr>
        <p:txBody>
          <a:bodyPr wrap="square" lIns="0" tIns="0" rIns="0" bIns="0" rtlCol="0"/>
          <a:lstStyle/>
          <a:p>
            <a:endParaRPr/>
          </a:p>
        </p:txBody>
      </p:sp>
      <p:sp>
        <p:nvSpPr>
          <p:cNvPr id="29" name="object 29"/>
          <p:cNvSpPr/>
          <p:nvPr/>
        </p:nvSpPr>
        <p:spPr>
          <a:xfrm>
            <a:off x="3157220" y="2819400"/>
            <a:ext cx="0" cy="62865"/>
          </a:xfrm>
          <a:custGeom>
            <a:avLst/>
            <a:gdLst/>
            <a:ahLst/>
            <a:cxnLst/>
            <a:rect l="l" t="t" r="r" b="b"/>
            <a:pathLst>
              <a:path h="62864">
                <a:moveTo>
                  <a:pt x="0" y="0"/>
                </a:moveTo>
                <a:lnTo>
                  <a:pt x="0" y="62484"/>
                </a:lnTo>
              </a:path>
            </a:pathLst>
          </a:custGeom>
          <a:ln w="62484">
            <a:solidFill>
              <a:srgbClr val="00A9F4"/>
            </a:solidFill>
          </a:ln>
        </p:spPr>
        <p:txBody>
          <a:bodyPr wrap="square" lIns="0" tIns="0" rIns="0" bIns="0" rtlCol="0"/>
          <a:lstStyle/>
          <a:p>
            <a:endParaRPr/>
          </a:p>
        </p:txBody>
      </p:sp>
      <p:sp>
        <p:nvSpPr>
          <p:cNvPr id="30" name="object 30"/>
          <p:cNvSpPr/>
          <p:nvPr/>
        </p:nvSpPr>
        <p:spPr>
          <a:xfrm>
            <a:off x="2808351" y="2850642"/>
            <a:ext cx="81280" cy="0"/>
          </a:xfrm>
          <a:custGeom>
            <a:avLst/>
            <a:gdLst/>
            <a:ahLst/>
            <a:cxnLst/>
            <a:rect l="l" t="t" r="r" b="b"/>
            <a:pathLst>
              <a:path w="81280">
                <a:moveTo>
                  <a:pt x="0" y="0"/>
                </a:moveTo>
                <a:lnTo>
                  <a:pt x="80899" y="0"/>
                </a:lnTo>
              </a:path>
            </a:pathLst>
          </a:custGeom>
          <a:ln w="40005">
            <a:solidFill>
              <a:srgbClr val="00A9F4"/>
            </a:solidFill>
          </a:ln>
        </p:spPr>
        <p:txBody>
          <a:bodyPr wrap="square" lIns="0" tIns="0" rIns="0" bIns="0" rtlCol="0"/>
          <a:lstStyle/>
          <a:p>
            <a:endParaRPr/>
          </a:p>
        </p:txBody>
      </p:sp>
      <p:sp>
        <p:nvSpPr>
          <p:cNvPr id="31" name="object 31"/>
          <p:cNvSpPr/>
          <p:nvPr/>
        </p:nvSpPr>
        <p:spPr>
          <a:xfrm>
            <a:off x="2520695" y="2819400"/>
            <a:ext cx="40005" cy="62865"/>
          </a:xfrm>
          <a:custGeom>
            <a:avLst/>
            <a:gdLst/>
            <a:ahLst/>
            <a:cxnLst/>
            <a:rect l="l" t="t" r="r" b="b"/>
            <a:pathLst>
              <a:path w="40005" h="62864">
                <a:moveTo>
                  <a:pt x="0" y="62484"/>
                </a:moveTo>
                <a:lnTo>
                  <a:pt x="40004" y="62484"/>
                </a:lnTo>
                <a:lnTo>
                  <a:pt x="40004" y="0"/>
                </a:lnTo>
                <a:lnTo>
                  <a:pt x="0" y="0"/>
                </a:lnTo>
                <a:lnTo>
                  <a:pt x="0" y="62484"/>
                </a:lnTo>
                <a:close/>
              </a:path>
            </a:pathLst>
          </a:custGeom>
          <a:solidFill>
            <a:srgbClr val="00A9F4"/>
          </a:solidFill>
        </p:spPr>
        <p:txBody>
          <a:bodyPr wrap="square" lIns="0" tIns="0" rIns="0" bIns="0" rtlCol="0"/>
          <a:lstStyle/>
          <a:p>
            <a:endParaRPr/>
          </a:p>
        </p:txBody>
      </p:sp>
      <p:sp>
        <p:nvSpPr>
          <p:cNvPr id="32" name="object 32"/>
          <p:cNvSpPr/>
          <p:nvPr/>
        </p:nvSpPr>
        <p:spPr>
          <a:xfrm>
            <a:off x="1603247" y="2958083"/>
            <a:ext cx="655320" cy="88900"/>
          </a:xfrm>
          <a:custGeom>
            <a:avLst/>
            <a:gdLst/>
            <a:ahLst/>
            <a:cxnLst/>
            <a:rect l="l" t="t" r="r" b="b"/>
            <a:pathLst>
              <a:path w="655319" h="88900">
                <a:moveTo>
                  <a:pt x="0" y="0"/>
                </a:moveTo>
                <a:lnTo>
                  <a:pt x="655320" y="0"/>
                </a:lnTo>
                <a:lnTo>
                  <a:pt x="655320" y="88391"/>
                </a:lnTo>
                <a:lnTo>
                  <a:pt x="0" y="88391"/>
                </a:lnTo>
                <a:lnTo>
                  <a:pt x="0" y="0"/>
                </a:lnTo>
                <a:close/>
              </a:path>
            </a:pathLst>
          </a:custGeom>
          <a:ln w="9525">
            <a:solidFill>
              <a:srgbClr val="FFFFFF"/>
            </a:solidFill>
          </a:ln>
        </p:spPr>
        <p:txBody>
          <a:bodyPr wrap="square" lIns="0" tIns="0" rIns="0" bIns="0" rtlCol="0"/>
          <a:lstStyle/>
          <a:p>
            <a:endParaRPr/>
          </a:p>
        </p:txBody>
      </p:sp>
      <p:sp>
        <p:nvSpPr>
          <p:cNvPr id="33" name="object 33"/>
          <p:cNvSpPr/>
          <p:nvPr/>
        </p:nvSpPr>
        <p:spPr>
          <a:xfrm>
            <a:off x="2520695" y="2819400"/>
            <a:ext cx="657225" cy="62865"/>
          </a:xfrm>
          <a:custGeom>
            <a:avLst/>
            <a:gdLst/>
            <a:ahLst/>
            <a:cxnLst/>
            <a:rect l="l" t="t" r="r" b="b"/>
            <a:pathLst>
              <a:path w="657225" h="62864">
                <a:moveTo>
                  <a:pt x="0" y="0"/>
                </a:moveTo>
                <a:lnTo>
                  <a:pt x="656844" y="0"/>
                </a:lnTo>
                <a:lnTo>
                  <a:pt x="656844" y="62484"/>
                </a:lnTo>
                <a:lnTo>
                  <a:pt x="0" y="62484"/>
                </a:lnTo>
                <a:lnTo>
                  <a:pt x="0" y="0"/>
                </a:lnTo>
                <a:close/>
              </a:path>
            </a:pathLst>
          </a:custGeom>
          <a:ln w="9525">
            <a:solidFill>
              <a:srgbClr val="FFFFFF"/>
            </a:solidFill>
          </a:ln>
        </p:spPr>
        <p:txBody>
          <a:bodyPr wrap="square" lIns="0" tIns="0" rIns="0" bIns="0" rtlCol="0"/>
          <a:lstStyle/>
          <a:p>
            <a:endParaRPr/>
          </a:p>
        </p:txBody>
      </p:sp>
      <p:sp>
        <p:nvSpPr>
          <p:cNvPr id="34" name="object 34"/>
          <p:cNvSpPr/>
          <p:nvPr/>
        </p:nvSpPr>
        <p:spPr>
          <a:xfrm>
            <a:off x="554037" y="3956050"/>
            <a:ext cx="5509260" cy="0"/>
          </a:xfrm>
          <a:custGeom>
            <a:avLst/>
            <a:gdLst/>
            <a:ahLst/>
            <a:cxnLst/>
            <a:rect l="l" t="t" r="r" b="b"/>
            <a:pathLst>
              <a:path w="5509260">
                <a:moveTo>
                  <a:pt x="0" y="0"/>
                </a:moveTo>
                <a:lnTo>
                  <a:pt x="5508688" y="0"/>
                </a:lnTo>
              </a:path>
            </a:pathLst>
          </a:custGeom>
          <a:ln w="9525">
            <a:solidFill>
              <a:srgbClr val="000000"/>
            </a:solidFill>
          </a:ln>
        </p:spPr>
        <p:txBody>
          <a:bodyPr wrap="square" lIns="0" tIns="0" rIns="0" bIns="0" rtlCol="0"/>
          <a:lstStyle/>
          <a:p>
            <a:endParaRPr/>
          </a:p>
        </p:txBody>
      </p:sp>
      <p:sp>
        <p:nvSpPr>
          <p:cNvPr id="35" name="object 35"/>
          <p:cNvSpPr/>
          <p:nvPr/>
        </p:nvSpPr>
        <p:spPr>
          <a:xfrm>
            <a:off x="1011237" y="2276475"/>
            <a:ext cx="0" cy="622300"/>
          </a:xfrm>
          <a:custGeom>
            <a:avLst/>
            <a:gdLst/>
            <a:ahLst/>
            <a:cxnLst/>
            <a:rect l="l" t="t" r="r" b="b"/>
            <a:pathLst>
              <a:path h="622300">
                <a:moveTo>
                  <a:pt x="0" y="622300"/>
                </a:moveTo>
                <a:lnTo>
                  <a:pt x="0" y="0"/>
                </a:lnTo>
              </a:path>
            </a:pathLst>
          </a:custGeom>
          <a:ln w="19050">
            <a:solidFill>
              <a:srgbClr val="000000"/>
            </a:solidFill>
          </a:ln>
        </p:spPr>
        <p:txBody>
          <a:bodyPr wrap="square" lIns="0" tIns="0" rIns="0" bIns="0" rtlCol="0"/>
          <a:lstStyle/>
          <a:p>
            <a:endParaRPr/>
          </a:p>
        </p:txBody>
      </p:sp>
      <p:sp>
        <p:nvSpPr>
          <p:cNvPr id="36" name="object 36"/>
          <p:cNvSpPr/>
          <p:nvPr/>
        </p:nvSpPr>
        <p:spPr>
          <a:xfrm>
            <a:off x="1011237" y="2276475"/>
            <a:ext cx="4591050" cy="0"/>
          </a:xfrm>
          <a:custGeom>
            <a:avLst/>
            <a:gdLst/>
            <a:ahLst/>
            <a:cxnLst/>
            <a:rect l="l" t="t" r="r" b="b"/>
            <a:pathLst>
              <a:path w="4591050">
                <a:moveTo>
                  <a:pt x="0" y="0"/>
                </a:moveTo>
                <a:lnTo>
                  <a:pt x="4590986" y="0"/>
                </a:lnTo>
              </a:path>
            </a:pathLst>
          </a:custGeom>
          <a:ln w="19050">
            <a:solidFill>
              <a:srgbClr val="000000"/>
            </a:solidFill>
          </a:ln>
        </p:spPr>
        <p:txBody>
          <a:bodyPr wrap="square" lIns="0" tIns="0" rIns="0" bIns="0" rtlCol="0"/>
          <a:lstStyle/>
          <a:p>
            <a:endParaRPr/>
          </a:p>
        </p:txBody>
      </p:sp>
      <p:sp>
        <p:nvSpPr>
          <p:cNvPr id="37" name="object 37"/>
          <p:cNvSpPr/>
          <p:nvPr/>
        </p:nvSpPr>
        <p:spPr>
          <a:xfrm>
            <a:off x="5564123" y="2276475"/>
            <a:ext cx="76200" cy="152400"/>
          </a:xfrm>
          <a:prstGeom prst="rect">
            <a:avLst/>
          </a:prstGeom>
          <a:blipFill>
            <a:blip r:embed="rId3" cstate="print"/>
            <a:stretch>
              <a:fillRect/>
            </a:stretch>
          </a:blipFill>
        </p:spPr>
        <p:txBody>
          <a:bodyPr wrap="square" lIns="0" tIns="0" rIns="0" bIns="0" rtlCol="0"/>
          <a:lstStyle/>
          <a:p>
            <a:endParaRPr/>
          </a:p>
        </p:txBody>
      </p:sp>
      <p:sp>
        <p:nvSpPr>
          <p:cNvPr id="38" name="object 38"/>
          <p:cNvSpPr txBox="1"/>
          <p:nvPr/>
        </p:nvSpPr>
        <p:spPr>
          <a:xfrm>
            <a:off x="685190" y="3247136"/>
            <a:ext cx="655955" cy="239395"/>
          </a:xfrm>
          <a:prstGeom prst="rect">
            <a:avLst/>
          </a:prstGeom>
        </p:spPr>
        <p:txBody>
          <a:bodyPr vert="horz" wrap="square" lIns="0" tIns="13335" rIns="0" bIns="0" rtlCol="0">
            <a:spAutoFit/>
          </a:bodyPr>
          <a:lstStyle/>
          <a:p>
            <a:pPr marL="125730">
              <a:lnSpc>
                <a:spcPct val="100000"/>
              </a:lnSpc>
              <a:spcBef>
                <a:spcPts val="105"/>
              </a:spcBef>
            </a:pPr>
            <a:r>
              <a:rPr sz="1400" spc="-5" dirty="0">
                <a:solidFill>
                  <a:srgbClr val="FFFFFF"/>
                </a:solidFill>
                <a:latin typeface="Arial"/>
                <a:cs typeface="Arial"/>
              </a:rPr>
              <a:t>~120</a:t>
            </a:r>
            <a:endParaRPr sz="1400">
              <a:latin typeface="Arial"/>
              <a:cs typeface="Arial"/>
            </a:endParaRPr>
          </a:p>
        </p:txBody>
      </p:sp>
      <p:sp>
        <p:nvSpPr>
          <p:cNvPr id="39" name="object 39"/>
          <p:cNvSpPr txBox="1"/>
          <p:nvPr/>
        </p:nvSpPr>
        <p:spPr>
          <a:xfrm>
            <a:off x="685190" y="3568446"/>
            <a:ext cx="655955" cy="382905"/>
          </a:xfrm>
          <a:prstGeom prst="rect">
            <a:avLst/>
          </a:prstGeom>
          <a:solidFill>
            <a:srgbClr val="2151FF"/>
          </a:solidFill>
        </p:spPr>
        <p:txBody>
          <a:bodyPr vert="horz" wrap="square" lIns="0" tIns="81915" rIns="0" bIns="0" rtlCol="0">
            <a:spAutoFit/>
          </a:bodyPr>
          <a:lstStyle/>
          <a:p>
            <a:pPr marL="125730">
              <a:lnSpc>
                <a:spcPct val="100000"/>
              </a:lnSpc>
              <a:spcBef>
                <a:spcPts val="645"/>
              </a:spcBef>
            </a:pPr>
            <a:r>
              <a:rPr sz="1400" spc="-5" dirty="0">
                <a:solidFill>
                  <a:srgbClr val="FFFFFF"/>
                </a:solidFill>
                <a:latin typeface="Arial"/>
                <a:cs typeface="Arial"/>
              </a:rPr>
              <a:t>~120</a:t>
            </a:r>
            <a:endParaRPr sz="1400">
              <a:latin typeface="Arial"/>
              <a:cs typeface="Arial"/>
            </a:endParaRPr>
          </a:p>
        </p:txBody>
      </p:sp>
      <p:sp>
        <p:nvSpPr>
          <p:cNvPr id="40" name="object 40"/>
          <p:cNvSpPr txBox="1"/>
          <p:nvPr/>
        </p:nvSpPr>
        <p:spPr>
          <a:xfrm>
            <a:off x="582574" y="3996944"/>
            <a:ext cx="856615" cy="239395"/>
          </a:xfrm>
          <a:prstGeom prst="rect">
            <a:avLst/>
          </a:prstGeom>
        </p:spPr>
        <p:txBody>
          <a:bodyPr vert="horz" wrap="square" lIns="0" tIns="12700" rIns="0" bIns="0" rtlCol="0">
            <a:spAutoFit/>
          </a:bodyPr>
          <a:lstStyle/>
          <a:p>
            <a:pPr marL="12700">
              <a:lnSpc>
                <a:spcPct val="100000"/>
              </a:lnSpc>
              <a:spcBef>
                <a:spcPts val="100"/>
              </a:spcBef>
            </a:pPr>
            <a:r>
              <a:rPr sz="1400" b="1" spc="-20" dirty="0">
                <a:latin typeface="Arial"/>
                <a:cs typeface="Arial"/>
              </a:rPr>
              <a:t>RAR</a:t>
            </a:r>
            <a:r>
              <a:rPr sz="1400" b="1" spc="-25" dirty="0">
                <a:latin typeface="Arial"/>
                <a:cs typeface="Arial"/>
              </a:rPr>
              <a:t> </a:t>
            </a:r>
            <a:r>
              <a:rPr sz="1400" b="1" spc="-5" dirty="0">
                <a:latin typeface="Arial"/>
                <a:cs typeface="Arial"/>
              </a:rPr>
              <a:t>2024</a:t>
            </a:r>
            <a:endParaRPr sz="1400">
              <a:latin typeface="Arial"/>
              <a:cs typeface="Arial"/>
            </a:endParaRPr>
          </a:p>
        </p:txBody>
      </p:sp>
      <p:sp>
        <p:nvSpPr>
          <p:cNvPr id="41" name="object 41"/>
          <p:cNvSpPr/>
          <p:nvPr/>
        </p:nvSpPr>
        <p:spPr>
          <a:xfrm>
            <a:off x="1971675" y="2895600"/>
            <a:ext cx="247650" cy="212725"/>
          </a:xfrm>
          <a:custGeom>
            <a:avLst/>
            <a:gdLst/>
            <a:ahLst/>
            <a:cxnLst/>
            <a:rect l="l" t="t" r="r" b="b"/>
            <a:pathLst>
              <a:path w="247650" h="212725">
                <a:moveTo>
                  <a:pt x="0" y="212725"/>
                </a:moveTo>
                <a:lnTo>
                  <a:pt x="247650" y="212725"/>
                </a:lnTo>
                <a:lnTo>
                  <a:pt x="247650" y="0"/>
                </a:lnTo>
                <a:lnTo>
                  <a:pt x="0" y="0"/>
                </a:lnTo>
                <a:lnTo>
                  <a:pt x="0" y="212725"/>
                </a:lnTo>
                <a:close/>
              </a:path>
            </a:pathLst>
          </a:custGeom>
          <a:solidFill>
            <a:srgbClr val="00A9F4"/>
          </a:solidFill>
        </p:spPr>
        <p:txBody>
          <a:bodyPr wrap="square" lIns="0" tIns="0" rIns="0" bIns="0" rtlCol="0"/>
          <a:lstStyle/>
          <a:p>
            <a:endParaRPr/>
          </a:p>
        </p:txBody>
      </p:sp>
      <p:sp>
        <p:nvSpPr>
          <p:cNvPr id="42" name="object 42"/>
          <p:cNvSpPr txBox="1"/>
          <p:nvPr/>
        </p:nvSpPr>
        <p:spPr>
          <a:xfrm>
            <a:off x="1984629" y="2877057"/>
            <a:ext cx="223520" cy="239395"/>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FFFFFF"/>
                </a:solidFill>
                <a:latin typeface="Arial"/>
                <a:cs typeface="Arial"/>
              </a:rPr>
              <a:t>30</a:t>
            </a:r>
            <a:endParaRPr sz="1400">
              <a:latin typeface="Arial"/>
              <a:cs typeface="Arial"/>
            </a:endParaRPr>
          </a:p>
        </p:txBody>
      </p:sp>
      <p:sp>
        <p:nvSpPr>
          <p:cNvPr id="43" name="object 43"/>
          <p:cNvSpPr/>
          <p:nvPr/>
        </p:nvSpPr>
        <p:spPr>
          <a:xfrm>
            <a:off x="1643126" y="3003550"/>
            <a:ext cx="247650" cy="212725"/>
          </a:xfrm>
          <a:custGeom>
            <a:avLst/>
            <a:gdLst/>
            <a:ahLst/>
            <a:cxnLst/>
            <a:rect l="l" t="t" r="r" b="b"/>
            <a:pathLst>
              <a:path w="247650" h="212725">
                <a:moveTo>
                  <a:pt x="0" y="212725"/>
                </a:moveTo>
                <a:lnTo>
                  <a:pt x="247650" y="212725"/>
                </a:lnTo>
                <a:lnTo>
                  <a:pt x="247650" y="0"/>
                </a:lnTo>
                <a:lnTo>
                  <a:pt x="0" y="0"/>
                </a:lnTo>
                <a:lnTo>
                  <a:pt x="0" y="212725"/>
                </a:lnTo>
                <a:close/>
              </a:path>
            </a:pathLst>
          </a:custGeom>
          <a:solidFill>
            <a:srgbClr val="2151FF"/>
          </a:solidFill>
        </p:spPr>
        <p:txBody>
          <a:bodyPr wrap="square" lIns="0" tIns="0" rIns="0" bIns="0" rtlCol="0"/>
          <a:lstStyle/>
          <a:p>
            <a:endParaRPr/>
          </a:p>
        </p:txBody>
      </p:sp>
      <p:sp>
        <p:nvSpPr>
          <p:cNvPr id="44" name="object 44"/>
          <p:cNvSpPr txBox="1"/>
          <p:nvPr/>
        </p:nvSpPr>
        <p:spPr>
          <a:xfrm>
            <a:off x="1656079" y="2985007"/>
            <a:ext cx="223520" cy="239395"/>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FFFFFF"/>
                </a:solidFill>
                <a:latin typeface="Arial"/>
                <a:cs typeface="Arial"/>
              </a:rPr>
              <a:t>40</a:t>
            </a:r>
            <a:endParaRPr sz="1400">
              <a:latin typeface="Arial"/>
              <a:cs typeface="Arial"/>
            </a:endParaRPr>
          </a:p>
        </p:txBody>
      </p:sp>
      <p:sp>
        <p:nvSpPr>
          <p:cNvPr id="45" name="object 45"/>
          <p:cNvSpPr txBox="1"/>
          <p:nvPr/>
        </p:nvSpPr>
        <p:spPr>
          <a:xfrm>
            <a:off x="1546097" y="3998467"/>
            <a:ext cx="770255" cy="391160"/>
          </a:xfrm>
          <a:prstGeom prst="rect">
            <a:avLst/>
          </a:prstGeom>
        </p:spPr>
        <p:txBody>
          <a:bodyPr vert="horz" wrap="square" lIns="0" tIns="12700" rIns="0" bIns="0" rtlCol="0">
            <a:spAutoFit/>
          </a:bodyPr>
          <a:lstStyle/>
          <a:p>
            <a:pPr marL="177165" marR="5080" indent="-165100">
              <a:lnSpc>
                <a:spcPct val="100000"/>
              </a:lnSpc>
              <a:spcBef>
                <a:spcPts val="100"/>
              </a:spcBef>
            </a:pPr>
            <a:r>
              <a:rPr sz="1200" dirty="0">
                <a:latin typeface="Arial"/>
                <a:cs typeface="Arial"/>
              </a:rPr>
              <a:t>Increase</a:t>
            </a:r>
            <a:r>
              <a:rPr sz="1200" spc="-110" dirty="0">
                <a:latin typeface="Arial"/>
                <a:cs typeface="Arial"/>
              </a:rPr>
              <a:t> </a:t>
            </a:r>
            <a:r>
              <a:rPr sz="1200" spc="-5" dirty="0">
                <a:latin typeface="Arial"/>
                <a:cs typeface="Arial"/>
              </a:rPr>
              <a:t>in  </a:t>
            </a:r>
            <a:r>
              <a:rPr sz="1200" dirty="0">
                <a:latin typeface="Arial"/>
                <a:cs typeface="Arial"/>
              </a:rPr>
              <a:t>#</a:t>
            </a:r>
            <a:r>
              <a:rPr sz="1200" spc="-30" dirty="0">
                <a:latin typeface="Arial"/>
                <a:cs typeface="Arial"/>
              </a:rPr>
              <a:t> </a:t>
            </a:r>
            <a:r>
              <a:rPr sz="1200" dirty="0">
                <a:latin typeface="Arial"/>
                <a:cs typeface="Arial"/>
              </a:rPr>
              <a:t>cars</a:t>
            </a:r>
            <a:endParaRPr sz="1200">
              <a:latin typeface="Arial"/>
              <a:cs typeface="Arial"/>
            </a:endParaRPr>
          </a:p>
        </p:txBody>
      </p:sp>
      <p:sp>
        <p:nvSpPr>
          <p:cNvPr id="46" name="object 46"/>
          <p:cNvSpPr txBox="1"/>
          <p:nvPr/>
        </p:nvSpPr>
        <p:spPr>
          <a:xfrm>
            <a:off x="2889250" y="2743200"/>
            <a:ext cx="247650" cy="212725"/>
          </a:xfrm>
          <a:prstGeom prst="rect">
            <a:avLst/>
          </a:prstGeom>
          <a:solidFill>
            <a:srgbClr val="00A9F4"/>
          </a:solidFill>
        </p:spPr>
        <p:txBody>
          <a:bodyPr vert="horz" wrap="square" lIns="0" tIns="0" rIns="0" bIns="0" rtlCol="0">
            <a:spAutoFit/>
          </a:bodyPr>
          <a:lstStyle/>
          <a:p>
            <a:pPr marL="25400">
              <a:lnSpc>
                <a:spcPts val="1639"/>
              </a:lnSpc>
            </a:pPr>
            <a:r>
              <a:rPr sz="1400" spc="-5" dirty="0">
                <a:solidFill>
                  <a:srgbClr val="FFFFFF"/>
                </a:solidFill>
                <a:latin typeface="Arial"/>
                <a:cs typeface="Arial"/>
              </a:rPr>
              <a:t>20</a:t>
            </a:r>
            <a:endParaRPr sz="1400">
              <a:latin typeface="Arial"/>
              <a:cs typeface="Arial"/>
            </a:endParaRPr>
          </a:p>
        </p:txBody>
      </p:sp>
      <p:sp>
        <p:nvSpPr>
          <p:cNvPr id="47" name="object 47"/>
          <p:cNvSpPr txBox="1"/>
          <p:nvPr/>
        </p:nvSpPr>
        <p:spPr>
          <a:xfrm>
            <a:off x="2560701" y="2813050"/>
            <a:ext cx="247650" cy="212725"/>
          </a:xfrm>
          <a:prstGeom prst="rect">
            <a:avLst/>
          </a:prstGeom>
          <a:solidFill>
            <a:srgbClr val="2151FF"/>
          </a:solidFill>
        </p:spPr>
        <p:txBody>
          <a:bodyPr vert="horz" wrap="square" lIns="0" tIns="0" rIns="0" bIns="0" rtlCol="0">
            <a:spAutoFit/>
          </a:bodyPr>
          <a:lstStyle/>
          <a:p>
            <a:pPr marL="25400">
              <a:lnSpc>
                <a:spcPts val="1639"/>
              </a:lnSpc>
            </a:pPr>
            <a:r>
              <a:rPr sz="1400" dirty="0">
                <a:solidFill>
                  <a:srgbClr val="FFFFFF"/>
                </a:solidFill>
                <a:latin typeface="Arial"/>
                <a:cs typeface="Arial"/>
              </a:rPr>
              <a:t>25</a:t>
            </a:r>
            <a:endParaRPr sz="1400">
              <a:latin typeface="Arial"/>
              <a:cs typeface="Arial"/>
            </a:endParaRPr>
          </a:p>
        </p:txBody>
      </p:sp>
      <p:sp>
        <p:nvSpPr>
          <p:cNvPr id="48" name="object 48"/>
          <p:cNvSpPr txBox="1"/>
          <p:nvPr/>
        </p:nvSpPr>
        <p:spPr>
          <a:xfrm>
            <a:off x="2463800" y="3998467"/>
            <a:ext cx="768985" cy="391160"/>
          </a:xfrm>
          <a:prstGeom prst="rect">
            <a:avLst/>
          </a:prstGeom>
        </p:spPr>
        <p:txBody>
          <a:bodyPr vert="horz" wrap="square" lIns="0" tIns="12700" rIns="0" bIns="0" rtlCol="0">
            <a:spAutoFit/>
          </a:bodyPr>
          <a:lstStyle/>
          <a:p>
            <a:pPr marL="74930" marR="5080" indent="-62865">
              <a:lnSpc>
                <a:spcPct val="100000"/>
              </a:lnSpc>
              <a:spcBef>
                <a:spcPts val="100"/>
              </a:spcBef>
            </a:pPr>
            <a:r>
              <a:rPr sz="1200" dirty="0">
                <a:latin typeface="Arial"/>
                <a:cs typeface="Arial"/>
              </a:rPr>
              <a:t>Increase</a:t>
            </a:r>
            <a:r>
              <a:rPr sz="1200" spc="-120" dirty="0">
                <a:latin typeface="Arial"/>
                <a:cs typeface="Arial"/>
              </a:rPr>
              <a:t> </a:t>
            </a:r>
            <a:r>
              <a:rPr sz="1200" spc="-5" dirty="0">
                <a:latin typeface="Arial"/>
                <a:cs typeface="Arial"/>
              </a:rPr>
              <a:t>in  </a:t>
            </a:r>
            <a:r>
              <a:rPr sz="1200" dirty="0">
                <a:latin typeface="Arial"/>
                <a:cs typeface="Arial"/>
              </a:rPr>
              <a:t>car</a:t>
            </a:r>
            <a:r>
              <a:rPr sz="1200" spc="-35" dirty="0">
                <a:latin typeface="Arial"/>
                <a:cs typeface="Arial"/>
              </a:rPr>
              <a:t> </a:t>
            </a:r>
            <a:r>
              <a:rPr sz="1200" spc="-10" dirty="0">
                <a:latin typeface="Arial"/>
                <a:cs typeface="Arial"/>
              </a:rPr>
              <a:t>value</a:t>
            </a:r>
            <a:endParaRPr sz="1200">
              <a:latin typeface="Arial"/>
              <a:cs typeface="Arial"/>
            </a:endParaRPr>
          </a:p>
        </p:txBody>
      </p:sp>
      <p:sp>
        <p:nvSpPr>
          <p:cNvPr id="49" name="object 49"/>
          <p:cNvSpPr txBox="1"/>
          <p:nvPr/>
        </p:nvSpPr>
        <p:spPr>
          <a:xfrm>
            <a:off x="3370579" y="3998467"/>
            <a:ext cx="789305" cy="574040"/>
          </a:xfrm>
          <a:prstGeom prst="rect">
            <a:avLst/>
          </a:prstGeom>
        </p:spPr>
        <p:txBody>
          <a:bodyPr vert="horz" wrap="square" lIns="0" tIns="12700" rIns="0" bIns="0" rtlCol="0">
            <a:spAutoFit/>
          </a:bodyPr>
          <a:lstStyle/>
          <a:p>
            <a:pPr marL="12700" marR="5080" algn="ctr">
              <a:lnSpc>
                <a:spcPct val="100000"/>
              </a:lnSpc>
              <a:spcBef>
                <a:spcPts val="100"/>
              </a:spcBef>
            </a:pPr>
            <a:r>
              <a:rPr sz="1200" dirty="0">
                <a:latin typeface="Arial"/>
                <a:cs typeface="Arial"/>
              </a:rPr>
              <a:t>Increase</a:t>
            </a:r>
            <a:r>
              <a:rPr sz="1200" spc="-105" dirty="0">
                <a:latin typeface="Arial"/>
                <a:cs typeface="Arial"/>
              </a:rPr>
              <a:t> </a:t>
            </a:r>
            <a:r>
              <a:rPr sz="1200" spc="-5" dirty="0">
                <a:latin typeface="Arial"/>
                <a:cs typeface="Arial"/>
              </a:rPr>
              <a:t>in  financing  </a:t>
            </a:r>
            <a:r>
              <a:rPr sz="1200" dirty="0">
                <a:latin typeface="Arial"/>
                <a:cs typeface="Arial"/>
              </a:rPr>
              <a:t>penetr</a:t>
            </a:r>
            <a:r>
              <a:rPr sz="1200" spc="-10" dirty="0">
                <a:latin typeface="Arial"/>
                <a:cs typeface="Arial"/>
              </a:rPr>
              <a:t>a</a:t>
            </a:r>
            <a:r>
              <a:rPr sz="1200" dirty="0">
                <a:latin typeface="Arial"/>
                <a:cs typeface="Arial"/>
              </a:rPr>
              <a:t>tion</a:t>
            </a:r>
            <a:endParaRPr sz="1200">
              <a:latin typeface="Arial"/>
              <a:cs typeface="Arial"/>
            </a:endParaRPr>
          </a:p>
        </p:txBody>
      </p:sp>
      <p:sp>
        <p:nvSpPr>
          <p:cNvPr id="50" name="object 50"/>
          <p:cNvSpPr txBox="1"/>
          <p:nvPr/>
        </p:nvSpPr>
        <p:spPr>
          <a:xfrm>
            <a:off x="4280153" y="3998467"/>
            <a:ext cx="811530" cy="391160"/>
          </a:xfrm>
          <a:prstGeom prst="rect">
            <a:avLst/>
          </a:prstGeom>
        </p:spPr>
        <p:txBody>
          <a:bodyPr vert="horz" wrap="square" lIns="0" tIns="12700" rIns="0" bIns="0" rtlCol="0">
            <a:spAutoFit/>
          </a:bodyPr>
          <a:lstStyle/>
          <a:p>
            <a:pPr marL="12700" marR="5080" indent="46990">
              <a:lnSpc>
                <a:spcPct val="100000"/>
              </a:lnSpc>
              <a:spcBef>
                <a:spcPts val="100"/>
              </a:spcBef>
            </a:pPr>
            <a:r>
              <a:rPr sz="1200" spc="-5" dirty="0">
                <a:latin typeface="Arial"/>
                <a:cs typeface="Arial"/>
              </a:rPr>
              <a:t>Change in  </a:t>
            </a:r>
            <a:r>
              <a:rPr sz="1200" dirty="0">
                <a:latin typeface="Arial"/>
                <a:cs typeface="Arial"/>
              </a:rPr>
              <a:t>product</a:t>
            </a:r>
            <a:r>
              <a:rPr sz="1200" spc="-114" dirty="0">
                <a:latin typeface="Arial"/>
                <a:cs typeface="Arial"/>
              </a:rPr>
              <a:t> </a:t>
            </a:r>
            <a:r>
              <a:rPr sz="1200" spc="-5" dirty="0">
                <a:latin typeface="Arial"/>
                <a:cs typeface="Arial"/>
              </a:rPr>
              <a:t>mix</a:t>
            </a:r>
            <a:endParaRPr sz="1200">
              <a:latin typeface="Arial"/>
              <a:cs typeface="Arial"/>
            </a:endParaRPr>
          </a:p>
        </p:txBody>
      </p:sp>
      <p:sp>
        <p:nvSpPr>
          <p:cNvPr id="51" name="object 51"/>
          <p:cNvSpPr txBox="1"/>
          <p:nvPr/>
        </p:nvSpPr>
        <p:spPr>
          <a:xfrm>
            <a:off x="5275707" y="2885058"/>
            <a:ext cx="655955" cy="239395"/>
          </a:xfrm>
          <a:prstGeom prst="rect">
            <a:avLst/>
          </a:prstGeom>
        </p:spPr>
        <p:txBody>
          <a:bodyPr vert="horz" wrap="square" lIns="0" tIns="13335" rIns="0" bIns="0" rtlCol="0">
            <a:spAutoFit/>
          </a:bodyPr>
          <a:lstStyle/>
          <a:p>
            <a:pPr marL="127000">
              <a:lnSpc>
                <a:spcPct val="100000"/>
              </a:lnSpc>
              <a:spcBef>
                <a:spcPts val="105"/>
              </a:spcBef>
            </a:pPr>
            <a:r>
              <a:rPr sz="1400" dirty="0">
                <a:solidFill>
                  <a:srgbClr val="FFFFFF"/>
                </a:solidFill>
                <a:latin typeface="Arial"/>
                <a:cs typeface="Arial"/>
              </a:rPr>
              <a:t>~170</a:t>
            </a:r>
            <a:endParaRPr sz="1400">
              <a:latin typeface="Arial"/>
              <a:cs typeface="Arial"/>
            </a:endParaRPr>
          </a:p>
        </p:txBody>
      </p:sp>
      <p:sp>
        <p:nvSpPr>
          <p:cNvPr id="52" name="object 52"/>
          <p:cNvSpPr txBox="1"/>
          <p:nvPr/>
        </p:nvSpPr>
        <p:spPr>
          <a:xfrm>
            <a:off x="5275707" y="3281032"/>
            <a:ext cx="655955" cy="670560"/>
          </a:xfrm>
          <a:prstGeom prst="rect">
            <a:avLst/>
          </a:prstGeom>
          <a:solidFill>
            <a:srgbClr val="2151FF"/>
          </a:solidFill>
        </p:spPr>
        <p:txBody>
          <a:bodyPr vert="horz" wrap="square" lIns="0" tIns="5715" rIns="0" bIns="0" rtlCol="0">
            <a:spAutoFit/>
          </a:bodyPr>
          <a:lstStyle/>
          <a:p>
            <a:pPr>
              <a:lnSpc>
                <a:spcPct val="100000"/>
              </a:lnSpc>
              <a:spcBef>
                <a:spcPts val="45"/>
              </a:spcBef>
            </a:pPr>
            <a:endParaRPr sz="1500">
              <a:latin typeface="Times New Roman"/>
              <a:cs typeface="Times New Roman"/>
            </a:endParaRPr>
          </a:p>
          <a:p>
            <a:pPr marL="127000">
              <a:lnSpc>
                <a:spcPct val="100000"/>
              </a:lnSpc>
              <a:spcBef>
                <a:spcPts val="5"/>
              </a:spcBef>
            </a:pPr>
            <a:r>
              <a:rPr sz="1400" dirty="0">
                <a:solidFill>
                  <a:srgbClr val="FFFFFF"/>
                </a:solidFill>
                <a:latin typeface="Arial"/>
                <a:cs typeface="Arial"/>
              </a:rPr>
              <a:t>~210</a:t>
            </a:r>
            <a:endParaRPr sz="1400">
              <a:latin typeface="Arial"/>
              <a:cs typeface="Arial"/>
            </a:endParaRPr>
          </a:p>
        </p:txBody>
      </p:sp>
      <p:sp>
        <p:nvSpPr>
          <p:cNvPr id="53" name="object 53"/>
          <p:cNvSpPr txBox="1"/>
          <p:nvPr/>
        </p:nvSpPr>
        <p:spPr>
          <a:xfrm>
            <a:off x="5174107" y="3996944"/>
            <a:ext cx="856615" cy="239395"/>
          </a:xfrm>
          <a:prstGeom prst="rect">
            <a:avLst/>
          </a:prstGeom>
        </p:spPr>
        <p:txBody>
          <a:bodyPr vert="horz" wrap="square" lIns="0" tIns="12700" rIns="0" bIns="0" rtlCol="0">
            <a:spAutoFit/>
          </a:bodyPr>
          <a:lstStyle/>
          <a:p>
            <a:pPr marL="12700">
              <a:lnSpc>
                <a:spcPct val="100000"/>
              </a:lnSpc>
              <a:spcBef>
                <a:spcPts val="100"/>
              </a:spcBef>
            </a:pPr>
            <a:r>
              <a:rPr sz="1400" b="1" spc="-20" dirty="0">
                <a:latin typeface="Arial"/>
                <a:cs typeface="Arial"/>
              </a:rPr>
              <a:t>RAR</a:t>
            </a:r>
            <a:r>
              <a:rPr sz="1400" b="1" spc="-25" dirty="0">
                <a:latin typeface="Arial"/>
                <a:cs typeface="Arial"/>
              </a:rPr>
              <a:t> </a:t>
            </a:r>
            <a:r>
              <a:rPr sz="1400" b="1" spc="-5" dirty="0">
                <a:latin typeface="Arial"/>
                <a:cs typeface="Arial"/>
              </a:rPr>
              <a:t>2030</a:t>
            </a:r>
            <a:endParaRPr sz="1400">
              <a:latin typeface="Arial"/>
              <a:cs typeface="Arial"/>
            </a:endParaRPr>
          </a:p>
        </p:txBody>
      </p:sp>
      <p:sp>
        <p:nvSpPr>
          <p:cNvPr id="54" name="object 54"/>
          <p:cNvSpPr txBox="1"/>
          <p:nvPr/>
        </p:nvSpPr>
        <p:spPr>
          <a:xfrm>
            <a:off x="798677" y="2917951"/>
            <a:ext cx="426720"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a:cs typeface="Arial"/>
              </a:rPr>
              <a:t>~</a:t>
            </a:r>
            <a:r>
              <a:rPr sz="1400" b="1" spc="-5" dirty="0">
                <a:latin typeface="Arial"/>
                <a:cs typeface="Arial"/>
              </a:rPr>
              <a:t>240</a:t>
            </a:r>
            <a:endParaRPr sz="1400">
              <a:latin typeface="Arial"/>
              <a:cs typeface="Arial"/>
            </a:endParaRPr>
          </a:p>
        </p:txBody>
      </p:sp>
      <p:sp>
        <p:nvSpPr>
          <p:cNvPr id="55" name="object 55"/>
          <p:cNvSpPr txBox="1"/>
          <p:nvPr/>
        </p:nvSpPr>
        <p:spPr>
          <a:xfrm>
            <a:off x="1768855" y="2664079"/>
            <a:ext cx="327660"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~70</a:t>
            </a:r>
            <a:endParaRPr sz="1400">
              <a:latin typeface="Arial"/>
              <a:cs typeface="Arial"/>
            </a:endParaRPr>
          </a:p>
        </p:txBody>
      </p:sp>
      <p:sp>
        <p:nvSpPr>
          <p:cNvPr id="56" name="object 56"/>
          <p:cNvSpPr txBox="1"/>
          <p:nvPr/>
        </p:nvSpPr>
        <p:spPr>
          <a:xfrm>
            <a:off x="2686304" y="2511679"/>
            <a:ext cx="327660"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a:cs typeface="Arial"/>
              </a:rPr>
              <a:t>~</a:t>
            </a:r>
            <a:r>
              <a:rPr sz="1400" b="1" spc="-5" dirty="0">
                <a:latin typeface="Arial"/>
                <a:cs typeface="Arial"/>
              </a:rPr>
              <a:t>4</a:t>
            </a:r>
            <a:r>
              <a:rPr sz="1400" b="1" dirty="0">
                <a:latin typeface="Arial"/>
                <a:cs typeface="Arial"/>
              </a:rPr>
              <a:t>5</a:t>
            </a:r>
            <a:endParaRPr sz="1400">
              <a:latin typeface="Arial"/>
              <a:cs typeface="Arial"/>
            </a:endParaRPr>
          </a:p>
        </p:txBody>
      </p:sp>
      <p:sp>
        <p:nvSpPr>
          <p:cNvPr id="57" name="object 57"/>
          <p:cNvSpPr txBox="1"/>
          <p:nvPr/>
        </p:nvSpPr>
        <p:spPr>
          <a:xfrm>
            <a:off x="3604005" y="2447620"/>
            <a:ext cx="327660" cy="240029"/>
          </a:xfrm>
          <a:prstGeom prst="rect">
            <a:avLst/>
          </a:prstGeom>
        </p:spPr>
        <p:txBody>
          <a:bodyPr vert="horz" wrap="square" lIns="0" tIns="13335" rIns="0" bIns="0" rtlCol="0">
            <a:spAutoFit/>
          </a:bodyPr>
          <a:lstStyle/>
          <a:p>
            <a:pPr marL="12700">
              <a:lnSpc>
                <a:spcPct val="100000"/>
              </a:lnSpc>
              <a:spcBef>
                <a:spcPts val="105"/>
              </a:spcBef>
            </a:pPr>
            <a:r>
              <a:rPr sz="1400" b="1" spc="-10" dirty="0">
                <a:latin typeface="Arial"/>
                <a:cs typeface="Arial"/>
              </a:rPr>
              <a:t>~</a:t>
            </a:r>
            <a:r>
              <a:rPr sz="1400" b="1" spc="-5" dirty="0">
                <a:latin typeface="Arial"/>
                <a:cs typeface="Arial"/>
              </a:rPr>
              <a:t>20</a:t>
            </a:r>
            <a:endParaRPr sz="1400">
              <a:latin typeface="Arial"/>
              <a:cs typeface="Arial"/>
            </a:endParaRPr>
          </a:p>
        </p:txBody>
      </p:sp>
      <p:sp>
        <p:nvSpPr>
          <p:cNvPr id="58" name="object 58"/>
          <p:cNvSpPr txBox="1"/>
          <p:nvPr/>
        </p:nvSpPr>
        <p:spPr>
          <a:xfrm>
            <a:off x="4572761" y="2408301"/>
            <a:ext cx="228600"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a:t>
            </a:r>
            <a:r>
              <a:rPr sz="1400" b="1" dirty="0">
                <a:latin typeface="Arial"/>
                <a:cs typeface="Arial"/>
              </a:rPr>
              <a:t>5</a:t>
            </a:r>
            <a:endParaRPr sz="1400">
              <a:latin typeface="Arial"/>
              <a:cs typeface="Arial"/>
            </a:endParaRPr>
          </a:p>
        </p:txBody>
      </p:sp>
      <p:sp>
        <p:nvSpPr>
          <p:cNvPr id="59" name="object 59"/>
          <p:cNvSpPr txBox="1"/>
          <p:nvPr/>
        </p:nvSpPr>
        <p:spPr>
          <a:xfrm>
            <a:off x="5333110" y="2447620"/>
            <a:ext cx="543560" cy="240029"/>
          </a:xfrm>
          <a:prstGeom prst="rect">
            <a:avLst/>
          </a:prstGeom>
        </p:spPr>
        <p:txBody>
          <a:bodyPr vert="horz" wrap="square" lIns="0" tIns="13335" rIns="0" bIns="0" rtlCol="0">
            <a:spAutoFit/>
          </a:bodyPr>
          <a:lstStyle/>
          <a:p>
            <a:pPr marL="38100">
              <a:lnSpc>
                <a:spcPct val="100000"/>
              </a:lnSpc>
              <a:spcBef>
                <a:spcPts val="105"/>
              </a:spcBef>
            </a:pPr>
            <a:r>
              <a:rPr sz="1400" b="1" dirty="0">
                <a:latin typeface="Arial"/>
                <a:cs typeface="Arial"/>
              </a:rPr>
              <a:t>~380</a:t>
            </a:r>
            <a:r>
              <a:rPr sz="1350" b="1" baseline="24691" dirty="0">
                <a:latin typeface="Arial"/>
                <a:cs typeface="Arial"/>
              </a:rPr>
              <a:t>1</a:t>
            </a:r>
            <a:endParaRPr sz="1350" baseline="24691">
              <a:latin typeface="Arial"/>
              <a:cs typeface="Arial"/>
            </a:endParaRPr>
          </a:p>
        </p:txBody>
      </p:sp>
      <p:sp>
        <p:nvSpPr>
          <p:cNvPr id="60" name="object 60"/>
          <p:cNvSpPr txBox="1"/>
          <p:nvPr/>
        </p:nvSpPr>
        <p:spPr>
          <a:xfrm>
            <a:off x="3641725" y="2679700"/>
            <a:ext cx="247650" cy="212725"/>
          </a:xfrm>
          <a:prstGeom prst="rect">
            <a:avLst/>
          </a:prstGeom>
          <a:solidFill>
            <a:srgbClr val="2151FF"/>
          </a:solidFill>
        </p:spPr>
        <p:txBody>
          <a:bodyPr vert="horz" wrap="square" lIns="0" tIns="0" rIns="0" bIns="0" rtlCol="0">
            <a:spAutoFit/>
          </a:bodyPr>
          <a:lstStyle/>
          <a:p>
            <a:pPr marL="25400">
              <a:lnSpc>
                <a:spcPts val="1635"/>
              </a:lnSpc>
            </a:pPr>
            <a:r>
              <a:rPr sz="1400" spc="-5" dirty="0">
                <a:solidFill>
                  <a:srgbClr val="FFFFFF"/>
                </a:solidFill>
                <a:latin typeface="Arial"/>
                <a:cs typeface="Arial"/>
              </a:rPr>
              <a:t>20</a:t>
            </a:r>
            <a:endParaRPr sz="1400">
              <a:latin typeface="Arial"/>
              <a:cs typeface="Arial"/>
            </a:endParaRPr>
          </a:p>
        </p:txBody>
      </p:sp>
      <p:sp>
        <p:nvSpPr>
          <p:cNvPr id="61" name="object 61"/>
          <p:cNvSpPr txBox="1"/>
          <p:nvPr/>
        </p:nvSpPr>
        <p:spPr>
          <a:xfrm>
            <a:off x="4610100" y="2640076"/>
            <a:ext cx="149225" cy="212725"/>
          </a:xfrm>
          <a:prstGeom prst="rect">
            <a:avLst/>
          </a:prstGeom>
          <a:solidFill>
            <a:srgbClr val="2151FF"/>
          </a:solidFill>
        </p:spPr>
        <p:txBody>
          <a:bodyPr vert="horz" wrap="square" lIns="0" tIns="0" rIns="0" bIns="0" rtlCol="0">
            <a:spAutoFit/>
          </a:bodyPr>
          <a:lstStyle/>
          <a:p>
            <a:pPr marL="25400">
              <a:lnSpc>
                <a:spcPts val="1635"/>
              </a:lnSpc>
            </a:pPr>
            <a:r>
              <a:rPr sz="1400" dirty="0">
                <a:solidFill>
                  <a:srgbClr val="FFFFFF"/>
                </a:solidFill>
                <a:latin typeface="Arial"/>
                <a:cs typeface="Arial"/>
              </a:rPr>
              <a:t>5</a:t>
            </a:r>
            <a:endParaRPr sz="1400">
              <a:latin typeface="Arial"/>
              <a:cs typeface="Arial"/>
            </a:endParaRPr>
          </a:p>
        </p:txBody>
      </p:sp>
      <p:sp>
        <p:nvSpPr>
          <p:cNvPr id="62" name="object 62"/>
          <p:cNvSpPr/>
          <p:nvPr/>
        </p:nvSpPr>
        <p:spPr>
          <a:xfrm>
            <a:off x="3035300" y="2147951"/>
            <a:ext cx="544830" cy="259079"/>
          </a:xfrm>
          <a:custGeom>
            <a:avLst/>
            <a:gdLst/>
            <a:ahLst/>
            <a:cxnLst/>
            <a:rect l="l" t="t" r="r" b="b"/>
            <a:pathLst>
              <a:path w="544829" h="259080">
                <a:moveTo>
                  <a:pt x="272288" y="0"/>
                </a:moveTo>
                <a:lnTo>
                  <a:pt x="209858" y="3416"/>
                </a:lnTo>
                <a:lnTo>
                  <a:pt x="152548" y="13145"/>
                </a:lnTo>
                <a:lnTo>
                  <a:pt x="101990" y="28411"/>
                </a:lnTo>
                <a:lnTo>
                  <a:pt x="59822" y="48436"/>
                </a:lnTo>
                <a:lnTo>
                  <a:pt x="27677" y="72441"/>
                </a:lnTo>
                <a:lnTo>
                  <a:pt x="0" y="129286"/>
                </a:lnTo>
                <a:lnTo>
                  <a:pt x="7191" y="158968"/>
                </a:lnTo>
                <a:lnTo>
                  <a:pt x="59822" y="210239"/>
                </a:lnTo>
                <a:lnTo>
                  <a:pt x="101990" y="230277"/>
                </a:lnTo>
                <a:lnTo>
                  <a:pt x="152548" y="245550"/>
                </a:lnTo>
                <a:lnTo>
                  <a:pt x="209858" y="255282"/>
                </a:lnTo>
                <a:lnTo>
                  <a:pt x="272288" y="258699"/>
                </a:lnTo>
                <a:lnTo>
                  <a:pt x="334717" y="255282"/>
                </a:lnTo>
                <a:lnTo>
                  <a:pt x="392027" y="245550"/>
                </a:lnTo>
                <a:lnTo>
                  <a:pt x="442585" y="230277"/>
                </a:lnTo>
                <a:lnTo>
                  <a:pt x="484753" y="210239"/>
                </a:lnTo>
                <a:lnTo>
                  <a:pt x="516898" y="186210"/>
                </a:lnTo>
                <a:lnTo>
                  <a:pt x="544576" y="129286"/>
                </a:lnTo>
                <a:lnTo>
                  <a:pt x="537384" y="99650"/>
                </a:lnTo>
                <a:lnTo>
                  <a:pt x="484753" y="48436"/>
                </a:lnTo>
                <a:lnTo>
                  <a:pt x="442585" y="28411"/>
                </a:lnTo>
                <a:lnTo>
                  <a:pt x="392027" y="13145"/>
                </a:lnTo>
                <a:lnTo>
                  <a:pt x="334717" y="3416"/>
                </a:lnTo>
                <a:lnTo>
                  <a:pt x="272288" y="0"/>
                </a:lnTo>
                <a:close/>
              </a:path>
            </a:pathLst>
          </a:custGeom>
          <a:solidFill>
            <a:srgbClr val="051F79"/>
          </a:solidFill>
        </p:spPr>
        <p:txBody>
          <a:bodyPr wrap="square" lIns="0" tIns="0" rIns="0" bIns="0" rtlCol="0"/>
          <a:lstStyle/>
          <a:p>
            <a:endParaRPr/>
          </a:p>
        </p:txBody>
      </p:sp>
      <p:sp>
        <p:nvSpPr>
          <p:cNvPr id="63" name="object 63"/>
          <p:cNvSpPr txBox="1"/>
          <p:nvPr/>
        </p:nvSpPr>
        <p:spPr>
          <a:xfrm>
            <a:off x="3101720" y="2169033"/>
            <a:ext cx="41211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FFFF"/>
                </a:solidFill>
                <a:latin typeface="Arial"/>
                <a:cs typeface="Arial"/>
              </a:rPr>
              <a:t>~</a:t>
            </a:r>
            <a:r>
              <a:rPr sz="1200" b="1" dirty="0">
                <a:solidFill>
                  <a:srgbClr val="FFFFFF"/>
                </a:solidFill>
                <a:latin typeface="Arial"/>
                <a:cs typeface="Arial"/>
              </a:rPr>
              <a:t>1.</a:t>
            </a:r>
            <a:r>
              <a:rPr sz="1200" b="1" spc="5" dirty="0">
                <a:solidFill>
                  <a:srgbClr val="FFFFFF"/>
                </a:solidFill>
                <a:latin typeface="Arial"/>
                <a:cs typeface="Arial"/>
              </a:rPr>
              <a:t>5</a:t>
            </a:r>
            <a:r>
              <a:rPr sz="1200" b="1" dirty="0">
                <a:solidFill>
                  <a:srgbClr val="FFFFFF"/>
                </a:solidFill>
                <a:latin typeface="Arial"/>
                <a:cs typeface="Arial"/>
              </a:rPr>
              <a:t>x</a:t>
            </a:r>
            <a:endParaRPr sz="1200">
              <a:latin typeface="Arial"/>
              <a:cs typeface="Arial"/>
            </a:endParaRPr>
          </a:p>
        </p:txBody>
      </p:sp>
      <p:sp>
        <p:nvSpPr>
          <p:cNvPr id="64" name="object 64"/>
          <p:cNvSpPr/>
          <p:nvPr/>
        </p:nvSpPr>
        <p:spPr>
          <a:xfrm>
            <a:off x="8509000" y="1779651"/>
            <a:ext cx="284480" cy="0"/>
          </a:xfrm>
          <a:custGeom>
            <a:avLst/>
            <a:gdLst/>
            <a:ahLst/>
            <a:cxnLst/>
            <a:rect l="l" t="t" r="r" b="b"/>
            <a:pathLst>
              <a:path w="284479">
                <a:moveTo>
                  <a:pt x="0" y="0"/>
                </a:moveTo>
                <a:lnTo>
                  <a:pt x="284225" y="0"/>
                </a:lnTo>
              </a:path>
            </a:pathLst>
          </a:custGeom>
          <a:ln w="9525">
            <a:solidFill>
              <a:srgbClr val="E6E6E6"/>
            </a:solidFill>
          </a:ln>
        </p:spPr>
        <p:txBody>
          <a:bodyPr wrap="square" lIns="0" tIns="0" rIns="0" bIns="0" rtlCol="0"/>
          <a:lstStyle/>
          <a:p>
            <a:endParaRPr/>
          </a:p>
        </p:txBody>
      </p:sp>
      <p:sp>
        <p:nvSpPr>
          <p:cNvPr id="65" name="object 65"/>
          <p:cNvSpPr/>
          <p:nvPr/>
        </p:nvSpPr>
        <p:spPr>
          <a:xfrm>
            <a:off x="8307451" y="2110739"/>
            <a:ext cx="202565" cy="160020"/>
          </a:xfrm>
          <a:custGeom>
            <a:avLst/>
            <a:gdLst/>
            <a:ahLst/>
            <a:cxnLst/>
            <a:rect l="l" t="t" r="r" b="b"/>
            <a:pathLst>
              <a:path w="202565" h="160019">
                <a:moveTo>
                  <a:pt x="0" y="160020"/>
                </a:moveTo>
                <a:lnTo>
                  <a:pt x="202565" y="160020"/>
                </a:lnTo>
                <a:lnTo>
                  <a:pt x="202565" y="0"/>
                </a:lnTo>
                <a:lnTo>
                  <a:pt x="0" y="0"/>
                </a:lnTo>
                <a:lnTo>
                  <a:pt x="0" y="160020"/>
                </a:lnTo>
                <a:close/>
              </a:path>
            </a:pathLst>
          </a:custGeom>
          <a:solidFill>
            <a:srgbClr val="75EFE7"/>
          </a:solidFill>
        </p:spPr>
        <p:txBody>
          <a:bodyPr wrap="square" lIns="0" tIns="0" rIns="0" bIns="0" rtlCol="0"/>
          <a:lstStyle/>
          <a:p>
            <a:endParaRPr/>
          </a:p>
        </p:txBody>
      </p:sp>
      <p:sp>
        <p:nvSpPr>
          <p:cNvPr id="66" name="object 66"/>
          <p:cNvSpPr/>
          <p:nvPr/>
        </p:nvSpPr>
        <p:spPr>
          <a:xfrm>
            <a:off x="7798307" y="2110739"/>
            <a:ext cx="201295" cy="160020"/>
          </a:xfrm>
          <a:custGeom>
            <a:avLst/>
            <a:gdLst/>
            <a:ahLst/>
            <a:cxnLst/>
            <a:rect l="l" t="t" r="r" b="b"/>
            <a:pathLst>
              <a:path w="201295" h="160019">
                <a:moveTo>
                  <a:pt x="0" y="160020"/>
                </a:moveTo>
                <a:lnTo>
                  <a:pt x="201168" y="160020"/>
                </a:lnTo>
                <a:lnTo>
                  <a:pt x="201168" y="0"/>
                </a:lnTo>
                <a:lnTo>
                  <a:pt x="0" y="0"/>
                </a:lnTo>
                <a:lnTo>
                  <a:pt x="0" y="160020"/>
                </a:lnTo>
                <a:close/>
              </a:path>
            </a:pathLst>
          </a:custGeom>
          <a:solidFill>
            <a:srgbClr val="75EFE7"/>
          </a:solidFill>
        </p:spPr>
        <p:txBody>
          <a:bodyPr wrap="square" lIns="0" tIns="0" rIns="0" bIns="0" rtlCol="0"/>
          <a:lstStyle/>
          <a:p>
            <a:endParaRPr/>
          </a:p>
        </p:txBody>
      </p:sp>
      <p:sp>
        <p:nvSpPr>
          <p:cNvPr id="67" name="object 67"/>
          <p:cNvSpPr/>
          <p:nvPr/>
        </p:nvSpPr>
        <p:spPr>
          <a:xfrm>
            <a:off x="8795004" y="2171700"/>
            <a:ext cx="710565" cy="299085"/>
          </a:xfrm>
          <a:custGeom>
            <a:avLst/>
            <a:gdLst/>
            <a:ahLst/>
            <a:cxnLst/>
            <a:rect l="l" t="t" r="r" b="b"/>
            <a:pathLst>
              <a:path w="710565" h="299085">
                <a:moveTo>
                  <a:pt x="710184" y="0"/>
                </a:moveTo>
                <a:lnTo>
                  <a:pt x="0" y="0"/>
                </a:lnTo>
                <a:lnTo>
                  <a:pt x="0" y="298703"/>
                </a:lnTo>
                <a:lnTo>
                  <a:pt x="710184" y="298703"/>
                </a:lnTo>
                <a:lnTo>
                  <a:pt x="710184" y="0"/>
                </a:lnTo>
                <a:close/>
              </a:path>
            </a:pathLst>
          </a:custGeom>
          <a:solidFill>
            <a:srgbClr val="75EFE7"/>
          </a:solidFill>
        </p:spPr>
        <p:txBody>
          <a:bodyPr wrap="square" lIns="0" tIns="0" rIns="0" bIns="0" rtlCol="0"/>
          <a:lstStyle/>
          <a:p>
            <a:endParaRPr/>
          </a:p>
        </p:txBody>
      </p:sp>
      <p:sp>
        <p:nvSpPr>
          <p:cNvPr id="68" name="object 68"/>
          <p:cNvSpPr/>
          <p:nvPr/>
        </p:nvSpPr>
        <p:spPr>
          <a:xfrm>
            <a:off x="9790176" y="2389632"/>
            <a:ext cx="711835" cy="219710"/>
          </a:xfrm>
          <a:custGeom>
            <a:avLst/>
            <a:gdLst/>
            <a:ahLst/>
            <a:cxnLst/>
            <a:rect l="l" t="t" r="r" b="b"/>
            <a:pathLst>
              <a:path w="711834" h="219710">
                <a:moveTo>
                  <a:pt x="711707" y="0"/>
                </a:moveTo>
                <a:lnTo>
                  <a:pt x="0" y="0"/>
                </a:lnTo>
                <a:lnTo>
                  <a:pt x="0" y="219455"/>
                </a:lnTo>
                <a:lnTo>
                  <a:pt x="711707" y="219455"/>
                </a:lnTo>
                <a:lnTo>
                  <a:pt x="711707" y="0"/>
                </a:lnTo>
                <a:close/>
              </a:path>
            </a:pathLst>
          </a:custGeom>
          <a:solidFill>
            <a:srgbClr val="75EFE7"/>
          </a:solidFill>
        </p:spPr>
        <p:txBody>
          <a:bodyPr wrap="square" lIns="0" tIns="0" rIns="0" bIns="0" rtlCol="0"/>
          <a:lstStyle/>
          <a:p>
            <a:endParaRPr/>
          </a:p>
        </p:txBody>
      </p:sp>
      <p:sp>
        <p:nvSpPr>
          <p:cNvPr id="69" name="object 69"/>
          <p:cNvSpPr/>
          <p:nvPr/>
        </p:nvSpPr>
        <p:spPr>
          <a:xfrm>
            <a:off x="10785347" y="2350007"/>
            <a:ext cx="711835" cy="597535"/>
          </a:xfrm>
          <a:custGeom>
            <a:avLst/>
            <a:gdLst/>
            <a:ahLst/>
            <a:cxnLst/>
            <a:rect l="l" t="t" r="r" b="b"/>
            <a:pathLst>
              <a:path w="711834" h="597535">
                <a:moveTo>
                  <a:pt x="711707" y="0"/>
                </a:moveTo>
                <a:lnTo>
                  <a:pt x="0" y="0"/>
                </a:lnTo>
                <a:lnTo>
                  <a:pt x="0" y="597407"/>
                </a:lnTo>
                <a:lnTo>
                  <a:pt x="711707" y="597407"/>
                </a:lnTo>
                <a:lnTo>
                  <a:pt x="711707" y="0"/>
                </a:lnTo>
                <a:close/>
              </a:path>
            </a:pathLst>
          </a:custGeom>
          <a:solidFill>
            <a:srgbClr val="75EFE7"/>
          </a:solidFill>
        </p:spPr>
        <p:txBody>
          <a:bodyPr wrap="square" lIns="0" tIns="0" rIns="0" bIns="0" rtlCol="0"/>
          <a:lstStyle/>
          <a:p>
            <a:endParaRPr/>
          </a:p>
        </p:txBody>
      </p:sp>
      <p:sp>
        <p:nvSpPr>
          <p:cNvPr id="70" name="object 70"/>
          <p:cNvSpPr/>
          <p:nvPr/>
        </p:nvSpPr>
        <p:spPr>
          <a:xfrm>
            <a:off x="7798307" y="2110739"/>
            <a:ext cx="711835" cy="160020"/>
          </a:xfrm>
          <a:custGeom>
            <a:avLst/>
            <a:gdLst/>
            <a:ahLst/>
            <a:cxnLst/>
            <a:rect l="l" t="t" r="r" b="b"/>
            <a:pathLst>
              <a:path w="711834" h="160019">
                <a:moveTo>
                  <a:pt x="0" y="0"/>
                </a:moveTo>
                <a:lnTo>
                  <a:pt x="711708" y="0"/>
                </a:lnTo>
                <a:lnTo>
                  <a:pt x="711708" y="160020"/>
                </a:lnTo>
                <a:lnTo>
                  <a:pt x="0" y="160020"/>
                </a:lnTo>
                <a:lnTo>
                  <a:pt x="0" y="0"/>
                </a:lnTo>
                <a:close/>
              </a:path>
            </a:pathLst>
          </a:custGeom>
          <a:ln w="9524">
            <a:solidFill>
              <a:srgbClr val="FFFFFF"/>
            </a:solidFill>
          </a:ln>
        </p:spPr>
        <p:txBody>
          <a:bodyPr wrap="square" lIns="0" tIns="0" rIns="0" bIns="0" rtlCol="0"/>
          <a:lstStyle/>
          <a:p>
            <a:endParaRPr/>
          </a:p>
        </p:txBody>
      </p:sp>
      <p:sp>
        <p:nvSpPr>
          <p:cNvPr id="71" name="object 71"/>
          <p:cNvSpPr/>
          <p:nvPr/>
        </p:nvSpPr>
        <p:spPr>
          <a:xfrm>
            <a:off x="8795004" y="2171700"/>
            <a:ext cx="710565" cy="299085"/>
          </a:xfrm>
          <a:custGeom>
            <a:avLst/>
            <a:gdLst/>
            <a:ahLst/>
            <a:cxnLst/>
            <a:rect l="l" t="t" r="r" b="b"/>
            <a:pathLst>
              <a:path w="710565" h="299085">
                <a:moveTo>
                  <a:pt x="0" y="0"/>
                </a:moveTo>
                <a:lnTo>
                  <a:pt x="710184" y="0"/>
                </a:lnTo>
                <a:lnTo>
                  <a:pt x="710184" y="298703"/>
                </a:lnTo>
                <a:lnTo>
                  <a:pt x="0" y="298703"/>
                </a:lnTo>
                <a:lnTo>
                  <a:pt x="0" y="0"/>
                </a:lnTo>
                <a:close/>
              </a:path>
            </a:pathLst>
          </a:custGeom>
          <a:ln w="9525">
            <a:solidFill>
              <a:srgbClr val="FFFFFF"/>
            </a:solidFill>
          </a:ln>
        </p:spPr>
        <p:txBody>
          <a:bodyPr wrap="square" lIns="0" tIns="0" rIns="0" bIns="0" rtlCol="0"/>
          <a:lstStyle/>
          <a:p>
            <a:endParaRPr/>
          </a:p>
        </p:txBody>
      </p:sp>
      <p:sp>
        <p:nvSpPr>
          <p:cNvPr id="72" name="object 72"/>
          <p:cNvSpPr/>
          <p:nvPr/>
        </p:nvSpPr>
        <p:spPr>
          <a:xfrm>
            <a:off x="9790176" y="2389632"/>
            <a:ext cx="711835" cy="219710"/>
          </a:xfrm>
          <a:custGeom>
            <a:avLst/>
            <a:gdLst/>
            <a:ahLst/>
            <a:cxnLst/>
            <a:rect l="l" t="t" r="r" b="b"/>
            <a:pathLst>
              <a:path w="711834" h="219710">
                <a:moveTo>
                  <a:pt x="0" y="0"/>
                </a:moveTo>
                <a:lnTo>
                  <a:pt x="711707" y="0"/>
                </a:lnTo>
                <a:lnTo>
                  <a:pt x="711707" y="219455"/>
                </a:lnTo>
                <a:lnTo>
                  <a:pt x="0" y="219455"/>
                </a:lnTo>
                <a:lnTo>
                  <a:pt x="0" y="0"/>
                </a:lnTo>
                <a:close/>
              </a:path>
            </a:pathLst>
          </a:custGeom>
          <a:ln w="9525">
            <a:solidFill>
              <a:srgbClr val="FFFFFF"/>
            </a:solidFill>
          </a:ln>
        </p:spPr>
        <p:txBody>
          <a:bodyPr wrap="square" lIns="0" tIns="0" rIns="0" bIns="0" rtlCol="0"/>
          <a:lstStyle/>
          <a:p>
            <a:endParaRPr/>
          </a:p>
        </p:txBody>
      </p:sp>
      <p:sp>
        <p:nvSpPr>
          <p:cNvPr id="73" name="object 73"/>
          <p:cNvSpPr/>
          <p:nvPr/>
        </p:nvSpPr>
        <p:spPr>
          <a:xfrm>
            <a:off x="10785347" y="2350007"/>
            <a:ext cx="711835" cy="597535"/>
          </a:xfrm>
          <a:custGeom>
            <a:avLst/>
            <a:gdLst/>
            <a:ahLst/>
            <a:cxnLst/>
            <a:rect l="l" t="t" r="r" b="b"/>
            <a:pathLst>
              <a:path w="711834" h="597535">
                <a:moveTo>
                  <a:pt x="0" y="0"/>
                </a:moveTo>
                <a:lnTo>
                  <a:pt x="711707" y="0"/>
                </a:lnTo>
                <a:lnTo>
                  <a:pt x="711707" y="597407"/>
                </a:lnTo>
                <a:lnTo>
                  <a:pt x="0" y="597407"/>
                </a:lnTo>
                <a:lnTo>
                  <a:pt x="0" y="0"/>
                </a:lnTo>
                <a:close/>
              </a:path>
            </a:pathLst>
          </a:custGeom>
          <a:ln w="9525">
            <a:solidFill>
              <a:srgbClr val="FFFFFF"/>
            </a:solidFill>
          </a:ln>
        </p:spPr>
        <p:txBody>
          <a:bodyPr wrap="square" lIns="0" tIns="0" rIns="0" bIns="0" rtlCol="0"/>
          <a:lstStyle/>
          <a:p>
            <a:endParaRPr/>
          </a:p>
        </p:txBody>
      </p:sp>
      <p:sp>
        <p:nvSpPr>
          <p:cNvPr id="74" name="object 74"/>
          <p:cNvSpPr/>
          <p:nvPr/>
        </p:nvSpPr>
        <p:spPr>
          <a:xfrm>
            <a:off x="7798307" y="1779651"/>
            <a:ext cx="711835" cy="331470"/>
          </a:xfrm>
          <a:custGeom>
            <a:avLst/>
            <a:gdLst/>
            <a:ahLst/>
            <a:cxnLst/>
            <a:rect l="l" t="t" r="r" b="b"/>
            <a:pathLst>
              <a:path w="711834" h="331469">
                <a:moveTo>
                  <a:pt x="711708" y="0"/>
                </a:moveTo>
                <a:lnTo>
                  <a:pt x="0" y="0"/>
                </a:lnTo>
                <a:lnTo>
                  <a:pt x="0" y="331088"/>
                </a:lnTo>
                <a:lnTo>
                  <a:pt x="711708" y="331088"/>
                </a:lnTo>
                <a:lnTo>
                  <a:pt x="711708" y="0"/>
                </a:lnTo>
                <a:close/>
              </a:path>
            </a:pathLst>
          </a:custGeom>
          <a:solidFill>
            <a:srgbClr val="5E9DFF"/>
          </a:solidFill>
        </p:spPr>
        <p:txBody>
          <a:bodyPr wrap="square" lIns="0" tIns="0" rIns="0" bIns="0" rtlCol="0"/>
          <a:lstStyle/>
          <a:p>
            <a:endParaRPr/>
          </a:p>
        </p:txBody>
      </p:sp>
      <p:sp>
        <p:nvSpPr>
          <p:cNvPr id="75" name="object 75"/>
          <p:cNvSpPr/>
          <p:nvPr/>
        </p:nvSpPr>
        <p:spPr>
          <a:xfrm>
            <a:off x="8795004" y="1779651"/>
            <a:ext cx="710565" cy="392430"/>
          </a:xfrm>
          <a:custGeom>
            <a:avLst/>
            <a:gdLst/>
            <a:ahLst/>
            <a:cxnLst/>
            <a:rect l="l" t="t" r="r" b="b"/>
            <a:pathLst>
              <a:path w="710565" h="392430">
                <a:moveTo>
                  <a:pt x="710184" y="0"/>
                </a:moveTo>
                <a:lnTo>
                  <a:pt x="0" y="0"/>
                </a:lnTo>
                <a:lnTo>
                  <a:pt x="0" y="392049"/>
                </a:lnTo>
                <a:lnTo>
                  <a:pt x="710184" y="392049"/>
                </a:lnTo>
                <a:lnTo>
                  <a:pt x="710184" y="0"/>
                </a:lnTo>
                <a:close/>
              </a:path>
            </a:pathLst>
          </a:custGeom>
          <a:solidFill>
            <a:srgbClr val="5E9DFF"/>
          </a:solidFill>
        </p:spPr>
        <p:txBody>
          <a:bodyPr wrap="square" lIns="0" tIns="0" rIns="0" bIns="0" rtlCol="0"/>
          <a:lstStyle/>
          <a:p>
            <a:endParaRPr/>
          </a:p>
        </p:txBody>
      </p:sp>
      <p:sp>
        <p:nvSpPr>
          <p:cNvPr id="76" name="object 76"/>
          <p:cNvSpPr/>
          <p:nvPr/>
        </p:nvSpPr>
        <p:spPr>
          <a:xfrm>
            <a:off x="9790176" y="1779651"/>
            <a:ext cx="711835" cy="610235"/>
          </a:xfrm>
          <a:custGeom>
            <a:avLst/>
            <a:gdLst/>
            <a:ahLst/>
            <a:cxnLst/>
            <a:rect l="l" t="t" r="r" b="b"/>
            <a:pathLst>
              <a:path w="711834" h="610235">
                <a:moveTo>
                  <a:pt x="711707" y="0"/>
                </a:moveTo>
                <a:lnTo>
                  <a:pt x="0" y="0"/>
                </a:lnTo>
                <a:lnTo>
                  <a:pt x="0" y="609981"/>
                </a:lnTo>
                <a:lnTo>
                  <a:pt x="711707" y="609981"/>
                </a:lnTo>
                <a:lnTo>
                  <a:pt x="711707" y="0"/>
                </a:lnTo>
                <a:close/>
              </a:path>
            </a:pathLst>
          </a:custGeom>
          <a:solidFill>
            <a:srgbClr val="5E9DFF"/>
          </a:solidFill>
        </p:spPr>
        <p:txBody>
          <a:bodyPr wrap="square" lIns="0" tIns="0" rIns="0" bIns="0" rtlCol="0"/>
          <a:lstStyle/>
          <a:p>
            <a:endParaRPr/>
          </a:p>
        </p:txBody>
      </p:sp>
      <p:sp>
        <p:nvSpPr>
          <p:cNvPr id="77" name="object 77"/>
          <p:cNvSpPr/>
          <p:nvPr/>
        </p:nvSpPr>
        <p:spPr>
          <a:xfrm>
            <a:off x="10785347" y="1779651"/>
            <a:ext cx="711835" cy="570865"/>
          </a:xfrm>
          <a:custGeom>
            <a:avLst/>
            <a:gdLst/>
            <a:ahLst/>
            <a:cxnLst/>
            <a:rect l="l" t="t" r="r" b="b"/>
            <a:pathLst>
              <a:path w="711834" h="570864">
                <a:moveTo>
                  <a:pt x="711707" y="0"/>
                </a:moveTo>
                <a:lnTo>
                  <a:pt x="0" y="0"/>
                </a:lnTo>
                <a:lnTo>
                  <a:pt x="0" y="570357"/>
                </a:lnTo>
                <a:lnTo>
                  <a:pt x="711707" y="570357"/>
                </a:lnTo>
                <a:lnTo>
                  <a:pt x="711707" y="0"/>
                </a:lnTo>
                <a:close/>
              </a:path>
            </a:pathLst>
          </a:custGeom>
          <a:solidFill>
            <a:srgbClr val="5E9DFF"/>
          </a:solidFill>
        </p:spPr>
        <p:txBody>
          <a:bodyPr wrap="square" lIns="0" tIns="0" rIns="0" bIns="0" rtlCol="0"/>
          <a:lstStyle/>
          <a:p>
            <a:endParaRPr/>
          </a:p>
        </p:txBody>
      </p:sp>
      <p:sp>
        <p:nvSpPr>
          <p:cNvPr id="78" name="object 78"/>
          <p:cNvSpPr/>
          <p:nvPr/>
        </p:nvSpPr>
        <p:spPr>
          <a:xfrm>
            <a:off x="7798307" y="1779651"/>
            <a:ext cx="711835" cy="331470"/>
          </a:xfrm>
          <a:custGeom>
            <a:avLst/>
            <a:gdLst/>
            <a:ahLst/>
            <a:cxnLst/>
            <a:rect l="l" t="t" r="r" b="b"/>
            <a:pathLst>
              <a:path w="711834" h="331469">
                <a:moveTo>
                  <a:pt x="0" y="0"/>
                </a:moveTo>
                <a:lnTo>
                  <a:pt x="711708" y="0"/>
                </a:lnTo>
                <a:lnTo>
                  <a:pt x="711708" y="331088"/>
                </a:lnTo>
                <a:lnTo>
                  <a:pt x="0" y="331088"/>
                </a:lnTo>
                <a:lnTo>
                  <a:pt x="0" y="0"/>
                </a:lnTo>
                <a:close/>
              </a:path>
            </a:pathLst>
          </a:custGeom>
          <a:ln w="9525">
            <a:solidFill>
              <a:srgbClr val="FFFFFF"/>
            </a:solidFill>
          </a:ln>
        </p:spPr>
        <p:txBody>
          <a:bodyPr wrap="square" lIns="0" tIns="0" rIns="0" bIns="0" rtlCol="0"/>
          <a:lstStyle/>
          <a:p>
            <a:endParaRPr/>
          </a:p>
        </p:txBody>
      </p:sp>
      <p:sp>
        <p:nvSpPr>
          <p:cNvPr id="79" name="object 79"/>
          <p:cNvSpPr/>
          <p:nvPr/>
        </p:nvSpPr>
        <p:spPr>
          <a:xfrm>
            <a:off x="8795004" y="1779651"/>
            <a:ext cx="710565" cy="392430"/>
          </a:xfrm>
          <a:custGeom>
            <a:avLst/>
            <a:gdLst/>
            <a:ahLst/>
            <a:cxnLst/>
            <a:rect l="l" t="t" r="r" b="b"/>
            <a:pathLst>
              <a:path w="710565" h="392430">
                <a:moveTo>
                  <a:pt x="0" y="0"/>
                </a:moveTo>
                <a:lnTo>
                  <a:pt x="710184" y="0"/>
                </a:lnTo>
                <a:lnTo>
                  <a:pt x="710184" y="392049"/>
                </a:lnTo>
                <a:lnTo>
                  <a:pt x="0" y="392049"/>
                </a:lnTo>
                <a:lnTo>
                  <a:pt x="0" y="0"/>
                </a:lnTo>
                <a:close/>
              </a:path>
            </a:pathLst>
          </a:custGeom>
          <a:ln w="9525">
            <a:solidFill>
              <a:srgbClr val="FFFFFF"/>
            </a:solidFill>
          </a:ln>
        </p:spPr>
        <p:txBody>
          <a:bodyPr wrap="square" lIns="0" tIns="0" rIns="0" bIns="0" rtlCol="0"/>
          <a:lstStyle/>
          <a:p>
            <a:endParaRPr/>
          </a:p>
        </p:txBody>
      </p:sp>
      <p:sp>
        <p:nvSpPr>
          <p:cNvPr id="80" name="object 80"/>
          <p:cNvSpPr/>
          <p:nvPr/>
        </p:nvSpPr>
        <p:spPr>
          <a:xfrm>
            <a:off x="9790176" y="1779651"/>
            <a:ext cx="711835" cy="610235"/>
          </a:xfrm>
          <a:custGeom>
            <a:avLst/>
            <a:gdLst/>
            <a:ahLst/>
            <a:cxnLst/>
            <a:rect l="l" t="t" r="r" b="b"/>
            <a:pathLst>
              <a:path w="711834" h="610235">
                <a:moveTo>
                  <a:pt x="0" y="0"/>
                </a:moveTo>
                <a:lnTo>
                  <a:pt x="711707" y="0"/>
                </a:lnTo>
                <a:lnTo>
                  <a:pt x="711707" y="609981"/>
                </a:lnTo>
                <a:lnTo>
                  <a:pt x="0" y="609981"/>
                </a:lnTo>
                <a:lnTo>
                  <a:pt x="0" y="0"/>
                </a:lnTo>
                <a:close/>
              </a:path>
            </a:pathLst>
          </a:custGeom>
          <a:ln w="9524">
            <a:solidFill>
              <a:srgbClr val="FFFFFF"/>
            </a:solidFill>
          </a:ln>
        </p:spPr>
        <p:txBody>
          <a:bodyPr wrap="square" lIns="0" tIns="0" rIns="0" bIns="0" rtlCol="0"/>
          <a:lstStyle/>
          <a:p>
            <a:endParaRPr/>
          </a:p>
        </p:txBody>
      </p:sp>
      <p:sp>
        <p:nvSpPr>
          <p:cNvPr id="81" name="object 81"/>
          <p:cNvSpPr/>
          <p:nvPr/>
        </p:nvSpPr>
        <p:spPr>
          <a:xfrm>
            <a:off x="10785347" y="1779651"/>
            <a:ext cx="711835" cy="570865"/>
          </a:xfrm>
          <a:custGeom>
            <a:avLst/>
            <a:gdLst/>
            <a:ahLst/>
            <a:cxnLst/>
            <a:rect l="l" t="t" r="r" b="b"/>
            <a:pathLst>
              <a:path w="711834" h="570864">
                <a:moveTo>
                  <a:pt x="0" y="0"/>
                </a:moveTo>
                <a:lnTo>
                  <a:pt x="711707" y="0"/>
                </a:lnTo>
                <a:lnTo>
                  <a:pt x="711707" y="570357"/>
                </a:lnTo>
                <a:lnTo>
                  <a:pt x="0" y="570357"/>
                </a:lnTo>
                <a:lnTo>
                  <a:pt x="0" y="0"/>
                </a:lnTo>
                <a:close/>
              </a:path>
            </a:pathLst>
          </a:custGeom>
          <a:ln w="9525">
            <a:solidFill>
              <a:srgbClr val="FFFFFF"/>
            </a:solidFill>
          </a:ln>
        </p:spPr>
        <p:txBody>
          <a:bodyPr wrap="square" lIns="0" tIns="0" rIns="0" bIns="0" rtlCol="0"/>
          <a:lstStyle/>
          <a:p>
            <a:endParaRPr/>
          </a:p>
        </p:txBody>
      </p:sp>
      <p:sp>
        <p:nvSpPr>
          <p:cNvPr id="82" name="object 82"/>
          <p:cNvSpPr/>
          <p:nvPr/>
        </p:nvSpPr>
        <p:spPr>
          <a:xfrm>
            <a:off x="7656576" y="3624198"/>
            <a:ext cx="3983354" cy="635"/>
          </a:xfrm>
          <a:custGeom>
            <a:avLst/>
            <a:gdLst/>
            <a:ahLst/>
            <a:cxnLst/>
            <a:rect l="l" t="t" r="r" b="b"/>
            <a:pathLst>
              <a:path w="3983354" h="635">
                <a:moveTo>
                  <a:pt x="0" y="0"/>
                </a:moveTo>
                <a:lnTo>
                  <a:pt x="3982974" y="126"/>
                </a:lnTo>
              </a:path>
            </a:pathLst>
          </a:custGeom>
          <a:ln w="9525">
            <a:solidFill>
              <a:srgbClr val="000000"/>
            </a:solidFill>
          </a:ln>
        </p:spPr>
        <p:txBody>
          <a:bodyPr wrap="square" lIns="0" tIns="0" rIns="0" bIns="0" rtlCol="0"/>
          <a:lstStyle/>
          <a:p>
            <a:endParaRPr/>
          </a:p>
        </p:txBody>
      </p:sp>
      <p:sp>
        <p:nvSpPr>
          <p:cNvPr id="83" name="object 83"/>
          <p:cNvSpPr txBox="1"/>
          <p:nvPr/>
        </p:nvSpPr>
        <p:spPr>
          <a:xfrm>
            <a:off x="7798307" y="2297048"/>
            <a:ext cx="711835" cy="1322705"/>
          </a:xfrm>
          <a:prstGeom prst="rect">
            <a:avLst/>
          </a:prstGeom>
          <a:solidFill>
            <a:srgbClr val="B3B3B3"/>
          </a:solidFill>
        </p:spPr>
        <p:txBody>
          <a:bodyPr vert="horz" wrap="square" lIns="0" tIns="0" rIns="0" bIns="0" rtlCol="0">
            <a:spAutoFit/>
          </a:bodyPr>
          <a:lstStyle/>
          <a:p>
            <a:pPr>
              <a:lnSpc>
                <a:spcPct val="100000"/>
              </a:lnSpc>
            </a:pPr>
            <a:endParaRPr sz="1500">
              <a:latin typeface="Times New Roman"/>
              <a:cs typeface="Times New Roman"/>
            </a:endParaRPr>
          </a:p>
          <a:p>
            <a:pPr>
              <a:lnSpc>
                <a:spcPct val="100000"/>
              </a:lnSpc>
              <a:spcBef>
                <a:spcPts val="15"/>
              </a:spcBef>
            </a:pPr>
            <a:endParaRPr sz="2150">
              <a:latin typeface="Times New Roman"/>
              <a:cs typeface="Times New Roman"/>
            </a:endParaRPr>
          </a:p>
          <a:p>
            <a:pPr marL="179070">
              <a:lnSpc>
                <a:spcPct val="100000"/>
              </a:lnSpc>
            </a:pPr>
            <a:r>
              <a:rPr sz="1400" spc="-5" dirty="0">
                <a:latin typeface="Arial"/>
                <a:cs typeface="Arial"/>
              </a:rPr>
              <a:t>68%</a:t>
            </a:r>
            <a:endParaRPr sz="1400">
              <a:latin typeface="Arial"/>
              <a:cs typeface="Arial"/>
            </a:endParaRPr>
          </a:p>
        </p:txBody>
      </p:sp>
      <p:sp>
        <p:nvSpPr>
          <p:cNvPr id="84" name="object 84"/>
          <p:cNvSpPr txBox="1"/>
          <p:nvPr/>
        </p:nvSpPr>
        <p:spPr>
          <a:xfrm>
            <a:off x="8795004" y="2470404"/>
            <a:ext cx="710565" cy="1149350"/>
          </a:xfrm>
          <a:prstGeom prst="rect">
            <a:avLst/>
          </a:prstGeom>
          <a:solidFill>
            <a:srgbClr val="B3B3B3"/>
          </a:solidFill>
        </p:spPr>
        <p:txBody>
          <a:bodyPr vert="horz" wrap="square" lIns="0" tIns="0" rIns="0" bIns="0" rtlCol="0">
            <a:spAutoFit/>
          </a:bodyPr>
          <a:lstStyle/>
          <a:p>
            <a:pPr>
              <a:lnSpc>
                <a:spcPct val="100000"/>
              </a:lnSpc>
            </a:pPr>
            <a:endParaRPr sz="1500" dirty="0">
              <a:latin typeface="Times New Roman"/>
              <a:cs typeface="Times New Roman"/>
            </a:endParaRPr>
          </a:p>
          <a:p>
            <a:pPr>
              <a:lnSpc>
                <a:spcPct val="100000"/>
              </a:lnSpc>
              <a:spcBef>
                <a:spcPts val="20"/>
              </a:spcBef>
            </a:pPr>
            <a:endParaRPr sz="1650" dirty="0">
              <a:latin typeface="Times New Roman"/>
              <a:cs typeface="Times New Roman"/>
            </a:endParaRPr>
          </a:p>
          <a:p>
            <a:pPr marL="177800">
              <a:lnSpc>
                <a:spcPct val="100000"/>
              </a:lnSpc>
              <a:spcBef>
                <a:spcPts val="5"/>
              </a:spcBef>
            </a:pPr>
            <a:r>
              <a:rPr sz="1400" spc="-5" dirty="0">
                <a:latin typeface="Arial"/>
                <a:cs typeface="Arial"/>
              </a:rPr>
              <a:t>58%</a:t>
            </a:r>
            <a:endParaRPr sz="1400" dirty="0">
              <a:latin typeface="Arial"/>
              <a:cs typeface="Arial"/>
            </a:endParaRPr>
          </a:p>
        </p:txBody>
      </p:sp>
      <p:sp>
        <p:nvSpPr>
          <p:cNvPr id="85" name="object 85"/>
          <p:cNvSpPr txBox="1"/>
          <p:nvPr/>
        </p:nvSpPr>
        <p:spPr>
          <a:xfrm>
            <a:off x="9790176" y="2609088"/>
            <a:ext cx="711835" cy="1010919"/>
          </a:xfrm>
          <a:prstGeom prst="rect">
            <a:avLst/>
          </a:prstGeom>
          <a:solidFill>
            <a:srgbClr val="B3B3B3"/>
          </a:solidFill>
        </p:spPr>
        <p:txBody>
          <a:bodyPr vert="horz" wrap="square" lIns="0" tIns="0" rIns="0" bIns="0" rtlCol="0">
            <a:spAutoFit/>
          </a:bodyPr>
          <a:lstStyle/>
          <a:p>
            <a:pPr>
              <a:lnSpc>
                <a:spcPct val="100000"/>
              </a:lnSpc>
            </a:pPr>
            <a:endParaRPr sz="1500">
              <a:latin typeface="Times New Roman"/>
              <a:cs typeface="Times New Roman"/>
            </a:endParaRPr>
          </a:p>
          <a:p>
            <a:pPr>
              <a:lnSpc>
                <a:spcPct val="100000"/>
              </a:lnSpc>
            </a:pPr>
            <a:endParaRPr sz="1200">
              <a:latin typeface="Times New Roman"/>
              <a:cs typeface="Times New Roman"/>
            </a:endParaRPr>
          </a:p>
          <a:p>
            <a:pPr marL="179070">
              <a:lnSpc>
                <a:spcPct val="100000"/>
              </a:lnSpc>
            </a:pPr>
            <a:r>
              <a:rPr sz="1400" spc="-5" dirty="0">
                <a:latin typeface="Arial"/>
                <a:cs typeface="Arial"/>
              </a:rPr>
              <a:t>51%</a:t>
            </a:r>
            <a:endParaRPr sz="1400">
              <a:latin typeface="Arial"/>
              <a:cs typeface="Arial"/>
            </a:endParaRPr>
          </a:p>
        </p:txBody>
      </p:sp>
      <p:sp>
        <p:nvSpPr>
          <p:cNvPr id="86" name="object 86"/>
          <p:cNvSpPr txBox="1"/>
          <p:nvPr/>
        </p:nvSpPr>
        <p:spPr>
          <a:xfrm>
            <a:off x="10785347" y="2947416"/>
            <a:ext cx="711835" cy="672465"/>
          </a:xfrm>
          <a:prstGeom prst="rect">
            <a:avLst/>
          </a:prstGeom>
          <a:solidFill>
            <a:srgbClr val="B3B3B3"/>
          </a:solidFill>
        </p:spPr>
        <p:txBody>
          <a:bodyPr vert="horz" wrap="square" lIns="0" tIns="5715" rIns="0" bIns="0" rtlCol="0">
            <a:spAutoFit/>
          </a:bodyPr>
          <a:lstStyle/>
          <a:p>
            <a:pPr>
              <a:lnSpc>
                <a:spcPct val="100000"/>
              </a:lnSpc>
              <a:spcBef>
                <a:spcPts val="45"/>
              </a:spcBef>
            </a:pPr>
            <a:endParaRPr sz="1500">
              <a:latin typeface="Times New Roman"/>
              <a:cs typeface="Times New Roman"/>
            </a:endParaRPr>
          </a:p>
          <a:p>
            <a:pPr marL="179705">
              <a:lnSpc>
                <a:spcPct val="100000"/>
              </a:lnSpc>
            </a:pPr>
            <a:r>
              <a:rPr sz="1400" spc="-5" dirty="0">
                <a:latin typeface="Arial"/>
                <a:cs typeface="Arial"/>
              </a:rPr>
              <a:t>34%</a:t>
            </a:r>
            <a:endParaRPr sz="1400">
              <a:latin typeface="Arial"/>
              <a:cs typeface="Arial"/>
            </a:endParaRPr>
          </a:p>
        </p:txBody>
      </p:sp>
      <p:sp>
        <p:nvSpPr>
          <p:cNvPr id="87" name="object 87"/>
          <p:cNvSpPr txBox="1"/>
          <p:nvPr/>
        </p:nvSpPr>
        <p:spPr>
          <a:xfrm>
            <a:off x="8795004" y="2193798"/>
            <a:ext cx="710565" cy="239395"/>
          </a:xfrm>
          <a:prstGeom prst="rect">
            <a:avLst/>
          </a:prstGeom>
        </p:spPr>
        <p:txBody>
          <a:bodyPr vert="horz" wrap="square" lIns="0" tIns="13335" rIns="0" bIns="0" rtlCol="0">
            <a:spAutoFit/>
          </a:bodyPr>
          <a:lstStyle/>
          <a:p>
            <a:pPr marL="177800">
              <a:lnSpc>
                <a:spcPct val="100000"/>
              </a:lnSpc>
              <a:spcBef>
                <a:spcPts val="105"/>
              </a:spcBef>
            </a:pPr>
            <a:r>
              <a:rPr sz="1400" spc="-5" dirty="0">
                <a:latin typeface="Arial"/>
                <a:cs typeface="Arial"/>
              </a:rPr>
              <a:t>15%</a:t>
            </a:r>
            <a:endParaRPr sz="1400">
              <a:latin typeface="Arial"/>
              <a:cs typeface="Arial"/>
            </a:endParaRPr>
          </a:p>
        </p:txBody>
      </p:sp>
      <p:sp>
        <p:nvSpPr>
          <p:cNvPr id="88" name="object 88"/>
          <p:cNvSpPr txBox="1"/>
          <p:nvPr/>
        </p:nvSpPr>
        <p:spPr>
          <a:xfrm>
            <a:off x="9790176" y="2371470"/>
            <a:ext cx="711835" cy="239395"/>
          </a:xfrm>
          <a:prstGeom prst="rect">
            <a:avLst/>
          </a:prstGeom>
        </p:spPr>
        <p:txBody>
          <a:bodyPr vert="horz" wrap="square" lIns="0" tIns="13335" rIns="0" bIns="0" rtlCol="0">
            <a:spAutoFit/>
          </a:bodyPr>
          <a:lstStyle/>
          <a:p>
            <a:pPr marL="185420">
              <a:lnSpc>
                <a:spcPct val="100000"/>
              </a:lnSpc>
              <a:spcBef>
                <a:spcPts val="105"/>
              </a:spcBef>
            </a:pPr>
            <a:r>
              <a:rPr sz="1400" spc="-40" dirty="0">
                <a:latin typeface="Arial"/>
                <a:cs typeface="Arial"/>
              </a:rPr>
              <a:t>11%</a:t>
            </a:r>
            <a:endParaRPr sz="1400">
              <a:latin typeface="Arial"/>
              <a:cs typeface="Arial"/>
            </a:endParaRPr>
          </a:p>
        </p:txBody>
      </p:sp>
      <p:sp>
        <p:nvSpPr>
          <p:cNvPr id="89" name="object 89"/>
          <p:cNvSpPr txBox="1"/>
          <p:nvPr/>
        </p:nvSpPr>
        <p:spPr>
          <a:xfrm>
            <a:off x="10785347" y="2520823"/>
            <a:ext cx="711835" cy="239395"/>
          </a:xfrm>
          <a:prstGeom prst="rect">
            <a:avLst/>
          </a:prstGeom>
        </p:spPr>
        <p:txBody>
          <a:bodyPr vert="horz" wrap="square" lIns="0" tIns="13335" rIns="0" bIns="0" rtlCol="0">
            <a:spAutoFit/>
          </a:bodyPr>
          <a:lstStyle/>
          <a:p>
            <a:pPr marL="179705">
              <a:lnSpc>
                <a:spcPct val="100000"/>
              </a:lnSpc>
              <a:spcBef>
                <a:spcPts val="105"/>
              </a:spcBef>
            </a:pPr>
            <a:r>
              <a:rPr sz="1400" spc="-5" dirty="0">
                <a:latin typeface="Arial"/>
                <a:cs typeface="Arial"/>
              </a:rPr>
              <a:t>30%</a:t>
            </a:r>
            <a:endParaRPr sz="1400">
              <a:latin typeface="Arial"/>
              <a:cs typeface="Arial"/>
            </a:endParaRPr>
          </a:p>
        </p:txBody>
      </p:sp>
      <p:sp>
        <p:nvSpPr>
          <p:cNvPr id="90" name="object 90"/>
          <p:cNvSpPr/>
          <p:nvPr/>
        </p:nvSpPr>
        <p:spPr>
          <a:xfrm>
            <a:off x="7739126" y="1806575"/>
            <a:ext cx="828675" cy="281305"/>
          </a:xfrm>
          <a:custGeom>
            <a:avLst/>
            <a:gdLst/>
            <a:ahLst/>
            <a:cxnLst/>
            <a:rect l="l" t="t" r="r" b="b"/>
            <a:pathLst>
              <a:path w="828675" h="281305">
                <a:moveTo>
                  <a:pt x="828675" y="0"/>
                </a:moveTo>
                <a:lnTo>
                  <a:pt x="0" y="223774"/>
                </a:lnTo>
                <a:lnTo>
                  <a:pt x="0" y="280924"/>
                </a:lnTo>
                <a:lnTo>
                  <a:pt x="828675" y="57150"/>
                </a:lnTo>
                <a:lnTo>
                  <a:pt x="828675" y="0"/>
                </a:lnTo>
                <a:close/>
              </a:path>
            </a:pathLst>
          </a:custGeom>
          <a:solidFill>
            <a:srgbClr val="FFFFFF"/>
          </a:solidFill>
        </p:spPr>
        <p:txBody>
          <a:bodyPr wrap="square" lIns="0" tIns="0" rIns="0" bIns="0" rtlCol="0"/>
          <a:lstStyle/>
          <a:p>
            <a:endParaRPr/>
          </a:p>
        </p:txBody>
      </p:sp>
      <p:sp>
        <p:nvSpPr>
          <p:cNvPr id="91" name="object 91"/>
          <p:cNvSpPr/>
          <p:nvPr/>
        </p:nvSpPr>
        <p:spPr>
          <a:xfrm>
            <a:off x="8734425" y="1806575"/>
            <a:ext cx="830580" cy="281305"/>
          </a:xfrm>
          <a:custGeom>
            <a:avLst/>
            <a:gdLst/>
            <a:ahLst/>
            <a:cxnLst/>
            <a:rect l="l" t="t" r="r" b="b"/>
            <a:pathLst>
              <a:path w="830579" h="281305">
                <a:moveTo>
                  <a:pt x="830326" y="0"/>
                </a:moveTo>
                <a:lnTo>
                  <a:pt x="0" y="223774"/>
                </a:lnTo>
                <a:lnTo>
                  <a:pt x="0" y="280924"/>
                </a:lnTo>
                <a:lnTo>
                  <a:pt x="830326" y="57150"/>
                </a:lnTo>
                <a:lnTo>
                  <a:pt x="830326" y="0"/>
                </a:lnTo>
                <a:close/>
              </a:path>
            </a:pathLst>
          </a:custGeom>
          <a:solidFill>
            <a:srgbClr val="FFFFFF"/>
          </a:solidFill>
        </p:spPr>
        <p:txBody>
          <a:bodyPr wrap="square" lIns="0" tIns="0" rIns="0" bIns="0" rtlCol="0"/>
          <a:lstStyle/>
          <a:p>
            <a:endParaRPr/>
          </a:p>
        </p:txBody>
      </p:sp>
      <p:sp>
        <p:nvSpPr>
          <p:cNvPr id="92" name="object 92"/>
          <p:cNvSpPr/>
          <p:nvPr/>
        </p:nvSpPr>
        <p:spPr>
          <a:xfrm>
            <a:off x="9731375" y="1806575"/>
            <a:ext cx="828675" cy="281305"/>
          </a:xfrm>
          <a:custGeom>
            <a:avLst/>
            <a:gdLst/>
            <a:ahLst/>
            <a:cxnLst/>
            <a:rect l="l" t="t" r="r" b="b"/>
            <a:pathLst>
              <a:path w="828675" h="281305">
                <a:moveTo>
                  <a:pt x="828675" y="0"/>
                </a:moveTo>
                <a:lnTo>
                  <a:pt x="0" y="223774"/>
                </a:lnTo>
                <a:lnTo>
                  <a:pt x="0" y="280924"/>
                </a:lnTo>
                <a:lnTo>
                  <a:pt x="828675" y="57150"/>
                </a:lnTo>
                <a:lnTo>
                  <a:pt x="828675" y="0"/>
                </a:lnTo>
                <a:close/>
              </a:path>
            </a:pathLst>
          </a:custGeom>
          <a:solidFill>
            <a:srgbClr val="FFFFFF"/>
          </a:solidFill>
        </p:spPr>
        <p:txBody>
          <a:bodyPr wrap="square" lIns="0" tIns="0" rIns="0" bIns="0" rtlCol="0"/>
          <a:lstStyle/>
          <a:p>
            <a:endParaRPr/>
          </a:p>
        </p:txBody>
      </p:sp>
      <p:sp>
        <p:nvSpPr>
          <p:cNvPr id="93" name="object 93"/>
          <p:cNvSpPr/>
          <p:nvPr/>
        </p:nvSpPr>
        <p:spPr>
          <a:xfrm>
            <a:off x="10726801" y="1806575"/>
            <a:ext cx="828675" cy="281305"/>
          </a:xfrm>
          <a:custGeom>
            <a:avLst/>
            <a:gdLst/>
            <a:ahLst/>
            <a:cxnLst/>
            <a:rect l="l" t="t" r="r" b="b"/>
            <a:pathLst>
              <a:path w="828675" h="281305">
                <a:moveTo>
                  <a:pt x="828675" y="0"/>
                </a:moveTo>
                <a:lnTo>
                  <a:pt x="0" y="223774"/>
                </a:lnTo>
                <a:lnTo>
                  <a:pt x="0" y="280924"/>
                </a:lnTo>
                <a:lnTo>
                  <a:pt x="828675" y="57150"/>
                </a:lnTo>
                <a:lnTo>
                  <a:pt x="828675" y="0"/>
                </a:lnTo>
                <a:close/>
              </a:path>
            </a:pathLst>
          </a:custGeom>
          <a:solidFill>
            <a:srgbClr val="FFFFFF"/>
          </a:solidFill>
        </p:spPr>
        <p:txBody>
          <a:bodyPr wrap="square" lIns="0" tIns="0" rIns="0" bIns="0" rtlCol="0"/>
          <a:lstStyle/>
          <a:p>
            <a:endParaRPr/>
          </a:p>
        </p:txBody>
      </p:sp>
      <p:sp>
        <p:nvSpPr>
          <p:cNvPr id="94" name="object 94"/>
          <p:cNvSpPr/>
          <p:nvPr/>
        </p:nvSpPr>
        <p:spPr>
          <a:xfrm>
            <a:off x="7739126" y="1806575"/>
            <a:ext cx="828675" cy="224154"/>
          </a:xfrm>
          <a:custGeom>
            <a:avLst/>
            <a:gdLst/>
            <a:ahLst/>
            <a:cxnLst/>
            <a:rect l="l" t="t" r="r" b="b"/>
            <a:pathLst>
              <a:path w="828675" h="224155">
                <a:moveTo>
                  <a:pt x="0" y="223774"/>
                </a:moveTo>
                <a:lnTo>
                  <a:pt x="828675" y="0"/>
                </a:lnTo>
              </a:path>
            </a:pathLst>
          </a:custGeom>
          <a:ln w="9525">
            <a:solidFill>
              <a:srgbClr val="000000"/>
            </a:solidFill>
          </a:ln>
        </p:spPr>
        <p:txBody>
          <a:bodyPr wrap="square" lIns="0" tIns="0" rIns="0" bIns="0" rtlCol="0"/>
          <a:lstStyle/>
          <a:p>
            <a:endParaRPr/>
          </a:p>
        </p:txBody>
      </p:sp>
      <p:sp>
        <p:nvSpPr>
          <p:cNvPr id="95" name="object 95"/>
          <p:cNvSpPr/>
          <p:nvPr/>
        </p:nvSpPr>
        <p:spPr>
          <a:xfrm>
            <a:off x="7739126" y="1863725"/>
            <a:ext cx="828675" cy="224154"/>
          </a:xfrm>
          <a:custGeom>
            <a:avLst/>
            <a:gdLst/>
            <a:ahLst/>
            <a:cxnLst/>
            <a:rect l="l" t="t" r="r" b="b"/>
            <a:pathLst>
              <a:path w="828675" h="224155">
                <a:moveTo>
                  <a:pt x="0" y="223774"/>
                </a:moveTo>
                <a:lnTo>
                  <a:pt x="828675" y="0"/>
                </a:lnTo>
              </a:path>
            </a:pathLst>
          </a:custGeom>
          <a:ln w="9525">
            <a:solidFill>
              <a:srgbClr val="000000"/>
            </a:solidFill>
          </a:ln>
        </p:spPr>
        <p:txBody>
          <a:bodyPr wrap="square" lIns="0" tIns="0" rIns="0" bIns="0" rtlCol="0"/>
          <a:lstStyle/>
          <a:p>
            <a:endParaRPr/>
          </a:p>
        </p:txBody>
      </p:sp>
      <p:sp>
        <p:nvSpPr>
          <p:cNvPr id="96" name="object 96"/>
          <p:cNvSpPr/>
          <p:nvPr/>
        </p:nvSpPr>
        <p:spPr>
          <a:xfrm>
            <a:off x="8734425" y="1806575"/>
            <a:ext cx="830580" cy="224154"/>
          </a:xfrm>
          <a:custGeom>
            <a:avLst/>
            <a:gdLst/>
            <a:ahLst/>
            <a:cxnLst/>
            <a:rect l="l" t="t" r="r" b="b"/>
            <a:pathLst>
              <a:path w="830579" h="224155">
                <a:moveTo>
                  <a:pt x="0" y="223774"/>
                </a:moveTo>
                <a:lnTo>
                  <a:pt x="830326" y="0"/>
                </a:lnTo>
              </a:path>
            </a:pathLst>
          </a:custGeom>
          <a:ln w="9525">
            <a:solidFill>
              <a:srgbClr val="000000"/>
            </a:solidFill>
          </a:ln>
        </p:spPr>
        <p:txBody>
          <a:bodyPr wrap="square" lIns="0" tIns="0" rIns="0" bIns="0" rtlCol="0"/>
          <a:lstStyle/>
          <a:p>
            <a:endParaRPr/>
          </a:p>
        </p:txBody>
      </p:sp>
      <p:sp>
        <p:nvSpPr>
          <p:cNvPr id="97" name="object 97"/>
          <p:cNvSpPr/>
          <p:nvPr/>
        </p:nvSpPr>
        <p:spPr>
          <a:xfrm>
            <a:off x="8734425" y="1863725"/>
            <a:ext cx="830580" cy="224154"/>
          </a:xfrm>
          <a:custGeom>
            <a:avLst/>
            <a:gdLst/>
            <a:ahLst/>
            <a:cxnLst/>
            <a:rect l="l" t="t" r="r" b="b"/>
            <a:pathLst>
              <a:path w="830579" h="224155">
                <a:moveTo>
                  <a:pt x="0" y="223774"/>
                </a:moveTo>
                <a:lnTo>
                  <a:pt x="830326" y="0"/>
                </a:lnTo>
              </a:path>
            </a:pathLst>
          </a:custGeom>
          <a:ln w="9525">
            <a:solidFill>
              <a:srgbClr val="000000"/>
            </a:solidFill>
          </a:ln>
        </p:spPr>
        <p:txBody>
          <a:bodyPr wrap="square" lIns="0" tIns="0" rIns="0" bIns="0" rtlCol="0"/>
          <a:lstStyle/>
          <a:p>
            <a:endParaRPr/>
          </a:p>
        </p:txBody>
      </p:sp>
      <p:sp>
        <p:nvSpPr>
          <p:cNvPr id="98" name="object 98"/>
          <p:cNvSpPr/>
          <p:nvPr/>
        </p:nvSpPr>
        <p:spPr>
          <a:xfrm>
            <a:off x="9731375" y="1806575"/>
            <a:ext cx="828675" cy="224154"/>
          </a:xfrm>
          <a:custGeom>
            <a:avLst/>
            <a:gdLst/>
            <a:ahLst/>
            <a:cxnLst/>
            <a:rect l="l" t="t" r="r" b="b"/>
            <a:pathLst>
              <a:path w="828675" h="224155">
                <a:moveTo>
                  <a:pt x="0" y="223774"/>
                </a:moveTo>
                <a:lnTo>
                  <a:pt x="828675" y="0"/>
                </a:lnTo>
              </a:path>
            </a:pathLst>
          </a:custGeom>
          <a:ln w="9525">
            <a:solidFill>
              <a:srgbClr val="000000"/>
            </a:solidFill>
          </a:ln>
        </p:spPr>
        <p:txBody>
          <a:bodyPr wrap="square" lIns="0" tIns="0" rIns="0" bIns="0" rtlCol="0"/>
          <a:lstStyle/>
          <a:p>
            <a:endParaRPr/>
          </a:p>
        </p:txBody>
      </p:sp>
      <p:sp>
        <p:nvSpPr>
          <p:cNvPr id="99" name="object 99"/>
          <p:cNvSpPr/>
          <p:nvPr/>
        </p:nvSpPr>
        <p:spPr>
          <a:xfrm>
            <a:off x="9731375" y="1863725"/>
            <a:ext cx="828675" cy="224154"/>
          </a:xfrm>
          <a:custGeom>
            <a:avLst/>
            <a:gdLst/>
            <a:ahLst/>
            <a:cxnLst/>
            <a:rect l="l" t="t" r="r" b="b"/>
            <a:pathLst>
              <a:path w="828675" h="224155">
                <a:moveTo>
                  <a:pt x="0" y="223774"/>
                </a:moveTo>
                <a:lnTo>
                  <a:pt x="828675" y="0"/>
                </a:lnTo>
              </a:path>
            </a:pathLst>
          </a:custGeom>
          <a:ln w="9525">
            <a:solidFill>
              <a:srgbClr val="000000"/>
            </a:solidFill>
          </a:ln>
        </p:spPr>
        <p:txBody>
          <a:bodyPr wrap="square" lIns="0" tIns="0" rIns="0" bIns="0" rtlCol="0"/>
          <a:lstStyle/>
          <a:p>
            <a:endParaRPr/>
          </a:p>
        </p:txBody>
      </p:sp>
      <p:sp>
        <p:nvSpPr>
          <p:cNvPr id="100" name="object 100"/>
          <p:cNvSpPr/>
          <p:nvPr/>
        </p:nvSpPr>
        <p:spPr>
          <a:xfrm>
            <a:off x="10726801" y="1806575"/>
            <a:ext cx="828675" cy="224154"/>
          </a:xfrm>
          <a:custGeom>
            <a:avLst/>
            <a:gdLst/>
            <a:ahLst/>
            <a:cxnLst/>
            <a:rect l="l" t="t" r="r" b="b"/>
            <a:pathLst>
              <a:path w="828675" h="224155">
                <a:moveTo>
                  <a:pt x="0" y="223774"/>
                </a:moveTo>
                <a:lnTo>
                  <a:pt x="828675" y="0"/>
                </a:lnTo>
              </a:path>
            </a:pathLst>
          </a:custGeom>
          <a:ln w="9525">
            <a:solidFill>
              <a:srgbClr val="000000"/>
            </a:solidFill>
          </a:ln>
        </p:spPr>
        <p:txBody>
          <a:bodyPr wrap="square" lIns="0" tIns="0" rIns="0" bIns="0" rtlCol="0"/>
          <a:lstStyle/>
          <a:p>
            <a:endParaRPr/>
          </a:p>
        </p:txBody>
      </p:sp>
      <p:sp>
        <p:nvSpPr>
          <p:cNvPr id="101" name="object 101"/>
          <p:cNvSpPr/>
          <p:nvPr/>
        </p:nvSpPr>
        <p:spPr>
          <a:xfrm>
            <a:off x="10726801" y="1863725"/>
            <a:ext cx="828675" cy="224154"/>
          </a:xfrm>
          <a:custGeom>
            <a:avLst/>
            <a:gdLst/>
            <a:ahLst/>
            <a:cxnLst/>
            <a:rect l="l" t="t" r="r" b="b"/>
            <a:pathLst>
              <a:path w="828675" h="224155">
                <a:moveTo>
                  <a:pt x="0" y="223774"/>
                </a:moveTo>
                <a:lnTo>
                  <a:pt x="828675" y="0"/>
                </a:lnTo>
              </a:path>
            </a:pathLst>
          </a:custGeom>
          <a:ln w="9525">
            <a:solidFill>
              <a:srgbClr val="000000"/>
            </a:solidFill>
          </a:ln>
        </p:spPr>
        <p:txBody>
          <a:bodyPr wrap="square" lIns="0" tIns="0" rIns="0" bIns="0" rtlCol="0"/>
          <a:lstStyle/>
          <a:p>
            <a:endParaRPr/>
          </a:p>
        </p:txBody>
      </p:sp>
      <p:sp>
        <p:nvSpPr>
          <p:cNvPr id="102" name="object 102"/>
          <p:cNvSpPr/>
          <p:nvPr/>
        </p:nvSpPr>
        <p:spPr>
          <a:xfrm>
            <a:off x="7950200" y="1838325"/>
            <a:ext cx="406400" cy="212725"/>
          </a:xfrm>
          <a:custGeom>
            <a:avLst/>
            <a:gdLst/>
            <a:ahLst/>
            <a:cxnLst/>
            <a:rect l="l" t="t" r="r" b="b"/>
            <a:pathLst>
              <a:path w="406400" h="212725">
                <a:moveTo>
                  <a:pt x="0" y="212725"/>
                </a:moveTo>
                <a:lnTo>
                  <a:pt x="406400" y="212725"/>
                </a:lnTo>
                <a:lnTo>
                  <a:pt x="406400" y="0"/>
                </a:lnTo>
                <a:lnTo>
                  <a:pt x="0" y="0"/>
                </a:lnTo>
                <a:lnTo>
                  <a:pt x="0" y="212725"/>
                </a:lnTo>
                <a:close/>
              </a:path>
            </a:pathLst>
          </a:custGeom>
          <a:solidFill>
            <a:srgbClr val="5E9DFF"/>
          </a:solidFill>
        </p:spPr>
        <p:txBody>
          <a:bodyPr wrap="square" lIns="0" tIns="0" rIns="0" bIns="0" rtlCol="0"/>
          <a:lstStyle/>
          <a:p>
            <a:endParaRPr/>
          </a:p>
        </p:txBody>
      </p:sp>
      <p:sp>
        <p:nvSpPr>
          <p:cNvPr id="103" name="object 103"/>
          <p:cNvSpPr txBox="1"/>
          <p:nvPr/>
        </p:nvSpPr>
        <p:spPr>
          <a:xfrm>
            <a:off x="7974838" y="1819782"/>
            <a:ext cx="358775" cy="239395"/>
          </a:xfrm>
          <a:prstGeom prst="rect">
            <a:avLst/>
          </a:prstGeom>
        </p:spPr>
        <p:txBody>
          <a:bodyPr vert="horz" wrap="square" lIns="0" tIns="13335" rIns="0" bIns="0" rtlCol="0">
            <a:spAutoFit/>
          </a:bodyPr>
          <a:lstStyle/>
          <a:p>
            <a:pPr marL="1270">
              <a:lnSpc>
                <a:spcPct val="100000"/>
              </a:lnSpc>
              <a:spcBef>
                <a:spcPts val="105"/>
              </a:spcBef>
            </a:pPr>
            <a:r>
              <a:rPr sz="1400" spc="-5" dirty="0">
                <a:solidFill>
                  <a:srgbClr val="FFFFFF"/>
                </a:solidFill>
                <a:latin typeface="Arial"/>
                <a:cs typeface="Arial"/>
              </a:rPr>
              <a:t>24%</a:t>
            </a:r>
            <a:endParaRPr sz="1400">
              <a:latin typeface="Arial"/>
              <a:cs typeface="Arial"/>
            </a:endParaRPr>
          </a:p>
        </p:txBody>
      </p:sp>
      <p:sp>
        <p:nvSpPr>
          <p:cNvPr id="104" name="object 104"/>
          <p:cNvSpPr txBox="1"/>
          <p:nvPr/>
        </p:nvSpPr>
        <p:spPr>
          <a:xfrm>
            <a:off x="7974838" y="2105850"/>
            <a:ext cx="357505" cy="191770"/>
          </a:xfrm>
          <a:prstGeom prst="rect">
            <a:avLst/>
          </a:prstGeom>
          <a:solidFill>
            <a:srgbClr val="75EFE7"/>
          </a:solidFill>
        </p:spPr>
        <p:txBody>
          <a:bodyPr vert="horz" wrap="square" lIns="0" tIns="0" rIns="0" bIns="0" rtlCol="0">
            <a:spAutoFit/>
          </a:bodyPr>
          <a:lstStyle/>
          <a:p>
            <a:pPr marL="50800">
              <a:lnSpc>
                <a:spcPts val="1470"/>
              </a:lnSpc>
            </a:pPr>
            <a:r>
              <a:rPr sz="1400" spc="-5" dirty="0">
                <a:latin typeface="Arial"/>
                <a:cs typeface="Arial"/>
              </a:rPr>
              <a:t>8%</a:t>
            </a:r>
            <a:endParaRPr sz="1400">
              <a:latin typeface="Arial"/>
              <a:cs typeface="Arial"/>
            </a:endParaRPr>
          </a:p>
        </p:txBody>
      </p:sp>
      <p:sp>
        <p:nvSpPr>
          <p:cNvPr id="105" name="object 105"/>
          <p:cNvSpPr txBox="1"/>
          <p:nvPr/>
        </p:nvSpPr>
        <p:spPr>
          <a:xfrm>
            <a:off x="8945626" y="1868551"/>
            <a:ext cx="406400" cy="212725"/>
          </a:xfrm>
          <a:prstGeom prst="rect">
            <a:avLst/>
          </a:prstGeom>
          <a:solidFill>
            <a:srgbClr val="5E9DFF"/>
          </a:solidFill>
        </p:spPr>
        <p:txBody>
          <a:bodyPr vert="horz" wrap="square" lIns="0" tIns="0" rIns="0" bIns="0" rtlCol="0">
            <a:spAutoFit/>
          </a:bodyPr>
          <a:lstStyle/>
          <a:p>
            <a:pPr marL="26034">
              <a:lnSpc>
                <a:spcPts val="1635"/>
              </a:lnSpc>
            </a:pPr>
            <a:r>
              <a:rPr sz="1400" spc="-5" dirty="0">
                <a:solidFill>
                  <a:srgbClr val="FFFFFF"/>
                </a:solidFill>
                <a:latin typeface="Arial"/>
                <a:cs typeface="Arial"/>
              </a:rPr>
              <a:t>27%</a:t>
            </a:r>
            <a:endParaRPr sz="1400">
              <a:latin typeface="Arial"/>
              <a:cs typeface="Arial"/>
            </a:endParaRPr>
          </a:p>
        </p:txBody>
      </p:sp>
      <p:sp>
        <p:nvSpPr>
          <p:cNvPr id="106" name="object 106"/>
          <p:cNvSpPr txBox="1"/>
          <p:nvPr/>
        </p:nvSpPr>
        <p:spPr>
          <a:xfrm>
            <a:off x="9790176" y="2060829"/>
            <a:ext cx="711835" cy="239395"/>
          </a:xfrm>
          <a:prstGeom prst="rect">
            <a:avLst/>
          </a:prstGeom>
        </p:spPr>
        <p:txBody>
          <a:bodyPr vert="horz" wrap="square" lIns="0" tIns="13335" rIns="0" bIns="0" rtlCol="0">
            <a:spAutoFit/>
          </a:bodyPr>
          <a:lstStyle/>
          <a:p>
            <a:pPr marL="178435">
              <a:lnSpc>
                <a:spcPct val="100000"/>
              </a:lnSpc>
              <a:spcBef>
                <a:spcPts val="105"/>
              </a:spcBef>
            </a:pPr>
            <a:r>
              <a:rPr sz="1400" spc="-5" dirty="0">
                <a:solidFill>
                  <a:srgbClr val="FFFFFF"/>
                </a:solidFill>
                <a:latin typeface="Arial"/>
                <a:cs typeface="Arial"/>
              </a:rPr>
              <a:t>38%</a:t>
            </a:r>
            <a:endParaRPr sz="1400">
              <a:latin typeface="Arial"/>
              <a:cs typeface="Arial"/>
            </a:endParaRPr>
          </a:p>
        </p:txBody>
      </p:sp>
      <p:sp>
        <p:nvSpPr>
          <p:cNvPr id="107" name="object 107"/>
          <p:cNvSpPr txBox="1"/>
          <p:nvPr/>
        </p:nvSpPr>
        <p:spPr>
          <a:xfrm>
            <a:off x="10785347" y="2059305"/>
            <a:ext cx="711835" cy="239395"/>
          </a:xfrm>
          <a:prstGeom prst="rect">
            <a:avLst/>
          </a:prstGeom>
        </p:spPr>
        <p:txBody>
          <a:bodyPr vert="horz" wrap="square" lIns="0" tIns="13335" rIns="0" bIns="0" rtlCol="0">
            <a:spAutoFit/>
          </a:bodyPr>
          <a:lstStyle/>
          <a:p>
            <a:pPr marL="179070">
              <a:lnSpc>
                <a:spcPct val="100000"/>
              </a:lnSpc>
              <a:spcBef>
                <a:spcPts val="105"/>
              </a:spcBef>
            </a:pPr>
            <a:r>
              <a:rPr sz="1400" spc="-5" dirty="0">
                <a:solidFill>
                  <a:srgbClr val="FFFFFF"/>
                </a:solidFill>
                <a:latin typeface="Arial"/>
                <a:cs typeface="Arial"/>
              </a:rPr>
              <a:t>36%</a:t>
            </a:r>
            <a:endParaRPr sz="1400">
              <a:latin typeface="Arial"/>
              <a:cs typeface="Arial"/>
            </a:endParaRPr>
          </a:p>
        </p:txBody>
      </p:sp>
      <p:sp>
        <p:nvSpPr>
          <p:cNvPr id="108" name="object 108"/>
          <p:cNvSpPr/>
          <p:nvPr/>
        </p:nvSpPr>
        <p:spPr>
          <a:xfrm>
            <a:off x="8509000" y="4090923"/>
            <a:ext cx="284480" cy="9525"/>
          </a:xfrm>
          <a:custGeom>
            <a:avLst/>
            <a:gdLst/>
            <a:ahLst/>
            <a:cxnLst/>
            <a:rect l="l" t="t" r="r" b="b"/>
            <a:pathLst>
              <a:path w="284479" h="9525">
                <a:moveTo>
                  <a:pt x="0" y="9525"/>
                </a:moveTo>
                <a:lnTo>
                  <a:pt x="284225" y="0"/>
                </a:lnTo>
              </a:path>
            </a:pathLst>
          </a:custGeom>
          <a:ln w="9525">
            <a:solidFill>
              <a:srgbClr val="E6E6E6"/>
            </a:solidFill>
          </a:ln>
        </p:spPr>
        <p:txBody>
          <a:bodyPr wrap="square" lIns="0" tIns="0" rIns="0" bIns="0" rtlCol="0"/>
          <a:lstStyle/>
          <a:p>
            <a:endParaRPr/>
          </a:p>
        </p:txBody>
      </p:sp>
      <p:sp>
        <p:nvSpPr>
          <p:cNvPr id="109" name="object 109"/>
          <p:cNvSpPr/>
          <p:nvPr/>
        </p:nvSpPr>
        <p:spPr>
          <a:xfrm>
            <a:off x="7798307" y="4440935"/>
            <a:ext cx="711835" cy="1494790"/>
          </a:xfrm>
          <a:custGeom>
            <a:avLst/>
            <a:gdLst/>
            <a:ahLst/>
            <a:cxnLst/>
            <a:rect l="l" t="t" r="r" b="b"/>
            <a:pathLst>
              <a:path w="711834" h="1494789">
                <a:moveTo>
                  <a:pt x="711708" y="0"/>
                </a:moveTo>
                <a:lnTo>
                  <a:pt x="0" y="0"/>
                </a:lnTo>
                <a:lnTo>
                  <a:pt x="0" y="1494726"/>
                </a:lnTo>
                <a:lnTo>
                  <a:pt x="711708" y="1494726"/>
                </a:lnTo>
                <a:lnTo>
                  <a:pt x="711708" y="0"/>
                </a:lnTo>
                <a:close/>
              </a:path>
            </a:pathLst>
          </a:custGeom>
          <a:solidFill>
            <a:srgbClr val="B3B3B3"/>
          </a:solidFill>
        </p:spPr>
        <p:txBody>
          <a:bodyPr wrap="square" lIns="0" tIns="0" rIns="0" bIns="0" rtlCol="0"/>
          <a:lstStyle/>
          <a:p>
            <a:endParaRPr/>
          </a:p>
        </p:txBody>
      </p:sp>
      <p:sp>
        <p:nvSpPr>
          <p:cNvPr id="110" name="object 110"/>
          <p:cNvSpPr/>
          <p:nvPr/>
        </p:nvSpPr>
        <p:spPr>
          <a:xfrm>
            <a:off x="8795004" y="4503420"/>
            <a:ext cx="710565" cy="1432560"/>
          </a:xfrm>
          <a:custGeom>
            <a:avLst/>
            <a:gdLst/>
            <a:ahLst/>
            <a:cxnLst/>
            <a:rect l="l" t="t" r="r" b="b"/>
            <a:pathLst>
              <a:path w="710565" h="1432560">
                <a:moveTo>
                  <a:pt x="710184" y="0"/>
                </a:moveTo>
                <a:lnTo>
                  <a:pt x="0" y="0"/>
                </a:lnTo>
                <a:lnTo>
                  <a:pt x="0" y="1432242"/>
                </a:lnTo>
                <a:lnTo>
                  <a:pt x="710184" y="1432242"/>
                </a:lnTo>
                <a:lnTo>
                  <a:pt x="710184" y="0"/>
                </a:lnTo>
                <a:close/>
              </a:path>
            </a:pathLst>
          </a:custGeom>
          <a:solidFill>
            <a:srgbClr val="B3B3B3"/>
          </a:solidFill>
        </p:spPr>
        <p:txBody>
          <a:bodyPr wrap="square" lIns="0" tIns="0" rIns="0" bIns="0" rtlCol="0"/>
          <a:lstStyle/>
          <a:p>
            <a:endParaRPr/>
          </a:p>
        </p:txBody>
      </p:sp>
      <p:sp>
        <p:nvSpPr>
          <p:cNvPr id="111" name="object 111"/>
          <p:cNvSpPr/>
          <p:nvPr/>
        </p:nvSpPr>
        <p:spPr>
          <a:xfrm>
            <a:off x="9790176" y="4466844"/>
            <a:ext cx="711835" cy="1469390"/>
          </a:xfrm>
          <a:custGeom>
            <a:avLst/>
            <a:gdLst/>
            <a:ahLst/>
            <a:cxnLst/>
            <a:rect l="l" t="t" r="r" b="b"/>
            <a:pathLst>
              <a:path w="711834" h="1469389">
                <a:moveTo>
                  <a:pt x="711707" y="0"/>
                </a:moveTo>
                <a:lnTo>
                  <a:pt x="0" y="0"/>
                </a:lnTo>
                <a:lnTo>
                  <a:pt x="0" y="1468818"/>
                </a:lnTo>
                <a:lnTo>
                  <a:pt x="711707" y="1468818"/>
                </a:lnTo>
                <a:lnTo>
                  <a:pt x="711707" y="0"/>
                </a:lnTo>
                <a:close/>
              </a:path>
            </a:pathLst>
          </a:custGeom>
          <a:solidFill>
            <a:srgbClr val="B3B3B3"/>
          </a:solidFill>
        </p:spPr>
        <p:txBody>
          <a:bodyPr wrap="square" lIns="0" tIns="0" rIns="0" bIns="0" rtlCol="0"/>
          <a:lstStyle/>
          <a:p>
            <a:endParaRPr/>
          </a:p>
        </p:txBody>
      </p:sp>
      <p:sp>
        <p:nvSpPr>
          <p:cNvPr id="112" name="object 112"/>
          <p:cNvSpPr/>
          <p:nvPr/>
        </p:nvSpPr>
        <p:spPr>
          <a:xfrm>
            <a:off x="10785347" y="4815840"/>
            <a:ext cx="711835" cy="1120140"/>
          </a:xfrm>
          <a:custGeom>
            <a:avLst/>
            <a:gdLst/>
            <a:ahLst/>
            <a:cxnLst/>
            <a:rect l="l" t="t" r="r" b="b"/>
            <a:pathLst>
              <a:path w="711834" h="1120139">
                <a:moveTo>
                  <a:pt x="711707" y="0"/>
                </a:moveTo>
                <a:lnTo>
                  <a:pt x="0" y="0"/>
                </a:lnTo>
                <a:lnTo>
                  <a:pt x="0" y="1119822"/>
                </a:lnTo>
                <a:lnTo>
                  <a:pt x="711707" y="1119822"/>
                </a:lnTo>
                <a:lnTo>
                  <a:pt x="711707" y="0"/>
                </a:lnTo>
                <a:close/>
              </a:path>
            </a:pathLst>
          </a:custGeom>
          <a:solidFill>
            <a:srgbClr val="B3B3B3"/>
          </a:solidFill>
        </p:spPr>
        <p:txBody>
          <a:bodyPr wrap="square" lIns="0" tIns="0" rIns="0" bIns="0" rtlCol="0"/>
          <a:lstStyle/>
          <a:p>
            <a:endParaRPr/>
          </a:p>
        </p:txBody>
      </p:sp>
      <p:sp>
        <p:nvSpPr>
          <p:cNvPr id="113" name="object 113"/>
          <p:cNvSpPr/>
          <p:nvPr/>
        </p:nvSpPr>
        <p:spPr>
          <a:xfrm>
            <a:off x="8129651" y="4436364"/>
            <a:ext cx="380365" cy="0"/>
          </a:xfrm>
          <a:custGeom>
            <a:avLst/>
            <a:gdLst/>
            <a:ahLst/>
            <a:cxnLst/>
            <a:rect l="l" t="t" r="r" b="b"/>
            <a:pathLst>
              <a:path w="380365">
                <a:moveTo>
                  <a:pt x="0" y="0"/>
                </a:moveTo>
                <a:lnTo>
                  <a:pt x="380365" y="0"/>
                </a:lnTo>
              </a:path>
            </a:pathLst>
          </a:custGeom>
          <a:ln w="9144">
            <a:solidFill>
              <a:srgbClr val="75EFE7"/>
            </a:solidFill>
          </a:ln>
        </p:spPr>
        <p:txBody>
          <a:bodyPr wrap="square" lIns="0" tIns="0" rIns="0" bIns="0" rtlCol="0"/>
          <a:lstStyle/>
          <a:p>
            <a:endParaRPr/>
          </a:p>
        </p:txBody>
      </p:sp>
      <p:sp>
        <p:nvSpPr>
          <p:cNvPr id="114" name="object 114"/>
          <p:cNvSpPr/>
          <p:nvPr/>
        </p:nvSpPr>
        <p:spPr>
          <a:xfrm>
            <a:off x="7798307" y="4436364"/>
            <a:ext cx="23495" cy="0"/>
          </a:xfrm>
          <a:custGeom>
            <a:avLst/>
            <a:gdLst/>
            <a:ahLst/>
            <a:cxnLst/>
            <a:rect l="l" t="t" r="r" b="b"/>
            <a:pathLst>
              <a:path w="23495">
                <a:moveTo>
                  <a:pt x="0" y="0"/>
                </a:moveTo>
                <a:lnTo>
                  <a:pt x="23368" y="0"/>
                </a:lnTo>
              </a:path>
            </a:pathLst>
          </a:custGeom>
          <a:ln w="9144">
            <a:solidFill>
              <a:srgbClr val="75EFE7"/>
            </a:solidFill>
          </a:ln>
        </p:spPr>
        <p:txBody>
          <a:bodyPr wrap="square" lIns="0" tIns="0" rIns="0" bIns="0" rtlCol="0"/>
          <a:lstStyle/>
          <a:p>
            <a:endParaRPr/>
          </a:p>
        </p:txBody>
      </p:sp>
      <p:sp>
        <p:nvSpPr>
          <p:cNvPr id="115" name="object 115"/>
          <p:cNvSpPr/>
          <p:nvPr/>
        </p:nvSpPr>
        <p:spPr>
          <a:xfrm>
            <a:off x="9302750" y="4485132"/>
            <a:ext cx="202565" cy="0"/>
          </a:xfrm>
          <a:custGeom>
            <a:avLst/>
            <a:gdLst/>
            <a:ahLst/>
            <a:cxnLst/>
            <a:rect l="l" t="t" r="r" b="b"/>
            <a:pathLst>
              <a:path w="202565">
                <a:moveTo>
                  <a:pt x="0" y="0"/>
                </a:moveTo>
                <a:lnTo>
                  <a:pt x="202438" y="0"/>
                </a:lnTo>
              </a:path>
            </a:pathLst>
          </a:custGeom>
          <a:ln w="36575">
            <a:solidFill>
              <a:srgbClr val="75EFE7"/>
            </a:solidFill>
          </a:ln>
        </p:spPr>
        <p:txBody>
          <a:bodyPr wrap="square" lIns="0" tIns="0" rIns="0" bIns="0" rtlCol="0"/>
          <a:lstStyle/>
          <a:p>
            <a:endParaRPr/>
          </a:p>
        </p:txBody>
      </p:sp>
      <p:sp>
        <p:nvSpPr>
          <p:cNvPr id="116" name="object 116"/>
          <p:cNvSpPr/>
          <p:nvPr/>
        </p:nvSpPr>
        <p:spPr>
          <a:xfrm>
            <a:off x="8795004" y="4485132"/>
            <a:ext cx="200025" cy="0"/>
          </a:xfrm>
          <a:custGeom>
            <a:avLst/>
            <a:gdLst/>
            <a:ahLst/>
            <a:cxnLst/>
            <a:rect l="l" t="t" r="r" b="b"/>
            <a:pathLst>
              <a:path w="200025">
                <a:moveTo>
                  <a:pt x="0" y="0"/>
                </a:moveTo>
                <a:lnTo>
                  <a:pt x="199771" y="0"/>
                </a:lnTo>
              </a:path>
            </a:pathLst>
          </a:custGeom>
          <a:ln w="36575">
            <a:solidFill>
              <a:srgbClr val="75EFE7"/>
            </a:solidFill>
          </a:ln>
        </p:spPr>
        <p:txBody>
          <a:bodyPr wrap="square" lIns="0" tIns="0" rIns="0" bIns="0" rtlCol="0"/>
          <a:lstStyle/>
          <a:p>
            <a:endParaRPr/>
          </a:p>
        </p:txBody>
      </p:sp>
      <p:sp>
        <p:nvSpPr>
          <p:cNvPr id="117" name="object 117"/>
          <p:cNvSpPr/>
          <p:nvPr/>
        </p:nvSpPr>
        <p:spPr>
          <a:xfrm>
            <a:off x="10121900" y="4448555"/>
            <a:ext cx="380365" cy="0"/>
          </a:xfrm>
          <a:custGeom>
            <a:avLst/>
            <a:gdLst/>
            <a:ahLst/>
            <a:cxnLst/>
            <a:rect l="l" t="t" r="r" b="b"/>
            <a:pathLst>
              <a:path w="380365">
                <a:moveTo>
                  <a:pt x="0" y="0"/>
                </a:moveTo>
                <a:lnTo>
                  <a:pt x="379983" y="0"/>
                </a:lnTo>
              </a:path>
            </a:pathLst>
          </a:custGeom>
          <a:ln w="23749">
            <a:solidFill>
              <a:srgbClr val="75EFE7"/>
            </a:solidFill>
          </a:ln>
        </p:spPr>
        <p:txBody>
          <a:bodyPr wrap="square" lIns="0" tIns="0" rIns="0" bIns="0" rtlCol="0"/>
          <a:lstStyle/>
          <a:p>
            <a:endParaRPr/>
          </a:p>
        </p:txBody>
      </p:sp>
      <p:sp>
        <p:nvSpPr>
          <p:cNvPr id="118" name="object 118"/>
          <p:cNvSpPr/>
          <p:nvPr/>
        </p:nvSpPr>
        <p:spPr>
          <a:xfrm>
            <a:off x="9802050" y="4430267"/>
            <a:ext cx="0" cy="36830"/>
          </a:xfrm>
          <a:custGeom>
            <a:avLst/>
            <a:gdLst/>
            <a:ahLst/>
            <a:cxnLst/>
            <a:rect l="l" t="t" r="r" b="b"/>
            <a:pathLst>
              <a:path h="36829">
                <a:moveTo>
                  <a:pt x="0" y="0"/>
                </a:moveTo>
                <a:lnTo>
                  <a:pt x="0" y="36575"/>
                </a:lnTo>
              </a:path>
            </a:pathLst>
          </a:custGeom>
          <a:ln w="23749">
            <a:solidFill>
              <a:srgbClr val="75EFE7"/>
            </a:solidFill>
          </a:ln>
        </p:spPr>
        <p:txBody>
          <a:bodyPr wrap="square" lIns="0" tIns="0" rIns="0" bIns="0" rtlCol="0"/>
          <a:lstStyle/>
          <a:p>
            <a:endParaRPr/>
          </a:p>
        </p:txBody>
      </p:sp>
      <p:sp>
        <p:nvSpPr>
          <p:cNvPr id="119" name="object 119"/>
          <p:cNvSpPr/>
          <p:nvPr/>
        </p:nvSpPr>
        <p:spPr>
          <a:xfrm>
            <a:off x="11295126" y="4779264"/>
            <a:ext cx="201930" cy="0"/>
          </a:xfrm>
          <a:custGeom>
            <a:avLst/>
            <a:gdLst/>
            <a:ahLst/>
            <a:cxnLst/>
            <a:rect l="l" t="t" r="r" b="b"/>
            <a:pathLst>
              <a:path w="201929">
                <a:moveTo>
                  <a:pt x="0" y="0"/>
                </a:moveTo>
                <a:lnTo>
                  <a:pt x="201929" y="0"/>
                </a:lnTo>
              </a:path>
            </a:pathLst>
          </a:custGeom>
          <a:ln w="73151">
            <a:solidFill>
              <a:srgbClr val="75EFE7"/>
            </a:solidFill>
          </a:ln>
        </p:spPr>
        <p:txBody>
          <a:bodyPr wrap="square" lIns="0" tIns="0" rIns="0" bIns="0" rtlCol="0"/>
          <a:lstStyle/>
          <a:p>
            <a:endParaRPr/>
          </a:p>
        </p:txBody>
      </p:sp>
      <p:sp>
        <p:nvSpPr>
          <p:cNvPr id="120" name="object 120"/>
          <p:cNvSpPr/>
          <p:nvPr/>
        </p:nvSpPr>
        <p:spPr>
          <a:xfrm>
            <a:off x="10785347" y="4779264"/>
            <a:ext cx="201930" cy="0"/>
          </a:xfrm>
          <a:custGeom>
            <a:avLst/>
            <a:gdLst/>
            <a:ahLst/>
            <a:cxnLst/>
            <a:rect l="l" t="t" r="r" b="b"/>
            <a:pathLst>
              <a:path w="201929">
                <a:moveTo>
                  <a:pt x="0" y="0"/>
                </a:moveTo>
                <a:lnTo>
                  <a:pt x="201802" y="0"/>
                </a:lnTo>
              </a:path>
            </a:pathLst>
          </a:custGeom>
          <a:ln w="73151">
            <a:solidFill>
              <a:srgbClr val="75EFE7"/>
            </a:solidFill>
          </a:ln>
        </p:spPr>
        <p:txBody>
          <a:bodyPr wrap="square" lIns="0" tIns="0" rIns="0" bIns="0" rtlCol="0"/>
          <a:lstStyle/>
          <a:p>
            <a:endParaRPr/>
          </a:p>
        </p:txBody>
      </p:sp>
      <p:sp>
        <p:nvSpPr>
          <p:cNvPr id="121" name="object 121"/>
          <p:cNvSpPr/>
          <p:nvPr/>
        </p:nvSpPr>
        <p:spPr>
          <a:xfrm>
            <a:off x="8129651" y="4438745"/>
            <a:ext cx="385445" cy="0"/>
          </a:xfrm>
          <a:custGeom>
            <a:avLst/>
            <a:gdLst/>
            <a:ahLst/>
            <a:cxnLst/>
            <a:rect l="l" t="t" r="r" b="b"/>
            <a:pathLst>
              <a:path w="385445">
                <a:moveTo>
                  <a:pt x="0" y="0"/>
                </a:moveTo>
                <a:lnTo>
                  <a:pt x="385127" y="0"/>
                </a:lnTo>
              </a:path>
            </a:pathLst>
          </a:custGeom>
          <a:ln w="13906">
            <a:solidFill>
              <a:srgbClr val="FFFFFF"/>
            </a:solidFill>
          </a:ln>
        </p:spPr>
        <p:txBody>
          <a:bodyPr wrap="square" lIns="0" tIns="0" rIns="0" bIns="0" rtlCol="0"/>
          <a:lstStyle/>
          <a:p>
            <a:endParaRPr/>
          </a:p>
        </p:txBody>
      </p:sp>
      <p:sp>
        <p:nvSpPr>
          <p:cNvPr id="122" name="object 122"/>
          <p:cNvSpPr/>
          <p:nvPr/>
        </p:nvSpPr>
        <p:spPr>
          <a:xfrm>
            <a:off x="7793545" y="4438745"/>
            <a:ext cx="28575" cy="0"/>
          </a:xfrm>
          <a:custGeom>
            <a:avLst/>
            <a:gdLst/>
            <a:ahLst/>
            <a:cxnLst/>
            <a:rect l="l" t="t" r="r" b="b"/>
            <a:pathLst>
              <a:path w="28575">
                <a:moveTo>
                  <a:pt x="0" y="0"/>
                </a:moveTo>
                <a:lnTo>
                  <a:pt x="28130" y="0"/>
                </a:lnTo>
              </a:path>
            </a:pathLst>
          </a:custGeom>
          <a:ln w="13906">
            <a:solidFill>
              <a:srgbClr val="FFFFFF"/>
            </a:solidFill>
          </a:ln>
        </p:spPr>
        <p:txBody>
          <a:bodyPr wrap="square" lIns="0" tIns="0" rIns="0" bIns="0" rtlCol="0"/>
          <a:lstStyle/>
          <a:p>
            <a:endParaRPr/>
          </a:p>
        </p:txBody>
      </p:sp>
      <p:sp>
        <p:nvSpPr>
          <p:cNvPr id="123" name="object 123"/>
          <p:cNvSpPr/>
          <p:nvPr/>
        </p:nvSpPr>
        <p:spPr>
          <a:xfrm>
            <a:off x="8795004" y="4466844"/>
            <a:ext cx="710565" cy="36830"/>
          </a:xfrm>
          <a:custGeom>
            <a:avLst/>
            <a:gdLst/>
            <a:ahLst/>
            <a:cxnLst/>
            <a:rect l="l" t="t" r="r" b="b"/>
            <a:pathLst>
              <a:path w="710565" h="36829">
                <a:moveTo>
                  <a:pt x="0" y="0"/>
                </a:moveTo>
                <a:lnTo>
                  <a:pt x="710184" y="0"/>
                </a:lnTo>
                <a:lnTo>
                  <a:pt x="710184" y="36575"/>
                </a:lnTo>
                <a:lnTo>
                  <a:pt x="0" y="36575"/>
                </a:lnTo>
                <a:lnTo>
                  <a:pt x="0" y="0"/>
                </a:lnTo>
                <a:close/>
              </a:path>
            </a:pathLst>
          </a:custGeom>
          <a:ln w="9525">
            <a:solidFill>
              <a:srgbClr val="FFFFFF"/>
            </a:solidFill>
          </a:ln>
        </p:spPr>
        <p:txBody>
          <a:bodyPr wrap="square" lIns="0" tIns="0" rIns="0" bIns="0" rtlCol="0"/>
          <a:lstStyle/>
          <a:p>
            <a:endParaRPr/>
          </a:p>
        </p:txBody>
      </p:sp>
      <p:sp>
        <p:nvSpPr>
          <p:cNvPr id="124" name="object 124"/>
          <p:cNvSpPr/>
          <p:nvPr/>
        </p:nvSpPr>
        <p:spPr>
          <a:xfrm>
            <a:off x="9790176" y="4430267"/>
            <a:ext cx="711835" cy="36830"/>
          </a:xfrm>
          <a:custGeom>
            <a:avLst/>
            <a:gdLst/>
            <a:ahLst/>
            <a:cxnLst/>
            <a:rect l="l" t="t" r="r" b="b"/>
            <a:pathLst>
              <a:path w="711834" h="36829">
                <a:moveTo>
                  <a:pt x="0" y="0"/>
                </a:moveTo>
                <a:lnTo>
                  <a:pt x="711707" y="0"/>
                </a:lnTo>
                <a:lnTo>
                  <a:pt x="711707" y="36575"/>
                </a:lnTo>
                <a:lnTo>
                  <a:pt x="0" y="36575"/>
                </a:lnTo>
                <a:lnTo>
                  <a:pt x="0" y="0"/>
                </a:lnTo>
                <a:close/>
              </a:path>
            </a:pathLst>
          </a:custGeom>
          <a:ln w="9525">
            <a:solidFill>
              <a:srgbClr val="FFFFFF"/>
            </a:solidFill>
          </a:ln>
        </p:spPr>
        <p:txBody>
          <a:bodyPr wrap="square" lIns="0" tIns="0" rIns="0" bIns="0" rtlCol="0"/>
          <a:lstStyle/>
          <a:p>
            <a:endParaRPr/>
          </a:p>
        </p:txBody>
      </p:sp>
      <p:sp>
        <p:nvSpPr>
          <p:cNvPr id="125" name="object 125"/>
          <p:cNvSpPr/>
          <p:nvPr/>
        </p:nvSpPr>
        <p:spPr>
          <a:xfrm>
            <a:off x="10785347" y="4742688"/>
            <a:ext cx="711835" cy="73660"/>
          </a:xfrm>
          <a:custGeom>
            <a:avLst/>
            <a:gdLst/>
            <a:ahLst/>
            <a:cxnLst/>
            <a:rect l="l" t="t" r="r" b="b"/>
            <a:pathLst>
              <a:path w="711834" h="73660">
                <a:moveTo>
                  <a:pt x="0" y="0"/>
                </a:moveTo>
                <a:lnTo>
                  <a:pt x="711707" y="0"/>
                </a:lnTo>
                <a:lnTo>
                  <a:pt x="711707" y="73151"/>
                </a:lnTo>
                <a:lnTo>
                  <a:pt x="0" y="73151"/>
                </a:lnTo>
                <a:lnTo>
                  <a:pt x="0" y="0"/>
                </a:lnTo>
                <a:close/>
              </a:path>
            </a:pathLst>
          </a:custGeom>
          <a:ln w="9525">
            <a:solidFill>
              <a:srgbClr val="FFFFFF"/>
            </a:solidFill>
          </a:ln>
        </p:spPr>
        <p:txBody>
          <a:bodyPr wrap="square" lIns="0" tIns="0" rIns="0" bIns="0" rtlCol="0"/>
          <a:lstStyle/>
          <a:p>
            <a:endParaRPr/>
          </a:p>
        </p:txBody>
      </p:sp>
      <p:sp>
        <p:nvSpPr>
          <p:cNvPr id="126" name="object 126"/>
          <p:cNvSpPr/>
          <p:nvPr/>
        </p:nvSpPr>
        <p:spPr>
          <a:xfrm>
            <a:off x="7798307" y="4099559"/>
            <a:ext cx="711835" cy="332740"/>
          </a:xfrm>
          <a:custGeom>
            <a:avLst/>
            <a:gdLst/>
            <a:ahLst/>
            <a:cxnLst/>
            <a:rect l="l" t="t" r="r" b="b"/>
            <a:pathLst>
              <a:path w="711834" h="332739">
                <a:moveTo>
                  <a:pt x="711708" y="0"/>
                </a:moveTo>
                <a:lnTo>
                  <a:pt x="0" y="0"/>
                </a:lnTo>
                <a:lnTo>
                  <a:pt x="0" y="332231"/>
                </a:lnTo>
                <a:lnTo>
                  <a:pt x="711708" y="332231"/>
                </a:lnTo>
                <a:lnTo>
                  <a:pt x="711708" y="0"/>
                </a:lnTo>
                <a:close/>
              </a:path>
            </a:pathLst>
          </a:custGeom>
          <a:solidFill>
            <a:srgbClr val="5E9DFF"/>
          </a:solidFill>
        </p:spPr>
        <p:txBody>
          <a:bodyPr wrap="square" lIns="0" tIns="0" rIns="0" bIns="0" rtlCol="0"/>
          <a:lstStyle/>
          <a:p>
            <a:endParaRPr/>
          </a:p>
        </p:txBody>
      </p:sp>
      <p:sp>
        <p:nvSpPr>
          <p:cNvPr id="127" name="object 127"/>
          <p:cNvSpPr/>
          <p:nvPr/>
        </p:nvSpPr>
        <p:spPr>
          <a:xfrm>
            <a:off x="8795004" y="4090923"/>
            <a:ext cx="710565" cy="375920"/>
          </a:xfrm>
          <a:custGeom>
            <a:avLst/>
            <a:gdLst/>
            <a:ahLst/>
            <a:cxnLst/>
            <a:rect l="l" t="t" r="r" b="b"/>
            <a:pathLst>
              <a:path w="710565" h="375920">
                <a:moveTo>
                  <a:pt x="710184" y="0"/>
                </a:moveTo>
                <a:lnTo>
                  <a:pt x="0" y="0"/>
                </a:lnTo>
                <a:lnTo>
                  <a:pt x="0" y="375919"/>
                </a:lnTo>
                <a:lnTo>
                  <a:pt x="710184" y="375919"/>
                </a:lnTo>
                <a:lnTo>
                  <a:pt x="710184" y="0"/>
                </a:lnTo>
                <a:close/>
              </a:path>
            </a:pathLst>
          </a:custGeom>
          <a:solidFill>
            <a:srgbClr val="5E9DFF"/>
          </a:solidFill>
        </p:spPr>
        <p:txBody>
          <a:bodyPr wrap="square" lIns="0" tIns="0" rIns="0" bIns="0" rtlCol="0"/>
          <a:lstStyle/>
          <a:p>
            <a:endParaRPr/>
          </a:p>
        </p:txBody>
      </p:sp>
      <p:sp>
        <p:nvSpPr>
          <p:cNvPr id="128" name="object 128"/>
          <p:cNvSpPr/>
          <p:nvPr/>
        </p:nvSpPr>
        <p:spPr>
          <a:xfrm>
            <a:off x="9790176" y="4099559"/>
            <a:ext cx="711835" cy="330835"/>
          </a:xfrm>
          <a:custGeom>
            <a:avLst/>
            <a:gdLst/>
            <a:ahLst/>
            <a:cxnLst/>
            <a:rect l="l" t="t" r="r" b="b"/>
            <a:pathLst>
              <a:path w="711834" h="330835">
                <a:moveTo>
                  <a:pt x="711707" y="0"/>
                </a:moveTo>
                <a:lnTo>
                  <a:pt x="0" y="0"/>
                </a:lnTo>
                <a:lnTo>
                  <a:pt x="0" y="330707"/>
                </a:lnTo>
                <a:lnTo>
                  <a:pt x="711707" y="330707"/>
                </a:lnTo>
                <a:lnTo>
                  <a:pt x="711707" y="0"/>
                </a:lnTo>
                <a:close/>
              </a:path>
            </a:pathLst>
          </a:custGeom>
          <a:solidFill>
            <a:srgbClr val="5E9DFF"/>
          </a:solidFill>
        </p:spPr>
        <p:txBody>
          <a:bodyPr wrap="square" lIns="0" tIns="0" rIns="0" bIns="0" rtlCol="0"/>
          <a:lstStyle/>
          <a:p>
            <a:endParaRPr/>
          </a:p>
        </p:txBody>
      </p:sp>
      <p:sp>
        <p:nvSpPr>
          <p:cNvPr id="129" name="object 129"/>
          <p:cNvSpPr/>
          <p:nvPr/>
        </p:nvSpPr>
        <p:spPr>
          <a:xfrm>
            <a:off x="10785347" y="4099559"/>
            <a:ext cx="711835" cy="643255"/>
          </a:xfrm>
          <a:custGeom>
            <a:avLst/>
            <a:gdLst/>
            <a:ahLst/>
            <a:cxnLst/>
            <a:rect l="l" t="t" r="r" b="b"/>
            <a:pathLst>
              <a:path w="711834" h="643254">
                <a:moveTo>
                  <a:pt x="711707" y="0"/>
                </a:moveTo>
                <a:lnTo>
                  <a:pt x="0" y="0"/>
                </a:lnTo>
                <a:lnTo>
                  <a:pt x="0" y="643127"/>
                </a:lnTo>
                <a:lnTo>
                  <a:pt x="711707" y="643127"/>
                </a:lnTo>
                <a:lnTo>
                  <a:pt x="711707" y="0"/>
                </a:lnTo>
                <a:close/>
              </a:path>
            </a:pathLst>
          </a:custGeom>
          <a:solidFill>
            <a:srgbClr val="5E9DFF"/>
          </a:solidFill>
        </p:spPr>
        <p:txBody>
          <a:bodyPr wrap="square" lIns="0" tIns="0" rIns="0" bIns="0" rtlCol="0"/>
          <a:lstStyle/>
          <a:p>
            <a:endParaRPr/>
          </a:p>
        </p:txBody>
      </p:sp>
      <p:sp>
        <p:nvSpPr>
          <p:cNvPr id="130" name="object 130"/>
          <p:cNvSpPr/>
          <p:nvPr/>
        </p:nvSpPr>
        <p:spPr>
          <a:xfrm>
            <a:off x="7798307" y="4099559"/>
            <a:ext cx="711835" cy="332740"/>
          </a:xfrm>
          <a:custGeom>
            <a:avLst/>
            <a:gdLst/>
            <a:ahLst/>
            <a:cxnLst/>
            <a:rect l="l" t="t" r="r" b="b"/>
            <a:pathLst>
              <a:path w="711834" h="332739">
                <a:moveTo>
                  <a:pt x="0" y="0"/>
                </a:moveTo>
                <a:lnTo>
                  <a:pt x="711708" y="0"/>
                </a:lnTo>
                <a:lnTo>
                  <a:pt x="711708" y="332231"/>
                </a:lnTo>
                <a:lnTo>
                  <a:pt x="0" y="332231"/>
                </a:lnTo>
                <a:lnTo>
                  <a:pt x="0" y="0"/>
                </a:lnTo>
                <a:close/>
              </a:path>
            </a:pathLst>
          </a:custGeom>
          <a:ln w="9524">
            <a:solidFill>
              <a:srgbClr val="FFFFFF"/>
            </a:solidFill>
          </a:ln>
        </p:spPr>
        <p:txBody>
          <a:bodyPr wrap="square" lIns="0" tIns="0" rIns="0" bIns="0" rtlCol="0"/>
          <a:lstStyle/>
          <a:p>
            <a:endParaRPr/>
          </a:p>
        </p:txBody>
      </p:sp>
      <p:sp>
        <p:nvSpPr>
          <p:cNvPr id="131" name="object 131"/>
          <p:cNvSpPr/>
          <p:nvPr/>
        </p:nvSpPr>
        <p:spPr>
          <a:xfrm>
            <a:off x="8795004" y="4090923"/>
            <a:ext cx="710565" cy="375920"/>
          </a:xfrm>
          <a:custGeom>
            <a:avLst/>
            <a:gdLst/>
            <a:ahLst/>
            <a:cxnLst/>
            <a:rect l="l" t="t" r="r" b="b"/>
            <a:pathLst>
              <a:path w="710565" h="375920">
                <a:moveTo>
                  <a:pt x="0" y="0"/>
                </a:moveTo>
                <a:lnTo>
                  <a:pt x="710184" y="0"/>
                </a:lnTo>
                <a:lnTo>
                  <a:pt x="710184" y="375919"/>
                </a:lnTo>
                <a:lnTo>
                  <a:pt x="0" y="375919"/>
                </a:lnTo>
                <a:lnTo>
                  <a:pt x="0" y="0"/>
                </a:lnTo>
                <a:close/>
              </a:path>
            </a:pathLst>
          </a:custGeom>
          <a:ln w="9525">
            <a:solidFill>
              <a:srgbClr val="FFFFFF"/>
            </a:solidFill>
          </a:ln>
        </p:spPr>
        <p:txBody>
          <a:bodyPr wrap="square" lIns="0" tIns="0" rIns="0" bIns="0" rtlCol="0"/>
          <a:lstStyle/>
          <a:p>
            <a:endParaRPr/>
          </a:p>
        </p:txBody>
      </p:sp>
      <p:sp>
        <p:nvSpPr>
          <p:cNvPr id="132" name="object 132"/>
          <p:cNvSpPr/>
          <p:nvPr/>
        </p:nvSpPr>
        <p:spPr>
          <a:xfrm>
            <a:off x="9790176" y="4099559"/>
            <a:ext cx="711835" cy="330835"/>
          </a:xfrm>
          <a:custGeom>
            <a:avLst/>
            <a:gdLst/>
            <a:ahLst/>
            <a:cxnLst/>
            <a:rect l="l" t="t" r="r" b="b"/>
            <a:pathLst>
              <a:path w="711834" h="330835">
                <a:moveTo>
                  <a:pt x="0" y="0"/>
                </a:moveTo>
                <a:lnTo>
                  <a:pt x="711707" y="0"/>
                </a:lnTo>
                <a:lnTo>
                  <a:pt x="711707" y="330707"/>
                </a:lnTo>
                <a:lnTo>
                  <a:pt x="0" y="330707"/>
                </a:lnTo>
                <a:lnTo>
                  <a:pt x="0" y="0"/>
                </a:lnTo>
                <a:close/>
              </a:path>
            </a:pathLst>
          </a:custGeom>
          <a:ln w="9525">
            <a:solidFill>
              <a:srgbClr val="FFFFFF"/>
            </a:solidFill>
          </a:ln>
        </p:spPr>
        <p:txBody>
          <a:bodyPr wrap="square" lIns="0" tIns="0" rIns="0" bIns="0" rtlCol="0"/>
          <a:lstStyle/>
          <a:p>
            <a:endParaRPr/>
          </a:p>
        </p:txBody>
      </p:sp>
      <p:sp>
        <p:nvSpPr>
          <p:cNvPr id="133" name="object 133"/>
          <p:cNvSpPr/>
          <p:nvPr/>
        </p:nvSpPr>
        <p:spPr>
          <a:xfrm>
            <a:off x="10785347" y="4099559"/>
            <a:ext cx="711835" cy="643255"/>
          </a:xfrm>
          <a:custGeom>
            <a:avLst/>
            <a:gdLst/>
            <a:ahLst/>
            <a:cxnLst/>
            <a:rect l="l" t="t" r="r" b="b"/>
            <a:pathLst>
              <a:path w="711834" h="643254">
                <a:moveTo>
                  <a:pt x="0" y="0"/>
                </a:moveTo>
                <a:lnTo>
                  <a:pt x="711707" y="0"/>
                </a:lnTo>
                <a:lnTo>
                  <a:pt x="711707" y="643127"/>
                </a:lnTo>
                <a:lnTo>
                  <a:pt x="0" y="643127"/>
                </a:lnTo>
                <a:lnTo>
                  <a:pt x="0" y="0"/>
                </a:lnTo>
                <a:close/>
              </a:path>
            </a:pathLst>
          </a:custGeom>
          <a:ln w="9525">
            <a:solidFill>
              <a:srgbClr val="FFFFFF"/>
            </a:solidFill>
          </a:ln>
        </p:spPr>
        <p:txBody>
          <a:bodyPr wrap="square" lIns="0" tIns="0" rIns="0" bIns="0" rtlCol="0"/>
          <a:lstStyle/>
          <a:p>
            <a:endParaRPr/>
          </a:p>
        </p:txBody>
      </p:sp>
      <p:sp>
        <p:nvSpPr>
          <p:cNvPr id="134" name="object 134"/>
          <p:cNvSpPr/>
          <p:nvPr/>
        </p:nvSpPr>
        <p:spPr>
          <a:xfrm>
            <a:off x="7656576" y="5935662"/>
            <a:ext cx="3983354" cy="0"/>
          </a:xfrm>
          <a:custGeom>
            <a:avLst/>
            <a:gdLst/>
            <a:ahLst/>
            <a:cxnLst/>
            <a:rect l="l" t="t" r="r" b="b"/>
            <a:pathLst>
              <a:path w="3983354">
                <a:moveTo>
                  <a:pt x="0" y="0"/>
                </a:moveTo>
                <a:lnTo>
                  <a:pt x="3982974" y="0"/>
                </a:lnTo>
              </a:path>
            </a:pathLst>
          </a:custGeom>
          <a:ln w="9525">
            <a:solidFill>
              <a:srgbClr val="000000"/>
            </a:solidFill>
          </a:ln>
        </p:spPr>
        <p:txBody>
          <a:bodyPr wrap="square" lIns="0" tIns="0" rIns="0" bIns="0" rtlCol="0"/>
          <a:lstStyle/>
          <a:p>
            <a:endParaRPr/>
          </a:p>
        </p:txBody>
      </p:sp>
      <p:sp>
        <p:nvSpPr>
          <p:cNvPr id="135" name="object 135"/>
          <p:cNvSpPr txBox="1"/>
          <p:nvPr/>
        </p:nvSpPr>
        <p:spPr>
          <a:xfrm>
            <a:off x="7964805" y="5061966"/>
            <a:ext cx="382270"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81%</a:t>
            </a:r>
            <a:endParaRPr sz="1400">
              <a:latin typeface="Arial"/>
              <a:cs typeface="Arial"/>
            </a:endParaRPr>
          </a:p>
        </p:txBody>
      </p:sp>
      <p:sp>
        <p:nvSpPr>
          <p:cNvPr id="136" name="object 136"/>
          <p:cNvSpPr txBox="1"/>
          <p:nvPr/>
        </p:nvSpPr>
        <p:spPr>
          <a:xfrm>
            <a:off x="8960611" y="5093589"/>
            <a:ext cx="382270"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78%</a:t>
            </a:r>
            <a:endParaRPr sz="1400">
              <a:latin typeface="Arial"/>
              <a:cs typeface="Arial"/>
            </a:endParaRPr>
          </a:p>
        </p:txBody>
      </p:sp>
      <p:sp>
        <p:nvSpPr>
          <p:cNvPr id="137" name="object 137"/>
          <p:cNvSpPr txBox="1"/>
          <p:nvPr/>
        </p:nvSpPr>
        <p:spPr>
          <a:xfrm>
            <a:off x="9956672" y="5075301"/>
            <a:ext cx="382270"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80%</a:t>
            </a:r>
            <a:endParaRPr sz="1400">
              <a:latin typeface="Arial"/>
              <a:cs typeface="Arial"/>
            </a:endParaRPr>
          </a:p>
        </p:txBody>
      </p:sp>
      <p:sp>
        <p:nvSpPr>
          <p:cNvPr id="138" name="object 138"/>
          <p:cNvSpPr txBox="1"/>
          <p:nvPr/>
        </p:nvSpPr>
        <p:spPr>
          <a:xfrm>
            <a:off x="10952480" y="5249672"/>
            <a:ext cx="382270"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61%</a:t>
            </a:r>
            <a:endParaRPr sz="1400">
              <a:latin typeface="Arial"/>
              <a:cs typeface="Arial"/>
            </a:endParaRPr>
          </a:p>
        </p:txBody>
      </p:sp>
      <p:sp>
        <p:nvSpPr>
          <p:cNvPr id="139" name="object 139"/>
          <p:cNvSpPr txBox="1"/>
          <p:nvPr/>
        </p:nvSpPr>
        <p:spPr>
          <a:xfrm>
            <a:off x="10952480" y="4294454"/>
            <a:ext cx="382270" cy="240029"/>
          </a:xfrm>
          <a:prstGeom prst="rect">
            <a:avLst/>
          </a:prstGeom>
        </p:spPr>
        <p:txBody>
          <a:bodyPr vert="horz" wrap="square" lIns="0" tIns="13335" rIns="0" bIns="0" rtlCol="0">
            <a:spAutoFit/>
          </a:bodyPr>
          <a:lstStyle/>
          <a:p>
            <a:pPr marL="12700">
              <a:lnSpc>
                <a:spcPct val="100000"/>
              </a:lnSpc>
              <a:spcBef>
                <a:spcPts val="105"/>
              </a:spcBef>
            </a:pPr>
            <a:r>
              <a:rPr sz="1400" spc="-5" dirty="0">
                <a:solidFill>
                  <a:srgbClr val="FFFFFF"/>
                </a:solidFill>
                <a:latin typeface="Arial"/>
                <a:cs typeface="Arial"/>
              </a:rPr>
              <a:t>35%</a:t>
            </a:r>
            <a:endParaRPr sz="1400">
              <a:latin typeface="Arial"/>
              <a:cs typeface="Arial"/>
            </a:endParaRPr>
          </a:p>
        </p:txBody>
      </p:sp>
      <p:sp>
        <p:nvSpPr>
          <p:cNvPr id="140" name="object 140"/>
          <p:cNvSpPr/>
          <p:nvPr/>
        </p:nvSpPr>
        <p:spPr>
          <a:xfrm>
            <a:off x="8128000" y="4159250"/>
            <a:ext cx="406400" cy="212725"/>
          </a:xfrm>
          <a:custGeom>
            <a:avLst/>
            <a:gdLst/>
            <a:ahLst/>
            <a:cxnLst/>
            <a:rect l="l" t="t" r="r" b="b"/>
            <a:pathLst>
              <a:path w="406400" h="212725">
                <a:moveTo>
                  <a:pt x="0" y="212725"/>
                </a:moveTo>
                <a:lnTo>
                  <a:pt x="406400" y="212725"/>
                </a:lnTo>
                <a:lnTo>
                  <a:pt x="406400" y="0"/>
                </a:lnTo>
                <a:lnTo>
                  <a:pt x="0" y="0"/>
                </a:lnTo>
                <a:lnTo>
                  <a:pt x="0" y="212725"/>
                </a:lnTo>
                <a:close/>
              </a:path>
            </a:pathLst>
          </a:custGeom>
          <a:solidFill>
            <a:srgbClr val="5E9DFF"/>
          </a:solidFill>
        </p:spPr>
        <p:txBody>
          <a:bodyPr wrap="square" lIns="0" tIns="0" rIns="0" bIns="0" rtlCol="0"/>
          <a:lstStyle/>
          <a:p>
            <a:endParaRPr/>
          </a:p>
        </p:txBody>
      </p:sp>
      <p:sp>
        <p:nvSpPr>
          <p:cNvPr id="141" name="object 141"/>
          <p:cNvSpPr/>
          <p:nvPr/>
        </p:nvSpPr>
        <p:spPr>
          <a:xfrm>
            <a:off x="7821676" y="4329048"/>
            <a:ext cx="307975" cy="212725"/>
          </a:xfrm>
          <a:custGeom>
            <a:avLst/>
            <a:gdLst/>
            <a:ahLst/>
            <a:cxnLst/>
            <a:rect l="l" t="t" r="r" b="b"/>
            <a:pathLst>
              <a:path w="307975" h="212725">
                <a:moveTo>
                  <a:pt x="0" y="212725"/>
                </a:moveTo>
                <a:lnTo>
                  <a:pt x="307975" y="212725"/>
                </a:lnTo>
                <a:lnTo>
                  <a:pt x="307975" y="0"/>
                </a:lnTo>
                <a:lnTo>
                  <a:pt x="0" y="0"/>
                </a:lnTo>
                <a:lnTo>
                  <a:pt x="0" y="212725"/>
                </a:lnTo>
                <a:close/>
              </a:path>
            </a:pathLst>
          </a:custGeom>
          <a:solidFill>
            <a:srgbClr val="75EFE7"/>
          </a:solidFill>
        </p:spPr>
        <p:txBody>
          <a:bodyPr wrap="square" lIns="0" tIns="0" rIns="0" bIns="0" rtlCol="0"/>
          <a:lstStyle/>
          <a:p>
            <a:endParaRPr/>
          </a:p>
        </p:txBody>
      </p:sp>
      <p:sp>
        <p:nvSpPr>
          <p:cNvPr id="142" name="object 142"/>
          <p:cNvSpPr txBox="1"/>
          <p:nvPr/>
        </p:nvSpPr>
        <p:spPr>
          <a:xfrm>
            <a:off x="7835265" y="4310888"/>
            <a:ext cx="283210"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1%</a:t>
            </a:r>
            <a:endParaRPr sz="1400">
              <a:latin typeface="Arial"/>
              <a:cs typeface="Arial"/>
            </a:endParaRPr>
          </a:p>
        </p:txBody>
      </p:sp>
      <p:sp>
        <p:nvSpPr>
          <p:cNvPr id="143" name="object 143"/>
          <p:cNvSpPr txBox="1"/>
          <p:nvPr/>
        </p:nvSpPr>
        <p:spPr>
          <a:xfrm>
            <a:off x="7839836" y="5976924"/>
            <a:ext cx="631190" cy="452755"/>
          </a:xfrm>
          <a:prstGeom prst="rect">
            <a:avLst/>
          </a:prstGeom>
        </p:spPr>
        <p:txBody>
          <a:bodyPr vert="horz" wrap="square" lIns="0" tIns="12700" rIns="0" bIns="0" rtlCol="0">
            <a:spAutoFit/>
          </a:bodyPr>
          <a:lstStyle/>
          <a:p>
            <a:pPr algn="ctr">
              <a:lnSpc>
                <a:spcPct val="100000"/>
              </a:lnSpc>
              <a:spcBef>
                <a:spcPts val="100"/>
              </a:spcBef>
            </a:pPr>
            <a:r>
              <a:rPr sz="1400" b="1" spc="-5" dirty="0">
                <a:latin typeface="Arial"/>
                <a:cs typeface="Arial"/>
              </a:rPr>
              <a:t>2024</a:t>
            </a:r>
            <a:endParaRPr sz="1400">
              <a:latin typeface="Arial"/>
              <a:cs typeface="Arial"/>
            </a:endParaRPr>
          </a:p>
          <a:p>
            <a:pPr algn="ctr">
              <a:lnSpc>
                <a:spcPct val="100000"/>
              </a:lnSpc>
            </a:pPr>
            <a:r>
              <a:rPr sz="1400" b="1" dirty="0">
                <a:latin typeface="Arial"/>
                <a:cs typeface="Arial"/>
              </a:rPr>
              <a:t>Gr</a:t>
            </a:r>
            <a:r>
              <a:rPr sz="1400" b="1" spc="-5" dirty="0">
                <a:latin typeface="Arial"/>
                <a:cs typeface="Arial"/>
              </a:rPr>
              <a:t>eece</a:t>
            </a:r>
            <a:endParaRPr sz="1400">
              <a:latin typeface="Arial"/>
              <a:cs typeface="Arial"/>
            </a:endParaRPr>
          </a:p>
        </p:txBody>
      </p:sp>
      <p:sp>
        <p:nvSpPr>
          <p:cNvPr id="144" name="object 144"/>
          <p:cNvSpPr/>
          <p:nvPr/>
        </p:nvSpPr>
        <p:spPr>
          <a:xfrm>
            <a:off x="8994775" y="4378325"/>
            <a:ext cx="307975" cy="212725"/>
          </a:xfrm>
          <a:custGeom>
            <a:avLst/>
            <a:gdLst/>
            <a:ahLst/>
            <a:cxnLst/>
            <a:rect l="l" t="t" r="r" b="b"/>
            <a:pathLst>
              <a:path w="307975" h="212725">
                <a:moveTo>
                  <a:pt x="0" y="212725"/>
                </a:moveTo>
                <a:lnTo>
                  <a:pt x="307975" y="212725"/>
                </a:lnTo>
                <a:lnTo>
                  <a:pt x="307975" y="0"/>
                </a:lnTo>
                <a:lnTo>
                  <a:pt x="0" y="0"/>
                </a:lnTo>
                <a:lnTo>
                  <a:pt x="0" y="212725"/>
                </a:lnTo>
                <a:close/>
              </a:path>
            </a:pathLst>
          </a:custGeom>
          <a:solidFill>
            <a:srgbClr val="75EFE7"/>
          </a:solidFill>
        </p:spPr>
        <p:txBody>
          <a:bodyPr wrap="square" lIns="0" tIns="0" rIns="0" bIns="0" rtlCol="0"/>
          <a:lstStyle/>
          <a:p>
            <a:endParaRPr/>
          </a:p>
        </p:txBody>
      </p:sp>
      <p:sp>
        <p:nvSpPr>
          <p:cNvPr id="145" name="object 145"/>
          <p:cNvSpPr txBox="1"/>
          <p:nvPr/>
        </p:nvSpPr>
        <p:spPr>
          <a:xfrm>
            <a:off x="9008744" y="4359605"/>
            <a:ext cx="283210" cy="240029"/>
          </a:xfrm>
          <a:prstGeom prst="rect">
            <a:avLst/>
          </a:prstGeom>
        </p:spPr>
        <p:txBody>
          <a:bodyPr vert="horz" wrap="square" lIns="0" tIns="13335" rIns="0" bIns="0" rtlCol="0">
            <a:spAutoFit/>
          </a:bodyPr>
          <a:lstStyle/>
          <a:p>
            <a:pPr marL="12700">
              <a:lnSpc>
                <a:spcPct val="100000"/>
              </a:lnSpc>
              <a:spcBef>
                <a:spcPts val="105"/>
              </a:spcBef>
            </a:pPr>
            <a:r>
              <a:rPr sz="1400" spc="-5" dirty="0">
                <a:latin typeface="Arial"/>
                <a:cs typeface="Arial"/>
              </a:rPr>
              <a:t>2%</a:t>
            </a:r>
            <a:endParaRPr sz="1400">
              <a:latin typeface="Arial"/>
              <a:cs typeface="Arial"/>
            </a:endParaRPr>
          </a:p>
        </p:txBody>
      </p:sp>
      <p:sp>
        <p:nvSpPr>
          <p:cNvPr id="146" name="object 146"/>
          <p:cNvSpPr txBox="1"/>
          <p:nvPr/>
        </p:nvSpPr>
        <p:spPr>
          <a:xfrm>
            <a:off x="8835390" y="5976924"/>
            <a:ext cx="631190" cy="452755"/>
          </a:xfrm>
          <a:prstGeom prst="rect">
            <a:avLst/>
          </a:prstGeom>
        </p:spPr>
        <p:txBody>
          <a:bodyPr vert="horz" wrap="square" lIns="0" tIns="12700" rIns="0" bIns="0" rtlCol="0">
            <a:spAutoFit/>
          </a:bodyPr>
          <a:lstStyle/>
          <a:p>
            <a:pPr algn="ctr">
              <a:lnSpc>
                <a:spcPct val="100000"/>
              </a:lnSpc>
              <a:spcBef>
                <a:spcPts val="100"/>
              </a:spcBef>
            </a:pPr>
            <a:r>
              <a:rPr sz="1400" b="1" spc="-5" dirty="0">
                <a:latin typeface="Arial"/>
                <a:cs typeface="Arial"/>
              </a:rPr>
              <a:t>2030</a:t>
            </a:r>
            <a:endParaRPr sz="1400">
              <a:latin typeface="Arial"/>
              <a:cs typeface="Arial"/>
            </a:endParaRPr>
          </a:p>
          <a:p>
            <a:pPr algn="ctr">
              <a:lnSpc>
                <a:spcPct val="100000"/>
              </a:lnSpc>
            </a:pPr>
            <a:r>
              <a:rPr sz="1400" b="1" dirty="0">
                <a:latin typeface="Arial"/>
                <a:cs typeface="Arial"/>
              </a:rPr>
              <a:t>Gr</a:t>
            </a:r>
            <a:r>
              <a:rPr sz="1400" b="1" spc="-5" dirty="0">
                <a:latin typeface="Arial"/>
                <a:cs typeface="Arial"/>
              </a:rPr>
              <a:t>eece</a:t>
            </a:r>
            <a:endParaRPr sz="1400">
              <a:latin typeface="Arial"/>
              <a:cs typeface="Arial"/>
            </a:endParaRPr>
          </a:p>
        </p:txBody>
      </p:sp>
      <p:sp>
        <p:nvSpPr>
          <p:cNvPr id="147" name="object 147"/>
          <p:cNvSpPr/>
          <p:nvPr/>
        </p:nvSpPr>
        <p:spPr>
          <a:xfrm>
            <a:off x="10120376" y="4159250"/>
            <a:ext cx="406400" cy="212725"/>
          </a:xfrm>
          <a:custGeom>
            <a:avLst/>
            <a:gdLst/>
            <a:ahLst/>
            <a:cxnLst/>
            <a:rect l="l" t="t" r="r" b="b"/>
            <a:pathLst>
              <a:path w="406400" h="212725">
                <a:moveTo>
                  <a:pt x="0" y="212725"/>
                </a:moveTo>
                <a:lnTo>
                  <a:pt x="406400" y="212725"/>
                </a:lnTo>
                <a:lnTo>
                  <a:pt x="406400" y="0"/>
                </a:lnTo>
                <a:lnTo>
                  <a:pt x="0" y="0"/>
                </a:lnTo>
                <a:lnTo>
                  <a:pt x="0" y="212725"/>
                </a:lnTo>
                <a:close/>
              </a:path>
            </a:pathLst>
          </a:custGeom>
          <a:solidFill>
            <a:srgbClr val="5E9DFF"/>
          </a:solidFill>
        </p:spPr>
        <p:txBody>
          <a:bodyPr wrap="square" lIns="0" tIns="0" rIns="0" bIns="0" rtlCol="0"/>
          <a:lstStyle/>
          <a:p>
            <a:endParaRPr/>
          </a:p>
        </p:txBody>
      </p:sp>
      <p:sp>
        <p:nvSpPr>
          <p:cNvPr id="148" name="object 148"/>
          <p:cNvSpPr txBox="1"/>
          <p:nvPr/>
        </p:nvSpPr>
        <p:spPr>
          <a:xfrm>
            <a:off x="8141589" y="4152646"/>
            <a:ext cx="2374900" cy="239395"/>
          </a:xfrm>
          <a:prstGeom prst="rect">
            <a:avLst/>
          </a:prstGeom>
        </p:spPr>
        <p:txBody>
          <a:bodyPr vert="horz" wrap="square" lIns="0" tIns="12700" rIns="0" bIns="0" rtlCol="0">
            <a:spAutoFit/>
          </a:bodyPr>
          <a:lstStyle/>
          <a:p>
            <a:pPr marL="12700">
              <a:lnSpc>
                <a:spcPct val="100000"/>
              </a:lnSpc>
              <a:spcBef>
                <a:spcPts val="100"/>
              </a:spcBef>
              <a:tabLst>
                <a:tab pos="831215" algn="l"/>
                <a:tab pos="2005330" algn="l"/>
              </a:tabLst>
            </a:pPr>
            <a:r>
              <a:rPr sz="2100" baseline="3968" dirty="0">
                <a:solidFill>
                  <a:srgbClr val="FFFFFF"/>
                </a:solidFill>
                <a:latin typeface="Arial"/>
                <a:cs typeface="Arial"/>
              </a:rPr>
              <a:t>18%	</a:t>
            </a:r>
            <a:r>
              <a:rPr sz="1400" spc="-5" dirty="0">
                <a:solidFill>
                  <a:srgbClr val="FFFFFF"/>
                </a:solidFill>
                <a:latin typeface="Arial"/>
                <a:cs typeface="Arial"/>
              </a:rPr>
              <a:t>20</a:t>
            </a:r>
            <a:r>
              <a:rPr sz="1400" dirty="0">
                <a:solidFill>
                  <a:srgbClr val="FFFFFF"/>
                </a:solidFill>
                <a:latin typeface="Arial"/>
                <a:cs typeface="Arial"/>
              </a:rPr>
              <a:t>%	</a:t>
            </a:r>
            <a:r>
              <a:rPr sz="2100" spc="-7" baseline="3968" dirty="0">
                <a:solidFill>
                  <a:srgbClr val="FFFFFF"/>
                </a:solidFill>
                <a:latin typeface="Arial"/>
                <a:cs typeface="Arial"/>
              </a:rPr>
              <a:t>18%</a:t>
            </a:r>
            <a:endParaRPr sz="2100" baseline="3968">
              <a:latin typeface="Arial"/>
              <a:cs typeface="Arial"/>
            </a:endParaRPr>
          </a:p>
        </p:txBody>
      </p:sp>
      <p:sp>
        <p:nvSpPr>
          <p:cNvPr id="149" name="object 149"/>
          <p:cNvSpPr/>
          <p:nvPr/>
        </p:nvSpPr>
        <p:spPr>
          <a:xfrm>
            <a:off x="9813925" y="4341876"/>
            <a:ext cx="307975" cy="212725"/>
          </a:xfrm>
          <a:custGeom>
            <a:avLst/>
            <a:gdLst/>
            <a:ahLst/>
            <a:cxnLst/>
            <a:rect l="l" t="t" r="r" b="b"/>
            <a:pathLst>
              <a:path w="307975" h="212725">
                <a:moveTo>
                  <a:pt x="0" y="212725"/>
                </a:moveTo>
                <a:lnTo>
                  <a:pt x="307975" y="212725"/>
                </a:lnTo>
                <a:lnTo>
                  <a:pt x="307975" y="0"/>
                </a:lnTo>
                <a:lnTo>
                  <a:pt x="0" y="0"/>
                </a:lnTo>
                <a:lnTo>
                  <a:pt x="0" y="212725"/>
                </a:lnTo>
                <a:close/>
              </a:path>
            </a:pathLst>
          </a:custGeom>
          <a:solidFill>
            <a:srgbClr val="75EFE7"/>
          </a:solidFill>
        </p:spPr>
        <p:txBody>
          <a:bodyPr wrap="square" lIns="0" tIns="0" rIns="0" bIns="0" rtlCol="0"/>
          <a:lstStyle/>
          <a:p>
            <a:endParaRPr/>
          </a:p>
        </p:txBody>
      </p:sp>
      <p:sp>
        <p:nvSpPr>
          <p:cNvPr id="150" name="object 150"/>
          <p:cNvSpPr txBox="1"/>
          <p:nvPr/>
        </p:nvSpPr>
        <p:spPr>
          <a:xfrm>
            <a:off x="9827768" y="4323715"/>
            <a:ext cx="283210"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2%</a:t>
            </a:r>
            <a:endParaRPr sz="1400">
              <a:latin typeface="Arial"/>
              <a:cs typeface="Arial"/>
            </a:endParaRPr>
          </a:p>
        </p:txBody>
      </p:sp>
      <p:sp>
        <p:nvSpPr>
          <p:cNvPr id="151" name="object 151"/>
          <p:cNvSpPr txBox="1"/>
          <p:nvPr/>
        </p:nvSpPr>
        <p:spPr>
          <a:xfrm>
            <a:off x="9891141" y="5976924"/>
            <a:ext cx="511175" cy="452755"/>
          </a:xfrm>
          <a:prstGeom prst="rect">
            <a:avLst/>
          </a:prstGeom>
        </p:spPr>
        <p:txBody>
          <a:bodyPr vert="horz" wrap="square" lIns="0" tIns="12700" rIns="0" bIns="0" rtlCol="0">
            <a:spAutoFit/>
          </a:bodyPr>
          <a:lstStyle/>
          <a:p>
            <a:pPr marL="56515">
              <a:lnSpc>
                <a:spcPct val="100000"/>
              </a:lnSpc>
              <a:spcBef>
                <a:spcPts val="100"/>
              </a:spcBef>
            </a:pPr>
            <a:r>
              <a:rPr sz="1400" b="1" spc="-5" dirty="0">
                <a:latin typeface="Arial"/>
                <a:cs typeface="Arial"/>
              </a:rPr>
              <a:t>2023</a:t>
            </a:r>
            <a:endParaRPr sz="1400">
              <a:latin typeface="Arial"/>
              <a:cs typeface="Arial"/>
            </a:endParaRPr>
          </a:p>
          <a:p>
            <a:pPr marL="12700">
              <a:lnSpc>
                <a:spcPct val="100000"/>
              </a:lnSpc>
            </a:pPr>
            <a:r>
              <a:rPr sz="1400" b="1" dirty="0">
                <a:latin typeface="Arial"/>
                <a:cs typeface="Arial"/>
              </a:rPr>
              <a:t>S</a:t>
            </a:r>
            <a:r>
              <a:rPr sz="1400" b="1" spc="-10" dirty="0">
                <a:latin typeface="Arial"/>
                <a:cs typeface="Arial"/>
              </a:rPr>
              <a:t>p</a:t>
            </a:r>
            <a:r>
              <a:rPr sz="1400" b="1" spc="-5" dirty="0">
                <a:latin typeface="Arial"/>
                <a:cs typeface="Arial"/>
              </a:rPr>
              <a:t>a</a:t>
            </a:r>
            <a:r>
              <a:rPr sz="1400" b="1" dirty="0">
                <a:latin typeface="Arial"/>
                <a:cs typeface="Arial"/>
              </a:rPr>
              <a:t>in</a:t>
            </a:r>
            <a:endParaRPr sz="1400">
              <a:latin typeface="Arial"/>
              <a:cs typeface="Arial"/>
            </a:endParaRPr>
          </a:p>
        </p:txBody>
      </p:sp>
      <p:sp>
        <p:nvSpPr>
          <p:cNvPr id="152" name="object 152"/>
          <p:cNvSpPr/>
          <p:nvPr/>
        </p:nvSpPr>
        <p:spPr>
          <a:xfrm>
            <a:off x="10987151" y="4671948"/>
            <a:ext cx="307975" cy="212725"/>
          </a:xfrm>
          <a:custGeom>
            <a:avLst/>
            <a:gdLst/>
            <a:ahLst/>
            <a:cxnLst/>
            <a:rect l="l" t="t" r="r" b="b"/>
            <a:pathLst>
              <a:path w="307975" h="212725">
                <a:moveTo>
                  <a:pt x="0" y="212725"/>
                </a:moveTo>
                <a:lnTo>
                  <a:pt x="307975" y="212725"/>
                </a:lnTo>
                <a:lnTo>
                  <a:pt x="307975" y="0"/>
                </a:lnTo>
                <a:lnTo>
                  <a:pt x="0" y="0"/>
                </a:lnTo>
                <a:lnTo>
                  <a:pt x="0" y="212725"/>
                </a:lnTo>
                <a:close/>
              </a:path>
            </a:pathLst>
          </a:custGeom>
          <a:solidFill>
            <a:srgbClr val="75EFE7"/>
          </a:solidFill>
        </p:spPr>
        <p:txBody>
          <a:bodyPr wrap="square" lIns="0" tIns="0" rIns="0" bIns="0" rtlCol="0"/>
          <a:lstStyle/>
          <a:p>
            <a:endParaRPr/>
          </a:p>
        </p:txBody>
      </p:sp>
      <p:sp>
        <p:nvSpPr>
          <p:cNvPr id="153" name="object 153"/>
          <p:cNvSpPr txBox="1"/>
          <p:nvPr/>
        </p:nvSpPr>
        <p:spPr>
          <a:xfrm>
            <a:off x="11001247" y="4653788"/>
            <a:ext cx="283210" cy="239395"/>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a:cs typeface="Arial"/>
              </a:rPr>
              <a:t>4%</a:t>
            </a:r>
            <a:endParaRPr sz="1400">
              <a:latin typeface="Arial"/>
              <a:cs typeface="Arial"/>
            </a:endParaRPr>
          </a:p>
        </p:txBody>
      </p:sp>
      <p:sp>
        <p:nvSpPr>
          <p:cNvPr id="154" name="object 154"/>
          <p:cNvSpPr txBox="1"/>
          <p:nvPr/>
        </p:nvSpPr>
        <p:spPr>
          <a:xfrm>
            <a:off x="10931143" y="5976924"/>
            <a:ext cx="421640" cy="452755"/>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2023</a:t>
            </a:r>
            <a:endParaRPr sz="1400">
              <a:latin typeface="Arial"/>
              <a:cs typeface="Arial"/>
            </a:endParaRPr>
          </a:p>
          <a:p>
            <a:pPr marL="91440">
              <a:lnSpc>
                <a:spcPct val="100000"/>
              </a:lnSpc>
            </a:pPr>
            <a:r>
              <a:rPr sz="1400" b="1" spc="-5" dirty="0">
                <a:latin typeface="Arial"/>
                <a:cs typeface="Arial"/>
              </a:rPr>
              <a:t>G5</a:t>
            </a:r>
            <a:endParaRPr sz="1400">
              <a:latin typeface="Arial"/>
              <a:cs typeface="Arial"/>
            </a:endParaRPr>
          </a:p>
        </p:txBody>
      </p:sp>
      <p:sp>
        <p:nvSpPr>
          <p:cNvPr id="155" name="object 155"/>
          <p:cNvSpPr/>
          <p:nvPr/>
        </p:nvSpPr>
        <p:spPr>
          <a:xfrm>
            <a:off x="8297926" y="984250"/>
            <a:ext cx="165100" cy="165100"/>
          </a:xfrm>
          <a:custGeom>
            <a:avLst/>
            <a:gdLst/>
            <a:ahLst/>
            <a:cxnLst/>
            <a:rect l="l" t="t" r="r" b="b"/>
            <a:pathLst>
              <a:path w="165100" h="165100">
                <a:moveTo>
                  <a:pt x="0" y="165100"/>
                </a:moveTo>
                <a:lnTo>
                  <a:pt x="165100" y="165100"/>
                </a:lnTo>
                <a:lnTo>
                  <a:pt x="165100" y="0"/>
                </a:lnTo>
                <a:lnTo>
                  <a:pt x="0" y="0"/>
                </a:lnTo>
                <a:lnTo>
                  <a:pt x="0" y="165100"/>
                </a:lnTo>
                <a:close/>
              </a:path>
            </a:pathLst>
          </a:custGeom>
          <a:solidFill>
            <a:srgbClr val="5E9DFF"/>
          </a:solidFill>
        </p:spPr>
        <p:txBody>
          <a:bodyPr wrap="square" lIns="0" tIns="0" rIns="0" bIns="0" rtlCol="0"/>
          <a:lstStyle/>
          <a:p>
            <a:endParaRPr/>
          </a:p>
        </p:txBody>
      </p:sp>
      <p:sp>
        <p:nvSpPr>
          <p:cNvPr id="156" name="object 156"/>
          <p:cNvSpPr/>
          <p:nvPr/>
        </p:nvSpPr>
        <p:spPr>
          <a:xfrm>
            <a:off x="8951976" y="984250"/>
            <a:ext cx="165100" cy="165100"/>
          </a:xfrm>
          <a:custGeom>
            <a:avLst/>
            <a:gdLst/>
            <a:ahLst/>
            <a:cxnLst/>
            <a:rect l="l" t="t" r="r" b="b"/>
            <a:pathLst>
              <a:path w="165100" h="165100">
                <a:moveTo>
                  <a:pt x="0" y="165100"/>
                </a:moveTo>
                <a:lnTo>
                  <a:pt x="165100" y="165100"/>
                </a:lnTo>
                <a:lnTo>
                  <a:pt x="165100" y="0"/>
                </a:lnTo>
                <a:lnTo>
                  <a:pt x="0" y="0"/>
                </a:lnTo>
                <a:lnTo>
                  <a:pt x="0" y="165100"/>
                </a:lnTo>
                <a:close/>
              </a:path>
            </a:pathLst>
          </a:custGeom>
          <a:solidFill>
            <a:srgbClr val="75EFE7"/>
          </a:solidFill>
        </p:spPr>
        <p:txBody>
          <a:bodyPr wrap="square" lIns="0" tIns="0" rIns="0" bIns="0" rtlCol="0"/>
          <a:lstStyle/>
          <a:p>
            <a:endParaRPr/>
          </a:p>
        </p:txBody>
      </p:sp>
      <p:sp>
        <p:nvSpPr>
          <p:cNvPr id="157" name="object 157"/>
          <p:cNvSpPr/>
          <p:nvPr/>
        </p:nvSpPr>
        <p:spPr>
          <a:xfrm>
            <a:off x="11007725" y="984250"/>
            <a:ext cx="165100" cy="165100"/>
          </a:xfrm>
          <a:custGeom>
            <a:avLst/>
            <a:gdLst/>
            <a:ahLst/>
            <a:cxnLst/>
            <a:rect l="l" t="t" r="r" b="b"/>
            <a:pathLst>
              <a:path w="165100" h="165100">
                <a:moveTo>
                  <a:pt x="0" y="165100"/>
                </a:moveTo>
                <a:lnTo>
                  <a:pt x="165100" y="165100"/>
                </a:lnTo>
                <a:lnTo>
                  <a:pt x="165100" y="0"/>
                </a:lnTo>
                <a:lnTo>
                  <a:pt x="0" y="0"/>
                </a:lnTo>
                <a:lnTo>
                  <a:pt x="0" y="165100"/>
                </a:lnTo>
                <a:close/>
              </a:path>
            </a:pathLst>
          </a:custGeom>
          <a:solidFill>
            <a:srgbClr val="B3B3B3"/>
          </a:solidFill>
        </p:spPr>
        <p:txBody>
          <a:bodyPr wrap="square" lIns="0" tIns="0" rIns="0" bIns="0" rtlCol="0"/>
          <a:lstStyle/>
          <a:p>
            <a:endParaRPr/>
          </a:p>
        </p:txBody>
      </p:sp>
      <p:sp>
        <p:nvSpPr>
          <p:cNvPr id="158" name="object 158"/>
          <p:cNvSpPr/>
          <p:nvPr/>
        </p:nvSpPr>
        <p:spPr>
          <a:xfrm>
            <a:off x="614362" y="1654175"/>
            <a:ext cx="165100" cy="165100"/>
          </a:xfrm>
          <a:custGeom>
            <a:avLst/>
            <a:gdLst/>
            <a:ahLst/>
            <a:cxnLst/>
            <a:rect l="l" t="t" r="r" b="b"/>
            <a:pathLst>
              <a:path w="165100" h="165100">
                <a:moveTo>
                  <a:pt x="0" y="165100"/>
                </a:moveTo>
                <a:lnTo>
                  <a:pt x="165100" y="165100"/>
                </a:lnTo>
                <a:lnTo>
                  <a:pt x="165100" y="0"/>
                </a:lnTo>
                <a:lnTo>
                  <a:pt x="0" y="0"/>
                </a:lnTo>
                <a:lnTo>
                  <a:pt x="0" y="165100"/>
                </a:lnTo>
                <a:close/>
              </a:path>
            </a:pathLst>
          </a:custGeom>
          <a:solidFill>
            <a:srgbClr val="00A9F4"/>
          </a:solidFill>
        </p:spPr>
        <p:txBody>
          <a:bodyPr wrap="square" lIns="0" tIns="0" rIns="0" bIns="0" rtlCol="0"/>
          <a:lstStyle/>
          <a:p>
            <a:endParaRPr/>
          </a:p>
        </p:txBody>
      </p:sp>
      <p:sp>
        <p:nvSpPr>
          <p:cNvPr id="159" name="object 159"/>
          <p:cNvSpPr/>
          <p:nvPr/>
        </p:nvSpPr>
        <p:spPr>
          <a:xfrm>
            <a:off x="614362" y="1887601"/>
            <a:ext cx="165100" cy="165100"/>
          </a:xfrm>
          <a:custGeom>
            <a:avLst/>
            <a:gdLst/>
            <a:ahLst/>
            <a:cxnLst/>
            <a:rect l="l" t="t" r="r" b="b"/>
            <a:pathLst>
              <a:path w="165100" h="165100">
                <a:moveTo>
                  <a:pt x="0" y="165100"/>
                </a:moveTo>
                <a:lnTo>
                  <a:pt x="165100" y="165100"/>
                </a:lnTo>
                <a:lnTo>
                  <a:pt x="165100" y="0"/>
                </a:lnTo>
                <a:lnTo>
                  <a:pt x="0" y="0"/>
                </a:lnTo>
                <a:lnTo>
                  <a:pt x="0" y="165100"/>
                </a:lnTo>
                <a:close/>
              </a:path>
            </a:pathLst>
          </a:custGeom>
          <a:solidFill>
            <a:srgbClr val="2151FF"/>
          </a:solidFill>
        </p:spPr>
        <p:txBody>
          <a:bodyPr wrap="square" lIns="0" tIns="0" rIns="0" bIns="0" rtlCol="0"/>
          <a:lstStyle/>
          <a:p>
            <a:endParaRPr/>
          </a:p>
        </p:txBody>
      </p:sp>
      <p:sp>
        <p:nvSpPr>
          <p:cNvPr id="160" name="object 160"/>
          <p:cNvSpPr txBox="1"/>
          <p:nvPr/>
        </p:nvSpPr>
        <p:spPr>
          <a:xfrm>
            <a:off x="817575" y="1635633"/>
            <a:ext cx="70421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Corporate</a:t>
            </a:r>
            <a:endParaRPr sz="1200">
              <a:latin typeface="Arial"/>
              <a:cs typeface="Arial"/>
            </a:endParaRPr>
          </a:p>
        </p:txBody>
      </p:sp>
      <p:sp>
        <p:nvSpPr>
          <p:cNvPr id="161" name="object 161"/>
          <p:cNvSpPr txBox="1"/>
          <p:nvPr/>
        </p:nvSpPr>
        <p:spPr>
          <a:xfrm>
            <a:off x="817575" y="1868804"/>
            <a:ext cx="413448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Retail (individuals, freelancers, </a:t>
            </a:r>
            <a:r>
              <a:rPr sz="1200" dirty="0">
                <a:latin typeface="Arial"/>
                <a:cs typeface="Arial"/>
              </a:rPr>
              <a:t>personal </a:t>
            </a:r>
            <a:r>
              <a:rPr sz="1200" spc="-5" dirty="0">
                <a:latin typeface="Arial"/>
                <a:cs typeface="Arial"/>
              </a:rPr>
              <a:t>companies) </a:t>
            </a:r>
            <a:r>
              <a:rPr sz="1200" dirty="0">
                <a:latin typeface="Arial"/>
                <a:cs typeface="Arial"/>
              </a:rPr>
              <a:t>&amp;</a:t>
            </a:r>
            <a:r>
              <a:rPr sz="1200" spc="-130" dirty="0">
                <a:latin typeface="Arial"/>
                <a:cs typeface="Arial"/>
              </a:rPr>
              <a:t> </a:t>
            </a:r>
            <a:r>
              <a:rPr sz="1200" spc="-5" dirty="0">
                <a:latin typeface="Arial"/>
                <a:cs typeface="Arial"/>
              </a:rPr>
              <a:t>SMEs</a:t>
            </a:r>
            <a:endParaRPr sz="1200">
              <a:latin typeface="Arial"/>
              <a:cs typeface="Arial"/>
            </a:endParaRPr>
          </a:p>
        </p:txBody>
      </p:sp>
      <p:sp>
        <p:nvSpPr>
          <p:cNvPr id="162" name="object 162"/>
          <p:cNvSpPr/>
          <p:nvPr/>
        </p:nvSpPr>
        <p:spPr>
          <a:xfrm>
            <a:off x="554736" y="1542922"/>
            <a:ext cx="11082655" cy="0"/>
          </a:xfrm>
          <a:custGeom>
            <a:avLst/>
            <a:gdLst/>
            <a:ahLst/>
            <a:cxnLst/>
            <a:rect l="l" t="t" r="r" b="b"/>
            <a:pathLst>
              <a:path w="11082655">
                <a:moveTo>
                  <a:pt x="0" y="0"/>
                </a:moveTo>
                <a:lnTo>
                  <a:pt x="11082528" y="0"/>
                </a:lnTo>
              </a:path>
            </a:pathLst>
          </a:custGeom>
          <a:ln w="6350">
            <a:solidFill>
              <a:srgbClr val="000000"/>
            </a:solidFill>
          </a:ln>
        </p:spPr>
        <p:txBody>
          <a:bodyPr wrap="square" lIns="0" tIns="0" rIns="0" bIns="0" rtlCol="0"/>
          <a:lstStyle/>
          <a:p>
            <a:endParaRPr/>
          </a:p>
        </p:txBody>
      </p:sp>
      <p:sp>
        <p:nvSpPr>
          <p:cNvPr id="163" name="object 163"/>
          <p:cNvSpPr/>
          <p:nvPr/>
        </p:nvSpPr>
        <p:spPr>
          <a:xfrm>
            <a:off x="4470400" y="1641475"/>
            <a:ext cx="297815" cy="203200"/>
          </a:xfrm>
          <a:custGeom>
            <a:avLst/>
            <a:gdLst/>
            <a:ahLst/>
            <a:cxnLst/>
            <a:rect l="l" t="t" r="r" b="b"/>
            <a:pathLst>
              <a:path w="297814" h="203200">
                <a:moveTo>
                  <a:pt x="148844" y="0"/>
                </a:moveTo>
                <a:lnTo>
                  <a:pt x="90922" y="7981"/>
                </a:lnTo>
                <a:lnTo>
                  <a:pt x="43608" y="29749"/>
                </a:lnTo>
                <a:lnTo>
                  <a:pt x="11701" y="62043"/>
                </a:lnTo>
                <a:lnTo>
                  <a:pt x="0" y="101600"/>
                </a:lnTo>
                <a:lnTo>
                  <a:pt x="11701" y="141156"/>
                </a:lnTo>
                <a:lnTo>
                  <a:pt x="43608" y="173450"/>
                </a:lnTo>
                <a:lnTo>
                  <a:pt x="90922" y="195218"/>
                </a:lnTo>
                <a:lnTo>
                  <a:pt x="148844" y="203200"/>
                </a:lnTo>
                <a:lnTo>
                  <a:pt x="206839" y="195218"/>
                </a:lnTo>
                <a:lnTo>
                  <a:pt x="254190" y="173450"/>
                </a:lnTo>
                <a:lnTo>
                  <a:pt x="286111" y="141156"/>
                </a:lnTo>
                <a:lnTo>
                  <a:pt x="297814" y="101600"/>
                </a:lnTo>
                <a:lnTo>
                  <a:pt x="286111" y="62043"/>
                </a:lnTo>
                <a:lnTo>
                  <a:pt x="254190" y="29749"/>
                </a:lnTo>
                <a:lnTo>
                  <a:pt x="206839" y="7981"/>
                </a:lnTo>
                <a:lnTo>
                  <a:pt x="148844" y="0"/>
                </a:lnTo>
                <a:close/>
              </a:path>
            </a:pathLst>
          </a:custGeom>
          <a:solidFill>
            <a:srgbClr val="051F79"/>
          </a:solidFill>
        </p:spPr>
        <p:txBody>
          <a:bodyPr wrap="square" lIns="0" tIns="0" rIns="0" bIns="0" rtlCol="0"/>
          <a:lstStyle/>
          <a:p>
            <a:endParaRPr/>
          </a:p>
        </p:txBody>
      </p:sp>
      <p:sp>
        <p:nvSpPr>
          <p:cNvPr id="164" name="object 164"/>
          <p:cNvSpPr txBox="1"/>
          <p:nvPr/>
        </p:nvSpPr>
        <p:spPr>
          <a:xfrm>
            <a:off x="4529709" y="1633854"/>
            <a:ext cx="1086485" cy="208279"/>
          </a:xfrm>
          <a:prstGeom prst="rect">
            <a:avLst/>
          </a:prstGeom>
        </p:spPr>
        <p:txBody>
          <a:bodyPr vert="horz" wrap="square" lIns="0" tIns="12700" rIns="0" bIns="0" rtlCol="0">
            <a:spAutoFit/>
          </a:bodyPr>
          <a:lstStyle/>
          <a:p>
            <a:pPr marL="12700">
              <a:lnSpc>
                <a:spcPct val="100000"/>
              </a:lnSpc>
              <a:spcBef>
                <a:spcPts val="100"/>
              </a:spcBef>
              <a:tabLst>
                <a:tab pos="335915" algn="l"/>
              </a:tabLst>
            </a:pPr>
            <a:r>
              <a:rPr sz="1650" b="1" spc="-7" baseline="2525" dirty="0">
                <a:solidFill>
                  <a:srgbClr val="FFFFFF"/>
                </a:solidFill>
                <a:latin typeface="Arial"/>
                <a:cs typeface="Arial"/>
              </a:rPr>
              <a:t>xx	</a:t>
            </a:r>
            <a:r>
              <a:rPr sz="1200" dirty="0">
                <a:solidFill>
                  <a:srgbClr val="041C2C"/>
                </a:solidFill>
                <a:latin typeface="Arial"/>
                <a:cs typeface="Arial"/>
              </a:rPr>
              <a:t># cars</a:t>
            </a:r>
            <a:r>
              <a:rPr sz="1200" spc="-90" dirty="0">
                <a:solidFill>
                  <a:srgbClr val="041C2C"/>
                </a:solidFill>
                <a:latin typeface="Arial"/>
                <a:cs typeface="Arial"/>
              </a:rPr>
              <a:t> </a:t>
            </a:r>
            <a:r>
              <a:rPr sz="1200" spc="-5" dirty="0">
                <a:solidFill>
                  <a:srgbClr val="041C2C"/>
                </a:solidFill>
                <a:latin typeface="Arial"/>
                <a:cs typeface="Arial"/>
              </a:rPr>
              <a:t>sold</a:t>
            </a:r>
            <a:endParaRPr sz="1200">
              <a:latin typeface="Arial"/>
              <a:cs typeface="Arial"/>
            </a:endParaRPr>
          </a:p>
        </p:txBody>
      </p:sp>
      <p:sp>
        <p:nvSpPr>
          <p:cNvPr id="165" name="object 165"/>
          <p:cNvSpPr txBox="1"/>
          <p:nvPr/>
        </p:nvSpPr>
        <p:spPr>
          <a:xfrm>
            <a:off x="6477761" y="4090987"/>
            <a:ext cx="718820" cy="1841500"/>
          </a:xfrm>
          <a:prstGeom prst="rect">
            <a:avLst/>
          </a:prstGeom>
          <a:solidFill>
            <a:srgbClr val="2151FF"/>
          </a:solidFill>
        </p:spPr>
        <p:txBody>
          <a:bodyPr vert="horz" wrap="square" lIns="0" tIns="0" rIns="0" bIns="0" rtlCol="0">
            <a:spAutoFit/>
          </a:bodyPr>
          <a:lstStyle/>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marL="76835" marR="81280">
              <a:lnSpc>
                <a:spcPct val="100000"/>
              </a:lnSpc>
              <a:spcBef>
                <a:spcPts val="1240"/>
              </a:spcBef>
            </a:pPr>
            <a:r>
              <a:rPr sz="1400" b="1" spc="-10" dirty="0">
                <a:solidFill>
                  <a:srgbClr val="FFFFFF"/>
                </a:solidFill>
                <a:latin typeface="Arial"/>
                <a:cs typeface="Arial"/>
              </a:rPr>
              <a:t>R</a:t>
            </a:r>
            <a:r>
              <a:rPr sz="1400" b="1" spc="-5" dirty="0">
                <a:solidFill>
                  <a:srgbClr val="FFFFFF"/>
                </a:solidFill>
                <a:latin typeface="Arial"/>
                <a:cs typeface="Arial"/>
              </a:rPr>
              <a:t>eta</a:t>
            </a:r>
            <a:r>
              <a:rPr sz="1400" b="1" dirty="0">
                <a:solidFill>
                  <a:srgbClr val="FFFFFF"/>
                </a:solidFill>
                <a:latin typeface="Arial"/>
                <a:cs typeface="Arial"/>
              </a:rPr>
              <a:t>i</a:t>
            </a:r>
            <a:r>
              <a:rPr sz="1400" b="1" spc="5" dirty="0">
                <a:solidFill>
                  <a:srgbClr val="FFFFFF"/>
                </a:solidFill>
                <a:latin typeface="Arial"/>
                <a:cs typeface="Arial"/>
              </a:rPr>
              <a:t>l</a:t>
            </a:r>
            <a:r>
              <a:rPr sz="1350" b="1" spc="15" baseline="24691" dirty="0">
                <a:solidFill>
                  <a:srgbClr val="FFFFFF"/>
                </a:solidFill>
                <a:latin typeface="Arial"/>
                <a:cs typeface="Arial"/>
              </a:rPr>
              <a:t>2  </a:t>
            </a:r>
            <a:r>
              <a:rPr sz="1400" b="1" u="heavy" spc="-5" dirty="0">
                <a:solidFill>
                  <a:srgbClr val="FFFFFF"/>
                </a:solidFill>
                <a:uFill>
                  <a:solidFill>
                    <a:srgbClr val="FFFFFF"/>
                  </a:solidFill>
                </a:uFill>
                <a:latin typeface="Arial"/>
                <a:cs typeface="Arial"/>
              </a:rPr>
              <a:t>Used </a:t>
            </a:r>
            <a:r>
              <a:rPr sz="1400" b="1" spc="-5" dirty="0">
                <a:solidFill>
                  <a:srgbClr val="FFFFFF"/>
                </a:solidFill>
                <a:latin typeface="Arial"/>
                <a:cs typeface="Arial"/>
              </a:rPr>
              <a:t> </a:t>
            </a:r>
            <a:r>
              <a:rPr sz="1400" b="1" spc="-15" dirty="0">
                <a:solidFill>
                  <a:srgbClr val="FFFFFF"/>
                </a:solidFill>
                <a:latin typeface="Arial"/>
                <a:cs typeface="Arial"/>
              </a:rPr>
              <a:t>Auto</a:t>
            </a:r>
            <a:endParaRPr sz="1400">
              <a:latin typeface="Arial"/>
              <a:cs typeface="Arial"/>
            </a:endParaRPr>
          </a:p>
        </p:txBody>
      </p:sp>
      <p:sp>
        <p:nvSpPr>
          <p:cNvPr id="166" name="object 166"/>
          <p:cNvSpPr txBox="1"/>
          <p:nvPr/>
        </p:nvSpPr>
        <p:spPr>
          <a:xfrm>
            <a:off x="529336" y="863419"/>
            <a:ext cx="11150600" cy="643890"/>
          </a:xfrm>
          <a:prstGeom prst="rect">
            <a:avLst/>
          </a:prstGeom>
        </p:spPr>
        <p:txBody>
          <a:bodyPr vert="horz" wrap="square" lIns="0" tIns="114300" rIns="0" bIns="0" rtlCol="0">
            <a:spAutoFit/>
          </a:bodyPr>
          <a:lstStyle/>
          <a:p>
            <a:pPr marR="90805" algn="r">
              <a:lnSpc>
                <a:spcPct val="100000"/>
              </a:lnSpc>
              <a:spcBef>
                <a:spcPts val="900"/>
              </a:spcBef>
              <a:tabLst>
                <a:tab pos="654050" algn="l"/>
                <a:tab pos="2710180" algn="l"/>
              </a:tabLst>
            </a:pPr>
            <a:r>
              <a:rPr sz="1200" dirty="0">
                <a:latin typeface="Arial"/>
                <a:cs typeface="Arial"/>
              </a:rPr>
              <a:t>Loan	Leasin</a:t>
            </a:r>
            <a:r>
              <a:rPr sz="1200" spc="-5" dirty="0">
                <a:latin typeface="Arial"/>
                <a:cs typeface="Arial"/>
              </a:rPr>
              <a:t>g</a:t>
            </a:r>
            <a:r>
              <a:rPr sz="1200" dirty="0">
                <a:latin typeface="Arial"/>
                <a:cs typeface="Arial"/>
              </a:rPr>
              <a:t>,</a:t>
            </a:r>
            <a:r>
              <a:rPr sz="1200" spc="-35" dirty="0">
                <a:latin typeface="Arial"/>
                <a:cs typeface="Arial"/>
              </a:rPr>
              <a:t> </a:t>
            </a:r>
            <a:r>
              <a:rPr sz="1200" spc="-5" dirty="0">
                <a:latin typeface="Arial"/>
                <a:cs typeface="Arial"/>
              </a:rPr>
              <a:t>incl</a:t>
            </a:r>
            <a:r>
              <a:rPr sz="1200" dirty="0">
                <a:latin typeface="Arial"/>
                <a:cs typeface="Arial"/>
              </a:rPr>
              <a:t>.</a:t>
            </a:r>
            <a:r>
              <a:rPr sz="1200" spc="-10" dirty="0">
                <a:latin typeface="Arial"/>
                <a:cs typeface="Arial"/>
              </a:rPr>
              <a:t> </a:t>
            </a:r>
            <a:r>
              <a:rPr sz="1200" dirty="0">
                <a:latin typeface="Arial"/>
                <a:cs typeface="Arial"/>
              </a:rPr>
              <a:t>subscr</a:t>
            </a:r>
            <a:r>
              <a:rPr sz="1200" spc="-10" dirty="0">
                <a:latin typeface="Arial"/>
                <a:cs typeface="Arial"/>
              </a:rPr>
              <a:t>i</a:t>
            </a:r>
            <a:r>
              <a:rPr sz="1200" dirty="0">
                <a:latin typeface="Arial"/>
                <a:cs typeface="Arial"/>
              </a:rPr>
              <a:t>ption	</a:t>
            </a:r>
            <a:r>
              <a:rPr sz="1200" spc="-5" dirty="0">
                <a:latin typeface="Arial"/>
                <a:cs typeface="Arial"/>
              </a:rPr>
              <a:t>Cash</a:t>
            </a:r>
            <a:endParaRPr sz="1200">
              <a:latin typeface="Arial"/>
              <a:cs typeface="Arial"/>
            </a:endParaRPr>
          </a:p>
          <a:p>
            <a:pPr marL="25400">
              <a:lnSpc>
                <a:spcPct val="100000"/>
              </a:lnSpc>
              <a:spcBef>
                <a:spcPts val="944"/>
              </a:spcBef>
              <a:tabLst>
                <a:tab pos="5948680" algn="l"/>
              </a:tabLst>
            </a:pPr>
            <a:r>
              <a:rPr sz="1400" b="1" spc="-5" dirty="0">
                <a:solidFill>
                  <a:srgbClr val="041C2C"/>
                </a:solidFill>
                <a:latin typeface="Arial"/>
                <a:cs typeface="Arial"/>
              </a:rPr>
              <a:t>Breakdown of increase </a:t>
            </a:r>
            <a:r>
              <a:rPr sz="1400" b="1" dirty="0">
                <a:solidFill>
                  <a:srgbClr val="041C2C"/>
                </a:solidFill>
                <a:latin typeface="Arial"/>
                <a:cs typeface="Arial"/>
              </a:rPr>
              <a:t>in </a:t>
            </a:r>
            <a:r>
              <a:rPr sz="1400" b="1" spc="-20" dirty="0">
                <a:solidFill>
                  <a:srgbClr val="041C2C"/>
                </a:solidFill>
                <a:latin typeface="Arial"/>
                <a:cs typeface="Arial"/>
              </a:rPr>
              <a:t>RAR </a:t>
            </a:r>
            <a:r>
              <a:rPr sz="1400" b="1" spc="-5" dirty="0">
                <a:solidFill>
                  <a:srgbClr val="041C2C"/>
                </a:solidFill>
                <a:latin typeface="Arial"/>
                <a:cs typeface="Arial"/>
              </a:rPr>
              <a:t>2024-2030 by key trend</a:t>
            </a:r>
            <a:r>
              <a:rPr sz="1400" spc="-5" dirty="0">
                <a:solidFill>
                  <a:srgbClr val="041C2C"/>
                </a:solidFill>
                <a:latin typeface="Arial"/>
                <a:cs typeface="Arial"/>
              </a:rPr>
              <a:t>,</a:t>
            </a:r>
            <a:r>
              <a:rPr sz="1400" dirty="0">
                <a:solidFill>
                  <a:srgbClr val="041C2C"/>
                </a:solidFill>
                <a:latin typeface="Arial"/>
                <a:cs typeface="Arial"/>
              </a:rPr>
              <a:t> </a:t>
            </a:r>
            <a:r>
              <a:rPr sz="1400" spc="-5" dirty="0">
                <a:solidFill>
                  <a:srgbClr val="041C2C"/>
                </a:solidFill>
                <a:latin typeface="Arial"/>
                <a:cs typeface="Arial"/>
              </a:rPr>
              <a:t>M€	</a:t>
            </a:r>
            <a:r>
              <a:rPr sz="2100" b="1" baseline="3968" dirty="0">
                <a:solidFill>
                  <a:srgbClr val="041C2C"/>
                </a:solidFill>
                <a:latin typeface="Arial"/>
                <a:cs typeface="Arial"/>
              </a:rPr>
              <a:t>Retail</a:t>
            </a:r>
            <a:r>
              <a:rPr sz="1350" b="1" baseline="30864" dirty="0">
                <a:solidFill>
                  <a:srgbClr val="041C2C"/>
                </a:solidFill>
                <a:latin typeface="Arial"/>
                <a:cs typeface="Arial"/>
              </a:rPr>
              <a:t>2 </a:t>
            </a:r>
            <a:r>
              <a:rPr sz="2100" b="1" spc="-7" baseline="3968" dirty="0">
                <a:solidFill>
                  <a:srgbClr val="041C2C"/>
                </a:solidFill>
                <a:latin typeface="Arial"/>
                <a:cs typeface="Arial"/>
              </a:rPr>
              <a:t>financing </a:t>
            </a:r>
            <a:r>
              <a:rPr sz="2100" b="1" baseline="3968" dirty="0">
                <a:solidFill>
                  <a:srgbClr val="041C2C"/>
                </a:solidFill>
                <a:latin typeface="Arial"/>
                <a:cs typeface="Arial"/>
              </a:rPr>
              <a:t>mix in Greece </a:t>
            </a:r>
            <a:r>
              <a:rPr sz="2100" b="1" spc="-7" baseline="3968" dirty="0">
                <a:solidFill>
                  <a:srgbClr val="041C2C"/>
                </a:solidFill>
                <a:latin typeface="Arial"/>
                <a:cs typeface="Arial"/>
              </a:rPr>
              <a:t>’24-’30 and Spain </a:t>
            </a:r>
            <a:r>
              <a:rPr sz="2100" b="1" baseline="3968" dirty="0">
                <a:solidFill>
                  <a:srgbClr val="041C2C"/>
                </a:solidFill>
                <a:latin typeface="Arial"/>
                <a:cs typeface="Arial"/>
              </a:rPr>
              <a:t>&amp; </a:t>
            </a:r>
            <a:r>
              <a:rPr sz="2100" b="1" spc="7" baseline="3968" dirty="0">
                <a:solidFill>
                  <a:srgbClr val="041C2C"/>
                </a:solidFill>
                <a:latin typeface="Arial"/>
                <a:cs typeface="Arial"/>
              </a:rPr>
              <a:t>G5</a:t>
            </a:r>
            <a:r>
              <a:rPr sz="1350" b="1" spc="7" baseline="30864" dirty="0">
                <a:solidFill>
                  <a:srgbClr val="041C2C"/>
                </a:solidFill>
                <a:latin typeface="Arial"/>
                <a:cs typeface="Arial"/>
              </a:rPr>
              <a:t>3 </a:t>
            </a:r>
            <a:r>
              <a:rPr sz="2100" b="1" baseline="3968" dirty="0">
                <a:solidFill>
                  <a:srgbClr val="041C2C"/>
                </a:solidFill>
                <a:latin typeface="Arial"/>
                <a:cs typeface="Arial"/>
              </a:rPr>
              <a:t>’23</a:t>
            </a:r>
            <a:r>
              <a:rPr sz="2100" baseline="3968" dirty="0">
                <a:solidFill>
                  <a:srgbClr val="041C2C"/>
                </a:solidFill>
                <a:latin typeface="Arial"/>
                <a:cs typeface="Arial"/>
              </a:rPr>
              <a:t>,</a:t>
            </a:r>
            <a:r>
              <a:rPr sz="2100" spc="-292" baseline="3968" dirty="0">
                <a:solidFill>
                  <a:srgbClr val="041C2C"/>
                </a:solidFill>
                <a:latin typeface="Arial"/>
                <a:cs typeface="Arial"/>
              </a:rPr>
              <a:t> </a:t>
            </a:r>
            <a:r>
              <a:rPr sz="2100" baseline="3968" dirty="0">
                <a:solidFill>
                  <a:srgbClr val="041C2C"/>
                </a:solidFill>
                <a:latin typeface="Arial"/>
                <a:cs typeface="Arial"/>
              </a:rPr>
              <a:t>%</a:t>
            </a:r>
            <a:endParaRPr sz="2100" baseline="3968">
              <a:latin typeface="Arial"/>
              <a:cs typeface="Arial"/>
            </a:endParaRPr>
          </a:p>
        </p:txBody>
      </p:sp>
      <p:sp>
        <p:nvSpPr>
          <p:cNvPr id="167" name="object 167"/>
          <p:cNvSpPr txBox="1"/>
          <p:nvPr/>
        </p:nvSpPr>
        <p:spPr>
          <a:xfrm>
            <a:off x="6477761" y="1779523"/>
            <a:ext cx="718820" cy="1841500"/>
          </a:xfrm>
          <a:prstGeom prst="rect">
            <a:avLst/>
          </a:prstGeom>
          <a:solidFill>
            <a:srgbClr val="2151FF"/>
          </a:solidFill>
        </p:spPr>
        <p:txBody>
          <a:bodyPr vert="horz" wrap="square" lIns="0" tIns="0" rIns="0" bIns="0" rtlCol="0">
            <a:spAutoFit/>
          </a:bodyPr>
          <a:lstStyle/>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marL="76835" marR="81280">
              <a:lnSpc>
                <a:spcPct val="100000"/>
              </a:lnSpc>
              <a:spcBef>
                <a:spcPts val="1240"/>
              </a:spcBef>
            </a:pPr>
            <a:r>
              <a:rPr sz="1400" b="1" spc="-10" dirty="0">
                <a:solidFill>
                  <a:srgbClr val="FFFFFF"/>
                </a:solidFill>
                <a:latin typeface="Arial"/>
                <a:cs typeface="Arial"/>
              </a:rPr>
              <a:t>R</a:t>
            </a:r>
            <a:r>
              <a:rPr sz="1400" b="1" spc="-5" dirty="0">
                <a:solidFill>
                  <a:srgbClr val="FFFFFF"/>
                </a:solidFill>
                <a:latin typeface="Arial"/>
                <a:cs typeface="Arial"/>
              </a:rPr>
              <a:t>eta</a:t>
            </a:r>
            <a:r>
              <a:rPr sz="1400" b="1" dirty="0">
                <a:solidFill>
                  <a:srgbClr val="FFFFFF"/>
                </a:solidFill>
                <a:latin typeface="Arial"/>
                <a:cs typeface="Arial"/>
              </a:rPr>
              <a:t>i</a:t>
            </a:r>
            <a:r>
              <a:rPr sz="1400" b="1" spc="5" dirty="0">
                <a:solidFill>
                  <a:srgbClr val="FFFFFF"/>
                </a:solidFill>
                <a:latin typeface="Arial"/>
                <a:cs typeface="Arial"/>
              </a:rPr>
              <a:t>l</a:t>
            </a:r>
            <a:r>
              <a:rPr sz="1350" b="1" spc="15" baseline="24691" dirty="0">
                <a:solidFill>
                  <a:srgbClr val="FFFFFF"/>
                </a:solidFill>
                <a:latin typeface="Arial"/>
                <a:cs typeface="Arial"/>
              </a:rPr>
              <a:t>2  </a:t>
            </a:r>
            <a:r>
              <a:rPr sz="1400" b="1" u="heavy" spc="-5" dirty="0">
                <a:solidFill>
                  <a:srgbClr val="FFFFFF"/>
                </a:solidFill>
                <a:uFill>
                  <a:solidFill>
                    <a:srgbClr val="FFFFFF"/>
                  </a:solidFill>
                </a:uFill>
                <a:latin typeface="Arial"/>
                <a:cs typeface="Arial"/>
              </a:rPr>
              <a:t>New </a:t>
            </a:r>
            <a:r>
              <a:rPr sz="1400" b="1" spc="-5" dirty="0">
                <a:solidFill>
                  <a:srgbClr val="FFFFFF"/>
                </a:solidFill>
                <a:latin typeface="Arial"/>
                <a:cs typeface="Arial"/>
              </a:rPr>
              <a:t> </a:t>
            </a:r>
            <a:r>
              <a:rPr sz="1400" b="1" spc="-15" dirty="0">
                <a:solidFill>
                  <a:srgbClr val="FFFFFF"/>
                </a:solidFill>
                <a:latin typeface="Arial"/>
                <a:cs typeface="Arial"/>
              </a:rPr>
              <a:t>Auto</a:t>
            </a:r>
            <a:endParaRPr sz="1400">
              <a:latin typeface="Arial"/>
              <a:cs typeface="Arial"/>
            </a:endParaRPr>
          </a:p>
        </p:txBody>
      </p:sp>
      <p:sp>
        <p:nvSpPr>
          <p:cNvPr id="168" name="object 168"/>
          <p:cNvSpPr/>
          <p:nvPr/>
        </p:nvSpPr>
        <p:spPr>
          <a:xfrm>
            <a:off x="6270878" y="1419860"/>
            <a:ext cx="0" cy="4491990"/>
          </a:xfrm>
          <a:custGeom>
            <a:avLst/>
            <a:gdLst/>
            <a:ahLst/>
            <a:cxnLst/>
            <a:rect l="l" t="t" r="r" b="b"/>
            <a:pathLst>
              <a:path h="4491990">
                <a:moveTo>
                  <a:pt x="0" y="0"/>
                </a:moveTo>
                <a:lnTo>
                  <a:pt x="0" y="4491875"/>
                </a:lnTo>
              </a:path>
            </a:pathLst>
          </a:custGeom>
          <a:ln w="6350">
            <a:solidFill>
              <a:srgbClr val="757575"/>
            </a:solidFill>
          </a:ln>
        </p:spPr>
        <p:txBody>
          <a:bodyPr wrap="square" lIns="0" tIns="0" rIns="0" bIns="0" rtlCol="0"/>
          <a:lstStyle/>
          <a:p>
            <a:endParaRPr/>
          </a:p>
        </p:txBody>
      </p:sp>
      <p:sp>
        <p:nvSpPr>
          <p:cNvPr id="169" name="object 169"/>
          <p:cNvSpPr/>
          <p:nvPr/>
        </p:nvSpPr>
        <p:spPr>
          <a:xfrm>
            <a:off x="6147942" y="1419860"/>
            <a:ext cx="245999" cy="245999"/>
          </a:xfrm>
          <a:prstGeom prst="rect">
            <a:avLst/>
          </a:prstGeom>
          <a:blipFill>
            <a:blip r:embed="rId4" cstate="print"/>
            <a:stretch>
              <a:fillRect/>
            </a:stretch>
          </a:blipFill>
        </p:spPr>
        <p:txBody>
          <a:bodyPr wrap="square" lIns="0" tIns="0" rIns="0" bIns="0" rtlCol="0"/>
          <a:lstStyle/>
          <a:p>
            <a:endParaRPr/>
          </a:p>
        </p:txBody>
      </p:sp>
      <p:sp>
        <p:nvSpPr>
          <p:cNvPr id="170" name="object 170"/>
          <p:cNvSpPr/>
          <p:nvPr/>
        </p:nvSpPr>
        <p:spPr>
          <a:xfrm>
            <a:off x="6477761" y="3930141"/>
            <a:ext cx="5160010" cy="0"/>
          </a:xfrm>
          <a:custGeom>
            <a:avLst/>
            <a:gdLst/>
            <a:ahLst/>
            <a:cxnLst/>
            <a:rect l="l" t="t" r="r" b="b"/>
            <a:pathLst>
              <a:path w="5160009">
                <a:moveTo>
                  <a:pt x="0" y="0"/>
                </a:moveTo>
                <a:lnTo>
                  <a:pt x="5159502" y="0"/>
                </a:lnTo>
              </a:path>
            </a:pathLst>
          </a:custGeom>
          <a:ln w="6350">
            <a:solidFill>
              <a:srgbClr val="000000"/>
            </a:solidFill>
          </a:ln>
        </p:spPr>
        <p:txBody>
          <a:bodyPr wrap="square" lIns="0" tIns="0" rIns="0" bIns="0" rtlCol="0"/>
          <a:lstStyle/>
          <a:p>
            <a:endParaRPr/>
          </a:p>
        </p:txBody>
      </p:sp>
      <p:sp>
        <p:nvSpPr>
          <p:cNvPr id="171" name="object 171"/>
          <p:cNvSpPr txBox="1"/>
          <p:nvPr/>
        </p:nvSpPr>
        <p:spPr>
          <a:xfrm>
            <a:off x="6670293" y="3670807"/>
            <a:ext cx="4773295" cy="208279"/>
          </a:xfrm>
          <a:prstGeom prst="rect">
            <a:avLst/>
          </a:prstGeom>
        </p:spPr>
        <p:txBody>
          <a:bodyPr vert="horz" wrap="square" lIns="0" tIns="12700" rIns="0" bIns="0" rtlCol="0">
            <a:spAutoFit/>
          </a:bodyPr>
          <a:lstStyle/>
          <a:p>
            <a:pPr marL="12700">
              <a:lnSpc>
                <a:spcPct val="100000"/>
              </a:lnSpc>
              <a:spcBef>
                <a:spcPts val="100"/>
              </a:spcBef>
            </a:pPr>
            <a:r>
              <a:rPr sz="1200" b="1" i="1" spc="-5" dirty="0">
                <a:solidFill>
                  <a:srgbClr val="051F79"/>
                </a:solidFill>
                <a:latin typeface="Arial"/>
                <a:cs typeface="Arial"/>
              </a:rPr>
              <a:t>Deep-dive </a:t>
            </a:r>
            <a:r>
              <a:rPr sz="1200" b="1" i="1" dirty="0">
                <a:solidFill>
                  <a:srgbClr val="051F79"/>
                </a:solidFill>
                <a:latin typeface="Arial"/>
                <a:cs typeface="Arial"/>
              </a:rPr>
              <a:t>on </a:t>
            </a:r>
            <a:r>
              <a:rPr sz="1200" b="1" i="1" spc="-5" dirty="0">
                <a:solidFill>
                  <a:srgbClr val="051F79"/>
                </a:solidFill>
                <a:latin typeface="Arial"/>
                <a:cs typeface="Arial"/>
              </a:rPr>
              <a:t>retail </a:t>
            </a:r>
            <a:r>
              <a:rPr sz="1200" i="1" spc="-5" dirty="0">
                <a:solidFill>
                  <a:srgbClr val="051F79"/>
                </a:solidFill>
                <a:latin typeface="Arial"/>
                <a:cs typeface="Arial"/>
              </a:rPr>
              <a:t>(individuals, freelancers </a:t>
            </a:r>
            <a:r>
              <a:rPr sz="1200" i="1" dirty="0">
                <a:solidFill>
                  <a:srgbClr val="051F79"/>
                </a:solidFill>
                <a:latin typeface="Arial"/>
                <a:cs typeface="Arial"/>
              </a:rPr>
              <a:t>and </a:t>
            </a:r>
            <a:r>
              <a:rPr sz="1200" i="1" spc="-5" dirty="0">
                <a:solidFill>
                  <a:srgbClr val="051F79"/>
                </a:solidFill>
                <a:latin typeface="Arial"/>
                <a:cs typeface="Arial"/>
              </a:rPr>
              <a:t>personal</a:t>
            </a:r>
            <a:r>
              <a:rPr sz="1200" i="1" spc="-55" dirty="0">
                <a:solidFill>
                  <a:srgbClr val="051F79"/>
                </a:solidFill>
                <a:latin typeface="Arial"/>
                <a:cs typeface="Arial"/>
              </a:rPr>
              <a:t> </a:t>
            </a:r>
            <a:r>
              <a:rPr sz="1200" i="1" spc="-5" dirty="0">
                <a:solidFill>
                  <a:srgbClr val="051F79"/>
                </a:solidFill>
                <a:latin typeface="Arial"/>
                <a:cs typeface="Arial"/>
              </a:rPr>
              <a:t>companies)</a:t>
            </a:r>
            <a:endParaRPr sz="1200">
              <a:latin typeface="Arial"/>
              <a:cs typeface="Arial"/>
            </a:endParaRPr>
          </a:p>
        </p:txBody>
      </p:sp>
      <p:sp>
        <p:nvSpPr>
          <p:cNvPr id="172" name="object 172"/>
          <p:cNvSpPr txBox="1"/>
          <p:nvPr/>
        </p:nvSpPr>
        <p:spPr>
          <a:xfrm>
            <a:off x="541426" y="6471920"/>
            <a:ext cx="8224520" cy="315595"/>
          </a:xfrm>
          <a:prstGeom prst="rect">
            <a:avLst/>
          </a:prstGeom>
        </p:spPr>
        <p:txBody>
          <a:bodyPr vert="horz" wrap="square" lIns="0" tIns="35560" rIns="0" bIns="0" rtlCol="0">
            <a:spAutoFit/>
          </a:bodyPr>
          <a:lstStyle/>
          <a:p>
            <a:pPr marL="12700">
              <a:lnSpc>
                <a:spcPct val="100000"/>
              </a:lnSpc>
              <a:spcBef>
                <a:spcPts val="280"/>
              </a:spcBef>
            </a:pPr>
            <a:r>
              <a:rPr sz="800" spc="-5" dirty="0">
                <a:latin typeface="Arial"/>
                <a:cs typeface="Arial"/>
              </a:rPr>
              <a:t>1. Including </a:t>
            </a:r>
            <a:r>
              <a:rPr sz="800" dirty="0">
                <a:latin typeface="Arial"/>
                <a:cs typeface="Arial"/>
              </a:rPr>
              <a:t>a </a:t>
            </a:r>
            <a:r>
              <a:rPr sz="800" spc="-5" dirty="0">
                <a:latin typeface="Arial"/>
                <a:cs typeface="Arial"/>
              </a:rPr>
              <a:t>mixed </a:t>
            </a:r>
            <a:r>
              <a:rPr sz="800" dirty="0">
                <a:latin typeface="Arial"/>
                <a:cs typeface="Arial"/>
              </a:rPr>
              <a:t>effect </a:t>
            </a:r>
            <a:r>
              <a:rPr sz="800" spc="-5" dirty="0">
                <a:latin typeface="Arial"/>
                <a:cs typeface="Arial"/>
              </a:rPr>
              <a:t>of ~15M€ </a:t>
            </a:r>
            <a:r>
              <a:rPr sz="800" dirty="0">
                <a:latin typeface="Arial"/>
                <a:cs typeface="Arial"/>
              </a:rPr>
              <a:t>; </a:t>
            </a:r>
            <a:r>
              <a:rPr sz="800" spc="-5" dirty="0">
                <a:latin typeface="Arial"/>
                <a:cs typeface="Arial"/>
              </a:rPr>
              <a:t>2. Individuals, freelancers, personal </a:t>
            </a:r>
            <a:r>
              <a:rPr sz="800" dirty="0">
                <a:latin typeface="Arial"/>
                <a:cs typeface="Arial"/>
              </a:rPr>
              <a:t>companies, </a:t>
            </a:r>
            <a:r>
              <a:rPr lang="en-US" sz="800" dirty="0">
                <a:latin typeface="Arial"/>
                <a:cs typeface="Arial"/>
              </a:rPr>
              <a:t>3. </a:t>
            </a:r>
            <a:r>
              <a:rPr sz="800" dirty="0">
                <a:latin typeface="Arial"/>
                <a:cs typeface="Arial"/>
              </a:rPr>
              <a:t>For </a:t>
            </a:r>
            <a:r>
              <a:rPr sz="800" spc="-5" dirty="0">
                <a:latin typeface="Arial"/>
                <a:cs typeface="Arial"/>
              </a:rPr>
              <a:t>Spain and </a:t>
            </a:r>
            <a:r>
              <a:rPr sz="800" dirty="0">
                <a:latin typeface="Arial"/>
                <a:cs typeface="Arial"/>
              </a:rPr>
              <a:t>G5: </a:t>
            </a:r>
            <a:r>
              <a:rPr sz="800" spc="-5" dirty="0">
                <a:latin typeface="Arial"/>
                <a:cs typeface="Arial"/>
              </a:rPr>
              <a:t>penetration rate for </a:t>
            </a:r>
            <a:r>
              <a:rPr sz="800" spc="15" dirty="0">
                <a:latin typeface="Arial"/>
                <a:cs typeface="Arial"/>
              </a:rPr>
              <a:t>B2C </a:t>
            </a:r>
            <a:r>
              <a:rPr sz="800" spc="-5" dirty="0">
                <a:latin typeface="Arial"/>
                <a:cs typeface="Arial"/>
              </a:rPr>
              <a:t>passenger</a:t>
            </a:r>
            <a:r>
              <a:rPr sz="800" spc="65" dirty="0">
                <a:latin typeface="Arial"/>
                <a:cs typeface="Arial"/>
              </a:rPr>
              <a:t> </a:t>
            </a:r>
            <a:r>
              <a:rPr sz="800" spc="-5" dirty="0">
                <a:latin typeface="Arial"/>
                <a:cs typeface="Arial"/>
              </a:rPr>
              <a:t>cars</a:t>
            </a:r>
            <a:endParaRPr sz="800" dirty="0">
              <a:latin typeface="Arial"/>
              <a:cs typeface="Arial"/>
            </a:endParaRPr>
          </a:p>
          <a:p>
            <a:pPr marL="12700">
              <a:lnSpc>
                <a:spcPct val="100000"/>
              </a:lnSpc>
              <a:spcBef>
                <a:spcPts val="180"/>
              </a:spcBef>
            </a:pPr>
            <a:r>
              <a:rPr sz="800" spc="-5" dirty="0">
                <a:latin typeface="Arial"/>
                <a:cs typeface="Arial"/>
              </a:rPr>
              <a:t>Source:</a:t>
            </a:r>
            <a:r>
              <a:rPr sz="800" spc="15" dirty="0">
                <a:latin typeface="Arial"/>
                <a:cs typeface="Arial"/>
              </a:rPr>
              <a:t> </a:t>
            </a:r>
            <a:r>
              <a:rPr sz="800" spc="-5" dirty="0">
                <a:latin typeface="Arial"/>
                <a:cs typeface="Arial"/>
              </a:rPr>
              <a:t>Hellenic</a:t>
            </a:r>
            <a:r>
              <a:rPr sz="800" spc="15" dirty="0">
                <a:latin typeface="Arial"/>
                <a:cs typeface="Arial"/>
              </a:rPr>
              <a:t> </a:t>
            </a:r>
            <a:r>
              <a:rPr sz="800" spc="-5" dirty="0">
                <a:latin typeface="Arial"/>
                <a:cs typeface="Arial"/>
              </a:rPr>
              <a:t>Republic</a:t>
            </a:r>
            <a:r>
              <a:rPr sz="800" spc="25" dirty="0">
                <a:latin typeface="Arial"/>
                <a:cs typeface="Arial"/>
              </a:rPr>
              <a:t> </a:t>
            </a:r>
            <a:r>
              <a:rPr sz="800" spc="-5" dirty="0">
                <a:latin typeface="Arial"/>
                <a:cs typeface="Arial"/>
              </a:rPr>
              <a:t>Ministry</a:t>
            </a:r>
            <a:r>
              <a:rPr sz="800" dirty="0">
                <a:latin typeface="Arial"/>
                <a:cs typeface="Arial"/>
              </a:rPr>
              <a:t> </a:t>
            </a:r>
            <a:r>
              <a:rPr sz="800" spc="-5" dirty="0">
                <a:latin typeface="Arial"/>
                <a:cs typeface="Arial"/>
              </a:rPr>
              <a:t>of</a:t>
            </a:r>
            <a:r>
              <a:rPr sz="800" spc="20" dirty="0">
                <a:latin typeface="Arial"/>
                <a:cs typeface="Arial"/>
              </a:rPr>
              <a:t> </a:t>
            </a:r>
            <a:r>
              <a:rPr sz="800" spc="-5" dirty="0">
                <a:latin typeface="Arial"/>
                <a:cs typeface="Arial"/>
              </a:rPr>
              <a:t>Environment</a:t>
            </a:r>
            <a:r>
              <a:rPr sz="800" spc="20" dirty="0">
                <a:latin typeface="Arial"/>
                <a:cs typeface="Arial"/>
              </a:rPr>
              <a:t> </a:t>
            </a:r>
            <a:r>
              <a:rPr sz="800" spc="-5" dirty="0">
                <a:latin typeface="Arial"/>
                <a:cs typeface="Arial"/>
              </a:rPr>
              <a:t>and</a:t>
            </a:r>
            <a:r>
              <a:rPr sz="800" spc="25" dirty="0">
                <a:latin typeface="Arial"/>
                <a:cs typeface="Arial"/>
              </a:rPr>
              <a:t> </a:t>
            </a:r>
            <a:r>
              <a:rPr sz="800" spc="-5" dirty="0">
                <a:latin typeface="Arial"/>
                <a:cs typeface="Arial"/>
              </a:rPr>
              <a:t>Energy:</a:t>
            </a:r>
            <a:r>
              <a:rPr sz="800" spc="35" dirty="0">
                <a:latin typeface="Arial"/>
                <a:cs typeface="Arial"/>
              </a:rPr>
              <a:t> </a:t>
            </a:r>
            <a:r>
              <a:rPr sz="800" dirty="0">
                <a:latin typeface="Arial"/>
                <a:cs typeface="Arial"/>
              </a:rPr>
              <a:t>NECP</a:t>
            </a:r>
            <a:r>
              <a:rPr sz="800" spc="20" dirty="0">
                <a:latin typeface="Arial"/>
                <a:cs typeface="Arial"/>
              </a:rPr>
              <a:t> </a:t>
            </a:r>
            <a:r>
              <a:rPr sz="800" spc="-5" dirty="0">
                <a:latin typeface="Arial"/>
                <a:cs typeface="Arial"/>
              </a:rPr>
              <a:t>page</a:t>
            </a:r>
            <a:r>
              <a:rPr sz="800" spc="25" dirty="0">
                <a:latin typeface="Arial"/>
                <a:cs typeface="Arial"/>
              </a:rPr>
              <a:t> </a:t>
            </a:r>
            <a:r>
              <a:rPr sz="800" spc="-5" dirty="0">
                <a:latin typeface="Arial"/>
                <a:cs typeface="Arial"/>
              </a:rPr>
              <a:t>62,</a:t>
            </a:r>
            <a:r>
              <a:rPr sz="800" spc="35" dirty="0">
                <a:latin typeface="Arial"/>
                <a:cs typeface="Arial"/>
              </a:rPr>
              <a:t> </a:t>
            </a:r>
            <a:r>
              <a:rPr sz="800" spc="-5" dirty="0">
                <a:latin typeface="Arial"/>
                <a:cs typeface="Arial"/>
              </a:rPr>
              <a:t>IMF</a:t>
            </a:r>
            <a:r>
              <a:rPr sz="800" spc="40" dirty="0">
                <a:latin typeface="Arial"/>
                <a:cs typeface="Arial"/>
              </a:rPr>
              <a:t> </a:t>
            </a:r>
            <a:r>
              <a:rPr sz="800" spc="-5" dirty="0">
                <a:latin typeface="Arial"/>
                <a:cs typeface="Arial"/>
              </a:rPr>
              <a:t>Datamapper</a:t>
            </a:r>
            <a:r>
              <a:rPr sz="800" spc="30" dirty="0">
                <a:latin typeface="Arial"/>
                <a:cs typeface="Arial"/>
              </a:rPr>
              <a:t> </a:t>
            </a:r>
            <a:r>
              <a:rPr sz="800" spc="-5" dirty="0">
                <a:latin typeface="Arial"/>
                <a:cs typeface="Arial"/>
              </a:rPr>
              <a:t>April</a:t>
            </a:r>
            <a:r>
              <a:rPr sz="800" spc="10" dirty="0">
                <a:latin typeface="Arial"/>
                <a:cs typeface="Arial"/>
              </a:rPr>
              <a:t> </a:t>
            </a:r>
            <a:r>
              <a:rPr sz="800" spc="-5" dirty="0">
                <a:latin typeface="Arial"/>
                <a:cs typeface="Arial"/>
              </a:rPr>
              <a:t>2025,</a:t>
            </a:r>
            <a:r>
              <a:rPr sz="800" spc="35" dirty="0">
                <a:latin typeface="Arial"/>
                <a:cs typeface="Arial"/>
              </a:rPr>
              <a:t> </a:t>
            </a:r>
            <a:r>
              <a:rPr sz="800" spc="-5" dirty="0">
                <a:latin typeface="Arial"/>
                <a:cs typeface="Arial"/>
              </a:rPr>
              <a:t>Internal</a:t>
            </a:r>
            <a:r>
              <a:rPr sz="800" spc="30" dirty="0">
                <a:latin typeface="Arial"/>
                <a:cs typeface="Arial"/>
              </a:rPr>
              <a:t> </a:t>
            </a:r>
            <a:r>
              <a:rPr sz="800" spc="-5" dirty="0">
                <a:latin typeface="Arial"/>
                <a:cs typeface="Arial"/>
              </a:rPr>
              <a:t>McKinsey </a:t>
            </a:r>
            <a:r>
              <a:rPr sz="800" dirty="0">
                <a:latin typeface="Arial"/>
                <a:cs typeface="Arial"/>
              </a:rPr>
              <a:t>model</a:t>
            </a:r>
            <a:r>
              <a:rPr sz="800" spc="10" dirty="0">
                <a:latin typeface="Arial"/>
                <a:cs typeface="Arial"/>
              </a:rPr>
              <a:t> </a:t>
            </a:r>
            <a:r>
              <a:rPr sz="800" spc="-5" dirty="0">
                <a:latin typeface="Arial"/>
                <a:cs typeface="Arial"/>
              </a:rPr>
              <a:t>for</a:t>
            </a:r>
            <a:r>
              <a:rPr sz="800" spc="15" dirty="0">
                <a:latin typeface="Arial"/>
                <a:cs typeface="Arial"/>
              </a:rPr>
              <a:t> </a:t>
            </a:r>
            <a:r>
              <a:rPr sz="800" dirty="0">
                <a:latin typeface="Arial"/>
                <a:cs typeface="Arial"/>
              </a:rPr>
              <a:t>G5</a:t>
            </a:r>
            <a:r>
              <a:rPr sz="800" spc="25" dirty="0">
                <a:latin typeface="Arial"/>
                <a:cs typeface="Arial"/>
              </a:rPr>
              <a:t> </a:t>
            </a:r>
            <a:r>
              <a:rPr sz="800" spc="-5" dirty="0">
                <a:latin typeface="Arial"/>
                <a:cs typeface="Arial"/>
              </a:rPr>
              <a:t>penetration</a:t>
            </a:r>
            <a:r>
              <a:rPr sz="800" spc="35" dirty="0">
                <a:latin typeface="Arial"/>
                <a:cs typeface="Arial"/>
              </a:rPr>
              <a:t> </a:t>
            </a:r>
            <a:r>
              <a:rPr sz="800" spc="-5" dirty="0">
                <a:latin typeface="Arial"/>
                <a:cs typeface="Arial"/>
              </a:rPr>
              <a:t>rate</a:t>
            </a:r>
            <a:r>
              <a:rPr sz="800" spc="15" dirty="0">
                <a:latin typeface="Arial"/>
                <a:cs typeface="Arial"/>
              </a:rPr>
              <a:t> </a:t>
            </a:r>
            <a:r>
              <a:rPr sz="800" spc="-5" dirty="0">
                <a:latin typeface="Arial"/>
                <a:cs typeface="Arial"/>
              </a:rPr>
              <a:t>for</a:t>
            </a:r>
            <a:r>
              <a:rPr sz="800" spc="15" dirty="0">
                <a:latin typeface="Arial"/>
                <a:cs typeface="Arial"/>
              </a:rPr>
              <a:t> </a:t>
            </a:r>
            <a:r>
              <a:rPr sz="800" dirty="0">
                <a:latin typeface="Arial"/>
                <a:cs typeface="Arial"/>
              </a:rPr>
              <a:t>B2C</a:t>
            </a:r>
            <a:r>
              <a:rPr sz="800" spc="15" dirty="0">
                <a:latin typeface="Arial"/>
                <a:cs typeface="Arial"/>
              </a:rPr>
              <a:t> </a:t>
            </a:r>
            <a:r>
              <a:rPr sz="800" spc="-5" dirty="0">
                <a:latin typeface="Arial"/>
                <a:cs typeface="Arial"/>
              </a:rPr>
              <a:t>passenger</a:t>
            </a:r>
            <a:r>
              <a:rPr sz="800" spc="25" dirty="0">
                <a:latin typeface="Arial"/>
                <a:cs typeface="Arial"/>
              </a:rPr>
              <a:t> </a:t>
            </a:r>
            <a:r>
              <a:rPr sz="800" spc="-5" dirty="0">
                <a:latin typeface="Arial"/>
                <a:cs typeface="Arial"/>
              </a:rPr>
              <a:t>cars</a:t>
            </a:r>
            <a:endParaRPr sz="800" dirty="0">
              <a:latin typeface="Arial"/>
              <a:cs typeface="Arial"/>
            </a:endParaRPr>
          </a:p>
        </p:txBody>
      </p:sp>
      <p:sp>
        <p:nvSpPr>
          <p:cNvPr id="173" name="object 173"/>
          <p:cNvSpPr/>
          <p:nvPr/>
        </p:nvSpPr>
        <p:spPr>
          <a:xfrm>
            <a:off x="3384550" y="4668901"/>
            <a:ext cx="721360" cy="0"/>
          </a:xfrm>
          <a:custGeom>
            <a:avLst/>
            <a:gdLst/>
            <a:ahLst/>
            <a:cxnLst/>
            <a:rect l="l" t="t" r="r" b="b"/>
            <a:pathLst>
              <a:path w="721360">
                <a:moveTo>
                  <a:pt x="0" y="0"/>
                </a:moveTo>
                <a:lnTo>
                  <a:pt x="721105" y="0"/>
                </a:lnTo>
              </a:path>
            </a:pathLst>
          </a:custGeom>
          <a:ln w="28575">
            <a:solidFill>
              <a:srgbClr val="051F79"/>
            </a:solidFill>
          </a:ln>
        </p:spPr>
        <p:txBody>
          <a:bodyPr wrap="square" lIns="0" tIns="0" rIns="0" bIns="0" rtlCol="0"/>
          <a:lstStyle/>
          <a:p>
            <a:endParaRPr/>
          </a:p>
        </p:txBody>
      </p:sp>
      <p:sp>
        <p:nvSpPr>
          <p:cNvPr id="174" name="object 174"/>
          <p:cNvSpPr/>
          <p:nvPr/>
        </p:nvSpPr>
        <p:spPr>
          <a:xfrm>
            <a:off x="4345559" y="4668901"/>
            <a:ext cx="721360" cy="0"/>
          </a:xfrm>
          <a:custGeom>
            <a:avLst/>
            <a:gdLst/>
            <a:ahLst/>
            <a:cxnLst/>
            <a:rect l="l" t="t" r="r" b="b"/>
            <a:pathLst>
              <a:path w="721360">
                <a:moveTo>
                  <a:pt x="0" y="0"/>
                </a:moveTo>
                <a:lnTo>
                  <a:pt x="721105" y="0"/>
                </a:lnTo>
              </a:path>
            </a:pathLst>
          </a:custGeom>
          <a:ln w="28575">
            <a:solidFill>
              <a:srgbClr val="051F79"/>
            </a:solidFill>
          </a:ln>
        </p:spPr>
        <p:txBody>
          <a:bodyPr wrap="square" lIns="0" tIns="0" rIns="0" bIns="0" rtlCol="0"/>
          <a:lstStyle/>
          <a:p>
            <a:endParaRPr/>
          </a:p>
        </p:txBody>
      </p:sp>
      <p:sp>
        <p:nvSpPr>
          <p:cNvPr id="175" name="object 175"/>
          <p:cNvSpPr/>
          <p:nvPr/>
        </p:nvSpPr>
        <p:spPr>
          <a:xfrm>
            <a:off x="1542922" y="4668901"/>
            <a:ext cx="721360" cy="0"/>
          </a:xfrm>
          <a:custGeom>
            <a:avLst/>
            <a:gdLst/>
            <a:ahLst/>
            <a:cxnLst/>
            <a:rect l="l" t="t" r="r" b="b"/>
            <a:pathLst>
              <a:path w="721360">
                <a:moveTo>
                  <a:pt x="0" y="0"/>
                </a:moveTo>
                <a:lnTo>
                  <a:pt x="721106" y="0"/>
                </a:lnTo>
              </a:path>
            </a:pathLst>
          </a:custGeom>
          <a:ln w="28575">
            <a:solidFill>
              <a:srgbClr val="051F79"/>
            </a:solidFill>
          </a:ln>
        </p:spPr>
        <p:txBody>
          <a:bodyPr wrap="square" lIns="0" tIns="0" rIns="0" bIns="0" rtlCol="0"/>
          <a:lstStyle/>
          <a:p>
            <a:endParaRPr/>
          </a:p>
        </p:txBody>
      </p:sp>
      <p:sp>
        <p:nvSpPr>
          <p:cNvPr id="176" name="object 176"/>
          <p:cNvSpPr/>
          <p:nvPr/>
        </p:nvSpPr>
        <p:spPr>
          <a:xfrm>
            <a:off x="2475610" y="4668901"/>
            <a:ext cx="721360" cy="0"/>
          </a:xfrm>
          <a:custGeom>
            <a:avLst/>
            <a:gdLst/>
            <a:ahLst/>
            <a:cxnLst/>
            <a:rect l="l" t="t" r="r" b="b"/>
            <a:pathLst>
              <a:path w="721360">
                <a:moveTo>
                  <a:pt x="0" y="0"/>
                </a:moveTo>
                <a:lnTo>
                  <a:pt x="721106" y="0"/>
                </a:lnTo>
              </a:path>
            </a:pathLst>
          </a:custGeom>
          <a:ln w="28575">
            <a:solidFill>
              <a:srgbClr val="051F79"/>
            </a:solidFill>
          </a:ln>
        </p:spPr>
        <p:txBody>
          <a:bodyPr wrap="square" lIns="0" tIns="0" rIns="0" bIns="0" rtlCol="0"/>
          <a:lstStyle/>
          <a:p>
            <a:endParaRPr/>
          </a:p>
        </p:txBody>
      </p:sp>
      <p:sp>
        <p:nvSpPr>
          <p:cNvPr id="177" name="object 177"/>
          <p:cNvSpPr txBox="1"/>
          <p:nvPr/>
        </p:nvSpPr>
        <p:spPr>
          <a:xfrm>
            <a:off x="2408682" y="4693742"/>
            <a:ext cx="853440" cy="1186180"/>
          </a:xfrm>
          <a:prstGeom prst="rect">
            <a:avLst/>
          </a:prstGeom>
        </p:spPr>
        <p:txBody>
          <a:bodyPr vert="horz" wrap="square" lIns="0" tIns="13335" rIns="0" bIns="0" rtlCol="0">
            <a:spAutoFit/>
          </a:bodyPr>
          <a:lstStyle/>
          <a:p>
            <a:pPr marL="1270" algn="ctr">
              <a:lnSpc>
                <a:spcPct val="100000"/>
              </a:lnSpc>
              <a:spcBef>
                <a:spcPts val="105"/>
              </a:spcBef>
            </a:pPr>
            <a:r>
              <a:rPr sz="1400" b="1" spc="-5" dirty="0">
                <a:solidFill>
                  <a:srgbClr val="051F79"/>
                </a:solidFill>
                <a:latin typeface="Georgia"/>
                <a:cs typeface="Georgia"/>
              </a:rPr>
              <a:t>~2.5%</a:t>
            </a:r>
            <a:endParaRPr sz="1400">
              <a:latin typeface="Georgia"/>
              <a:cs typeface="Georgia"/>
            </a:endParaRPr>
          </a:p>
          <a:p>
            <a:pPr marL="12065" marR="5080" indent="3175" algn="ctr">
              <a:lnSpc>
                <a:spcPct val="100000"/>
              </a:lnSpc>
            </a:pPr>
            <a:r>
              <a:rPr sz="1400" b="1" dirty="0">
                <a:solidFill>
                  <a:srgbClr val="051F79"/>
                </a:solidFill>
                <a:latin typeface="Georgia"/>
                <a:cs typeface="Georgia"/>
              </a:rPr>
              <a:t>p.a.  </a:t>
            </a:r>
            <a:r>
              <a:rPr sz="1200" spc="-5" dirty="0">
                <a:latin typeface="Arial"/>
                <a:cs typeface="Arial"/>
              </a:rPr>
              <a:t>inflation</a:t>
            </a:r>
            <a:r>
              <a:rPr sz="1200" spc="-100" dirty="0">
                <a:latin typeface="Arial"/>
                <a:cs typeface="Arial"/>
              </a:rPr>
              <a:t> </a:t>
            </a:r>
            <a:r>
              <a:rPr sz="1200" dirty="0">
                <a:latin typeface="Arial"/>
                <a:cs typeface="Arial"/>
              </a:rPr>
              <a:t>rate  on car</a:t>
            </a:r>
            <a:r>
              <a:rPr sz="1200" spc="-105" dirty="0">
                <a:latin typeface="Arial"/>
                <a:cs typeface="Arial"/>
              </a:rPr>
              <a:t> </a:t>
            </a:r>
            <a:r>
              <a:rPr sz="1200" spc="-10" dirty="0">
                <a:latin typeface="Arial"/>
                <a:cs typeface="Arial"/>
              </a:rPr>
              <a:t>value  </a:t>
            </a:r>
            <a:r>
              <a:rPr sz="1200" spc="-5" dirty="0">
                <a:latin typeface="Arial"/>
                <a:cs typeface="Arial"/>
              </a:rPr>
              <a:t>(IMF </a:t>
            </a:r>
            <a:r>
              <a:rPr sz="1200" dirty="0">
                <a:latin typeface="Arial"/>
                <a:cs typeface="Arial"/>
              </a:rPr>
              <a:t>data  </a:t>
            </a:r>
            <a:r>
              <a:rPr sz="1200" spc="-5" dirty="0">
                <a:latin typeface="Arial"/>
                <a:cs typeface="Arial"/>
              </a:rPr>
              <a:t>April</a:t>
            </a:r>
            <a:r>
              <a:rPr sz="1200" spc="-55" dirty="0">
                <a:latin typeface="Arial"/>
                <a:cs typeface="Arial"/>
              </a:rPr>
              <a:t> </a:t>
            </a:r>
            <a:r>
              <a:rPr sz="1200" dirty="0">
                <a:latin typeface="Arial"/>
                <a:cs typeface="Arial"/>
              </a:rPr>
              <a:t>2025)</a:t>
            </a:r>
            <a:endParaRPr sz="1200">
              <a:latin typeface="Arial"/>
              <a:cs typeface="Arial"/>
            </a:endParaRPr>
          </a:p>
        </p:txBody>
      </p:sp>
      <p:sp>
        <p:nvSpPr>
          <p:cNvPr id="178" name="object 178"/>
          <p:cNvSpPr txBox="1"/>
          <p:nvPr/>
        </p:nvSpPr>
        <p:spPr>
          <a:xfrm>
            <a:off x="3316351" y="4693742"/>
            <a:ext cx="858519" cy="1155700"/>
          </a:xfrm>
          <a:prstGeom prst="rect">
            <a:avLst/>
          </a:prstGeom>
        </p:spPr>
        <p:txBody>
          <a:bodyPr vert="horz" wrap="square" lIns="0" tIns="13335" rIns="0" bIns="0" rtlCol="0">
            <a:spAutoFit/>
          </a:bodyPr>
          <a:lstStyle/>
          <a:p>
            <a:pPr marL="12065" marR="5080" algn="ctr">
              <a:lnSpc>
                <a:spcPct val="100099"/>
              </a:lnSpc>
              <a:spcBef>
                <a:spcPts val="105"/>
              </a:spcBef>
            </a:pPr>
            <a:r>
              <a:rPr sz="1400" b="1" dirty="0">
                <a:solidFill>
                  <a:srgbClr val="051F79"/>
                </a:solidFill>
                <a:latin typeface="Georgia"/>
                <a:cs typeface="Georgia"/>
              </a:rPr>
              <a:t>+1pp</a:t>
            </a:r>
            <a:r>
              <a:rPr sz="1400" b="1" spc="-95" dirty="0">
                <a:solidFill>
                  <a:srgbClr val="051F79"/>
                </a:solidFill>
                <a:latin typeface="Georgia"/>
                <a:cs typeface="Georgia"/>
              </a:rPr>
              <a:t> </a:t>
            </a:r>
            <a:r>
              <a:rPr sz="1400" b="1" dirty="0">
                <a:solidFill>
                  <a:srgbClr val="051F79"/>
                </a:solidFill>
                <a:latin typeface="Georgia"/>
                <a:cs typeface="Georgia"/>
              </a:rPr>
              <a:t>p.a.  </a:t>
            </a:r>
            <a:r>
              <a:rPr sz="1200" spc="-5" dirty="0">
                <a:latin typeface="Arial"/>
                <a:cs typeface="Arial"/>
              </a:rPr>
              <a:t>financing  penetration  </a:t>
            </a:r>
            <a:r>
              <a:rPr sz="1200" dirty="0">
                <a:latin typeface="Arial"/>
                <a:cs typeface="Arial"/>
              </a:rPr>
              <a:t>to </a:t>
            </a:r>
            <a:r>
              <a:rPr sz="1200" spc="-5" dirty="0">
                <a:latin typeface="Arial"/>
                <a:cs typeface="Arial"/>
              </a:rPr>
              <a:t>partially  align </a:t>
            </a:r>
            <a:r>
              <a:rPr sz="1200" spc="-10" dirty="0">
                <a:latin typeface="Arial"/>
                <a:cs typeface="Arial"/>
              </a:rPr>
              <a:t>with  </a:t>
            </a:r>
            <a:r>
              <a:rPr sz="1200" spc="-5" dirty="0">
                <a:latin typeface="Arial"/>
                <a:cs typeface="Arial"/>
              </a:rPr>
              <a:t>Spain’s</a:t>
            </a:r>
            <a:endParaRPr sz="1200">
              <a:latin typeface="Arial"/>
              <a:cs typeface="Arial"/>
            </a:endParaRPr>
          </a:p>
        </p:txBody>
      </p:sp>
      <p:sp>
        <p:nvSpPr>
          <p:cNvPr id="179" name="object 179"/>
          <p:cNvSpPr txBox="1"/>
          <p:nvPr/>
        </p:nvSpPr>
        <p:spPr>
          <a:xfrm>
            <a:off x="1375028" y="4693742"/>
            <a:ext cx="879475" cy="1551940"/>
          </a:xfrm>
          <a:prstGeom prst="rect">
            <a:avLst/>
          </a:prstGeom>
        </p:spPr>
        <p:txBody>
          <a:bodyPr vert="horz" wrap="square" lIns="0" tIns="13335" rIns="0" bIns="0" rtlCol="0">
            <a:spAutoFit/>
          </a:bodyPr>
          <a:lstStyle/>
          <a:p>
            <a:pPr marL="18415" marR="10160" algn="ctr">
              <a:lnSpc>
                <a:spcPct val="100000"/>
              </a:lnSpc>
              <a:spcBef>
                <a:spcPts val="105"/>
              </a:spcBef>
            </a:pPr>
            <a:r>
              <a:rPr sz="1400" b="1" spc="-5" dirty="0">
                <a:solidFill>
                  <a:srgbClr val="051F79"/>
                </a:solidFill>
                <a:latin typeface="Georgia"/>
                <a:cs typeface="Georgia"/>
              </a:rPr>
              <a:t>~4.0%  </a:t>
            </a:r>
            <a:r>
              <a:rPr sz="1400" b="1" dirty="0">
                <a:solidFill>
                  <a:srgbClr val="051F79"/>
                </a:solidFill>
                <a:latin typeface="Georgia"/>
                <a:cs typeface="Georgia"/>
              </a:rPr>
              <a:t>CAGR  </a:t>
            </a:r>
            <a:r>
              <a:rPr sz="1200" spc="-5" dirty="0">
                <a:latin typeface="Arial"/>
                <a:cs typeface="Arial"/>
              </a:rPr>
              <a:t>(~3%</a:t>
            </a:r>
            <a:r>
              <a:rPr sz="1200" spc="-80" dirty="0">
                <a:latin typeface="Arial"/>
                <a:cs typeface="Arial"/>
              </a:rPr>
              <a:t> </a:t>
            </a:r>
            <a:r>
              <a:rPr sz="1200" spc="-5" dirty="0">
                <a:latin typeface="Arial"/>
                <a:cs typeface="Arial"/>
              </a:rPr>
              <a:t>CAGR</a:t>
            </a:r>
            <a:endParaRPr sz="1200">
              <a:latin typeface="Arial"/>
              <a:cs typeface="Arial"/>
            </a:endParaRPr>
          </a:p>
          <a:p>
            <a:pPr algn="ctr">
              <a:lnSpc>
                <a:spcPct val="100000"/>
              </a:lnSpc>
              <a:spcBef>
                <a:spcPts val="10"/>
              </a:spcBef>
            </a:pPr>
            <a:r>
              <a:rPr sz="1200" dirty="0">
                <a:latin typeface="Arial"/>
                <a:cs typeface="Arial"/>
              </a:rPr>
              <a:t>on </a:t>
            </a:r>
            <a:r>
              <a:rPr sz="1200" spc="-5" dirty="0">
                <a:latin typeface="Arial"/>
                <a:cs typeface="Arial"/>
              </a:rPr>
              <a:t>New</a:t>
            </a:r>
            <a:r>
              <a:rPr sz="1200" spc="-114" dirty="0">
                <a:latin typeface="Arial"/>
                <a:cs typeface="Arial"/>
              </a:rPr>
              <a:t> </a:t>
            </a:r>
            <a:r>
              <a:rPr sz="1200" dirty="0">
                <a:latin typeface="Arial"/>
                <a:cs typeface="Arial"/>
              </a:rPr>
              <a:t>and</a:t>
            </a:r>
            <a:endParaRPr sz="1200">
              <a:latin typeface="Arial"/>
              <a:cs typeface="Arial"/>
            </a:endParaRPr>
          </a:p>
          <a:p>
            <a:pPr marL="635" algn="ctr">
              <a:lnSpc>
                <a:spcPct val="100000"/>
              </a:lnSpc>
            </a:pPr>
            <a:r>
              <a:rPr sz="1200" spc="-5" dirty="0">
                <a:latin typeface="Arial"/>
                <a:cs typeface="Arial"/>
              </a:rPr>
              <a:t>~5%</a:t>
            </a:r>
            <a:r>
              <a:rPr sz="1200" spc="-90" dirty="0">
                <a:latin typeface="Arial"/>
                <a:cs typeface="Arial"/>
              </a:rPr>
              <a:t> </a:t>
            </a:r>
            <a:r>
              <a:rPr sz="1200" spc="-5" dirty="0">
                <a:latin typeface="Arial"/>
                <a:cs typeface="Arial"/>
              </a:rPr>
              <a:t>CAGR</a:t>
            </a:r>
            <a:endParaRPr sz="1200">
              <a:latin typeface="Arial"/>
              <a:cs typeface="Arial"/>
            </a:endParaRPr>
          </a:p>
          <a:p>
            <a:pPr marL="12065" marR="5080" indent="-635" algn="ctr">
              <a:lnSpc>
                <a:spcPct val="100000"/>
              </a:lnSpc>
            </a:pPr>
            <a:r>
              <a:rPr sz="1200" dirty="0">
                <a:latin typeface="Arial"/>
                <a:cs typeface="Arial"/>
              </a:rPr>
              <a:t>on </a:t>
            </a:r>
            <a:r>
              <a:rPr sz="1200" spc="-5" dirty="0">
                <a:latin typeface="Arial"/>
                <a:cs typeface="Arial"/>
              </a:rPr>
              <a:t>Used  (NECP</a:t>
            </a:r>
            <a:r>
              <a:rPr sz="1200" spc="-105" dirty="0">
                <a:latin typeface="Arial"/>
                <a:cs typeface="Arial"/>
              </a:rPr>
              <a:t> </a:t>
            </a:r>
            <a:r>
              <a:rPr sz="1200" dirty="0">
                <a:latin typeface="Arial"/>
                <a:cs typeface="Arial"/>
              </a:rPr>
              <a:t>2023</a:t>
            </a:r>
            <a:endParaRPr sz="1200">
              <a:latin typeface="Arial"/>
              <a:cs typeface="Arial"/>
            </a:endParaRPr>
          </a:p>
          <a:p>
            <a:pPr marL="1270" algn="ctr">
              <a:lnSpc>
                <a:spcPct val="100000"/>
              </a:lnSpc>
            </a:pPr>
            <a:r>
              <a:rPr sz="1200" dirty="0">
                <a:latin typeface="Arial"/>
                <a:cs typeface="Arial"/>
              </a:rPr>
              <a:t>report)</a:t>
            </a:r>
            <a:endParaRPr sz="1200">
              <a:latin typeface="Arial"/>
              <a:cs typeface="Arial"/>
            </a:endParaRPr>
          </a:p>
        </p:txBody>
      </p:sp>
      <p:sp>
        <p:nvSpPr>
          <p:cNvPr id="180" name="object 180"/>
          <p:cNvSpPr txBox="1"/>
          <p:nvPr/>
        </p:nvSpPr>
        <p:spPr>
          <a:xfrm>
            <a:off x="4214621" y="4693742"/>
            <a:ext cx="983615" cy="1155700"/>
          </a:xfrm>
          <a:prstGeom prst="rect">
            <a:avLst/>
          </a:prstGeom>
        </p:spPr>
        <p:txBody>
          <a:bodyPr vert="horz" wrap="square" lIns="0" tIns="13335" rIns="0" bIns="0" rtlCol="0">
            <a:spAutoFit/>
          </a:bodyPr>
          <a:lstStyle/>
          <a:p>
            <a:pPr algn="ctr">
              <a:lnSpc>
                <a:spcPct val="100000"/>
              </a:lnSpc>
              <a:spcBef>
                <a:spcPts val="105"/>
              </a:spcBef>
            </a:pPr>
            <a:r>
              <a:rPr sz="1400" b="1" spc="-5" dirty="0">
                <a:solidFill>
                  <a:srgbClr val="051F79"/>
                </a:solidFill>
                <a:latin typeface="Georgia"/>
                <a:cs typeface="Georgia"/>
              </a:rPr>
              <a:t>~15%</a:t>
            </a:r>
            <a:endParaRPr sz="1400">
              <a:latin typeface="Georgia"/>
              <a:cs typeface="Georgia"/>
            </a:endParaRPr>
          </a:p>
          <a:p>
            <a:pPr marL="12700" marR="5080" indent="1270" algn="ctr">
              <a:lnSpc>
                <a:spcPct val="100000"/>
              </a:lnSpc>
              <a:spcBef>
                <a:spcPts val="10"/>
              </a:spcBef>
            </a:pPr>
            <a:r>
              <a:rPr sz="1200" spc="-5" dirty="0">
                <a:latin typeface="Arial"/>
                <a:cs typeface="Arial"/>
              </a:rPr>
              <a:t>operating  lease in</a:t>
            </a:r>
            <a:r>
              <a:rPr sz="1200" spc="-90" dirty="0">
                <a:latin typeface="Arial"/>
                <a:cs typeface="Arial"/>
              </a:rPr>
              <a:t> </a:t>
            </a:r>
            <a:r>
              <a:rPr sz="1200" spc="-5" dirty="0">
                <a:latin typeface="Arial"/>
                <a:cs typeface="Arial"/>
              </a:rPr>
              <a:t>Retail  New</a:t>
            </a:r>
            <a:r>
              <a:rPr sz="1200" spc="-105" dirty="0">
                <a:latin typeface="Arial"/>
                <a:cs typeface="Arial"/>
              </a:rPr>
              <a:t> </a:t>
            </a:r>
            <a:r>
              <a:rPr sz="1200" dirty="0">
                <a:latin typeface="Arial"/>
                <a:cs typeface="Arial"/>
              </a:rPr>
              <a:t>financing  </a:t>
            </a:r>
            <a:r>
              <a:rPr sz="1200" spc="-5" dirty="0">
                <a:latin typeface="Arial"/>
                <a:cs typeface="Arial"/>
              </a:rPr>
              <a:t>mix     (assumption</a:t>
            </a:r>
            <a:endParaRPr sz="1200">
              <a:latin typeface="Arial"/>
              <a:cs typeface="Arial"/>
            </a:endParaRPr>
          </a:p>
        </p:txBody>
      </p:sp>
      <p:sp>
        <p:nvSpPr>
          <p:cNvPr id="181" name="object 181"/>
          <p:cNvSpPr txBox="1"/>
          <p:nvPr/>
        </p:nvSpPr>
        <p:spPr>
          <a:xfrm>
            <a:off x="3290442" y="5823610"/>
            <a:ext cx="1663064" cy="208279"/>
          </a:xfrm>
          <a:prstGeom prst="rect">
            <a:avLst/>
          </a:prstGeom>
        </p:spPr>
        <p:txBody>
          <a:bodyPr vert="horz" wrap="square" lIns="0" tIns="12700" rIns="0" bIns="0" rtlCol="0">
            <a:spAutoFit/>
          </a:bodyPr>
          <a:lstStyle/>
          <a:p>
            <a:pPr marL="12700">
              <a:lnSpc>
                <a:spcPct val="100000"/>
              </a:lnSpc>
              <a:spcBef>
                <a:spcPts val="100"/>
              </a:spcBef>
              <a:tabLst>
                <a:tab pos="1181735" algn="l"/>
              </a:tabLst>
            </a:pPr>
            <a:r>
              <a:rPr sz="1200" spc="10" dirty="0">
                <a:latin typeface="Arial"/>
                <a:cs typeface="Arial"/>
              </a:rPr>
              <a:t>f</a:t>
            </a:r>
            <a:r>
              <a:rPr sz="1200" spc="-5" dirty="0">
                <a:latin typeface="Arial"/>
                <a:cs typeface="Arial"/>
              </a:rPr>
              <a:t>in</a:t>
            </a:r>
            <a:r>
              <a:rPr sz="1200" spc="5" dirty="0">
                <a:latin typeface="Arial"/>
                <a:cs typeface="Arial"/>
              </a:rPr>
              <a:t>a</a:t>
            </a:r>
            <a:r>
              <a:rPr sz="1200" dirty="0">
                <a:latin typeface="Arial"/>
                <a:cs typeface="Arial"/>
              </a:rPr>
              <a:t>nc</a:t>
            </a:r>
            <a:r>
              <a:rPr sz="1200" spc="-15" dirty="0">
                <a:latin typeface="Arial"/>
                <a:cs typeface="Arial"/>
              </a:rPr>
              <a:t>i</a:t>
            </a:r>
            <a:r>
              <a:rPr sz="1200" dirty="0">
                <a:latin typeface="Arial"/>
                <a:cs typeface="Arial"/>
              </a:rPr>
              <a:t>ng</a:t>
            </a:r>
            <a:r>
              <a:rPr sz="1200" spc="-45" dirty="0">
                <a:latin typeface="Arial"/>
                <a:cs typeface="Arial"/>
              </a:rPr>
              <a:t> </a:t>
            </a:r>
            <a:r>
              <a:rPr sz="1200" spc="5" dirty="0">
                <a:latin typeface="Arial"/>
                <a:cs typeface="Arial"/>
              </a:rPr>
              <a:t>m</a:t>
            </a:r>
            <a:r>
              <a:rPr sz="1200" spc="-5" dirty="0">
                <a:latin typeface="Arial"/>
                <a:cs typeface="Arial"/>
              </a:rPr>
              <a:t>i</a:t>
            </a:r>
            <a:r>
              <a:rPr sz="1200" dirty="0">
                <a:latin typeface="Arial"/>
                <a:cs typeface="Arial"/>
              </a:rPr>
              <a:t>x	based)</a:t>
            </a:r>
            <a:endParaRPr sz="12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41AE66-DEA1-0664-3F52-03A4A4F5A0F6}"/>
              </a:ext>
            </a:extLst>
          </p:cNvPr>
          <p:cNvPicPr>
            <a:picLocks noChangeAspect="1"/>
          </p:cNvPicPr>
          <p:nvPr/>
        </p:nvPicPr>
        <p:blipFill>
          <a:blip r:embed="rId2"/>
          <a:stretch>
            <a:fillRect/>
          </a:stretch>
        </p:blipFill>
        <p:spPr>
          <a:xfrm>
            <a:off x="-21771" y="14059"/>
            <a:ext cx="12191999" cy="976542"/>
          </a:xfrm>
          <a:prstGeom prst="rect">
            <a:avLst/>
          </a:prstGeom>
        </p:spPr>
      </p:pic>
      <p:sp>
        <p:nvSpPr>
          <p:cNvPr id="3" name="object 3"/>
          <p:cNvSpPr txBox="1"/>
          <p:nvPr/>
        </p:nvSpPr>
        <p:spPr>
          <a:xfrm>
            <a:off x="11563350" y="6630477"/>
            <a:ext cx="89535" cy="151323"/>
          </a:xfrm>
          <a:prstGeom prst="rect">
            <a:avLst/>
          </a:prstGeom>
        </p:spPr>
        <p:txBody>
          <a:bodyPr vert="horz" wrap="square" lIns="0" tIns="12700" rIns="0" bIns="0" rtlCol="0">
            <a:spAutoFit/>
          </a:bodyPr>
          <a:lstStyle/>
          <a:p>
            <a:pPr marL="12700">
              <a:lnSpc>
                <a:spcPct val="100000"/>
              </a:lnSpc>
              <a:spcBef>
                <a:spcPts val="100"/>
              </a:spcBef>
            </a:pPr>
            <a:r>
              <a:rPr lang="en-US" sz="900" dirty="0">
                <a:latin typeface="Arial"/>
                <a:cs typeface="Arial"/>
              </a:rPr>
              <a:t>4</a:t>
            </a:r>
            <a:endParaRPr sz="900" dirty="0">
              <a:latin typeface="Arial"/>
              <a:cs typeface="Arial"/>
            </a:endParaRPr>
          </a:p>
        </p:txBody>
      </p:sp>
      <p:sp>
        <p:nvSpPr>
          <p:cNvPr id="4" name="object 4"/>
          <p:cNvSpPr txBox="1">
            <a:spLocks noGrp="1"/>
          </p:cNvSpPr>
          <p:nvPr>
            <p:ph type="title"/>
          </p:nvPr>
        </p:nvSpPr>
        <p:spPr>
          <a:xfrm>
            <a:off x="542036" y="186054"/>
            <a:ext cx="10661015" cy="730969"/>
          </a:xfrm>
          <a:prstGeom prst="rect">
            <a:avLst/>
          </a:prstGeom>
        </p:spPr>
        <p:txBody>
          <a:bodyPr vert="horz" wrap="square" lIns="0" tIns="12700" rIns="0" bIns="0" rtlCol="0">
            <a:spAutoFit/>
          </a:bodyPr>
          <a:lstStyle/>
          <a:p>
            <a:pPr marL="12700">
              <a:lnSpc>
                <a:spcPts val="2780"/>
              </a:lnSpc>
              <a:spcBef>
                <a:spcPts val="100"/>
              </a:spcBef>
            </a:pPr>
            <a:r>
              <a:rPr lang="en-US" sz="2400" dirty="0"/>
              <a:t>2</a:t>
            </a:r>
            <a:r>
              <a:rPr sz="2400" dirty="0"/>
              <a:t> | </a:t>
            </a:r>
            <a:r>
              <a:rPr lang="en-US" sz="2400" spc="-5" dirty="0"/>
              <a:t>D</a:t>
            </a:r>
            <a:r>
              <a:rPr sz="2400" dirty="0"/>
              <a:t>ecline in </a:t>
            </a:r>
            <a:r>
              <a:rPr sz="2400" spc="-5" dirty="0"/>
              <a:t>auto</a:t>
            </a:r>
            <a:r>
              <a:rPr sz="2400" spc="20" dirty="0"/>
              <a:t> </a:t>
            </a:r>
            <a:r>
              <a:rPr sz="2400" spc="-5" dirty="0"/>
              <a:t>loan</a:t>
            </a:r>
            <a:r>
              <a:rPr lang="en-US" sz="2400" spc="-5" dirty="0"/>
              <a:t> </a:t>
            </a:r>
            <a:r>
              <a:rPr sz="2400" spc="-5" dirty="0"/>
              <a:t>applications </a:t>
            </a:r>
            <a:r>
              <a:rPr sz="2400" dirty="0"/>
              <a:t>and </a:t>
            </a:r>
            <a:r>
              <a:rPr sz="2400" spc="-5" dirty="0"/>
              <a:t>booking rate, </a:t>
            </a:r>
            <a:r>
              <a:rPr lang="en-US" sz="2400" spc="-5" dirty="0"/>
              <a:t>               </a:t>
            </a:r>
            <a:r>
              <a:rPr sz="2400" spc="-5" dirty="0"/>
              <a:t>leading to ~10pp drop </a:t>
            </a:r>
            <a:r>
              <a:rPr sz="2400" dirty="0"/>
              <a:t>in </a:t>
            </a:r>
            <a:r>
              <a:rPr sz="2400" spc="-5" dirty="0"/>
              <a:t>MS </a:t>
            </a:r>
            <a:r>
              <a:rPr sz="2400" dirty="0"/>
              <a:t>since</a:t>
            </a:r>
            <a:r>
              <a:rPr sz="2400" spc="-60" dirty="0"/>
              <a:t> </a:t>
            </a:r>
            <a:r>
              <a:rPr lang="el-GR" sz="2400" dirty="0"/>
              <a:t>’</a:t>
            </a:r>
            <a:r>
              <a:rPr sz="2400" dirty="0"/>
              <a:t>21</a:t>
            </a:r>
            <a:r>
              <a:rPr lang="en-US" sz="2400" dirty="0"/>
              <a:t> (</a:t>
            </a:r>
            <a:r>
              <a:rPr lang="en-US" sz="1600" spc="-5" dirty="0">
                <a:latin typeface="Arial"/>
                <a:cs typeface="Arial"/>
              </a:rPr>
              <a:t>Mainly due to Used </a:t>
            </a:r>
            <a:r>
              <a:rPr lang="en-US" sz="1600" spc="-10" dirty="0">
                <a:latin typeface="Arial"/>
                <a:cs typeface="Arial"/>
              </a:rPr>
              <a:t>cars</a:t>
            </a:r>
            <a:r>
              <a:rPr lang="en-US" sz="2400" dirty="0"/>
              <a:t>)</a:t>
            </a:r>
            <a:endParaRPr sz="2400" dirty="0"/>
          </a:p>
        </p:txBody>
      </p:sp>
      <p:sp>
        <p:nvSpPr>
          <p:cNvPr id="6" name="object 6"/>
          <p:cNvSpPr txBox="1"/>
          <p:nvPr/>
        </p:nvSpPr>
        <p:spPr>
          <a:xfrm>
            <a:off x="533400" y="1134343"/>
            <a:ext cx="7399655" cy="763671"/>
          </a:xfrm>
          <a:prstGeom prst="rect">
            <a:avLst/>
          </a:prstGeom>
        </p:spPr>
        <p:txBody>
          <a:bodyPr vert="horz" wrap="square" lIns="0" tIns="12065" rIns="0" bIns="0" rtlCol="0">
            <a:spAutoFit/>
          </a:bodyPr>
          <a:lstStyle/>
          <a:p>
            <a:pPr marL="12700">
              <a:lnSpc>
                <a:spcPct val="100000"/>
              </a:lnSpc>
              <a:spcBef>
                <a:spcPts val="95"/>
              </a:spcBef>
            </a:pPr>
            <a:endParaRPr lang="en-US" sz="1600" spc="-5" dirty="0">
              <a:latin typeface="Arial"/>
              <a:cs typeface="Arial"/>
            </a:endParaRPr>
          </a:p>
          <a:p>
            <a:pPr marL="12700">
              <a:lnSpc>
                <a:spcPct val="100000"/>
              </a:lnSpc>
              <a:spcBef>
                <a:spcPts val="95"/>
              </a:spcBef>
            </a:pPr>
            <a:endParaRPr lang="en-US" sz="1600" spc="-5" dirty="0">
              <a:latin typeface="Arial"/>
              <a:cs typeface="Arial"/>
            </a:endParaRPr>
          </a:p>
          <a:p>
            <a:pPr marL="12700">
              <a:lnSpc>
                <a:spcPct val="100000"/>
              </a:lnSpc>
            </a:pPr>
            <a:r>
              <a:rPr sz="1600" b="1" spc="-10" dirty="0">
                <a:latin typeface="Arial"/>
                <a:cs typeface="Arial"/>
              </a:rPr>
              <a:t>Evolution </a:t>
            </a:r>
            <a:r>
              <a:rPr sz="1600" b="1" spc="-5" dirty="0">
                <a:latin typeface="Arial"/>
                <a:cs typeface="Arial"/>
              </a:rPr>
              <a:t>of Eurobank used </a:t>
            </a:r>
            <a:r>
              <a:rPr sz="1600" b="1" spc="-10" dirty="0">
                <a:latin typeface="Arial"/>
                <a:cs typeface="Arial"/>
              </a:rPr>
              <a:t>auto </a:t>
            </a:r>
            <a:r>
              <a:rPr sz="1600" b="1" spc="-5" dirty="0">
                <a:latin typeface="Arial"/>
                <a:cs typeface="Arial"/>
              </a:rPr>
              <a:t>loan applications </a:t>
            </a:r>
            <a:r>
              <a:rPr sz="1600" spc="-5" dirty="0">
                <a:latin typeface="Arial"/>
                <a:cs typeface="Arial"/>
              </a:rPr>
              <a:t>(k#) </a:t>
            </a:r>
            <a:r>
              <a:rPr sz="1600" b="1" spc="-10" dirty="0">
                <a:latin typeface="Arial"/>
                <a:cs typeface="Arial"/>
              </a:rPr>
              <a:t>and </a:t>
            </a:r>
            <a:r>
              <a:rPr sz="1600" b="1" spc="-5" dirty="0">
                <a:latin typeface="Arial"/>
                <a:cs typeface="Arial"/>
              </a:rPr>
              <a:t>booking </a:t>
            </a:r>
            <a:r>
              <a:rPr sz="1600" b="1" spc="-10" dirty="0">
                <a:latin typeface="Arial"/>
                <a:cs typeface="Arial"/>
              </a:rPr>
              <a:t>rate</a:t>
            </a:r>
            <a:r>
              <a:rPr sz="1600" b="1" spc="310" dirty="0">
                <a:latin typeface="Arial"/>
                <a:cs typeface="Arial"/>
              </a:rPr>
              <a:t> </a:t>
            </a:r>
            <a:r>
              <a:rPr sz="1600" spc="-10" dirty="0">
                <a:latin typeface="Arial"/>
                <a:cs typeface="Arial"/>
              </a:rPr>
              <a:t>(%)</a:t>
            </a:r>
            <a:endParaRPr sz="1600" dirty="0">
              <a:latin typeface="Arial"/>
              <a:cs typeface="Arial"/>
            </a:endParaRPr>
          </a:p>
        </p:txBody>
      </p:sp>
      <p:sp>
        <p:nvSpPr>
          <p:cNvPr id="7" name="object 7"/>
          <p:cNvSpPr/>
          <p:nvPr/>
        </p:nvSpPr>
        <p:spPr>
          <a:xfrm>
            <a:off x="480695" y="6019800"/>
            <a:ext cx="11082655" cy="0"/>
          </a:xfrm>
          <a:custGeom>
            <a:avLst/>
            <a:gdLst/>
            <a:ahLst/>
            <a:cxnLst/>
            <a:rect l="l" t="t" r="r" b="b"/>
            <a:pathLst>
              <a:path w="11082655">
                <a:moveTo>
                  <a:pt x="0" y="0"/>
                </a:moveTo>
                <a:lnTo>
                  <a:pt x="11082528" y="0"/>
                </a:lnTo>
              </a:path>
            </a:pathLst>
          </a:custGeom>
          <a:ln w="6350">
            <a:solidFill>
              <a:srgbClr val="B3B3B3"/>
            </a:solidFill>
          </a:ln>
        </p:spPr>
        <p:txBody>
          <a:bodyPr wrap="square" lIns="0" tIns="0" rIns="0" bIns="0" rtlCol="0"/>
          <a:lstStyle/>
          <a:p>
            <a:endParaRPr/>
          </a:p>
        </p:txBody>
      </p:sp>
      <p:sp>
        <p:nvSpPr>
          <p:cNvPr id="8" name="object 8"/>
          <p:cNvSpPr txBox="1"/>
          <p:nvPr/>
        </p:nvSpPr>
        <p:spPr>
          <a:xfrm>
            <a:off x="542036" y="4675810"/>
            <a:ext cx="1243330" cy="361315"/>
          </a:xfrm>
          <a:prstGeom prst="rect">
            <a:avLst/>
          </a:prstGeom>
        </p:spPr>
        <p:txBody>
          <a:bodyPr vert="horz" wrap="square" lIns="0" tIns="12700" rIns="0" bIns="0" rtlCol="0">
            <a:spAutoFit/>
          </a:bodyPr>
          <a:lstStyle/>
          <a:p>
            <a:pPr marL="12700" marR="5080">
              <a:lnSpc>
                <a:spcPct val="100000"/>
              </a:lnSpc>
              <a:spcBef>
                <a:spcPts val="100"/>
              </a:spcBef>
            </a:pPr>
            <a:r>
              <a:rPr sz="1100" b="1" spc="-5" dirty="0">
                <a:latin typeface="Arial"/>
                <a:cs typeface="Arial"/>
              </a:rPr>
              <a:t>ERB </a:t>
            </a:r>
            <a:r>
              <a:rPr sz="1100" b="1" dirty="0">
                <a:latin typeface="Arial"/>
                <a:cs typeface="Arial"/>
              </a:rPr>
              <a:t>MS incl.</a:t>
            </a:r>
            <a:r>
              <a:rPr sz="1100" b="1" spc="-114" dirty="0">
                <a:latin typeface="Arial"/>
                <a:cs typeface="Arial"/>
              </a:rPr>
              <a:t> </a:t>
            </a:r>
            <a:r>
              <a:rPr sz="1100" b="1" dirty="0">
                <a:latin typeface="Arial"/>
                <a:cs typeface="Arial"/>
              </a:rPr>
              <a:t>OEM  </a:t>
            </a:r>
            <a:r>
              <a:rPr sz="1100" b="1" spc="-5" dirty="0">
                <a:latin typeface="Arial"/>
                <a:cs typeface="Arial"/>
              </a:rPr>
              <a:t>captives,</a:t>
            </a:r>
            <a:r>
              <a:rPr sz="1100" b="1" spc="-20" dirty="0">
                <a:latin typeface="Arial"/>
                <a:cs typeface="Arial"/>
              </a:rPr>
              <a:t> </a:t>
            </a:r>
            <a:r>
              <a:rPr sz="1100" b="1" dirty="0">
                <a:latin typeface="Arial"/>
                <a:cs typeface="Arial"/>
              </a:rPr>
              <a:t>%</a:t>
            </a:r>
            <a:endParaRPr sz="1100">
              <a:latin typeface="Arial"/>
              <a:cs typeface="Arial"/>
            </a:endParaRPr>
          </a:p>
        </p:txBody>
      </p:sp>
      <p:sp>
        <p:nvSpPr>
          <p:cNvPr id="9" name="object 9"/>
          <p:cNvSpPr/>
          <p:nvPr/>
        </p:nvSpPr>
        <p:spPr>
          <a:xfrm>
            <a:off x="2729483" y="2260018"/>
            <a:ext cx="1649095" cy="1609090"/>
          </a:xfrm>
          <a:custGeom>
            <a:avLst/>
            <a:gdLst/>
            <a:ahLst/>
            <a:cxnLst/>
            <a:rect l="l" t="t" r="r" b="b"/>
            <a:pathLst>
              <a:path w="1649095" h="1609089">
                <a:moveTo>
                  <a:pt x="1648968" y="0"/>
                </a:moveTo>
                <a:lnTo>
                  <a:pt x="0" y="0"/>
                </a:lnTo>
                <a:lnTo>
                  <a:pt x="0" y="1609089"/>
                </a:lnTo>
                <a:lnTo>
                  <a:pt x="1648968" y="1609089"/>
                </a:lnTo>
                <a:lnTo>
                  <a:pt x="1648968" y="0"/>
                </a:lnTo>
                <a:close/>
              </a:path>
            </a:pathLst>
          </a:custGeom>
          <a:solidFill>
            <a:srgbClr val="051F79"/>
          </a:solidFill>
        </p:spPr>
        <p:txBody>
          <a:bodyPr wrap="square" lIns="0" tIns="0" rIns="0" bIns="0" rtlCol="0"/>
          <a:lstStyle/>
          <a:p>
            <a:endParaRPr/>
          </a:p>
        </p:txBody>
      </p:sp>
      <p:sp>
        <p:nvSpPr>
          <p:cNvPr id="10" name="object 10"/>
          <p:cNvSpPr/>
          <p:nvPr/>
        </p:nvSpPr>
        <p:spPr>
          <a:xfrm>
            <a:off x="5038344" y="2398702"/>
            <a:ext cx="1651000" cy="1470660"/>
          </a:xfrm>
          <a:custGeom>
            <a:avLst/>
            <a:gdLst/>
            <a:ahLst/>
            <a:cxnLst/>
            <a:rect l="l" t="t" r="r" b="b"/>
            <a:pathLst>
              <a:path w="1651000" h="1470660">
                <a:moveTo>
                  <a:pt x="1650491" y="0"/>
                </a:moveTo>
                <a:lnTo>
                  <a:pt x="0" y="0"/>
                </a:lnTo>
                <a:lnTo>
                  <a:pt x="0" y="1470405"/>
                </a:lnTo>
                <a:lnTo>
                  <a:pt x="1650491" y="1470405"/>
                </a:lnTo>
                <a:lnTo>
                  <a:pt x="1650491" y="0"/>
                </a:lnTo>
                <a:close/>
              </a:path>
            </a:pathLst>
          </a:custGeom>
          <a:solidFill>
            <a:srgbClr val="051F79"/>
          </a:solidFill>
        </p:spPr>
        <p:txBody>
          <a:bodyPr wrap="square" lIns="0" tIns="0" rIns="0" bIns="0" rtlCol="0"/>
          <a:lstStyle/>
          <a:p>
            <a:endParaRPr/>
          </a:p>
        </p:txBody>
      </p:sp>
      <p:sp>
        <p:nvSpPr>
          <p:cNvPr id="11" name="object 11"/>
          <p:cNvSpPr/>
          <p:nvPr/>
        </p:nvSpPr>
        <p:spPr>
          <a:xfrm>
            <a:off x="7348728" y="2401750"/>
            <a:ext cx="1651000" cy="1467485"/>
          </a:xfrm>
          <a:custGeom>
            <a:avLst/>
            <a:gdLst/>
            <a:ahLst/>
            <a:cxnLst/>
            <a:rect l="l" t="t" r="r" b="b"/>
            <a:pathLst>
              <a:path w="1651000" h="1467485">
                <a:moveTo>
                  <a:pt x="1650492" y="0"/>
                </a:moveTo>
                <a:lnTo>
                  <a:pt x="0" y="0"/>
                </a:lnTo>
                <a:lnTo>
                  <a:pt x="0" y="1467358"/>
                </a:lnTo>
                <a:lnTo>
                  <a:pt x="1650492" y="1467358"/>
                </a:lnTo>
                <a:lnTo>
                  <a:pt x="1650492" y="0"/>
                </a:lnTo>
                <a:close/>
              </a:path>
            </a:pathLst>
          </a:custGeom>
          <a:solidFill>
            <a:srgbClr val="051F79"/>
          </a:solidFill>
        </p:spPr>
        <p:txBody>
          <a:bodyPr wrap="square" lIns="0" tIns="0" rIns="0" bIns="0" rtlCol="0"/>
          <a:lstStyle/>
          <a:p>
            <a:endParaRPr/>
          </a:p>
        </p:txBody>
      </p:sp>
      <p:sp>
        <p:nvSpPr>
          <p:cNvPr id="12" name="object 12"/>
          <p:cNvSpPr/>
          <p:nvPr/>
        </p:nvSpPr>
        <p:spPr>
          <a:xfrm>
            <a:off x="9659111" y="2465758"/>
            <a:ext cx="1651000" cy="1403350"/>
          </a:xfrm>
          <a:custGeom>
            <a:avLst/>
            <a:gdLst/>
            <a:ahLst/>
            <a:cxnLst/>
            <a:rect l="l" t="t" r="r" b="b"/>
            <a:pathLst>
              <a:path w="1651000" h="1403350">
                <a:moveTo>
                  <a:pt x="1650492" y="0"/>
                </a:moveTo>
                <a:lnTo>
                  <a:pt x="0" y="0"/>
                </a:lnTo>
                <a:lnTo>
                  <a:pt x="0" y="1403350"/>
                </a:lnTo>
                <a:lnTo>
                  <a:pt x="1650492" y="1403350"/>
                </a:lnTo>
                <a:lnTo>
                  <a:pt x="1650492" y="0"/>
                </a:lnTo>
                <a:close/>
              </a:path>
            </a:pathLst>
          </a:custGeom>
          <a:solidFill>
            <a:srgbClr val="051F79"/>
          </a:solidFill>
        </p:spPr>
        <p:txBody>
          <a:bodyPr wrap="square" lIns="0" tIns="0" rIns="0" bIns="0" rtlCol="0"/>
          <a:lstStyle/>
          <a:p>
            <a:endParaRPr/>
          </a:p>
        </p:txBody>
      </p:sp>
      <p:sp>
        <p:nvSpPr>
          <p:cNvPr id="13" name="object 13"/>
          <p:cNvSpPr/>
          <p:nvPr/>
        </p:nvSpPr>
        <p:spPr>
          <a:xfrm>
            <a:off x="2398776" y="1976808"/>
            <a:ext cx="0" cy="1892300"/>
          </a:xfrm>
          <a:custGeom>
            <a:avLst/>
            <a:gdLst/>
            <a:ahLst/>
            <a:cxnLst/>
            <a:rect l="l" t="t" r="r" b="b"/>
            <a:pathLst>
              <a:path h="1892300">
                <a:moveTo>
                  <a:pt x="0" y="1892300"/>
                </a:moveTo>
                <a:lnTo>
                  <a:pt x="0" y="0"/>
                </a:lnTo>
              </a:path>
            </a:pathLst>
          </a:custGeom>
          <a:ln w="9525">
            <a:solidFill>
              <a:srgbClr val="000000"/>
            </a:solidFill>
          </a:ln>
        </p:spPr>
        <p:txBody>
          <a:bodyPr wrap="square" lIns="0" tIns="0" rIns="0" bIns="0" rtlCol="0"/>
          <a:lstStyle/>
          <a:p>
            <a:endParaRPr/>
          </a:p>
        </p:txBody>
      </p:sp>
      <p:sp>
        <p:nvSpPr>
          <p:cNvPr id="14" name="object 14"/>
          <p:cNvSpPr/>
          <p:nvPr/>
        </p:nvSpPr>
        <p:spPr>
          <a:xfrm>
            <a:off x="2398776" y="3850566"/>
            <a:ext cx="9241155" cy="0"/>
          </a:xfrm>
          <a:custGeom>
            <a:avLst/>
            <a:gdLst/>
            <a:ahLst/>
            <a:cxnLst/>
            <a:rect l="l" t="t" r="r" b="b"/>
            <a:pathLst>
              <a:path w="9241155">
                <a:moveTo>
                  <a:pt x="0" y="0"/>
                </a:moveTo>
                <a:lnTo>
                  <a:pt x="9240774" y="0"/>
                </a:lnTo>
              </a:path>
            </a:pathLst>
          </a:custGeom>
          <a:ln w="9525">
            <a:solidFill>
              <a:srgbClr val="000000"/>
            </a:solidFill>
          </a:ln>
        </p:spPr>
        <p:txBody>
          <a:bodyPr wrap="square" lIns="0" tIns="0" rIns="0" bIns="0" rtlCol="0"/>
          <a:lstStyle/>
          <a:p>
            <a:endParaRPr/>
          </a:p>
        </p:txBody>
      </p:sp>
      <p:sp>
        <p:nvSpPr>
          <p:cNvPr id="15" name="object 15"/>
          <p:cNvSpPr/>
          <p:nvPr/>
        </p:nvSpPr>
        <p:spPr>
          <a:xfrm>
            <a:off x="3553840" y="2485062"/>
            <a:ext cx="6931025" cy="465455"/>
          </a:xfrm>
          <a:custGeom>
            <a:avLst/>
            <a:gdLst/>
            <a:ahLst/>
            <a:cxnLst/>
            <a:rect l="l" t="t" r="r" b="b"/>
            <a:pathLst>
              <a:path w="6931025" h="465455">
                <a:moveTo>
                  <a:pt x="0" y="0"/>
                </a:moveTo>
                <a:lnTo>
                  <a:pt x="2310511" y="98044"/>
                </a:lnTo>
                <a:lnTo>
                  <a:pt x="4620895" y="346456"/>
                </a:lnTo>
                <a:lnTo>
                  <a:pt x="6930644" y="464947"/>
                </a:lnTo>
              </a:path>
            </a:pathLst>
          </a:custGeom>
          <a:ln w="25399">
            <a:solidFill>
              <a:srgbClr val="00A9F4"/>
            </a:solidFill>
          </a:ln>
        </p:spPr>
        <p:txBody>
          <a:bodyPr wrap="square" lIns="0" tIns="0" rIns="0" bIns="0" rtlCol="0"/>
          <a:lstStyle/>
          <a:p>
            <a:endParaRPr/>
          </a:p>
        </p:txBody>
      </p:sp>
      <p:sp>
        <p:nvSpPr>
          <p:cNvPr id="16" name="object 16"/>
          <p:cNvSpPr txBox="1"/>
          <p:nvPr/>
        </p:nvSpPr>
        <p:spPr>
          <a:xfrm>
            <a:off x="2198877" y="3131492"/>
            <a:ext cx="110489" cy="838835"/>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4</a:t>
            </a:r>
            <a:endParaRPr sz="1200">
              <a:latin typeface="Arial"/>
              <a:cs typeface="Arial"/>
            </a:endParaRPr>
          </a:p>
          <a:p>
            <a:pPr marL="12700">
              <a:lnSpc>
                <a:spcPct val="100000"/>
              </a:lnSpc>
              <a:spcBef>
                <a:spcPts val="1035"/>
              </a:spcBef>
            </a:pPr>
            <a:r>
              <a:rPr sz="1200" dirty="0">
                <a:latin typeface="Arial"/>
                <a:cs typeface="Arial"/>
              </a:rPr>
              <a:t>2</a:t>
            </a:r>
            <a:endParaRPr sz="1200">
              <a:latin typeface="Arial"/>
              <a:cs typeface="Arial"/>
            </a:endParaRPr>
          </a:p>
          <a:p>
            <a:pPr marL="12700">
              <a:lnSpc>
                <a:spcPct val="100000"/>
              </a:lnSpc>
              <a:spcBef>
                <a:spcPts val="1045"/>
              </a:spcBef>
            </a:pPr>
            <a:r>
              <a:rPr sz="1200" dirty="0">
                <a:latin typeface="Arial"/>
                <a:cs typeface="Arial"/>
              </a:rPr>
              <a:t>0</a:t>
            </a:r>
            <a:endParaRPr sz="1200">
              <a:latin typeface="Arial"/>
              <a:cs typeface="Arial"/>
            </a:endParaRPr>
          </a:p>
        </p:txBody>
      </p:sp>
      <p:sp>
        <p:nvSpPr>
          <p:cNvPr id="17" name="object 17"/>
          <p:cNvSpPr txBox="1"/>
          <p:nvPr/>
        </p:nvSpPr>
        <p:spPr>
          <a:xfrm>
            <a:off x="2198877" y="2815769"/>
            <a:ext cx="110489"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6</a:t>
            </a:r>
          </a:p>
        </p:txBody>
      </p:sp>
      <p:sp>
        <p:nvSpPr>
          <p:cNvPr id="18" name="object 18"/>
          <p:cNvSpPr txBox="1"/>
          <p:nvPr/>
        </p:nvSpPr>
        <p:spPr>
          <a:xfrm>
            <a:off x="2198877" y="2499667"/>
            <a:ext cx="110489"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8</a:t>
            </a:r>
            <a:endParaRPr sz="1200">
              <a:latin typeface="Arial"/>
              <a:cs typeface="Arial"/>
            </a:endParaRPr>
          </a:p>
        </p:txBody>
      </p:sp>
      <p:sp>
        <p:nvSpPr>
          <p:cNvPr id="19" name="object 19"/>
          <p:cNvSpPr txBox="1"/>
          <p:nvPr/>
        </p:nvSpPr>
        <p:spPr>
          <a:xfrm>
            <a:off x="2113279" y="1869366"/>
            <a:ext cx="196215" cy="524510"/>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12</a:t>
            </a:r>
            <a:endParaRPr sz="1200">
              <a:latin typeface="Arial"/>
              <a:cs typeface="Arial"/>
            </a:endParaRPr>
          </a:p>
          <a:p>
            <a:pPr marL="12700">
              <a:lnSpc>
                <a:spcPct val="100000"/>
              </a:lnSpc>
              <a:spcBef>
                <a:spcPts val="1045"/>
              </a:spcBef>
            </a:pPr>
            <a:r>
              <a:rPr sz="1200" dirty="0">
                <a:latin typeface="Arial"/>
                <a:cs typeface="Arial"/>
              </a:rPr>
              <a:t>10</a:t>
            </a:r>
            <a:endParaRPr sz="1200">
              <a:latin typeface="Arial"/>
              <a:cs typeface="Arial"/>
            </a:endParaRPr>
          </a:p>
        </p:txBody>
      </p:sp>
      <p:sp>
        <p:nvSpPr>
          <p:cNvPr id="20" name="object 20"/>
          <p:cNvSpPr/>
          <p:nvPr/>
        </p:nvSpPr>
        <p:spPr>
          <a:xfrm>
            <a:off x="8174101" y="2851456"/>
            <a:ext cx="0" cy="36830"/>
          </a:xfrm>
          <a:custGeom>
            <a:avLst/>
            <a:gdLst/>
            <a:ahLst/>
            <a:cxnLst/>
            <a:rect l="l" t="t" r="r" b="b"/>
            <a:pathLst>
              <a:path h="36830">
                <a:moveTo>
                  <a:pt x="0" y="36575"/>
                </a:moveTo>
                <a:lnTo>
                  <a:pt x="0" y="0"/>
                </a:lnTo>
              </a:path>
            </a:pathLst>
          </a:custGeom>
          <a:ln w="9525">
            <a:solidFill>
              <a:srgbClr val="000000"/>
            </a:solidFill>
          </a:ln>
        </p:spPr>
        <p:txBody>
          <a:bodyPr wrap="square" lIns="0" tIns="0" rIns="0" bIns="0" rtlCol="0"/>
          <a:lstStyle/>
          <a:p>
            <a:endParaRPr/>
          </a:p>
        </p:txBody>
      </p:sp>
      <p:sp>
        <p:nvSpPr>
          <p:cNvPr id="21" name="object 21"/>
          <p:cNvSpPr/>
          <p:nvPr/>
        </p:nvSpPr>
        <p:spPr>
          <a:xfrm>
            <a:off x="10483850" y="2970583"/>
            <a:ext cx="0" cy="36830"/>
          </a:xfrm>
          <a:custGeom>
            <a:avLst/>
            <a:gdLst/>
            <a:ahLst/>
            <a:cxnLst/>
            <a:rect l="l" t="t" r="r" b="b"/>
            <a:pathLst>
              <a:path h="36830">
                <a:moveTo>
                  <a:pt x="0" y="36575"/>
                </a:moveTo>
                <a:lnTo>
                  <a:pt x="0" y="0"/>
                </a:lnTo>
              </a:path>
            </a:pathLst>
          </a:custGeom>
          <a:ln w="9525">
            <a:solidFill>
              <a:srgbClr val="000000"/>
            </a:solidFill>
          </a:ln>
        </p:spPr>
        <p:txBody>
          <a:bodyPr wrap="square" lIns="0" tIns="0" rIns="0" bIns="0" rtlCol="0"/>
          <a:lstStyle/>
          <a:p>
            <a:endParaRPr/>
          </a:p>
        </p:txBody>
      </p:sp>
      <p:sp>
        <p:nvSpPr>
          <p:cNvPr id="22" name="object 22"/>
          <p:cNvSpPr txBox="1"/>
          <p:nvPr/>
        </p:nvSpPr>
        <p:spPr>
          <a:xfrm>
            <a:off x="560705" y="1941757"/>
            <a:ext cx="810895"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Arial"/>
                <a:cs typeface="Arial"/>
              </a:rPr>
              <a:t>Volumes,</a:t>
            </a:r>
            <a:r>
              <a:rPr sz="1200" b="1" spc="-95" dirty="0">
                <a:latin typeface="Arial"/>
                <a:cs typeface="Arial"/>
              </a:rPr>
              <a:t> </a:t>
            </a:r>
            <a:r>
              <a:rPr sz="1200" dirty="0">
                <a:latin typeface="Arial"/>
                <a:cs typeface="Arial"/>
              </a:rPr>
              <a:t>k</a:t>
            </a:r>
          </a:p>
        </p:txBody>
      </p:sp>
      <p:sp>
        <p:nvSpPr>
          <p:cNvPr id="23" name="object 23"/>
          <p:cNvSpPr txBox="1"/>
          <p:nvPr/>
        </p:nvSpPr>
        <p:spPr>
          <a:xfrm>
            <a:off x="3400933" y="2525321"/>
            <a:ext cx="319405" cy="208279"/>
          </a:xfrm>
          <a:prstGeom prst="rect">
            <a:avLst/>
          </a:prstGeom>
        </p:spPr>
        <p:txBody>
          <a:bodyPr vert="horz" wrap="square" lIns="0" tIns="12700" rIns="0" bIns="0" rtlCol="0">
            <a:spAutoFit/>
          </a:bodyPr>
          <a:lstStyle/>
          <a:p>
            <a:pPr>
              <a:lnSpc>
                <a:spcPct val="100000"/>
              </a:lnSpc>
              <a:spcBef>
                <a:spcPts val="100"/>
              </a:spcBef>
            </a:pPr>
            <a:r>
              <a:rPr sz="1200" dirty="0">
                <a:solidFill>
                  <a:srgbClr val="FFFFFF"/>
                </a:solidFill>
                <a:latin typeface="Arial"/>
                <a:cs typeface="Arial"/>
              </a:rPr>
              <a:t>46%</a:t>
            </a:r>
            <a:endParaRPr sz="1200">
              <a:latin typeface="Arial"/>
              <a:cs typeface="Arial"/>
            </a:endParaRPr>
          </a:p>
        </p:txBody>
      </p:sp>
      <p:sp>
        <p:nvSpPr>
          <p:cNvPr id="24" name="object 24"/>
          <p:cNvSpPr txBox="1"/>
          <p:nvPr/>
        </p:nvSpPr>
        <p:spPr>
          <a:xfrm>
            <a:off x="3369055" y="3850566"/>
            <a:ext cx="36703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Arial"/>
                <a:cs typeface="Arial"/>
              </a:rPr>
              <a:t>2021</a:t>
            </a:r>
            <a:endParaRPr sz="1200" dirty="0">
              <a:latin typeface="Arial"/>
              <a:cs typeface="Arial"/>
            </a:endParaRPr>
          </a:p>
        </p:txBody>
      </p:sp>
      <p:sp>
        <p:nvSpPr>
          <p:cNvPr id="25" name="object 25"/>
          <p:cNvSpPr txBox="1"/>
          <p:nvPr/>
        </p:nvSpPr>
        <p:spPr>
          <a:xfrm>
            <a:off x="5712586" y="2622222"/>
            <a:ext cx="319405" cy="208279"/>
          </a:xfrm>
          <a:prstGeom prst="rect">
            <a:avLst/>
          </a:prstGeom>
        </p:spPr>
        <p:txBody>
          <a:bodyPr vert="horz" wrap="square" lIns="0" tIns="12700" rIns="0" bIns="0" rtlCol="0">
            <a:spAutoFit/>
          </a:bodyPr>
          <a:lstStyle/>
          <a:p>
            <a:pPr>
              <a:lnSpc>
                <a:spcPct val="100000"/>
              </a:lnSpc>
              <a:spcBef>
                <a:spcPts val="100"/>
              </a:spcBef>
            </a:pPr>
            <a:r>
              <a:rPr sz="1200" dirty="0">
                <a:solidFill>
                  <a:srgbClr val="FFFFFF"/>
                </a:solidFill>
                <a:latin typeface="Arial"/>
                <a:cs typeface="Arial"/>
              </a:rPr>
              <a:t>44%</a:t>
            </a:r>
            <a:endParaRPr sz="1200" dirty="0">
              <a:latin typeface="Arial"/>
              <a:cs typeface="Arial"/>
            </a:endParaRPr>
          </a:p>
        </p:txBody>
      </p:sp>
      <p:sp>
        <p:nvSpPr>
          <p:cNvPr id="26" name="object 26"/>
          <p:cNvSpPr txBox="1"/>
          <p:nvPr/>
        </p:nvSpPr>
        <p:spPr>
          <a:xfrm>
            <a:off x="5680709" y="3850566"/>
            <a:ext cx="36703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Arial"/>
                <a:cs typeface="Arial"/>
              </a:rPr>
              <a:t>2022</a:t>
            </a:r>
            <a:endParaRPr sz="1200">
              <a:latin typeface="Arial"/>
              <a:cs typeface="Arial"/>
            </a:endParaRPr>
          </a:p>
        </p:txBody>
      </p:sp>
      <p:sp>
        <p:nvSpPr>
          <p:cNvPr id="27" name="object 27"/>
          <p:cNvSpPr txBox="1"/>
          <p:nvPr/>
        </p:nvSpPr>
        <p:spPr>
          <a:xfrm>
            <a:off x="8022590" y="2871523"/>
            <a:ext cx="319405" cy="208279"/>
          </a:xfrm>
          <a:prstGeom prst="rect">
            <a:avLst/>
          </a:prstGeom>
        </p:spPr>
        <p:txBody>
          <a:bodyPr vert="horz" wrap="square" lIns="0" tIns="12700" rIns="0" bIns="0" rtlCol="0">
            <a:spAutoFit/>
          </a:bodyPr>
          <a:lstStyle/>
          <a:p>
            <a:pPr>
              <a:lnSpc>
                <a:spcPct val="100000"/>
              </a:lnSpc>
              <a:spcBef>
                <a:spcPts val="100"/>
              </a:spcBef>
            </a:pPr>
            <a:r>
              <a:rPr sz="1200" dirty="0">
                <a:solidFill>
                  <a:srgbClr val="FFFFFF"/>
                </a:solidFill>
                <a:latin typeface="Arial"/>
                <a:cs typeface="Arial"/>
              </a:rPr>
              <a:t>39%</a:t>
            </a:r>
            <a:endParaRPr sz="1200" dirty="0">
              <a:latin typeface="Arial"/>
              <a:cs typeface="Arial"/>
            </a:endParaRPr>
          </a:p>
        </p:txBody>
      </p:sp>
      <p:sp>
        <p:nvSpPr>
          <p:cNvPr id="28" name="object 28"/>
          <p:cNvSpPr txBox="1"/>
          <p:nvPr/>
        </p:nvSpPr>
        <p:spPr>
          <a:xfrm>
            <a:off x="7990713" y="3850566"/>
            <a:ext cx="36703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Arial"/>
                <a:cs typeface="Arial"/>
              </a:rPr>
              <a:t>2023</a:t>
            </a:r>
            <a:endParaRPr sz="1200">
              <a:latin typeface="Arial"/>
              <a:cs typeface="Arial"/>
            </a:endParaRPr>
          </a:p>
        </p:txBody>
      </p:sp>
      <p:sp>
        <p:nvSpPr>
          <p:cNvPr id="29" name="object 29"/>
          <p:cNvSpPr txBox="1"/>
          <p:nvPr/>
        </p:nvSpPr>
        <p:spPr>
          <a:xfrm>
            <a:off x="10332719" y="2990394"/>
            <a:ext cx="319405" cy="208279"/>
          </a:xfrm>
          <a:prstGeom prst="rect">
            <a:avLst/>
          </a:prstGeom>
        </p:spPr>
        <p:txBody>
          <a:bodyPr vert="horz" wrap="square" lIns="0" tIns="12700" rIns="0" bIns="0" rtlCol="0">
            <a:spAutoFit/>
          </a:bodyPr>
          <a:lstStyle/>
          <a:p>
            <a:pPr>
              <a:lnSpc>
                <a:spcPct val="100000"/>
              </a:lnSpc>
              <a:spcBef>
                <a:spcPts val="100"/>
              </a:spcBef>
            </a:pPr>
            <a:r>
              <a:rPr sz="1200" dirty="0">
                <a:solidFill>
                  <a:srgbClr val="FFFFFF"/>
                </a:solidFill>
                <a:latin typeface="Arial"/>
                <a:cs typeface="Arial"/>
              </a:rPr>
              <a:t>3</a:t>
            </a:r>
            <a:r>
              <a:rPr sz="1200" spc="5" dirty="0">
                <a:solidFill>
                  <a:srgbClr val="FFFFFF"/>
                </a:solidFill>
                <a:latin typeface="Arial"/>
                <a:cs typeface="Arial"/>
              </a:rPr>
              <a:t>7</a:t>
            </a:r>
            <a:r>
              <a:rPr sz="1200" dirty="0">
                <a:solidFill>
                  <a:srgbClr val="FFFFFF"/>
                </a:solidFill>
                <a:latin typeface="Arial"/>
                <a:cs typeface="Arial"/>
              </a:rPr>
              <a:t>%</a:t>
            </a:r>
            <a:endParaRPr sz="1200">
              <a:latin typeface="Arial"/>
              <a:cs typeface="Arial"/>
            </a:endParaRPr>
          </a:p>
        </p:txBody>
      </p:sp>
      <p:sp>
        <p:nvSpPr>
          <p:cNvPr id="30" name="object 30"/>
          <p:cNvSpPr txBox="1"/>
          <p:nvPr/>
        </p:nvSpPr>
        <p:spPr>
          <a:xfrm>
            <a:off x="10300843" y="3850566"/>
            <a:ext cx="36703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Arial"/>
                <a:cs typeface="Arial"/>
              </a:rPr>
              <a:t>2024</a:t>
            </a:r>
            <a:endParaRPr sz="1200">
              <a:latin typeface="Arial"/>
              <a:cs typeface="Arial"/>
            </a:endParaRPr>
          </a:p>
        </p:txBody>
      </p:sp>
      <p:sp>
        <p:nvSpPr>
          <p:cNvPr id="31" name="object 31"/>
          <p:cNvSpPr txBox="1"/>
          <p:nvPr/>
        </p:nvSpPr>
        <p:spPr>
          <a:xfrm>
            <a:off x="3391280" y="2034211"/>
            <a:ext cx="32321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10.2</a:t>
            </a:r>
            <a:endParaRPr sz="1200">
              <a:latin typeface="Arial"/>
              <a:cs typeface="Arial"/>
            </a:endParaRPr>
          </a:p>
        </p:txBody>
      </p:sp>
      <p:sp>
        <p:nvSpPr>
          <p:cNvPr id="32" name="object 32"/>
          <p:cNvSpPr txBox="1"/>
          <p:nvPr/>
        </p:nvSpPr>
        <p:spPr>
          <a:xfrm>
            <a:off x="5747384" y="2174166"/>
            <a:ext cx="23812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9.3</a:t>
            </a:r>
            <a:endParaRPr sz="1200">
              <a:latin typeface="Arial"/>
              <a:cs typeface="Arial"/>
            </a:endParaRPr>
          </a:p>
        </p:txBody>
      </p:sp>
      <p:sp>
        <p:nvSpPr>
          <p:cNvPr id="33" name="object 33"/>
          <p:cNvSpPr txBox="1"/>
          <p:nvPr/>
        </p:nvSpPr>
        <p:spPr>
          <a:xfrm>
            <a:off x="8057515" y="2177213"/>
            <a:ext cx="23812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9.3</a:t>
            </a:r>
            <a:endParaRPr sz="1200">
              <a:latin typeface="Arial"/>
              <a:cs typeface="Arial"/>
            </a:endParaRPr>
          </a:p>
        </p:txBody>
      </p:sp>
      <p:sp>
        <p:nvSpPr>
          <p:cNvPr id="34" name="object 34"/>
          <p:cNvSpPr txBox="1"/>
          <p:nvPr/>
        </p:nvSpPr>
        <p:spPr>
          <a:xfrm>
            <a:off x="10367518" y="2240282"/>
            <a:ext cx="238760" cy="208915"/>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8.9</a:t>
            </a:r>
            <a:endParaRPr sz="1200">
              <a:latin typeface="Arial"/>
              <a:cs typeface="Arial"/>
            </a:endParaRPr>
          </a:p>
        </p:txBody>
      </p:sp>
      <p:sp>
        <p:nvSpPr>
          <p:cNvPr id="35" name="object 35"/>
          <p:cNvSpPr/>
          <p:nvPr/>
        </p:nvSpPr>
        <p:spPr>
          <a:xfrm>
            <a:off x="7661275" y="2029513"/>
            <a:ext cx="139700" cy="0"/>
          </a:xfrm>
          <a:custGeom>
            <a:avLst/>
            <a:gdLst/>
            <a:ahLst/>
            <a:cxnLst/>
            <a:rect l="l" t="t" r="r" b="b"/>
            <a:pathLst>
              <a:path w="139700">
                <a:moveTo>
                  <a:pt x="0" y="0"/>
                </a:moveTo>
                <a:lnTo>
                  <a:pt x="139700" y="0"/>
                </a:lnTo>
              </a:path>
            </a:pathLst>
          </a:custGeom>
          <a:ln w="25400">
            <a:solidFill>
              <a:srgbClr val="00A9F4"/>
            </a:solidFill>
          </a:ln>
        </p:spPr>
        <p:txBody>
          <a:bodyPr wrap="square" lIns="0" tIns="0" rIns="0" bIns="0" rtlCol="0"/>
          <a:lstStyle/>
          <a:p>
            <a:endParaRPr/>
          </a:p>
        </p:txBody>
      </p:sp>
      <p:sp>
        <p:nvSpPr>
          <p:cNvPr id="36" name="object 36"/>
          <p:cNvSpPr/>
          <p:nvPr/>
        </p:nvSpPr>
        <p:spPr>
          <a:xfrm>
            <a:off x="9213850" y="1946963"/>
            <a:ext cx="165100" cy="165100"/>
          </a:xfrm>
          <a:custGeom>
            <a:avLst/>
            <a:gdLst/>
            <a:ahLst/>
            <a:cxnLst/>
            <a:rect l="l" t="t" r="r" b="b"/>
            <a:pathLst>
              <a:path w="165100" h="165100">
                <a:moveTo>
                  <a:pt x="0" y="165100"/>
                </a:moveTo>
                <a:lnTo>
                  <a:pt x="165100" y="165100"/>
                </a:lnTo>
                <a:lnTo>
                  <a:pt x="165100" y="0"/>
                </a:lnTo>
                <a:lnTo>
                  <a:pt x="0" y="0"/>
                </a:lnTo>
                <a:lnTo>
                  <a:pt x="0" y="165100"/>
                </a:lnTo>
                <a:close/>
              </a:path>
            </a:pathLst>
          </a:custGeom>
          <a:solidFill>
            <a:srgbClr val="051F79"/>
          </a:solidFill>
        </p:spPr>
        <p:txBody>
          <a:bodyPr wrap="square" lIns="0" tIns="0" rIns="0" bIns="0" rtlCol="0"/>
          <a:lstStyle/>
          <a:p>
            <a:endParaRPr/>
          </a:p>
        </p:txBody>
      </p:sp>
      <p:sp>
        <p:nvSpPr>
          <p:cNvPr id="37" name="object 37"/>
          <p:cNvSpPr txBox="1"/>
          <p:nvPr/>
        </p:nvSpPr>
        <p:spPr>
          <a:xfrm>
            <a:off x="7827264" y="1928293"/>
            <a:ext cx="1325245" cy="208279"/>
          </a:xfrm>
          <a:prstGeom prst="rect">
            <a:avLst/>
          </a:prstGeom>
        </p:spPr>
        <p:txBody>
          <a:bodyPr vert="horz" wrap="square" lIns="0" tIns="12700" rIns="0" bIns="0" rtlCol="0">
            <a:spAutoFit/>
          </a:bodyPr>
          <a:lstStyle/>
          <a:p>
            <a:pPr marL="38100">
              <a:lnSpc>
                <a:spcPct val="100000"/>
              </a:lnSpc>
              <a:spcBef>
                <a:spcPts val="100"/>
              </a:spcBef>
            </a:pPr>
            <a:r>
              <a:rPr sz="1200" spc="-5" dirty="0">
                <a:latin typeface="Arial"/>
                <a:cs typeface="Arial"/>
              </a:rPr>
              <a:t>ERB </a:t>
            </a:r>
            <a:r>
              <a:rPr sz="1200" dirty="0">
                <a:latin typeface="Arial"/>
                <a:cs typeface="Arial"/>
              </a:rPr>
              <a:t>booking</a:t>
            </a:r>
            <a:r>
              <a:rPr sz="1200" spc="-95" dirty="0">
                <a:latin typeface="Arial"/>
                <a:cs typeface="Arial"/>
              </a:rPr>
              <a:t> </a:t>
            </a:r>
            <a:r>
              <a:rPr sz="1200" dirty="0">
                <a:latin typeface="Arial"/>
                <a:cs typeface="Arial"/>
              </a:rPr>
              <a:t>rate</a:t>
            </a:r>
            <a:r>
              <a:rPr sz="1200" baseline="24305" dirty="0">
                <a:latin typeface="Arial"/>
                <a:cs typeface="Arial"/>
              </a:rPr>
              <a:t>1</a:t>
            </a:r>
          </a:p>
        </p:txBody>
      </p:sp>
      <p:sp>
        <p:nvSpPr>
          <p:cNvPr id="38" name="object 38"/>
          <p:cNvSpPr txBox="1"/>
          <p:nvPr/>
        </p:nvSpPr>
        <p:spPr>
          <a:xfrm>
            <a:off x="9418446" y="1928293"/>
            <a:ext cx="218186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ERB </a:t>
            </a:r>
            <a:r>
              <a:rPr sz="1200" dirty="0">
                <a:latin typeface="Arial"/>
                <a:cs typeface="Arial"/>
              </a:rPr>
              <a:t>total auto </a:t>
            </a:r>
            <a:r>
              <a:rPr sz="1200" spc="-5" dirty="0">
                <a:latin typeface="Arial"/>
                <a:cs typeface="Arial"/>
              </a:rPr>
              <a:t>loan</a:t>
            </a:r>
            <a:r>
              <a:rPr sz="1200" spc="-95" dirty="0">
                <a:latin typeface="Arial"/>
                <a:cs typeface="Arial"/>
              </a:rPr>
              <a:t> </a:t>
            </a:r>
            <a:r>
              <a:rPr sz="1200" spc="-5" dirty="0">
                <a:latin typeface="Arial"/>
                <a:cs typeface="Arial"/>
              </a:rPr>
              <a:t>applications</a:t>
            </a:r>
            <a:endParaRPr sz="1200">
              <a:latin typeface="Arial"/>
              <a:cs typeface="Arial"/>
            </a:endParaRPr>
          </a:p>
        </p:txBody>
      </p:sp>
      <p:sp>
        <p:nvSpPr>
          <p:cNvPr id="39" name="object 39"/>
          <p:cNvSpPr/>
          <p:nvPr/>
        </p:nvSpPr>
        <p:spPr>
          <a:xfrm>
            <a:off x="3150742" y="4722420"/>
            <a:ext cx="804545" cy="269875"/>
          </a:xfrm>
          <a:custGeom>
            <a:avLst/>
            <a:gdLst/>
            <a:ahLst/>
            <a:cxnLst/>
            <a:rect l="l" t="t" r="r" b="b"/>
            <a:pathLst>
              <a:path w="804545" h="269875">
                <a:moveTo>
                  <a:pt x="0" y="134874"/>
                </a:moveTo>
                <a:lnTo>
                  <a:pt x="20492" y="92269"/>
                </a:lnTo>
                <a:lnTo>
                  <a:pt x="77561" y="55248"/>
                </a:lnTo>
                <a:lnTo>
                  <a:pt x="117744" y="39528"/>
                </a:lnTo>
                <a:lnTo>
                  <a:pt x="164592" y="26042"/>
                </a:lnTo>
                <a:lnTo>
                  <a:pt x="217276" y="15067"/>
                </a:lnTo>
                <a:lnTo>
                  <a:pt x="274970" y="6882"/>
                </a:lnTo>
                <a:lnTo>
                  <a:pt x="336847" y="1767"/>
                </a:lnTo>
                <a:lnTo>
                  <a:pt x="402081" y="0"/>
                </a:lnTo>
                <a:lnTo>
                  <a:pt x="467316" y="1767"/>
                </a:lnTo>
                <a:lnTo>
                  <a:pt x="529193" y="6882"/>
                </a:lnTo>
                <a:lnTo>
                  <a:pt x="586887" y="15067"/>
                </a:lnTo>
                <a:lnTo>
                  <a:pt x="639571" y="26042"/>
                </a:lnTo>
                <a:lnTo>
                  <a:pt x="686419" y="39528"/>
                </a:lnTo>
                <a:lnTo>
                  <a:pt x="726602" y="55248"/>
                </a:lnTo>
                <a:lnTo>
                  <a:pt x="783671" y="92269"/>
                </a:lnTo>
                <a:lnTo>
                  <a:pt x="804164" y="134874"/>
                </a:lnTo>
                <a:lnTo>
                  <a:pt x="798903" y="156769"/>
                </a:lnTo>
                <a:lnTo>
                  <a:pt x="759295" y="196910"/>
                </a:lnTo>
                <a:lnTo>
                  <a:pt x="686419" y="230330"/>
                </a:lnTo>
                <a:lnTo>
                  <a:pt x="639572" y="243824"/>
                </a:lnTo>
                <a:lnTo>
                  <a:pt x="586887" y="254804"/>
                </a:lnTo>
                <a:lnTo>
                  <a:pt x="529193" y="262991"/>
                </a:lnTo>
                <a:lnTo>
                  <a:pt x="467316" y="268107"/>
                </a:lnTo>
                <a:lnTo>
                  <a:pt x="402081" y="269875"/>
                </a:lnTo>
                <a:lnTo>
                  <a:pt x="336847" y="268107"/>
                </a:lnTo>
                <a:lnTo>
                  <a:pt x="274970" y="262991"/>
                </a:lnTo>
                <a:lnTo>
                  <a:pt x="217276" y="254804"/>
                </a:lnTo>
                <a:lnTo>
                  <a:pt x="164592" y="243824"/>
                </a:lnTo>
                <a:lnTo>
                  <a:pt x="117744" y="230330"/>
                </a:lnTo>
                <a:lnTo>
                  <a:pt x="77561" y="214599"/>
                </a:lnTo>
                <a:lnTo>
                  <a:pt x="20492" y="177540"/>
                </a:lnTo>
                <a:lnTo>
                  <a:pt x="0" y="134874"/>
                </a:lnTo>
                <a:close/>
              </a:path>
            </a:pathLst>
          </a:custGeom>
          <a:ln w="6349">
            <a:solidFill>
              <a:srgbClr val="051F79"/>
            </a:solidFill>
          </a:ln>
        </p:spPr>
        <p:txBody>
          <a:bodyPr wrap="square" lIns="0" tIns="0" rIns="0" bIns="0" rtlCol="0"/>
          <a:lstStyle/>
          <a:p>
            <a:endParaRPr/>
          </a:p>
        </p:txBody>
      </p:sp>
      <p:sp>
        <p:nvSpPr>
          <p:cNvPr id="40" name="object 40"/>
          <p:cNvSpPr txBox="1"/>
          <p:nvPr/>
        </p:nvSpPr>
        <p:spPr>
          <a:xfrm>
            <a:off x="3359911" y="4757217"/>
            <a:ext cx="387985" cy="193675"/>
          </a:xfrm>
          <a:prstGeom prst="rect">
            <a:avLst/>
          </a:prstGeom>
        </p:spPr>
        <p:txBody>
          <a:bodyPr vert="horz" wrap="square" lIns="0" tIns="12700" rIns="0" bIns="0" rtlCol="0">
            <a:spAutoFit/>
          </a:bodyPr>
          <a:lstStyle/>
          <a:p>
            <a:pPr marL="12700">
              <a:lnSpc>
                <a:spcPct val="100000"/>
              </a:lnSpc>
              <a:spcBef>
                <a:spcPts val="100"/>
              </a:spcBef>
            </a:pPr>
            <a:r>
              <a:rPr sz="1100" b="1" dirty="0">
                <a:solidFill>
                  <a:srgbClr val="051F79"/>
                </a:solidFill>
                <a:latin typeface="Arial"/>
                <a:cs typeface="Arial"/>
              </a:rPr>
              <a:t>~22%</a:t>
            </a:r>
            <a:endParaRPr sz="1100">
              <a:latin typeface="Arial"/>
              <a:cs typeface="Arial"/>
            </a:endParaRPr>
          </a:p>
        </p:txBody>
      </p:sp>
      <p:sp>
        <p:nvSpPr>
          <p:cNvPr id="41" name="object 41"/>
          <p:cNvSpPr/>
          <p:nvPr/>
        </p:nvSpPr>
        <p:spPr>
          <a:xfrm>
            <a:off x="3150742" y="4150920"/>
            <a:ext cx="804545" cy="269875"/>
          </a:xfrm>
          <a:custGeom>
            <a:avLst/>
            <a:gdLst/>
            <a:ahLst/>
            <a:cxnLst/>
            <a:rect l="l" t="t" r="r" b="b"/>
            <a:pathLst>
              <a:path w="804545" h="269875">
                <a:moveTo>
                  <a:pt x="402081" y="0"/>
                </a:moveTo>
                <a:lnTo>
                  <a:pt x="336847" y="1767"/>
                </a:lnTo>
                <a:lnTo>
                  <a:pt x="274970" y="6882"/>
                </a:lnTo>
                <a:lnTo>
                  <a:pt x="217276" y="15067"/>
                </a:lnTo>
                <a:lnTo>
                  <a:pt x="164591" y="26042"/>
                </a:lnTo>
                <a:lnTo>
                  <a:pt x="117744" y="39528"/>
                </a:lnTo>
                <a:lnTo>
                  <a:pt x="77561" y="55248"/>
                </a:lnTo>
                <a:lnTo>
                  <a:pt x="20492" y="92269"/>
                </a:lnTo>
                <a:lnTo>
                  <a:pt x="0" y="134874"/>
                </a:lnTo>
                <a:lnTo>
                  <a:pt x="5260" y="156769"/>
                </a:lnTo>
                <a:lnTo>
                  <a:pt x="44868" y="196910"/>
                </a:lnTo>
                <a:lnTo>
                  <a:pt x="117744" y="230330"/>
                </a:lnTo>
                <a:lnTo>
                  <a:pt x="164592" y="243824"/>
                </a:lnTo>
                <a:lnTo>
                  <a:pt x="217276" y="254804"/>
                </a:lnTo>
                <a:lnTo>
                  <a:pt x="274970" y="262991"/>
                </a:lnTo>
                <a:lnTo>
                  <a:pt x="336847" y="268107"/>
                </a:lnTo>
                <a:lnTo>
                  <a:pt x="402081" y="269875"/>
                </a:lnTo>
                <a:lnTo>
                  <a:pt x="467316" y="268107"/>
                </a:lnTo>
                <a:lnTo>
                  <a:pt x="529193" y="262991"/>
                </a:lnTo>
                <a:lnTo>
                  <a:pt x="586887" y="254804"/>
                </a:lnTo>
                <a:lnTo>
                  <a:pt x="639572" y="243824"/>
                </a:lnTo>
                <a:lnTo>
                  <a:pt x="686419" y="230330"/>
                </a:lnTo>
                <a:lnTo>
                  <a:pt x="726602" y="214599"/>
                </a:lnTo>
                <a:lnTo>
                  <a:pt x="783671" y="177540"/>
                </a:lnTo>
                <a:lnTo>
                  <a:pt x="804164" y="134874"/>
                </a:lnTo>
                <a:lnTo>
                  <a:pt x="798903" y="113012"/>
                </a:lnTo>
                <a:lnTo>
                  <a:pt x="759295" y="72921"/>
                </a:lnTo>
                <a:lnTo>
                  <a:pt x="686419" y="39528"/>
                </a:lnTo>
                <a:lnTo>
                  <a:pt x="639571" y="26042"/>
                </a:lnTo>
                <a:lnTo>
                  <a:pt x="586887" y="15067"/>
                </a:lnTo>
                <a:lnTo>
                  <a:pt x="529193" y="6882"/>
                </a:lnTo>
                <a:lnTo>
                  <a:pt x="467316" y="1767"/>
                </a:lnTo>
                <a:lnTo>
                  <a:pt x="402081" y="0"/>
                </a:lnTo>
                <a:close/>
              </a:path>
            </a:pathLst>
          </a:custGeom>
          <a:solidFill>
            <a:srgbClr val="CCCCCC"/>
          </a:solidFill>
        </p:spPr>
        <p:txBody>
          <a:bodyPr wrap="square" lIns="0" tIns="0" rIns="0" bIns="0" rtlCol="0"/>
          <a:lstStyle/>
          <a:p>
            <a:endParaRPr/>
          </a:p>
        </p:txBody>
      </p:sp>
      <p:sp>
        <p:nvSpPr>
          <p:cNvPr id="42" name="object 42"/>
          <p:cNvSpPr txBox="1"/>
          <p:nvPr/>
        </p:nvSpPr>
        <p:spPr>
          <a:xfrm>
            <a:off x="3359911" y="4185717"/>
            <a:ext cx="387985" cy="193675"/>
          </a:xfrm>
          <a:prstGeom prst="rect">
            <a:avLst/>
          </a:prstGeom>
        </p:spPr>
        <p:txBody>
          <a:bodyPr vert="horz" wrap="square" lIns="0" tIns="12700" rIns="0" bIns="0" rtlCol="0">
            <a:spAutoFit/>
          </a:bodyPr>
          <a:lstStyle/>
          <a:p>
            <a:pPr marL="12700">
              <a:lnSpc>
                <a:spcPct val="100000"/>
              </a:lnSpc>
              <a:spcBef>
                <a:spcPts val="100"/>
              </a:spcBef>
            </a:pPr>
            <a:r>
              <a:rPr sz="1100" b="1" dirty="0">
                <a:latin typeface="Arial"/>
                <a:cs typeface="Arial"/>
              </a:rPr>
              <a:t>~50%</a:t>
            </a:r>
            <a:endParaRPr sz="1100">
              <a:latin typeface="Arial"/>
              <a:cs typeface="Arial"/>
            </a:endParaRPr>
          </a:p>
        </p:txBody>
      </p:sp>
      <p:sp>
        <p:nvSpPr>
          <p:cNvPr id="43" name="object 43"/>
          <p:cNvSpPr/>
          <p:nvPr/>
        </p:nvSpPr>
        <p:spPr>
          <a:xfrm>
            <a:off x="5462142" y="4722420"/>
            <a:ext cx="804545" cy="269875"/>
          </a:xfrm>
          <a:custGeom>
            <a:avLst/>
            <a:gdLst/>
            <a:ahLst/>
            <a:cxnLst/>
            <a:rect l="l" t="t" r="r" b="b"/>
            <a:pathLst>
              <a:path w="804545" h="269875">
                <a:moveTo>
                  <a:pt x="0" y="134874"/>
                </a:moveTo>
                <a:lnTo>
                  <a:pt x="20492" y="92269"/>
                </a:lnTo>
                <a:lnTo>
                  <a:pt x="77561" y="55248"/>
                </a:lnTo>
                <a:lnTo>
                  <a:pt x="117744" y="39528"/>
                </a:lnTo>
                <a:lnTo>
                  <a:pt x="164591" y="26042"/>
                </a:lnTo>
                <a:lnTo>
                  <a:pt x="217276" y="15067"/>
                </a:lnTo>
                <a:lnTo>
                  <a:pt x="274970" y="6882"/>
                </a:lnTo>
                <a:lnTo>
                  <a:pt x="336847" y="1767"/>
                </a:lnTo>
                <a:lnTo>
                  <a:pt x="402082" y="0"/>
                </a:lnTo>
                <a:lnTo>
                  <a:pt x="467316" y="1767"/>
                </a:lnTo>
                <a:lnTo>
                  <a:pt x="529193" y="6882"/>
                </a:lnTo>
                <a:lnTo>
                  <a:pt x="586887" y="15067"/>
                </a:lnTo>
                <a:lnTo>
                  <a:pt x="639572" y="26042"/>
                </a:lnTo>
                <a:lnTo>
                  <a:pt x="686419" y="39528"/>
                </a:lnTo>
                <a:lnTo>
                  <a:pt x="726602" y="55248"/>
                </a:lnTo>
                <a:lnTo>
                  <a:pt x="783671" y="92269"/>
                </a:lnTo>
                <a:lnTo>
                  <a:pt x="804164" y="134874"/>
                </a:lnTo>
                <a:lnTo>
                  <a:pt x="798903" y="156769"/>
                </a:lnTo>
                <a:lnTo>
                  <a:pt x="759295" y="196910"/>
                </a:lnTo>
                <a:lnTo>
                  <a:pt x="686419" y="230330"/>
                </a:lnTo>
                <a:lnTo>
                  <a:pt x="639572" y="243824"/>
                </a:lnTo>
                <a:lnTo>
                  <a:pt x="586887" y="254804"/>
                </a:lnTo>
                <a:lnTo>
                  <a:pt x="529193" y="262991"/>
                </a:lnTo>
                <a:lnTo>
                  <a:pt x="467316" y="268107"/>
                </a:lnTo>
                <a:lnTo>
                  <a:pt x="402082" y="269875"/>
                </a:lnTo>
                <a:lnTo>
                  <a:pt x="336847" y="268107"/>
                </a:lnTo>
                <a:lnTo>
                  <a:pt x="274970" y="262991"/>
                </a:lnTo>
                <a:lnTo>
                  <a:pt x="217276" y="254804"/>
                </a:lnTo>
                <a:lnTo>
                  <a:pt x="164592" y="243824"/>
                </a:lnTo>
                <a:lnTo>
                  <a:pt x="117744" y="230330"/>
                </a:lnTo>
                <a:lnTo>
                  <a:pt x="77561" y="214599"/>
                </a:lnTo>
                <a:lnTo>
                  <a:pt x="20492" y="177540"/>
                </a:lnTo>
                <a:lnTo>
                  <a:pt x="0" y="134874"/>
                </a:lnTo>
                <a:close/>
              </a:path>
            </a:pathLst>
          </a:custGeom>
          <a:ln w="6349">
            <a:solidFill>
              <a:srgbClr val="051F79"/>
            </a:solidFill>
          </a:ln>
        </p:spPr>
        <p:txBody>
          <a:bodyPr wrap="square" lIns="0" tIns="0" rIns="0" bIns="0" rtlCol="0"/>
          <a:lstStyle/>
          <a:p>
            <a:endParaRPr/>
          </a:p>
        </p:txBody>
      </p:sp>
      <p:sp>
        <p:nvSpPr>
          <p:cNvPr id="44" name="object 44"/>
          <p:cNvSpPr txBox="1"/>
          <p:nvPr/>
        </p:nvSpPr>
        <p:spPr>
          <a:xfrm>
            <a:off x="5671565" y="4757217"/>
            <a:ext cx="387985" cy="193675"/>
          </a:xfrm>
          <a:prstGeom prst="rect">
            <a:avLst/>
          </a:prstGeom>
        </p:spPr>
        <p:txBody>
          <a:bodyPr vert="horz" wrap="square" lIns="0" tIns="12700" rIns="0" bIns="0" rtlCol="0">
            <a:spAutoFit/>
          </a:bodyPr>
          <a:lstStyle/>
          <a:p>
            <a:pPr marL="12700">
              <a:lnSpc>
                <a:spcPct val="100000"/>
              </a:lnSpc>
              <a:spcBef>
                <a:spcPts val="100"/>
              </a:spcBef>
            </a:pPr>
            <a:r>
              <a:rPr sz="1100" b="1" dirty="0">
                <a:solidFill>
                  <a:srgbClr val="051F79"/>
                </a:solidFill>
                <a:latin typeface="Arial"/>
                <a:cs typeface="Arial"/>
              </a:rPr>
              <a:t>~20%</a:t>
            </a:r>
            <a:endParaRPr sz="1100" dirty="0">
              <a:latin typeface="Arial"/>
              <a:cs typeface="Arial"/>
            </a:endParaRPr>
          </a:p>
        </p:txBody>
      </p:sp>
      <p:sp>
        <p:nvSpPr>
          <p:cNvPr id="45" name="object 45"/>
          <p:cNvSpPr/>
          <p:nvPr/>
        </p:nvSpPr>
        <p:spPr>
          <a:xfrm>
            <a:off x="5462142" y="4150920"/>
            <a:ext cx="804545" cy="269875"/>
          </a:xfrm>
          <a:custGeom>
            <a:avLst/>
            <a:gdLst/>
            <a:ahLst/>
            <a:cxnLst/>
            <a:rect l="l" t="t" r="r" b="b"/>
            <a:pathLst>
              <a:path w="804545" h="269875">
                <a:moveTo>
                  <a:pt x="402082" y="0"/>
                </a:moveTo>
                <a:lnTo>
                  <a:pt x="336847" y="1767"/>
                </a:lnTo>
                <a:lnTo>
                  <a:pt x="274970" y="6882"/>
                </a:lnTo>
                <a:lnTo>
                  <a:pt x="217276" y="15067"/>
                </a:lnTo>
                <a:lnTo>
                  <a:pt x="164591" y="26042"/>
                </a:lnTo>
                <a:lnTo>
                  <a:pt x="117744" y="39528"/>
                </a:lnTo>
                <a:lnTo>
                  <a:pt x="77561" y="55248"/>
                </a:lnTo>
                <a:lnTo>
                  <a:pt x="20492" y="92269"/>
                </a:lnTo>
                <a:lnTo>
                  <a:pt x="0" y="134874"/>
                </a:lnTo>
                <a:lnTo>
                  <a:pt x="5260" y="156769"/>
                </a:lnTo>
                <a:lnTo>
                  <a:pt x="44868" y="196910"/>
                </a:lnTo>
                <a:lnTo>
                  <a:pt x="117744" y="230330"/>
                </a:lnTo>
                <a:lnTo>
                  <a:pt x="164592" y="243824"/>
                </a:lnTo>
                <a:lnTo>
                  <a:pt x="217276" y="254804"/>
                </a:lnTo>
                <a:lnTo>
                  <a:pt x="274970" y="262991"/>
                </a:lnTo>
                <a:lnTo>
                  <a:pt x="336847" y="268107"/>
                </a:lnTo>
                <a:lnTo>
                  <a:pt x="402082" y="269875"/>
                </a:lnTo>
                <a:lnTo>
                  <a:pt x="467316" y="268107"/>
                </a:lnTo>
                <a:lnTo>
                  <a:pt x="529193" y="262991"/>
                </a:lnTo>
                <a:lnTo>
                  <a:pt x="586887" y="254804"/>
                </a:lnTo>
                <a:lnTo>
                  <a:pt x="639572" y="243824"/>
                </a:lnTo>
                <a:lnTo>
                  <a:pt x="686419" y="230330"/>
                </a:lnTo>
                <a:lnTo>
                  <a:pt x="726602" y="214599"/>
                </a:lnTo>
                <a:lnTo>
                  <a:pt x="783671" y="177540"/>
                </a:lnTo>
                <a:lnTo>
                  <a:pt x="804164" y="134874"/>
                </a:lnTo>
                <a:lnTo>
                  <a:pt x="798903" y="113012"/>
                </a:lnTo>
                <a:lnTo>
                  <a:pt x="759295" y="72921"/>
                </a:lnTo>
                <a:lnTo>
                  <a:pt x="686419" y="39528"/>
                </a:lnTo>
                <a:lnTo>
                  <a:pt x="639572" y="26042"/>
                </a:lnTo>
                <a:lnTo>
                  <a:pt x="586887" y="15067"/>
                </a:lnTo>
                <a:lnTo>
                  <a:pt x="529193" y="6882"/>
                </a:lnTo>
                <a:lnTo>
                  <a:pt x="467316" y="1767"/>
                </a:lnTo>
                <a:lnTo>
                  <a:pt x="402082" y="0"/>
                </a:lnTo>
                <a:close/>
              </a:path>
            </a:pathLst>
          </a:custGeom>
          <a:solidFill>
            <a:srgbClr val="CCCCCC"/>
          </a:solidFill>
        </p:spPr>
        <p:txBody>
          <a:bodyPr wrap="square" lIns="0" tIns="0" rIns="0" bIns="0" rtlCol="0"/>
          <a:lstStyle/>
          <a:p>
            <a:endParaRPr/>
          </a:p>
        </p:txBody>
      </p:sp>
      <p:sp>
        <p:nvSpPr>
          <p:cNvPr id="46" name="object 46"/>
          <p:cNvSpPr txBox="1"/>
          <p:nvPr/>
        </p:nvSpPr>
        <p:spPr>
          <a:xfrm>
            <a:off x="5671565" y="4185717"/>
            <a:ext cx="387985" cy="193675"/>
          </a:xfrm>
          <a:prstGeom prst="rect">
            <a:avLst/>
          </a:prstGeom>
        </p:spPr>
        <p:txBody>
          <a:bodyPr vert="horz" wrap="square" lIns="0" tIns="12700" rIns="0" bIns="0" rtlCol="0">
            <a:spAutoFit/>
          </a:bodyPr>
          <a:lstStyle/>
          <a:p>
            <a:pPr marL="12700">
              <a:lnSpc>
                <a:spcPct val="100000"/>
              </a:lnSpc>
              <a:spcBef>
                <a:spcPts val="100"/>
              </a:spcBef>
            </a:pPr>
            <a:r>
              <a:rPr sz="1100" b="1" dirty="0">
                <a:latin typeface="Arial"/>
                <a:cs typeface="Arial"/>
              </a:rPr>
              <a:t>~42%</a:t>
            </a:r>
            <a:endParaRPr sz="1100">
              <a:latin typeface="Arial"/>
              <a:cs typeface="Arial"/>
            </a:endParaRPr>
          </a:p>
        </p:txBody>
      </p:sp>
      <p:sp>
        <p:nvSpPr>
          <p:cNvPr id="47" name="object 47"/>
          <p:cNvSpPr/>
          <p:nvPr/>
        </p:nvSpPr>
        <p:spPr>
          <a:xfrm>
            <a:off x="7771892" y="4722420"/>
            <a:ext cx="804545" cy="269875"/>
          </a:xfrm>
          <a:custGeom>
            <a:avLst/>
            <a:gdLst/>
            <a:ahLst/>
            <a:cxnLst/>
            <a:rect l="l" t="t" r="r" b="b"/>
            <a:pathLst>
              <a:path w="804545" h="269875">
                <a:moveTo>
                  <a:pt x="0" y="134874"/>
                </a:moveTo>
                <a:lnTo>
                  <a:pt x="20505" y="92269"/>
                </a:lnTo>
                <a:lnTo>
                  <a:pt x="77606" y="55248"/>
                </a:lnTo>
                <a:lnTo>
                  <a:pt x="117808" y="39528"/>
                </a:lnTo>
                <a:lnTo>
                  <a:pt x="164674" y="26042"/>
                </a:lnTo>
                <a:lnTo>
                  <a:pt x="217375" y="15067"/>
                </a:lnTo>
                <a:lnTo>
                  <a:pt x="275084" y="6882"/>
                </a:lnTo>
                <a:lnTo>
                  <a:pt x="336971" y="1767"/>
                </a:lnTo>
                <a:lnTo>
                  <a:pt x="402208" y="0"/>
                </a:lnTo>
                <a:lnTo>
                  <a:pt x="467412" y="1767"/>
                </a:lnTo>
                <a:lnTo>
                  <a:pt x="529271" y="6882"/>
                </a:lnTo>
                <a:lnTo>
                  <a:pt x="586958" y="15067"/>
                </a:lnTo>
                <a:lnTo>
                  <a:pt x="639644" y="26042"/>
                </a:lnTo>
                <a:lnTo>
                  <a:pt x="686498" y="39528"/>
                </a:lnTo>
                <a:lnTo>
                  <a:pt x="726692" y="55248"/>
                </a:lnTo>
                <a:lnTo>
                  <a:pt x="783786" y="92269"/>
                </a:lnTo>
                <a:lnTo>
                  <a:pt x="804290" y="134874"/>
                </a:lnTo>
                <a:lnTo>
                  <a:pt x="799026" y="156769"/>
                </a:lnTo>
                <a:lnTo>
                  <a:pt x="759398" y="196910"/>
                </a:lnTo>
                <a:lnTo>
                  <a:pt x="686498" y="230330"/>
                </a:lnTo>
                <a:lnTo>
                  <a:pt x="639644" y="243824"/>
                </a:lnTo>
                <a:lnTo>
                  <a:pt x="586958" y="254804"/>
                </a:lnTo>
                <a:lnTo>
                  <a:pt x="529271" y="262991"/>
                </a:lnTo>
                <a:lnTo>
                  <a:pt x="467412" y="268107"/>
                </a:lnTo>
                <a:lnTo>
                  <a:pt x="402208" y="269875"/>
                </a:lnTo>
                <a:lnTo>
                  <a:pt x="336971" y="268107"/>
                </a:lnTo>
                <a:lnTo>
                  <a:pt x="275084" y="262991"/>
                </a:lnTo>
                <a:lnTo>
                  <a:pt x="217375" y="254804"/>
                </a:lnTo>
                <a:lnTo>
                  <a:pt x="164674" y="243824"/>
                </a:lnTo>
                <a:lnTo>
                  <a:pt x="117808" y="230330"/>
                </a:lnTo>
                <a:lnTo>
                  <a:pt x="77606" y="214599"/>
                </a:lnTo>
                <a:lnTo>
                  <a:pt x="20505" y="177540"/>
                </a:lnTo>
                <a:lnTo>
                  <a:pt x="0" y="134874"/>
                </a:lnTo>
                <a:close/>
              </a:path>
            </a:pathLst>
          </a:custGeom>
          <a:ln w="6350">
            <a:solidFill>
              <a:srgbClr val="051F79"/>
            </a:solidFill>
          </a:ln>
        </p:spPr>
        <p:txBody>
          <a:bodyPr wrap="square" lIns="0" tIns="0" rIns="0" bIns="0" rtlCol="0"/>
          <a:lstStyle/>
          <a:p>
            <a:endParaRPr/>
          </a:p>
        </p:txBody>
      </p:sp>
      <p:sp>
        <p:nvSpPr>
          <p:cNvPr id="48" name="object 48"/>
          <p:cNvSpPr txBox="1"/>
          <p:nvPr/>
        </p:nvSpPr>
        <p:spPr>
          <a:xfrm>
            <a:off x="7981568" y="4757217"/>
            <a:ext cx="387985" cy="193675"/>
          </a:xfrm>
          <a:prstGeom prst="rect">
            <a:avLst/>
          </a:prstGeom>
        </p:spPr>
        <p:txBody>
          <a:bodyPr vert="horz" wrap="square" lIns="0" tIns="12700" rIns="0" bIns="0" rtlCol="0">
            <a:spAutoFit/>
          </a:bodyPr>
          <a:lstStyle/>
          <a:p>
            <a:pPr marL="12700">
              <a:lnSpc>
                <a:spcPct val="100000"/>
              </a:lnSpc>
              <a:spcBef>
                <a:spcPts val="100"/>
              </a:spcBef>
            </a:pPr>
            <a:r>
              <a:rPr sz="1100" b="1" dirty="0">
                <a:solidFill>
                  <a:srgbClr val="051F79"/>
                </a:solidFill>
                <a:latin typeface="Arial"/>
                <a:cs typeface="Arial"/>
              </a:rPr>
              <a:t>~18%</a:t>
            </a:r>
            <a:endParaRPr sz="1100">
              <a:latin typeface="Arial"/>
              <a:cs typeface="Arial"/>
            </a:endParaRPr>
          </a:p>
        </p:txBody>
      </p:sp>
      <p:sp>
        <p:nvSpPr>
          <p:cNvPr id="49" name="object 49"/>
          <p:cNvSpPr/>
          <p:nvPr/>
        </p:nvSpPr>
        <p:spPr>
          <a:xfrm>
            <a:off x="7771892" y="4150920"/>
            <a:ext cx="804545" cy="269875"/>
          </a:xfrm>
          <a:custGeom>
            <a:avLst/>
            <a:gdLst/>
            <a:ahLst/>
            <a:cxnLst/>
            <a:rect l="l" t="t" r="r" b="b"/>
            <a:pathLst>
              <a:path w="804545" h="269875">
                <a:moveTo>
                  <a:pt x="402208" y="0"/>
                </a:moveTo>
                <a:lnTo>
                  <a:pt x="336971" y="1767"/>
                </a:lnTo>
                <a:lnTo>
                  <a:pt x="275084" y="6882"/>
                </a:lnTo>
                <a:lnTo>
                  <a:pt x="217375" y="15067"/>
                </a:lnTo>
                <a:lnTo>
                  <a:pt x="164674" y="26042"/>
                </a:lnTo>
                <a:lnTo>
                  <a:pt x="117808" y="39528"/>
                </a:lnTo>
                <a:lnTo>
                  <a:pt x="77606" y="55248"/>
                </a:lnTo>
                <a:lnTo>
                  <a:pt x="20505" y="92269"/>
                </a:lnTo>
                <a:lnTo>
                  <a:pt x="0" y="134874"/>
                </a:lnTo>
                <a:lnTo>
                  <a:pt x="5264" y="156769"/>
                </a:lnTo>
                <a:lnTo>
                  <a:pt x="44895" y="196910"/>
                </a:lnTo>
                <a:lnTo>
                  <a:pt x="117808" y="230330"/>
                </a:lnTo>
                <a:lnTo>
                  <a:pt x="164674" y="243824"/>
                </a:lnTo>
                <a:lnTo>
                  <a:pt x="217375" y="254804"/>
                </a:lnTo>
                <a:lnTo>
                  <a:pt x="275084" y="262991"/>
                </a:lnTo>
                <a:lnTo>
                  <a:pt x="336971" y="268107"/>
                </a:lnTo>
                <a:lnTo>
                  <a:pt x="402208" y="269875"/>
                </a:lnTo>
                <a:lnTo>
                  <a:pt x="467412" y="268107"/>
                </a:lnTo>
                <a:lnTo>
                  <a:pt x="529271" y="262991"/>
                </a:lnTo>
                <a:lnTo>
                  <a:pt x="586958" y="254804"/>
                </a:lnTo>
                <a:lnTo>
                  <a:pt x="639644" y="243824"/>
                </a:lnTo>
                <a:lnTo>
                  <a:pt x="686498" y="230330"/>
                </a:lnTo>
                <a:lnTo>
                  <a:pt x="726692" y="214599"/>
                </a:lnTo>
                <a:lnTo>
                  <a:pt x="783786" y="177540"/>
                </a:lnTo>
                <a:lnTo>
                  <a:pt x="804290" y="134874"/>
                </a:lnTo>
                <a:lnTo>
                  <a:pt x="799026" y="113012"/>
                </a:lnTo>
                <a:lnTo>
                  <a:pt x="759398" y="72921"/>
                </a:lnTo>
                <a:lnTo>
                  <a:pt x="686498" y="39528"/>
                </a:lnTo>
                <a:lnTo>
                  <a:pt x="639644" y="26042"/>
                </a:lnTo>
                <a:lnTo>
                  <a:pt x="586958" y="15067"/>
                </a:lnTo>
                <a:lnTo>
                  <a:pt x="529271" y="6882"/>
                </a:lnTo>
                <a:lnTo>
                  <a:pt x="467412" y="1767"/>
                </a:lnTo>
                <a:lnTo>
                  <a:pt x="402208" y="0"/>
                </a:lnTo>
                <a:close/>
              </a:path>
            </a:pathLst>
          </a:custGeom>
          <a:solidFill>
            <a:srgbClr val="CCCCCC"/>
          </a:solidFill>
        </p:spPr>
        <p:txBody>
          <a:bodyPr wrap="square" lIns="0" tIns="0" rIns="0" bIns="0" rtlCol="0"/>
          <a:lstStyle/>
          <a:p>
            <a:endParaRPr/>
          </a:p>
        </p:txBody>
      </p:sp>
      <p:sp>
        <p:nvSpPr>
          <p:cNvPr id="50" name="object 50"/>
          <p:cNvSpPr txBox="1"/>
          <p:nvPr/>
        </p:nvSpPr>
        <p:spPr>
          <a:xfrm>
            <a:off x="7981568" y="4185717"/>
            <a:ext cx="387985" cy="193675"/>
          </a:xfrm>
          <a:prstGeom prst="rect">
            <a:avLst/>
          </a:prstGeom>
        </p:spPr>
        <p:txBody>
          <a:bodyPr vert="horz" wrap="square" lIns="0" tIns="12700" rIns="0" bIns="0" rtlCol="0">
            <a:spAutoFit/>
          </a:bodyPr>
          <a:lstStyle/>
          <a:p>
            <a:pPr marL="12700">
              <a:lnSpc>
                <a:spcPct val="100000"/>
              </a:lnSpc>
              <a:spcBef>
                <a:spcPts val="100"/>
              </a:spcBef>
            </a:pPr>
            <a:r>
              <a:rPr sz="1100" b="1" dirty="0">
                <a:latin typeface="Arial"/>
                <a:cs typeface="Arial"/>
              </a:rPr>
              <a:t>~42%</a:t>
            </a:r>
            <a:endParaRPr sz="1100">
              <a:latin typeface="Arial"/>
              <a:cs typeface="Arial"/>
            </a:endParaRPr>
          </a:p>
        </p:txBody>
      </p:sp>
      <p:sp>
        <p:nvSpPr>
          <p:cNvPr id="51" name="object 51"/>
          <p:cNvSpPr/>
          <p:nvPr/>
        </p:nvSpPr>
        <p:spPr>
          <a:xfrm>
            <a:off x="10081768" y="4722420"/>
            <a:ext cx="804545" cy="269875"/>
          </a:xfrm>
          <a:custGeom>
            <a:avLst/>
            <a:gdLst/>
            <a:ahLst/>
            <a:cxnLst/>
            <a:rect l="l" t="t" r="r" b="b"/>
            <a:pathLst>
              <a:path w="804545" h="269875">
                <a:moveTo>
                  <a:pt x="0" y="134874"/>
                </a:moveTo>
                <a:lnTo>
                  <a:pt x="20492" y="92269"/>
                </a:lnTo>
                <a:lnTo>
                  <a:pt x="77561" y="55248"/>
                </a:lnTo>
                <a:lnTo>
                  <a:pt x="117744" y="39528"/>
                </a:lnTo>
                <a:lnTo>
                  <a:pt x="164592" y="26042"/>
                </a:lnTo>
                <a:lnTo>
                  <a:pt x="217276" y="15067"/>
                </a:lnTo>
                <a:lnTo>
                  <a:pt x="274970" y="6882"/>
                </a:lnTo>
                <a:lnTo>
                  <a:pt x="336847" y="1767"/>
                </a:lnTo>
                <a:lnTo>
                  <a:pt x="402081" y="0"/>
                </a:lnTo>
                <a:lnTo>
                  <a:pt x="467316" y="1767"/>
                </a:lnTo>
                <a:lnTo>
                  <a:pt x="529193" y="6882"/>
                </a:lnTo>
                <a:lnTo>
                  <a:pt x="586887" y="15067"/>
                </a:lnTo>
                <a:lnTo>
                  <a:pt x="639572" y="26042"/>
                </a:lnTo>
                <a:lnTo>
                  <a:pt x="686419" y="39528"/>
                </a:lnTo>
                <a:lnTo>
                  <a:pt x="726602" y="55248"/>
                </a:lnTo>
                <a:lnTo>
                  <a:pt x="783671" y="92269"/>
                </a:lnTo>
                <a:lnTo>
                  <a:pt x="804163" y="134874"/>
                </a:lnTo>
                <a:lnTo>
                  <a:pt x="798903" y="156769"/>
                </a:lnTo>
                <a:lnTo>
                  <a:pt x="759295" y="196910"/>
                </a:lnTo>
                <a:lnTo>
                  <a:pt x="686419" y="230330"/>
                </a:lnTo>
                <a:lnTo>
                  <a:pt x="639571" y="243824"/>
                </a:lnTo>
                <a:lnTo>
                  <a:pt x="586887" y="254804"/>
                </a:lnTo>
                <a:lnTo>
                  <a:pt x="529193" y="262991"/>
                </a:lnTo>
                <a:lnTo>
                  <a:pt x="467316" y="268107"/>
                </a:lnTo>
                <a:lnTo>
                  <a:pt x="402081" y="269875"/>
                </a:lnTo>
                <a:lnTo>
                  <a:pt x="336847" y="268107"/>
                </a:lnTo>
                <a:lnTo>
                  <a:pt x="274970" y="262991"/>
                </a:lnTo>
                <a:lnTo>
                  <a:pt x="217276" y="254804"/>
                </a:lnTo>
                <a:lnTo>
                  <a:pt x="164591" y="243824"/>
                </a:lnTo>
                <a:lnTo>
                  <a:pt x="117744" y="230330"/>
                </a:lnTo>
                <a:lnTo>
                  <a:pt x="77561" y="214599"/>
                </a:lnTo>
                <a:lnTo>
                  <a:pt x="20492" y="177540"/>
                </a:lnTo>
                <a:lnTo>
                  <a:pt x="0" y="134874"/>
                </a:lnTo>
                <a:close/>
              </a:path>
            </a:pathLst>
          </a:custGeom>
          <a:ln w="6349">
            <a:solidFill>
              <a:srgbClr val="051F79"/>
            </a:solidFill>
          </a:ln>
        </p:spPr>
        <p:txBody>
          <a:bodyPr wrap="square" lIns="0" tIns="0" rIns="0" bIns="0" rtlCol="0"/>
          <a:lstStyle/>
          <a:p>
            <a:endParaRPr/>
          </a:p>
        </p:txBody>
      </p:sp>
      <p:sp>
        <p:nvSpPr>
          <p:cNvPr id="52" name="object 52"/>
          <p:cNvSpPr txBox="1"/>
          <p:nvPr/>
        </p:nvSpPr>
        <p:spPr>
          <a:xfrm>
            <a:off x="10291698" y="4757217"/>
            <a:ext cx="387985" cy="193675"/>
          </a:xfrm>
          <a:prstGeom prst="rect">
            <a:avLst/>
          </a:prstGeom>
        </p:spPr>
        <p:txBody>
          <a:bodyPr vert="horz" wrap="square" lIns="0" tIns="12700" rIns="0" bIns="0" rtlCol="0">
            <a:spAutoFit/>
          </a:bodyPr>
          <a:lstStyle/>
          <a:p>
            <a:pPr marL="12700">
              <a:lnSpc>
                <a:spcPct val="100000"/>
              </a:lnSpc>
              <a:spcBef>
                <a:spcPts val="100"/>
              </a:spcBef>
            </a:pPr>
            <a:r>
              <a:rPr sz="1100" b="1" dirty="0">
                <a:solidFill>
                  <a:srgbClr val="051F79"/>
                </a:solidFill>
                <a:latin typeface="Arial"/>
                <a:cs typeface="Arial"/>
              </a:rPr>
              <a:t>~13%</a:t>
            </a:r>
            <a:endParaRPr sz="1100">
              <a:latin typeface="Arial"/>
              <a:cs typeface="Arial"/>
            </a:endParaRPr>
          </a:p>
        </p:txBody>
      </p:sp>
      <p:sp>
        <p:nvSpPr>
          <p:cNvPr id="53" name="object 53"/>
          <p:cNvSpPr/>
          <p:nvPr/>
        </p:nvSpPr>
        <p:spPr>
          <a:xfrm>
            <a:off x="10081768" y="4150920"/>
            <a:ext cx="804545" cy="269875"/>
          </a:xfrm>
          <a:custGeom>
            <a:avLst/>
            <a:gdLst/>
            <a:ahLst/>
            <a:cxnLst/>
            <a:rect l="l" t="t" r="r" b="b"/>
            <a:pathLst>
              <a:path w="804545" h="269875">
                <a:moveTo>
                  <a:pt x="402081" y="0"/>
                </a:moveTo>
                <a:lnTo>
                  <a:pt x="336847" y="1767"/>
                </a:lnTo>
                <a:lnTo>
                  <a:pt x="274970" y="6882"/>
                </a:lnTo>
                <a:lnTo>
                  <a:pt x="217276" y="15067"/>
                </a:lnTo>
                <a:lnTo>
                  <a:pt x="164591" y="26042"/>
                </a:lnTo>
                <a:lnTo>
                  <a:pt x="117744" y="39528"/>
                </a:lnTo>
                <a:lnTo>
                  <a:pt x="77561" y="55248"/>
                </a:lnTo>
                <a:lnTo>
                  <a:pt x="20492" y="92269"/>
                </a:lnTo>
                <a:lnTo>
                  <a:pt x="0" y="134874"/>
                </a:lnTo>
                <a:lnTo>
                  <a:pt x="5260" y="156769"/>
                </a:lnTo>
                <a:lnTo>
                  <a:pt x="44868" y="196910"/>
                </a:lnTo>
                <a:lnTo>
                  <a:pt x="117744" y="230330"/>
                </a:lnTo>
                <a:lnTo>
                  <a:pt x="164591" y="243824"/>
                </a:lnTo>
                <a:lnTo>
                  <a:pt x="217276" y="254804"/>
                </a:lnTo>
                <a:lnTo>
                  <a:pt x="274970" y="262991"/>
                </a:lnTo>
                <a:lnTo>
                  <a:pt x="336847" y="268107"/>
                </a:lnTo>
                <a:lnTo>
                  <a:pt x="402081" y="269875"/>
                </a:lnTo>
                <a:lnTo>
                  <a:pt x="467316" y="268107"/>
                </a:lnTo>
                <a:lnTo>
                  <a:pt x="529193" y="262991"/>
                </a:lnTo>
                <a:lnTo>
                  <a:pt x="586887" y="254804"/>
                </a:lnTo>
                <a:lnTo>
                  <a:pt x="639571" y="243824"/>
                </a:lnTo>
                <a:lnTo>
                  <a:pt x="686419" y="230330"/>
                </a:lnTo>
                <a:lnTo>
                  <a:pt x="726602" y="214599"/>
                </a:lnTo>
                <a:lnTo>
                  <a:pt x="783671" y="177540"/>
                </a:lnTo>
                <a:lnTo>
                  <a:pt x="804163" y="134874"/>
                </a:lnTo>
                <a:lnTo>
                  <a:pt x="798903" y="113012"/>
                </a:lnTo>
                <a:lnTo>
                  <a:pt x="759295" y="72921"/>
                </a:lnTo>
                <a:lnTo>
                  <a:pt x="686419" y="39528"/>
                </a:lnTo>
                <a:lnTo>
                  <a:pt x="639572" y="26042"/>
                </a:lnTo>
                <a:lnTo>
                  <a:pt x="586887" y="15067"/>
                </a:lnTo>
                <a:lnTo>
                  <a:pt x="529193" y="6882"/>
                </a:lnTo>
                <a:lnTo>
                  <a:pt x="467316" y="1767"/>
                </a:lnTo>
                <a:lnTo>
                  <a:pt x="402081" y="0"/>
                </a:lnTo>
                <a:close/>
              </a:path>
            </a:pathLst>
          </a:custGeom>
          <a:solidFill>
            <a:srgbClr val="CCCCCC"/>
          </a:solidFill>
        </p:spPr>
        <p:txBody>
          <a:bodyPr wrap="square" lIns="0" tIns="0" rIns="0" bIns="0" rtlCol="0"/>
          <a:lstStyle/>
          <a:p>
            <a:endParaRPr/>
          </a:p>
        </p:txBody>
      </p:sp>
      <p:sp>
        <p:nvSpPr>
          <p:cNvPr id="54" name="object 54"/>
          <p:cNvSpPr txBox="1"/>
          <p:nvPr/>
        </p:nvSpPr>
        <p:spPr>
          <a:xfrm>
            <a:off x="10291698" y="4185717"/>
            <a:ext cx="387985" cy="193675"/>
          </a:xfrm>
          <a:prstGeom prst="rect">
            <a:avLst/>
          </a:prstGeom>
        </p:spPr>
        <p:txBody>
          <a:bodyPr vert="horz" wrap="square" lIns="0" tIns="12700" rIns="0" bIns="0" rtlCol="0">
            <a:spAutoFit/>
          </a:bodyPr>
          <a:lstStyle/>
          <a:p>
            <a:pPr marL="12700">
              <a:lnSpc>
                <a:spcPct val="100000"/>
              </a:lnSpc>
              <a:spcBef>
                <a:spcPts val="100"/>
              </a:spcBef>
            </a:pPr>
            <a:r>
              <a:rPr sz="1100" b="1" dirty="0">
                <a:latin typeface="Arial"/>
                <a:cs typeface="Arial"/>
              </a:rPr>
              <a:t>~38%</a:t>
            </a:r>
            <a:endParaRPr sz="1100">
              <a:latin typeface="Arial"/>
              <a:cs typeface="Arial"/>
            </a:endParaRPr>
          </a:p>
        </p:txBody>
      </p:sp>
      <p:sp>
        <p:nvSpPr>
          <p:cNvPr id="55" name="object 55"/>
          <p:cNvSpPr txBox="1"/>
          <p:nvPr/>
        </p:nvSpPr>
        <p:spPr>
          <a:xfrm>
            <a:off x="542036" y="4020491"/>
            <a:ext cx="1559560" cy="528955"/>
          </a:xfrm>
          <a:prstGeom prst="rect">
            <a:avLst/>
          </a:prstGeom>
        </p:spPr>
        <p:txBody>
          <a:bodyPr vert="horz" wrap="square" lIns="0" tIns="12700" rIns="0" bIns="0" rtlCol="0">
            <a:spAutoFit/>
          </a:bodyPr>
          <a:lstStyle/>
          <a:p>
            <a:pPr marL="12700" marR="5080">
              <a:lnSpc>
                <a:spcPct val="100000"/>
              </a:lnSpc>
              <a:spcBef>
                <a:spcPts val="100"/>
              </a:spcBef>
            </a:pPr>
            <a:r>
              <a:rPr sz="1100" b="1" spc="-5" dirty="0">
                <a:latin typeface="Arial"/>
                <a:cs typeface="Arial"/>
              </a:rPr>
              <a:t>ERB used auto </a:t>
            </a:r>
            <a:r>
              <a:rPr sz="1100" b="1" dirty="0">
                <a:latin typeface="Arial"/>
                <a:cs typeface="Arial"/>
              </a:rPr>
              <a:t>loan  </a:t>
            </a:r>
            <a:r>
              <a:rPr sz="1100" b="1" spc="-5" dirty="0">
                <a:latin typeface="Arial"/>
                <a:cs typeface="Arial"/>
              </a:rPr>
              <a:t>applications/ financed  cars via dealer</a:t>
            </a:r>
            <a:r>
              <a:rPr sz="1100" b="1" spc="-75" dirty="0">
                <a:latin typeface="Arial"/>
                <a:cs typeface="Arial"/>
              </a:rPr>
              <a:t> </a:t>
            </a:r>
            <a:r>
              <a:rPr sz="1100" b="1" spc="-5" dirty="0">
                <a:latin typeface="Arial"/>
                <a:cs typeface="Arial"/>
              </a:rPr>
              <a:t>channel</a:t>
            </a:r>
            <a:endParaRPr sz="1100" dirty="0">
              <a:latin typeface="Arial"/>
              <a:cs typeface="Arial"/>
            </a:endParaRPr>
          </a:p>
        </p:txBody>
      </p:sp>
      <p:sp>
        <p:nvSpPr>
          <p:cNvPr id="56" name="object 56"/>
          <p:cNvSpPr/>
          <p:nvPr/>
        </p:nvSpPr>
        <p:spPr>
          <a:xfrm>
            <a:off x="560031" y="4614470"/>
            <a:ext cx="11082655" cy="0"/>
          </a:xfrm>
          <a:custGeom>
            <a:avLst/>
            <a:gdLst/>
            <a:ahLst/>
            <a:cxnLst/>
            <a:rect l="l" t="t" r="r" b="b"/>
            <a:pathLst>
              <a:path w="11082655">
                <a:moveTo>
                  <a:pt x="0" y="0"/>
                </a:moveTo>
                <a:lnTo>
                  <a:pt x="11082566" y="0"/>
                </a:lnTo>
              </a:path>
            </a:pathLst>
          </a:custGeom>
          <a:ln w="6350">
            <a:solidFill>
              <a:srgbClr val="B3B3B3"/>
            </a:solidFill>
          </a:ln>
        </p:spPr>
        <p:txBody>
          <a:bodyPr wrap="square" lIns="0" tIns="0" rIns="0" bIns="0" rtlCol="0"/>
          <a:lstStyle/>
          <a:p>
            <a:endParaRPr/>
          </a:p>
        </p:txBody>
      </p:sp>
      <p:sp>
        <p:nvSpPr>
          <p:cNvPr id="58" name="object 58"/>
          <p:cNvSpPr txBox="1"/>
          <p:nvPr/>
        </p:nvSpPr>
        <p:spPr>
          <a:xfrm>
            <a:off x="542036" y="5163186"/>
            <a:ext cx="1585595" cy="361315"/>
          </a:xfrm>
          <a:prstGeom prst="rect">
            <a:avLst/>
          </a:prstGeom>
        </p:spPr>
        <p:txBody>
          <a:bodyPr vert="horz" wrap="square" lIns="0" tIns="12700" rIns="0" bIns="0" rtlCol="0">
            <a:spAutoFit/>
          </a:bodyPr>
          <a:lstStyle/>
          <a:p>
            <a:pPr marL="12700" marR="5080">
              <a:lnSpc>
                <a:spcPct val="100000"/>
              </a:lnSpc>
              <a:spcBef>
                <a:spcPts val="100"/>
              </a:spcBef>
            </a:pPr>
            <a:r>
              <a:rPr sz="1100" b="1" spc="-5" dirty="0">
                <a:latin typeface="Arial"/>
                <a:cs typeface="Arial"/>
              </a:rPr>
              <a:t>ERB </a:t>
            </a:r>
            <a:r>
              <a:rPr sz="1100" b="1" dirty="0">
                <a:latin typeface="Arial"/>
                <a:cs typeface="Arial"/>
              </a:rPr>
              <a:t>MS within  </a:t>
            </a:r>
            <a:r>
              <a:rPr sz="1100" b="1" spc="-5" dirty="0">
                <a:latin typeface="Arial"/>
                <a:cs typeface="Arial"/>
              </a:rPr>
              <a:t>independent dealers,</a:t>
            </a:r>
            <a:r>
              <a:rPr sz="1100" b="1" spc="-55" dirty="0">
                <a:latin typeface="Arial"/>
                <a:cs typeface="Arial"/>
              </a:rPr>
              <a:t> </a:t>
            </a:r>
            <a:r>
              <a:rPr sz="1100" b="1" dirty="0">
                <a:latin typeface="Arial"/>
                <a:cs typeface="Arial"/>
              </a:rPr>
              <a:t>%</a:t>
            </a:r>
            <a:endParaRPr sz="1100">
              <a:latin typeface="Arial"/>
              <a:cs typeface="Arial"/>
            </a:endParaRPr>
          </a:p>
        </p:txBody>
      </p:sp>
      <p:sp>
        <p:nvSpPr>
          <p:cNvPr id="59" name="object 59"/>
          <p:cNvSpPr/>
          <p:nvPr/>
        </p:nvSpPr>
        <p:spPr>
          <a:xfrm>
            <a:off x="560031" y="5100245"/>
            <a:ext cx="11082655" cy="0"/>
          </a:xfrm>
          <a:custGeom>
            <a:avLst/>
            <a:gdLst/>
            <a:ahLst/>
            <a:cxnLst/>
            <a:rect l="l" t="t" r="r" b="b"/>
            <a:pathLst>
              <a:path w="11082655">
                <a:moveTo>
                  <a:pt x="0" y="0"/>
                </a:moveTo>
                <a:lnTo>
                  <a:pt x="11082566" y="0"/>
                </a:lnTo>
              </a:path>
            </a:pathLst>
          </a:custGeom>
          <a:ln w="6350">
            <a:solidFill>
              <a:srgbClr val="B3B3B3"/>
            </a:solidFill>
          </a:ln>
        </p:spPr>
        <p:txBody>
          <a:bodyPr wrap="square" lIns="0" tIns="0" rIns="0" bIns="0" rtlCol="0"/>
          <a:lstStyle/>
          <a:p>
            <a:endParaRPr/>
          </a:p>
        </p:txBody>
      </p:sp>
      <p:sp>
        <p:nvSpPr>
          <p:cNvPr id="60" name="object 60"/>
          <p:cNvSpPr/>
          <p:nvPr/>
        </p:nvSpPr>
        <p:spPr>
          <a:xfrm>
            <a:off x="3150742" y="5209846"/>
            <a:ext cx="804545" cy="269875"/>
          </a:xfrm>
          <a:custGeom>
            <a:avLst/>
            <a:gdLst/>
            <a:ahLst/>
            <a:cxnLst/>
            <a:rect l="l" t="t" r="r" b="b"/>
            <a:pathLst>
              <a:path w="804545" h="269875">
                <a:moveTo>
                  <a:pt x="0" y="134874"/>
                </a:moveTo>
                <a:lnTo>
                  <a:pt x="20492" y="92220"/>
                </a:lnTo>
                <a:lnTo>
                  <a:pt x="77561" y="55193"/>
                </a:lnTo>
                <a:lnTo>
                  <a:pt x="117744" y="39481"/>
                </a:lnTo>
                <a:lnTo>
                  <a:pt x="164592" y="26005"/>
                </a:lnTo>
                <a:lnTo>
                  <a:pt x="217276" y="15043"/>
                </a:lnTo>
                <a:lnTo>
                  <a:pt x="274970" y="6870"/>
                </a:lnTo>
                <a:lnTo>
                  <a:pt x="336847" y="1763"/>
                </a:lnTo>
                <a:lnTo>
                  <a:pt x="402081" y="0"/>
                </a:lnTo>
                <a:lnTo>
                  <a:pt x="467316" y="1763"/>
                </a:lnTo>
                <a:lnTo>
                  <a:pt x="529193" y="6870"/>
                </a:lnTo>
                <a:lnTo>
                  <a:pt x="586887" y="15043"/>
                </a:lnTo>
                <a:lnTo>
                  <a:pt x="639571" y="26005"/>
                </a:lnTo>
                <a:lnTo>
                  <a:pt x="686419" y="39481"/>
                </a:lnTo>
                <a:lnTo>
                  <a:pt x="726602" y="55193"/>
                </a:lnTo>
                <a:lnTo>
                  <a:pt x="783671" y="92220"/>
                </a:lnTo>
                <a:lnTo>
                  <a:pt x="804164" y="134874"/>
                </a:lnTo>
                <a:lnTo>
                  <a:pt x="798903" y="156761"/>
                </a:lnTo>
                <a:lnTo>
                  <a:pt x="759295" y="196885"/>
                </a:lnTo>
                <a:lnTo>
                  <a:pt x="686419" y="230289"/>
                </a:lnTo>
                <a:lnTo>
                  <a:pt x="639572" y="243776"/>
                </a:lnTo>
                <a:lnTo>
                  <a:pt x="586887" y="254749"/>
                </a:lnTo>
                <a:lnTo>
                  <a:pt x="529193" y="262932"/>
                </a:lnTo>
                <a:lnTo>
                  <a:pt x="467316" y="268045"/>
                </a:lnTo>
                <a:lnTo>
                  <a:pt x="402081" y="269811"/>
                </a:lnTo>
                <a:lnTo>
                  <a:pt x="336847" y="268045"/>
                </a:lnTo>
                <a:lnTo>
                  <a:pt x="274970" y="262932"/>
                </a:lnTo>
                <a:lnTo>
                  <a:pt x="217276" y="254749"/>
                </a:lnTo>
                <a:lnTo>
                  <a:pt x="164592" y="243776"/>
                </a:lnTo>
                <a:lnTo>
                  <a:pt x="117744" y="230289"/>
                </a:lnTo>
                <a:lnTo>
                  <a:pt x="77561" y="214566"/>
                </a:lnTo>
                <a:lnTo>
                  <a:pt x="20492" y="177524"/>
                </a:lnTo>
                <a:lnTo>
                  <a:pt x="0" y="134874"/>
                </a:lnTo>
                <a:close/>
              </a:path>
            </a:pathLst>
          </a:custGeom>
          <a:ln w="6350">
            <a:solidFill>
              <a:srgbClr val="051F79"/>
            </a:solidFill>
          </a:ln>
        </p:spPr>
        <p:txBody>
          <a:bodyPr wrap="square" lIns="0" tIns="0" rIns="0" bIns="0" rtlCol="0"/>
          <a:lstStyle/>
          <a:p>
            <a:endParaRPr/>
          </a:p>
        </p:txBody>
      </p:sp>
      <p:sp>
        <p:nvSpPr>
          <p:cNvPr id="61" name="object 61"/>
          <p:cNvSpPr/>
          <p:nvPr/>
        </p:nvSpPr>
        <p:spPr>
          <a:xfrm>
            <a:off x="5462142" y="5209846"/>
            <a:ext cx="804545" cy="269875"/>
          </a:xfrm>
          <a:custGeom>
            <a:avLst/>
            <a:gdLst/>
            <a:ahLst/>
            <a:cxnLst/>
            <a:rect l="l" t="t" r="r" b="b"/>
            <a:pathLst>
              <a:path w="804545" h="269875">
                <a:moveTo>
                  <a:pt x="0" y="134874"/>
                </a:moveTo>
                <a:lnTo>
                  <a:pt x="20492" y="92220"/>
                </a:lnTo>
                <a:lnTo>
                  <a:pt x="77561" y="55193"/>
                </a:lnTo>
                <a:lnTo>
                  <a:pt x="117744" y="39481"/>
                </a:lnTo>
                <a:lnTo>
                  <a:pt x="164591" y="26005"/>
                </a:lnTo>
                <a:lnTo>
                  <a:pt x="217276" y="15043"/>
                </a:lnTo>
                <a:lnTo>
                  <a:pt x="274970" y="6870"/>
                </a:lnTo>
                <a:lnTo>
                  <a:pt x="336847" y="1763"/>
                </a:lnTo>
                <a:lnTo>
                  <a:pt x="402082" y="0"/>
                </a:lnTo>
                <a:lnTo>
                  <a:pt x="467316" y="1763"/>
                </a:lnTo>
                <a:lnTo>
                  <a:pt x="529193" y="6870"/>
                </a:lnTo>
                <a:lnTo>
                  <a:pt x="586887" y="15043"/>
                </a:lnTo>
                <a:lnTo>
                  <a:pt x="639572" y="26005"/>
                </a:lnTo>
                <a:lnTo>
                  <a:pt x="686419" y="39481"/>
                </a:lnTo>
                <a:lnTo>
                  <a:pt x="726602" y="55193"/>
                </a:lnTo>
                <a:lnTo>
                  <a:pt x="783671" y="92220"/>
                </a:lnTo>
                <a:lnTo>
                  <a:pt x="804164" y="134874"/>
                </a:lnTo>
                <a:lnTo>
                  <a:pt x="798903" y="156761"/>
                </a:lnTo>
                <a:lnTo>
                  <a:pt x="759295" y="196885"/>
                </a:lnTo>
                <a:lnTo>
                  <a:pt x="686419" y="230289"/>
                </a:lnTo>
                <a:lnTo>
                  <a:pt x="639572" y="243776"/>
                </a:lnTo>
                <a:lnTo>
                  <a:pt x="586887" y="254749"/>
                </a:lnTo>
                <a:lnTo>
                  <a:pt x="529193" y="262932"/>
                </a:lnTo>
                <a:lnTo>
                  <a:pt x="467316" y="268045"/>
                </a:lnTo>
                <a:lnTo>
                  <a:pt x="402082" y="269811"/>
                </a:lnTo>
                <a:lnTo>
                  <a:pt x="336847" y="268045"/>
                </a:lnTo>
                <a:lnTo>
                  <a:pt x="274970" y="262932"/>
                </a:lnTo>
                <a:lnTo>
                  <a:pt x="217276" y="254749"/>
                </a:lnTo>
                <a:lnTo>
                  <a:pt x="164592" y="243776"/>
                </a:lnTo>
                <a:lnTo>
                  <a:pt x="117744" y="230289"/>
                </a:lnTo>
                <a:lnTo>
                  <a:pt x="77561" y="214566"/>
                </a:lnTo>
                <a:lnTo>
                  <a:pt x="20492" y="177524"/>
                </a:lnTo>
                <a:lnTo>
                  <a:pt x="0" y="134874"/>
                </a:lnTo>
                <a:close/>
              </a:path>
            </a:pathLst>
          </a:custGeom>
          <a:ln w="6350">
            <a:solidFill>
              <a:srgbClr val="051F79"/>
            </a:solidFill>
          </a:ln>
        </p:spPr>
        <p:txBody>
          <a:bodyPr wrap="square" lIns="0" tIns="0" rIns="0" bIns="0" rtlCol="0"/>
          <a:lstStyle/>
          <a:p>
            <a:endParaRPr/>
          </a:p>
        </p:txBody>
      </p:sp>
      <p:sp>
        <p:nvSpPr>
          <p:cNvPr id="62" name="object 62"/>
          <p:cNvSpPr/>
          <p:nvPr/>
        </p:nvSpPr>
        <p:spPr>
          <a:xfrm>
            <a:off x="7771892" y="5209846"/>
            <a:ext cx="804545" cy="269875"/>
          </a:xfrm>
          <a:custGeom>
            <a:avLst/>
            <a:gdLst/>
            <a:ahLst/>
            <a:cxnLst/>
            <a:rect l="l" t="t" r="r" b="b"/>
            <a:pathLst>
              <a:path w="804545" h="269875">
                <a:moveTo>
                  <a:pt x="0" y="134874"/>
                </a:moveTo>
                <a:lnTo>
                  <a:pt x="20505" y="92220"/>
                </a:lnTo>
                <a:lnTo>
                  <a:pt x="77606" y="55193"/>
                </a:lnTo>
                <a:lnTo>
                  <a:pt x="117808" y="39481"/>
                </a:lnTo>
                <a:lnTo>
                  <a:pt x="164674" y="26005"/>
                </a:lnTo>
                <a:lnTo>
                  <a:pt x="217375" y="15043"/>
                </a:lnTo>
                <a:lnTo>
                  <a:pt x="275084" y="6870"/>
                </a:lnTo>
                <a:lnTo>
                  <a:pt x="336971" y="1763"/>
                </a:lnTo>
                <a:lnTo>
                  <a:pt x="402208" y="0"/>
                </a:lnTo>
                <a:lnTo>
                  <a:pt x="467412" y="1763"/>
                </a:lnTo>
                <a:lnTo>
                  <a:pt x="529271" y="6870"/>
                </a:lnTo>
                <a:lnTo>
                  <a:pt x="586958" y="15043"/>
                </a:lnTo>
                <a:lnTo>
                  <a:pt x="639644" y="26005"/>
                </a:lnTo>
                <a:lnTo>
                  <a:pt x="686498" y="39481"/>
                </a:lnTo>
                <a:lnTo>
                  <a:pt x="726692" y="55193"/>
                </a:lnTo>
                <a:lnTo>
                  <a:pt x="783786" y="92220"/>
                </a:lnTo>
                <a:lnTo>
                  <a:pt x="804290" y="134874"/>
                </a:lnTo>
                <a:lnTo>
                  <a:pt x="799026" y="156761"/>
                </a:lnTo>
                <a:lnTo>
                  <a:pt x="759398" y="196885"/>
                </a:lnTo>
                <a:lnTo>
                  <a:pt x="686498" y="230289"/>
                </a:lnTo>
                <a:lnTo>
                  <a:pt x="639644" y="243776"/>
                </a:lnTo>
                <a:lnTo>
                  <a:pt x="586958" y="254749"/>
                </a:lnTo>
                <a:lnTo>
                  <a:pt x="529271" y="262932"/>
                </a:lnTo>
                <a:lnTo>
                  <a:pt x="467412" y="268045"/>
                </a:lnTo>
                <a:lnTo>
                  <a:pt x="402208" y="269811"/>
                </a:lnTo>
                <a:lnTo>
                  <a:pt x="336971" y="268045"/>
                </a:lnTo>
                <a:lnTo>
                  <a:pt x="275084" y="262932"/>
                </a:lnTo>
                <a:lnTo>
                  <a:pt x="217375" y="254749"/>
                </a:lnTo>
                <a:lnTo>
                  <a:pt x="164674" y="243776"/>
                </a:lnTo>
                <a:lnTo>
                  <a:pt x="117808" y="230289"/>
                </a:lnTo>
                <a:lnTo>
                  <a:pt x="77606" y="214566"/>
                </a:lnTo>
                <a:lnTo>
                  <a:pt x="20505" y="177524"/>
                </a:lnTo>
                <a:lnTo>
                  <a:pt x="0" y="134874"/>
                </a:lnTo>
                <a:close/>
              </a:path>
            </a:pathLst>
          </a:custGeom>
          <a:ln w="6349">
            <a:solidFill>
              <a:srgbClr val="051F79"/>
            </a:solidFill>
          </a:ln>
        </p:spPr>
        <p:txBody>
          <a:bodyPr wrap="square" lIns="0" tIns="0" rIns="0" bIns="0" rtlCol="0"/>
          <a:lstStyle/>
          <a:p>
            <a:endParaRPr/>
          </a:p>
        </p:txBody>
      </p:sp>
      <p:sp>
        <p:nvSpPr>
          <p:cNvPr id="63" name="object 63"/>
          <p:cNvSpPr/>
          <p:nvPr/>
        </p:nvSpPr>
        <p:spPr>
          <a:xfrm>
            <a:off x="10081768" y="5209846"/>
            <a:ext cx="804545" cy="269875"/>
          </a:xfrm>
          <a:custGeom>
            <a:avLst/>
            <a:gdLst/>
            <a:ahLst/>
            <a:cxnLst/>
            <a:rect l="l" t="t" r="r" b="b"/>
            <a:pathLst>
              <a:path w="804545" h="269875">
                <a:moveTo>
                  <a:pt x="0" y="134874"/>
                </a:moveTo>
                <a:lnTo>
                  <a:pt x="20492" y="92220"/>
                </a:lnTo>
                <a:lnTo>
                  <a:pt x="77561" y="55193"/>
                </a:lnTo>
                <a:lnTo>
                  <a:pt x="117744" y="39481"/>
                </a:lnTo>
                <a:lnTo>
                  <a:pt x="164592" y="26005"/>
                </a:lnTo>
                <a:lnTo>
                  <a:pt x="217276" y="15043"/>
                </a:lnTo>
                <a:lnTo>
                  <a:pt x="274970" y="6870"/>
                </a:lnTo>
                <a:lnTo>
                  <a:pt x="336847" y="1763"/>
                </a:lnTo>
                <a:lnTo>
                  <a:pt x="402081" y="0"/>
                </a:lnTo>
                <a:lnTo>
                  <a:pt x="467316" y="1763"/>
                </a:lnTo>
                <a:lnTo>
                  <a:pt x="529193" y="6870"/>
                </a:lnTo>
                <a:lnTo>
                  <a:pt x="586887" y="15043"/>
                </a:lnTo>
                <a:lnTo>
                  <a:pt x="639572" y="26005"/>
                </a:lnTo>
                <a:lnTo>
                  <a:pt x="686419" y="39481"/>
                </a:lnTo>
                <a:lnTo>
                  <a:pt x="726602" y="55193"/>
                </a:lnTo>
                <a:lnTo>
                  <a:pt x="783671" y="92220"/>
                </a:lnTo>
                <a:lnTo>
                  <a:pt x="804163" y="134874"/>
                </a:lnTo>
                <a:lnTo>
                  <a:pt x="798903" y="156761"/>
                </a:lnTo>
                <a:lnTo>
                  <a:pt x="759295" y="196885"/>
                </a:lnTo>
                <a:lnTo>
                  <a:pt x="686419" y="230289"/>
                </a:lnTo>
                <a:lnTo>
                  <a:pt x="639571" y="243776"/>
                </a:lnTo>
                <a:lnTo>
                  <a:pt x="586887" y="254749"/>
                </a:lnTo>
                <a:lnTo>
                  <a:pt x="529193" y="262932"/>
                </a:lnTo>
                <a:lnTo>
                  <a:pt x="467316" y="268045"/>
                </a:lnTo>
                <a:lnTo>
                  <a:pt x="402081" y="269811"/>
                </a:lnTo>
                <a:lnTo>
                  <a:pt x="336847" y="268045"/>
                </a:lnTo>
                <a:lnTo>
                  <a:pt x="274970" y="262932"/>
                </a:lnTo>
                <a:lnTo>
                  <a:pt x="217276" y="254749"/>
                </a:lnTo>
                <a:lnTo>
                  <a:pt x="164591" y="243776"/>
                </a:lnTo>
                <a:lnTo>
                  <a:pt x="117744" y="230289"/>
                </a:lnTo>
                <a:lnTo>
                  <a:pt x="77561" y="214566"/>
                </a:lnTo>
                <a:lnTo>
                  <a:pt x="20492" y="177524"/>
                </a:lnTo>
                <a:lnTo>
                  <a:pt x="0" y="134874"/>
                </a:lnTo>
                <a:close/>
              </a:path>
            </a:pathLst>
          </a:custGeom>
          <a:ln w="6350">
            <a:solidFill>
              <a:srgbClr val="051F79"/>
            </a:solidFill>
          </a:ln>
        </p:spPr>
        <p:txBody>
          <a:bodyPr wrap="square" lIns="0" tIns="0" rIns="0" bIns="0" rtlCol="0"/>
          <a:lstStyle/>
          <a:p>
            <a:endParaRPr/>
          </a:p>
        </p:txBody>
      </p:sp>
      <p:sp>
        <p:nvSpPr>
          <p:cNvPr id="64" name="object 64"/>
          <p:cNvSpPr txBox="1"/>
          <p:nvPr/>
        </p:nvSpPr>
        <p:spPr>
          <a:xfrm>
            <a:off x="3359911" y="5244872"/>
            <a:ext cx="7320280" cy="193675"/>
          </a:xfrm>
          <a:prstGeom prst="rect">
            <a:avLst/>
          </a:prstGeom>
        </p:spPr>
        <p:txBody>
          <a:bodyPr vert="horz" wrap="square" lIns="0" tIns="12700" rIns="0" bIns="0" rtlCol="0">
            <a:spAutoFit/>
          </a:bodyPr>
          <a:lstStyle/>
          <a:p>
            <a:pPr marL="12700">
              <a:lnSpc>
                <a:spcPct val="100000"/>
              </a:lnSpc>
              <a:spcBef>
                <a:spcPts val="100"/>
              </a:spcBef>
              <a:tabLst>
                <a:tab pos="2324100" algn="l"/>
                <a:tab pos="4634230" algn="l"/>
                <a:tab pos="6944359" algn="l"/>
              </a:tabLst>
            </a:pPr>
            <a:r>
              <a:rPr sz="1100" b="1" dirty="0">
                <a:solidFill>
                  <a:srgbClr val="051F79"/>
                </a:solidFill>
                <a:latin typeface="Arial"/>
                <a:cs typeface="Arial"/>
              </a:rPr>
              <a:t>~25%	~23%	~20%	~15%</a:t>
            </a:r>
            <a:endParaRPr sz="1100">
              <a:latin typeface="Arial"/>
              <a:cs typeface="Arial"/>
            </a:endParaRPr>
          </a:p>
        </p:txBody>
      </p:sp>
      <p:sp>
        <p:nvSpPr>
          <p:cNvPr id="65" name="object 65"/>
          <p:cNvSpPr txBox="1"/>
          <p:nvPr/>
        </p:nvSpPr>
        <p:spPr>
          <a:xfrm>
            <a:off x="1804416" y="5671848"/>
            <a:ext cx="8580627" cy="228909"/>
          </a:xfrm>
          <a:prstGeom prst="rect">
            <a:avLst/>
          </a:prstGeom>
          <a:solidFill>
            <a:srgbClr val="C9EEFF"/>
          </a:solidFill>
        </p:spPr>
        <p:txBody>
          <a:bodyPr vert="horz" wrap="square" lIns="0" tIns="43815" rIns="0" bIns="0" rtlCol="0">
            <a:spAutoFit/>
          </a:bodyPr>
          <a:lstStyle/>
          <a:p>
            <a:pPr algn="ctr">
              <a:lnSpc>
                <a:spcPct val="100000"/>
              </a:lnSpc>
              <a:spcBef>
                <a:spcPts val="345"/>
              </a:spcBef>
            </a:pPr>
            <a:r>
              <a:rPr sz="1200" b="1" i="1" spc="-5" dirty="0">
                <a:latin typeface="Arial"/>
                <a:cs typeface="Arial"/>
              </a:rPr>
              <a:t>+15% </a:t>
            </a:r>
            <a:r>
              <a:rPr sz="1200" b="1" i="1" dirty="0">
                <a:latin typeface="Arial"/>
                <a:cs typeface="Arial"/>
              </a:rPr>
              <a:t>growth in used car sales from 2021 to</a:t>
            </a:r>
            <a:r>
              <a:rPr sz="1200" b="1" i="1" spc="-90" dirty="0">
                <a:latin typeface="Arial"/>
                <a:cs typeface="Arial"/>
              </a:rPr>
              <a:t> </a:t>
            </a:r>
            <a:r>
              <a:rPr sz="1200" b="1" i="1" dirty="0">
                <a:latin typeface="Arial"/>
                <a:cs typeface="Arial"/>
              </a:rPr>
              <a:t>2024</a:t>
            </a:r>
            <a:endParaRPr sz="1200">
              <a:latin typeface="Arial"/>
              <a:cs typeface="Arial"/>
            </a:endParaRPr>
          </a:p>
        </p:txBody>
      </p:sp>
      <p:sp>
        <p:nvSpPr>
          <p:cNvPr id="66" name="object 66"/>
          <p:cNvSpPr txBox="1"/>
          <p:nvPr/>
        </p:nvSpPr>
        <p:spPr>
          <a:xfrm>
            <a:off x="493395" y="6285916"/>
            <a:ext cx="3793490" cy="147955"/>
          </a:xfrm>
          <a:prstGeom prst="rect">
            <a:avLst/>
          </a:prstGeom>
        </p:spPr>
        <p:txBody>
          <a:bodyPr vert="horz" wrap="square" lIns="0" tIns="12700" rIns="0" bIns="0" rtlCol="0">
            <a:spAutoFit/>
          </a:bodyPr>
          <a:lstStyle/>
          <a:p>
            <a:pPr marL="12700">
              <a:lnSpc>
                <a:spcPct val="100000"/>
              </a:lnSpc>
              <a:spcBef>
                <a:spcPts val="100"/>
              </a:spcBef>
            </a:pPr>
            <a:r>
              <a:rPr sz="800" spc="-5" dirty="0">
                <a:latin typeface="Arial"/>
                <a:cs typeface="Arial"/>
              </a:rPr>
              <a:t>1. Booking rate calculated </a:t>
            </a:r>
            <a:r>
              <a:rPr sz="800" dirty="0">
                <a:latin typeface="Arial"/>
                <a:cs typeface="Arial"/>
              </a:rPr>
              <a:t>as: </a:t>
            </a:r>
            <a:r>
              <a:rPr sz="800" spc="-5" dirty="0">
                <a:latin typeface="Arial"/>
                <a:cs typeface="Arial"/>
              </a:rPr>
              <a:t>Applications disbursed/ </a:t>
            </a:r>
            <a:r>
              <a:rPr sz="800" dirty="0">
                <a:latin typeface="Arial"/>
                <a:cs typeface="Arial"/>
              </a:rPr>
              <a:t>Total incoming</a:t>
            </a:r>
            <a:r>
              <a:rPr sz="800" spc="-25" dirty="0">
                <a:latin typeface="Arial"/>
                <a:cs typeface="Arial"/>
              </a:rPr>
              <a:t> </a:t>
            </a:r>
            <a:r>
              <a:rPr sz="800" spc="-5" dirty="0">
                <a:latin typeface="Arial"/>
                <a:cs typeface="Arial"/>
              </a:rPr>
              <a:t>applications</a:t>
            </a:r>
            <a:endParaRPr sz="800" dirty="0">
              <a:latin typeface="Arial"/>
              <a:cs typeface="Arial"/>
            </a:endParaRPr>
          </a:p>
        </p:txBody>
      </p:sp>
      <p:sp>
        <p:nvSpPr>
          <p:cNvPr id="72" name="object 7">
            <a:extLst>
              <a:ext uri="{FF2B5EF4-FFF2-40B4-BE49-F238E27FC236}">
                <a16:creationId xmlns:a16="http://schemas.microsoft.com/office/drawing/2014/main" id="{ED4BF9F9-2450-B54C-6E2D-D8E7E43D25D1}"/>
              </a:ext>
            </a:extLst>
          </p:cNvPr>
          <p:cNvSpPr/>
          <p:nvPr/>
        </p:nvSpPr>
        <p:spPr>
          <a:xfrm>
            <a:off x="533400" y="1869366"/>
            <a:ext cx="11082655" cy="0"/>
          </a:xfrm>
          <a:custGeom>
            <a:avLst/>
            <a:gdLst/>
            <a:ahLst/>
            <a:cxnLst/>
            <a:rect l="l" t="t" r="r" b="b"/>
            <a:pathLst>
              <a:path w="11082655">
                <a:moveTo>
                  <a:pt x="0" y="0"/>
                </a:moveTo>
                <a:lnTo>
                  <a:pt x="11082528" y="0"/>
                </a:lnTo>
              </a:path>
            </a:pathLst>
          </a:custGeom>
          <a:ln w="6350">
            <a:solidFill>
              <a:srgbClr val="B3B3B3"/>
            </a:solidFill>
          </a:ln>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1F48F7E-A3B3-6B64-1044-31B92D96E7D4}"/>
              </a:ext>
            </a:extLst>
          </p:cNvPr>
          <p:cNvPicPr>
            <a:picLocks noChangeAspect="1"/>
          </p:cNvPicPr>
          <p:nvPr/>
        </p:nvPicPr>
        <p:blipFill>
          <a:blip r:embed="rId2"/>
          <a:stretch>
            <a:fillRect/>
          </a:stretch>
        </p:blipFill>
        <p:spPr>
          <a:xfrm>
            <a:off x="-21771" y="14059"/>
            <a:ext cx="12191999" cy="976542"/>
          </a:xfrm>
          <a:prstGeom prst="rect">
            <a:avLst/>
          </a:prstGeom>
        </p:spPr>
      </p:pic>
      <p:sp>
        <p:nvSpPr>
          <p:cNvPr id="2" name="object 2"/>
          <p:cNvSpPr txBox="1">
            <a:spLocks noGrp="1"/>
          </p:cNvSpPr>
          <p:nvPr>
            <p:ph type="title"/>
          </p:nvPr>
        </p:nvSpPr>
        <p:spPr>
          <a:prstGeom prst="rect">
            <a:avLst/>
          </a:prstGeom>
        </p:spPr>
        <p:txBody>
          <a:bodyPr vert="horz" wrap="square" lIns="0" tIns="45085" rIns="0" bIns="0" rtlCol="0">
            <a:spAutoFit/>
          </a:bodyPr>
          <a:lstStyle/>
          <a:p>
            <a:pPr marL="12700" marR="5080">
              <a:lnSpc>
                <a:spcPts val="2800"/>
              </a:lnSpc>
              <a:spcBef>
                <a:spcPts val="355"/>
              </a:spcBef>
            </a:pPr>
            <a:r>
              <a:rPr lang="en-US" spc="-5" dirty="0"/>
              <a:t>2i</a:t>
            </a:r>
            <a:r>
              <a:rPr spc="-5" dirty="0"/>
              <a:t> | </a:t>
            </a:r>
            <a:r>
              <a:rPr lang="en-US" spc="-10" dirty="0"/>
              <a:t>MS decrease largely driven by tighter credit policy                       and lack of competitive B2B financing.</a:t>
            </a:r>
            <a:endParaRPr spc="-10" dirty="0"/>
          </a:p>
        </p:txBody>
      </p:sp>
      <p:sp>
        <p:nvSpPr>
          <p:cNvPr id="3" name="object 3"/>
          <p:cNvSpPr txBox="1"/>
          <p:nvPr/>
        </p:nvSpPr>
        <p:spPr>
          <a:xfrm>
            <a:off x="558800" y="1942974"/>
            <a:ext cx="1085215"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Arial"/>
                <a:cs typeface="Arial"/>
              </a:rPr>
              <a:t>Key</a:t>
            </a:r>
            <a:r>
              <a:rPr sz="1600" b="1" spc="-60" dirty="0">
                <a:latin typeface="Arial"/>
                <a:cs typeface="Arial"/>
              </a:rPr>
              <a:t> </a:t>
            </a:r>
            <a:r>
              <a:rPr sz="1600" b="1" spc="-5" dirty="0">
                <a:latin typeface="Arial"/>
                <a:cs typeface="Arial"/>
              </a:rPr>
              <a:t>Issues</a:t>
            </a:r>
            <a:endParaRPr sz="1600">
              <a:latin typeface="Arial"/>
              <a:cs typeface="Arial"/>
            </a:endParaRPr>
          </a:p>
        </p:txBody>
      </p:sp>
      <p:sp>
        <p:nvSpPr>
          <p:cNvPr id="4" name="object 4"/>
          <p:cNvSpPr txBox="1"/>
          <p:nvPr/>
        </p:nvSpPr>
        <p:spPr>
          <a:xfrm>
            <a:off x="966012" y="2373708"/>
            <a:ext cx="1348105" cy="997068"/>
          </a:xfrm>
          <a:prstGeom prst="rect">
            <a:avLst/>
          </a:prstGeom>
        </p:spPr>
        <p:txBody>
          <a:bodyPr vert="horz" wrap="square" lIns="0" tIns="12065" rIns="0" bIns="0" rtlCol="0">
            <a:spAutoFit/>
          </a:bodyPr>
          <a:lstStyle/>
          <a:p>
            <a:pPr marL="12700" marR="5080">
              <a:lnSpc>
                <a:spcPct val="100000"/>
              </a:lnSpc>
              <a:spcBef>
                <a:spcPts val="95"/>
              </a:spcBef>
            </a:pPr>
            <a:r>
              <a:rPr sz="1600" b="1" spc="-5" dirty="0">
                <a:latin typeface="Arial"/>
                <a:cs typeface="Arial"/>
              </a:rPr>
              <a:t>Stricter </a:t>
            </a:r>
            <a:r>
              <a:rPr sz="1600" b="1" spc="-10" dirty="0">
                <a:latin typeface="Arial"/>
                <a:cs typeface="Arial"/>
              </a:rPr>
              <a:t>credit  </a:t>
            </a:r>
            <a:r>
              <a:rPr sz="1600" b="1" spc="-5" dirty="0">
                <a:latin typeface="Arial"/>
                <a:cs typeface="Arial"/>
              </a:rPr>
              <a:t>policy </a:t>
            </a:r>
            <a:r>
              <a:rPr sz="1600" b="1" spc="-10" dirty="0">
                <a:latin typeface="Arial"/>
                <a:cs typeface="Arial"/>
              </a:rPr>
              <a:t>than  competitors</a:t>
            </a:r>
            <a:r>
              <a:rPr lang="en-US" sz="1600" b="1" spc="-10" dirty="0">
                <a:latin typeface="Arial"/>
                <a:cs typeface="Arial"/>
              </a:rPr>
              <a:t> in Used Cars</a:t>
            </a:r>
            <a:endParaRPr sz="1600" dirty="0">
              <a:latin typeface="Arial"/>
              <a:cs typeface="Arial"/>
            </a:endParaRPr>
          </a:p>
        </p:txBody>
      </p:sp>
      <p:sp>
        <p:nvSpPr>
          <p:cNvPr id="5" name="object 5"/>
          <p:cNvSpPr txBox="1"/>
          <p:nvPr/>
        </p:nvSpPr>
        <p:spPr>
          <a:xfrm>
            <a:off x="3013329" y="1942974"/>
            <a:ext cx="1689735" cy="269240"/>
          </a:xfrm>
          <a:prstGeom prst="rect">
            <a:avLst/>
          </a:prstGeom>
        </p:spPr>
        <p:txBody>
          <a:bodyPr vert="horz" wrap="square" lIns="0" tIns="12065" rIns="0" bIns="0" rtlCol="0">
            <a:spAutoFit/>
          </a:bodyPr>
          <a:lstStyle/>
          <a:p>
            <a:pPr marL="12700">
              <a:lnSpc>
                <a:spcPct val="100000"/>
              </a:lnSpc>
              <a:spcBef>
                <a:spcPts val="95"/>
              </a:spcBef>
              <a:tabLst>
                <a:tab pos="1341120" algn="l"/>
                <a:tab pos="1676400" algn="l"/>
              </a:tabLst>
            </a:pPr>
            <a:r>
              <a:rPr sz="1600" b="1" spc="-10" dirty="0">
                <a:latin typeface="Arial"/>
                <a:cs typeface="Arial"/>
              </a:rPr>
              <a:t>Description	</a:t>
            </a:r>
            <a:r>
              <a:rPr sz="1600" b="1" u="sng" spc="-15" dirty="0">
                <a:uFill>
                  <a:solidFill>
                    <a:srgbClr val="051F79"/>
                  </a:solidFill>
                </a:uFill>
                <a:latin typeface="Arial"/>
                <a:cs typeface="Arial"/>
              </a:rPr>
              <a:t> </a:t>
            </a:r>
            <a:r>
              <a:rPr sz="1600" b="1" u="sng" spc="-10" dirty="0">
                <a:uFill>
                  <a:solidFill>
                    <a:srgbClr val="051F79"/>
                  </a:solidFill>
                </a:uFill>
                <a:latin typeface="Arial"/>
                <a:cs typeface="Arial"/>
              </a:rPr>
              <a:t>	</a:t>
            </a:r>
            <a:endParaRPr sz="1600">
              <a:latin typeface="Arial"/>
              <a:cs typeface="Arial"/>
            </a:endParaRPr>
          </a:p>
        </p:txBody>
      </p:sp>
      <p:sp>
        <p:nvSpPr>
          <p:cNvPr id="6" name="object 6"/>
          <p:cNvSpPr txBox="1"/>
          <p:nvPr/>
        </p:nvSpPr>
        <p:spPr>
          <a:xfrm>
            <a:off x="3016376" y="2373708"/>
            <a:ext cx="5685155" cy="1526540"/>
          </a:xfrm>
          <a:prstGeom prst="rect">
            <a:avLst/>
          </a:prstGeom>
        </p:spPr>
        <p:txBody>
          <a:bodyPr vert="horz" wrap="square" lIns="0" tIns="12065" rIns="0" bIns="0" rtlCol="0">
            <a:spAutoFit/>
          </a:bodyPr>
          <a:lstStyle/>
          <a:p>
            <a:pPr marL="238125" marR="140335" indent="-226060">
              <a:lnSpc>
                <a:spcPct val="100000"/>
              </a:lnSpc>
              <a:spcBef>
                <a:spcPts val="95"/>
              </a:spcBef>
              <a:buFont typeface="Wingdings"/>
              <a:buChar char=""/>
              <a:tabLst>
                <a:tab pos="238125" algn="l"/>
                <a:tab pos="238760" algn="l"/>
              </a:tabLst>
            </a:pPr>
            <a:r>
              <a:rPr sz="1600" spc="-5" dirty="0">
                <a:latin typeface="Arial"/>
                <a:cs typeface="Arial"/>
              </a:rPr>
              <a:t>Eurobank applies a </a:t>
            </a:r>
            <a:r>
              <a:rPr sz="1600" b="1" spc="-5" dirty="0">
                <a:latin typeface="Arial"/>
                <a:cs typeface="Arial"/>
              </a:rPr>
              <a:t>more </a:t>
            </a:r>
            <a:r>
              <a:rPr sz="1600" b="1" spc="-10" dirty="0">
                <a:latin typeface="Arial"/>
                <a:cs typeface="Arial"/>
              </a:rPr>
              <a:t>conservative </a:t>
            </a:r>
            <a:r>
              <a:rPr sz="1600" b="1" spc="-5" dirty="0">
                <a:latin typeface="Arial"/>
                <a:cs typeface="Arial"/>
              </a:rPr>
              <a:t>credit policy </a:t>
            </a:r>
            <a:r>
              <a:rPr sz="1600" spc="-5" dirty="0">
                <a:latin typeface="Arial"/>
                <a:cs typeface="Arial"/>
              </a:rPr>
              <a:t>than  </a:t>
            </a:r>
            <a:r>
              <a:rPr sz="1600" b="1" spc="-15" dirty="0">
                <a:latin typeface="Arial"/>
                <a:cs typeface="Arial"/>
              </a:rPr>
              <a:t>systemic </a:t>
            </a:r>
            <a:r>
              <a:rPr sz="1600" b="1" spc="-10" dirty="0">
                <a:latin typeface="Arial"/>
                <a:cs typeface="Arial"/>
              </a:rPr>
              <a:t>banks </a:t>
            </a:r>
            <a:r>
              <a:rPr sz="1600" spc="-5" dirty="0">
                <a:latin typeface="Arial"/>
                <a:cs typeface="Arial"/>
              </a:rPr>
              <a:t>and </a:t>
            </a:r>
            <a:r>
              <a:rPr sz="1600" b="1" spc="-10" dirty="0">
                <a:latin typeface="Arial"/>
                <a:cs typeface="Arial"/>
              </a:rPr>
              <a:t>specialized players</a:t>
            </a:r>
            <a:r>
              <a:rPr sz="1600" spc="-10" dirty="0">
                <a:latin typeface="Arial"/>
                <a:cs typeface="Arial"/>
              </a:rPr>
              <a:t>, with lower  </a:t>
            </a:r>
            <a:r>
              <a:rPr sz="1600" spc="-5" dirty="0">
                <a:latin typeface="Arial"/>
                <a:cs typeface="Arial"/>
              </a:rPr>
              <a:t>booking rates (37% ERB vs. 60–80% of competitors),  particularly for vehicles &gt;9 </a:t>
            </a:r>
            <a:r>
              <a:rPr sz="1600" spc="-10" dirty="0">
                <a:latin typeface="Arial"/>
                <a:cs typeface="Arial"/>
              </a:rPr>
              <a:t>years</a:t>
            </a:r>
            <a:endParaRPr sz="1600" dirty="0">
              <a:latin typeface="Arial"/>
              <a:cs typeface="Arial"/>
            </a:endParaRPr>
          </a:p>
          <a:p>
            <a:pPr marL="238125" marR="5080" indent="-226060">
              <a:lnSpc>
                <a:spcPct val="100000"/>
              </a:lnSpc>
              <a:spcBef>
                <a:spcPts val="305"/>
              </a:spcBef>
              <a:buFont typeface="Wingdings"/>
              <a:buChar char=""/>
              <a:tabLst>
                <a:tab pos="238125" algn="l"/>
                <a:tab pos="238760" algn="l"/>
              </a:tabLst>
            </a:pPr>
            <a:r>
              <a:rPr sz="1600" spc="-5" dirty="0">
                <a:latin typeface="Arial"/>
                <a:cs typeface="Arial"/>
              </a:rPr>
              <a:t>Unlike competitors, </a:t>
            </a:r>
            <a:r>
              <a:rPr sz="1600" b="1" spc="-5" dirty="0">
                <a:latin typeface="Arial"/>
                <a:cs typeface="Arial"/>
              </a:rPr>
              <a:t>Eurobank </a:t>
            </a:r>
            <a:r>
              <a:rPr sz="1600" b="1" spc="-10" dirty="0">
                <a:latin typeface="Arial"/>
                <a:cs typeface="Arial"/>
              </a:rPr>
              <a:t>requires </a:t>
            </a:r>
            <a:r>
              <a:rPr sz="1600" b="1" spc="-5" dirty="0">
                <a:latin typeface="Arial"/>
                <a:cs typeface="Arial"/>
              </a:rPr>
              <a:t>a mandatory </a:t>
            </a:r>
            <a:r>
              <a:rPr sz="1600" b="1" dirty="0">
                <a:latin typeface="Arial"/>
                <a:cs typeface="Arial"/>
              </a:rPr>
              <a:t>down  </a:t>
            </a:r>
            <a:r>
              <a:rPr sz="1600" b="1" spc="-15" dirty="0">
                <a:latin typeface="Arial"/>
                <a:cs typeface="Arial"/>
              </a:rPr>
              <a:t>payment </a:t>
            </a:r>
            <a:r>
              <a:rPr sz="1600" b="1" spc="-5" dirty="0">
                <a:latin typeface="Arial"/>
                <a:cs typeface="Arial"/>
              </a:rPr>
              <a:t>linked to </a:t>
            </a:r>
            <a:r>
              <a:rPr sz="1600" b="1" spc="-15" dirty="0">
                <a:latin typeface="Arial"/>
                <a:cs typeface="Arial"/>
              </a:rPr>
              <a:t>vehicle </a:t>
            </a:r>
            <a:r>
              <a:rPr sz="1600" b="1" spc="-10" dirty="0">
                <a:latin typeface="Arial"/>
                <a:cs typeface="Arial"/>
              </a:rPr>
              <a:t>age </a:t>
            </a:r>
            <a:r>
              <a:rPr sz="1600" spc="-5" dirty="0">
                <a:latin typeface="Arial"/>
                <a:cs typeface="Arial"/>
              </a:rPr>
              <a:t>(e.g., for cars </a:t>
            </a:r>
            <a:r>
              <a:rPr sz="1600" dirty="0">
                <a:latin typeface="Arial"/>
                <a:cs typeface="Arial"/>
              </a:rPr>
              <a:t>&gt;9</a:t>
            </a:r>
            <a:r>
              <a:rPr sz="1600" spc="285" dirty="0">
                <a:latin typeface="Arial"/>
                <a:cs typeface="Arial"/>
              </a:rPr>
              <a:t> </a:t>
            </a:r>
            <a:r>
              <a:rPr sz="1600" spc="-10" dirty="0">
                <a:latin typeface="Arial"/>
                <a:cs typeface="Arial"/>
              </a:rPr>
              <a:t>years)</a:t>
            </a:r>
            <a:endParaRPr sz="1600" dirty="0">
              <a:latin typeface="Arial"/>
              <a:cs typeface="Arial"/>
            </a:endParaRPr>
          </a:p>
        </p:txBody>
      </p:sp>
      <p:sp>
        <p:nvSpPr>
          <p:cNvPr id="7" name="object 7"/>
          <p:cNvSpPr txBox="1"/>
          <p:nvPr/>
        </p:nvSpPr>
        <p:spPr>
          <a:xfrm>
            <a:off x="3016376" y="4373120"/>
            <a:ext cx="5541645" cy="1000760"/>
          </a:xfrm>
          <a:prstGeom prst="rect">
            <a:avLst/>
          </a:prstGeom>
        </p:spPr>
        <p:txBody>
          <a:bodyPr vert="horz" wrap="square" lIns="0" tIns="12065" rIns="0" bIns="0" rtlCol="0">
            <a:spAutoFit/>
          </a:bodyPr>
          <a:lstStyle/>
          <a:p>
            <a:pPr marL="238125" marR="5080" indent="-226060">
              <a:lnSpc>
                <a:spcPct val="100000"/>
              </a:lnSpc>
              <a:spcBef>
                <a:spcPts val="95"/>
              </a:spcBef>
              <a:buFont typeface="Wingdings"/>
              <a:buChar char=""/>
              <a:tabLst>
                <a:tab pos="238125" algn="l"/>
                <a:tab pos="238760" algn="l"/>
              </a:tabLst>
            </a:pPr>
            <a:r>
              <a:rPr sz="1600" spc="-5" dirty="0">
                <a:latin typeface="Arial"/>
                <a:cs typeface="Arial"/>
              </a:rPr>
              <a:t>Eurobank lacks a competitive B2B financing proposition for  dealerships and RACs, while </a:t>
            </a:r>
            <a:r>
              <a:rPr sz="1600" b="1" spc="-5" dirty="0">
                <a:latin typeface="Arial"/>
                <a:cs typeface="Arial"/>
              </a:rPr>
              <a:t>competitors use digital  </a:t>
            </a:r>
            <a:r>
              <a:rPr sz="1600" b="1" spc="-10" dirty="0">
                <a:latin typeface="Arial"/>
                <a:cs typeface="Arial"/>
              </a:rPr>
              <a:t>platforms </a:t>
            </a:r>
            <a:r>
              <a:rPr sz="1600" spc="-10" dirty="0">
                <a:latin typeface="Arial"/>
                <a:cs typeface="Arial"/>
              </a:rPr>
              <a:t>and </a:t>
            </a:r>
            <a:r>
              <a:rPr sz="1600" spc="-5" dirty="0">
                <a:latin typeface="Arial"/>
                <a:cs typeface="Arial"/>
              </a:rPr>
              <a:t>flexible models, aligning </a:t>
            </a:r>
            <a:r>
              <a:rPr sz="1600" b="1" spc="-10" dirty="0">
                <a:latin typeface="Arial"/>
                <a:cs typeface="Arial"/>
              </a:rPr>
              <a:t>B2B </a:t>
            </a:r>
            <a:r>
              <a:rPr sz="1600" b="1" spc="-5" dirty="0">
                <a:latin typeface="Arial"/>
                <a:cs typeface="Arial"/>
              </a:rPr>
              <a:t>terms </a:t>
            </a:r>
            <a:r>
              <a:rPr sz="1600" spc="-10" dirty="0">
                <a:latin typeface="Arial"/>
                <a:cs typeface="Arial"/>
              </a:rPr>
              <a:t>with  </a:t>
            </a:r>
            <a:r>
              <a:rPr sz="1600" spc="-5" dirty="0">
                <a:latin typeface="Arial"/>
                <a:cs typeface="Arial"/>
              </a:rPr>
              <a:t>retail to </a:t>
            </a:r>
            <a:r>
              <a:rPr sz="1600" b="1" spc="-10" dirty="0">
                <a:latin typeface="Arial"/>
                <a:cs typeface="Arial"/>
              </a:rPr>
              <a:t>expand their share </a:t>
            </a:r>
            <a:r>
              <a:rPr sz="1600" b="1" spc="-5" dirty="0">
                <a:latin typeface="Arial"/>
                <a:cs typeface="Arial"/>
              </a:rPr>
              <a:t>of</a:t>
            </a:r>
            <a:r>
              <a:rPr sz="1600" b="1" spc="95" dirty="0">
                <a:latin typeface="Arial"/>
                <a:cs typeface="Arial"/>
              </a:rPr>
              <a:t> </a:t>
            </a:r>
            <a:r>
              <a:rPr sz="1600" b="1" dirty="0">
                <a:latin typeface="Arial"/>
                <a:cs typeface="Arial"/>
              </a:rPr>
              <a:t>wallet</a:t>
            </a:r>
            <a:endParaRPr sz="1600" dirty="0">
              <a:latin typeface="Arial"/>
              <a:cs typeface="Arial"/>
            </a:endParaRPr>
          </a:p>
        </p:txBody>
      </p:sp>
      <p:sp>
        <p:nvSpPr>
          <p:cNvPr id="8" name="object 8"/>
          <p:cNvSpPr/>
          <p:nvPr/>
        </p:nvSpPr>
        <p:spPr>
          <a:xfrm>
            <a:off x="554736" y="2269745"/>
            <a:ext cx="11082655" cy="0"/>
          </a:xfrm>
          <a:custGeom>
            <a:avLst/>
            <a:gdLst/>
            <a:ahLst/>
            <a:cxnLst/>
            <a:rect l="l" t="t" r="r" b="b"/>
            <a:pathLst>
              <a:path w="11082655">
                <a:moveTo>
                  <a:pt x="0" y="0"/>
                </a:moveTo>
                <a:lnTo>
                  <a:pt x="11082528" y="0"/>
                </a:lnTo>
              </a:path>
            </a:pathLst>
          </a:custGeom>
          <a:ln w="12700">
            <a:solidFill>
              <a:srgbClr val="757575"/>
            </a:solidFill>
          </a:ln>
        </p:spPr>
        <p:txBody>
          <a:bodyPr wrap="square" lIns="0" tIns="0" rIns="0" bIns="0" rtlCol="0"/>
          <a:lstStyle/>
          <a:p>
            <a:endParaRPr/>
          </a:p>
        </p:txBody>
      </p:sp>
      <p:sp>
        <p:nvSpPr>
          <p:cNvPr id="9" name="object 9"/>
          <p:cNvSpPr/>
          <p:nvPr/>
        </p:nvSpPr>
        <p:spPr>
          <a:xfrm>
            <a:off x="554736" y="4148203"/>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10" name="object 10"/>
          <p:cNvSpPr/>
          <p:nvPr/>
        </p:nvSpPr>
        <p:spPr>
          <a:xfrm>
            <a:off x="571500" y="2390904"/>
            <a:ext cx="279400" cy="279400"/>
          </a:xfrm>
          <a:custGeom>
            <a:avLst/>
            <a:gdLst/>
            <a:ahLst/>
            <a:cxnLst/>
            <a:rect l="l" t="t" r="r" b="b"/>
            <a:pathLst>
              <a:path w="279400" h="279400">
                <a:moveTo>
                  <a:pt x="139674" y="0"/>
                </a:moveTo>
                <a:lnTo>
                  <a:pt x="95526" y="7128"/>
                </a:lnTo>
                <a:lnTo>
                  <a:pt x="57184" y="26972"/>
                </a:lnTo>
                <a:lnTo>
                  <a:pt x="26949" y="57223"/>
                </a:lnTo>
                <a:lnTo>
                  <a:pt x="7120" y="95569"/>
                </a:lnTo>
                <a:lnTo>
                  <a:pt x="0" y="139700"/>
                </a:lnTo>
                <a:lnTo>
                  <a:pt x="7120" y="183830"/>
                </a:lnTo>
                <a:lnTo>
                  <a:pt x="26949" y="222176"/>
                </a:lnTo>
                <a:lnTo>
                  <a:pt x="57184" y="252427"/>
                </a:lnTo>
                <a:lnTo>
                  <a:pt x="95526" y="272271"/>
                </a:lnTo>
                <a:lnTo>
                  <a:pt x="139674" y="279400"/>
                </a:lnTo>
                <a:lnTo>
                  <a:pt x="183816" y="272271"/>
                </a:lnTo>
                <a:lnTo>
                  <a:pt x="222154" y="252427"/>
                </a:lnTo>
                <a:lnTo>
                  <a:pt x="252388" y="222176"/>
                </a:lnTo>
                <a:lnTo>
                  <a:pt x="272215" y="183830"/>
                </a:lnTo>
                <a:lnTo>
                  <a:pt x="279336" y="139700"/>
                </a:lnTo>
                <a:lnTo>
                  <a:pt x="272215" y="95569"/>
                </a:lnTo>
                <a:lnTo>
                  <a:pt x="252388" y="57223"/>
                </a:lnTo>
                <a:lnTo>
                  <a:pt x="222154" y="26972"/>
                </a:lnTo>
                <a:lnTo>
                  <a:pt x="183816" y="7128"/>
                </a:lnTo>
                <a:lnTo>
                  <a:pt x="139674" y="0"/>
                </a:lnTo>
                <a:close/>
              </a:path>
            </a:pathLst>
          </a:custGeom>
          <a:solidFill>
            <a:srgbClr val="051F79"/>
          </a:solidFill>
        </p:spPr>
        <p:txBody>
          <a:bodyPr wrap="square" lIns="0" tIns="0" rIns="0" bIns="0" rtlCol="0"/>
          <a:lstStyle/>
          <a:p>
            <a:endParaRPr/>
          </a:p>
        </p:txBody>
      </p:sp>
      <p:sp>
        <p:nvSpPr>
          <p:cNvPr id="11" name="object 11"/>
          <p:cNvSpPr txBox="1"/>
          <p:nvPr/>
        </p:nvSpPr>
        <p:spPr>
          <a:xfrm>
            <a:off x="649020" y="2405636"/>
            <a:ext cx="125095" cy="239395"/>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FFFFFF"/>
                </a:solidFill>
                <a:latin typeface="Arial"/>
                <a:cs typeface="Arial"/>
              </a:rPr>
              <a:t>1</a:t>
            </a:r>
            <a:endParaRPr sz="1400">
              <a:latin typeface="Arial"/>
              <a:cs typeface="Arial"/>
            </a:endParaRPr>
          </a:p>
        </p:txBody>
      </p:sp>
      <p:sp>
        <p:nvSpPr>
          <p:cNvPr id="12" name="object 12"/>
          <p:cNvSpPr/>
          <p:nvPr/>
        </p:nvSpPr>
        <p:spPr>
          <a:xfrm>
            <a:off x="571500" y="4389629"/>
            <a:ext cx="279400" cy="279400"/>
          </a:xfrm>
          <a:custGeom>
            <a:avLst/>
            <a:gdLst/>
            <a:ahLst/>
            <a:cxnLst/>
            <a:rect l="l" t="t" r="r" b="b"/>
            <a:pathLst>
              <a:path w="279400" h="279400">
                <a:moveTo>
                  <a:pt x="139674" y="0"/>
                </a:moveTo>
                <a:lnTo>
                  <a:pt x="95526" y="7128"/>
                </a:lnTo>
                <a:lnTo>
                  <a:pt x="57184" y="26972"/>
                </a:lnTo>
                <a:lnTo>
                  <a:pt x="26949" y="57223"/>
                </a:lnTo>
                <a:lnTo>
                  <a:pt x="7120" y="95569"/>
                </a:lnTo>
                <a:lnTo>
                  <a:pt x="0" y="139700"/>
                </a:lnTo>
                <a:lnTo>
                  <a:pt x="7120" y="183879"/>
                </a:lnTo>
                <a:lnTo>
                  <a:pt x="26949" y="222231"/>
                </a:lnTo>
                <a:lnTo>
                  <a:pt x="57184" y="252463"/>
                </a:lnTo>
                <a:lnTo>
                  <a:pt x="95526" y="272283"/>
                </a:lnTo>
                <a:lnTo>
                  <a:pt x="139674" y="279400"/>
                </a:lnTo>
                <a:lnTo>
                  <a:pt x="183816" y="272283"/>
                </a:lnTo>
                <a:lnTo>
                  <a:pt x="222154" y="252463"/>
                </a:lnTo>
                <a:lnTo>
                  <a:pt x="252388" y="222231"/>
                </a:lnTo>
                <a:lnTo>
                  <a:pt x="272215" y="183879"/>
                </a:lnTo>
                <a:lnTo>
                  <a:pt x="279336" y="139700"/>
                </a:lnTo>
                <a:lnTo>
                  <a:pt x="272215" y="95569"/>
                </a:lnTo>
                <a:lnTo>
                  <a:pt x="252388" y="57223"/>
                </a:lnTo>
                <a:lnTo>
                  <a:pt x="222154" y="26972"/>
                </a:lnTo>
                <a:lnTo>
                  <a:pt x="183816" y="7128"/>
                </a:lnTo>
                <a:lnTo>
                  <a:pt x="139674" y="0"/>
                </a:lnTo>
                <a:close/>
              </a:path>
            </a:pathLst>
          </a:custGeom>
          <a:solidFill>
            <a:srgbClr val="051F79"/>
          </a:solidFill>
        </p:spPr>
        <p:txBody>
          <a:bodyPr wrap="square" lIns="0" tIns="0" rIns="0" bIns="0" rtlCol="0"/>
          <a:lstStyle/>
          <a:p>
            <a:endParaRPr/>
          </a:p>
        </p:txBody>
      </p:sp>
      <p:sp>
        <p:nvSpPr>
          <p:cNvPr id="13" name="object 13"/>
          <p:cNvSpPr txBox="1"/>
          <p:nvPr/>
        </p:nvSpPr>
        <p:spPr>
          <a:xfrm>
            <a:off x="649020" y="4380232"/>
            <a:ext cx="2056130" cy="749935"/>
          </a:xfrm>
          <a:prstGeom prst="rect">
            <a:avLst/>
          </a:prstGeom>
        </p:spPr>
        <p:txBody>
          <a:bodyPr vert="horz" wrap="square" lIns="0" tIns="15240" rIns="0" bIns="0" rtlCol="0">
            <a:spAutoFit/>
          </a:bodyPr>
          <a:lstStyle/>
          <a:p>
            <a:pPr marL="329565" marR="5080" indent="-317500">
              <a:lnSpc>
                <a:spcPct val="98600"/>
              </a:lnSpc>
              <a:spcBef>
                <a:spcPts val="120"/>
              </a:spcBef>
              <a:tabLst>
                <a:tab pos="329565" algn="l"/>
              </a:tabLst>
            </a:pPr>
            <a:r>
              <a:rPr sz="1400" dirty="0">
                <a:solidFill>
                  <a:srgbClr val="FFFFFF"/>
                </a:solidFill>
                <a:latin typeface="Arial"/>
                <a:cs typeface="Arial"/>
              </a:rPr>
              <a:t>2	</a:t>
            </a:r>
            <a:r>
              <a:rPr sz="2400" b="1" spc="-22" baseline="1736" dirty="0">
                <a:latin typeface="Arial"/>
                <a:cs typeface="Arial"/>
              </a:rPr>
              <a:t>Absence </a:t>
            </a:r>
            <a:r>
              <a:rPr sz="2400" b="1" spc="-7" baseline="1736" dirty="0">
                <a:latin typeface="Arial"/>
                <a:cs typeface="Arial"/>
              </a:rPr>
              <a:t>of a </a:t>
            </a:r>
            <a:r>
              <a:rPr sz="1600" b="1" spc="-5" dirty="0">
                <a:latin typeface="Arial"/>
                <a:cs typeface="Arial"/>
              </a:rPr>
              <a:t> </a:t>
            </a:r>
            <a:r>
              <a:rPr sz="1600" b="1" spc="-10" dirty="0">
                <a:latin typeface="Arial"/>
                <a:cs typeface="Arial"/>
              </a:rPr>
              <a:t>competitive B2B  financing</a:t>
            </a:r>
            <a:r>
              <a:rPr sz="1600" b="1" spc="-20" dirty="0">
                <a:latin typeface="Arial"/>
                <a:cs typeface="Arial"/>
              </a:rPr>
              <a:t> </a:t>
            </a:r>
            <a:r>
              <a:rPr sz="1600" b="1" spc="-5" dirty="0">
                <a:latin typeface="Arial"/>
                <a:cs typeface="Arial"/>
              </a:rPr>
              <a:t>offering</a:t>
            </a:r>
            <a:endParaRPr sz="1600">
              <a:latin typeface="Arial"/>
              <a:cs typeface="Arial"/>
            </a:endParaRPr>
          </a:p>
        </p:txBody>
      </p:sp>
      <p:sp>
        <p:nvSpPr>
          <p:cNvPr id="15" name="object 15"/>
          <p:cNvSpPr txBox="1"/>
          <p:nvPr/>
        </p:nvSpPr>
        <p:spPr>
          <a:xfrm>
            <a:off x="8885935" y="1725678"/>
            <a:ext cx="2137410" cy="513080"/>
          </a:xfrm>
          <a:prstGeom prst="rect">
            <a:avLst/>
          </a:prstGeom>
        </p:spPr>
        <p:txBody>
          <a:bodyPr vert="horz" wrap="square" lIns="0" tIns="12065" rIns="0" bIns="0" rtlCol="0">
            <a:spAutoFit/>
          </a:bodyPr>
          <a:lstStyle/>
          <a:p>
            <a:pPr marL="12700" marR="5080">
              <a:lnSpc>
                <a:spcPct val="100000"/>
              </a:lnSpc>
              <a:spcBef>
                <a:spcPts val="95"/>
              </a:spcBef>
            </a:pPr>
            <a:r>
              <a:rPr sz="1600" b="1" spc="-5" dirty="0">
                <a:latin typeface="Arial"/>
                <a:cs typeface="Arial"/>
              </a:rPr>
              <a:t>Main </a:t>
            </a:r>
            <a:r>
              <a:rPr sz="1600" b="1" spc="-10" dirty="0">
                <a:latin typeface="Arial"/>
                <a:cs typeface="Arial"/>
              </a:rPr>
              <a:t>competitors  </a:t>
            </a:r>
            <a:r>
              <a:rPr sz="1600" b="1" dirty="0">
                <a:latin typeface="Arial"/>
                <a:cs typeface="Arial"/>
              </a:rPr>
              <a:t>growing </a:t>
            </a:r>
            <a:r>
              <a:rPr sz="1600" b="1" spc="-10" dirty="0">
                <a:latin typeface="Arial"/>
                <a:cs typeface="Arial"/>
              </a:rPr>
              <a:t>market</a:t>
            </a:r>
            <a:r>
              <a:rPr sz="1600" b="1" spc="-50" dirty="0">
                <a:latin typeface="Arial"/>
                <a:cs typeface="Arial"/>
              </a:rPr>
              <a:t> </a:t>
            </a:r>
            <a:r>
              <a:rPr sz="1600" b="1" spc="-10" dirty="0">
                <a:latin typeface="Arial"/>
                <a:cs typeface="Arial"/>
              </a:rPr>
              <a:t>share</a:t>
            </a:r>
            <a:endParaRPr sz="1600">
              <a:latin typeface="Arial"/>
              <a:cs typeface="Arial"/>
            </a:endParaRPr>
          </a:p>
        </p:txBody>
      </p:sp>
      <p:sp>
        <p:nvSpPr>
          <p:cNvPr id="16" name="object 16"/>
          <p:cNvSpPr/>
          <p:nvPr/>
        </p:nvSpPr>
        <p:spPr>
          <a:xfrm>
            <a:off x="10887836" y="4412828"/>
            <a:ext cx="521204" cy="516691"/>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9884340" y="4398832"/>
            <a:ext cx="546371" cy="526225"/>
          </a:xfrm>
          <a:prstGeom prst="rect">
            <a:avLst/>
          </a:prstGeom>
          <a:blipFill>
            <a:blip r:embed="rId4" cstate="print"/>
            <a:stretch>
              <a:fillRect/>
            </a:stretch>
          </a:blipFill>
        </p:spPr>
        <p:txBody>
          <a:bodyPr wrap="square" lIns="0" tIns="0" rIns="0" bIns="0" rtlCol="0"/>
          <a:lstStyle/>
          <a:p>
            <a:endParaRPr/>
          </a:p>
        </p:txBody>
      </p:sp>
      <p:sp>
        <p:nvSpPr>
          <p:cNvPr id="18" name="object 18"/>
          <p:cNvSpPr/>
          <p:nvPr/>
        </p:nvSpPr>
        <p:spPr>
          <a:xfrm>
            <a:off x="8897619" y="4421555"/>
            <a:ext cx="636209" cy="463581"/>
          </a:xfrm>
          <a:prstGeom prst="rect">
            <a:avLst/>
          </a:prstGeom>
          <a:blipFill>
            <a:blip r:embed="rId5" cstate="print"/>
            <a:stretch>
              <a:fillRect/>
            </a:stretch>
          </a:blipFill>
        </p:spPr>
        <p:txBody>
          <a:bodyPr wrap="square" lIns="0" tIns="0" rIns="0" bIns="0" rtlCol="0"/>
          <a:lstStyle/>
          <a:p>
            <a:endParaRPr/>
          </a:p>
        </p:txBody>
      </p:sp>
      <p:sp>
        <p:nvSpPr>
          <p:cNvPr id="19" name="object 19"/>
          <p:cNvSpPr/>
          <p:nvPr/>
        </p:nvSpPr>
        <p:spPr>
          <a:xfrm>
            <a:off x="10439400" y="5061447"/>
            <a:ext cx="1127201" cy="343039"/>
          </a:xfrm>
          <a:prstGeom prst="rect">
            <a:avLst/>
          </a:prstGeom>
          <a:blipFill>
            <a:blip r:embed="rId6" cstate="print"/>
            <a:stretch>
              <a:fillRect/>
            </a:stretch>
          </a:blipFill>
        </p:spPr>
        <p:txBody>
          <a:bodyPr wrap="square" lIns="0" tIns="0" rIns="0" bIns="0" rtlCol="0"/>
          <a:lstStyle/>
          <a:p>
            <a:endParaRPr/>
          </a:p>
        </p:txBody>
      </p:sp>
      <p:sp>
        <p:nvSpPr>
          <p:cNvPr id="20" name="object 20"/>
          <p:cNvSpPr/>
          <p:nvPr/>
        </p:nvSpPr>
        <p:spPr>
          <a:xfrm>
            <a:off x="8897619" y="3308224"/>
            <a:ext cx="1305178" cy="250698"/>
          </a:xfrm>
          <a:prstGeom prst="rect">
            <a:avLst/>
          </a:prstGeom>
          <a:blipFill>
            <a:blip r:embed="rId7" cstate="print"/>
            <a:stretch>
              <a:fillRect/>
            </a:stretch>
          </a:blipFill>
        </p:spPr>
        <p:txBody>
          <a:bodyPr wrap="square" lIns="0" tIns="0" rIns="0" bIns="0" rtlCol="0"/>
          <a:lstStyle/>
          <a:p>
            <a:endParaRPr/>
          </a:p>
        </p:txBody>
      </p:sp>
      <p:sp>
        <p:nvSpPr>
          <p:cNvPr id="22" name="object 22"/>
          <p:cNvSpPr/>
          <p:nvPr/>
        </p:nvSpPr>
        <p:spPr>
          <a:xfrm>
            <a:off x="10393561" y="3071988"/>
            <a:ext cx="1117759" cy="239505"/>
          </a:xfrm>
          <a:prstGeom prst="rect">
            <a:avLst/>
          </a:prstGeom>
          <a:blipFill>
            <a:blip r:embed="rId8" cstate="print"/>
            <a:stretch>
              <a:fillRect/>
            </a:stretch>
          </a:blipFill>
        </p:spPr>
        <p:txBody>
          <a:bodyPr wrap="square" lIns="0" tIns="0" rIns="0" bIns="0" rtlCol="0"/>
          <a:lstStyle/>
          <a:p>
            <a:endParaRPr/>
          </a:p>
        </p:txBody>
      </p:sp>
      <p:sp>
        <p:nvSpPr>
          <p:cNvPr id="23" name="object 23"/>
          <p:cNvSpPr/>
          <p:nvPr/>
        </p:nvSpPr>
        <p:spPr>
          <a:xfrm>
            <a:off x="8897619" y="2874047"/>
            <a:ext cx="1059179" cy="196206"/>
          </a:xfrm>
          <a:prstGeom prst="rect">
            <a:avLst/>
          </a:prstGeom>
          <a:blipFill>
            <a:blip r:embed="rId9" cstate="print"/>
            <a:stretch>
              <a:fillRect/>
            </a:stretch>
          </a:blipFill>
        </p:spPr>
        <p:txBody>
          <a:bodyPr wrap="square" lIns="0" tIns="0" rIns="0" bIns="0" rtlCol="0"/>
          <a:lstStyle/>
          <a:p>
            <a:endParaRPr/>
          </a:p>
        </p:txBody>
      </p:sp>
      <p:sp>
        <p:nvSpPr>
          <p:cNvPr id="24" name="object 24"/>
          <p:cNvSpPr/>
          <p:nvPr/>
        </p:nvSpPr>
        <p:spPr>
          <a:xfrm>
            <a:off x="10499725" y="2429410"/>
            <a:ext cx="758748" cy="479907"/>
          </a:xfrm>
          <a:prstGeom prst="rect">
            <a:avLst/>
          </a:prstGeom>
          <a:blipFill>
            <a:blip r:embed="rId10" cstate="print"/>
            <a:stretch>
              <a:fillRect/>
            </a:stretch>
          </a:blipFill>
        </p:spPr>
        <p:txBody>
          <a:bodyPr wrap="square" lIns="0" tIns="0" rIns="0" bIns="0" rtlCol="0"/>
          <a:lstStyle/>
          <a:p>
            <a:endParaRPr/>
          </a:p>
        </p:txBody>
      </p:sp>
      <p:sp>
        <p:nvSpPr>
          <p:cNvPr id="25" name="object 25"/>
          <p:cNvSpPr/>
          <p:nvPr/>
        </p:nvSpPr>
        <p:spPr>
          <a:xfrm>
            <a:off x="8897619" y="5061459"/>
            <a:ext cx="1305178" cy="250698"/>
          </a:xfrm>
          <a:prstGeom prst="rect">
            <a:avLst/>
          </a:prstGeom>
          <a:blipFill>
            <a:blip r:embed="rId7" cstate="print"/>
            <a:stretch>
              <a:fillRect/>
            </a:stretch>
          </a:blipFill>
        </p:spPr>
        <p:txBody>
          <a:bodyPr wrap="square" lIns="0" tIns="0" rIns="0" bIns="0" rtlCol="0"/>
          <a:lstStyle/>
          <a:p>
            <a:endParaRPr/>
          </a:p>
        </p:txBody>
      </p:sp>
      <p:sp>
        <p:nvSpPr>
          <p:cNvPr id="26" name="object 26"/>
          <p:cNvSpPr/>
          <p:nvPr/>
        </p:nvSpPr>
        <p:spPr>
          <a:xfrm>
            <a:off x="553973" y="5825491"/>
            <a:ext cx="11082655" cy="499109"/>
          </a:xfrm>
          <a:custGeom>
            <a:avLst/>
            <a:gdLst/>
            <a:ahLst/>
            <a:cxnLst/>
            <a:rect l="l" t="t" r="r" b="b"/>
            <a:pathLst>
              <a:path w="11082655" h="499110">
                <a:moveTo>
                  <a:pt x="10999470" y="0"/>
                </a:moveTo>
                <a:lnTo>
                  <a:pt x="83096" y="0"/>
                </a:lnTo>
                <a:lnTo>
                  <a:pt x="50749" y="6532"/>
                </a:lnTo>
                <a:lnTo>
                  <a:pt x="24336" y="24352"/>
                </a:lnTo>
                <a:lnTo>
                  <a:pt x="6529" y="50792"/>
                </a:lnTo>
                <a:lnTo>
                  <a:pt x="0" y="83184"/>
                </a:lnTo>
                <a:lnTo>
                  <a:pt x="0" y="415505"/>
                </a:lnTo>
                <a:lnTo>
                  <a:pt x="6529" y="447852"/>
                </a:lnTo>
                <a:lnTo>
                  <a:pt x="24336" y="474265"/>
                </a:lnTo>
                <a:lnTo>
                  <a:pt x="50749" y="492072"/>
                </a:lnTo>
                <a:lnTo>
                  <a:pt x="83096" y="498601"/>
                </a:lnTo>
                <a:lnTo>
                  <a:pt x="10999470" y="498601"/>
                </a:lnTo>
                <a:lnTo>
                  <a:pt x="11031789" y="492072"/>
                </a:lnTo>
                <a:lnTo>
                  <a:pt x="11058191" y="474265"/>
                </a:lnTo>
                <a:lnTo>
                  <a:pt x="11075997" y="447852"/>
                </a:lnTo>
                <a:lnTo>
                  <a:pt x="11082528" y="415505"/>
                </a:lnTo>
                <a:lnTo>
                  <a:pt x="11082528" y="83184"/>
                </a:lnTo>
                <a:lnTo>
                  <a:pt x="11075997" y="50792"/>
                </a:lnTo>
                <a:lnTo>
                  <a:pt x="11058191" y="24352"/>
                </a:lnTo>
                <a:lnTo>
                  <a:pt x="11031789" y="6532"/>
                </a:lnTo>
                <a:lnTo>
                  <a:pt x="10999470" y="0"/>
                </a:lnTo>
                <a:close/>
              </a:path>
            </a:pathLst>
          </a:custGeom>
          <a:solidFill>
            <a:srgbClr val="051F79"/>
          </a:solidFill>
        </p:spPr>
        <p:txBody>
          <a:bodyPr wrap="square" lIns="0" tIns="0" rIns="0" bIns="0" rtlCol="0"/>
          <a:lstStyle/>
          <a:p>
            <a:endParaRPr/>
          </a:p>
        </p:txBody>
      </p:sp>
      <p:sp>
        <p:nvSpPr>
          <p:cNvPr id="27" name="object 27"/>
          <p:cNvSpPr txBox="1"/>
          <p:nvPr/>
        </p:nvSpPr>
        <p:spPr>
          <a:xfrm>
            <a:off x="1524761" y="5830114"/>
            <a:ext cx="9789160" cy="482600"/>
          </a:xfrm>
          <a:prstGeom prst="rect">
            <a:avLst/>
          </a:prstGeom>
        </p:spPr>
        <p:txBody>
          <a:bodyPr vert="horz" wrap="square" lIns="0" tIns="12700" rIns="0" bIns="0" rtlCol="0">
            <a:spAutoFit/>
          </a:bodyPr>
          <a:lstStyle/>
          <a:p>
            <a:pPr algn="ctr">
              <a:lnSpc>
                <a:spcPct val="100000"/>
              </a:lnSpc>
              <a:spcBef>
                <a:spcPts val="100"/>
              </a:spcBef>
            </a:pPr>
            <a:r>
              <a:rPr sz="1500" dirty="0">
                <a:solidFill>
                  <a:srgbClr val="FFFFFF"/>
                </a:solidFill>
                <a:latin typeface="Arial"/>
                <a:cs typeface="Arial"/>
              </a:rPr>
              <a:t>While </a:t>
            </a:r>
            <a:r>
              <a:rPr sz="1500" spc="-5" dirty="0">
                <a:solidFill>
                  <a:srgbClr val="FFFFFF"/>
                </a:solidFill>
                <a:latin typeface="Arial"/>
                <a:cs typeface="Arial"/>
              </a:rPr>
              <a:t>pain </a:t>
            </a:r>
            <a:r>
              <a:rPr sz="1500" dirty="0">
                <a:solidFill>
                  <a:srgbClr val="FFFFFF"/>
                </a:solidFill>
                <a:latin typeface="Arial"/>
                <a:cs typeface="Arial"/>
              </a:rPr>
              <a:t>points </a:t>
            </a:r>
            <a:r>
              <a:rPr sz="1500" spc="-5" dirty="0">
                <a:solidFill>
                  <a:srgbClr val="FFFFFF"/>
                </a:solidFill>
                <a:latin typeface="Arial"/>
                <a:cs typeface="Arial"/>
              </a:rPr>
              <a:t>exist, Eurobank’s </a:t>
            </a:r>
            <a:r>
              <a:rPr sz="1500" dirty="0">
                <a:solidFill>
                  <a:srgbClr val="FFFFFF"/>
                </a:solidFill>
                <a:latin typeface="Arial"/>
                <a:cs typeface="Arial"/>
              </a:rPr>
              <a:t>strengths – </a:t>
            </a:r>
            <a:r>
              <a:rPr sz="1500" b="1" spc="-5" dirty="0">
                <a:solidFill>
                  <a:srgbClr val="FFFFFF"/>
                </a:solidFill>
                <a:latin typeface="Arial"/>
                <a:cs typeface="Arial"/>
              </a:rPr>
              <a:t>unique </a:t>
            </a:r>
            <a:r>
              <a:rPr sz="1500" b="1" dirty="0">
                <a:solidFill>
                  <a:srgbClr val="FFFFFF"/>
                </a:solidFill>
                <a:latin typeface="Arial"/>
                <a:cs typeface="Arial"/>
              </a:rPr>
              <a:t>dealer network</a:t>
            </a:r>
            <a:r>
              <a:rPr sz="1500" dirty="0">
                <a:solidFill>
                  <a:srgbClr val="FFFFFF"/>
                </a:solidFill>
                <a:latin typeface="Arial"/>
                <a:cs typeface="Arial"/>
              </a:rPr>
              <a:t>, </a:t>
            </a:r>
            <a:r>
              <a:rPr sz="1500" b="1" dirty="0">
                <a:solidFill>
                  <a:srgbClr val="FFFFFF"/>
                </a:solidFill>
                <a:latin typeface="Arial"/>
                <a:cs typeface="Arial"/>
              </a:rPr>
              <a:t>strong capabilities, and reliable brand</a:t>
            </a:r>
            <a:r>
              <a:rPr sz="1500" b="1" spc="-245" dirty="0">
                <a:solidFill>
                  <a:srgbClr val="FFFFFF"/>
                </a:solidFill>
                <a:latin typeface="Arial"/>
                <a:cs typeface="Arial"/>
              </a:rPr>
              <a:t> </a:t>
            </a:r>
            <a:r>
              <a:rPr sz="1500" dirty="0">
                <a:solidFill>
                  <a:srgbClr val="FFFFFF"/>
                </a:solidFill>
                <a:latin typeface="Arial"/>
                <a:cs typeface="Arial"/>
              </a:rPr>
              <a:t>–</a:t>
            </a:r>
            <a:endParaRPr sz="1500">
              <a:latin typeface="Arial"/>
              <a:cs typeface="Arial"/>
            </a:endParaRPr>
          </a:p>
          <a:p>
            <a:pPr algn="ctr">
              <a:lnSpc>
                <a:spcPct val="100000"/>
              </a:lnSpc>
            </a:pPr>
            <a:r>
              <a:rPr sz="1500" spc="-5" dirty="0">
                <a:solidFill>
                  <a:srgbClr val="FFFFFF"/>
                </a:solidFill>
                <a:latin typeface="Arial"/>
                <a:cs typeface="Arial"/>
              </a:rPr>
              <a:t>provide </a:t>
            </a:r>
            <a:r>
              <a:rPr sz="1500" dirty="0">
                <a:solidFill>
                  <a:srgbClr val="FFFFFF"/>
                </a:solidFill>
                <a:latin typeface="Arial"/>
                <a:cs typeface="Arial"/>
              </a:rPr>
              <a:t>a </a:t>
            </a:r>
            <a:r>
              <a:rPr sz="1500" b="1" spc="-5" dirty="0">
                <a:solidFill>
                  <a:srgbClr val="FFFFFF"/>
                </a:solidFill>
                <a:latin typeface="Arial"/>
                <a:cs typeface="Arial"/>
              </a:rPr>
              <a:t>strong foundation </a:t>
            </a:r>
            <a:r>
              <a:rPr sz="1500" b="1" dirty="0">
                <a:solidFill>
                  <a:srgbClr val="FFFFFF"/>
                </a:solidFill>
                <a:latin typeface="Arial"/>
                <a:cs typeface="Arial"/>
              </a:rPr>
              <a:t>for</a:t>
            </a:r>
            <a:r>
              <a:rPr sz="1500" b="1" spc="-35" dirty="0">
                <a:solidFill>
                  <a:srgbClr val="FFFFFF"/>
                </a:solidFill>
                <a:latin typeface="Arial"/>
                <a:cs typeface="Arial"/>
              </a:rPr>
              <a:t> </a:t>
            </a:r>
            <a:r>
              <a:rPr sz="1500" b="1" dirty="0">
                <a:solidFill>
                  <a:srgbClr val="FFFFFF"/>
                </a:solidFill>
                <a:latin typeface="Arial"/>
                <a:cs typeface="Arial"/>
              </a:rPr>
              <a:t>growth</a:t>
            </a:r>
            <a:endParaRPr sz="1500">
              <a:latin typeface="Arial"/>
              <a:cs typeface="Arial"/>
            </a:endParaRPr>
          </a:p>
        </p:txBody>
      </p:sp>
      <p:sp>
        <p:nvSpPr>
          <p:cNvPr id="28" name="object 28"/>
          <p:cNvSpPr/>
          <p:nvPr/>
        </p:nvSpPr>
        <p:spPr>
          <a:xfrm>
            <a:off x="711174" y="5876672"/>
            <a:ext cx="396240" cy="396875"/>
          </a:xfrm>
          <a:custGeom>
            <a:avLst/>
            <a:gdLst/>
            <a:ahLst/>
            <a:cxnLst/>
            <a:rect l="l" t="t" r="r" b="b"/>
            <a:pathLst>
              <a:path w="396240" h="396875">
                <a:moveTo>
                  <a:pt x="198107" y="0"/>
                </a:moveTo>
                <a:lnTo>
                  <a:pt x="152683" y="5236"/>
                </a:lnTo>
                <a:lnTo>
                  <a:pt x="110985" y="20150"/>
                </a:lnTo>
                <a:lnTo>
                  <a:pt x="74201" y="43549"/>
                </a:lnTo>
                <a:lnTo>
                  <a:pt x="43522" y="74240"/>
                </a:lnTo>
                <a:lnTo>
                  <a:pt x="20136" y="111032"/>
                </a:lnTo>
                <a:lnTo>
                  <a:pt x="5232" y="152731"/>
                </a:lnTo>
                <a:lnTo>
                  <a:pt x="0" y="198145"/>
                </a:lnTo>
                <a:lnTo>
                  <a:pt x="5232" y="243573"/>
                </a:lnTo>
                <a:lnTo>
                  <a:pt x="20136" y="285275"/>
                </a:lnTo>
                <a:lnTo>
                  <a:pt x="43522" y="322061"/>
                </a:lnTo>
                <a:lnTo>
                  <a:pt x="74201" y="352742"/>
                </a:lnTo>
                <a:lnTo>
                  <a:pt x="110985" y="376129"/>
                </a:lnTo>
                <a:lnTo>
                  <a:pt x="152683" y="391033"/>
                </a:lnTo>
                <a:lnTo>
                  <a:pt x="198107" y="396265"/>
                </a:lnTo>
                <a:lnTo>
                  <a:pt x="243535" y="391033"/>
                </a:lnTo>
                <a:lnTo>
                  <a:pt x="285237" y="376129"/>
                </a:lnTo>
                <a:lnTo>
                  <a:pt x="322023" y="352742"/>
                </a:lnTo>
                <a:lnTo>
                  <a:pt x="352703" y="322061"/>
                </a:lnTo>
                <a:lnTo>
                  <a:pt x="376090" y="285275"/>
                </a:lnTo>
                <a:lnTo>
                  <a:pt x="390995" y="243573"/>
                </a:lnTo>
                <a:lnTo>
                  <a:pt x="396227" y="198145"/>
                </a:lnTo>
                <a:lnTo>
                  <a:pt x="390995" y="152731"/>
                </a:lnTo>
                <a:lnTo>
                  <a:pt x="376090" y="111032"/>
                </a:lnTo>
                <a:lnTo>
                  <a:pt x="352703" y="74240"/>
                </a:lnTo>
                <a:lnTo>
                  <a:pt x="322023" y="43549"/>
                </a:lnTo>
                <a:lnTo>
                  <a:pt x="285237" y="20150"/>
                </a:lnTo>
                <a:lnTo>
                  <a:pt x="243535" y="5236"/>
                </a:lnTo>
                <a:lnTo>
                  <a:pt x="198107" y="0"/>
                </a:lnTo>
                <a:close/>
              </a:path>
            </a:pathLst>
          </a:custGeom>
          <a:solidFill>
            <a:srgbClr val="051F79"/>
          </a:solidFill>
        </p:spPr>
        <p:txBody>
          <a:bodyPr wrap="square" lIns="0" tIns="0" rIns="0" bIns="0" rtlCol="0"/>
          <a:lstStyle/>
          <a:p>
            <a:endParaRPr/>
          </a:p>
        </p:txBody>
      </p:sp>
      <p:sp>
        <p:nvSpPr>
          <p:cNvPr id="29" name="object 29"/>
          <p:cNvSpPr/>
          <p:nvPr/>
        </p:nvSpPr>
        <p:spPr>
          <a:xfrm>
            <a:off x="711174" y="5876672"/>
            <a:ext cx="396240" cy="396875"/>
          </a:xfrm>
          <a:custGeom>
            <a:avLst/>
            <a:gdLst/>
            <a:ahLst/>
            <a:cxnLst/>
            <a:rect l="l" t="t" r="r" b="b"/>
            <a:pathLst>
              <a:path w="396240" h="396875">
                <a:moveTo>
                  <a:pt x="0" y="198145"/>
                </a:moveTo>
                <a:lnTo>
                  <a:pt x="5232" y="152731"/>
                </a:lnTo>
                <a:lnTo>
                  <a:pt x="20136" y="111032"/>
                </a:lnTo>
                <a:lnTo>
                  <a:pt x="43522" y="74240"/>
                </a:lnTo>
                <a:lnTo>
                  <a:pt x="74201" y="43549"/>
                </a:lnTo>
                <a:lnTo>
                  <a:pt x="110985" y="20150"/>
                </a:lnTo>
                <a:lnTo>
                  <a:pt x="152683" y="5236"/>
                </a:lnTo>
                <a:lnTo>
                  <a:pt x="198107" y="0"/>
                </a:lnTo>
                <a:lnTo>
                  <a:pt x="243535" y="5236"/>
                </a:lnTo>
                <a:lnTo>
                  <a:pt x="285237" y="20150"/>
                </a:lnTo>
                <a:lnTo>
                  <a:pt x="322023" y="43549"/>
                </a:lnTo>
                <a:lnTo>
                  <a:pt x="352703" y="74240"/>
                </a:lnTo>
                <a:lnTo>
                  <a:pt x="376090" y="111032"/>
                </a:lnTo>
                <a:lnTo>
                  <a:pt x="390995" y="152731"/>
                </a:lnTo>
                <a:lnTo>
                  <a:pt x="396227" y="198145"/>
                </a:lnTo>
                <a:lnTo>
                  <a:pt x="390995" y="243573"/>
                </a:lnTo>
                <a:lnTo>
                  <a:pt x="376090" y="285275"/>
                </a:lnTo>
                <a:lnTo>
                  <a:pt x="352703" y="322061"/>
                </a:lnTo>
                <a:lnTo>
                  <a:pt x="322023" y="352742"/>
                </a:lnTo>
                <a:lnTo>
                  <a:pt x="285237" y="376129"/>
                </a:lnTo>
                <a:lnTo>
                  <a:pt x="243535" y="391033"/>
                </a:lnTo>
                <a:lnTo>
                  <a:pt x="198107" y="396265"/>
                </a:lnTo>
                <a:lnTo>
                  <a:pt x="152683" y="391033"/>
                </a:lnTo>
                <a:lnTo>
                  <a:pt x="110985" y="376129"/>
                </a:lnTo>
                <a:lnTo>
                  <a:pt x="74201" y="352742"/>
                </a:lnTo>
                <a:lnTo>
                  <a:pt x="43522" y="322061"/>
                </a:lnTo>
                <a:lnTo>
                  <a:pt x="20136" y="285275"/>
                </a:lnTo>
                <a:lnTo>
                  <a:pt x="5232" y="243573"/>
                </a:lnTo>
                <a:lnTo>
                  <a:pt x="0" y="198145"/>
                </a:lnTo>
                <a:close/>
              </a:path>
            </a:pathLst>
          </a:custGeom>
          <a:ln w="6350">
            <a:solidFill>
              <a:srgbClr val="FFFFFF"/>
            </a:solidFill>
          </a:ln>
        </p:spPr>
        <p:txBody>
          <a:bodyPr wrap="square" lIns="0" tIns="0" rIns="0" bIns="0" rtlCol="0"/>
          <a:lstStyle/>
          <a:p>
            <a:endParaRPr/>
          </a:p>
        </p:txBody>
      </p:sp>
      <p:sp>
        <p:nvSpPr>
          <p:cNvPr id="30" name="object 30"/>
          <p:cNvSpPr/>
          <p:nvPr/>
        </p:nvSpPr>
        <p:spPr>
          <a:xfrm>
            <a:off x="874540" y="6002860"/>
            <a:ext cx="53975" cy="53340"/>
          </a:xfrm>
          <a:custGeom>
            <a:avLst/>
            <a:gdLst/>
            <a:ahLst/>
            <a:cxnLst/>
            <a:rect l="l" t="t" r="r" b="b"/>
            <a:pathLst>
              <a:path w="53975" h="53339">
                <a:moveTo>
                  <a:pt x="0" y="0"/>
                </a:moveTo>
                <a:lnTo>
                  <a:pt x="53401" y="53301"/>
                </a:lnTo>
              </a:path>
            </a:pathLst>
          </a:custGeom>
          <a:ln w="12688">
            <a:solidFill>
              <a:srgbClr val="FFFFFF"/>
            </a:solidFill>
          </a:ln>
        </p:spPr>
        <p:txBody>
          <a:bodyPr wrap="square" lIns="0" tIns="0" rIns="0" bIns="0" rtlCol="0"/>
          <a:lstStyle/>
          <a:p>
            <a:endParaRPr/>
          </a:p>
        </p:txBody>
      </p:sp>
      <p:sp>
        <p:nvSpPr>
          <p:cNvPr id="31" name="object 31"/>
          <p:cNvSpPr/>
          <p:nvPr/>
        </p:nvSpPr>
        <p:spPr>
          <a:xfrm>
            <a:off x="2860929" y="2390904"/>
            <a:ext cx="0" cy="1516380"/>
          </a:xfrm>
          <a:custGeom>
            <a:avLst/>
            <a:gdLst/>
            <a:ahLst/>
            <a:cxnLst/>
            <a:rect l="l" t="t" r="r" b="b"/>
            <a:pathLst>
              <a:path h="1516379">
                <a:moveTo>
                  <a:pt x="0" y="0"/>
                </a:moveTo>
                <a:lnTo>
                  <a:pt x="0" y="1515872"/>
                </a:lnTo>
              </a:path>
            </a:pathLst>
          </a:custGeom>
          <a:ln w="12700">
            <a:solidFill>
              <a:srgbClr val="000000"/>
            </a:solidFill>
          </a:ln>
        </p:spPr>
        <p:txBody>
          <a:bodyPr wrap="square" lIns="0" tIns="0" rIns="0" bIns="0" rtlCol="0"/>
          <a:lstStyle/>
          <a:p>
            <a:endParaRPr/>
          </a:p>
        </p:txBody>
      </p:sp>
      <p:sp>
        <p:nvSpPr>
          <p:cNvPr id="32" name="object 32"/>
          <p:cNvSpPr/>
          <p:nvPr/>
        </p:nvSpPr>
        <p:spPr>
          <a:xfrm>
            <a:off x="2860929" y="4389629"/>
            <a:ext cx="0" cy="984885"/>
          </a:xfrm>
          <a:custGeom>
            <a:avLst/>
            <a:gdLst/>
            <a:ahLst/>
            <a:cxnLst/>
            <a:rect l="l" t="t" r="r" b="b"/>
            <a:pathLst>
              <a:path h="984885">
                <a:moveTo>
                  <a:pt x="0" y="0"/>
                </a:moveTo>
                <a:lnTo>
                  <a:pt x="0" y="984884"/>
                </a:lnTo>
              </a:path>
            </a:pathLst>
          </a:custGeom>
          <a:ln w="12700">
            <a:solidFill>
              <a:srgbClr val="000000"/>
            </a:solidFill>
          </a:ln>
        </p:spPr>
        <p:txBody>
          <a:bodyPr wrap="square" lIns="0" tIns="0" rIns="0" bIns="0" rtlCol="0"/>
          <a:lstStyle/>
          <a:p>
            <a:endParaRPr/>
          </a:p>
        </p:txBody>
      </p:sp>
      <p:sp>
        <p:nvSpPr>
          <p:cNvPr id="33" name="object 33"/>
          <p:cNvSpPr/>
          <p:nvPr/>
        </p:nvSpPr>
        <p:spPr>
          <a:xfrm>
            <a:off x="1759435" y="2055607"/>
            <a:ext cx="54610" cy="141605"/>
          </a:xfrm>
          <a:custGeom>
            <a:avLst/>
            <a:gdLst/>
            <a:ahLst/>
            <a:cxnLst/>
            <a:rect l="l" t="t" r="r" b="b"/>
            <a:pathLst>
              <a:path w="54610" h="141605">
                <a:moveTo>
                  <a:pt x="0" y="141278"/>
                </a:moveTo>
                <a:lnTo>
                  <a:pt x="54336" y="141278"/>
                </a:lnTo>
                <a:lnTo>
                  <a:pt x="54336" y="0"/>
                </a:lnTo>
                <a:lnTo>
                  <a:pt x="0" y="0"/>
                </a:lnTo>
                <a:lnTo>
                  <a:pt x="0" y="141278"/>
                </a:lnTo>
                <a:close/>
              </a:path>
            </a:pathLst>
          </a:custGeom>
          <a:ln w="8942">
            <a:solidFill>
              <a:srgbClr val="051F79"/>
            </a:solidFill>
          </a:ln>
        </p:spPr>
        <p:txBody>
          <a:bodyPr wrap="square" lIns="0" tIns="0" rIns="0" bIns="0" rtlCol="0"/>
          <a:lstStyle/>
          <a:p>
            <a:endParaRPr/>
          </a:p>
        </p:txBody>
      </p:sp>
      <p:sp>
        <p:nvSpPr>
          <p:cNvPr id="34" name="object 34"/>
          <p:cNvSpPr/>
          <p:nvPr/>
        </p:nvSpPr>
        <p:spPr>
          <a:xfrm>
            <a:off x="1813771" y="2086410"/>
            <a:ext cx="189865" cy="51435"/>
          </a:xfrm>
          <a:custGeom>
            <a:avLst/>
            <a:gdLst/>
            <a:ahLst/>
            <a:cxnLst/>
            <a:rect l="l" t="t" r="r" b="b"/>
            <a:pathLst>
              <a:path w="189864" h="51435">
                <a:moveTo>
                  <a:pt x="0" y="0"/>
                </a:moveTo>
                <a:lnTo>
                  <a:pt x="164350" y="0"/>
                </a:lnTo>
                <a:lnTo>
                  <a:pt x="174181" y="1998"/>
                </a:lnTo>
                <a:lnTo>
                  <a:pt x="182126" y="7448"/>
                </a:lnTo>
                <a:lnTo>
                  <a:pt x="187556" y="15536"/>
                </a:lnTo>
                <a:lnTo>
                  <a:pt x="189841" y="25443"/>
                </a:lnTo>
                <a:lnTo>
                  <a:pt x="187839" y="35256"/>
                </a:lnTo>
                <a:lnTo>
                  <a:pt x="182378" y="43187"/>
                </a:lnTo>
                <a:lnTo>
                  <a:pt x="174276" y="48606"/>
                </a:lnTo>
                <a:lnTo>
                  <a:pt x="164350" y="50887"/>
                </a:lnTo>
                <a:lnTo>
                  <a:pt x="117393" y="50887"/>
                </a:lnTo>
              </a:path>
            </a:pathLst>
          </a:custGeom>
          <a:ln w="8928">
            <a:solidFill>
              <a:srgbClr val="051F79"/>
            </a:solidFill>
          </a:ln>
        </p:spPr>
        <p:txBody>
          <a:bodyPr wrap="square" lIns="0" tIns="0" rIns="0" bIns="0" rtlCol="0"/>
          <a:lstStyle/>
          <a:p>
            <a:endParaRPr/>
          </a:p>
        </p:txBody>
      </p:sp>
      <p:sp>
        <p:nvSpPr>
          <p:cNvPr id="35" name="object 35"/>
          <p:cNvSpPr/>
          <p:nvPr/>
        </p:nvSpPr>
        <p:spPr>
          <a:xfrm>
            <a:off x="1813771" y="2067411"/>
            <a:ext cx="316865" cy="126364"/>
          </a:xfrm>
          <a:custGeom>
            <a:avLst/>
            <a:gdLst/>
            <a:ahLst/>
            <a:cxnLst/>
            <a:rect l="l" t="t" r="r" b="b"/>
            <a:pathLst>
              <a:path w="316864" h="126364">
                <a:moveTo>
                  <a:pt x="185145" y="59173"/>
                </a:moveTo>
                <a:lnTo>
                  <a:pt x="226736" y="59173"/>
                </a:lnTo>
                <a:lnTo>
                  <a:pt x="272351" y="8285"/>
                </a:lnTo>
                <a:lnTo>
                  <a:pt x="280359" y="2416"/>
                </a:lnTo>
                <a:lnTo>
                  <a:pt x="289625" y="0"/>
                </a:lnTo>
                <a:lnTo>
                  <a:pt x="299142" y="1224"/>
                </a:lnTo>
                <a:lnTo>
                  <a:pt x="307905" y="6277"/>
                </a:lnTo>
                <a:lnTo>
                  <a:pt x="314068" y="14270"/>
                </a:lnTo>
                <a:lnTo>
                  <a:pt x="316458" y="23518"/>
                </a:lnTo>
                <a:lnTo>
                  <a:pt x="315074" y="33018"/>
                </a:lnTo>
                <a:lnTo>
                  <a:pt x="309917" y="41764"/>
                </a:lnTo>
                <a:lnTo>
                  <a:pt x="240823" y="119431"/>
                </a:lnTo>
                <a:lnTo>
                  <a:pt x="237469" y="123449"/>
                </a:lnTo>
                <a:lnTo>
                  <a:pt x="232102" y="126127"/>
                </a:lnTo>
                <a:lnTo>
                  <a:pt x="226736" y="126127"/>
                </a:lnTo>
                <a:lnTo>
                  <a:pt x="52323" y="126127"/>
                </a:lnTo>
                <a:lnTo>
                  <a:pt x="48969" y="126127"/>
                </a:lnTo>
                <a:lnTo>
                  <a:pt x="46286" y="125458"/>
                </a:lnTo>
                <a:lnTo>
                  <a:pt x="43603" y="124118"/>
                </a:lnTo>
                <a:lnTo>
                  <a:pt x="0" y="100684"/>
                </a:lnTo>
              </a:path>
            </a:pathLst>
          </a:custGeom>
          <a:ln w="8929">
            <a:solidFill>
              <a:srgbClr val="051F79"/>
            </a:solidFill>
          </a:ln>
        </p:spPr>
        <p:txBody>
          <a:bodyPr wrap="square" lIns="0" tIns="0" rIns="0" bIns="0" rtlCol="0"/>
          <a:lstStyle/>
          <a:p>
            <a:endParaRPr/>
          </a:p>
        </p:txBody>
      </p:sp>
      <p:sp>
        <p:nvSpPr>
          <p:cNvPr id="36" name="object 36"/>
          <p:cNvSpPr/>
          <p:nvPr/>
        </p:nvSpPr>
        <p:spPr>
          <a:xfrm>
            <a:off x="1901205" y="1848263"/>
            <a:ext cx="128341" cy="128118"/>
          </a:xfrm>
          <a:prstGeom prst="rect">
            <a:avLst/>
          </a:prstGeom>
          <a:blipFill>
            <a:blip r:embed="rId11" cstate="print"/>
            <a:stretch>
              <a:fillRect/>
            </a:stretch>
          </a:blipFill>
        </p:spPr>
        <p:txBody>
          <a:bodyPr wrap="square" lIns="0" tIns="0" rIns="0" bIns="0" rtlCol="0"/>
          <a:lstStyle/>
          <a:p>
            <a:endParaRPr/>
          </a:p>
        </p:txBody>
      </p:sp>
      <p:sp>
        <p:nvSpPr>
          <p:cNvPr id="37" name="object 37"/>
          <p:cNvSpPr/>
          <p:nvPr/>
        </p:nvSpPr>
        <p:spPr>
          <a:xfrm>
            <a:off x="1835237" y="1781756"/>
            <a:ext cx="260350" cy="261620"/>
          </a:xfrm>
          <a:custGeom>
            <a:avLst/>
            <a:gdLst/>
            <a:ahLst/>
            <a:cxnLst/>
            <a:rect l="l" t="t" r="r" b="b"/>
            <a:pathLst>
              <a:path w="260350" h="261619">
                <a:moveTo>
                  <a:pt x="32870" y="156009"/>
                </a:moveTo>
                <a:lnTo>
                  <a:pt x="0" y="156009"/>
                </a:lnTo>
                <a:lnTo>
                  <a:pt x="0" y="101104"/>
                </a:lnTo>
                <a:lnTo>
                  <a:pt x="32870" y="101104"/>
                </a:lnTo>
                <a:lnTo>
                  <a:pt x="34882" y="93739"/>
                </a:lnTo>
                <a:lnTo>
                  <a:pt x="38236" y="86374"/>
                </a:lnTo>
                <a:lnTo>
                  <a:pt x="41590" y="80348"/>
                </a:lnTo>
                <a:lnTo>
                  <a:pt x="18112" y="56243"/>
                </a:lnTo>
                <a:lnTo>
                  <a:pt x="57690" y="18078"/>
                </a:lnTo>
                <a:lnTo>
                  <a:pt x="81168" y="41513"/>
                </a:lnTo>
                <a:lnTo>
                  <a:pt x="87877" y="37495"/>
                </a:lnTo>
                <a:lnTo>
                  <a:pt x="95256" y="34817"/>
                </a:lnTo>
                <a:lnTo>
                  <a:pt x="103305" y="32808"/>
                </a:lnTo>
                <a:lnTo>
                  <a:pt x="103305" y="0"/>
                </a:lnTo>
                <a:lnTo>
                  <a:pt x="158312" y="0"/>
                </a:lnTo>
                <a:lnTo>
                  <a:pt x="158312" y="33478"/>
                </a:lnTo>
                <a:lnTo>
                  <a:pt x="165021" y="35487"/>
                </a:lnTo>
                <a:lnTo>
                  <a:pt x="172400" y="38165"/>
                </a:lnTo>
                <a:lnTo>
                  <a:pt x="178437" y="41513"/>
                </a:lnTo>
                <a:lnTo>
                  <a:pt x="201245" y="18078"/>
                </a:lnTo>
                <a:lnTo>
                  <a:pt x="240823" y="56913"/>
                </a:lnTo>
                <a:lnTo>
                  <a:pt x="218015" y="80348"/>
                </a:lnTo>
                <a:lnTo>
                  <a:pt x="222040" y="87043"/>
                </a:lnTo>
                <a:lnTo>
                  <a:pt x="224723" y="94409"/>
                </a:lnTo>
                <a:lnTo>
                  <a:pt x="226736" y="102443"/>
                </a:lnTo>
                <a:lnTo>
                  <a:pt x="260277" y="101774"/>
                </a:lnTo>
                <a:lnTo>
                  <a:pt x="260277" y="156678"/>
                </a:lnTo>
                <a:lnTo>
                  <a:pt x="226736" y="156678"/>
                </a:lnTo>
                <a:lnTo>
                  <a:pt x="224723" y="164044"/>
                </a:lnTo>
                <a:lnTo>
                  <a:pt x="221369" y="171409"/>
                </a:lnTo>
                <a:lnTo>
                  <a:pt x="218015" y="178105"/>
                </a:lnTo>
                <a:lnTo>
                  <a:pt x="240823" y="201539"/>
                </a:lnTo>
                <a:lnTo>
                  <a:pt x="201245" y="241044"/>
                </a:lnTo>
                <a:lnTo>
                  <a:pt x="179108" y="218279"/>
                </a:lnTo>
                <a:lnTo>
                  <a:pt x="173070" y="222296"/>
                </a:lnTo>
                <a:lnTo>
                  <a:pt x="165021" y="224305"/>
                </a:lnTo>
                <a:lnTo>
                  <a:pt x="158312" y="226983"/>
                </a:lnTo>
                <a:lnTo>
                  <a:pt x="158313" y="261131"/>
                </a:lnTo>
                <a:lnTo>
                  <a:pt x="103305" y="261131"/>
                </a:lnTo>
                <a:lnTo>
                  <a:pt x="103305" y="226983"/>
                </a:lnTo>
                <a:lnTo>
                  <a:pt x="95926" y="224974"/>
                </a:lnTo>
                <a:lnTo>
                  <a:pt x="87877" y="221626"/>
                </a:lnTo>
                <a:lnTo>
                  <a:pt x="81168" y="217609"/>
                </a:lnTo>
                <a:lnTo>
                  <a:pt x="58361" y="241044"/>
                </a:lnTo>
                <a:lnTo>
                  <a:pt x="18782" y="202209"/>
                </a:lnTo>
                <a:lnTo>
                  <a:pt x="42261" y="178774"/>
                </a:lnTo>
                <a:lnTo>
                  <a:pt x="42932" y="178105"/>
                </a:lnTo>
                <a:lnTo>
                  <a:pt x="38236" y="170739"/>
                </a:lnTo>
                <a:lnTo>
                  <a:pt x="34882" y="163374"/>
                </a:lnTo>
                <a:lnTo>
                  <a:pt x="32870" y="156009"/>
                </a:lnTo>
                <a:close/>
              </a:path>
            </a:pathLst>
          </a:custGeom>
          <a:ln w="8935">
            <a:solidFill>
              <a:srgbClr val="051F79"/>
            </a:solidFill>
          </a:ln>
        </p:spPr>
        <p:txBody>
          <a:bodyPr wrap="square" lIns="0" tIns="0" rIns="0" bIns="0" rtlCol="0"/>
          <a:lstStyle/>
          <a:p>
            <a:endParaRPr/>
          </a:p>
        </p:txBody>
      </p:sp>
      <p:sp>
        <p:nvSpPr>
          <p:cNvPr id="38" name="object 38"/>
          <p:cNvSpPr/>
          <p:nvPr/>
        </p:nvSpPr>
        <p:spPr>
          <a:xfrm>
            <a:off x="4354732" y="1929731"/>
            <a:ext cx="133985" cy="0"/>
          </a:xfrm>
          <a:custGeom>
            <a:avLst/>
            <a:gdLst/>
            <a:ahLst/>
            <a:cxnLst/>
            <a:rect l="l" t="t" r="r" b="b"/>
            <a:pathLst>
              <a:path w="133985">
                <a:moveTo>
                  <a:pt x="133492" y="0"/>
                </a:moveTo>
                <a:lnTo>
                  <a:pt x="0" y="0"/>
                </a:lnTo>
              </a:path>
            </a:pathLst>
          </a:custGeom>
          <a:ln w="8927">
            <a:solidFill>
              <a:srgbClr val="051F79"/>
            </a:solidFill>
          </a:ln>
        </p:spPr>
        <p:txBody>
          <a:bodyPr wrap="square" lIns="0" tIns="0" rIns="0" bIns="0" rtlCol="0"/>
          <a:lstStyle/>
          <a:p>
            <a:endParaRPr/>
          </a:p>
        </p:txBody>
      </p:sp>
      <p:sp>
        <p:nvSpPr>
          <p:cNvPr id="39" name="object 39"/>
          <p:cNvSpPr/>
          <p:nvPr/>
        </p:nvSpPr>
        <p:spPr>
          <a:xfrm>
            <a:off x="4354732" y="2048914"/>
            <a:ext cx="133985" cy="0"/>
          </a:xfrm>
          <a:custGeom>
            <a:avLst/>
            <a:gdLst/>
            <a:ahLst/>
            <a:cxnLst/>
            <a:rect l="l" t="t" r="r" b="b"/>
            <a:pathLst>
              <a:path w="133985">
                <a:moveTo>
                  <a:pt x="133492" y="0"/>
                </a:moveTo>
                <a:lnTo>
                  <a:pt x="0" y="0"/>
                </a:lnTo>
              </a:path>
            </a:pathLst>
          </a:custGeom>
          <a:ln w="8927">
            <a:solidFill>
              <a:srgbClr val="051F79"/>
            </a:solidFill>
          </a:ln>
        </p:spPr>
        <p:txBody>
          <a:bodyPr wrap="square" lIns="0" tIns="0" rIns="0" bIns="0" rtlCol="0"/>
          <a:lstStyle/>
          <a:p>
            <a:endParaRPr/>
          </a:p>
        </p:txBody>
      </p:sp>
      <p:sp>
        <p:nvSpPr>
          <p:cNvPr id="40" name="object 40"/>
          <p:cNvSpPr/>
          <p:nvPr/>
        </p:nvSpPr>
        <p:spPr>
          <a:xfrm>
            <a:off x="4354732" y="1811217"/>
            <a:ext cx="282575" cy="0"/>
          </a:xfrm>
          <a:custGeom>
            <a:avLst/>
            <a:gdLst/>
            <a:ahLst/>
            <a:cxnLst/>
            <a:rect l="l" t="t" r="r" b="b"/>
            <a:pathLst>
              <a:path w="282575">
                <a:moveTo>
                  <a:pt x="282414" y="0"/>
                </a:moveTo>
                <a:lnTo>
                  <a:pt x="0" y="0"/>
                </a:lnTo>
              </a:path>
            </a:pathLst>
          </a:custGeom>
          <a:ln w="8927">
            <a:solidFill>
              <a:srgbClr val="051F79"/>
            </a:solidFill>
          </a:ln>
        </p:spPr>
        <p:txBody>
          <a:bodyPr wrap="square" lIns="0" tIns="0" rIns="0" bIns="0" rtlCol="0"/>
          <a:lstStyle/>
          <a:p>
            <a:endParaRPr/>
          </a:p>
        </p:txBody>
      </p:sp>
      <p:sp>
        <p:nvSpPr>
          <p:cNvPr id="41" name="object 41"/>
          <p:cNvSpPr/>
          <p:nvPr/>
        </p:nvSpPr>
        <p:spPr>
          <a:xfrm>
            <a:off x="4543460" y="1895802"/>
            <a:ext cx="231647" cy="231232"/>
          </a:xfrm>
          <a:prstGeom prst="rect">
            <a:avLst/>
          </a:prstGeom>
          <a:blipFill>
            <a:blip r:embed="rId12" cstate="print"/>
            <a:stretch>
              <a:fillRect/>
            </a:stretch>
          </a:blipFill>
        </p:spPr>
        <p:txBody>
          <a:bodyPr wrap="square" lIns="0" tIns="0" rIns="0" bIns="0" rtlCol="0"/>
          <a:lstStyle/>
          <a:p>
            <a:endParaRPr/>
          </a:p>
        </p:txBody>
      </p:sp>
      <p:sp>
        <p:nvSpPr>
          <p:cNvPr id="42" name="object 42"/>
          <p:cNvSpPr/>
          <p:nvPr/>
        </p:nvSpPr>
        <p:spPr>
          <a:xfrm>
            <a:off x="11188602" y="1837330"/>
            <a:ext cx="360680" cy="360045"/>
          </a:xfrm>
          <a:custGeom>
            <a:avLst/>
            <a:gdLst/>
            <a:ahLst/>
            <a:cxnLst/>
            <a:rect l="l" t="t" r="r" b="b"/>
            <a:pathLst>
              <a:path w="360679" h="360044">
                <a:moveTo>
                  <a:pt x="180449" y="0"/>
                </a:moveTo>
                <a:lnTo>
                  <a:pt x="132377" y="6410"/>
                </a:lnTo>
                <a:lnTo>
                  <a:pt x="89243" y="24501"/>
                </a:lnTo>
                <a:lnTo>
                  <a:pt x="52742" y="52561"/>
                </a:lnTo>
                <a:lnTo>
                  <a:pt x="24571" y="88878"/>
                </a:lnTo>
                <a:lnTo>
                  <a:pt x="6425" y="131743"/>
                </a:lnTo>
                <a:lnTo>
                  <a:pt x="0" y="179444"/>
                </a:lnTo>
                <a:lnTo>
                  <a:pt x="6425" y="227194"/>
                </a:lnTo>
                <a:lnTo>
                  <a:pt x="24571" y="270182"/>
                </a:lnTo>
                <a:lnTo>
                  <a:pt x="52743" y="306660"/>
                </a:lnTo>
                <a:lnTo>
                  <a:pt x="89243" y="334881"/>
                </a:lnTo>
                <a:lnTo>
                  <a:pt x="132378" y="353095"/>
                </a:lnTo>
                <a:lnTo>
                  <a:pt x="180450" y="359555"/>
                </a:lnTo>
                <a:lnTo>
                  <a:pt x="228472" y="353145"/>
                </a:lnTo>
                <a:lnTo>
                  <a:pt x="271482" y="335055"/>
                </a:lnTo>
                <a:lnTo>
                  <a:pt x="307821" y="306995"/>
                </a:lnTo>
                <a:lnTo>
                  <a:pt x="335831" y="270678"/>
                </a:lnTo>
                <a:lnTo>
                  <a:pt x="353853" y="227814"/>
                </a:lnTo>
                <a:lnTo>
                  <a:pt x="360229" y="180113"/>
                </a:lnTo>
                <a:lnTo>
                  <a:pt x="180449" y="180113"/>
                </a:lnTo>
                <a:lnTo>
                  <a:pt x="180449" y="0"/>
                </a:lnTo>
                <a:close/>
              </a:path>
            </a:pathLst>
          </a:custGeom>
          <a:ln w="8935">
            <a:solidFill>
              <a:srgbClr val="051F79"/>
            </a:solidFill>
          </a:ln>
        </p:spPr>
        <p:txBody>
          <a:bodyPr wrap="square" lIns="0" tIns="0" rIns="0" bIns="0" rtlCol="0"/>
          <a:lstStyle/>
          <a:p>
            <a:endParaRPr/>
          </a:p>
        </p:txBody>
      </p:sp>
      <p:sp>
        <p:nvSpPr>
          <p:cNvPr id="43" name="object 43"/>
          <p:cNvSpPr/>
          <p:nvPr/>
        </p:nvSpPr>
        <p:spPr>
          <a:xfrm>
            <a:off x="11419591" y="1777288"/>
            <a:ext cx="189386" cy="188380"/>
          </a:xfrm>
          <a:prstGeom prst="rect">
            <a:avLst/>
          </a:prstGeom>
          <a:blipFill>
            <a:blip r:embed="rId13" cstate="print"/>
            <a:stretch>
              <a:fillRect/>
            </a:stretch>
          </a:blipFill>
        </p:spPr>
        <p:txBody>
          <a:bodyPr wrap="square" lIns="0" tIns="0" rIns="0" bIns="0" rtlCol="0"/>
          <a:lstStyle/>
          <a:p>
            <a:endParaRPr/>
          </a:p>
        </p:txBody>
      </p:sp>
      <p:sp>
        <p:nvSpPr>
          <p:cNvPr id="45" name="object 45"/>
          <p:cNvSpPr txBox="1">
            <a:spLocks noGrp="1"/>
          </p:cNvSpPr>
          <p:nvPr>
            <p:ph type="sldNum" sz="quarter" idx="7"/>
          </p:nvPr>
        </p:nvSpPr>
        <p:spPr>
          <a:xfrm>
            <a:off x="11473942" y="6496463"/>
            <a:ext cx="204470" cy="140423"/>
          </a:xfrm>
          <a:prstGeom prst="rect">
            <a:avLst/>
          </a:prstGeom>
        </p:spPr>
        <p:txBody>
          <a:bodyPr vert="horz" wrap="square" lIns="0" tIns="1905" rIns="0" bIns="0" rtlCol="0">
            <a:spAutoFit/>
          </a:bodyPr>
          <a:lstStyle/>
          <a:p>
            <a:pPr marL="38100">
              <a:lnSpc>
                <a:spcPct val="100000"/>
              </a:lnSpc>
              <a:spcBef>
                <a:spcPts val="15"/>
              </a:spcBef>
            </a:pPr>
            <a:r>
              <a:rPr lang="en-US" dirty="0"/>
              <a:t>5</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03BE37E-138B-E3A9-A4A6-22DDA6E0426D}"/>
              </a:ext>
            </a:extLst>
          </p:cNvPr>
          <p:cNvPicPr>
            <a:picLocks noChangeAspect="1"/>
          </p:cNvPicPr>
          <p:nvPr/>
        </p:nvPicPr>
        <p:blipFill>
          <a:blip r:embed="rId2"/>
          <a:stretch>
            <a:fillRect/>
          </a:stretch>
        </p:blipFill>
        <p:spPr>
          <a:xfrm>
            <a:off x="-21771" y="14059"/>
            <a:ext cx="12191999" cy="976542"/>
          </a:xfrm>
          <a:prstGeom prst="rect">
            <a:avLst/>
          </a:prstGeom>
        </p:spPr>
      </p:pic>
      <p:sp>
        <p:nvSpPr>
          <p:cNvPr id="69" name="TextBox 68">
            <a:extLst>
              <a:ext uri="{FF2B5EF4-FFF2-40B4-BE49-F238E27FC236}">
                <a16:creationId xmlns:a16="http://schemas.microsoft.com/office/drawing/2014/main" id="{858AFA88-8BB0-D24A-D4E4-B2FDE1EA5F54}"/>
              </a:ext>
            </a:extLst>
          </p:cNvPr>
          <p:cNvSpPr txBox="1"/>
          <p:nvPr/>
        </p:nvSpPr>
        <p:spPr>
          <a:xfrm>
            <a:off x="536356" y="1776021"/>
            <a:ext cx="10988657" cy="1815882"/>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Car financing operates structurally </a:t>
            </a:r>
            <a:r>
              <a:rPr lang="en-US" sz="1400" b="1" dirty="0">
                <a:latin typeface="Arial" panose="020B0604020202020204" pitchFamily="34" charset="0"/>
                <a:cs typeface="Arial" panose="020B0604020202020204" pitchFamily="34" charset="0"/>
              </a:rPr>
              <a:t>as a B2B-driven market</a:t>
            </a:r>
            <a:r>
              <a:rPr lang="en-US" sz="1400" dirty="0">
                <a:latin typeface="Arial" panose="020B0604020202020204" pitchFamily="34" charset="0"/>
                <a:cs typeface="Arial" panose="020B0604020202020204" pitchFamily="34" charset="0"/>
              </a:rPr>
              <a:t>, where production is primarily </a:t>
            </a:r>
            <a:r>
              <a:rPr lang="en-US" sz="1400" b="1" dirty="0">
                <a:latin typeface="Arial" panose="020B0604020202020204" pitchFamily="34" charset="0"/>
                <a:cs typeface="Arial" panose="020B0604020202020204" pitchFamily="34" charset="0"/>
              </a:rPr>
              <a:t>influenced by dealer behavior </a:t>
            </a:r>
            <a:r>
              <a:rPr lang="en-US" sz="1400" dirty="0">
                <a:latin typeface="Arial" panose="020B0604020202020204" pitchFamily="34" charset="0"/>
                <a:cs typeface="Arial" panose="020B0604020202020204" pitchFamily="34" charset="0"/>
              </a:rPr>
              <a:t>rather than end-customer demand.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In this environment, materially </a:t>
            </a:r>
            <a:r>
              <a:rPr lang="en-US" sz="1400" b="1" dirty="0">
                <a:latin typeface="Arial" panose="020B0604020202020204" pitchFamily="34" charset="0"/>
                <a:cs typeface="Arial" panose="020B0604020202020204" pitchFamily="34" charset="0"/>
              </a:rPr>
              <a:t>inflexible credit criteria </a:t>
            </a:r>
            <a:r>
              <a:rPr lang="en-US" sz="1400" dirty="0">
                <a:latin typeface="Arial" panose="020B0604020202020204" pitchFamily="34" charset="0"/>
                <a:cs typeface="Arial" panose="020B0604020202020204" pitchFamily="34" charset="0"/>
              </a:rPr>
              <a:t>versus competitors do not only reduce marginal higher-risk approvals but </a:t>
            </a:r>
            <a:r>
              <a:rPr lang="en-US" sz="1400" b="1" dirty="0">
                <a:latin typeface="Arial" panose="020B0604020202020204" pitchFamily="34" charset="0"/>
                <a:cs typeface="Arial" panose="020B0604020202020204" pitchFamily="34" charset="0"/>
              </a:rPr>
              <a:t>lead to the loss of the dealer’s total business flow</a:t>
            </a:r>
            <a:r>
              <a:rPr lang="en-US" sz="1400" dirty="0">
                <a:latin typeface="Arial" panose="020B0604020202020204" pitchFamily="34" charset="0"/>
                <a:cs typeface="Arial" panose="020B0604020202020204" pitchFamily="34" charset="0"/>
              </a:rPr>
              <a:t>, including profitable low-risk transactions.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Therefore, </a:t>
            </a:r>
            <a:r>
              <a:rPr lang="en-US" sz="1400" b="1" dirty="0">
                <a:latin typeface="Arial" panose="020B0604020202020204" pitchFamily="34" charset="0"/>
                <a:cs typeface="Arial" panose="020B0604020202020204" pitchFamily="34" charset="0"/>
              </a:rPr>
              <a:t>credit policy in auto finance must be assessed </a:t>
            </a:r>
            <a:r>
              <a:rPr lang="en-US" sz="1400" dirty="0">
                <a:latin typeface="Arial" panose="020B0604020202020204" pitchFamily="34" charset="0"/>
                <a:cs typeface="Arial" panose="020B0604020202020204" pitchFamily="34" charset="0"/>
              </a:rPr>
              <a:t>not solely at single-transaction level, but </a:t>
            </a:r>
            <a:r>
              <a:rPr lang="en-US" sz="1400" b="1" dirty="0">
                <a:latin typeface="Arial" panose="020B0604020202020204" pitchFamily="34" charset="0"/>
                <a:cs typeface="Arial" panose="020B0604020202020204" pitchFamily="34" charset="0"/>
              </a:rPr>
              <a:t>within the broader economic context of the dealer relationship</a:t>
            </a:r>
            <a:r>
              <a:rPr lang="en-US" sz="1400" dirty="0">
                <a:latin typeface="Arial" panose="020B0604020202020204" pitchFamily="34" charset="0"/>
                <a:cs typeface="Arial" panose="020B0604020202020204" pitchFamily="34" charset="0"/>
              </a:rPr>
              <a:t>, while fully preserving core risk discipline in total portfolio.</a:t>
            </a:r>
            <a:endParaRPr lang="el-GR" sz="1400" dirty="0">
              <a:latin typeface="Arial" panose="020B0604020202020204" pitchFamily="34" charset="0"/>
              <a:cs typeface="Arial" panose="020B0604020202020204" pitchFamily="34" charset="0"/>
            </a:endParaRPr>
          </a:p>
        </p:txBody>
      </p:sp>
      <p:sp>
        <p:nvSpPr>
          <p:cNvPr id="71" name="TextBox 70">
            <a:extLst>
              <a:ext uri="{FF2B5EF4-FFF2-40B4-BE49-F238E27FC236}">
                <a16:creationId xmlns:a16="http://schemas.microsoft.com/office/drawing/2014/main" id="{C60749E5-7034-5B01-7E38-A2FD314EFDCD}"/>
              </a:ext>
            </a:extLst>
          </p:cNvPr>
          <p:cNvSpPr txBox="1"/>
          <p:nvPr/>
        </p:nvSpPr>
        <p:spPr>
          <a:xfrm>
            <a:off x="478971" y="4064732"/>
            <a:ext cx="6096000" cy="338554"/>
          </a:xfrm>
          <a:prstGeom prst="rect">
            <a:avLst/>
          </a:prstGeom>
          <a:noFill/>
        </p:spPr>
        <p:txBody>
          <a:bodyPr wrap="square">
            <a:spAutoFit/>
          </a:bodyPr>
          <a:lstStyle>
            <a:defPPr>
              <a:defRPr lang="el-GR"/>
            </a:defPPr>
            <a:lvl1pPr>
              <a:defRPr b="1">
                <a:latin typeface="Arial" panose="020B0604020202020204" pitchFamily="34" charset="0"/>
                <a:cs typeface="Arial" panose="020B0604020202020204" pitchFamily="34" charset="0"/>
              </a:defRPr>
            </a:lvl1pPr>
          </a:lstStyle>
          <a:p>
            <a:r>
              <a:rPr lang="en-US" sz="1600" dirty="0"/>
              <a:t>Portfolio-structured optimization of risk and return </a:t>
            </a:r>
            <a:endParaRPr lang="el-GR" sz="1600" dirty="0"/>
          </a:p>
        </p:txBody>
      </p:sp>
      <p:sp>
        <p:nvSpPr>
          <p:cNvPr id="5" name="TextBox 4">
            <a:extLst>
              <a:ext uri="{FF2B5EF4-FFF2-40B4-BE49-F238E27FC236}">
                <a16:creationId xmlns:a16="http://schemas.microsoft.com/office/drawing/2014/main" id="{553AD5A3-2E8D-5CE5-4FE8-2CE37A294F82}"/>
              </a:ext>
            </a:extLst>
          </p:cNvPr>
          <p:cNvSpPr txBox="1"/>
          <p:nvPr/>
        </p:nvSpPr>
        <p:spPr>
          <a:xfrm>
            <a:off x="478971" y="1447800"/>
            <a:ext cx="6096000" cy="338554"/>
          </a:xfrm>
          <a:prstGeom prst="rect">
            <a:avLst/>
          </a:prstGeom>
          <a:noFill/>
        </p:spPr>
        <p:txBody>
          <a:bodyPr wrap="square">
            <a:spAutoFit/>
          </a:bodyPr>
          <a:lstStyle/>
          <a:p>
            <a:r>
              <a:rPr lang="en-US" sz="1600" b="1" dirty="0">
                <a:latin typeface="Arial" panose="020B0604020202020204" pitchFamily="34" charset="0"/>
                <a:cs typeface="Arial" panose="020B0604020202020204" pitchFamily="34" charset="0"/>
              </a:rPr>
              <a:t>Nature of Auto Finance</a:t>
            </a:r>
            <a:r>
              <a:rPr lang="en-US" sz="1600" dirty="0">
                <a:latin typeface="Arial" panose="020B0604020202020204" pitchFamily="34" charset="0"/>
                <a:cs typeface="Arial" panose="020B0604020202020204" pitchFamily="34" charset="0"/>
              </a:rPr>
              <a:t> </a:t>
            </a:r>
            <a:endParaRPr lang="el-GR" sz="16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DBD534-C640-61A3-2175-A6A1175B5815}"/>
              </a:ext>
            </a:extLst>
          </p:cNvPr>
          <p:cNvSpPr txBox="1"/>
          <p:nvPr/>
        </p:nvSpPr>
        <p:spPr>
          <a:xfrm>
            <a:off x="478971" y="4454423"/>
            <a:ext cx="11103429" cy="1169551"/>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Under this framework, what we are proposing is a </a:t>
            </a:r>
            <a:r>
              <a:rPr lang="en-US" sz="1400" b="1" dirty="0">
                <a:latin typeface="Arial" panose="020B0604020202020204" pitchFamily="34" charset="0"/>
                <a:cs typeface="Arial" panose="020B0604020202020204" pitchFamily="34" charset="0"/>
              </a:rPr>
              <a:t>portfolio-structured optimization of risk and return within a structurally B2B origination model</a:t>
            </a:r>
            <a:r>
              <a:rPr lang="en-US" sz="1400" dirty="0">
                <a:latin typeface="Arial" panose="020B0604020202020204" pitchFamily="34" charset="0"/>
                <a:cs typeface="Arial" panose="020B0604020202020204" pitchFamily="34" charset="0"/>
              </a:rPr>
              <a:t>, where any calibrated flexibility in product structure is systematically offset through </a:t>
            </a:r>
            <a:r>
              <a:rPr lang="en-US" sz="1400" b="1" dirty="0">
                <a:latin typeface="Arial" panose="020B0604020202020204" pitchFamily="34" charset="0"/>
                <a:cs typeface="Arial" panose="020B0604020202020204" pitchFamily="34" charset="0"/>
              </a:rPr>
              <a:t>enhanced collateral management and a structured repossession and remarketing capability </a:t>
            </a:r>
            <a:r>
              <a:rPr lang="en-US" sz="1400" dirty="0">
                <a:latin typeface="Arial" panose="020B0604020202020204" pitchFamily="34" charset="0"/>
                <a:cs typeface="Arial" panose="020B0604020202020204" pitchFamily="34" charset="0"/>
              </a:rPr>
              <a:t>that boosts recovery performance and mitigates LGD.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This approach also </a:t>
            </a:r>
            <a:r>
              <a:rPr lang="en-US" sz="1400" b="1" dirty="0">
                <a:latin typeface="Arial" panose="020B0604020202020204" pitchFamily="34" charset="0"/>
                <a:cs typeface="Arial" panose="020B0604020202020204" pitchFamily="34" charset="0"/>
              </a:rPr>
              <a:t>restores</a:t>
            </a:r>
            <a:r>
              <a:rPr lang="en-US" sz="1400" dirty="0">
                <a:latin typeface="Arial" panose="020B0604020202020204" pitchFamily="34" charset="0"/>
                <a:cs typeface="Arial" panose="020B0604020202020204" pitchFamily="34" charset="0"/>
              </a:rPr>
              <a:t> commercial relevance in the dealer channel.</a:t>
            </a:r>
            <a:endParaRPr lang="el-GR" sz="1400" dirty="0">
              <a:latin typeface="Arial" panose="020B0604020202020204" pitchFamily="34" charset="0"/>
              <a:cs typeface="Arial" panose="020B0604020202020204" pitchFamily="34" charset="0"/>
            </a:endParaRPr>
          </a:p>
        </p:txBody>
      </p:sp>
      <p:sp>
        <p:nvSpPr>
          <p:cNvPr id="8" name="object 4">
            <a:extLst>
              <a:ext uri="{FF2B5EF4-FFF2-40B4-BE49-F238E27FC236}">
                <a16:creationId xmlns:a16="http://schemas.microsoft.com/office/drawing/2014/main" id="{348D091D-EE9A-78B6-E451-B20484F9E64C}"/>
              </a:ext>
            </a:extLst>
          </p:cNvPr>
          <p:cNvSpPr txBox="1">
            <a:spLocks noGrp="1"/>
          </p:cNvSpPr>
          <p:nvPr>
            <p:ph type="title"/>
          </p:nvPr>
        </p:nvSpPr>
        <p:spPr>
          <a:xfrm>
            <a:off x="542036" y="186054"/>
            <a:ext cx="10661015" cy="730969"/>
          </a:xfrm>
          <a:prstGeom prst="rect">
            <a:avLst/>
          </a:prstGeom>
        </p:spPr>
        <p:txBody>
          <a:bodyPr vert="horz" wrap="square" lIns="0" tIns="12700" rIns="0" bIns="0" rtlCol="0">
            <a:spAutoFit/>
          </a:bodyPr>
          <a:lstStyle/>
          <a:p>
            <a:pPr marL="12700">
              <a:lnSpc>
                <a:spcPts val="2780"/>
              </a:lnSpc>
              <a:spcBef>
                <a:spcPts val="100"/>
              </a:spcBef>
            </a:pPr>
            <a:r>
              <a:rPr sz="2400" dirty="0"/>
              <a:t>3 | </a:t>
            </a:r>
            <a:r>
              <a:rPr lang="en-US" sz="2400" spc="-5" dirty="0"/>
              <a:t>Risk Governance Framework in a B2B </a:t>
            </a:r>
            <a:br>
              <a:rPr lang="en-US" sz="2400" spc="-5" dirty="0"/>
            </a:br>
            <a:r>
              <a:rPr lang="en-US" sz="2400" spc="-5" dirty="0"/>
              <a:t>Auto Finance Environment</a:t>
            </a:r>
            <a:endParaRPr sz="2400" dirty="0"/>
          </a:p>
        </p:txBody>
      </p:sp>
      <p:sp>
        <p:nvSpPr>
          <p:cNvPr id="9" name="object 8">
            <a:extLst>
              <a:ext uri="{FF2B5EF4-FFF2-40B4-BE49-F238E27FC236}">
                <a16:creationId xmlns:a16="http://schemas.microsoft.com/office/drawing/2014/main" id="{EF2CF3DE-232F-E60D-A0D9-7403680975B9}"/>
              </a:ext>
            </a:extLst>
          </p:cNvPr>
          <p:cNvSpPr/>
          <p:nvPr/>
        </p:nvSpPr>
        <p:spPr>
          <a:xfrm>
            <a:off x="554736" y="1724883"/>
            <a:ext cx="11082655" cy="0"/>
          </a:xfrm>
          <a:custGeom>
            <a:avLst/>
            <a:gdLst/>
            <a:ahLst/>
            <a:cxnLst/>
            <a:rect l="l" t="t" r="r" b="b"/>
            <a:pathLst>
              <a:path w="11082655">
                <a:moveTo>
                  <a:pt x="0" y="0"/>
                </a:moveTo>
                <a:lnTo>
                  <a:pt x="11082528" y="0"/>
                </a:lnTo>
              </a:path>
            </a:pathLst>
          </a:custGeom>
          <a:ln w="12700">
            <a:solidFill>
              <a:srgbClr val="757575"/>
            </a:solidFill>
          </a:ln>
        </p:spPr>
        <p:txBody>
          <a:bodyPr wrap="square" lIns="0" tIns="0" rIns="0" bIns="0" rtlCol="0"/>
          <a:lstStyle/>
          <a:p>
            <a:endParaRPr/>
          </a:p>
        </p:txBody>
      </p:sp>
      <p:sp>
        <p:nvSpPr>
          <p:cNvPr id="13" name="object 8">
            <a:extLst>
              <a:ext uri="{FF2B5EF4-FFF2-40B4-BE49-F238E27FC236}">
                <a16:creationId xmlns:a16="http://schemas.microsoft.com/office/drawing/2014/main" id="{3D3582F6-3F03-2AAC-F260-9ACB44BFCDE5}"/>
              </a:ext>
            </a:extLst>
          </p:cNvPr>
          <p:cNvSpPr/>
          <p:nvPr/>
        </p:nvSpPr>
        <p:spPr>
          <a:xfrm>
            <a:off x="575945" y="4328574"/>
            <a:ext cx="11082655" cy="0"/>
          </a:xfrm>
          <a:custGeom>
            <a:avLst/>
            <a:gdLst/>
            <a:ahLst/>
            <a:cxnLst/>
            <a:rect l="l" t="t" r="r" b="b"/>
            <a:pathLst>
              <a:path w="11082655">
                <a:moveTo>
                  <a:pt x="0" y="0"/>
                </a:moveTo>
                <a:lnTo>
                  <a:pt x="11082528" y="0"/>
                </a:lnTo>
              </a:path>
            </a:pathLst>
          </a:custGeom>
          <a:ln w="12700">
            <a:solidFill>
              <a:srgbClr val="757575"/>
            </a:solidFill>
          </a:ln>
        </p:spPr>
        <p:txBody>
          <a:bodyPr wrap="square" lIns="0" tIns="0" rIns="0" bIns="0" rtlCol="0"/>
          <a:lstStyle/>
          <a:p>
            <a:endParaRPr/>
          </a:p>
        </p:txBody>
      </p:sp>
      <p:sp>
        <p:nvSpPr>
          <p:cNvPr id="17" name="object 45">
            <a:extLst>
              <a:ext uri="{FF2B5EF4-FFF2-40B4-BE49-F238E27FC236}">
                <a16:creationId xmlns:a16="http://schemas.microsoft.com/office/drawing/2014/main" id="{45A28A1D-0132-A9CD-771E-1A5210755EEA}"/>
              </a:ext>
            </a:extLst>
          </p:cNvPr>
          <p:cNvSpPr txBox="1">
            <a:spLocks noGrp="1"/>
          </p:cNvSpPr>
          <p:nvPr>
            <p:ph type="sldNum" sz="quarter" idx="7"/>
          </p:nvPr>
        </p:nvSpPr>
        <p:spPr>
          <a:xfrm>
            <a:off x="11473942" y="6496463"/>
            <a:ext cx="204470" cy="140423"/>
          </a:xfrm>
          <a:prstGeom prst="rect">
            <a:avLst/>
          </a:prstGeom>
        </p:spPr>
        <p:txBody>
          <a:bodyPr vert="horz" wrap="square" lIns="0" tIns="1905" rIns="0" bIns="0" rtlCol="0">
            <a:spAutoFit/>
          </a:bodyPr>
          <a:lstStyle/>
          <a:p>
            <a:pPr marL="38100">
              <a:lnSpc>
                <a:spcPct val="100000"/>
              </a:lnSpc>
              <a:spcBef>
                <a:spcPts val="15"/>
              </a:spcBef>
            </a:pPr>
            <a:r>
              <a:rPr lang="en-US" dirty="0"/>
              <a:t>6</a:t>
            </a:r>
            <a:endParaRPr dirty="0"/>
          </a:p>
        </p:txBody>
      </p:sp>
    </p:spTree>
    <p:extLst>
      <p:ext uri="{BB962C8B-B14F-4D97-AF65-F5344CB8AC3E}">
        <p14:creationId xmlns:p14="http://schemas.microsoft.com/office/powerpoint/2010/main" val="1448415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9" name="Picture 48">
            <a:extLst>
              <a:ext uri="{FF2B5EF4-FFF2-40B4-BE49-F238E27FC236}">
                <a16:creationId xmlns:a16="http://schemas.microsoft.com/office/drawing/2014/main" id="{9F4850DA-471C-53D3-863D-AEB9C890741A}"/>
              </a:ext>
            </a:extLst>
          </p:cNvPr>
          <p:cNvPicPr>
            <a:picLocks noChangeAspect="1"/>
          </p:cNvPicPr>
          <p:nvPr/>
        </p:nvPicPr>
        <p:blipFill>
          <a:blip r:embed="rId2"/>
          <a:stretch>
            <a:fillRect/>
          </a:stretch>
        </p:blipFill>
        <p:spPr>
          <a:xfrm>
            <a:off x="-21771" y="14059"/>
            <a:ext cx="12191999" cy="976542"/>
          </a:xfrm>
          <a:prstGeom prst="rect">
            <a:avLst/>
          </a:prstGeom>
        </p:spPr>
      </p:pic>
      <p:sp>
        <p:nvSpPr>
          <p:cNvPr id="2" name="object 2"/>
          <p:cNvSpPr/>
          <p:nvPr/>
        </p:nvSpPr>
        <p:spPr>
          <a:xfrm>
            <a:off x="411480" y="4275455"/>
            <a:ext cx="11356975" cy="753745"/>
          </a:xfrm>
          <a:custGeom>
            <a:avLst/>
            <a:gdLst/>
            <a:ahLst/>
            <a:cxnLst/>
            <a:rect l="l" t="t" r="r" b="b"/>
            <a:pathLst>
              <a:path w="11356975" h="753745">
                <a:moveTo>
                  <a:pt x="0" y="753287"/>
                </a:moveTo>
                <a:lnTo>
                  <a:pt x="11356848" y="753287"/>
                </a:lnTo>
                <a:lnTo>
                  <a:pt x="11356848" y="0"/>
                </a:lnTo>
                <a:lnTo>
                  <a:pt x="0" y="0"/>
                </a:lnTo>
                <a:lnTo>
                  <a:pt x="0" y="753287"/>
                </a:lnTo>
                <a:close/>
              </a:path>
            </a:pathLst>
          </a:custGeom>
          <a:solidFill>
            <a:srgbClr val="F1F1F1"/>
          </a:solidFill>
        </p:spPr>
        <p:txBody>
          <a:bodyPr wrap="square" lIns="0" tIns="0" rIns="0" bIns="0" rtlCol="0"/>
          <a:lstStyle/>
          <a:p>
            <a:endParaRPr/>
          </a:p>
        </p:txBody>
      </p:sp>
      <p:sp>
        <p:nvSpPr>
          <p:cNvPr id="3" name="object 3"/>
          <p:cNvSpPr txBox="1">
            <a:spLocks noGrp="1"/>
          </p:cNvSpPr>
          <p:nvPr>
            <p:ph type="title"/>
          </p:nvPr>
        </p:nvSpPr>
        <p:spPr>
          <a:xfrm>
            <a:off x="542036" y="152400"/>
            <a:ext cx="10564495" cy="781624"/>
          </a:xfrm>
          <a:prstGeom prst="rect">
            <a:avLst/>
          </a:prstGeom>
        </p:spPr>
        <p:txBody>
          <a:bodyPr vert="horz" wrap="square" lIns="0" tIns="12065" rIns="0" bIns="0" rtlCol="0">
            <a:spAutoFit/>
          </a:bodyPr>
          <a:lstStyle/>
          <a:p>
            <a:pPr marL="12700">
              <a:lnSpc>
                <a:spcPct val="100000"/>
              </a:lnSpc>
              <a:spcBef>
                <a:spcPts val="95"/>
              </a:spcBef>
            </a:pPr>
            <a:r>
              <a:rPr lang="en-US" spc="-5" dirty="0"/>
              <a:t>4</a:t>
            </a:r>
            <a:r>
              <a:rPr spc="-5" dirty="0"/>
              <a:t> | Four strategic </a:t>
            </a:r>
            <a:r>
              <a:rPr dirty="0"/>
              <a:t>initiatives </a:t>
            </a:r>
            <a:r>
              <a:rPr spc="-5" dirty="0"/>
              <a:t>to be launched</a:t>
            </a:r>
            <a:r>
              <a:rPr lang="en-US" spc="-5" dirty="0"/>
              <a:t> </a:t>
            </a:r>
            <a:br>
              <a:rPr lang="en-US" spc="-5" dirty="0"/>
            </a:br>
            <a:r>
              <a:rPr lang="en-US" spc="-5" dirty="0"/>
              <a:t>in line </a:t>
            </a:r>
            <a:r>
              <a:rPr lang="en-US" dirty="0"/>
              <a:t>with </a:t>
            </a:r>
            <a:r>
              <a:rPr lang="en-US" spc="-10" dirty="0"/>
              <a:t>the</a:t>
            </a:r>
            <a:r>
              <a:rPr lang="en-US" spc="20" dirty="0"/>
              <a:t> </a:t>
            </a:r>
            <a:r>
              <a:rPr lang="en-US" dirty="0"/>
              <a:t>vision</a:t>
            </a:r>
          </a:p>
        </p:txBody>
      </p:sp>
      <p:sp>
        <p:nvSpPr>
          <p:cNvPr id="4" name="object 4"/>
          <p:cNvSpPr txBox="1"/>
          <p:nvPr/>
        </p:nvSpPr>
        <p:spPr>
          <a:xfrm>
            <a:off x="542036" y="1663445"/>
            <a:ext cx="845185"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Arial"/>
                <a:cs typeface="Arial"/>
              </a:rPr>
              <a:t>Ini</a:t>
            </a:r>
            <a:r>
              <a:rPr sz="1600" b="1" spc="-15" dirty="0">
                <a:latin typeface="Arial"/>
                <a:cs typeface="Arial"/>
              </a:rPr>
              <a:t>t</a:t>
            </a:r>
            <a:r>
              <a:rPr sz="1600" b="1" spc="-5" dirty="0">
                <a:latin typeface="Arial"/>
                <a:cs typeface="Arial"/>
              </a:rPr>
              <a:t>iat</a:t>
            </a:r>
            <a:r>
              <a:rPr sz="1600" b="1" dirty="0">
                <a:latin typeface="Arial"/>
                <a:cs typeface="Arial"/>
              </a:rPr>
              <a:t>i</a:t>
            </a:r>
            <a:r>
              <a:rPr sz="1600" b="1" spc="-30" dirty="0">
                <a:latin typeface="Arial"/>
                <a:cs typeface="Arial"/>
              </a:rPr>
              <a:t>v</a:t>
            </a:r>
            <a:r>
              <a:rPr sz="1600" b="1" spc="-5" dirty="0">
                <a:latin typeface="Arial"/>
                <a:cs typeface="Arial"/>
              </a:rPr>
              <a:t>e</a:t>
            </a:r>
            <a:endParaRPr sz="1600">
              <a:latin typeface="Arial"/>
              <a:cs typeface="Arial"/>
            </a:endParaRPr>
          </a:p>
        </p:txBody>
      </p:sp>
      <p:sp>
        <p:nvSpPr>
          <p:cNvPr id="5" name="object 5"/>
          <p:cNvSpPr txBox="1"/>
          <p:nvPr/>
        </p:nvSpPr>
        <p:spPr>
          <a:xfrm>
            <a:off x="3100832" y="1663445"/>
            <a:ext cx="11404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Arial"/>
                <a:cs typeface="Arial"/>
              </a:rPr>
              <a:t>Description</a:t>
            </a:r>
            <a:endParaRPr sz="1600">
              <a:latin typeface="Arial"/>
              <a:cs typeface="Arial"/>
            </a:endParaRPr>
          </a:p>
        </p:txBody>
      </p:sp>
      <p:sp>
        <p:nvSpPr>
          <p:cNvPr id="6" name="object 6"/>
          <p:cNvSpPr txBox="1"/>
          <p:nvPr/>
        </p:nvSpPr>
        <p:spPr>
          <a:xfrm>
            <a:off x="9856469" y="1663445"/>
            <a:ext cx="1682114"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Arial"/>
                <a:cs typeface="Arial"/>
              </a:rPr>
              <a:t>Product</a:t>
            </a:r>
            <a:r>
              <a:rPr sz="1600" b="1" spc="-30" dirty="0">
                <a:latin typeface="Arial"/>
                <a:cs typeface="Arial"/>
              </a:rPr>
              <a:t> </a:t>
            </a:r>
            <a:r>
              <a:rPr sz="1600" b="1" spc="-10" dirty="0">
                <a:latin typeface="Arial"/>
                <a:cs typeface="Arial"/>
              </a:rPr>
              <a:t>in-scope</a:t>
            </a:r>
            <a:endParaRPr sz="1600">
              <a:latin typeface="Arial"/>
              <a:cs typeface="Arial"/>
            </a:endParaRPr>
          </a:p>
        </p:txBody>
      </p:sp>
      <p:sp>
        <p:nvSpPr>
          <p:cNvPr id="7" name="object 7"/>
          <p:cNvSpPr/>
          <p:nvPr/>
        </p:nvSpPr>
        <p:spPr>
          <a:xfrm>
            <a:off x="554736" y="1987550"/>
            <a:ext cx="11082655" cy="0"/>
          </a:xfrm>
          <a:custGeom>
            <a:avLst/>
            <a:gdLst/>
            <a:ahLst/>
            <a:cxnLst/>
            <a:rect l="l" t="t" r="r" b="b"/>
            <a:pathLst>
              <a:path w="11082655">
                <a:moveTo>
                  <a:pt x="0" y="0"/>
                </a:moveTo>
                <a:lnTo>
                  <a:pt x="11082528" y="0"/>
                </a:lnTo>
              </a:path>
            </a:pathLst>
          </a:custGeom>
          <a:ln w="12700">
            <a:solidFill>
              <a:srgbClr val="757575"/>
            </a:solidFill>
          </a:ln>
        </p:spPr>
        <p:txBody>
          <a:bodyPr wrap="square" lIns="0" tIns="0" rIns="0" bIns="0" rtlCol="0"/>
          <a:lstStyle/>
          <a:p>
            <a:endParaRPr/>
          </a:p>
        </p:txBody>
      </p:sp>
      <p:sp>
        <p:nvSpPr>
          <p:cNvPr id="8" name="object 8"/>
          <p:cNvSpPr/>
          <p:nvPr/>
        </p:nvSpPr>
        <p:spPr>
          <a:xfrm>
            <a:off x="554736" y="3385692"/>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9" name="object 9"/>
          <p:cNvSpPr/>
          <p:nvPr/>
        </p:nvSpPr>
        <p:spPr>
          <a:xfrm>
            <a:off x="554736" y="4219702"/>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10" name="object 10"/>
          <p:cNvSpPr/>
          <p:nvPr/>
        </p:nvSpPr>
        <p:spPr>
          <a:xfrm>
            <a:off x="554736" y="5053710"/>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11" name="object 11"/>
          <p:cNvSpPr txBox="1"/>
          <p:nvPr/>
        </p:nvSpPr>
        <p:spPr>
          <a:xfrm>
            <a:off x="3103879" y="2081022"/>
            <a:ext cx="6316345" cy="1206099"/>
          </a:xfrm>
          <a:prstGeom prst="rect">
            <a:avLst/>
          </a:prstGeom>
        </p:spPr>
        <p:txBody>
          <a:bodyPr vert="horz" wrap="square" lIns="0" tIns="13335" rIns="0" bIns="0" rtlCol="0">
            <a:spAutoFit/>
          </a:bodyPr>
          <a:lstStyle/>
          <a:p>
            <a:pPr marL="238125" marR="5080" indent="-226060">
              <a:lnSpc>
                <a:spcPct val="100000"/>
              </a:lnSpc>
              <a:spcBef>
                <a:spcPts val="105"/>
              </a:spcBef>
              <a:buFont typeface="Wingdings"/>
              <a:buChar char=""/>
              <a:tabLst>
                <a:tab pos="238125" algn="l"/>
                <a:tab pos="238760" algn="l"/>
              </a:tabLst>
            </a:pPr>
            <a:r>
              <a:rPr sz="1400" b="1" dirty="0">
                <a:latin typeface="Arial"/>
                <a:cs typeface="Arial"/>
              </a:rPr>
              <a:t>Move </a:t>
            </a:r>
            <a:r>
              <a:rPr sz="1400" b="1" spc="-5" dirty="0">
                <a:latin typeface="Arial"/>
                <a:cs typeface="Arial"/>
              </a:rPr>
              <a:t>into retail auto secured lending </a:t>
            </a:r>
            <a:r>
              <a:rPr sz="1400" dirty="0">
                <a:latin typeface="Arial"/>
                <a:cs typeface="Arial"/>
              </a:rPr>
              <a:t>to </a:t>
            </a:r>
            <a:r>
              <a:rPr sz="1400" spc="-5" dirty="0">
                <a:latin typeface="Arial"/>
                <a:cs typeface="Arial"/>
              </a:rPr>
              <a:t>enhance booking </a:t>
            </a:r>
            <a:r>
              <a:rPr sz="1400" dirty="0">
                <a:latin typeface="Arial"/>
                <a:cs typeface="Arial"/>
              </a:rPr>
              <a:t>rate (i.e.,</a:t>
            </a:r>
            <a:r>
              <a:rPr sz="1400" spc="-235" dirty="0">
                <a:latin typeface="Arial"/>
                <a:cs typeface="Arial"/>
              </a:rPr>
              <a:t> </a:t>
            </a:r>
            <a:r>
              <a:rPr sz="1400" dirty="0">
                <a:latin typeface="Arial"/>
                <a:cs typeface="Arial"/>
              </a:rPr>
              <a:t>reduce  rejections </a:t>
            </a:r>
            <a:r>
              <a:rPr sz="1400" spc="-5" dirty="0">
                <a:latin typeface="Arial"/>
                <a:cs typeface="Arial"/>
              </a:rPr>
              <a:t>and</a:t>
            </a:r>
            <a:r>
              <a:rPr sz="1400" spc="-75" dirty="0">
                <a:latin typeface="Arial"/>
                <a:cs typeface="Arial"/>
              </a:rPr>
              <a:t> </a:t>
            </a:r>
            <a:r>
              <a:rPr sz="1400" spc="-5" dirty="0">
                <a:latin typeface="Arial"/>
                <a:cs typeface="Arial"/>
              </a:rPr>
              <a:t>counteroffers)</a:t>
            </a:r>
            <a:endParaRPr sz="1400" dirty="0">
              <a:latin typeface="Arial"/>
              <a:cs typeface="Arial"/>
            </a:endParaRPr>
          </a:p>
          <a:p>
            <a:pPr marL="238125" marR="164465" indent="-226060">
              <a:lnSpc>
                <a:spcPct val="100000"/>
              </a:lnSpc>
              <a:spcBef>
                <a:spcPts val="300"/>
              </a:spcBef>
              <a:buFont typeface="Wingdings"/>
              <a:buChar char=""/>
              <a:tabLst>
                <a:tab pos="238125" algn="l"/>
                <a:tab pos="238760" algn="l"/>
              </a:tabLst>
            </a:pPr>
            <a:r>
              <a:rPr lang="en-US" sz="1400" spc="-5" dirty="0">
                <a:latin typeface="Arial"/>
                <a:cs typeface="Arial"/>
              </a:rPr>
              <a:t>Develop dealers’ </a:t>
            </a:r>
            <a:r>
              <a:rPr lang="en-US" sz="1400" b="1" spc="-5" dirty="0">
                <a:latin typeface="Arial"/>
                <a:cs typeface="Arial"/>
              </a:rPr>
              <a:t>buy-back agreements </a:t>
            </a:r>
            <a:r>
              <a:rPr lang="en-US" sz="1400" spc="-5" dirty="0">
                <a:latin typeface="Arial"/>
                <a:cs typeface="Arial"/>
              </a:rPr>
              <a:t>to unlock:</a:t>
            </a:r>
          </a:p>
          <a:p>
            <a:pPr marL="238125" marR="164465" indent="-226060">
              <a:spcBef>
                <a:spcPts val="300"/>
              </a:spcBef>
              <a:buFont typeface="Wingdings"/>
              <a:buChar char=""/>
              <a:tabLst>
                <a:tab pos="238125" algn="l"/>
                <a:tab pos="238760" algn="l"/>
              </a:tabLst>
            </a:pPr>
            <a:r>
              <a:rPr lang="en-US" sz="1400" spc="-5" dirty="0">
                <a:latin typeface="Arial"/>
                <a:cs typeface="Arial"/>
              </a:rPr>
              <a:t>i. no mandatory </a:t>
            </a:r>
            <a:r>
              <a:rPr lang="en-US" sz="1400" spc="-10" dirty="0">
                <a:latin typeface="Arial"/>
                <a:cs typeface="Arial"/>
              </a:rPr>
              <a:t>downpayment</a:t>
            </a:r>
            <a:r>
              <a:rPr lang="en-US" sz="1400" spc="-5" dirty="0">
                <a:latin typeface="Arial"/>
                <a:cs typeface="Arial"/>
              </a:rPr>
              <a:t>,  </a:t>
            </a:r>
          </a:p>
          <a:p>
            <a:pPr marL="12065" marR="164465">
              <a:lnSpc>
                <a:spcPct val="100000"/>
              </a:lnSpc>
              <a:spcBef>
                <a:spcPts val="300"/>
              </a:spcBef>
              <a:tabLst>
                <a:tab pos="238125" algn="l"/>
                <a:tab pos="238760" algn="l"/>
              </a:tabLst>
            </a:pPr>
            <a:r>
              <a:rPr lang="en-US" sz="1400" spc="-5" dirty="0">
                <a:latin typeface="Arial"/>
                <a:cs typeface="Arial"/>
              </a:rPr>
              <a:t>    ii. </a:t>
            </a:r>
            <a:r>
              <a:rPr sz="1400" spc="-5" dirty="0">
                <a:latin typeface="Arial"/>
                <a:cs typeface="Arial"/>
              </a:rPr>
              <a:t>ball</a:t>
            </a:r>
            <a:r>
              <a:rPr lang="en-US" sz="1400" spc="-5" dirty="0">
                <a:latin typeface="Arial"/>
                <a:cs typeface="Arial"/>
              </a:rPr>
              <a:t>o</a:t>
            </a:r>
            <a:r>
              <a:rPr sz="1400" spc="-5" dirty="0">
                <a:latin typeface="Arial"/>
                <a:cs typeface="Arial"/>
              </a:rPr>
              <a:t>on financing</a:t>
            </a:r>
            <a:endParaRPr sz="1400" dirty="0">
              <a:highlight>
                <a:srgbClr val="FFFF00"/>
              </a:highlight>
              <a:latin typeface="Arial"/>
              <a:cs typeface="Arial"/>
            </a:endParaRPr>
          </a:p>
        </p:txBody>
      </p:sp>
      <p:sp>
        <p:nvSpPr>
          <p:cNvPr id="12" name="object 12"/>
          <p:cNvSpPr txBox="1"/>
          <p:nvPr/>
        </p:nvSpPr>
        <p:spPr>
          <a:xfrm>
            <a:off x="9859518" y="2043531"/>
            <a:ext cx="1607185" cy="528320"/>
          </a:xfrm>
          <a:prstGeom prst="rect">
            <a:avLst/>
          </a:prstGeom>
        </p:spPr>
        <p:txBody>
          <a:bodyPr vert="horz" wrap="square" lIns="0" tIns="50800" rIns="0" bIns="0" rtlCol="0">
            <a:spAutoFit/>
          </a:bodyPr>
          <a:lstStyle/>
          <a:p>
            <a:pPr marL="238125" indent="-226060">
              <a:lnSpc>
                <a:spcPct val="100000"/>
              </a:lnSpc>
              <a:spcBef>
                <a:spcPts val="400"/>
              </a:spcBef>
              <a:buFont typeface="Wingdings"/>
              <a:buChar char=""/>
              <a:tabLst>
                <a:tab pos="238125" algn="l"/>
                <a:tab pos="238760" algn="l"/>
              </a:tabLst>
            </a:pPr>
            <a:r>
              <a:rPr sz="1400" spc="-5" dirty="0">
                <a:latin typeface="Arial"/>
                <a:cs typeface="Arial"/>
              </a:rPr>
              <a:t>Autoloan</a:t>
            </a:r>
            <a:endParaRPr sz="1400">
              <a:latin typeface="Arial"/>
              <a:cs typeface="Arial"/>
            </a:endParaRPr>
          </a:p>
          <a:p>
            <a:pPr marL="238125" indent="-226060">
              <a:lnSpc>
                <a:spcPct val="100000"/>
              </a:lnSpc>
              <a:spcBef>
                <a:spcPts val="300"/>
              </a:spcBef>
              <a:buFont typeface="Wingdings"/>
              <a:buChar char=""/>
              <a:tabLst>
                <a:tab pos="238125" algn="l"/>
                <a:tab pos="238760" algn="l"/>
              </a:tabLst>
            </a:pPr>
            <a:r>
              <a:rPr sz="1400" spc="-5" dirty="0">
                <a:latin typeface="Arial"/>
                <a:cs typeface="Arial"/>
              </a:rPr>
              <a:t>Balloon</a:t>
            </a:r>
            <a:r>
              <a:rPr sz="1400" spc="-60" dirty="0">
                <a:latin typeface="Arial"/>
                <a:cs typeface="Arial"/>
              </a:rPr>
              <a:t> </a:t>
            </a:r>
            <a:r>
              <a:rPr sz="1400" spc="-5" dirty="0">
                <a:latin typeface="Arial"/>
                <a:cs typeface="Arial"/>
              </a:rPr>
              <a:t>financing</a:t>
            </a:r>
            <a:endParaRPr sz="1400">
              <a:latin typeface="Arial"/>
              <a:cs typeface="Arial"/>
            </a:endParaRPr>
          </a:p>
        </p:txBody>
      </p:sp>
      <p:sp>
        <p:nvSpPr>
          <p:cNvPr id="13" name="object 13"/>
          <p:cNvSpPr/>
          <p:nvPr/>
        </p:nvSpPr>
        <p:spPr>
          <a:xfrm>
            <a:off x="554736" y="2099182"/>
            <a:ext cx="269875" cy="270510"/>
          </a:xfrm>
          <a:custGeom>
            <a:avLst/>
            <a:gdLst/>
            <a:ahLst/>
            <a:cxnLst/>
            <a:rect l="l" t="t" r="r" b="b"/>
            <a:pathLst>
              <a:path w="269875" h="270510">
                <a:moveTo>
                  <a:pt x="0" y="135254"/>
                </a:moveTo>
                <a:lnTo>
                  <a:pt x="6863" y="92512"/>
                </a:lnTo>
                <a:lnTo>
                  <a:pt x="25975" y="55385"/>
                </a:lnTo>
                <a:lnTo>
                  <a:pt x="55119" y="26103"/>
                </a:lnTo>
                <a:lnTo>
                  <a:pt x="92077" y="6897"/>
                </a:lnTo>
                <a:lnTo>
                  <a:pt x="134632" y="0"/>
                </a:lnTo>
                <a:lnTo>
                  <a:pt x="177188" y="6897"/>
                </a:lnTo>
                <a:lnTo>
                  <a:pt x="214146" y="26103"/>
                </a:lnTo>
                <a:lnTo>
                  <a:pt x="243289" y="55385"/>
                </a:lnTo>
                <a:lnTo>
                  <a:pt x="262402" y="92512"/>
                </a:lnTo>
                <a:lnTo>
                  <a:pt x="269265" y="135254"/>
                </a:lnTo>
                <a:lnTo>
                  <a:pt x="262402" y="177997"/>
                </a:lnTo>
                <a:lnTo>
                  <a:pt x="243289" y="215124"/>
                </a:lnTo>
                <a:lnTo>
                  <a:pt x="214146" y="244406"/>
                </a:lnTo>
                <a:lnTo>
                  <a:pt x="177188" y="263612"/>
                </a:lnTo>
                <a:lnTo>
                  <a:pt x="134632" y="270509"/>
                </a:lnTo>
                <a:lnTo>
                  <a:pt x="92077" y="263612"/>
                </a:lnTo>
                <a:lnTo>
                  <a:pt x="55119" y="244406"/>
                </a:lnTo>
                <a:lnTo>
                  <a:pt x="25975" y="215124"/>
                </a:lnTo>
                <a:lnTo>
                  <a:pt x="6863" y="177997"/>
                </a:lnTo>
                <a:lnTo>
                  <a:pt x="0" y="135254"/>
                </a:lnTo>
                <a:close/>
              </a:path>
            </a:pathLst>
          </a:custGeom>
          <a:ln w="6350">
            <a:solidFill>
              <a:srgbClr val="051F79"/>
            </a:solidFill>
          </a:ln>
        </p:spPr>
        <p:txBody>
          <a:bodyPr wrap="square" lIns="0" tIns="0" rIns="0" bIns="0" rtlCol="0"/>
          <a:lstStyle/>
          <a:p>
            <a:endParaRPr/>
          </a:p>
        </p:txBody>
      </p:sp>
      <p:sp>
        <p:nvSpPr>
          <p:cNvPr id="14" name="object 14"/>
          <p:cNvSpPr txBox="1"/>
          <p:nvPr/>
        </p:nvSpPr>
        <p:spPr>
          <a:xfrm>
            <a:off x="650849" y="2084958"/>
            <a:ext cx="2113280" cy="510540"/>
          </a:xfrm>
          <a:prstGeom prst="rect">
            <a:avLst/>
          </a:prstGeom>
        </p:spPr>
        <p:txBody>
          <a:bodyPr vert="horz" wrap="square" lIns="0" tIns="22225" rIns="0" bIns="0" rtlCol="0">
            <a:spAutoFit/>
          </a:bodyPr>
          <a:lstStyle/>
          <a:p>
            <a:pPr marL="271780" marR="5080" indent="-259079">
              <a:lnSpc>
                <a:spcPts val="1900"/>
              </a:lnSpc>
              <a:spcBef>
                <a:spcPts val="175"/>
              </a:spcBef>
              <a:tabLst>
                <a:tab pos="271145" algn="l"/>
              </a:tabLst>
            </a:pPr>
            <a:r>
              <a:rPr sz="1400" b="1" dirty="0">
                <a:solidFill>
                  <a:srgbClr val="051F79"/>
                </a:solidFill>
                <a:latin typeface="Arial"/>
                <a:cs typeface="Arial"/>
              </a:rPr>
              <a:t>i	</a:t>
            </a:r>
            <a:r>
              <a:rPr sz="1600" b="1" spc="-5" dirty="0">
                <a:latin typeface="Arial"/>
                <a:cs typeface="Arial"/>
              </a:rPr>
              <a:t>Increase used </a:t>
            </a:r>
            <a:r>
              <a:rPr sz="1600" b="1" spc="-10" dirty="0">
                <a:latin typeface="Arial"/>
                <a:cs typeface="Arial"/>
              </a:rPr>
              <a:t>cars  financing</a:t>
            </a:r>
            <a:endParaRPr sz="1600" dirty="0">
              <a:latin typeface="Arial"/>
              <a:cs typeface="Arial"/>
            </a:endParaRPr>
          </a:p>
        </p:txBody>
      </p:sp>
      <p:sp>
        <p:nvSpPr>
          <p:cNvPr id="15" name="object 15"/>
          <p:cNvSpPr txBox="1"/>
          <p:nvPr/>
        </p:nvSpPr>
        <p:spPr>
          <a:xfrm>
            <a:off x="3103879" y="3538473"/>
            <a:ext cx="5876290" cy="452755"/>
          </a:xfrm>
          <a:prstGeom prst="rect">
            <a:avLst/>
          </a:prstGeom>
        </p:spPr>
        <p:txBody>
          <a:bodyPr vert="horz" wrap="square" lIns="0" tIns="13335" rIns="0" bIns="0" rtlCol="0">
            <a:spAutoFit/>
          </a:bodyPr>
          <a:lstStyle/>
          <a:p>
            <a:pPr marL="238125" marR="5080" indent="-226060">
              <a:lnSpc>
                <a:spcPct val="100000"/>
              </a:lnSpc>
              <a:spcBef>
                <a:spcPts val="105"/>
              </a:spcBef>
              <a:buFont typeface="Wingdings"/>
              <a:buChar char=""/>
              <a:tabLst>
                <a:tab pos="238125" algn="l"/>
                <a:tab pos="238760" algn="l"/>
              </a:tabLst>
            </a:pPr>
            <a:r>
              <a:rPr sz="1400" b="1" dirty="0">
                <a:latin typeface="Arial"/>
                <a:cs typeface="Arial"/>
              </a:rPr>
              <a:t>Offer </a:t>
            </a:r>
            <a:r>
              <a:rPr sz="1400" b="1" spc="-5" dirty="0">
                <a:latin typeface="Arial"/>
                <a:cs typeface="Arial"/>
              </a:rPr>
              <a:t>collateralized B2B financing </a:t>
            </a:r>
            <a:r>
              <a:rPr sz="1400" dirty="0">
                <a:latin typeface="Arial"/>
                <a:cs typeface="Arial"/>
              </a:rPr>
              <a:t>(e.g., stock </a:t>
            </a:r>
            <a:r>
              <a:rPr sz="1400" spc="-5" dirty="0">
                <a:latin typeface="Arial"/>
                <a:cs typeface="Arial"/>
              </a:rPr>
              <a:t>finance, floor plan) with  wholesale volumes and terms tied </a:t>
            </a:r>
            <a:r>
              <a:rPr sz="1400" dirty="0">
                <a:latin typeface="Arial"/>
                <a:cs typeface="Arial"/>
              </a:rPr>
              <a:t>to </a:t>
            </a:r>
            <a:r>
              <a:rPr sz="1400" spc="-5" dirty="0">
                <a:latin typeface="Arial"/>
                <a:cs typeface="Arial"/>
              </a:rPr>
              <a:t>retail loan</a:t>
            </a:r>
            <a:r>
              <a:rPr sz="1400" spc="-130" dirty="0">
                <a:latin typeface="Arial"/>
                <a:cs typeface="Arial"/>
              </a:rPr>
              <a:t> </a:t>
            </a:r>
            <a:r>
              <a:rPr sz="1400" spc="-5" dirty="0">
                <a:latin typeface="Arial"/>
                <a:cs typeface="Arial"/>
              </a:rPr>
              <a:t>disbursements</a:t>
            </a:r>
            <a:endParaRPr sz="1400" dirty="0">
              <a:latin typeface="Arial"/>
              <a:cs typeface="Arial"/>
            </a:endParaRPr>
          </a:p>
        </p:txBody>
      </p:sp>
      <p:sp>
        <p:nvSpPr>
          <p:cNvPr id="16" name="object 16"/>
          <p:cNvSpPr txBox="1"/>
          <p:nvPr/>
        </p:nvSpPr>
        <p:spPr>
          <a:xfrm>
            <a:off x="9859518" y="3500983"/>
            <a:ext cx="1753235" cy="528320"/>
          </a:xfrm>
          <a:prstGeom prst="rect">
            <a:avLst/>
          </a:prstGeom>
        </p:spPr>
        <p:txBody>
          <a:bodyPr vert="horz" wrap="square" lIns="0" tIns="50800" rIns="0" bIns="0" rtlCol="0">
            <a:spAutoFit/>
          </a:bodyPr>
          <a:lstStyle/>
          <a:p>
            <a:pPr marL="238125" indent="-226060">
              <a:lnSpc>
                <a:spcPct val="100000"/>
              </a:lnSpc>
              <a:spcBef>
                <a:spcPts val="400"/>
              </a:spcBef>
              <a:buFont typeface="Wingdings"/>
              <a:buChar char=""/>
              <a:tabLst>
                <a:tab pos="238125" algn="l"/>
                <a:tab pos="238760" algn="l"/>
              </a:tabLst>
            </a:pPr>
            <a:r>
              <a:rPr sz="1400" dirty="0">
                <a:latin typeface="Arial"/>
                <a:cs typeface="Arial"/>
              </a:rPr>
              <a:t>Stock</a:t>
            </a:r>
            <a:r>
              <a:rPr sz="1400" spc="-40" dirty="0">
                <a:latin typeface="Arial"/>
                <a:cs typeface="Arial"/>
              </a:rPr>
              <a:t> </a:t>
            </a:r>
            <a:r>
              <a:rPr sz="1400" spc="-5" dirty="0">
                <a:latin typeface="Arial"/>
                <a:cs typeface="Arial"/>
              </a:rPr>
              <a:t>financing</a:t>
            </a:r>
            <a:endParaRPr sz="1400">
              <a:latin typeface="Arial"/>
              <a:cs typeface="Arial"/>
            </a:endParaRPr>
          </a:p>
          <a:p>
            <a:pPr marL="238125" indent="-226060">
              <a:lnSpc>
                <a:spcPct val="100000"/>
              </a:lnSpc>
              <a:spcBef>
                <a:spcPts val="300"/>
              </a:spcBef>
              <a:buFont typeface="Wingdings"/>
              <a:buChar char=""/>
              <a:tabLst>
                <a:tab pos="238125" algn="l"/>
                <a:tab pos="238760" algn="l"/>
              </a:tabLst>
            </a:pPr>
            <a:r>
              <a:rPr sz="1400" spc="-5" dirty="0">
                <a:latin typeface="Arial"/>
                <a:cs typeface="Arial"/>
              </a:rPr>
              <a:t>Floorplan</a:t>
            </a:r>
            <a:r>
              <a:rPr sz="1400" spc="-75" dirty="0">
                <a:latin typeface="Arial"/>
                <a:cs typeface="Arial"/>
              </a:rPr>
              <a:t> </a:t>
            </a:r>
            <a:r>
              <a:rPr sz="1400" spc="-5" dirty="0">
                <a:latin typeface="Arial"/>
                <a:cs typeface="Arial"/>
              </a:rPr>
              <a:t>financing</a:t>
            </a:r>
            <a:endParaRPr sz="1400">
              <a:latin typeface="Arial"/>
              <a:cs typeface="Arial"/>
            </a:endParaRPr>
          </a:p>
        </p:txBody>
      </p:sp>
      <p:sp>
        <p:nvSpPr>
          <p:cNvPr id="17" name="object 17"/>
          <p:cNvSpPr/>
          <p:nvPr/>
        </p:nvSpPr>
        <p:spPr>
          <a:xfrm>
            <a:off x="554736" y="3556508"/>
            <a:ext cx="269875" cy="270510"/>
          </a:xfrm>
          <a:custGeom>
            <a:avLst/>
            <a:gdLst/>
            <a:ahLst/>
            <a:cxnLst/>
            <a:rect l="l" t="t" r="r" b="b"/>
            <a:pathLst>
              <a:path w="269875" h="270510">
                <a:moveTo>
                  <a:pt x="0" y="135254"/>
                </a:moveTo>
                <a:lnTo>
                  <a:pt x="6863" y="92464"/>
                </a:lnTo>
                <a:lnTo>
                  <a:pt x="25975" y="55330"/>
                </a:lnTo>
                <a:lnTo>
                  <a:pt x="55119" y="26066"/>
                </a:lnTo>
                <a:lnTo>
                  <a:pt x="92077" y="6885"/>
                </a:lnTo>
                <a:lnTo>
                  <a:pt x="134632" y="0"/>
                </a:lnTo>
                <a:lnTo>
                  <a:pt x="177188" y="6885"/>
                </a:lnTo>
                <a:lnTo>
                  <a:pt x="214146" y="26066"/>
                </a:lnTo>
                <a:lnTo>
                  <a:pt x="243289" y="55330"/>
                </a:lnTo>
                <a:lnTo>
                  <a:pt x="262402" y="92464"/>
                </a:lnTo>
                <a:lnTo>
                  <a:pt x="269265" y="135254"/>
                </a:lnTo>
                <a:lnTo>
                  <a:pt x="262402" y="177983"/>
                </a:lnTo>
                <a:lnTo>
                  <a:pt x="243289" y="215080"/>
                </a:lnTo>
                <a:lnTo>
                  <a:pt x="214146" y="244324"/>
                </a:lnTo>
                <a:lnTo>
                  <a:pt x="177188" y="263498"/>
                </a:lnTo>
                <a:lnTo>
                  <a:pt x="134632" y="270382"/>
                </a:lnTo>
                <a:lnTo>
                  <a:pt x="92077" y="263498"/>
                </a:lnTo>
                <a:lnTo>
                  <a:pt x="55119" y="244324"/>
                </a:lnTo>
                <a:lnTo>
                  <a:pt x="25975" y="215080"/>
                </a:lnTo>
                <a:lnTo>
                  <a:pt x="6863" y="177983"/>
                </a:lnTo>
                <a:lnTo>
                  <a:pt x="0" y="135254"/>
                </a:lnTo>
                <a:close/>
              </a:path>
            </a:pathLst>
          </a:custGeom>
          <a:ln w="6350">
            <a:solidFill>
              <a:srgbClr val="051F79"/>
            </a:solidFill>
          </a:ln>
        </p:spPr>
        <p:txBody>
          <a:bodyPr wrap="square" lIns="0" tIns="0" rIns="0" bIns="0" rtlCol="0"/>
          <a:lstStyle/>
          <a:p>
            <a:endParaRPr/>
          </a:p>
        </p:txBody>
      </p:sp>
      <p:sp>
        <p:nvSpPr>
          <p:cNvPr id="18" name="object 18"/>
          <p:cNvSpPr txBox="1"/>
          <p:nvPr/>
        </p:nvSpPr>
        <p:spPr>
          <a:xfrm>
            <a:off x="626465" y="3542538"/>
            <a:ext cx="1963420" cy="510540"/>
          </a:xfrm>
          <a:prstGeom prst="rect">
            <a:avLst/>
          </a:prstGeom>
        </p:spPr>
        <p:txBody>
          <a:bodyPr vert="horz" wrap="square" lIns="0" tIns="22225" rIns="0" bIns="0" rtlCol="0">
            <a:spAutoFit/>
          </a:bodyPr>
          <a:lstStyle/>
          <a:p>
            <a:pPr marL="295910" marR="5080" indent="-283845">
              <a:lnSpc>
                <a:spcPts val="1900"/>
              </a:lnSpc>
              <a:spcBef>
                <a:spcPts val="175"/>
              </a:spcBef>
              <a:tabLst>
                <a:tab pos="295910" algn="l"/>
              </a:tabLst>
            </a:pPr>
            <a:r>
              <a:rPr sz="1400" b="1" dirty="0">
                <a:solidFill>
                  <a:srgbClr val="051F79"/>
                </a:solidFill>
                <a:latin typeface="Arial"/>
                <a:cs typeface="Arial"/>
              </a:rPr>
              <a:t>ii	</a:t>
            </a:r>
            <a:r>
              <a:rPr sz="1600" b="1" spc="-10" dirty="0">
                <a:latin typeface="Arial"/>
                <a:cs typeface="Arial"/>
              </a:rPr>
              <a:t>Redesign end-to-  end B2B</a:t>
            </a:r>
            <a:r>
              <a:rPr sz="1600" b="1" spc="-45" dirty="0">
                <a:latin typeface="Arial"/>
                <a:cs typeface="Arial"/>
              </a:rPr>
              <a:t> </a:t>
            </a:r>
            <a:r>
              <a:rPr sz="1600" b="1" spc="-5" dirty="0">
                <a:latin typeface="Arial"/>
                <a:cs typeface="Arial"/>
              </a:rPr>
              <a:t>offering</a:t>
            </a:r>
            <a:endParaRPr sz="1600">
              <a:latin typeface="Arial"/>
              <a:cs typeface="Arial"/>
            </a:endParaRPr>
          </a:p>
        </p:txBody>
      </p:sp>
      <p:sp>
        <p:nvSpPr>
          <p:cNvPr id="19" name="object 19"/>
          <p:cNvSpPr txBox="1"/>
          <p:nvPr/>
        </p:nvSpPr>
        <p:spPr>
          <a:xfrm>
            <a:off x="3116579" y="4372483"/>
            <a:ext cx="6249035" cy="453390"/>
          </a:xfrm>
          <a:prstGeom prst="rect">
            <a:avLst/>
          </a:prstGeom>
        </p:spPr>
        <p:txBody>
          <a:bodyPr vert="horz" wrap="square" lIns="0" tIns="12700" rIns="0" bIns="0" rtlCol="0">
            <a:spAutoFit/>
          </a:bodyPr>
          <a:lstStyle/>
          <a:p>
            <a:pPr marL="225425" indent="-226060">
              <a:lnSpc>
                <a:spcPct val="100000"/>
              </a:lnSpc>
              <a:spcBef>
                <a:spcPts val="100"/>
              </a:spcBef>
              <a:buFont typeface="Wingdings"/>
              <a:buChar char=""/>
              <a:tabLst>
                <a:tab pos="225425" algn="l"/>
                <a:tab pos="226060" algn="l"/>
              </a:tabLst>
            </a:pPr>
            <a:r>
              <a:rPr sz="1400" b="1" dirty="0">
                <a:latin typeface="Arial"/>
                <a:cs typeface="Arial"/>
              </a:rPr>
              <a:t>Enter </a:t>
            </a:r>
            <a:r>
              <a:rPr sz="1400" b="1" spc="-5" dirty="0">
                <a:latin typeface="Arial"/>
                <a:cs typeface="Arial"/>
              </a:rPr>
              <a:t>the retail leasing market </a:t>
            </a:r>
            <a:r>
              <a:rPr sz="1400" spc="-5" dirty="0">
                <a:latin typeface="Arial"/>
                <a:cs typeface="Arial"/>
              </a:rPr>
              <a:t>organically through </a:t>
            </a:r>
            <a:r>
              <a:rPr sz="1400" b="1" dirty="0">
                <a:latin typeface="Arial"/>
                <a:cs typeface="Arial"/>
              </a:rPr>
              <a:t>a </a:t>
            </a:r>
            <a:r>
              <a:rPr sz="1400" b="1" spc="-5" dirty="0">
                <a:latin typeface="Arial"/>
                <a:cs typeface="Arial"/>
              </a:rPr>
              <a:t>dealer-centric</a:t>
            </a:r>
            <a:r>
              <a:rPr sz="1400" b="1" spc="-170" dirty="0">
                <a:latin typeface="Arial"/>
                <a:cs typeface="Arial"/>
              </a:rPr>
              <a:t> </a:t>
            </a:r>
            <a:r>
              <a:rPr sz="1400" b="1" spc="-5" dirty="0">
                <a:latin typeface="Arial"/>
                <a:cs typeface="Arial"/>
              </a:rPr>
              <a:t>model</a:t>
            </a:r>
            <a:endParaRPr sz="1400" dirty="0">
              <a:latin typeface="Arial"/>
              <a:cs typeface="Arial"/>
            </a:endParaRPr>
          </a:p>
          <a:p>
            <a:pPr marL="225425">
              <a:lnSpc>
                <a:spcPct val="100000"/>
              </a:lnSpc>
              <a:spcBef>
                <a:spcPts val="5"/>
              </a:spcBef>
            </a:pPr>
            <a:r>
              <a:rPr sz="1400" spc="-5" dirty="0">
                <a:latin typeface="Arial"/>
                <a:cs typeface="Arial"/>
              </a:rPr>
              <a:t>that </a:t>
            </a:r>
            <a:r>
              <a:rPr sz="1400" spc="-10" dirty="0">
                <a:latin typeface="Arial"/>
                <a:cs typeface="Arial"/>
              </a:rPr>
              <a:t>differentiates </a:t>
            </a:r>
            <a:r>
              <a:rPr sz="1400" dirty="0">
                <a:latin typeface="Arial"/>
                <a:cs typeface="Arial"/>
              </a:rPr>
              <a:t>Eurobank from </a:t>
            </a:r>
            <a:r>
              <a:rPr sz="1400" spc="-5" dirty="0">
                <a:latin typeface="Arial"/>
                <a:cs typeface="Arial"/>
              </a:rPr>
              <a:t>incumbents and new mobility</a:t>
            </a:r>
            <a:r>
              <a:rPr sz="1400" spc="-165" dirty="0">
                <a:latin typeface="Arial"/>
                <a:cs typeface="Arial"/>
              </a:rPr>
              <a:t> </a:t>
            </a:r>
            <a:r>
              <a:rPr sz="1400" spc="-10" dirty="0">
                <a:latin typeface="Arial"/>
                <a:cs typeface="Arial"/>
              </a:rPr>
              <a:t>players</a:t>
            </a:r>
            <a:endParaRPr sz="1400" dirty="0">
              <a:latin typeface="Arial"/>
              <a:cs typeface="Arial"/>
            </a:endParaRPr>
          </a:p>
        </p:txBody>
      </p:sp>
      <p:sp>
        <p:nvSpPr>
          <p:cNvPr id="20" name="object 20"/>
          <p:cNvSpPr txBox="1"/>
          <p:nvPr/>
        </p:nvSpPr>
        <p:spPr>
          <a:xfrm>
            <a:off x="9872218" y="4334738"/>
            <a:ext cx="1631314" cy="528955"/>
          </a:xfrm>
          <a:prstGeom prst="rect">
            <a:avLst/>
          </a:prstGeom>
        </p:spPr>
        <p:txBody>
          <a:bodyPr vert="horz" wrap="square" lIns="0" tIns="50800" rIns="0" bIns="0" rtlCol="0">
            <a:spAutoFit/>
          </a:bodyPr>
          <a:lstStyle/>
          <a:p>
            <a:pPr marL="225425" indent="-226060">
              <a:lnSpc>
                <a:spcPct val="100000"/>
              </a:lnSpc>
              <a:spcBef>
                <a:spcPts val="400"/>
              </a:spcBef>
              <a:buFont typeface="Wingdings"/>
              <a:buChar char=""/>
              <a:tabLst>
                <a:tab pos="225425" algn="l"/>
                <a:tab pos="226060" algn="l"/>
              </a:tabLst>
            </a:pPr>
            <a:r>
              <a:rPr sz="1400" spc="-5" dirty="0">
                <a:latin typeface="Arial"/>
                <a:cs typeface="Arial"/>
              </a:rPr>
              <a:t>Financial</a:t>
            </a:r>
            <a:r>
              <a:rPr sz="1400" spc="-95" dirty="0">
                <a:latin typeface="Arial"/>
                <a:cs typeface="Arial"/>
              </a:rPr>
              <a:t> </a:t>
            </a:r>
            <a:r>
              <a:rPr sz="1400" spc="-5" dirty="0">
                <a:latin typeface="Arial"/>
                <a:cs typeface="Arial"/>
              </a:rPr>
              <a:t>leasing</a:t>
            </a:r>
            <a:endParaRPr sz="1400">
              <a:latin typeface="Arial"/>
              <a:cs typeface="Arial"/>
            </a:endParaRPr>
          </a:p>
          <a:p>
            <a:pPr marL="225425" indent="-226060">
              <a:lnSpc>
                <a:spcPct val="100000"/>
              </a:lnSpc>
              <a:spcBef>
                <a:spcPts val="300"/>
              </a:spcBef>
              <a:buFont typeface="Wingdings"/>
              <a:buChar char=""/>
              <a:tabLst>
                <a:tab pos="225425" algn="l"/>
                <a:tab pos="226060" algn="l"/>
              </a:tabLst>
            </a:pPr>
            <a:r>
              <a:rPr sz="1400" dirty="0">
                <a:latin typeface="Arial"/>
                <a:cs typeface="Arial"/>
              </a:rPr>
              <a:t>Operating</a:t>
            </a:r>
            <a:r>
              <a:rPr sz="1400" spc="-114" dirty="0">
                <a:latin typeface="Arial"/>
                <a:cs typeface="Arial"/>
              </a:rPr>
              <a:t> </a:t>
            </a:r>
            <a:r>
              <a:rPr sz="1400" spc="-5" dirty="0">
                <a:latin typeface="Arial"/>
                <a:cs typeface="Arial"/>
              </a:rPr>
              <a:t>leasing</a:t>
            </a:r>
            <a:endParaRPr sz="1400">
              <a:latin typeface="Arial"/>
              <a:cs typeface="Arial"/>
            </a:endParaRPr>
          </a:p>
        </p:txBody>
      </p:sp>
      <p:sp>
        <p:nvSpPr>
          <p:cNvPr id="21" name="object 21"/>
          <p:cNvSpPr/>
          <p:nvPr/>
        </p:nvSpPr>
        <p:spPr>
          <a:xfrm>
            <a:off x="554736" y="4390516"/>
            <a:ext cx="269875" cy="270510"/>
          </a:xfrm>
          <a:custGeom>
            <a:avLst/>
            <a:gdLst/>
            <a:ahLst/>
            <a:cxnLst/>
            <a:rect l="l" t="t" r="r" b="b"/>
            <a:pathLst>
              <a:path w="269875" h="270510">
                <a:moveTo>
                  <a:pt x="134632" y="0"/>
                </a:moveTo>
                <a:lnTo>
                  <a:pt x="92077" y="6884"/>
                </a:lnTo>
                <a:lnTo>
                  <a:pt x="55119" y="26058"/>
                </a:lnTo>
                <a:lnTo>
                  <a:pt x="25975" y="55302"/>
                </a:lnTo>
                <a:lnTo>
                  <a:pt x="6863" y="92399"/>
                </a:lnTo>
                <a:lnTo>
                  <a:pt x="0" y="135127"/>
                </a:lnTo>
                <a:lnTo>
                  <a:pt x="6863" y="177918"/>
                </a:lnTo>
                <a:lnTo>
                  <a:pt x="25975" y="215052"/>
                </a:lnTo>
                <a:lnTo>
                  <a:pt x="55119" y="244316"/>
                </a:lnTo>
                <a:lnTo>
                  <a:pt x="92077" y="263497"/>
                </a:lnTo>
                <a:lnTo>
                  <a:pt x="134632" y="270382"/>
                </a:lnTo>
                <a:lnTo>
                  <a:pt x="177188" y="263497"/>
                </a:lnTo>
                <a:lnTo>
                  <a:pt x="214146" y="244316"/>
                </a:lnTo>
                <a:lnTo>
                  <a:pt x="243289" y="215052"/>
                </a:lnTo>
                <a:lnTo>
                  <a:pt x="262402" y="177918"/>
                </a:lnTo>
                <a:lnTo>
                  <a:pt x="269265" y="135127"/>
                </a:lnTo>
                <a:lnTo>
                  <a:pt x="262402" y="92399"/>
                </a:lnTo>
                <a:lnTo>
                  <a:pt x="243289" y="55302"/>
                </a:lnTo>
                <a:lnTo>
                  <a:pt x="214146" y="26058"/>
                </a:lnTo>
                <a:lnTo>
                  <a:pt x="177188" y="6884"/>
                </a:lnTo>
                <a:lnTo>
                  <a:pt x="134632" y="0"/>
                </a:lnTo>
                <a:close/>
              </a:path>
            </a:pathLst>
          </a:custGeom>
          <a:solidFill>
            <a:srgbClr val="FFFFFF"/>
          </a:solidFill>
        </p:spPr>
        <p:txBody>
          <a:bodyPr wrap="square" lIns="0" tIns="0" rIns="0" bIns="0" rtlCol="0"/>
          <a:lstStyle/>
          <a:p>
            <a:endParaRPr/>
          </a:p>
        </p:txBody>
      </p:sp>
      <p:sp>
        <p:nvSpPr>
          <p:cNvPr id="22" name="object 22"/>
          <p:cNvSpPr/>
          <p:nvPr/>
        </p:nvSpPr>
        <p:spPr>
          <a:xfrm>
            <a:off x="554736" y="4390516"/>
            <a:ext cx="269875" cy="270510"/>
          </a:xfrm>
          <a:custGeom>
            <a:avLst/>
            <a:gdLst/>
            <a:ahLst/>
            <a:cxnLst/>
            <a:rect l="l" t="t" r="r" b="b"/>
            <a:pathLst>
              <a:path w="269875" h="270510">
                <a:moveTo>
                  <a:pt x="0" y="135127"/>
                </a:moveTo>
                <a:lnTo>
                  <a:pt x="6863" y="92399"/>
                </a:lnTo>
                <a:lnTo>
                  <a:pt x="25975" y="55302"/>
                </a:lnTo>
                <a:lnTo>
                  <a:pt x="55119" y="26058"/>
                </a:lnTo>
                <a:lnTo>
                  <a:pt x="92077" y="6884"/>
                </a:lnTo>
                <a:lnTo>
                  <a:pt x="134632" y="0"/>
                </a:lnTo>
                <a:lnTo>
                  <a:pt x="177188" y="6884"/>
                </a:lnTo>
                <a:lnTo>
                  <a:pt x="214146" y="26058"/>
                </a:lnTo>
                <a:lnTo>
                  <a:pt x="243289" y="55302"/>
                </a:lnTo>
                <a:lnTo>
                  <a:pt x="262402" y="92399"/>
                </a:lnTo>
                <a:lnTo>
                  <a:pt x="269265" y="135127"/>
                </a:lnTo>
                <a:lnTo>
                  <a:pt x="262402" y="177918"/>
                </a:lnTo>
                <a:lnTo>
                  <a:pt x="243289" y="215052"/>
                </a:lnTo>
                <a:lnTo>
                  <a:pt x="214146" y="244316"/>
                </a:lnTo>
                <a:lnTo>
                  <a:pt x="177188" y="263497"/>
                </a:lnTo>
                <a:lnTo>
                  <a:pt x="134632" y="270382"/>
                </a:lnTo>
                <a:lnTo>
                  <a:pt x="92077" y="263497"/>
                </a:lnTo>
                <a:lnTo>
                  <a:pt x="55119" y="244316"/>
                </a:lnTo>
                <a:lnTo>
                  <a:pt x="25975" y="215052"/>
                </a:lnTo>
                <a:lnTo>
                  <a:pt x="6863" y="177918"/>
                </a:lnTo>
                <a:lnTo>
                  <a:pt x="0" y="135127"/>
                </a:lnTo>
                <a:close/>
              </a:path>
            </a:pathLst>
          </a:custGeom>
          <a:ln w="6350">
            <a:solidFill>
              <a:srgbClr val="051F79"/>
            </a:solidFill>
          </a:ln>
        </p:spPr>
        <p:txBody>
          <a:bodyPr wrap="square" lIns="0" tIns="0" rIns="0" bIns="0" rtlCol="0"/>
          <a:lstStyle/>
          <a:p>
            <a:endParaRPr/>
          </a:p>
        </p:txBody>
      </p:sp>
      <p:sp>
        <p:nvSpPr>
          <p:cNvPr id="23" name="object 23"/>
          <p:cNvSpPr txBox="1"/>
          <p:nvPr/>
        </p:nvSpPr>
        <p:spPr>
          <a:xfrm>
            <a:off x="613257" y="4376369"/>
            <a:ext cx="1744980" cy="510540"/>
          </a:xfrm>
          <a:prstGeom prst="rect">
            <a:avLst/>
          </a:prstGeom>
        </p:spPr>
        <p:txBody>
          <a:bodyPr vert="horz" wrap="square" lIns="0" tIns="12065" rIns="0" bIns="0" rtlCol="0">
            <a:spAutoFit/>
          </a:bodyPr>
          <a:lstStyle/>
          <a:p>
            <a:pPr marR="5080" algn="r">
              <a:lnSpc>
                <a:spcPts val="1910"/>
              </a:lnSpc>
              <a:spcBef>
                <a:spcPts val="95"/>
              </a:spcBef>
              <a:tabLst>
                <a:tab pos="309245" algn="l"/>
              </a:tabLst>
            </a:pPr>
            <a:r>
              <a:rPr sz="1400" b="1" dirty="0">
                <a:solidFill>
                  <a:srgbClr val="051F79"/>
                </a:solidFill>
                <a:latin typeface="Arial"/>
                <a:cs typeface="Arial"/>
              </a:rPr>
              <a:t>iii	</a:t>
            </a:r>
            <a:r>
              <a:rPr sz="1600" b="1" spc="-5" dirty="0">
                <a:latin typeface="Arial"/>
                <a:cs typeface="Arial"/>
              </a:rPr>
              <a:t>Enter the</a:t>
            </a:r>
            <a:r>
              <a:rPr sz="1600" b="1" spc="-35" dirty="0">
                <a:latin typeface="Arial"/>
                <a:cs typeface="Arial"/>
              </a:rPr>
              <a:t> </a:t>
            </a:r>
            <a:r>
              <a:rPr sz="1600" b="1" spc="-10" dirty="0">
                <a:latin typeface="Arial"/>
                <a:cs typeface="Arial"/>
              </a:rPr>
              <a:t>retail</a:t>
            </a:r>
            <a:endParaRPr sz="1600">
              <a:latin typeface="Arial"/>
              <a:cs typeface="Arial"/>
            </a:endParaRPr>
          </a:p>
          <a:p>
            <a:pPr marR="5080" algn="r">
              <a:lnSpc>
                <a:spcPts val="1910"/>
              </a:lnSpc>
            </a:pPr>
            <a:r>
              <a:rPr sz="1600" b="1" spc="-5" dirty="0">
                <a:latin typeface="Arial"/>
                <a:cs typeface="Arial"/>
              </a:rPr>
              <a:t>leasing</a:t>
            </a:r>
            <a:r>
              <a:rPr sz="1600" b="1" spc="-50" dirty="0">
                <a:latin typeface="Arial"/>
                <a:cs typeface="Arial"/>
              </a:rPr>
              <a:t> </a:t>
            </a:r>
            <a:r>
              <a:rPr sz="1600" b="1" spc="-10" dirty="0">
                <a:latin typeface="Arial"/>
                <a:cs typeface="Arial"/>
              </a:rPr>
              <a:t>market</a:t>
            </a:r>
            <a:endParaRPr sz="1600">
              <a:latin typeface="Arial"/>
              <a:cs typeface="Arial"/>
            </a:endParaRPr>
          </a:p>
        </p:txBody>
      </p:sp>
      <p:sp>
        <p:nvSpPr>
          <p:cNvPr id="24" name="object 24"/>
          <p:cNvSpPr txBox="1"/>
          <p:nvPr/>
        </p:nvSpPr>
        <p:spPr>
          <a:xfrm>
            <a:off x="3103879" y="5169306"/>
            <a:ext cx="6191250" cy="266098"/>
          </a:xfrm>
          <a:prstGeom prst="rect">
            <a:avLst/>
          </a:prstGeom>
        </p:spPr>
        <p:txBody>
          <a:bodyPr vert="horz" wrap="square" lIns="0" tIns="50165" rIns="0" bIns="0" rtlCol="0">
            <a:spAutoFit/>
          </a:bodyPr>
          <a:lstStyle/>
          <a:p>
            <a:pPr marL="238125" indent="-226060">
              <a:lnSpc>
                <a:spcPct val="100000"/>
              </a:lnSpc>
              <a:spcBef>
                <a:spcPts val="395"/>
              </a:spcBef>
              <a:buFont typeface="Wingdings"/>
              <a:buChar char=""/>
              <a:tabLst>
                <a:tab pos="238125" algn="l"/>
                <a:tab pos="238760" algn="l"/>
              </a:tabLst>
            </a:pPr>
            <a:r>
              <a:rPr sz="1400" spc="-5" dirty="0">
                <a:latin typeface="Arial"/>
                <a:cs typeface="Arial"/>
              </a:rPr>
              <a:t>Launch </a:t>
            </a:r>
            <a:r>
              <a:rPr sz="1400" dirty="0">
                <a:latin typeface="Arial"/>
                <a:cs typeface="Arial"/>
              </a:rPr>
              <a:t>B2C </a:t>
            </a:r>
            <a:r>
              <a:rPr sz="1400" spc="-5" dirty="0">
                <a:latin typeface="Arial"/>
                <a:cs typeface="Arial"/>
              </a:rPr>
              <a:t>journeys on </a:t>
            </a:r>
            <a:r>
              <a:rPr sz="1400" b="1" spc="-5" dirty="0">
                <a:latin typeface="Arial"/>
                <a:cs typeface="Arial"/>
              </a:rPr>
              <a:t>digital marketplaces </a:t>
            </a:r>
            <a:r>
              <a:rPr sz="1400" dirty="0">
                <a:latin typeface="Arial"/>
                <a:cs typeface="Arial"/>
              </a:rPr>
              <a:t>(e.g.,</a:t>
            </a:r>
            <a:r>
              <a:rPr sz="1400" spc="-170" dirty="0">
                <a:latin typeface="Arial"/>
                <a:cs typeface="Arial"/>
              </a:rPr>
              <a:t> </a:t>
            </a:r>
            <a:r>
              <a:rPr sz="1400" spc="-15" dirty="0">
                <a:latin typeface="Arial"/>
                <a:cs typeface="Arial"/>
              </a:rPr>
              <a:t>Car.gr)</a:t>
            </a:r>
            <a:endParaRPr sz="1400" dirty="0">
              <a:latin typeface="Arial"/>
              <a:cs typeface="Arial"/>
            </a:endParaRPr>
          </a:p>
        </p:txBody>
      </p:sp>
      <p:sp>
        <p:nvSpPr>
          <p:cNvPr id="25" name="object 25"/>
          <p:cNvSpPr txBox="1"/>
          <p:nvPr/>
        </p:nvSpPr>
        <p:spPr>
          <a:xfrm>
            <a:off x="9859518" y="5169306"/>
            <a:ext cx="1701800" cy="481542"/>
          </a:xfrm>
          <a:prstGeom prst="rect">
            <a:avLst/>
          </a:prstGeom>
        </p:spPr>
        <p:txBody>
          <a:bodyPr vert="horz" wrap="square" lIns="0" tIns="50165" rIns="0" bIns="0" rtlCol="0">
            <a:spAutoFit/>
          </a:bodyPr>
          <a:lstStyle/>
          <a:p>
            <a:pPr marL="238125" indent="-226060">
              <a:lnSpc>
                <a:spcPct val="100000"/>
              </a:lnSpc>
              <a:spcBef>
                <a:spcPts val="300"/>
              </a:spcBef>
              <a:buFont typeface="Wingdings"/>
              <a:buChar char=""/>
              <a:tabLst>
                <a:tab pos="238125" algn="l"/>
                <a:tab pos="238760" algn="l"/>
              </a:tabLst>
            </a:pPr>
            <a:r>
              <a:rPr sz="1400" spc="-5" dirty="0">
                <a:latin typeface="Arial"/>
                <a:cs typeface="Arial"/>
              </a:rPr>
              <a:t>Pre-approved</a:t>
            </a:r>
            <a:endParaRPr sz="1400" dirty="0">
              <a:latin typeface="Arial"/>
              <a:cs typeface="Arial"/>
            </a:endParaRPr>
          </a:p>
          <a:p>
            <a:pPr marL="238125">
              <a:lnSpc>
                <a:spcPct val="100000"/>
              </a:lnSpc>
            </a:pPr>
            <a:r>
              <a:rPr sz="1400" spc="-5" dirty="0">
                <a:latin typeface="Arial"/>
                <a:cs typeface="Arial"/>
              </a:rPr>
              <a:t>autoloan</a:t>
            </a:r>
            <a:endParaRPr sz="1400" dirty="0">
              <a:latin typeface="Arial"/>
              <a:cs typeface="Arial"/>
            </a:endParaRPr>
          </a:p>
        </p:txBody>
      </p:sp>
      <p:sp>
        <p:nvSpPr>
          <p:cNvPr id="26" name="object 26"/>
          <p:cNvSpPr/>
          <p:nvPr/>
        </p:nvSpPr>
        <p:spPr>
          <a:xfrm>
            <a:off x="554736" y="5224398"/>
            <a:ext cx="269875" cy="270510"/>
          </a:xfrm>
          <a:custGeom>
            <a:avLst/>
            <a:gdLst/>
            <a:ahLst/>
            <a:cxnLst/>
            <a:rect l="l" t="t" r="r" b="b"/>
            <a:pathLst>
              <a:path w="269875" h="270510">
                <a:moveTo>
                  <a:pt x="0" y="135254"/>
                </a:moveTo>
                <a:lnTo>
                  <a:pt x="6863" y="92512"/>
                </a:lnTo>
                <a:lnTo>
                  <a:pt x="25975" y="55385"/>
                </a:lnTo>
                <a:lnTo>
                  <a:pt x="55119" y="26103"/>
                </a:lnTo>
                <a:lnTo>
                  <a:pt x="92077" y="6897"/>
                </a:lnTo>
                <a:lnTo>
                  <a:pt x="134632" y="0"/>
                </a:lnTo>
                <a:lnTo>
                  <a:pt x="177188" y="6897"/>
                </a:lnTo>
                <a:lnTo>
                  <a:pt x="214146" y="26103"/>
                </a:lnTo>
                <a:lnTo>
                  <a:pt x="243289" y="55385"/>
                </a:lnTo>
                <a:lnTo>
                  <a:pt x="262402" y="92512"/>
                </a:lnTo>
                <a:lnTo>
                  <a:pt x="269265" y="135254"/>
                </a:lnTo>
                <a:lnTo>
                  <a:pt x="262402" y="177997"/>
                </a:lnTo>
                <a:lnTo>
                  <a:pt x="243289" y="215124"/>
                </a:lnTo>
                <a:lnTo>
                  <a:pt x="214146" y="244406"/>
                </a:lnTo>
                <a:lnTo>
                  <a:pt x="177188" y="263612"/>
                </a:lnTo>
                <a:lnTo>
                  <a:pt x="134632" y="270509"/>
                </a:lnTo>
                <a:lnTo>
                  <a:pt x="92077" y="263612"/>
                </a:lnTo>
                <a:lnTo>
                  <a:pt x="55119" y="244406"/>
                </a:lnTo>
                <a:lnTo>
                  <a:pt x="25975" y="215124"/>
                </a:lnTo>
                <a:lnTo>
                  <a:pt x="6863" y="177997"/>
                </a:lnTo>
                <a:lnTo>
                  <a:pt x="0" y="135254"/>
                </a:lnTo>
                <a:close/>
              </a:path>
            </a:pathLst>
          </a:custGeom>
          <a:ln w="6350">
            <a:solidFill>
              <a:srgbClr val="051F79"/>
            </a:solidFill>
          </a:ln>
        </p:spPr>
        <p:txBody>
          <a:bodyPr wrap="square" lIns="0" tIns="0" rIns="0" bIns="0" rtlCol="0"/>
          <a:lstStyle/>
          <a:p>
            <a:endParaRPr/>
          </a:p>
        </p:txBody>
      </p:sp>
      <p:sp>
        <p:nvSpPr>
          <p:cNvPr id="27" name="object 27"/>
          <p:cNvSpPr txBox="1"/>
          <p:nvPr/>
        </p:nvSpPr>
        <p:spPr>
          <a:xfrm>
            <a:off x="602081" y="5210936"/>
            <a:ext cx="1718945" cy="509905"/>
          </a:xfrm>
          <a:prstGeom prst="rect">
            <a:avLst/>
          </a:prstGeom>
        </p:spPr>
        <p:txBody>
          <a:bodyPr vert="horz" wrap="square" lIns="0" tIns="22225" rIns="0" bIns="0" rtlCol="0">
            <a:spAutoFit/>
          </a:bodyPr>
          <a:lstStyle/>
          <a:p>
            <a:pPr marL="320040" marR="5080" indent="-307975">
              <a:lnSpc>
                <a:spcPts val="1900"/>
              </a:lnSpc>
              <a:spcBef>
                <a:spcPts val="175"/>
              </a:spcBef>
              <a:tabLst>
                <a:tab pos="320040" algn="l"/>
              </a:tabLst>
            </a:pPr>
            <a:r>
              <a:rPr sz="1400" b="1" dirty="0">
                <a:solidFill>
                  <a:srgbClr val="051F79"/>
                </a:solidFill>
                <a:latin typeface="Arial"/>
                <a:cs typeface="Arial"/>
              </a:rPr>
              <a:t>iv	</a:t>
            </a:r>
            <a:r>
              <a:rPr sz="1600" b="1" spc="-5" dirty="0">
                <a:latin typeface="Arial"/>
                <a:cs typeface="Arial"/>
              </a:rPr>
              <a:t>Expand</a:t>
            </a:r>
            <a:r>
              <a:rPr sz="1600" b="1" spc="-65" dirty="0">
                <a:latin typeface="Arial"/>
                <a:cs typeface="Arial"/>
              </a:rPr>
              <a:t> </a:t>
            </a:r>
            <a:r>
              <a:rPr sz="1600" b="1" spc="-5" dirty="0">
                <a:latin typeface="Arial"/>
                <a:cs typeface="Arial"/>
              </a:rPr>
              <a:t>digital  presence</a:t>
            </a:r>
            <a:endParaRPr sz="1600" dirty="0">
              <a:latin typeface="Arial"/>
              <a:cs typeface="Arial"/>
            </a:endParaRPr>
          </a:p>
        </p:txBody>
      </p:sp>
      <p:sp>
        <p:nvSpPr>
          <p:cNvPr id="28" name="object 28"/>
          <p:cNvSpPr/>
          <p:nvPr/>
        </p:nvSpPr>
        <p:spPr>
          <a:xfrm>
            <a:off x="2856483" y="2099182"/>
            <a:ext cx="0" cy="1115695"/>
          </a:xfrm>
          <a:custGeom>
            <a:avLst/>
            <a:gdLst/>
            <a:ahLst/>
            <a:cxnLst/>
            <a:rect l="l" t="t" r="r" b="b"/>
            <a:pathLst>
              <a:path h="1115695">
                <a:moveTo>
                  <a:pt x="0" y="0"/>
                </a:moveTo>
                <a:lnTo>
                  <a:pt x="0" y="1115694"/>
                </a:lnTo>
              </a:path>
            </a:pathLst>
          </a:custGeom>
          <a:ln w="12700">
            <a:solidFill>
              <a:srgbClr val="000000"/>
            </a:solidFill>
          </a:ln>
        </p:spPr>
        <p:txBody>
          <a:bodyPr wrap="square" lIns="0" tIns="0" rIns="0" bIns="0" rtlCol="0"/>
          <a:lstStyle/>
          <a:p>
            <a:endParaRPr/>
          </a:p>
        </p:txBody>
      </p:sp>
      <p:sp>
        <p:nvSpPr>
          <p:cNvPr id="29" name="object 29"/>
          <p:cNvSpPr/>
          <p:nvPr/>
        </p:nvSpPr>
        <p:spPr>
          <a:xfrm>
            <a:off x="2856483" y="3556508"/>
            <a:ext cx="0" cy="492759"/>
          </a:xfrm>
          <a:custGeom>
            <a:avLst/>
            <a:gdLst/>
            <a:ahLst/>
            <a:cxnLst/>
            <a:rect l="l" t="t" r="r" b="b"/>
            <a:pathLst>
              <a:path h="492760">
                <a:moveTo>
                  <a:pt x="0" y="0"/>
                </a:moveTo>
                <a:lnTo>
                  <a:pt x="0" y="492378"/>
                </a:lnTo>
              </a:path>
            </a:pathLst>
          </a:custGeom>
          <a:ln w="12700">
            <a:solidFill>
              <a:srgbClr val="000000"/>
            </a:solidFill>
          </a:ln>
        </p:spPr>
        <p:txBody>
          <a:bodyPr wrap="square" lIns="0" tIns="0" rIns="0" bIns="0" rtlCol="0"/>
          <a:lstStyle/>
          <a:p>
            <a:endParaRPr/>
          </a:p>
        </p:txBody>
      </p:sp>
      <p:sp>
        <p:nvSpPr>
          <p:cNvPr id="30" name="object 30"/>
          <p:cNvSpPr/>
          <p:nvPr/>
        </p:nvSpPr>
        <p:spPr>
          <a:xfrm>
            <a:off x="2856483" y="4390516"/>
            <a:ext cx="0" cy="492759"/>
          </a:xfrm>
          <a:custGeom>
            <a:avLst/>
            <a:gdLst/>
            <a:ahLst/>
            <a:cxnLst/>
            <a:rect l="l" t="t" r="r" b="b"/>
            <a:pathLst>
              <a:path h="492760">
                <a:moveTo>
                  <a:pt x="0" y="0"/>
                </a:moveTo>
                <a:lnTo>
                  <a:pt x="0" y="492378"/>
                </a:lnTo>
              </a:path>
            </a:pathLst>
          </a:custGeom>
          <a:ln w="12700">
            <a:solidFill>
              <a:srgbClr val="000000"/>
            </a:solidFill>
          </a:ln>
        </p:spPr>
        <p:txBody>
          <a:bodyPr wrap="square" lIns="0" tIns="0" rIns="0" bIns="0" rtlCol="0"/>
          <a:lstStyle/>
          <a:p>
            <a:endParaRPr/>
          </a:p>
        </p:txBody>
      </p:sp>
      <p:sp>
        <p:nvSpPr>
          <p:cNvPr id="31" name="object 31"/>
          <p:cNvSpPr/>
          <p:nvPr/>
        </p:nvSpPr>
        <p:spPr>
          <a:xfrm>
            <a:off x="2856483" y="5224398"/>
            <a:ext cx="0" cy="723900"/>
          </a:xfrm>
          <a:custGeom>
            <a:avLst/>
            <a:gdLst/>
            <a:ahLst/>
            <a:cxnLst/>
            <a:rect l="l" t="t" r="r" b="b"/>
            <a:pathLst>
              <a:path h="723900">
                <a:moveTo>
                  <a:pt x="0" y="0"/>
                </a:moveTo>
                <a:lnTo>
                  <a:pt x="0" y="723328"/>
                </a:lnTo>
              </a:path>
            </a:pathLst>
          </a:custGeom>
          <a:ln w="12700">
            <a:solidFill>
              <a:srgbClr val="000000"/>
            </a:solidFill>
          </a:ln>
        </p:spPr>
        <p:txBody>
          <a:bodyPr wrap="square" lIns="0" tIns="0" rIns="0" bIns="0" rtlCol="0"/>
          <a:lstStyle/>
          <a:p>
            <a:endParaRPr/>
          </a:p>
        </p:txBody>
      </p:sp>
      <p:sp>
        <p:nvSpPr>
          <p:cNvPr id="32" name="object 32"/>
          <p:cNvSpPr/>
          <p:nvPr/>
        </p:nvSpPr>
        <p:spPr>
          <a:xfrm>
            <a:off x="649067" y="1317712"/>
            <a:ext cx="158750" cy="44450"/>
          </a:xfrm>
          <a:custGeom>
            <a:avLst/>
            <a:gdLst/>
            <a:ahLst/>
            <a:cxnLst/>
            <a:rect l="l" t="t" r="r" b="b"/>
            <a:pathLst>
              <a:path w="158750" h="44450">
                <a:moveTo>
                  <a:pt x="0" y="44412"/>
                </a:moveTo>
                <a:lnTo>
                  <a:pt x="158381" y="44412"/>
                </a:lnTo>
                <a:lnTo>
                  <a:pt x="158381" y="0"/>
                </a:lnTo>
                <a:lnTo>
                  <a:pt x="0" y="0"/>
                </a:lnTo>
                <a:lnTo>
                  <a:pt x="0" y="44412"/>
                </a:lnTo>
                <a:close/>
              </a:path>
            </a:pathLst>
          </a:custGeom>
          <a:ln w="7050">
            <a:solidFill>
              <a:srgbClr val="051F79"/>
            </a:solidFill>
          </a:ln>
        </p:spPr>
        <p:txBody>
          <a:bodyPr wrap="square" lIns="0" tIns="0" rIns="0" bIns="0" rtlCol="0"/>
          <a:lstStyle/>
          <a:p>
            <a:endParaRPr/>
          </a:p>
        </p:txBody>
      </p:sp>
      <p:sp>
        <p:nvSpPr>
          <p:cNvPr id="33" name="object 33"/>
          <p:cNvSpPr/>
          <p:nvPr/>
        </p:nvSpPr>
        <p:spPr>
          <a:xfrm>
            <a:off x="599275" y="1339389"/>
            <a:ext cx="257810" cy="306705"/>
          </a:xfrm>
          <a:custGeom>
            <a:avLst/>
            <a:gdLst/>
            <a:ahLst/>
            <a:cxnLst/>
            <a:rect l="l" t="t" r="r" b="b"/>
            <a:pathLst>
              <a:path w="257809" h="306705">
                <a:moveTo>
                  <a:pt x="49792" y="0"/>
                </a:moveTo>
                <a:lnTo>
                  <a:pt x="0" y="0"/>
                </a:lnTo>
                <a:lnTo>
                  <a:pt x="0" y="306124"/>
                </a:lnTo>
                <a:lnTo>
                  <a:pt x="257435" y="306125"/>
                </a:lnTo>
                <a:lnTo>
                  <a:pt x="257435" y="0"/>
                </a:lnTo>
                <a:lnTo>
                  <a:pt x="208173" y="0"/>
                </a:lnTo>
              </a:path>
            </a:pathLst>
          </a:custGeom>
          <a:ln w="7057">
            <a:solidFill>
              <a:srgbClr val="051F79"/>
            </a:solidFill>
          </a:ln>
        </p:spPr>
        <p:txBody>
          <a:bodyPr wrap="square" lIns="0" tIns="0" rIns="0" bIns="0" rtlCol="0"/>
          <a:lstStyle/>
          <a:p>
            <a:endParaRPr/>
          </a:p>
        </p:txBody>
      </p:sp>
      <p:sp>
        <p:nvSpPr>
          <p:cNvPr id="34" name="object 34"/>
          <p:cNvSpPr/>
          <p:nvPr/>
        </p:nvSpPr>
        <p:spPr>
          <a:xfrm>
            <a:off x="643770" y="1403892"/>
            <a:ext cx="43815" cy="43815"/>
          </a:xfrm>
          <a:custGeom>
            <a:avLst/>
            <a:gdLst/>
            <a:ahLst/>
            <a:cxnLst/>
            <a:rect l="l" t="t" r="r" b="b"/>
            <a:pathLst>
              <a:path w="43815" h="43815">
                <a:moveTo>
                  <a:pt x="0" y="43354"/>
                </a:moveTo>
                <a:lnTo>
                  <a:pt x="43435" y="43354"/>
                </a:lnTo>
                <a:lnTo>
                  <a:pt x="43435" y="0"/>
                </a:lnTo>
                <a:lnTo>
                  <a:pt x="0" y="0"/>
                </a:lnTo>
                <a:lnTo>
                  <a:pt x="0" y="43354"/>
                </a:lnTo>
                <a:close/>
              </a:path>
            </a:pathLst>
          </a:custGeom>
          <a:ln w="7056">
            <a:solidFill>
              <a:srgbClr val="051F79"/>
            </a:solidFill>
          </a:ln>
        </p:spPr>
        <p:txBody>
          <a:bodyPr wrap="square" lIns="0" tIns="0" rIns="0" bIns="0" rtlCol="0"/>
          <a:lstStyle/>
          <a:p>
            <a:endParaRPr/>
          </a:p>
        </p:txBody>
      </p:sp>
      <p:sp>
        <p:nvSpPr>
          <p:cNvPr id="35" name="object 35"/>
          <p:cNvSpPr/>
          <p:nvPr/>
        </p:nvSpPr>
        <p:spPr>
          <a:xfrm>
            <a:off x="713161" y="1410237"/>
            <a:ext cx="99695" cy="0"/>
          </a:xfrm>
          <a:custGeom>
            <a:avLst/>
            <a:gdLst/>
            <a:ahLst/>
            <a:cxnLst/>
            <a:rect l="l" t="t" r="r" b="b"/>
            <a:pathLst>
              <a:path w="99694">
                <a:moveTo>
                  <a:pt x="0" y="0"/>
                </a:moveTo>
                <a:lnTo>
                  <a:pt x="99584" y="0"/>
                </a:lnTo>
              </a:path>
            </a:pathLst>
          </a:custGeom>
          <a:ln w="7049">
            <a:solidFill>
              <a:srgbClr val="051F79"/>
            </a:solidFill>
          </a:ln>
        </p:spPr>
        <p:txBody>
          <a:bodyPr wrap="square" lIns="0" tIns="0" rIns="0" bIns="0" rtlCol="0"/>
          <a:lstStyle/>
          <a:p>
            <a:endParaRPr/>
          </a:p>
        </p:txBody>
      </p:sp>
      <p:sp>
        <p:nvSpPr>
          <p:cNvPr id="36" name="object 36"/>
          <p:cNvSpPr/>
          <p:nvPr/>
        </p:nvSpPr>
        <p:spPr>
          <a:xfrm>
            <a:off x="713161" y="1440374"/>
            <a:ext cx="99695" cy="0"/>
          </a:xfrm>
          <a:custGeom>
            <a:avLst/>
            <a:gdLst/>
            <a:ahLst/>
            <a:cxnLst/>
            <a:rect l="l" t="t" r="r" b="b"/>
            <a:pathLst>
              <a:path w="99694">
                <a:moveTo>
                  <a:pt x="0" y="0"/>
                </a:moveTo>
                <a:lnTo>
                  <a:pt x="99584" y="0"/>
                </a:lnTo>
              </a:path>
            </a:pathLst>
          </a:custGeom>
          <a:ln w="7049">
            <a:solidFill>
              <a:srgbClr val="051F79"/>
            </a:solidFill>
          </a:ln>
        </p:spPr>
        <p:txBody>
          <a:bodyPr wrap="square" lIns="0" tIns="0" rIns="0" bIns="0" rtlCol="0"/>
          <a:lstStyle/>
          <a:p>
            <a:endParaRPr/>
          </a:p>
        </p:txBody>
      </p:sp>
      <p:sp>
        <p:nvSpPr>
          <p:cNvPr id="37" name="object 37"/>
          <p:cNvSpPr/>
          <p:nvPr/>
        </p:nvSpPr>
        <p:spPr>
          <a:xfrm>
            <a:off x="643770" y="1483200"/>
            <a:ext cx="43815" cy="43815"/>
          </a:xfrm>
          <a:custGeom>
            <a:avLst/>
            <a:gdLst/>
            <a:ahLst/>
            <a:cxnLst/>
            <a:rect l="l" t="t" r="r" b="b"/>
            <a:pathLst>
              <a:path w="43815" h="43815">
                <a:moveTo>
                  <a:pt x="0" y="43354"/>
                </a:moveTo>
                <a:lnTo>
                  <a:pt x="43435" y="43354"/>
                </a:lnTo>
                <a:lnTo>
                  <a:pt x="43435" y="0"/>
                </a:lnTo>
                <a:lnTo>
                  <a:pt x="0" y="0"/>
                </a:lnTo>
                <a:lnTo>
                  <a:pt x="0" y="43354"/>
                </a:lnTo>
                <a:close/>
              </a:path>
            </a:pathLst>
          </a:custGeom>
          <a:ln w="7056">
            <a:solidFill>
              <a:srgbClr val="051F79"/>
            </a:solidFill>
          </a:ln>
        </p:spPr>
        <p:txBody>
          <a:bodyPr wrap="square" lIns="0" tIns="0" rIns="0" bIns="0" rtlCol="0"/>
          <a:lstStyle/>
          <a:p>
            <a:endParaRPr/>
          </a:p>
        </p:txBody>
      </p:sp>
      <p:sp>
        <p:nvSpPr>
          <p:cNvPr id="38" name="object 38"/>
          <p:cNvSpPr/>
          <p:nvPr/>
        </p:nvSpPr>
        <p:spPr>
          <a:xfrm>
            <a:off x="713161" y="1489545"/>
            <a:ext cx="99695" cy="0"/>
          </a:xfrm>
          <a:custGeom>
            <a:avLst/>
            <a:gdLst/>
            <a:ahLst/>
            <a:cxnLst/>
            <a:rect l="l" t="t" r="r" b="b"/>
            <a:pathLst>
              <a:path w="99694">
                <a:moveTo>
                  <a:pt x="0" y="0"/>
                </a:moveTo>
                <a:lnTo>
                  <a:pt x="99584" y="0"/>
                </a:lnTo>
              </a:path>
            </a:pathLst>
          </a:custGeom>
          <a:ln w="7049">
            <a:solidFill>
              <a:srgbClr val="051F79"/>
            </a:solidFill>
          </a:ln>
        </p:spPr>
        <p:txBody>
          <a:bodyPr wrap="square" lIns="0" tIns="0" rIns="0" bIns="0" rtlCol="0"/>
          <a:lstStyle/>
          <a:p>
            <a:endParaRPr/>
          </a:p>
        </p:txBody>
      </p:sp>
      <p:sp>
        <p:nvSpPr>
          <p:cNvPr id="39" name="object 39"/>
          <p:cNvSpPr/>
          <p:nvPr/>
        </p:nvSpPr>
        <p:spPr>
          <a:xfrm>
            <a:off x="713161" y="1519681"/>
            <a:ext cx="99695" cy="0"/>
          </a:xfrm>
          <a:custGeom>
            <a:avLst/>
            <a:gdLst/>
            <a:ahLst/>
            <a:cxnLst/>
            <a:rect l="l" t="t" r="r" b="b"/>
            <a:pathLst>
              <a:path w="99694">
                <a:moveTo>
                  <a:pt x="0" y="0"/>
                </a:moveTo>
                <a:lnTo>
                  <a:pt x="99584" y="0"/>
                </a:lnTo>
              </a:path>
            </a:pathLst>
          </a:custGeom>
          <a:ln w="7049">
            <a:solidFill>
              <a:srgbClr val="051F79"/>
            </a:solidFill>
          </a:ln>
        </p:spPr>
        <p:txBody>
          <a:bodyPr wrap="square" lIns="0" tIns="0" rIns="0" bIns="0" rtlCol="0"/>
          <a:lstStyle/>
          <a:p>
            <a:endParaRPr/>
          </a:p>
        </p:txBody>
      </p:sp>
      <p:sp>
        <p:nvSpPr>
          <p:cNvPr id="40" name="object 40"/>
          <p:cNvSpPr/>
          <p:nvPr/>
        </p:nvSpPr>
        <p:spPr>
          <a:xfrm>
            <a:off x="643770" y="1562507"/>
            <a:ext cx="43815" cy="43815"/>
          </a:xfrm>
          <a:custGeom>
            <a:avLst/>
            <a:gdLst/>
            <a:ahLst/>
            <a:cxnLst/>
            <a:rect l="l" t="t" r="r" b="b"/>
            <a:pathLst>
              <a:path w="43815" h="43815">
                <a:moveTo>
                  <a:pt x="0" y="43354"/>
                </a:moveTo>
                <a:lnTo>
                  <a:pt x="43435" y="43354"/>
                </a:lnTo>
                <a:lnTo>
                  <a:pt x="43435" y="0"/>
                </a:lnTo>
                <a:lnTo>
                  <a:pt x="0" y="0"/>
                </a:lnTo>
                <a:lnTo>
                  <a:pt x="0" y="43354"/>
                </a:lnTo>
                <a:close/>
              </a:path>
            </a:pathLst>
          </a:custGeom>
          <a:ln w="7056">
            <a:solidFill>
              <a:srgbClr val="051F79"/>
            </a:solidFill>
          </a:ln>
        </p:spPr>
        <p:txBody>
          <a:bodyPr wrap="square" lIns="0" tIns="0" rIns="0" bIns="0" rtlCol="0"/>
          <a:lstStyle/>
          <a:p>
            <a:endParaRPr/>
          </a:p>
        </p:txBody>
      </p:sp>
      <p:sp>
        <p:nvSpPr>
          <p:cNvPr id="41" name="object 41"/>
          <p:cNvSpPr/>
          <p:nvPr/>
        </p:nvSpPr>
        <p:spPr>
          <a:xfrm>
            <a:off x="713161" y="1568323"/>
            <a:ext cx="99695" cy="0"/>
          </a:xfrm>
          <a:custGeom>
            <a:avLst/>
            <a:gdLst/>
            <a:ahLst/>
            <a:cxnLst/>
            <a:rect l="l" t="t" r="r" b="b"/>
            <a:pathLst>
              <a:path w="99694">
                <a:moveTo>
                  <a:pt x="0" y="0"/>
                </a:moveTo>
                <a:lnTo>
                  <a:pt x="99584" y="0"/>
                </a:lnTo>
              </a:path>
            </a:pathLst>
          </a:custGeom>
          <a:ln w="7049">
            <a:solidFill>
              <a:srgbClr val="051F79"/>
            </a:solidFill>
          </a:ln>
        </p:spPr>
        <p:txBody>
          <a:bodyPr wrap="square" lIns="0" tIns="0" rIns="0" bIns="0" rtlCol="0"/>
          <a:lstStyle/>
          <a:p>
            <a:endParaRPr/>
          </a:p>
        </p:txBody>
      </p:sp>
      <p:sp>
        <p:nvSpPr>
          <p:cNvPr id="42" name="object 42"/>
          <p:cNvSpPr/>
          <p:nvPr/>
        </p:nvSpPr>
        <p:spPr>
          <a:xfrm>
            <a:off x="713161" y="1598460"/>
            <a:ext cx="99695" cy="0"/>
          </a:xfrm>
          <a:custGeom>
            <a:avLst/>
            <a:gdLst/>
            <a:ahLst/>
            <a:cxnLst/>
            <a:rect l="l" t="t" r="r" b="b"/>
            <a:pathLst>
              <a:path w="99694">
                <a:moveTo>
                  <a:pt x="0" y="0"/>
                </a:moveTo>
                <a:lnTo>
                  <a:pt x="99584" y="0"/>
                </a:lnTo>
              </a:path>
            </a:pathLst>
          </a:custGeom>
          <a:ln w="7049">
            <a:solidFill>
              <a:srgbClr val="051F79"/>
            </a:solidFill>
          </a:ln>
        </p:spPr>
        <p:txBody>
          <a:bodyPr wrap="square" lIns="0" tIns="0" rIns="0" bIns="0" rtlCol="0"/>
          <a:lstStyle/>
          <a:p>
            <a:endParaRPr/>
          </a:p>
        </p:txBody>
      </p:sp>
      <p:sp>
        <p:nvSpPr>
          <p:cNvPr id="43" name="object 43"/>
          <p:cNvSpPr/>
          <p:nvPr/>
        </p:nvSpPr>
        <p:spPr>
          <a:xfrm>
            <a:off x="3189472" y="1442133"/>
            <a:ext cx="236067" cy="160912"/>
          </a:xfrm>
          <a:prstGeom prst="rect">
            <a:avLst/>
          </a:prstGeom>
          <a:blipFill>
            <a:blip r:embed="rId3" cstate="print"/>
            <a:stretch>
              <a:fillRect/>
            </a:stretch>
          </a:blipFill>
        </p:spPr>
        <p:txBody>
          <a:bodyPr wrap="square" lIns="0" tIns="0" rIns="0" bIns="0" rtlCol="0"/>
          <a:lstStyle/>
          <a:p>
            <a:endParaRPr/>
          </a:p>
        </p:txBody>
      </p:sp>
      <p:sp>
        <p:nvSpPr>
          <p:cNvPr id="44" name="object 44"/>
          <p:cNvSpPr/>
          <p:nvPr/>
        </p:nvSpPr>
        <p:spPr>
          <a:xfrm>
            <a:off x="3150803" y="1317712"/>
            <a:ext cx="259079" cy="328295"/>
          </a:xfrm>
          <a:custGeom>
            <a:avLst/>
            <a:gdLst/>
            <a:ahLst/>
            <a:cxnLst/>
            <a:rect l="l" t="t" r="r" b="b"/>
            <a:pathLst>
              <a:path w="259079" h="328294">
                <a:moveTo>
                  <a:pt x="258495" y="117375"/>
                </a:moveTo>
                <a:lnTo>
                  <a:pt x="258495" y="61860"/>
                </a:lnTo>
                <a:lnTo>
                  <a:pt x="198108" y="0"/>
                </a:lnTo>
                <a:lnTo>
                  <a:pt x="0" y="0"/>
                </a:lnTo>
                <a:lnTo>
                  <a:pt x="0" y="327802"/>
                </a:lnTo>
                <a:lnTo>
                  <a:pt x="258495" y="327802"/>
                </a:lnTo>
                <a:lnTo>
                  <a:pt x="258495" y="197740"/>
                </a:lnTo>
              </a:path>
            </a:pathLst>
          </a:custGeom>
          <a:ln w="7057">
            <a:solidFill>
              <a:srgbClr val="051F79"/>
            </a:solidFill>
          </a:ln>
        </p:spPr>
        <p:txBody>
          <a:bodyPr wrap="square" lIns="0" tIns="0" rIns="0" bIns="0" rtlCol="0"/>
          <a:lstStyle/>
          <a:p>
            <a:endParaRPr/>
          </a:p>
        </p:txBody>
      </p:sp>
      <p:sp>
        <p:nvSpPr>
          <p:cNvPr id="45" name="object 45"/>
          <p:cNvSpPr/>
          <p:nvPr/>
        </p:nvSpPr>
        <p:spPr>
          <a:xfrm>
            <a:off x="3348912" y="1317712"/>
            <a:ext cx="60960" cy="62230"/>
          </a:xfrm>
          <a:custGeom>
            <a:avLst/>
            <a:gdLst/>
            <a:ahLst/>
            <a:cxnLst/>
            <a:rect l="l" t="t" r="r" b="b"/>
            <a:pathLst>
              <a:path w="60960" h="62230">
                <a:moveTo>
                  <a:pt x="60386" y="61859"/>
                </a:moveTo>
                <a:lnTo>
                  <a:pt x="0" y="61859"/>
                </a:lnTo>
                <a:lnTo>
                  <a:pt x="0" y="0"/>
                </a:lnTo>
              </a:path>
            </a:pathLst>
          </a:custGeom>
          <a:ln w="7056">
            <a:solidFill>
              <a:srgbClr val="051F79"/>
            </a:solidFill>
          </a:ln>
        </p:spPr>
        <p:txBody>
          <a:bodyPr wrap="square" lIns="0" tIns="0" rIns="0" bIns="0" rtlCol="0"/>
          <a:lstStyle/>
          <a:p>
            <a:endParaRPr/>
          </a:p>
        </p:txBody>
      </p:sp>
      <p:sp>
        <p:nvSpPr>
          <p:cNvPr id="46" name="object 46"/>
          <p:cNvSpPr/>
          <p:nvPr/>
        </p:nvSpPr>
        <p:spPr>
          <a:xfrm>
            <a:off x="9873293" y="1342206"/>
            <a:ext cx="335472" cy="278814"/>
          </a:xfrm>
          <a:prstGeom prst="rect">
            <a:avLst/>
          </a:prstGeom>
          <a:blipFill>
            <a:blip r:embed="rId4" cstate="print"/>
            <a:stretch>
              <a:fillRect/>
            </a:stretch>
          </a:blipFill>
        </p:spPr>
        <p:txBody>
          <a:bodyPr wrap="square" lIns="0" tIns="0" rIns="0" bIns="0" rtlCol="0"/>
          <a:lstStyle/>
          <a:p>
            <a:endParaRPr/>
          </a:p>
        </p:txBody>
      </p:sp>
      <p:sp>
        <p:nvSpPr>
          <p:cNvPr id="50" name="object 50"/>
          <p:cNvSpPr txBox="1">
            <a:spLocks noGrp="1"/>
          </p:cNvSpPr>
          <p:nvPr>
            <p:ph type="sldNum" sz="quarter" idx="7"/>
          </p:nvPr>
        </p:nvSpPr>
        <p:spPr>
          <a:xfrm>
            <a:off x="11473942" y="6496463"/>
            <a:ext cx="204470" cy="140423"/>
          </a:xfrm>
          <a:prstGeom prst="rect">
            <a:avLst/>
          </a:prstGeom>
        </p:spPr>
        <p:txBody>
          <a:bodyPr vert="horz" wrap="square" lIns="0" tIns="1905" rIns="0" bIns="0" rtlCol="0">
            <a:spAutoFit/>
          </a:bodyPr>
          <a:lstStyle/>
          <a:p>
            <a:pPr marL="38100">
              <a:lnSpc>
                <a:spcPct val="100000"/>
              </a:lnSpc>
              <a:spcBef>
                <a:spcPts val="15"/>
              </a:spcBef>
            </a:pPr>
            <a:r>
              <a:rPr lang="en-US" dirty="0"/>
              <a:t>7</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1402FB-9041-E92A-A14F-ECD2ED6AD7E4}"/>
              </a:ext>
            </a:extLst>
          </p:cNvPr>
          <p:cNvPicPr>
            <a:picLocks noChangeAspect="1"/>
          </p:cNvPicPr>
          <p:nvPr/>
        </p:nvPicPr>
        <p:blipFill>
          <a:blip r:embed="rId2"/>
          <a:stretch>
            <a:fillRect/>
          </a:stretch>
        </p:blipFill>
        <p:spPr>
          <a:xfrm>
            <a:off x="-21771" y="14059"/>
            <a:ext cx="12191999" cy="976542"/>
          </a:xfrm>
          <a:prstGeom prst="rect">
            <a:avLst/>
          </a:prstGeom>
        </p:spPr>
      </p:pic>
      <p:sp>
        <p:nvSpPr>
          <p:cNvPr id="3" name="object 3"/>
          <p:cNvSpPr txBox="1"/>
          <p:nvPr/>
        </p:nvSpPr>
        <p:spPr>
          <a:xfrm>
            <a:off x="11499342" y="6485635"/>
            <a:ext cx="153670" cy="151323"/>
          </a:xfrm>
          <a:prstGeom prst="rect">
            <a:avLst/>
          </a:prstGeom>
        </p:spPr>
        <p:txBody>
          <a:bodyPr vert="horz" wrap="square" lIns="0" tIns="12700" rIns="0" bIns="0" rtlCol="0">
            <a:spAutoFit/>
          </a:bodyPr>
          <a:lstStyle/>
          <a:p>
            <a:pPr marL="12700">
              <a:lnSpc>
                <a:spcPct val="100000"/>
              </a:lnSpc>
              <a:spcBef>
                <a:spcPts val="100"/>
              </a:spcBef>
            </a:pPr>
            <a:r>
              <a:rPr lang="en-US" sz="900" dirty="0">
                <a:latin typeface="Arial"/>
                <a:cs typeface="Arial"/>
              </a:rPr>
              <a:t>8</a:t>
            </a:r>
            <a:endParaRPr sz="900" dirty="0">
              <a:latin typeface="Arial"/>
              <a:cs typeface="Arial"/>
            </a:endParaRPr>
          </a:p>
        </p:txBody>
      </p:sp>
      <p:sp>
        <p:nvSpPr>
          <p:cNvPr id="4" name="object 4"/>
          <p:cNvSpPr/>
          <p:nvPr/>
        </p:nvSpPr>
        <p:spPr>
          <a:xfrm>
            <a:off x="3881628" y="2030348"/>
            <a:ext cx="6231255" cy="3417570"/>
          </a:xfrm>
          <a:custGeom>
            <a:avLst/>
            <a:gdLst/>
            <a:ahLst/>
            <a:cxnLst/>
            <a:rect l="l" t="t" r="r" b="b"/>
            <a:pathLst>
              <a:path w="6231255" h="3417570">
                <a:moveTo>
                  <a:pt x="0" y="3417316"/>
                </a:moveTo>
                <a:lnTo>
                  <a:pt x="6231001" y="3417316"/>
                </a:lnTo>
                <a:lnTo>
                  <a:pt x="6231001" y="0"/>
                </a:lnTo>
                <a:lnTo>
                  <a:pt x="0" y="0"/>
                </a:lnTo>
                <a:lnTo>
                  <a:pt x="0" y="3417316"/>
                </a:lnTo>
                <a:close/>
              </a:path>
            </a:pathLst>
          </a:custGeom>
          <a:solidFill>
            <a:srgbClr val="F1F1F1"/>
          </a:solidFill>
        </p:spPr>
        <p:txBody>
          <a:bodyPr wrap="square" lIns="0" tIns="0" rIns="0" bIns="0" rtlCol="0"/>
          <a:lstStyle/>
          <a:p>
            <a:endParaRPr/>
          </a:p>
        </p:txBody>
      </p:sp>
      <p:sp>
        <p:nvSpPr>
          <p:cNvPr id="5" name="object 5"/>
          <p:cNvSpPr/>
          <p:nvPr/>
        </p:nvSpPr>
        <p:spPr>
          <a:xfrm>
            <a:off x="3881628" y="2030348"/>
            <a:ext cx="6231255" cy="3417570"/>
          </a:xfrm>
          <a:custGeom>
            <a:avLst/>
            <a:gdLst/>
            <a:ahLst/>
            <a:cxnLst/>
            <a:rect l="l" t="t" r="r" b="b"/>
            <a:pathLst>
              <a:path w="6231255" h="3417570">
                <a:moveTo>
                  <a:pt x="0" y="3417316"/>
                </a:moveTo>
                <a:lnTo>
                  <a:pt x="6231001" y="3417316"/>
                </a:lnTo>
                <a:lnTo>
                  <a:pt x="6231001" y="0"/>
                </a:lnTo>
                <a:lnTo>
                  <a:pt x="0" y="0"/>
                </a:lnTo>
                <a:lnTo>
                  <a:pt x="0" y="3417316"/>
                </a:lnTo>
                <a:close/>
              </a:path>
            </a:pathLst>
          </a:custGeom>
          <a:ln w="28575">
            <a:solidFill>
              <a:srgbClr val="051F79"/>
            </a:solidFill>
            <a:prstDash val="lgDash"/>
          </a:ln>
        </p:spPr>
        <p:txBody>
          <a:bodyPr wrap="square" lIns="0" tIns="0" rIns="0" bIns="0" rtlCol="0"/>
          <a:lstStyle/>
          <a:p>
            <a:endParaRPr/>
          </a:p>
        </p:txBody>
      </p:sp>
      <p:sp>
        <p:nvSpPr>
          <p:cNvPr id="6" name="object 6"/>
          <p:cNvSpPr txBox="1">
            <a:spLocks noGrp="1"/>
          </p:cNvSpPr>
          <p:nvPr>
            <p:ph type="title"/>
          </p:nvPr>
        </p:nvSpPr>
        <p:spPr>
          <a:xfrm>
            <a:off x="542036" y="147066"/>
            <a:ext cx="11107928" cy="755976"/>
          </a:xfrm>
          <a:prstGeom prst="rect">
            <a:avLst/>
          </a:prstGeom>
        </p:spPr>
        <p:txBody>
          <a:bodyPr vert="horz" wrap="square" lIns="0" tIns="12065" rIns="0" bIns="0" rtlCol="0">
            <a:spAutoFit/>
          </a:bodyPr>
          <a:lstStyle/>
          <a:p>
            <a:pPr marL="12700">
              <a:lnSpc>
                <a:spcPts val="2935"/>
              </a:lnSpc>
              <a:spcBef>
                <a:spcPts val="95"/>
              </a:spcBef>
            </a:pPr>
            <a:r>
              <a:rPr lang="en-US" spc="-5" dirty="0"/>
              <a:t>4i</a:t>
            </a:r>
            <a:r>
              <a:rPr spc="-5" dirty="0"/>
              <a:t> | Initiatives to deliver 30-40M€ of incremental </a:t>
            </a:r>
            <a:r>
              <a:rPr spc="-10" dirty="0"/>
              <a:t>RAR </a:t>
            </a:r>
            <a:br>
              <a:rPr lang="en-US" spc="-10" dirty="0"/>
            </a:br>
            <a:r>
              <a:rPr spc="-5" dirty="0"/>
              <a:t>in addition</a:t>
            </a:r>
            <a:r>
              <a:rPr spc="150" dirty="0"/>
              <a:t> </a:t>
            </a:r>
            <a:r>
              <a:rPr dirty="0"/>
              <a:t>to</a:t>
            </a:r>
            <a:r>
              <a:rPr lang="en-US" dirty="0"/>
              <a:t> </a:t>
            </a:r>
            <a:r>
              <a:rPr spc="-5" dirty="0"/>
              <a:t>5M€ from market</a:t>
            </a:r>
            <a:r>
              <a:rPr spc="5" dirty="0"/>
              <a:t> </a:t>
            </a:r>
            <a:r>
              <a:rPr spc="-5" dirty="0"/>
              <a:t>growth</a:t>
            </a:r>
          </a:p>
        </p:txBody>
      </p:sp>
      <p:sp>
        <p:nvSpPr>
          <p:cNvPr id="7" name="object 7"/>
          <p:cNvSpPr txBox="1"/>
          <p:nvPr/>
        </p:nvSpPr>
        <p:spPr>
          <a:xfrm>
            <a:off x="541426" y="6442354"/>
            <a:ext cx="9504045" cy="147955"/>
          </a:xfrm>
          <a:prstGeom prst="rect">
            <a:avLst/>
          </a:prstGeom>
        </p:spPr>
        <p:txBody>
          <a:bodyPr vert="horz" wrap="square" lIns="0" tIns="12700" rIns="0" bIns="0" rtlCol="0">
            <a:spAutoFit/>
          </a:bodyPr>
          <a:lstStyle/>
          <a:p>
            <a:pPr marL="12700">
              <a:lnSpc>
                <a:spcPct val="100000"/>
              </a:lnSpc>
              <a:spcBef>
                <a:spcPts val="100"/>
              </a:spcBef>
              <a:tabLst>
                <a:tab pos="240665" algn="l"/>
              </a:tabLst>
            </a:pPr>
            <a:r>
              <a:rPr sz="800" spc="-5" dirty="0">
                <a:latin typeface="Arial"/>
                <a:cs typeface="Arial"/>
              </a:rPr>
              <a:t>2.	</a:t>
            </a:r>
            <a:r>
              <a:rPr sz="800" dirty="0">
                <a:latin typeface="Arial"/>
                <a:cs typeface="Arial"/>
              </a:rPr>
              <a:t>Computed</a:t>
            </a:r>
            <a:r>
              <a:rPr sz="800" spc="5" dirty="0">
                <a:latin typeface="Arial"/>
                <a:cs typeface="Arial"/>
              </a:rPr>
              <a:t> </a:t>
            </a:r>
            <a:r>
              <a:rPr sz="800" dirty="0">
                <a:latin typeface="Arial"/>
                <a:cs typeface="Arial"/>
              </a:rPr>
              <a:t>assuming</a:t>
            </a:r>
            <a:r>
              <a:rPr sz="800" spc="-15" dirty="0">
                <a:latin typeface="Arial"/>
                <a:cs typeface="Arial"/>
              </a:rPr>
              <a:t> </a:t>
            </a:r>
            <a:r>
              <a:rPr sz="800" spc="-5" dirty="0">
                <a:latin typeface="Arial"/>
                <a:cs typeface="Arial"/>
              </a:rPr>
              <a:t>2024</a:t>
            </a:r>
            <a:r>
              <a:rPr sz="800" spc="35" dirty="0">
                <a:latin typeface="Arial"/>
                <a:cs typeface="Arial"/>
              </a:rPr>
              <a:t> </a:t>
            </a:r>
            <a:r>
              <a:rPr sz="800" dirty="0">
                <a:latin typeface="Arial"/>
                <a:cs typeface="Arial"/>
              </a:rPr>
              <a:t>ERB</a:t>
            </a:r>
            <a:r>
              <a:rPr sz="800" spc="5" dirty="0">
                <a:latin typeface="Arial"/>
                <a:cs typeface="Arial"/>
              </a:rPr>
              <a:t> </a:t>
            </a:r>
            <a:r>
              <a:rPr sz="800" spc="-5" dirty="0">
                <a:latin typeface="Arial"/>
                <a:cs typeface="Arial"/>
              </a:rPr>
              <a:t>MS</a:t>
            </a:r>
            <a:r>
              <a:rPr sz="800" spc="15" dirty="0">
                <a:latin typeface="Arial"/>
                <a:cs typeface="Arial"/>
              </a:rPr>
              <a:t> </a:t>
            </a:r>
            <a:r>
              <a:rPr sz="800" spc="-5" dirty="0">
                <a:latin typeface="Arial"/>
                <a:cs typeface="Arial"/>
              </a:rPr>
              <a:t>constant</a:t>
            </a:r>
            <a:r>
              <a:rPr sz="800" spc="15" dirty="0">
                <a:latin typeface="Arial"/>
                <a:cs typeface="Arial"/>
              </a:rPr>
              <a:t> </a:t>
            </a:r>
            <a:r>
              <a:rPr sz="800" spc="-5" dirty="0">
                <a:latin typeface="Arial"/>
                <a:cs typeface="Arial"/>
              </a:rPr>
              <a:t>in</a:t>
            </a:r>
            <a:r>
              <a:rPr sz="800" spc="10" dirty="0">
                <a:latin typeface="Arial"/>
                <a:cs typeface="Arial"/>
              </a:rPr>
              <a:t> </a:t>
            </a:r>
            <a:r>
              <a:rPr sz="800" spc="-5" dirty="0">
                <a:latin typeface="Arial"/>
                <a:cs typeface="Arial"/>
              </a:rPr>
              <a:t>already</a:t>
            </a:r>
            <a:r>
              <a:rPr sz="800" spc="20" dirty="0">
                <a:latin typeface="Arial"/>
                <a:cs typeface="Arial"/>
              </a:rPr>
              <a:t> </a:t>
            </a:r>
            <a:r>
              <a:rPr sz="800" spc="-5" dirty="0">
                <a:latin typeface="Arial"/>
                <a:cs typeface="Arial"/>
              </a:rPr>
              <a:t>served</a:t>
            </a:r>
            <a:r>
              <a:rPr sz="800" spc="20" dirty="0">
                <a:latin typeface="Arial"/>
                <a:cs typeface="Arial"/>
              </a:rPr>
              <a:t> </a:t>
            </a:r>
            <a:r>
              <a:rPr sz="800" dirty="0">
                <a:latin typeface="Arial"/>
                <a:cs typeface="Arial"/>
              </a:rPr>
              <a:t>market,</a:t>
            </a:r>
            <a:r>
              <a:rPr sz="800" spc="-5" dirty="0">
                <a:latin typeface="Arial"/>
                <a:cs typeface="Arial"/>
              </a:rPr>
              <a:t> and</a:t>
            </a:r>
            <a:r>
              <a:rPr sz="800" spc="20" dirty="0">
                <a:latin typeface="Arial"/>
                <a:cs typeface="Arial"/>
              </a:rPr>
              <a:t> </a:t>
            </a:r>
            <a:r>
              <a:rPr sz="800" dirty="0">
                <a:latin typeface="Arial"/>
                <a:cs typeface="Arial"/>
              </a:rPr>
              <a:t>computed</a:t>
            </a:r>
            <a:r>
              <a:rPr sz="800" spc="10" dirty="0">
                <a:latin typeface="Arial"/>
                <a:cs typeface="Arial"/>
              </a:rPr>
              <a:t> </a:t>
            </a:r>
            <a:r>
              <a:rPr sz="800" spc="-5" dirty="0">
                <a:latin typeface="Arial"/>
                <a:cs typeface="Arial"/>
              </a:rPr>
              <a:t>on</a:t>
            </a:r>
            <a:r>
              <a:rPr sz="800" spc="10" dirty="0">
                <a:latin typeface="Arial"/>
                <a:cs typeface="Arial"/>
              </a:rPr>
              <a:t> </a:t>
            </a:r>
            <a:r>
              <a:rPr sz="800" spc="-5" dirty="0">
                <a:latin typeface="Arial"/>
                <a:cs typeface="Arial"/>
              </a:rPr>
              <a:t>2030</a:t>
            </a:r>
            <a:r>
              <a:rPr sz="800" spc="35" dirty="0">
                <a:latin typeface="Arial"/>
                <a:cs typeface="Arial"/>
              </a:rPr>
              <a:t> </a:t>
            </a:r>
            <a:r>
              <a:rPr sz="800" dirty="0">
                <a:latin typeface="Arial"/>
                <a:cs typeface="Arial"/>
              </a:rPr>
              <a:t>market</a:t>
            </a:r>
            <a:r>
              <a:rPr sz="800" spc="-5" dirty="0">
                <a:latin typeface="Arial"/>
                <a:cs typeface="Arial"/>
              </a:rPr>
              <a:t> size:</a:t>
            </a:r>
            <a:r>
              <a:rPr sz="800" spc="5" dirty="0">
                <a:latin typeface="Arial"/>
                <a:cs typeface="Arial"/>
              </a:rPr>
              <a:t> </a:t>
            </a:r>
            <a:r>
              <a:rPr sz="800" spc="-5" dirty="0">
                <a:latin typeface="Arial"/>
                <a:cs typeface="Arial"/>
              </a:rPr>
              <a:t>dealers’</a:t>
            </a:r>
            <a:r>
              <a:rPr sz="800" spc="15" dirty="0">
                <a:latin typeface="Arial"/>
                <a:cs typeface="Arial"/>
              </a:rPr>
              <a:t> </a:t>
            </a:r>
            <a:r>
              <a:rPr sz="800" spc="-5" dirty="0">
                <a:latin typeface="Arial"/>
                <a:cs typeface="Arial"/>
              </a:rPr>
              <a:t>channels:</a:t>
            </a:r>
            <a:r>
              <a:rPr sz="800" spc="30" dirty="0">
                <a:latin typeface="Arial"/>
                <a:cs typeface="Arial"/>
              </a:rPr>
              <a:t> </a:t>
            </a:r>
            <a:r>
              <a:rPr sz="800" spc="-5" dirty="0">
                <a:latin typeface="Arial"/>
                <a:cs typeface="Arial"/>
              </a:rPr>
              <a:t>(35%</a:t>
            </a:r>
            <a:r>
              <a:rPr sz="800" spc="20" dirty="0">
                <a:latin typeface="Arial"/>
                <a:cs typeface="Arial"/>
              </a:rPr>
              <a:t> </a:t>
            </a:r>
            <a:r>
              <a:rPr sz="800" spc="-5" dirty="0">
                <a:latin typeface="Arial"/>
                <a:cs typeface="Arial"/>
              </a:rPr>
              <a:t>MS</a:t>
            </a:r>
            <a:r>
              <a:rPr sz="800" spc="60" dirty="0">
                <a:latin typeface="Arial"/>
                <a:cs typeface="Arial"/>
              </a:rPr>
              <a:t> </a:t>
            </a:r>
            <a:r>
              <a:rPr sz="800" spc="-5" dirty="0">
                <a:latin typeface="Arial"/>
                <a:cs typeface="Arial"/>
              </a:rPr>
              <a:t>on</a:t>
            </a:r>
            <a:r>
              <a:rPr sz="800" spc="25" dirty="0">
                <a:latin typeface="Arial"/>
                <a:cs typeface="Arial"/>
              </a:rPr>
              <a:t> </a:t>
            </a:r>
            <a:r>
              <a:rPr sz="800" spc="-5" dirty="0">
                <a:latin typeface="Arial"/>
                <a:cs typeface="Arial"/>
              </a:rPr>
              <a:t>new</a:t>
            </a:r>
            <a:r>
              <a:rPr sz="800" spc="20" dirty="0">
                <a:latin typeface="Arial"/>
                <a:cs typeface="Arial"/>
              </a:rPr>
              <a:t> </a:t>
            </a:r>
            <a:r>
              <a:rPr sz="800" spc="-5" dirty="0">
                <a:latin typeface="Arial"/>
                <a:cs typeface="Arial"/>
              </a:rPr>
              <a:t>cars, 15%</a:t>
            </a:r>
            <a:r>
              <a:rPr sz="800" spc="30" dirty="0">
                <a:latin typeface="Arial"/>
                <a:cs typeface="Arial"/>
              </a:rPr>
              <a:t> </a:t>
            </a:r>
            <a:r>
              <a:rPr sz="800" spc="-5" dirty="0">
                <a:latin typeface="Arial"/>
                <a:cs typeface="Arial"/>
              </a:rPr>
              <a:t>MS</a:t>
            </a:r>
            <a:r>
              <a:rPr sz="800" spc="5" dirty="0">
                <a:latin typeface="Arial"/>
                <a:cs typeface="Arial"/>
              </a:rPr>
              <a:t> </a:t>
            </a:r>
            <a:r>
              <a:rPr sz="800" spc="-5" dirty="0">
                <a:latin typeface="Arial"/>
                <a:cs typeface="Arial"/>
              </a:rPr>
              <a:t>on</a:t>
            </a:r>
            <a:r>
              <a:rPr sz="800" spc="20" dirty="0">
                <a:latin typeface="Arial"/>
                <a:cs typeface="Arial"/>
              </a:rPr>
              <a:t> </a:t>
            </a:r>
            <a:r>
              <a:rPr sz="800" spc="-5" dirty="0">
                <a:latin typeface="Arial"/>
                <a:cs typeface="Arial"/>
              </a:rPr>
              <a:t>used</a:t>
            </a:r>
            <a:r>
              <a:rPr sz="800" spc="20" dirty="0">
                <a:latin typeface="Arial"/>
                <a:cs typeface="Arial"/>
              </a:rPr>
              <a:t> </a:t>
            </a:r>
            <a:r>
              <a:rPr sz="800" spc="-5" dirty="0">
                <a:latin typeface="Arial"/>
                <a:cs typeface="Arial"/>
              </a:rPr>
              <a:t>cars)</a:t>
            </a:r>
            <a:r>
              <a:rPr sz="800" spc="-20" dirty="0">
                <a:latin typeface="Arial"/>
                <a:cs typeface="Arial"/>
              </a:rPr>
              <a:t> </a:t>
            </a:r>
            <a:r>
              <a:rPr sz="800" spc="-5" dirty="0">
                <a:latin typeface="Arial"/>
                <a:cs typeface="Arial"/>
              </a:rPr>
              <a:t>and</a:t>
            </a:r>
            <a:r>
              <a:rPr sz="800" spc="40" dirty="0">
                <a:latin typeface="Arial"/>
                <a:cs typeface="Arial"/>
              </a:rPr>
              <a:t> </a:t>
            </a:r>
            <a:r>
              <a:rPr sz="800" dirty="0">
                <a:latin typeface="Arial"/>
                <a:cs typeface="Arial"/>
              </a:rPr>
              <a:t>~30%</a:t>
            </a:r>
            <a:r>
              <a:rPr sz="800" spc="5" dirty="0">
                <a:latin typeface="Arial"/>
                <a:cs typeface="Arial"/>
              </a:rPr>
              <a:t> </a:t>
            </a:r>
            <a:r>
              <a:rPr sz="800" spc="-5" dirty="0">
                <a:latin typeface="Arial"/>
                <a:cs typeface="Arial"/>
              </a:rPr>
              <a:t>via</a:t>
            </a:r>
            <a:r>
              <a:rPr sz="800" spc="5" dirty="0">
                <a:latin typeface="Arial"/>
                <a:cs typeface="Arial"/>
              </a:rPr>
              <a:t> </a:t>
            </a:r>
            <a:r>
              <a:rPr sz="800" spc="-5" dirty="0">
                <a:latin typeface="Arial"/>
                <a:cs typeface="Arial"/>
              </a:rPr>
              <a:t>Bank’s</a:t>
            </a:r>
            <a:r>
              <a:rPr sz="800" spc="10" dirty="0">
                <a:latin typeface="Arial"/>
                <a:cs typeface="Arial"/>
              </a:rPr>
              <a:t> </a:t>
            </a:r>
            <a:r>
              <a:rPr sz="800" spc="-5" dirty="0">
                <a:latin typeface="Arial"/>
                <a:cs typeface="Arial"/>
              </a:rPr>
              <a:t>channels</a:t>
            </a:r>
            <a:endParaRPr sz="800">
              <a:latin typeface="Arial"/>
              <a:cs typeface="Arial"/>
            </a:endParaRPr>
          </a:p>
        </p:txBody>
      </p:sp>
      <p:sp>
        <p:nvSpPr>
          <p:cNvPr id="8" name="object 8"/>
          <p:cNvSpPr/>
          <p:nvPr/>
        </p:nvSpPr>
        <p:spPr>
          <a:xfrm>
            <a:off x="1998726" y="3832225"/>
            <a:ext cx="447675" cy="0"/>
          </a:xfrm>
          <a:custGeom>
            <a:avLst/>
            <a:gdLst/>
            <a:ahLst/>
            <a:cxnLst/>
            <a:rect l="l" t="t" r="r" b="b"/>
            <a:pathLst>
              <a:path w="447675">
                <a:moveTo>
                  <a:pt x="0" y="0"/>
                </a:moveTo>
                <a:lnTo>
                  <a:pt x="447675" y="0"/>
                </a:lnTo>
              </a:path>
            </a:pathLst>
          </a:custGeom>
          <a:ln w="9525">
            <a:solidFill>
              <a:srgbClr val="E6E6E6"/>
            </a:solidFill>
          </a:ln>
        </p:spPr>
        <p:txBody>
          <a:bodyPr wrap="square" lIns="0" tIns="0" rIns="0" bIns="0" rtlCol="0"/>
          <a:lstStyle/>
          <a:p>
            <a:endParaRPr/>
          </a:p>
        </p:txBody>
      </p:sp>
      <p:sp>
        <p:nvSpPr>
          <p:cNvPr id="9" name="object 9"/>
          <p:cNvSpPr/>
          <p:nvPr/>
        </p:nvSpPr>
        <p:spPr>
          <a:xfrm>
            <a:off x="3568700" y="3648075"/>
            <a:ext cx="447675" cy="0"/>
          </a:xfrm>
          <a:custGeom>
            <a:avLst/>
            <a:gdLst/>
            <a:ahLst/>
            <a:cxnLst/>
            <a:rect l="l" t="t" r="r" b="b"/>
            <a:pathLst>
              <a:path w="447675">
                <a:moveTo>
                  <a:pt x="0" y="0"/>
                </a:moveTo>
                <a:lnTo>
                  <a:pt x="447675" y="0"/>
                </a:lnTo>
              </a:path>
            </a:pathLst>
          </a:custGeom>
          <a:ln w="9525">
            <a:solidFill>
              <a:srgbClr val="E6E6E6"/>
            </a:solidFill>
          </a:ln>
        </p:spPr>
        <p:txBody>
          <a:bodyPr wrap="square" lIns="0" tIns="0" rIns="0" bIns="0" rtlCol="0"/>
          <a:lstStyle/>
          <a:p>
            <a:endParaRPr/>
          </a:p>
        </p:txBody>
      </p:sp>
      <p:sp>
        <p:nvSpPr>
          <p:cNvPr id="10" name="object 10"/>
          <p:cNvSpPr/>
          <p:nvPr/>
        </p:nvSpPr>
        <p:spPr>
          <a:xfrm>
            <a:off x="5137150" y="3276600"/>
            <a:ext cx="447675" cy="0"/>
          </a:xfrm>
          <a:custGeom>
            <a:avLst/>
            <a:gdLst/>
            <a:ahLst/>
            <a:cxnLst/>
            <a:rect l="l" t="t" r="r" b="b"/>
            <a:pathLst>
              <a:path w="447675">
                <a:moveTo>
                  <a:pt x="0" y="0"/>
                </a:moveTo>
                <a:lnTo>
                  <a:pt x="447675" y="0"/>
                </a:lnTo>
              </a:path>
            </a:pathLst>
          </a:custGeom>
          <a:ln w="9525">
            <a:solidFill>
              <a:srgbClr val="E6E6E6"/>
            </a:solidFill>
          </a:ln>
        </p:spPr>
        <p:txBody>
          <a:bodyPr wrap="square" lIns="0" tIns="0" rIns="0" bIns="0" rtlCol="0"/>
          <a:lstStyle/>
          <a:p>
            <a:endParaRPr/>
          </a:p>
        </p:txBody>
      </p:sp>
      <p:sp>
        <p:nvSpPr>
          <p:cNvPr id="11" name="object 11"/>
          <p:cNvSpPr/>
          <p:nvPr/>
        </p:nvSpPr>
        <p:spPr>
          <a:xfrm>
            <a:off x="6707251" y="2906776"/>
            <a:ext cx="447675" cy="0"/>
          </a:xfrm>
          <a:custGeom>
            <a:avLst/>
            <a:gdLst/>
            <a:ahLst/>
            <a:cxnLst/>
            <a:rect l="l" t="t" r="r" b="b"/>
            <a:pathLst>
              <a:path w="447675">
                <a:moveTo>
                  <a:pt x="0" y="0"/>
                </a:moveTo>
                <a:lnTo>
                  <a:pt x="447675" y="0"/>
                </a:lnTo>
              </a:path>
            </a:pathLst>
          </a:custGeom>
          <a:ln w="9525">
            <a:solidFill>
              <a:srgbClr val="E6E6E6"/>
            </a:solidFill>
          </a:ln>
        </p:spPr>
        <p:txBody>
          <a:bodyPr wrap="square" lIns="0" tIns="0" rIns="0" bIns="0" rtlCol="0"/>
          <a:lstStyle/>
          <a:p>
            <a:endParaRPr/>
          </a:p>
        </p:txBody>
      </p:sp>
      <p:sp>
        <p:nvSpPr>
          <p:cNvPr id="12" name="object 12"/>
          <p:cNvSpPr/>
          <p:nvPr/>
        </p:nvSpPr>
        <p:spPr>
          <a:xfrm>
            <a:off x="8275701" y="2351023"/>
            <a:ext cx="447675" cy="635"/>
          </a:xfrm>
          <a:custGeom>
            <a:avLst/>
            <a:gdLst/>
            <a:ahLst/>
            <a:cxnLst/>
            <a:rect l="l" t="t" r="r" b="b"/>
            <a:pathLst>
              <a:path w="447675" h="635">
                <a:moveTo>
                  <a:pt x="0" y="0"/>
                </a:moveTo>
                <a:lnTo>
                  <a:pt x="447675" y="126"/>
                </a:lnTo>
              </a:path>
            </a:pathLst>
          </a:custGeom>
          <a:ln w="9525">
            <a:solidFill>
              <a:srgbClr val="E6E6E6"/>
            </a:solidFill>
          </a:ln>
        </p:spPr>
        <p:txBody>
          <a:bodyPr wrap="square" lIns="0" tIns="0" rIns="0" bIns="0" rtlCol="0"/>
          <a:lstStyle/>
          <a:p>
            <a:endParaRPr/>
          </a:p>
        </p:txBody>
      </p:sp>
      <p:sp>
        <p:nvSpPr>
          <p:cNvPr id="13" name="object 13"/>
          <p:cNvSpPr/>
          <p:nvPr/>
        </p:nvSpPr>
        <p:spPr>
          <a:xfrm>
            <a:off x="9845675" y="2165350"/>
            <a:ext cx="447675" cy="0"/>
          </a:xfrm>
          <a:custGeom>
            <a:avLst/>
            <a:gdLst/>
            <a:ahLst/>
            <a:cxnLst/>
            <a:rect l="l" t="t" r="r" b="b"/>
            <a:pathLst>
              <a:path w="447675">
                <a:moveTo>
                  <a:pt x="0" y="0"/>
                </a:moveTo>
                <a:lnTo>
                  <a:pt x="447675" y="0"/>
                </a:lnTo>
              </a:path>
            </a:pathLst>
          </a:custGeom>
          <a:ln w="9525">
            <a:solidFill>
              <a:srgbClr val="E6E6E6"/>
            </a:solidFill>
          </a:ln>
        </p:spPr>
        <p:txBody>
          <a:bodyPr wrap="square" lIns="0" tIns="0" rIns="0" bIns="0" rtlCol="0"/>
          <a:lstStyle/>
          <a:p>
            <a:endParaRPr/>
          </a:p>
        </p:txBody>
      </p:sp>
      <p:sp>
        <p:nvSpPr>
          <p:cNvPr id="14" name="object 14"/>
          <p:cNvSpPr/>
          <p:nvPr/>
        </p:nvSpPr>
        <p:spPr>
          <a:xfrm>
            <a:off x="878205" y="3832529"/>
            <a:ext cx="1121410" cy="741045"/>
          </a:xfrm>
          <a:custGeom>
            <a:avLst/>
            <a:gdLst/>
            <a:ahLst/>
            <a:cxnLst/>
            <a:rect l="l" t="t" r="r" b="b"/>
            <a:pathLst>
              <a:path w="1121410" h="741045">
                <a:moveTo>
                  <a:pt x="0" y="740994"/>
                </a:moveTo>
                <a:lnTo>
                  <a:pt x="1120813" y="740994"/>
                </a:lnTo>
                <a:lnTo>
                  <a:pt x="1120813" y="0"/>
                </a:lnTo>
                <a:lnTo>
                  <a:pt x="0" y="0"/>
                </a:lnTo>
                <a:lnTo>
                  <a:pt x="0" y="740994"/>
                </a:lnTo>
                <a:close/>
              </a:path>
            </a:pathLst>
          </a:custGeom>
          <a:solidFill>
            <a:srgbClr val="051F79"/>
          </a:solidFill>
        </p:spPr>
        <p:txBody>
          <a:bodyPr wrap="square" lIns="0" tIns="0" rIns="0" bIns="0" rtlCol="0"/>
          <a:lstStyle/>
          <a:p>
            <a:endParaRPr/>
          </a:p>
        </p:txBody>
      </p:sp>
      <p:sp>
        <p:nvSpPr>
          <p:cNvPr id="15" name="object 15"/>
          <p:cNvSpPr/>
          <p:nvPr/>
        </p:nvSpPr>
        <p:spPr>
          <a:xfrm>
            <a:off x="878205" y="3832529"/>
            <a:ext cx="1121410" cy="741045"/>
          </a:xfrm>
          <a:custGeom>
            <a:avLst/>
            <a:gdLst/>
            <a:ahLst/>
            <a:cxnLst/>
            <a:rect l="l" t="t" r="r" b="b"/>
            <a:pathLst>
              <a:path w="1121410" h="741045">
                <a:moveTo>
                  <a:pt x="0" y="740994"/>
                </a:moveTo>
                <a:lnTo>
                  <a:pt x="1120813" y="740994"/>
                </a:lnTo>
                <a:lnTo>
                  <a:pt x="1120813" y="0"/>
                </a:lnTo>
                <a:lnTo>
                  <a:pt x="0" y="0"/>
                </a:lnTo>
                <a:lnTo>
                  <a:pt x="0" y="740994"/>
                </a:lnTo>
                <a:close/>
              </a:path>
            </a:pathLst>
          </a:custGeom>
          <a:ln w="9525">
            <a:solidFill>
              <a:srgbClr val="FFFFFF"/>
            </a:solidFill>
          </a:ln>
        </p:spPr>
        <p:txBody>
          <a:bodyPr wrap="square" lIns="0" tIns="0" rIns="0" bIns="0" rtlCol="0"/>
          <a:lstStyle/>
          <a:p>
            <a:endParaRPr/>
          </a:p>
        </p:txBody>
      </p:sp>
      <p:sp>
        <p:nvSpPr>
          <p:cNvPr id="16" name="object 16"/>
          <p:cNvSpPr/>
          <p:nvPr/>
        </p:nvSpPr>
        <p:spPr>
          <a:xfrm>
            <a:off x="10292968" y="2165350"/>
            <a:ext cx="1121410" cy="2408555"/>
          </a:xfrm>
          <a:custGeom>
            <a:avLst/>
            <a:gdLst/>
            <a:ahLst/>
            <a:cxnLst/>
            <a:rect l="l" t="t" r="r" b="b"/>
            <a:pathLst>
              <a:path w="1121409" h="2408554">
                <a:moveTo>
                  <a:pt x="0" y="2408301"/>
                </a:moveTo>
                <a:lnTo>
                  <a:pt x="1120813" y="2408301"/>
                </a:lnTo>
                <a:lnTo>
                  <a:pt x="1120813" y="0"/>
                </a:lnTo>
                <a:lnTo>
                  <a:pt x="0" y="0"/>
                </a:lnTo>
                <a:lnTo>
                  <a:pt x="0" y="2408301"/>
                </a:lnTo>
                <a:close/>
              </a:path>
            </a:pathLst>
          </a:custGeom>
          <a:solidFill>
            <a:srgbClr val="051F79"/>
          </a:solidFill>
        </p:spPr>
        <p:txBody>
          <a:bodyPr wrap="square" lIns="0" tIns="0" rIns="0" bIns="0" rtlCol="0"/>
          <a:lstStyle/>
          <a:p>
            <a:endParaRPr/>
          </a:p>
        </p:txBody>
      </p:sp>
      <p:sp>
        <p:nvSpPr>
          <p:cNvPr id="17" name="object 17"/>
          <p:cNvSpPr/>
          <p:nvPr/>
        </p:nvSpPr>
        <p:spPr>
          <a:xfrm>
            <a:off x="10292968" y="2165350"/>
            <a:ext cx="1121410" cy="2408555"/>
          </a:xfrm>
          <a:custGeom>
            <a:avLst/>
            <a:gdLst/>
            <a:ahLst/>
            <a:cxnLst/>
            <a:rect l="l" t="t" r="r" b="b"/>
            <a:pathLst>
              <a:path w="1121409" h="2408554">
                <a:moveTo>
                  <a:pt x="0" y="2408301"/>
                </a:moveTo>
                <a:lnTo>
                  <a:pt x="1120813" y="2408301"/>
                </a:lnTo>
                <a:lnTo>
                  <a:pt x="1120813" y="0"/>
                </a:lnTo>
                <a:lnTo>
                  <a:pt x="0" y="0"/>
                </a:lnTo>
                <a:lnTo>
                  <a:pt x="0" y="2408301"/>
                </a:lnTo>
                <a:close/>
              </a:path>
            </a:pathLst>
          </a:custGeom>
          <a:ln w="9525">
            <a:solidFill>
              <a:srgbClr val="FFFFFF"/>
            </a:solidFill>
          </a:ln>
        </p:spPr>
        <p:txBody>
          <a:bodyPr wrap="square" lIns="0" tIns="0" rIns="0" bIns="0" rtlCol="0"/>
          <a:lstStyle/>
          <a:p>
            <a:endParaRPr/>
          </a:p>
        </p:txBody>
      </p:sp>
      <p:sp>
        <p:nvSpPr>
          <p:cNvPr id="18" name="object 18"/>
          <p:cNvSpPr/>
          <p:nvPr/>
        </p:nvSpPr>
        <p:spPr>
          <a:xfrm>
            <a:off x="4016502" y="3276815"/>
            <a:ext cx="1121410" cy="370840"/>
          </a:xfrm>
          <a:custGeom>
            <a:avLst/>
            <a:gdLst/>
            <a:ahLst/>
            <a:cxnLst/>
            <a:rect l="l" t="t" r="r" b="b"/>
            <a:pathLst>
              <a:path w="1121410" h="370839">
                <a:moveTo>
                  <a:pt x="0" y="370497"/>
                </a:moveTo>
                <a:lnTo>
                  <a:pt x="1120813" y="370497"/>
                </a:lnTo>
                <a:lnTo>
                  <a:pt x="1120813" y="0"/>
                </a:lnTo>
                <a:lnTo>
                  <a:pt x="0" y="0"/>
                </a:lnTo>
                <a:lnTo>
                  <a:pt x="0" y="370497"/>
                </a:lnTo>
                <a:close/>
              </a:path>
            </a:pathLst>
          </a:custGeom>
          <a:solidFill>
            <a:srgbClr val="D2DCFF"/>
          </a:solidFill>
        </p:spPr>
        <p:txBody>
          <a:bodyPr wrap="square" lIns="0" tIns="0" rIns="0" bIns="0" rtlCol="0"/>
          <a:lstStyle/>
          <a:p>
            <a:endParaRPr/>
          </a:p>
        </p:txBody>
      </p:sp>
      <p:sp>
        <p:nvSpPr>
          <p:cNvPr id="19" name="object 19"/>
          <p:cNvSpPr/>
          <p:nvPr/>
        </p:nvSpPr>
        <p:spPr>
          <a:xfrm>
            <a:off x="4016502" y="3276815"/>
            <a:ext cx="1121410" cy="370840"/>
          </a:xfrm>
          <a:custGeom>
            <a:avLst/>
            <a:gdLst/>
            <a:ahLst/>
            <a:cxnLst/>
            <a:rect l="l" t="t" r="r" b="b"/>
            <a:pathLst>
              <a:path w="1121410" h="370839">
                <a:moveTo>
                  <a:pt x="0" y="370497"/>
                </a:moveTo>
                <a:lnTo>
                  <a:pt x="1120813" y="370497"/>
                </a:lnTo>
                <a:lnTo>
                  <a:pt x="1120813" y="0"/>
                </a:lnTo>
                <a:lnTo>
                  <a:pt x="0" y="0"/>
                </a:lnTo>
                <a:lnTo>
                  <a:pt x="0" y="370497"/>
                </a:lnTo>
                <a:close/>
              </a:path>
            </a:pathLst>
          </a:custGeom>
          <a:ln w="19050">
            <a:solidFill>
              <a:srgbClr val="051F79"/>
            </a:solidFill>
          </a:ln>
        </p:spPr>
        <p:txBody>
          <a:bodyPr wrap="square" lIns="0" tIns="0" rIns="0" bIns="0" rtlCol="0"/>
          <a:lstStyle/>
          <a:p>
            <a:endParaRPr/>
          </a:p>
        </p:txBody>
      </p:sp>
      <p:sp>
        <p:nvSpPr>
          <p:cNvPr id="20" name="object 20"/>
          <p:cNvSpPr/>
          <p:nvPr/>
        </p:nvSpPr>
        <p:spPr>
          <a:xfrm>
            <a:off x="7154671" y="2350642"/>
            <a:ext cx="1121410" cy="556260"/>
          </a:xfrm>
          <a:custGeom>
            <a:avLst/>
            <a:gdLst/>
            <a:ahLst/>
            <a:cxnLst/>
            <a:rect l="l" t="t" r="r" b="b"/>
            <a:pathLst>
              <a:path w="1121409" h="556260">
                <a:moveTo>
                  <a:pt x="0" y="555751"/>
                </a:moveTo>
                <a:lnTo>
                  <a:pt x="1120813" y="555751"/>
                </a:lnTo>
                <a:lnTo>
                  <a:pt x="1120813" y="0"/>
                </a:lnTo>
                <a:lnTo>
                  <a:pt x="0" y="0"/>
                </a:lnTo>
                <a:lnTo>
                  <a:pt x="0" y="555751"/>
                </a:lnTo>
                <a:close/>
              </a:path>
            </a:pathLst>
          </a:custGeom>
          <a:solidFill>
            <a:srgbClr val="0579C3"/>
          </a:solidFill>
        </p:spPr>
        <p:txBody>
          <a:bodyPr wrap="square" lIns="0" tIns="0" rIns="0" bIns="0" rtlCol="0"/>
          <a:lstStyle/>
          <a:p>
            <a:endParaRPr/>
          </a:p>
        </p:txBody>
      </p:sp>
      <p:sp>
        <p:nvSpPr>
          <p:cNvPr id="21" name="object 21"/>
          <p:cNvSpPr/>
          <p:nvPr/>
        </p:nvSpPr>
        <p:spPr>
          <a:xfrm>
            <a:off x="7154671" y="2350642"/>
            <a:ext cx="1121410" cy="556260"/>
          </a:xfrm>
          <a:custGeom>
            <a:avLst/>
            <a:gdLst/>
            <a:ahLst/>
            <a:cxnLst/>
            <a:rect l="l" t="t" r="r" b="b"/>
            <a:pathLst>
              <a:path w="1121409" h="556260">
                <a:moveTo>
                  <a:pt x="0" y="555751"/>
                </a:moveTo>
                <a:lnTo>
                  <a:pt x="1120813" y="555751"/>
                </a:lnTo>
                <a:lnTo>
                  <a:pt x="1120813" y="0"/>
                </a:lnTo>
                <a:lnTo>
                  <a:pt x="0" y="0"/>
                </a:lnTo>
                <a:lnTo>
                  <a:pt x="0" y="555751"/>
                </a:lnTo>
                <a:close/>
              </a:path>
            </a:pathLst>
          </a:custGeom>
          <a:ln w="19050">
            <a:solidFill>
              <a:srgbClr val="051F79"/>
            </a:solidFill>
          </a:ln>
        </p:spPr>
        <p:txBody>
          <a:bodyPr wrap="square" lIns="0" tIns="0" rIns="0" bIns="0" rtlCol="0"/>
          <a:lstStyle/>
          <a:p>
            <a:endParaRPr/>
          </a:p>
        </p:txBody>
      </p:sp>
      <p:sp>
        <p:nvSpPr>
          <p:cNvPr id="22" name="object 22"/>
          <p:cNvSpPr/>
          <p:nvPr/>
        </p:nvSpPr>
        <p:spPr>
          <a:xfrm>
            <a:off x="8723883" y="2165388"/>
            <a:ext cx="1121410" cy="185420"/>
          </a:xfrm>
          <a:custGeom>
            <a:avLst/>
            <a:gdLst/>
            <a:ahLst/>
            <a:cxnLst/>
            <a:rect l="l" t="t" r="r" b="b"/>
            <a:pathLst>
              <a:path w="1121409" h="185419">
                <a:moveTo>
                  <a:pt x="0" y="185254"/>
                </a:moveTo>
                <a:lnTo>
                  <a:pt x="1120813" y="185254"/>
                </a:lnTo>
                <a:lnTo>
                  <a:pt x="1120813" y="0"/>
                </a:lnTo>
                <a:lnTo>
                  <a:pt x="0" y="0"/>
                </a:lnTo>
                <a:lnTo>
                  <a:pt x="0" y="185254"/>
                </a:lnTo>
                <a:close/>
              </a:path>
            </a:pathLst>
          </a:custGeom>
          <a:solidFill>
            <a:srgbClr val="C3E6FC"/>
          </a:solidFill>
        </p:spPr>
        <p:txBody>
          <a:bodyPr wrap="square" lIns="0" tIns="0" rIns="0" bIns="0" rtlCol="0"/>
          <a:lstStyle/>
          <a:p>
            <a:endParaRPr/>
          </a:p>
        </p:txBody>
      </p:sp>
      <p:sp>
        <p:nvSpPr>
          <p:cNvPr id="23" name="object 23"/>
          <p:cNvSpPr/>
          <p:nvPr/>
        </p:nvSpPr>
        <p:spPr>
          <a:xfrm>
            <a:off x="8723883" y="2165388"/>
            <a:ext cx="1121410" cy="185420"/>
          </a:xfrm>
          <a:custGeom>
            <a:avLst/>
            <a:gdLst/>
            <a:ahLst/>
            <a:cxnLst/>
            <a:rect l="l" t="t" r="r" b="b"/>
            <a:pathLst>
              <a:path w="1121409" h="185419">
                <a:moveTo>
                  <a:pt x="0" y="185254"/>
                </a:moveTo>
                <a:lnTo>
                  <a:pt x="1120813" y="185254"/>
                </a:lnTo>
                <a:lnTo>
                  <a:pt x="1120813" y="0"/>
                </a:lnTo>
                <a:lnTo>
                  <a:pt x="0" y="0"/>
                </a:lnTo>
                <a:lnTo>
                  <a:pt x="0" y="185254"/>
                </a:lnTo>
                <a:close/>
              </a:path>
            </a:pathLst>
          </a:custGeom>
          <a:ln w="19050">
            <a:solidFill>
              <a:srgbClr val="051F79"/>
            </a:solidFill>
          </a:ln>
        </p:spPr>
        <p:txBody>
          <a:bodyPr wrap="square" lIns="0" tIns="0" rIns="0" bIns="0" rtlCol="0"/>
          <a:lstStyle/>
          <a:p>
            <a:endParaRPr/>
          </a:p>
        </p:txBody>
      </p:sp>
      <p:sp>
        <p:nvSpPr>
          <p:cNvPr id="24" name="object 24"/>
          <p:cNvSpPr/>
          <p:nvPr/>
        </p:nvSpPr>
        <p:spPr>
          <a:xfrm>
            <a:off x="5585459" y="2906267"/>
            <a:ext cx="1122045" cy="370840"/>
          </a:xfrm>
          <a:custGeom>
            <a:avLst/>
            <a:gdLst/>
            <a:ahLst/>
            <a:cxnLst/>
            <a:rect l="l" t="t" r="r" b="b"/>
            <a:pathLst>
              <a:path w="1122045" h="370839">
                <a:moveTo>
                  <a:pt x="0" y="370332"/>
                </a:moveTo>
                <a:lnTo>
                  <a:pt x="1121664" y="370332"/>
                </a:lnTo>
                <a:lnTo>
                  <a:pt x="1121664" y="0"/>
                </a:lnTo>
                <a:lnTo>
                  <a:pt x="0" y="0"/>
                </a:lnTo>
                <a:lnTo>
                  <a:pt x="0" y="370332"/>
                </a:lnTo>
                <a:close/>
              </a:path>
            </a:pathLst>
          </a:custGeom>
          <a:solidFill>
            <a:srgbClr val="E2FBF9"/>
          </a:solidFill>
        </p:spPr>
        <p:txBody>
          <a:bodyPr wrap="square" lIns="0" tIns="0" rIns="0" bIns="0" rtlCol="0"/>
          <a:lstStyle/>
          <a:p>
            <a:endParaRPr/>
          </a:p>
        </p:txBody>
      </p:sp>
      <p:sp>
        <p:nvSpPr>
          <p:cNvPr id="25" name="object 25"/>
          <p:cNvSpPr/>
          <p:nvPr/>
        </p:nvSpPr>
        <p:spPr>
          <a:xfrm>
            <a:off x="5585459" y="2906267"/>
            <a:ext cx="1122045" cy="370840"/>
          </a:xfrm>
          <a:custGeom>
            <a:avLst/>
            <a:gdLst/>
            <a:ahLst/>
            <a:cxnLst/>
            <a:rect l="l" t="t" r="r" b="b"/>
            <a:pathLst>
              <a:path w="1122045" h="370839">
                <a:moveTo>
                  <a:pt x="0" y="370332"/>
                </a:moveTo>
                <a:lnTo>
                  <a:pt x="1121664" y="370332"/>
                </a:lnTo>
                <a:lnTo>
                  <a:pt x="1121664" y="0"/>
                </a:lnTo>
                <a:lnTo>
                  <a:pt x="0" y="0"/>
                </a:lnTo>
                <a:lnTo>
                  <a:pt x="0" y="370332"/>
                </a:lnTo>
                <a:close/>
              </a:path>
            </a:pathLst>
          </a:custGeom>
          <a:ln w="19050">
            <a:solidFill>
              <a:srgbClr val="051F79"/>
            </a:solidFill>
          </a:ln>
        </p:spPr>
        <p:txBody>
          <a:bodyPr wrap="square" lIns="0" tIns="0" rIns="0" bIns="0" rtlCol="0"/>
          <a:lstStyle/>
          <a:p>
            <a:endParaRPr/>
          </a:p>
        </p:txBody>
      </p:sp>
      <p:sp>
        <p:nvSpPr>
          <p:cNvPr id="26" name="object 26"/>
          <p:cNvSpPr/>
          <p:nvPr/>
        </p:nvSpPr>
        <p:spPr>
          <a:xfrm>
            <a:off x="654050" y="4573651"/>
            <a:ext cx="10984230" cy="0"/>
          </a:xfrm>
          <a:custGeom>
            <a:avLst/>
            <a:gdLst/>
            <a:ahLst/>
            <a:cxnLst/>
            <a:rect l="l" t="t" r="r" b="b"/>
            <a:pathLst>
              <a:path w="10984230">
                <a:moveTo>
                  <a:pt x="0" y="0"/>
                </a:moveTo>
                <a:lnTo>
                  <a:pt x="10983976" y="0"/>
                </a:lnTo>
              </a:path>
            </a:pathLst>
          </a:custGeom>
          <a:ln w="9525">
            <a:solidFill>
              <a:srgbClr val="000000"/>
            </a:solidFill>
          </a:ln>
        </p:spPr>
        <p:txBody>
          <a:bodyPr wrap="square" lIns="0" tIns="0" rIns="0" bIns="0" rtlCol="0"/>
          <a:lstStyle/>
          <a:p>
            <a:endParaRPr/>
          </a:p>
        </p:txBody>
      </p:sp>
      <p:sp>
        <p:nvSpPr>
          <p:cNvPr id="27" name="object 27"/>
          <p:cNvSpPr/>
          <p:nvPr/>
        </p:nvSpPr>
        <p:spPr>
          <a:xfrm>
            <a:off x="2446401" y="3648075"/>
            <a:ext cx="1122680" cy="184150"/>
          </a:xfrm>
          <a:custGeom>
            <a:avLst/>
            <a:gdLst/>
            <a:ahLst/>
            <a:cxnLst/>
            <a:rect l="l" t="t" r="r" b="b"/>
            <a:pathLst>
              <a:path w="1122679" h="184150">
                <a:moveTo>
                  <a:pt x="0" y="184150"/>
                </a:moveTo>
                <a:lnTo>
                  <a:pt x="1122362" y="184150"/>
                </a:lnTo>
                <a:lnTo>
                  <a:pt x="1122362" y="0"/>
                </a:lnTo>
                <a:lnTo>
                  <a:pt x="0" y="0"/>
                </a:lnTo>
                <a:lnTo>
                  <a:pt x="0" y="184150"/>
                </a:lnTo>
                <a:close/>
              </a:path>
            </a:pathLst>
          </a:custGeom>
          <a:ln w="19050">
            <a:solidFill>
              <a:srgbClr val="000000"/>
            </a:solidFill>
            <a:prstDash val="sysDash"/>
          </a:ln>
        </p:spPr>
        <p:txBody>
          <a:bodyPr wrap="square" lIns="0" tIns="0" rIns="0" bIns="0" rtlCol="0"/>
          <a:lstStyle/>
          <a:p>
            <a:endParaRPr/>
          </a:p>
        </p:txBody>
      </p:sp>
      <p:sp>
        <p:nvSpPr>
          <p:cNvPr id="28" name="object 28"/>
          <p:cNvSpPr txBox="1"/>
          <p:nvPr/>
        </p:nvSpPr>
        <p:spPr>
          <a:xfrm>
            <a:off x="2894457" y="3615309"/>
            <a:ext cx="227965" cy="239395"/>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~5</a:t>
            </a:r>
            <a:endParaRPr sz="1400">
              <a:latin typeface="Arial"/>
              <a:cs typeface="Arial"/>
            </a:endParaRPr>
          </a:p>
        </p:txBody>
      </p:sp>
      <p:sp>
        <p:nvSpPr>
          <p:cNvPr id="29" name="object 29"/>
          <p:cNvSpPr txBox="1"/>
          <p:nvPr/>
        </p:nvSpPr>
        <p:spPr>
          <a:xfrm>
            <a:off x="2433573" y="4614417"/>
            <a:ext cx="1148715" cy="452755"/>
          </a:xfrm>
          <a:prstGeom prst="rect">
            <a:avLst/>
          </a:prstGeom>
        </p:spPr>
        <p:txBody>
          <a:bodyPr vert="horz" wrap="square" lIns="0" tIns="12700" rIns="0" bIns="0" rtlCol="0">
            <a:spAutoFit/>
          </a:bodyPr>
          <a:lstStyle/>
          <a:p>
            <a:pPr marL="635" algn="ctr">
              <a:lnSpc>
                <a:spcPct val="100000"/>
              </a:lnSpc>
              <a:spcBef>
                <a:spcPts val="100"/>
              </a:spcBef>
            </a:pPr>
            <a:r>
              <a:rPr sz="1400" spc="-5" dirty="0">
                <a:latin typeface="Arial"/>
                <a:cs typeface="Arial"/>
              </a:rPr>
              <a:t>2024-2030</a:t>
            </a:r>
            <a:endParaRPr sz="1400">
              <a:latin typeface="Arial"/>
              <a:cs typeface="Arial"/>
            </a:endParaRPr>
          </a:p>
          <a:p>
            <a:pPr algn="ctr">
              <a:lnSpc>
                <a:spcPct val="100000"/>
              </a:lnSpc>
            </a:pPr>
            <a:r>
              <a:rPr sz="1400" spc="-5" dirty="0">
                <a:latin typeface="Arial"/>
                <a:cs typeface="Arial"/>
              </a:rPr>
              <a:t>Market</a:t>
            </a:r>
            <a:r>
              <a:rPr sz="1400" spc="-100" dirty="0">
                <a:latin typeface="Arial"/>
                <a:cs typeface="Arial"/>
              </a:rPr>
              <a:t> </a:t>
            </a:r>
            <a:r>
              <a:rPr sz="1400" spc="-5" dirty="0">
                <a:latin typeface="Arial"/>
                <a:cs typeface="Arial"/>
              </a:rPr>
              <a:t>growth</a:t>
            </a:r>
            <a:endParaRPr sz="1400">
              <a:latin typeface="Arial"/>
              <a:cs typeface="Arial"/>
            </a:endParaRPr>
          </a:p>
        </p:txBody>
      </p:sp>
      <p:sp>
        <p:nvSpPr>
          <p:cNvPr id="30" name="object 30"/>
          <p:cNvSpPr txBox="1"/>
          <p:nvPr/>
        </p:nvSpPr>
        <p:spPr>
          <a:xfrm>
            <a:off x="4437634" y="3337686"/>
            <a:ext cx="283210"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6</a:t>
            </a:r>
            <a:r>
              <a:rPr sz="1400" b="1" dirty="0">
                <a:latin typeface="Arial"/>
                <a:cs typeface="Arial"/>
              </a:rPr>
              <a:t>-8</a:t>
            </a:r>
            <a:endParaRPr sz="1400">
              <a:latin typeface="Arial"/>
              <a:cs typeface="Arial"/>
            </a:endParaRPr>
          </a:p>
        </p:txBody>
      </p:sp>
      <p:sp>
        <p:nvSpPr>
          <p:cNvPr id="31" name="object 31"/>
          <p:cNvSpPr txBox="1"/>
          <p:nvPr/>
        </p:nvSpPr>
        <p:spPr>
          <a:xfrm>
            <a:off x="3972305" y="4614417"/>
            <a:ext cx="1209040" cy="452755"/>
          </a:xfrm>
          <a:prstGeom prst="rect">
            <a:avLst/>
          </a:prstGeom>
        </p:spPr>
        <p:txBody>
          <a:bodyPr vert="horz" wrap="square" lIns="0" tIns="12700" rIns="0" bIns="0" rtlCol="0">
            <a:spAutoFit/>
          </a:bodyPr>
          <a:lstStyle/>
          <a:p>
            <a:pPr marL="50800" marR="5080" indent="-38100">
              <a:lnSpc>
                <a:spcPct val="100000"/>
              </a:lnSpc>
              <a:spcBef>
                <a:spcPts val="100"/>
              </a:spcBef>
            </a:pPr>
            <a:r>
              <a:rPr sz="1400" b="1" spc="-5" dirty="0">
                <a:latin typeface="Arial"/>
                <a:cs typeface="Arial"/>
              </a:rPr>
              <a:t>Increase</a:t>
            </a:r>
            <a:r>
              <a:rPr sz="1400" b="1" spc="-105" dirty="0">
                <a:latin typeface="Arial"/>
                <a:cs typeface="Arial"/>
              </a:rPr>
              <a:t> </a:t>
            </a:r>
            <a:r>
              <a:rPr sz="1400" b="1" spc="-5" dirty="0">
                <a:latin typeface="Arial"/>
                <a:cs typeface="Arial"/>
              </a:rPr>
              <a:t>used  car</a:t>
            </a:r>
            <a:r>
              <a:rPr sz="1400" b="1" spc="-50" dirty="0">
                <a:latin typeface="Arial"/>
                <a:cs typeface="Arial"/>
              </a:rPr>
              <a:t> </a:t>
            </a:r>
            <a:r>
              <a:rPr sz="1400" b="1" spc="-5" dirty="0">
                <a:latin typeface="Arial"/>
                <a:cs typeface="Arial"/>
              </a:rPr>
              <a:t>financing</a:t>
            </a:r>
            <a:endParaRPr sz="1400">
              <a:latin typeface="Arial"/>
              <a:cs typeface="Arial"/>
            </a:endParaRPr>
          </a:p>
        </p:txBody>
      </p:sp>
      <p:sp>
        <p:nvSpPr>
          <p:cNvPr id="32" name="object 32"/>
          <p:cNvSpPr txBox="1"/>
          <p:nvPr/>
        </p:nvSpPr>
        <p:spPr>
          <a:xfrm>
            <a:off x="5955538" y="2966085"/>
            <a:ext cx="382270"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8</a:t>
            </a:r>
            <a:r>
              <a:rPr sz="1400" b="1" dirty="0">
                <a:latin typeface="Arial"/>
                <a:cs typeface="Arial"/>
              </a:rPr>
              <a:t>-</a:t>
            </a:r>
            <a:r>
              <a:rPr sz="1400" b="1" spc="-5" dirty="0">
                <a:latin typeface="Arial"/>
                <a:cs typeface="Arial"/>
              </a:rPr>
              <a:t>10</a:t>
            </a:r>
            <a:endParaRPr sz="1400">
              <a:latin typeface="Arial"/>
              <a:cs typeface="Arial"/>
            </a:endParaRPr>
          </a:p>
        </p:txBody>
      </p:sp>
      <p:sp>
        <p:nvSpPr>
          <p:cNvPr id="33" name="object 33"/>
          <p:cNvSpPr txBox="1"/>
          <p:nvPr/>
        </p:nvSpPr>
        <p:spPr>
          <a:xfrm>
            <a:off x="5394705" y="4614417"/>
            <a:ext cx="1487805" cy="452755"/>
          </a:xfrm>
          <a:prstGeom prst="rect">
            <a:avLst/>
          </a:prstGeom>
        </p:spPr>
        <p:txBody>
          <a:bodyPr vert="horz" wrap="square" lIns="0" tIns="12700" rIns="0" bIns="0" rtlCol="0">
            <a:spAutoFit/>
          </a:bodyPr>
          <a:lstStyle/>
          <a:p>
            <a:pPr marL="12700" marR="5080" indent="13335">
              <a:lnSpc>
                <a:spcPct val="100000"/>
              </a:lnSpc>
              <a:spcBef>
                <a:spcPts val="100"/>
              </a:spcBef>
            </a:pPr>
            <a:r>
              <a:rPr sz="1400" b="1" spc="-5" dirty="0">
                <a:latin typeface="Arial"/>
                <a:cs typeface="Arial"/>
              </a:rPr>
              <a:t>Redesign</a:t>
            </a:r>
            <a:r>
              <a:rPr sz="1400" b="1" spc="-90" dirty="0">
                <a:latin typeface="Arial"/>
                <a:cs typeface="Arial"/>
              </a:rPr>
              <a:t> </a:t>
            </a:r>
            <a:r>
              <a:rPr sz="1400" b="1" spc="-5" dirty="0">
                <a:latin typeface="Arial"/>
                <a:cs typeface="Arial"/>
              </a:rPr>
              <a:t>end-to-  end B2B</a:t>
            </a:r>
            <a:r>
              <a:rPr sz="1400" b="1" spc="-60" dirty="0">
                <a:latin typeface="Arial"/>
                <a:cs typeface="Arial"/>
              </a:rPr>
              <a:t> </a:t>
            </a:r>
            <a:r>
              <a:rPr sz="1400" b="1" spc="-5" dirty="0">
                <a:latin typeface="Arial"/>
                <a:cs typeface="Arial"/>
              </a:rPr>
              <a:t>offering</a:t>
            </a:r>
            <a:endParaRPr sz="1400">
              <a:latin typeface="Arial"/>
              <a:cs typeface="Arial"/>
            </a:endParaRPr>
          </a:p>
        </p:txBody>
      </p:sp>
      <p:sp>
        <p:nvSpPr>
          <p:cNvPr id="34" name="object 34"/>
          <p:cNvSpPr txBox="1"/>
          <p:nvPr/>
        </p:nvSpPr>
        <p:spPr>
          <a:xfrm>
            <a:off x="7476490" y="2504058"/>
            <a:ext cx="481330" cy="239395"/>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FFFFFF"/>
                </a:solidFill>
                <a:latin typeface="Arial"/>
                <a:cs typeface="Arial"/>
              </a:rPr>
              <a:t>12</a:t>
            </a:r>
            <a:r>
              <a:rPr sz="1400" b="1" dirty="0">
                <a:solidFill>
                  <a:srgbClr val="FFFFFF"/>
                </a:solidFill>
                <a:latin typeface="Arial"/>
                <a:cs typeface="Arial"/>
              </a:rPr>
              <a:t>-</a:t>
            </a:r>
            <a:r>
              <a:rPr sz="1400" b="1" spc="-5" dirty="0">
                <a:solidFill>
                  <a:srgbClr val="FFFFFF"/>
                </a:solidFill>
                <a:latin typeface="Arial"/>
                <a:cs typeface="Arial"/>
              </a:rPr>
              <a:t>15</a:t>
            </a:r>
            <a:endParaRPr sz="1400">
              <a:latin typeface="Arial"/>
              <a:cs typeface="Arial"/>
            </a:endParaRPr>
          </a:p>
        </p:txBody>
      </p:sp>
      <p:sp>
        <p:nvSpPr>
          <p:cNvPr id="35" name="object 35"/>
          <p:cNvSpPr txBox="1"/>
          <p:nvPr/>
        </p:nvSpPr>
        <p:spPr>
          <a:xfrm>
            <a:off x="7080884" y="4614417"/>
            <a:ext cx="1268730" cy="452755"/>
          </a:xfrm>
          <a:prstGeom prst="rect">
            <a:avLst/>
          </a:prstGeom>
        </p:spPr>
        <p:txBody>
          <a:bodyPr vert="horz" wrap="square" lIns="0" tIns="12700" rIns="0" bIns="0" rtlCol="0">
            <a:spAutoFit/>
          </a:bodyPr>
          <a:lstStyle/>
          <a:p>
            <a:pPr marL="12700" marR="5080" indent="156845">
              <a:lnSpc>
                <a:spcPct val="100000"/>
              </a:lnSpc>
              <a:spcBef>
                <a:spcPts val="100"/>
              </a:spcBef>
            </a:pPr>
            <a:r>
              <a:rPr sz="1400" b="1" dirty="0">
                <a:latin typeface="Arial"/>
                <a:cs typeface="Arial"/>
              </a:rPr>
              <a:t>Enter </a:t>
            </a:r>
            <a:r>
              <a:rPr sz="1400" b="1" spc="-5" dirty="0">
                <a:latin typeface="Arial"/>
                <a:cs typeface="Arial"/>
              </a:rPr>
              <a:t>retail  leasing</a:t>
            </a:r>
            <a:r>
              <a:rPr sz="1400" b="1" spc="-100" dirty="0">
                <a:latin typeface="Arial"/>
                <a:cs typeface="Arial"/>
              </a:rPr>
              <a:t> </a:t>
            </a:r>
            <a:r>
              <a:rPr sz="1400" b="1" spc="-5" dirty="0">
                <a:latin typeface="Arial"/>
                <a:cs typeface="Arial"/>
              </a:rPr>
              <a:t>market</a:t>
            </a:r>
            <a:endParaRPr sz="1400">
              <a:latin typeface="Arial"/>
              <a:cs typeface="Arial"/>
            </a:endParaRPr>
          </a:p>
        </p:txBody>
      </p:sp>
      <p:sp>
        <p:nvSpPr>
          <p:cNvPr id="36" name="object 36"/>
          <p:cNvSpPr txBox="1"/>
          <p:nvPr/>
        </p:nvSpPr>
        <p:spPr>
          <a:xfrm>
            <a:off x="9145269" y="2132457"/>
            <a:ext cx="283210"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4</a:t>
            </a:r>
            <a:r>
              <a:rPr sz="1400" b="1" dirty="0">
                <a:latin typeface="Arial"/>
                <a:cs typeface="Arial"/>
              </a:rPr>
              <a:t>-6</a:t>
            </a:r>
            <a:endParaRPr sz="1400">
              <a:latin typeface="Arial"/>
              <a:cs typeface="Arial"/>
            </a:endParaRPr>
          </a:p>
        </p:txBody>
      </p:sp>
      <p:sp>
        <p:nvSpPr>
          <p:cNvPr id="37" name="object 37"/>
          <p:cNvSpPr txBox="1"/>
          <p:nvPr/>
        </p:nvSpPr>
        <p:spPr>
          <a:xfrm>
            <a:off x="8664067" y="4614417"/>
            <a:ext cx="1239520" cy="452755"/>
          </a:xfrm>
          <a:prstGeom prst="rect">
            <a:avLst/>
          </a:prstGeom>
        </p:spPr>
        <p:txBody>
          <a:bodyPr vert="horz" wrap="square" lIns="0" tIns="12700" rIns="0" bIns="0" rtlCol="0">
            <a:spAutoFit/>
          </a:bodyPr>
          <a:lstStyle/>
          <a:p>
            <a:pPr marL="228600" marR="5080" indent="-216535">
              <a:lnSpc>
                <a:spcPct val="100000"/>
              </a:lnSpc>
              <a:spcBef>
                <a:spcPts val="100"/>
              </a:spcBef>
            </a:pPr>
            <a:r>
              <a:rPr sz="1400" b="1" spc="-5" dirty="0">
                <a:latin typeface="Arial"/>
                <a:cs typeface="Arial"/>
              </a:rPr>
              <a:t>Expand</a:t>
            </a:r>
            <a:r>
              <a:rPr sz="1400" b="1" spc="-75" dirty="0">
                <a:latin typeface="Arial"/>
                <a:cs typeface="Arial"/>
              </a:rPr>
              <a:t> </a:t>
            </a:r>
            <a:r>
              <a:rPr sz="1400" b="1" spc="-5" dirty="0">
                <a:latin typeface="Arial"/>
                <a:cs typeface="Arial"/>
              </a:rPr>
              <a:t>digital  presence</a:t>
            </a:r>
            <a:endParaRPr sz="1400">
              <a:latin typeface="Arial"/>
              <a:cs typeface="Arial"/>
            </a:endParaRPr>
          </a:p>
        </p:txBody>
      </p:sp>
      <p:sp>
        <p:nvSpPr>
          <p:cNvPr id="38" name="object 38"/>
          <p:cNvSpPr txBox="1"/>
          <p:nvPr/>
        </p:nvSpPr>
        <p:spPr>
          <a:xfrm>
            <a:off x="1276603" y="3575430"/>
            <a:ext cx="327660"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~20</a:t>
            </a:r>
            <a:endParaRPr sz="1400">
              <a:latin typeface="Arial"/>
              <a:cs typeface="Arial"/>
            </a:endParaRPr>
          </a:p>
        </p:txBody>
      </p:sp>
      <p:sp>
        <p:nvSpPr>
          <p:cNvPr id="39" name="object 39"/>
          <p:cNvSpPr txBox="1"/>
          <p:nvPr/>
        </p:nvSpPr>
        <p:spPr>
          <a:xfrm>
            <a:off x="10615421" y="1908175"/>
            <a:ext cx="481330"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55</a:t>
            </a:r>
            <a:r>
              <a:rPr sz="1400" b="1" dirty="0">
                <a:latin typeface="Arial"/>
                <a:cs typeface="Arial"/>
              </a:rPr>
              <a:t>-</a:t>
            </a:r>
            <a:r>
              <a:rPr sz="1400" b="1" spc="-5" dirty="0">
                <a:latin typeface="Arial"/>
                <a:cs typeface="Arial"/>
              </a:rPr>
              <a:t>65</a:t>
            </a:r>
            <a:endParaRPr sz="1400">
              <a:latin typeface="Arial"/>
              <a:cs typeface="Arial"/>
            </a:endParaRPr>
          </a:p>
        </p:txBody>
      </p:sp>
      <p:sp>
        <p:nvSpPr>
          <p:cNvPr id="40" name="object 40"/>
          <p:cNvSpPr/>
          <p:nvPr/>
        </p:nvSpPr>
        <p:spPr>
          <a:xfrm>
            <a:off x="4464177" y="4441825"/>
            <a:ext cx="232410" cy="233425"/>
          </a:xfrm>
          <a:prstGeom prst="rect">
            <a:avLst/>
          </a:prstGeom>
          <a:blipFill>
            <a:blip r:embed="rId3" cstate="print"/>
            <a:stretch>
              <a:fillRect/>
            </a:stretch>
          </a:blipFill>
        </p:spPr>
        <p:txBody>
          <a:bodyPr wrap="square" lIns="0" tIns="0" rIns="0" bIns="0" rtlCol="0"/>
          <a:lstStyle/>
          <a:p>
            <a:endParaRPr/>
          </a:p>
        </p:txBody>
      </p:sp>
      <p:sp>
        <p:nvSpPr>
          <p:cNvPr id="41" name="object 41"/>
          <p:cNvSpPr txBox="1"/>
          <p:nvPr/>
        </p:nvSpPr>
        <p:spPr>
          <a:xfrm>
            <a:off x="4517897" y="4434077"/>
            <a:ext cx="12509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051F79"/>
                </a:solidFill>
                <a:latin typeface="Arial"/>
                <a:cs typeface="Arial"/>
              </a:rPr>
              <a:t>1</a:t>
            </a:r>
            <a:endParaRPr sz="1400">
              <a:latin typeface="Arial"/>
              <a:cs typeface="Arial"/>
            </a:endParaRPr>
          </a:p>
        </p:txBody>
      </p:sp>
      <p:sp>
        <p:nvSpPr>
          <p:cNvPr id="42" name="object 42"/>
          <p:cNvSpPr/>
          <p:nvPr/>
        </p:nvSpPr>
        <p:spPr>
          <a:xfrm>
            <a:off x="6023736" y="4441825"/>
            <a:ext cx="232283" cy="233425"/>
          </a:xfrm>
          <a:prstGeom prst="rect">
            <a:avLst/>
          </a:prstGeom>
          <a:blipFill>
            <a:blip r:embed="rId4" cstate="print"/>
            <a:stretch>
              <a:fillRect/>
            </a:stretch>
          </a:blipFill>
        </p:spPr>
        <p:txBody>
          <a:bodyPr wrap="square" lIns="0" tIns="0" rIns="0" bIns="0" rtlCol="0"/>
          <a:lstStyle/>
          <a:p>
            <a:endParaRPr/>
          </a:p>
        </p:txBody>
      </p:sp>
      <p:sp>
        <p:nvSpPr>
          <p:cNvPr id="43" name="object 43"/>
          <p:cNvSpPr txBox="1"/>
          <p:nvPr/>
        </p:nvSpPr>
        <p:spPr>
          <a:xfrm>
            <a:off x="6077458" y="4434077"/>
            <a:ext cx="12509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051F79"/>
                </a:solidFill>
                <a:latin typeface="Arial"/>
                <a:cs typeface="Arial"/>
              </a:rPr>
              <a:t>2</a:t>
            </a:r>
            <a:endParaRPr sz="1400">
              <a:latin typeface="Arial"/>
              <a:cs typeface="Arial"/>
            </a:endParaRPr>
          </a:p>
        </p:txBody>
      </p:sp>
      <p:sp>
        <p:nvSpPr>
          <p:cNvPr id="44" name="object 44"/>
          <p:cNvSpPr/>
          <p:nvPr/>
        </p:nvSpPr>
        <p:spPr>
          <a:xfrm>
            <a:off x="7583296" y="4441825"/>
            <a:ext cx="232282" cy="233425"/>
          </a:xfrm>
          <a:prstGeom prst="rect">
            <a:avLst/>
          </a:prstGeom>
          <a:blipFill>
            <a:blip r:embed="rId5" cstate="print"/>
            <a:stretch>
              <a:fillRect/>
            </a:stretch>
          </a:blipFill>
        </p:spPr>
        <p:txBody>
          <a:bodyPr wrap="square" lIns="0" tIns="0" rIns="0" bIns="0" rtlCol="0"/>
          <a:lstStyle/>
          <a:p>
            <a:endParaRPr/>
          </a:p>
        </p:txBody>
      </p:sp>
      <p:sp>
        <p:nvSpPr>
          <p:cNvPr id="45" name="object 45"/>
          <p:cNvSpPr txBox="1"/>
          <p:nvPr/>
        </p:nvSpPr>
        <p:spPr>
          <a:xfrm>
            <a:off x="7637144" y="4434077"/>
            <a:ext cx="12509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051F79"/>
                </a:solidFill>
                <a:latin typeface="Arial"/>
                <a:cs typeface="Arial"/>
              </a:rPr>
              <a:t>3</a:t>
            </a:r>
            <a:endParaRPr sz="1400">
              <a:latin typeface="Arial"/>
              <a:cs typeface="Arial"/>
            </a:endParaRPr>
          </a:p>
        </p:txBody>
      </p:sp>
      <p:sp>
        <p:nvSpPr>
          <p:cNvPr id="46" name="object 46"/>
          <p:cNvSpPr/>
          <p:nvPr/>
        </p:nvSpPr>
        <p:spPr>
          <a:xfrm>
            <a:off x="9142730" y="4441825"/>
            <a:ext cx="232410" cy="233425"/>
          </a:xfrm>
          <a:prstGeom prst="rect">
            <a:avLst/>
          </a:prstGeom>
          <a:blipFill>
            <a:blip r:embed="rId6" cstate="print"/>
            <a:stretch>
              <a:fillRect/>
            </a:stretch>
          </a:blipFill>
        </p:spPr>
        <p:txBody>
          <a:bodyPr wrap="square" lIns="0" tIns="0" rIns="0" bIns="0" rtlCol="0"/>
          <a:lstStyle/>
          <a:p>
            <a:endParaRPr/>
          </a:p>
        </p:txBody>
      </p:sp>
      <p:sp>
        <p:nvSpPr>
          <p:cNvPr id="47" name="object 47"/>
          <p:cNvSpPr txBox="1"/>
          <p:nvPr/>
        </p:nvSpPr>
        <p:spPr>
          <a:xfrm>
            <a:off x="9197085" y="4434077"/>
            <a:ext cx="125095" cy="239395"/>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051F79"/>
                </a:solidFill>
                <a:latin typeface="Arial"/>
                <a:cs typeface="Arial"/>
              </a:rPr>
              <a:t>4</a:t>
            </a:r>
            <a:endParaRPr sz="1400">
              <a:latin typeface="Arial"/>
              <a:cs typeface="Arial"/>
            </a:endParaRPr>
          </a:p>
        </p:txBody>
      </p:sp>
      <p:sp>
        <p:nvSpPr>
          <p:cNvPr id="48" name="object 48"/>
          <p:cNvSpPr/>
          <p:nvPr/>
        </p:nvSpPr>
        <p:spPr>
          <a:xfrm>
            <a:off x="915301" y="5362575"/>
            <a:ext cx="698500" cy="301625"/>
          </a:xfrm>
          <a:custGeom>
            <a:avLst/>
            <a:gdLst/>
            <a:ahLst/>
            <a:cxnLst/>
            <a:rect l="l" t="t" r="r" b="b"/>
            <a:pathLst>
              <a:path w="698500" h="301625">
                <a:moveTo>
                  <a:pt x="0" y="150749"/>
                </a:moveTo>
                <a:lnTo>
                  <a:pt x="21849" y="98176"/>
                </a:lnTo>
                <a:lnTo>
                  <a:pt x="82138" y="53652"/>
                </a:lnTo>
                <a:lnTo>
                  <a:pt x="124231" y="35477"/>
                </a:lnTo>
                <a:lnTo>
                  <a:pt x="172975" y="20597"/>
                </a:lnTo>
                <a:lnTo>
                  <a:pt x="227384" y="9439"/>
                </a:lnTo>
                <a:lnTo>
                  <a:pt x="286471" y="2431"/>
                </a:lnTo>
                <a:lnTo>
                  <a:pt x="349250" y="0"/>
                </a:lnTo>
                <a:lnTo>
                  <a:pt x="412031" y="2431"/>
                </a:lnTo>
                <a:lnTo>
                  <a:pt x="471119" y="9439"/>
                </a:lnTo>
                <a:lnTo>
                  <a:pt x="525526" y="20597"/>
                </a:lnTo>
                <a:lnTo>
                  <a:pt x="574268" y="35477"/>
                </a:lnTo>
                <a:lnTo>
                  <a:pt x="616358" y="53652"/>
                </a:lnTo>
                <a:lnTo>
                  <a:pt x="650811" y="74694"/>
                </a:lnTo>
                <a:lnTo>
                  <a:pt x="692861" y="123670"/>
                </a:lnTo>
                <a:lnTo>
                  <a:pt x="698487" y="150749"/>
                </a:lnTo>
                <a:lnTo>
                  <a:pt x="692861" y="177875"/>
                </a:lnTo>
                <a:lnTo>
                  <a:pt x="650811" y="226909"/>
                </a:lnTo>
                <a:lnTo>
                  <a:pt x="616358" y="247966"/>
                </a:lnTo>
                <a:lnTo>
                  <a:pt x="574268" y="266148"/>
                </a:lnTo>
                <a:lnTo>
                  <a:pt x="525526" y="281031"/>
                </a:lnTo>
                <a:lnTo>
                  <a:pt x="471119" y="292188"/>
                </a:lnTo>
                <a:lnTo>
                  <a:pt x="412031" y="299194"/>
                </a:lnTo>
                <a:lnTo>
                  <a:pt x="349250" y="301625"/>
                </a:lnTo>
                <a:lnTo>
                  <a:pt x="286471" y="299194"/>
                </a:lnTo>
                <a:lnTo>
                  <a:pt x="227384" y="292188"/>
                </a:lnTo>
                <a:lnTo>
                  <a:pt x="172975" y="281031"/>
                </a:lnTo>
                <a:lnTo>
                  <a:pt x="124231" y="266148"/>
                </a:lnTo>
                <a:lnTo>
                  <a:pt x="82138" y="247966"/>
                </a:lnTo>
                <a:lnTo>
                  <a:pt x="47682" y="226909"/>
                </a:lnTo>
                <a:lnTo>
                  <a:pt x="5626" y="177875"/>
                </a:lnTo>
                <a:lnTo>
                  <a:pt x="0" y="150749"/>
                </a:lnTo>
                <a:close/>
              </a:path>
            </a:pathLst>
          </a:custGeom>
          <a:ln w="9525">
            <a:solidFill>
              <a:srgbClr val="000000"/>
            </a:solidFill>
          </a:ln>
        </p:spPr>
        <p:txBody>
          <a:bodyPr wrap="square" lIns="0" tIns="0" rIns="0" bIns="0" rtlCol="0"/>
          <a:lstStyle/>
          <a:p>
            <a:endParaRPr/>
          </a:p>
        </p:txBody>
      </p:sp>
      <p:sp>
        <p:nvSpPr>
          <p:cNvPr id="49" name="object 49"/>
          <p:cNvSpPr txBox="1"/>
          <p:nvPr/>
        </p:nvSpPr>
        <p:spPr>
          <a:xfrm>
            <a:off x="891946" y="4614417"/>
            <a:ext cx="1091565" cy="1000125"/>
          </a:xfrm>
          <a:prstGeom prst="rect">
            <a:avLst/>
          </a:prstGeom>
        </p:spPr>
        <p:txBody>
          <a:bodyPr vert="horz" wrap="square" lIns="0" tIns="12700" rIns="0" bIns="0" rtlCol="0">
            <a:spAutoFit/>
          </a:bodyPr>
          <a:lstStyle/>
          <a:p>
            <a:pPr marL="12700" marR="5080" algn="ctr">
              <a:lnSpc>
                <a:spcPct val="100000"/>
              </a:lnSpc>
              <a:spcBef>
                <a:spcPts val="100"/>
              </a:spcBef>
            </a:pPr>
            <a:r>
              <a:rPr sz="1400" b="1" spc="-5" dirty="0">
                <a:latin typeface="Arial"/>
                <a:cs typeface="Arial"/>
              </a:rPr>
              <a:t>Current</a:t>
            </a:r>
            <a:r>
              <a:rPr sz="1400" b="1" spc="-90" dirty="0">
                <a:latin typeface="Arial"/>
                <a:cs typeface="Arial"/>
              </a:rPr>
              <a:t> </a:t>
            </a:r>
            <a:r>
              <a:rPr sz="1400" b="1" spc="-5" dirty="0">
                <a:latin typeface="Arial"/>
                <a:cs typeface="Arial"/>
              </a:rPr>
              <a:t>ERB  </a:t>
            </a:r>
            <a:r>
              <a:rPr sz="1400" b="1" spc="-20" dirty="0">
                <a:latin typeface="Arial"/>
                <a:cs typeface="Arial"/>
              </a:rPr>
              <a:t>RAR</a:t>
            </a:r>
            <a:r>
              <a:rPr sz="1400" b="1" spc="10" dirty="0">
                <a:latin typeface="Arial"/>
                <a:cs typeface="Arial"/>
              </a:rPr>
              <a:t> </a:t>
            </a:r>
            <a:r>
              <a:rPr sz="1400" b="1" spc="-5" dirty="0">
                <a:latin typeface="Arial"/>
                <a:cs typeface="Arial"/>
              </a:rPr>
              <a:t>2024</a:t>
            </a:r>
            <a:endParaRPr sz="1400">
              <a:latin typeface="Arial"/>
              <a:cs typeface="Arial"/>
            </a:endParaRPr>
          </a:p>
          <a:p>
            <a:pPr algn="ctr">
              <a:lnSpc>
                <a:spcPct val="100000"/>
              </a:lnSpc>
            </a:pPr>
            <a:r>
              <a:rPr sz="1400" b="1" spc="-5" dirty="0">
                <a:latin typeface="Arial"/>
                <a:cs typeface="Arial"/>
              </a:rPr>
              <a:t>(Retail)</a:t>
            </a:r>
            <a:endParaRPr sz="1400">
              <a:latin typeface="Arial"/>
              <a:cs typeface="Arial"/>
            </a:endParaRPr>
          </a:p>
          <a:p>
            <a:pPr marL="149860">
              <a:lnSpc>
                <a:spcPct val="100000"/>
              </a:lnSpc>
              <a:spcBef>
                <a:spcPts val="1190"/>
              </a:spcBef>
            </a:pPr>
            <a:r>
              <a:rPr sz="1200" b="1" spc="-5" dirty="0">
                <a:solidFill>
                  <a:srgbClr val="051F79"/>
                </a:solidFill>
                <a:latin typeface="Georgia"/>
                <a:cs typeface="Georgia"/>
              </a:rPr>
              <a:t>~20%</a:t>
            </a:r>
            <a:endParaRPr sz="1200">
              <a:latin typeface="Georgia"/>
              <a:cs typeface="Georgia"/>
            </a:endParaRPr>
          </a:p>
        </p:txBody>
      </p:sp>
      <p:sp>
        <p:nvSpPr>
          <p:cNvPr id="50" name="object 50"/>
          <p:cNvSpPr/>
          <p:nvPr/>
        </p:nvSpPr>
        <p:spPr>
          <a:xfrm>
            <a:off x="1276858" y="5561076"/>
            <a:ext cx="698500" cy="301625"/>
          </a:xfrm>
          <a:custGeom>
            <a:avLst/>
            <a:gdLst/>
            <a:ahLst/>
            <a:cxnLst/>
            <a:rect l="l" t="t" r="r" b="b"/>
            <a:pathLst>
              <a:path w="698500" h="301625">
                <a:moveTo>
                  <a:pt x="349249" y="0"/>
                </a:moveTo>
                <a:lnTo>
                  <a:pt x="286464" y="2427"/>
                </a:lnTo>
                <a:lnTo>
                  <a:pt x="227374" y="9427"/>
                </a:lnTo>
                <a:lnTo>
                  <a:pt x="172964" y="20574"/>
                </a:lnTo>
                <a:lnTo>
                  <a:pt x="124221" y="35444"/>
                </a:lnTo>
                <a:lnTo>
                  <a:pt x="82130" y="53610"/>
                </a:lnTo>
                <a:lnTo>
                  <a:pt x="47676" y="74649"/>
                </a:lnTo>
                <a:lnTo>
                  <a:pt x="5625" y="123643"/>
                </a:lnTo>
                <a:lnTo>
                  <a:pt x="0" y="150749"/>
                </a:lnTo>
                <a:lnTo>
                  <a:pt x="5625" y="177856"/>
                </a:lnTo>
                <a:lnTo>
                  <a:pt x="47676" y="226864"/>
                </a:lnTo>
                <a:lnTo>
                  <a:pt x="82130" y="247913"/>
                </a:lnTo>
                <a:lnTo>
                  <a:pt x="124221" y="266090"/>
                </a:lnTo>
                <a:lnTo>
                  <a:pt x="172964" y="280970"/>
                </a:lnTo>
                <a:lnTo>
                  <a:pt x="227374" y="292125"/>
                </a:lnTo>
                <a:lnTo>
                  <a:pt x="286464" y="299131"/>
                </a:lnTo>
                <a:lnTo>
                  <a:pt x="349249" y="301561"/>
                </a:lnTo>
                <a:lnTo>
                  <a:pt x="412001" y="299131"/>
                </a:lnTo>
                <a:lnTo>
                  <a:pt x="471074" y="292125"/>
                </a:lnTo>
                <a:lnTo>
                  <a:pt x="525478" y="280970"/>
                </a:lnTo>
                <a:lnTo>
                  <a:pt x="574226" y="266090"/>
                </a:lnTo>
                <a:lnTo>
                  <a:pt x="616328" y="247913"/>
                </a:lnTo>
                <a:lnTo>
                  <a:pt x="650795" y="226864"/>
                </a:lnTo>
                <a:lnTo>
                  <a:pt x="692869" y="177856"/>
                </a:lnTo>
                <a:lnTo>
                  <a:pt x="698499" y="150749"/>
                </a:lnTo>
                <a:lnTo>
                  <a:pt x="692869" y="123643"/>
                </a:lnTo>
                <a:lnTo>
                  <a:pt x="650795" y="74649"/>
                </a:lnTo>
                <a:lnTo>
                  <a:pt x="616328" y="53610"/>
                </a:lnTo>
                <a:lnTo>
                  <a:pt x="574226" y="35444"/>
                </a:lnTo>
                <a:lnTo>
                  <a:pt x="525478" y="20574"/>
                </a:lnTo>
                <a:lnTo>
                  <a:pt x="471074" y="9427"/>
                </a:lnTo>
                <a:lnTo>
                  <a:pt x="412001" y="2427"/>
                </a:lnTo>
                <a:lnTo>
                  <a:pt x="349249" y="0"/>
                </a:lnTo>
                <a:close/>
              </a:path>
            </a:pathLst>
          </a:custGeom>
          <a:solidFill>
            <a:srgbClr val="E2FBF9"/>
          </a:solidFill>
        </p:spPr>
        <p:txBody>
          <a:bodyPr wrap="square" lIns="0" tIns="0" rIns="0" bIns="0" rtlCol="0"/>
          <a:lstStyle/>
          <a:p>
            <a:endParaRPr/>
          </a:p>
        </p:txBody>
      </p:sp>
      <p:sp>
        <p:nvSpPr>
          <p:cNvPr id="51" name="object 51"/>
          <p:cNvSpPr/>
          <p:nvPr/>
        </p:nvSpPr>
        <p:spPr>
          <a:xfrm>
            <a:off x="1276858" y="5561076"/>
            <a:ext cx="698500" cy="301625"/>
          </a:xfrm>
          <a:custGeom>
            <a:avLst/>
            <a:gdLst/>
            <a:ahLst/>
            <a:cxnLst/>
            <a:rect l="l" t="t" r="r" b="b"/>
            <a:pathLst>
              <a:path w="698500" h="301625">
                <a:moveTo>
                  <a:pt x="0" y="150749"/>
                </a:moveTo>
                <a:lnTo>
                  <a:pt x="21846" y="98135"/>
                </a:lnTo>
                <a:lnTo>
                  <a:pt x="82130" y="53610"/>
                </a:lnTo>
                <a:lnTo>
                  <a:pt x="124221" y="35444"/>
                </a:lnTo>
                <a:lnTo>
                  <a:pt x="172964" y="20574"/>
                </a:lnTo>
                <a:lnTo>
                  <a:pt x="227374" y="9427"/>
                </a:lnTo>
                <a:lnTo>
                  <a:pt x="286464" y="2427"/>
                </a:lnTo>
                <a:lnTo>
                  <a:pt x="349249" y="0"/>
                </a:lnTo>
                <a:lnTo>
                  <a:pt x="412001" y="2427"/>
                </a:lnTo>
                <a:lnTo>
                  <a:pt x="471074" y="9427"/>
                </a:lnTo>
                <a:lnTo>
                  <a:pt x="525478" y="20574"/>
                </a:lnTo>
                <a:lnTo>
                  <a:pt x="574226" y="35444"/>
                </a:lnTo>
                <a:lnTo>
                  <a:pt x="616328" y="53610"/>
                </a:lnTo>
                <a:lnTo>
                  <a:pt x="650795" y="74649"/>
                </a:lnTo>
                <a:lnTo>
                  <a:pt x="692869" y="123643"/>
                </a:lnTo>
                <a:lnTo>
                  <a:pt x="698499" y="150749"/>
                </a:lnTo>
                <a:lnTo>
                  <a:pt x="692869" y="177856"/>
                </a:lnTo>
                <a:lnTo>
                  <a:pt x="650795" y="226864"/>
                </a:lnTo>
                <a:lnTo>
                  <a:pt x="616328" y="247913"/>
                </a:lnTo>
                <a:lnTo>
                  <a:pt x="574226" y="266090"/>
                </a:lnTo>
                <a:lnTo>
                  <a:pt x="525478" y="280970"/>
                </a:lnTo>
                <a:lnTo>
                  <a:pt x="471074" y="292125"/>
                </a:lnTo>
                <a:lnTo>
                  <a:pt x="412001" y="299131"/>
                </a:lnTo>
                <a:lnTo>
                  <a:pt x="349249" y="301561"/>
                </a:lnTo>
                <a:lnTo>
                  <a:pt x="286464" y="299131"/>
                </a:lnTo>
                <a:lnTo>
                  <a:pt x="227374" y="292125"/>
                </a:lnTo>
                <a:lnTo>
                  <a:pt x="172964" y="280970"/>
                </a:lnTo>
                <a:lnTo>
                  <a:pt x="124221" y="266090"/>
                </a:lnTo>
                <a:lnTo>
                  <a:pt x="82130" y="247913"/>
                </a:lnTo>
                <a:lnTo>
                  <a:pt x="47676" y="226864"/>
                </a:lnTo>
                <a:lnTo>
                  <a:pt x="5625" y="177856"/>
                </a:lnTo>
                <a:lnTo>
                  <a:pt x="0" y="150749"/>
                </a:lnTo>
                <a:close/>
              </a:path>
            </a:pathLst>
          </a:custGeom>
          <a:ln w="9525">
            <a:solidFill>
              <a:srgbClr val="000000"/>
            </a:solidFill>
          </a:ln>
        </p:spPr>
        <p:txBody>
          <a:bodyPr wrap="square" lIns="0" tIns="0" rIns="0" bIns="0" rtlCol="0"/>
          <a:lstStyle/>
          <a:p>
            <a:endParaRPr/>
          </a:p>
        </p:txBody>
      </p:sp>
      <p:sp>
        <p:nvSpPr>
          <p:cNvPr id="52" name="object 52"/>
          <p:cNvSpPr/>
          <p:nvPr/>
        </p:nvSpPr>
        <p:spPr>
          <a:xfrm>
            <a:off x="7435468" y="1230630"/>
            <a:ext cx="371475" cy="172720"/>
          </a:xfrm>
          <a:custGeom>
            <a:avLst/>
            <a:gdLst/>
            <a:ahLst/>
            <a:cxnLst/>
            <a:rect l="l" t="t" r="r" b="b"/>
            <a:pathLst>
              <a:path w="371475" h="172719">
                <a:moveTo>
                  <a:pt x="185674" y="0"/>
                </a:moveTo>
                <a:lnTo>
                  <a:pt x="127008" y="4397"/>
                </a:lnTo>
                <a:lnTo>
                  <a:pt x="76041" y="16646"/>
                </a:lnTo>
                <a:lnTo>
                  <a:pt x="35840" y="35332"/>
                </a:lnTo>
                <a:lnTo>
                  <a:pt x="0" y="86360"/>
                </a:lnTo>
                <a:lnTo>
                  <a:pt x="9471" y="113629"/>
                </a:lnTo>
                <a:lnTo>
                  <a:pt x="35840" y="137332"/>
                </a:lnTo>
                <a:lnTo>
                  <a:pt x="76041" y="156037"/>
                </a:lnTo>
                <a:lnTo>
                  <a:pt x="127008" y="168310"/>
                </a:lnTo>
                <a:lnTo>
                  <a:pt x="185674" y="172720"/>
                </a:lnTo>
                <a:lnTo>
                  <a:pt x="244339" y="168310"/>
                </a:lnTo>
                <a:lnTo>
                  <a:pt x="295306" y="156037"/>
                </a:lnTo>
                <a:lnTo>
                  <a:pt x="335507" y="137332"/>
                </a:lnTo>
                <a:lnTo>
                  <a:pt x="361876" y="113629"/>
                </a:lnTo>
                <a:lnTo>
                  <a:pt x="371348" y="86360"/>
                </a:lnTo>
                <a:lnTo>
                  <a:pt x="361876" y="59041"/>
                </a:lnTo>
                <a:lnTo>
                  <a:pt x="335507" y="35332"/>
                </a:lnTo>
                <a:lnTo>
                  <a:pt x="295306" y="16646"/>
                </a:lnTo>
                <a:lnTo>
                  <a:pt x="244339" y="4397"/>
                </a:lnTo>
                <a:lnTo>
                  <a:pt x="185674" y="0"/>
                </a:lnTo>
                <a:close/>
              </a:path>
            </a:pathLst>
          </a:custGeom>
          <a:solidFill>
            <a:srgbClr val="E2FBF9"/>
          </a:solidFill>
        </p:spPr>
        <p:txBody>
          <a:bodyPr wrap="square" lIns="0" tIns="0" rIns="0" bIns="0" rtlCol="0"/>
          <a:lstStyle/>
          <a:p>
            <a:endParaRPr/>
          </a:p>
        </p:txBody>
      </p:sp>
      <p:sp>
        <p:nvSpPr>
          <p:cNvPr id="53" name="object 53"/>
          <p:cNvSpPr/>
          <p:nvPr/>
        </p:nvSpPr>
        <p:spPr>
          <a:xfrm>
            <a:off x="7435468" y="1230630"/>
            <a:ext cx="371475" cy="172720"/>
          </a:xfrm>
          <a:custGeom>
            <a:avLst/>
            <a:gdLst/>
            <a:ahLst/>
            <a:cxnLst/>
            <a:rect l="l" t="t" r="r" b="b"/>
            <a:pathLst>
              <a:path w="371475" h="172719">
                <a:moveTo>
                  <a:pt x="0" y="86360"/>
                </a:moveTo>
                <a:lnTo>
                  <a:pt x="35840" y="35332"/>
                </a:lnTo>
                <a:lnTo>
                  <a:pt x="76041" y="16646"/>
                </a:lnTo>
                <a:lnTo>
                  <a:pt x="127008" y="4397"/>
                </a:lnTo>
                <a:lnTo>
                  <a:pt x="185674" y="0"/>
                </a:lnTo>
                <a:lnTo>
                  <a:pt x="244339" y="4397"/>
                </a:lnTo>
                <a:lnTo>
                  <a:pt x="295306" y="16646"/>
                </a:lnTo>
                <a:lnTo>
                  <a:pt x="335507" y="35332"/>
                </a:lnTo>
                <a:lnTo>
                  <a:pt x="361876" y="59041"/>
                </a:lnTo>
                <a:lnTo>
                  <a:pt x="371348" y="86360"/>
                </a:lnTo>
                <a:lnTo>
                  <a:pt x="361876" y="113629"/>
                </a:lnTo>
                <a:lnTo>
                  <a:pt x="335507" y="137332"/>
                </a:lnTo>
                <a:lnTo>
                  <a:pt x="295306" y="156037"/>
                </a:lnTo>
                <a:lnTo>
                  <a:pt x="244339" y="168310"/>
                </a:lnTo>
                <a:lnTo>
                  <a:pt x="185674" y="172720"/>
                </a:lnTo>
                <a:lnTo>
                  <a:pt x="127008" y="168310"/>
                </a:lnTo>
                <a:lnTo>
                  <a:pt x="76041" y="156037"/>
                </a:lnTo>
                <a:lnTo>
                  <a:pt x="35840" y="137332"/>
                </a:lnTo>
                <a:lnTo>
                  <a:pt x="9471" y="113629"/>
                </a:lnTo>
                <a:lnTo>
                  <a:pt x="0" y="86360"/>
                </a:lnTo>
                <a:close/>
              </a:path>
            </a:pathLst>
          </a:custGeom>
          <a:ln w="9525">
            <a:solidFill>
              <a:srgbClr val="000000"/>
            </a:solidFill>
          </a:ln>
        </p:spPr>
        <p:txBody>
          <a:bodyPr wrap="square" lIns="0" tIns="0" rIns="0" bIns="0" rtlCol="0"/>
          <a:lstStyle/>
          <a:p>
            <a:endParaRPr/>
          </a:p>
        </p:txBody>
      </p:sp>
      <p:sp>
        <p:nvSpPr>
          <p:cNvPr id="54" name="object 54"/>
          <p:cNvSpPr/>
          <p:nvPr/>
        </p:nvSpPr>
        <p:spPr>
          <a:xfrm>
            <a:off x="7435468" y="987678"/>
            <a:ext cx="371475" cy="172720"/>
          </a:xfrm>
          <a:custGeom>
            <a:avLst/>
            <a:gdLst/>
            <a:ahLst/>
            <a:cxnLst/>
            <a:rect l="l" t="t" r="r" b="b"/>
            <a:pathLst>
              <a:path w="371475" h="172719">
                <a:moveTo>
                  <a:pt x="0" y="86360"/>
                </a:moveTo>
                <a:lnTo>
                  <a:pt x="35840" y="35387"/>
                </a:lnTo>
                <a:lnTo>
                  <a:pt x="76041" y="16682"/>
                </a:lnTo>
                <a:lnTo>
                  <a:pt x="127008" y="4409"/>
                </a:lnTo>
                <a:lnTo>
                  <a:pt x="185674" y="0"/>
                </a:lnTo>
                <a:lnTo>
                  <a:pt x="244339" y="4409"/>
                </a:lnTo>
                <a:lnTo>
                  <a:pt x="295306" y="16682"/>
                </a:lnTo>
                <a:lnTo>
                  <a:pt x="335507" y="35387"/>
                </a:lnTo>
                <a:lnTo>
                  <a:pt x="361876" y="59090"/>
                </a:lnTo>
                <a:lnTo>
                  <a:pt x="371348" y="86360"/>
                </a:lnTo>
                <a:lnTo>
                  <a:pt x="361876" y="113678"/>
                </a:lnTo>
                <a:lnTo>
                  <a:pt x="335507" y="137387"/>
                </a:lnTo>
                <a:lnTo>
                  <a:pt x="295306" y="156073"/>
                </a:lnTo>
                <a:lnTo>
                  <a:pt x="244339" y="168322"/>
                </a:lnTo>
                <a:lnTo>
                  <a:pt x="185674" y="172720"/>
                </a:lnTo>
                <a:lnTo>
                  <a:pt x="127008" y="168322"/>
                </a:lnTo>
                <a:lnTo>
                  <a:pt x="76041" y="156073"/>
                </a:lnTo>
                <a:lnTo>
                  <a:pt x="35840" y="137387"/>
                </a:lnTo>
                <a:lnTo>
                  <a:pt x="9471" y="113678"/>
                </a:lnTo>
                <a:lnTo>
                  <a:pt x="0" y="86360"/>
                </a:lnTo>
                <a:close/>
              </a:path>
            </a:pathLst>
          </a:custGeom>
          <a:ln w="9525">
            <a:solidFill>
              <a:srgbClr val="000000"/>
            </a:solidFill>
          </a:ln>
        </p:spPr>
        <p:txBody>
          <a:bodyPr wrap="square" lIns="0" tIns="0" rIns="0" bIns="0" rtlCol="0"/>
          <a:lstStyle/>
          <a:p>
            <a:endParaRPr/>
          </a:p>
        </p:txBody>
      </p:sp>
      <p:sp>
        <p:nvSpPr>
          <p:cNvPr id="55" name="object 55"/>
          <p:cNvSpPr txBox="1"/>
          <p:nvPr/>
        </p:nvSpPr>
        <p:spPr>
          <a:xfrm>
            <a:off x="7534782" y="982472"/>
            <a:ext cx="4077970" cy="420370"/>
          </a:xfrm>
          <a:prstGeom prst="rect">
            <a:avLst/>
          </a:prstGeom>
        </p:spPr>
        <p:txBody>
          <a:bodyPr vert="horz" wrap="square" lIns="0" tIns="12065" rIns="0" bIns="0" rtlCol="0">
            <a:spAutoFit/>
          </a:bodyPr>
          <a:lstStyle/>
          <a:p>
            <a:pPr marL="12700">
              <a:lnSpc>
                <a:spcPct val="100000"/>
              </a:lnSpc>
              <a:spcBef>
                <a:spcPts val="95"/>
              </a:spcBef>
              <a:tabLst>
                <a:tab pos="342265" algn="l"/>
              </a:tabLst>
            </a:pPr>
            <a:r>
              <a:rPr sz="1000" b="1" spc="-5" dirty="0">
                <a:solidFill>
                  <a:srgbClr val="051F79"/>
                </a:solidFill>
                <a:latin typeface="Georgia"/>
                <a:cs typeface="Georgia"/>
              </a:rPr>
              <a:t>xx	</a:t>
            </a:r>
            <a:r>
              <a:rPr sz="1000" spc="-10" dirty="0">
                <a:latin typeface="Arial"/>
                <a:cs typeface="Arial"/>
              </a:rPr>
              <a:t>Eurobank individual </a:t>
            </a:r>
            <a:r>
              <a:rPr sz="1000" dirty="0">
                <a:latin typeface="Arial"/>
                <a:cs typeface="Arial"/>
              </a:rPr>
              <a:t>market </a:t>
            </a:r>
            <a:r>
              <a:rPr sz="1000" spc="-5" dirty="0">
                <a:latin typeface="Arial"/>
                <a:cs typeface="Arial"/>
              </a:rPr>
              <a:t>share,</a:t>
            </a:r>
            <a:r>
              <a:rPr sz="1000" spc="-35" dirty="0">
                <a:latin typeface="Arial"/>
                <a:cs typeface="Arial"/>
              </a:rPr>
              <a:t> </a:t>
            </a:r>
            <a:r>
              <a:rPr sz="1000" spc="-5" dirty="0">
                <a:latin typeface="Arial"/>
                <a:cs typeface="Arial"/>
              </a:rPr>
              <a:t>%</a:t>
            </a:r>
            <a:endParaRPr sz="1000" dirty="0">
              <a:latin typeface="Arial"/>
              <a:cs typeface="Arial"/>
            </a:endParaRPr>
          </a:p>
          <a:p>
            <a:pPr marL="12700">
              <a:lnSpc>
                <a:spcPct val="100000"/>
              </a:lnSpc>
              <a:spcBef>
                <a:spcPts val="715"/>
              </a:spcBef>
              <a:tabLst>
                <a:tab pos="342265" algn="l"/>
              </a:tabLst>
            </a:pPr>
            <a:r>
              <a:rPr sz="1000" b="1" spc="-5" dirty="0">
                <a:solidFill>
                  <a:srgbClr val="051F79"/>
                </a:solidFill>
                <a:latin typeface="Georgia"/>
                <a:cs typeface="Georgia"/>
              </a:rPr>
              <a:t>xx	</a:t>
            </a:r>
            <a:r>
              <a:rPr sz="1000" spc="-10" dirty="0">
                <a:latin typeface="Arial"/>
                <a:cs typeface="Arial"/>
              </a:rPr>
              <a:t>Eurobank </a:t>
            </a:r>
            <a:r>
              <a:rPr sz="1000" spc="-5" dirty="0">
                <a:latin typeface="Arial"/>
                <a:cs typeface="Arial"/>
              </a:rPr>
              <a:t>end-consumer </a:t>
            </a:r>
            <a:r>
              <a:rPr sz="1000" spc="-10" dirty="0">
                <a:latin typeface="Arial"/>
                <a:cs typeface="Arial"/>
              </a:rPr>
              <a:t>retail (individual </a:t>
            </a:r>
            <a:r>
              <a:rPr sz="1000" spc="-5" dirty="0">
                <a:latin typeface="Arial"/>
                <a:cs typeface="Arial"/>
              </a:rPr>
              <a:t>&amp; </a:t>
            </a:r>
            <a:r>
              <a:rPr sz="1000" spc="-10" dirty="0">
                <a:latin typeface="Arial"/>
                <a:cs typeface="Arial"/>
              </a:rPr>
              <a:t>SME) </a:t>
            </a:r>
            <a:r>
              <a:rPr sz="1000" dirty="0">
                <a:latin typeface="Arial"/>
                <a:cs typeface="Arial"/>
              </a:rPr>
              <a:t>market </a:t>
            </a:r>
            <a:r>
              <a:rPr sz="1000" spc="-5" dirty="0">
                <a:latin typeface="Arial"/>
                <a:cs typeface="Arial"/>
              </a:rPr>
              <a:t>share,</a:t>
            </a:r>
            <a:r>
              <a:rPr sz="1000" spc="10" dirty="0">
                <a:latin typeface="Arial"/>
                <a:cs typeface="Arial"/>
              </a:rPr>
              <a:t> </a:t>
            </a:r>
            <a:r>
              <a:rPr sz="1000" spc="-5" dirty="0">
                <a:latin typeface="Arial"/>
                <a:cs typeface="Arial"/>
              </a:rPr>
              <a:t>%</a:t>
            </a:r>
            <a:endParaRPr sz="1000" dirty="0">
              <a:latin typeface="Arial"/>
              <a:cs typeface="Arial"/>
            </a:endParaRPr>
          </a:p>
        </p:txBody>
      </p:sp>
      <p:sp>
        <p:nvSpPr>
          <p:cNvPr id="56" name="object 56"/>
          <p:cNvSpPr/>
          <p:nvPr/>
        </p:nvSpPr>
        <p:spPr>
          <a:xfrm>
            <a:off x="6122161" y="3234563"/>
            <a:ext cx="76200" cy="295275"/>
          </a:xfrm>
          <a:custGeom>
            <a:avLst/>
            <a:gdLst/>
            <a:ahLst/>
            <a:cxnLst/>
            <a:rect l="l" t="t" r="r" b="b"/>
            <a:pathLst>
              <a:path w="76200" h="295275">
                <a:moveTo>
                  <a:pt x="34925" y="75560"/>
                </a:moveTo>
                <a:lnTo>
                  <a:pt x="34925" y="295275"/>
                </a:lnTo>
                <a:lnTo>
                  <a:pt x="41275" y="295275"/>
                </a:lnTo>
                <a:lnTo>
                  <a:pt x="41275" y="76200"/>
                </a:lnTo>
                <a:lnTo>
                  <a:pt x="38100" y="76200"/>
                </a:lnTo>
                <a:lnTo>
                  <a:pt x="34925" y="75560"/>
                </a:lnTo>
                <a:close/>
              </a:path>
              <a:path w="76200" h="295275">
                <a:moveTo>
                  <a:pt x="41275" y="38100"/>
                </a:moveTo>
                <a:lnTo>
                  <a:pt x="34925" y="38100"/>
                </a:lnTo>
                <a:lnTo>
                  <a:pt x="34925" y="75560"/>
                </a:lnTo>
                <a:lnTo>
                  <a:pt x="38100" y="76200"/>
                </a:lnTo>
                <a:lnTo>
                  <a:pt x="41275" y="75560"/>
                </a:lnTo>
                <a:lnTo>
                  <a:pt x="41275" y="38100"/>
                </a:lnTo>
                <a:close/>
              </a:path>
              <a:path w="76200" h="295275">
                <a:moveTo>
                  <a:pt x="41275" y="75560"/>
                </a:moveTo>
                <a:lnTo>
                  <a:pt x="38100" y="76200"/>
                </a:lnTo>
                <a:lnTo>
                  <a:pt x="41275" y="76200"/>
                </a:lnTo>
                <a:lnTo>
                  <a:pt x="41275" y="75560"/>
                </a:lnTo>
                <a:close/>
              </a:path>
              <a:path w="76200" h="295275">
                <a:moveTo>
                  <a:pt x="38100" y="0"/>
                </a:moveTo>
                <a:lnTo>
                  <a:pt x="23252" y="3006"/>
                </a:lnTo>
                <a:lnTo>
                  <a:pt x="11144" y="11191"/>
                </a:lnTo>
                <a:lnTo>
                  <a:pt x="2988" y="23306"/>
                </a:lnTo>
                <a:lnTo>
                  <a:pt x="0" y="38100"/>
                </a:lnTo>
                <a:lnTo>
                  <a:pt x="2988" y="52947"/>
                </a:lnTo>
                <a:lnTo>
                  <a:pt x="11144" y="65055"/>
                </a:lnTo>
                <a:lnTo>
                  <a:pt x="23252" y="73211"/>
                </a:lnTo>
                <a:lnTo>
                  <a:pt x="34925" y="75560"/>
                </a:lnTo>
                <a:lnTo>
                  <a:pt x="34925" y="38100"/>
                </a:lnTo>
                <a:lnTo>
                  <a:pt x="76200" y="38100"/>
                </a:lnTo>
                <a:lnTo>
                  <a:pt x="73211" y="23306"/>
                </a:lnTo>
                <a:lnTo>
                  <a:pt x="65055" y="11191"/>
                </a:lnTo>
                <a:lnTo>
                  <a:pt x="52947" y="3006"/>
                </a:lnTo>
                <a:lnTo>
                  <a:pt x="38100" y="0"/>
                </a:lnTo>
                <a:close/>
              </a:path>
              <a:path w="76200" h="295275">
                <a:moveTo>
                  <a:pt x="76200" y="38100"/>
                </a:moveTo>
                <a:lnTo>
                  <a:pt x="41275" y="38100"/>
                </a:lnTo>
                <a:lnTo>
                  <a:pt x="41275" y="75560"/>
                </a:lnTo>
                <a:lnTo>
                  <a:pt x="52947" y="73211"/>
                </a:lnTo>
                <a:lnTo>
                  <a:pt x="65055" y="65055"/>
                </a:lnTo>
                <a:lnTo>
                  <a:pt x="73211" y="52947"/>
                </a:lnTo>
                <a:lnTo>
                  <a:pt x="76200" y="38100"/>
                </a:lnTo>
                <a:close/>
              </a:path>
            </a:pathLst>
          </a:custGeom>
          <a:solidFill>
            <a:srgbClr val="000000"/>
          </a:solidFill>
        </p:spPr>
        <p:txBody>
          <a:bodyPr wrap="square" lIns="0" tIns="0" rIns="0" bIns="0" rtlCol="0"/>
          <a:lstStyle/>
          <a:p>
            <a:endParaRPr/>
          </a:p>
        </p:txBody>
      </p:sp>
      <p:sp>
        <p:nvSpPr>
          <p:cNvPr id="57" name="object 57"/>
          <p:cNvSpPr txBox="1"/>
          <p:nvPr/>
        </p:nvSpPr>
        <p:spPr>
          <a:xfrm>
            <a:off x="5686805" y="3539490"/>
            <a:ext cx="948690" cy="208279"/>
          </a:xfrm>
          <a:prstGeom prst="rect">
            <a:avLst/>
          </a:prstGeom>
        </p:spPr>
        <p:txBody>
          <a:bodyPr vert="horz" wrap="square" lIns="0" tIns="12700" rIns="0" bIns="0" rtlCol="0">
            <a:spAutoFit/>
          </a:bodyPr>
          <a:lstStyle/>
          <a:p>
            <a:pPr marL="12700">
              <a:lnSpc>
                <a:spcPct val="100000"/>
              </a:lnSpc>
              <a:spcBef>
                <a:spcPts val="100"/>
              </a:spcBef>
            </a:pPr>
            <a:r>
              <a:rPr sz="1200" i="1" dirty="0">
                <a:latin typeface="Arial"/>
                <a:cs typeface="Arial"/>
              </a:rPr>
              <a:t>Incl. </a:t>
            </a:r>
            <a:r>
              <a:rPr sz="1200" i="1" spc="-5" dirty="0">
                <a:latin typeface="Arial"/>
                <a:cs typeface="Arial"/>
              </a:rPr>
              <a:t>5-6M€</a:t>
            </a:r>
            <a:r>
              <a:rPr sz="1200" i="1" spc="-85" dirty="0">
                <a:latin typeface="Arial"/>
                <a:cs typeface="Arial"/>
              </a:rPr>
              <a:t> </a:t>
            </a:r>
            <a:r>
              <a:rPr sz="1200" i="1" dirty="0">
                <a:latin typeface="Arial"/>
                <a:cs typeface="Arial"/>
              </a:rPr>
              <a:t>of</a:t>
            </a:r>
            <a:endParaRPr sz="1200">
              <a:latin typeface="Arial"/>
              <a:cs typeface="Arial"/>
            </a:endParaRPr>
          </a:p>
        </p:txBody>
      </p:sp>
      <p:sp>
        <p:nvSpPr>
          <p:cNvPr id="58" name="object 58"/>
          <p:cNvSpPr txBox="1"/>
          <p:nvPr/>
        </p:nvSpPr>
        <p:spPr>
          <a:xfrm>
            <a:off x="5677661" y="3722370"/>
            <a:ext cx="966469" cy="391160"/>
          </a:xfrm>
          <a:prstGeom prst="rect">
            <a:avLst/>
          </a:prstGeom>
        </p:spPr>
        <p:txBody>
          <a:bodyPr vert="horz" wrap="square" lIns="0" tIns="12700" rIns="0" bIns="0" rtlCol="0">
            <a:spAutoFit/>
          </a:bodyPr>
          <a:lstStyle/>
          <a:p>
            <a:pPr marL="105410" marR="5080" indent="-93345">
              <a:lnSpc>
                <a:spcPct val="100000"/>
              </a:lnSpc>
              <a:spcBef>
                <a:spcPts val="100"/>
              </a:spcBef>
            </a:pPr>
            <a:r>
              <a:rPr sz="1200" i="1" dirty="0">
                <a:latin typeface="Arial"/>
                <a:cs typeface="Arial"/>
              </a:rPr>
              <a:t>B2B</a:t>
            </a:r>
            <a:r>
              <a:rPr sz="1200" i="1" spc="-70" dirty="0">
                <a:latin typeface="Arial"/>
                <a:cs typeface="Arial"/>
              </a:rPr>
              <a:t> </a:t>
            </a:r>
            <a:r>
              <a:rPr sz="1200" i="1" spc="-5" dirty="0">
                <a:latin typeface="Arial"/>
                <a:cs typeface="Arial"/>
              </a:rPr>
              <a:t>financing  opportunity</a:t>
            </a:r>
            <a:endParaRPr sz="1200">
              <a:latin typeface="Arial"/>
              <a:cs typeface="Arial"/>
            </a:endParaRPr>
          </a:p>
        </p:txBody>
      </p:sp>
      <p:sp>
        <p:nvSpPr>
          <p:cNvPr id="59" name="object 59"/>
          <p:cNvSpPr/>
          <p:nvPr/>
        </p:nvSpPr>
        <p:spPr>
          <a:xfrm>
            <a:off x="10335386" y="5362575"/>
            <a:ext cx="698500" cy="301625"/>
          </a:xfrm>
          <a:custGeom>
            <a:avLst/>
            <a:gdLst/>
            <a:ahLst/>
            <a:cxnLst/>
            <a:rect l="l" t="t" r="r" b="b"/>
            <a:pathLst>
              <a:path w="698500" h="301625">
                <a:moveTo>
                  <a:pt x="0" y="150749"/>
                </a:moveTo>
                <a:lnTo>
                  <a:pt x="21846" y="98176"/>
                </a:lnTo>
                <a:lnTo>
                  <a:pt x="82130" y="53652"/>
                </a:lnTo>
                <a:lnTo>
                  <a:pt x="124221" y="35477"/>
                </a:lnTo>
                <a:lnTo>
                  <a:pt x="172964" y="20597"/>
                </a:lnTo>
                <a:lnTo>
                  <a:pt x="227374" y="9439"/>
                </a:lnTo>
                <a:lnTo>
                  <a:pt x="286464" y="2431"/>
                </a:lnTo>
                <a:lnTo>
                  <a:pt x="349250" y="0"/>
                </a:lnTo>
                <a:lnTo>
                  <a:pt x="412035" y="2431"/>
                </a:lnTo>
                <a:lnTo>
                  <a:pt x="471125" y="9439"/>
                </a:lnTo>
                <a:lnTo>
                  <a:pt x="525535" y="20597"/>
                </a:lnTo>
                <a:lnTo>
                  <a:pt x="574278" y="35477"/>
                </a:lnTo>
                <a:lnTo>
                  <a:pt x="616369" y="53652"/>
                </a:lnTo>
                <a:lnTo>
                  <a:pt x="650823" y="74694"/>
                </a:lnTo>
                <a:lnTo>
                  <a:pt x="692874" y="123670"/>
                </a:lnTo>
                <a:lnTo>
                  <a:pt x="698500" y="150749"/>
                </a:lnTo>
                <a:lnTo>
                  <a:pt x="692874" y="177875"/>
                </a:lnTo>
                <a:lnTo>
                  <a:pt x="650823" y="226909"/>
                </a:lnTo>
                <a:lnTo>
                  <a:pt x="616369" y="247966"/>
                </a:lnTo>
                <a:lnTo>
                  <a:pt x="574278" y="266148"/>
                </a:lnTo>
                <a:lnTo>
                  <a:pt x="525535" y="281031"/>
                </a:lnTo>
                <a:lnTo>
                  <a:pt x="471125" y="292188"/>
                </a:lnTo>
                <a:lnTo>
                  <a:pt x="412035" y="299194"/>
                </a:lnTo>
                <a:lnTo>
                  <a:pt x="349250" y="301625"/>
                </a:lnTo>
                <a:lnTo>
                  <a:pt x="286464" y="299194"/>
                </a:lnTo>
                <a:lnTo>
                  <a:pt x="227374" y="292188"/>
                </a:lnTo>
                <a:lnTo>
                  <a:pt x="172964" y="281031"/>
                </a:lnTo>
                <a:lnTo>
                  <a:pt x="124221" y="266148"/>
                </a:lnTo>
                <a:lnTo>
                  <a:pt x="82130" y="247966"/>
                </a:lnTo>
                <a:lnTo>
                  <a:pt x="47676" y="226909"/>
                </a:lnTo>
                <a:lnTo>
                  <a:pt x="5625" y="177875"/>
                </a:lnTo>
                <a:lnTo>
                  <a:pt x="0" y="150749"/>
                </a:lnTo>
                <a:close/>
              </a:path>
            </a:pathLst>
          </a:custGeom>
          <a:ln w="9525">
            <a:solidFill>
              <a:srgbClr val="000000"/>
            </a:solidFill>
          </a:ln>
        </p:spPr>
        <p:txBody>
          <a:bodyPr wrap="square" lIns="0" tIns="0" rIns="0" bIns="0" rtlCol="0"/>
          <a:lstStyle/>
          <a:p>
            <a:endParaRPr/>
          </a:p>
        </p:txBody>
      </p:sp>
      <p:sp>
        <p:nvSpPr>
          <p:cNvPr id="60" name="object 60"/>
          <p:cNvSpPr txBox="1"/>
          <p:nvPr/>
        </p:nvSpPr>
        <p:spPr>
          <a:xfrm>
            <a:off x="10365740" y="4614417"/>
            <a:ext cx="981075" cy="1000125"/>
          </a:xfrm>
          <a:prstGeom prst="rect">
            <a:avLst/>
          </a:prstGeom>
        </p:spPr>
        <p:txBody>
          <a:bodyPr vert="horz" wrap="square" lIns="0" tIns="12700" rIns="0" bIns="0" rtlCol="0">
            <a:spAutoFit/>
          </a:bodyPr>
          <a:lstStyle/>
          <a:p>
            <a:pPr marL="12700" marR="5080" algn="ctr">
              <a:lnSpc>
                <a:spcPct val="100000"/>
              </a:lnSpc>
              <a:spcBef>
                <a:spcPts val="100"/>
              </a:spcBef>
            </a:pPr>
            <a:r>
              <a:rPr sz="1400" b="1" spc="-20" dirty="0">
                <a:latin typeface="Arial"/>
                <a:cs typeface="Arial"/>
              </a:rPr>
              <a:t>Target</a:t>
            </a:r>
            <a:r>
              <a:rPr sz="1400" b="1" spc="-95" dirty="0">
                <a:latin typeface="Arial"/>
                <a:cs typeface="Arial"/>
              </a:rPr>
              <a:t> </a:t>
            </a:r>
            <a:r>
              <a:rPr sz="1400" b="1" dirty="0">
                <a:latin typeface="Arial"/>
                <a:cs typeface="Arial"/>
              </a:rPr>
              <a:t>ERB  </a:t>
            </a:r>
            <a:r>
              <a:rPr sz="1400" b="1" spc="-15" dirty="0">
                <a:latin typeface="Arial"/>
                <a:cs typeface="Arial"/>
              </a:rPr>
              <a:t>RAR</a:t>
            </a:r>
            <a:r>
              <a:rPr sz="1400" b="1" spc="-5" dirty="0">
                <a:latin typeface="Arial"/>
                <a:cs typeface="Arial"/>
              </a:rPr>
              <a:t> 2030</a:t>
            </a:r>
            <a:endParaRPr sz="1400">
              <a:latin typeface="Arial"/>
              <a:cs typeface="Arial"/>
            </a:endParaRPr>
          </a:p>
          <a:p>
            <a:pPr algn="ctr">
              <a:lnSpc>
                <a:spcPct val="100000"/>
              </a:lnSpc>
            </a:pPr>
            <a:r>
              <a:rPr sz="1400" b="1" spc="-5" dirty="0">
                <a:latin typeface="Arial"/>
                <a:cs typeface="Arial"/>
              </a:rPr>
              <a:t>(Retail)</a:t>
            </a:r>
            <a:endParaRPr sz="1400">
              <a:latin typeface="Arial"/>
              <a:cs typeface="Arial"/>
            </a:endParaRPr>
          </a:p>
          <a:p>
            <a:pPr marL="106680">
              <a:lnSpc>
                <a:spcPct val="100000"/>
              </a:lnSpc>
              <a:spcBef>
                <a:spcPts val="1190"/>
              </a:spcBef>
            </a:pPr>
            <a:r>
              <a:rPr sz="1200" b="1" spc="-10" dirty="0">
                <a:solidFill>
                  <a:srgbClr val="051F79"/>
                </a:solidFill>
                <a:latin typeface="Georgia"/>
                <a:cs typeface="Georgia"/>
              </a:rPr>
              <a:t>~35%</a:t>
            </a:r>
            <a:endParaRPr sz="1200">
              <a:latin typeface="Georgia"/>
              <a:cs typeface="Georgia"/>
            </a:endParaRPr>
          </a:p>
        </p:txBody>
      </p:sp>
      <p:sp>
        <p:nvSpPr>
          <p:cNvPr id="61" name="object 61"/>
          <p:cNvSpPr/>
          <p:nvPr/>
        </p:nvSpPr>
        <p:spPr>
          <a:xfrm>
            <a:off x="10696956" y="5561076"/>
            <a:ext cx="698500" cy="301625"/>
          </a:xfrm>
          <a:custGeom>
            <a:avLst/>
            <a:gdLst/>
            <a:ahLst/>
            <a:cxnLst/>
            <a:rect l="l" t="t" r="r" b="b"/>
            <a:pathLst>
              <a:path w="698500" h="301625">
                <a:moveTo>
                  <a:pt x="349250" y="0"/>
                </a:moveTo>
                <a:lnTo>
                  <a:pt x="286464" y="2427"/>
                </a:lnTo>
                <a:lnTo>
                  <a:pt x="227374" y="9427"/>
                </a:lnTo>
                <a:lnTo>
                  <a:pt x="172964" y="20574"/>
                </a:lnTo>
                <a:lnTo>
                  <a:pt x="124221" y="35444"/>
                </a:lnTo>
                <a:lnTo>
                  <a:pt x="82130" y="53610"/>
                </a:lnTo>
                <a:lnTo>
                  <a:pt x="47676" y="74649"/>
                </a:lnTo>
                <a:lnTo>
                  <a:pt x="5625" y="123643"/>
                </a:lnTo>
                <a:lnTo>
                  <a:pt x="0" y="150749"/>
                </a:lnTo>
                <a:lnTo>
                  <a:pt x="5625" y="177856"/>
                </a:lnTo>
                <a:lnTo>
                  <a:pt x="47676" y="226864"/>
                </a:lnTo>
                <a:lnTo>
                  <a:pt x="82130" y="247913"/>
                </a:lnTo>
                <a:lnTo>
                  <a:pt x="124221" y="266090"/>
                </a:lnTo>
                <a:lnTo>
                  <a:pt x="172964" y="280970"/>
                </a:lnTo>
                <a:lnTo>
                  <a:pt x="227374" y="292125"/>
                </a:lnTo>
                <a:lnTo>
                  <a:pt x="286464" y="299131"/>
                </a:lnTo>
                <a:lnTo>
                  <a:pt x="349250" y="301561"/>
                </a:lnTo>
                <a:lnTo>
                  <a:pt x="412001" y="299131"/>
                </a:lnTo>
                <a:lnTo>
                  <a:pt x="471074" y="292125"/>
                </a:lnTo>
                <a:lnTo>
                  <a:pt x="525478" y="280970"/>
                </a:lnTo>
                <a:lnTo>
                  <a:pt x="574226" y="266090"/>
                </a:lnTo>
                <a:lnTo>
                  <a:pt x="616328" y="247913"/>
                </a:lnTo>
                <a:lnTo>
                  <a:pt x="650795" y="226864"/>
                </a:lnTo>
                <a:lnTo>
                  <a:pt x="692869" y="177856"/>
                </a:lnTo>
                <a:lnTo>
                  <a:pt x="698500" y="150749"/>
                </a:lnTo>
                <a:lnTo>
                  <a:pt x="692869" y="123643"/>
                </a:lnTo>
                <a:lnTo>
                  <a:pt x="650795" y="74649"/>
                </a:lnTo>
                <a:lnTo>
                  <a:pt x="616328" y="53610"/>
                </a:lnTo>
                <a:lnTo>
                  <a:pt x="574226" y="35444"/>
                </a:lnTo>
                <a:lnTo>
                  <a:pt x="525478" y="20574"/>
                </a:lnTo>
                <a:lnTo>
                  <a:pt x="471074" y="9427"/>
                </a:lnTo>
                <a:lnTo>
                  <a:pt x="412001" y="2427"/>
                </a:lnTo>
                <a:lnTo>
                  <a:pt x="349250" y="0"/>
                </a:lnTo>
                <a:close/>
              </a:path>
            </a:pathLst>
          </a:custGeom>
          <a:solidFill>
            <a:srgbClr val="E2FBF9"/>
          </a:solidFill>
        </p:spPr>
        <p:txBody>
          <a:bodyPr wrap="square" lIns="0" tIns="0" rIns="0" bIns="0" rtlCol="0"/>
          <a:lstStyle/>
          <a:p>
            <a:endParaRPr/>
          </a:p>
        </p:txBody>
      </p:sp>
      <p:sp>
        <p:nvSpPr>
          <p:cNvPr id="62" name="object 62"/>
          <p:cNvSpPr/>
          <p:nvPr/>
        </p:nvSpPr>
        <p:spPr>
          <a:xfrm>
            <a:off x="10696956" y="5561076"/>
            <a:ext cx="698500" cy="301625"/>
          </a:xfrm>
          <a:custGeom>
            <a:avLst/>
            <a:gdLst/>
            <a:ahLst/>
            <a:cxnLst/>
            <a:rect l="l" t="t" r="r" b="b"/>
            <a:pathLst>
              <a:path w="698500" h="301625">
                <a:moveTo>
                  <a:pt x="0" y="150749"/>
                </a:moveTo>
                <a:lnTo>
                  <a:pt x="21846" y="98135"/>
                </a:lnTo>
                <a:lnTo>
                  <a:pt x="82130" y="53610"/>
                </a:lnTo>
                <a:lnTo>
                  <a:pt x="124221" y="35444"/>
                </a:lnTo>
                <a:lnTo>
                  <a:pt x="172964" y="20574"/>
                </a:lnTo>
                <a:lnTo>
                  <a:pt x="227374" y="9427"/>
                </a:lnTo>
                <a:lnTo>
                  <a:pt x="286464" y="2427"/>
                </a:lnTo>
                <a:lnTo>
                  <a:pt x="349250" y="0"/>
                </a:lnTo>
                <a:lnTo>
                  <a:pt x="412001" y="2427"/>
                </a:lnTo>
                <a:lnTo>
                  <a:pt x="471074" y="9427"/>
                </a:lnTo>
                <a:lnTo>
                  <a:pt x="525478" y="20574"/>
                </a:lnTo>
                <a:lnTo>
                  <a:pt x="574226" y="35444"/>
                </a:lnTo>
                <a:lnTo>
                  <a:pt x="616328" y="53610"/>
                </a:lnTo>
                <a:lnTo>
                  <a:pt x="650795" y="74649"/>
                </a:lnTo>
                <a:lnTo>
                  <a:pt x="692869" y="123643"/>
                </a:lnTo>
                <a:lnTo>
                  <a:pt x="698500" y="150749"/>
                </a:lnTo>
                <a:lnTo>
                  <a:pt x="692869" y="177856"/>
                </a:lnTo>
                <a:lnTo>
                  <a:pt x="650795" y="226864"/>
                </a:lnTo>
                <a:lnTo>
                  <a:pt x="616328" y="247913"/>
                </a:lnTo>
                <a:lnTo>
                  <a:pt x="574226" y="266090"/>
                </a:lnTo>
                <a:lnTo>
                  <a:pt x="525478" y="280970"/>
                </a:lnTo>
                <a:lnTo>
                  <a:pt x="471074" y="292125"/>
                </a:lnTo>
                <a:lnTo>
                  <a:pt x="412001" y="299131"/>
                </a:lnTo>
                <a:lnTo>
                  <a:pt x="349250" y="301561"/>
                </a:lnTo>
                <a:lnTo>
                  <a:pt x="286464" y="299131"/>
                </a:lnTo>
                <a:lnTo>
                  <a:pt x="227374" y="292125"/>
                </a:lnTo>
                <a:lnTo>
                  <a:pt x="172964" y="280970"/>
                </a:lnTo>
                <a:lnTo>
                  <a:pt x="124221" y="266090"/>
                </a:lnTo>
                <a:lnTo>
                  <a:pt x="82130" y="247913"/>
                </a:lnTo>
                <a:lnTo>
                  <a:pt x="47676" y="226864"/>
                </a:lnTo>
                <a:lnTo>
                  <a:pt x="5625" y="177856"/>
                </a:lnTo>
                <a:lnTo>
                  <a:pt x="0" y="150749"/>
                </a:lnTo>
                <a:close/>
              </a:path>
            </a:pathLst>
          </a:custGeom>
          <a:ln w="9525">
            <a:solidFill>
              <a:srgbClr val="000000"/>
            </a:solidFill>
          </a:ln>
        </p:spPr>
        <p:txBody>
          <a:bodyPr wrap="square" lIns="0" tIns="0" rIns="0" bIns="0" rtlCol="0"/>
          <a:lstStyle/>
          <a:p>
            <a:endParaRPr/>
          </a:p>
        </p:txBody>
      </p:sp>
      <p:sp>
        <p:nvSpPr>
          <p:cNvPr id="63" name="object 63"/>
          <p:cNvSpPr/>
          <p:nvPr/>
        </p:nvSpPr>
        <p:spPr>
          <a:xfrm>
            <a:off x="554736" y="1770126"/>
            <a:ext cx="11082655" cy="0"/>
          </a:xfrm>
          <a:custGeom>
            <a:avLst/>
            <a:gdLst/>
            <a:ahLst/>
            <a:cxnLst/>
            <a:rect l="l" t="t" r="r" b="b"/>
            <a:pathLst>
              <a:path w="11082655">
                <a:moveTo>
                  <a:pt x="0" y="0"/>
                </a:moveTo>
                <a:lnTo>
                  <a:pt x="11082528" y="0"/>
                </a:lnTo>
              </a:path>
            </a:pathLst>
          </a:custGeom>
          <a:ln w="12700">
            <a:solidFill>
              <a:srgbClr val="757575"/>
            </a:solidFill>
          </a:ln>
        </p:spPr>
        <p:txBody>
          <a:bodyPr wrap="square" lIns="0" tIns="0" rIns="0" bIns="0" rtlCol="0"/>
          <a:lstStyle/>
          <a:p>
            <a:endParaRPr/>
          </a:p>
        </p:txBody>
      </p:sp>
      <p:sp>
        <p:nvSpPr>
          <p:cNvPr id="64" name="object 64"/>
          <p:cNvSpPr/>
          <p:nvPr/>
        </p:nvSpPr>
        <p:spPr>
          <a:xfrm>
            <a:off x="6409816" y="1890776"/>
            <a:ext cx="1174750" cy="274955"/>
          </a:xfrm>
          <a:custGeom>
            <a:avLst/>
            <a:gdLst/>
            <a:ahLst/>
            <a:cxnLst/>
            <a:rect l="l" t="t" r="r" b="b"/>
            <a:pathLst>
              <a:path w="1174750" h="274955">
                <a:moveTo>
                  <a:pt x="1128776" y="0"/>
                </a:moveTo>
                <a:lnTo>
                  <a:pt x="45847" y="0"/>
                </a:lnTo>
                <a:lnTo>
                  <a:pt x="28021" y="3589"/>
                </a:lnTo>
                <a:lnTo>
                  <a:pt x="13446" y="13382"/>
                </a:lnTo>
                <a:lnTo>
                  <a:pt x="3609" y="27914"/>
                </a:lnTo>
                <a:lnTo>
                  <a:pt x="0" y="45720"/>
                </a:lnTo>
                <a:lnTo>
                  <a:pt x="0" y="228853"/>
                </a:lnTo>
                <a:lnTo>
                  <a:pt x="3609" y="246659"/>
                </a:lnTo>
                <a:lnTo>
                  <a:pt x="13446" y="261191"/>
                </a:lnTo>
                <a:lnTo>
                  <a:pt x="28021" y="270984"/>
                </a:lnTo>
                <a:lnTo>
                  <a:pt x="45847" y="274574"/>
                </a:lnTo>
                <a:lnTo>
                  <a:pt x="1128776" y="274574"/>
                </a:lnTo>
                <a:lnTo>
                  <a:pt x="1146581" y="270984"/>
                </a:lnTo>
                <a:lnTo>
                  <a:pt x="1161113" y="261191"/>
                </a:lnTo>
                <a:lnTo>
                  <a:pt x="1170906" y="246659"/>
                </a:lnTo>
                <a:lnTo>
                  <a:pt x="1174496" y="228853"/>
                </a:lnTo>
                <a:lnTo>
                  <a:pt x="1174496" y="45720"/>
                </a:lnTo>
                <a:lnTo>
                  <a:pt x="1170906" y="27914"/>
                </a:lnTo>
                <a:lnTo>
                  <a:pt x="1161113" y="13382"/>
                </a:lnTo>
                <a:lnTo>
                  <a:pt x="1146581" y="3589"/>
                </a:lnTo>
                <a:lnTo>
                  <a:pt x="1128776" y="0"/>
                </a:lnTo>
                <a:close/>
              </a:path>
            </a:pathLst>
          </a:custGeom>
          <a:solidFill>
            <a:srgbClr val="F1F1F1"/>
          </a:solidFill>
        </p:spPr>
        <p:txBody>
          <a:bodyPr wrap="square" lIns="0" tIns="0" rIns="0" bIns="0" rtlCol="0"/>
          <a:lstStyle/>
          <a:p>
            <a:endParaRPr/>
          </a:p>
        </p:txBody>
      </p:sp>
      <p:sp>
        <p:nvSpPr>
          <p:cNvPr id="65" name="object 65"/>
          <p:cNvSpPr/>
          <p:nvPr/>
        </p:nvSpPr>
        <p:spPr>
          <a:xfrm>
            <a:off x="6409816" y="1890776"/>
            <a:ext cx="1174750" cy="274955"/>
          </a:xfrm>
          <a:custGeom>
            <a:avLst/>
            <a:gdLst/>
            <a:ahLst/>
            <a:cxnLst/>
            <a:rect l="l" t="t" r="r" b="b"/>
            <a:pathLst>
              <a:path w="1174750" h="274955">
                <a:moveTo>
                  <a:pt x="0" y="45720"/>
                </a:moveTo>
                <a:lnTo>
                  <a:pt x="3609" y="27914"/>
                </a:lnTo>
                <a:lnTo>
                  <a:pt x="13446" y="13382"/>
                </a:lnTo>
                <a:lnTo>
                  <a:pt x="28021" y="3589"/>
                </a:lnTo>
                <a:lnTo>
                  <a:pt x="45847" y="0"/>
                </a:lnTo>
                <a:lnTo>
                  <a:pt x="1128776" y="0"/>
                </a:lnTo>
                <a:lnTo>
                  <a:pt x="1146581" y="3589"/>
                </a:lnTo>
                <a:lnTo>
                  <a:pt x="1161113" y="13382"/>
                </a:lnTo>
                <a:lnTo>
                  <a:pt x="1170906" y="27914"/>
                </a:lnTo>
                <a:lnTo>
                  <a:pt x="1174496" y="45720"/>
                </a:lnTo>
                <a:lnTo>
                  <a:pt x="1174496" y="228853"/>
                </a:lnTo>
                <a:lnTo>
                  <a:pt x="1170906" y="246659"/>
                </a:lnTo>
                <a:lnTo>
                  <a:pt x="1161113" y="261191"/>
                </a:lnTo>
                <a:lnTo>
                  <a:pt x="1146581" y="270984"/>
                </a:lnTo>
                <a:lnTo>
                  <a:pt x="1128776" y="274574"/>
                </a:lnTo>
                <a:lnTo>
                  <a:pt x="45847" y="274574"/>
                </a:lnTo>
                <a:lnTo>
                  <a:pt x="28021" y="270984"/>
                </a:lnTo>
                <a:lnTo>
                  <a:pt x="13446" y="261191"/>
                </a:lnTo>
                <a:lnTo>
                  <a:pt x="3609" y="246659"/>
                </a:lnTo>
                <a:lnTo>
                  <a:pt x="0" y="228853"/>
                </a:lnTo>
                <a:lnTo>
                  <a:pt x="0" y="45720"/>
                </a:lnTo>
                <a:close/>
              </a:path>
            </a:pathLst>
          </a:custGeom>
          <a:ln w="19050">
            <a:solidFill>
              <a:srgbClr val="051F79"/>
            </a:solidFill>
          </a:ln>
        </p:spPr>
        <p:txBody>
          <a:bodyPr wrap="square" lIns="0" tIns="0" rIns="0" bIns="0" rtlCol="0"/>
          <a:lstStyle/>
          <a:p>
            <a:endParaRPr/>
          </a:p>
        </p:txBody>
      </p:sp>
      <p:sp>
        <p:nvSpPr>
          <p:cNvPr id="66" name="object 66"/>
          <p:cNvSpPr txBox="1"/>
          <p:nvPr/>
        </p:nvSpPr>
        <p:spPr>
          <a:xfrm>
            <a:off x="6557009" y="1902968"/>
            <a:ext cx="880744" cy="228909"/>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+30-</a:t>
            </a:r>
            <a:r>
              <a:rPr lang="en-US" sz="1400" b="1" spc="-5" dirty="0">
                <a:latin typeface="Arial"/>
                <a:cs typeface="Arial"/>
              </a:rPr>
              <a:t>40</a:t>
            </a:r>
            <a:r>
              <a:rPr sz="1400" b="1" spc="-85" dirty="0">
                <a:latin typeface="Arial"/>
                <a:cs typeface="Arial"/>
              </a:rPr>
              <a:t> </a:t>
            </a:r>
            <a:r>
              <a:rPr sz="1400" b="1" spc="10" dirty="0">
                <a:latin typeface="Arial"/>
                <a:cs typeface="Arial"/>
              </a:rPr>
              <a:t>M€</a:t>
            </a:r>
            <a:endParaRPr sz="1400" dirty="0">
              <a:latin typeface="Arial"/>
              <a:cs typeface="Arial"/>
            </a:endParaRPr>
          </a:p>
        </p:txBody>
      </p:sp>
      <p:sp>
        <p:nvSpPr>
          <p:cNvPr id="67" name="object 67"/>
          <p:cNvSpPr/>
          <p:nvPr/>
        </p:nvSpPr>
        <p:spPr>
          <a:xfrm>
            <a:off x="2574670" y="987666"/>
            <a:ext cx="173355" cy="173355"/>
          </a:xfrm>
          <a:custGeom>
            <a:avLst/>
            <a:gdLst/>
            <a:ahLst/>
            <a:cxnLst/>
            <a:rect l="l" t="t" r="r" b="b"/>
            <a:pathLst>
              <a:path w="173355" h="173355">
                <a:moveTo>
                  <a:pt x="0" y="172732"/>
                </a:moveTo>
                <a:lnTo>
                  <a:pt x="172732" y="172732"/>
                </a:lnTo>
                <a:lnTo>
                  <a:pt x="172732" y="0"/>
                </a:lnTo>
                <a:lnTo>
                  <a:pt x="0" y="0"/>
                </a:lnTo>
                <a:lnTo>
                  <a:pt x="0" y="172732"/>
                </a:lnTo>
                <a:close/>
              </a:path>
            </a:pathLst>
          </a:custGeom>
          <a:solidFill>
            <a:srgbClr val="E2FBF9"/>
          </a:solidFill>
        </p:spPr>
        <p:txBody>
          <a:bodyPr wrap="square" lIns="0" tIns="0" rIns="0" bIns="0" rtlCol="0"/>
          <a:lstStyle/>
          <a:p>
            <a:endParaRPr/>
          </a:p>
        </p:txBody>
      </p:sp>
      <p:sp>
        <p:nvSpPr>
          <p:cNvPr id="68" name="object 68"/>
          <p:cNvSpPr/>
          <p:nvPr/>
        </p:nvSpPr>
        <p:spPr>
          <a:xfrm>
            <a:off x="2574670" y="987666"/>
            <a:ext cx="173355" cy="173355"/>
          </a:xfrm>
          <a:custGeom>
            <a:avLst/>
            <a:gdLst/>
            <a:ahLst/>
            <a:cxnLst/>
            <a:rect l="l" t="t" r="r" b="b"/>
            <a:pathLst>
              <a:path w="173355" h="173355">
                <a:moveTo>
                  <a:pt x="0" y="172732"/>
                </a:moveTo>
                <a:lnTo>
                  <a:pt x="172732" y="172732"/>
                </a:lnTo>
                <a:lnTo>
                  <a:pt x="172732" y="0"/>
                </a:lnTo>
                <a:lnTo>
                  <a:pt x="0" y="0"/>
                </a:lnTo>
                <a:lnTo>
                  <a:pt x="0" y="172732"/>
                </a:lnTo>
                <a:close/>
              </a:path>
            </a:pathLst>
          </a:custGeom>
          <a:ln w="6350">
            <a:solidFill>
              <a:srgbClr val="051F79"/>
            </a:solidFill>
          </a:ln>
        </p:spPr>
        <p:txBody>
          <a:bodyPr wrap="square" lIns="0" tIns="0" rIns="0" bIns="0" rtlCol="0"/>
          <a:lstStyle/>
          <a:p>
            <a:endParaRPr/>
          </a:p>
        </p:txBody>
      </p:sp>
      <p:sp>
        <p:nvSpPr>
          <p:cNvPr id="69" name="object 69"/>
          <p:cNvSpPr/>
          <p:nvPr/>
        </p:nvSpPr>
        <p:spPr>
          <a:xfrm>
            <a:off x="554736" y="1230617"/>
            <a:ext cx="173355" cy="173355"/>
          </a:xfrm>
          <a:custGeom>
            <a:avLst/>
            <a:gdLst/>
            <a:ahLst/>
            <a:cxnLst/>
            <a:rect l="l" t="t" r="r" b="b"/>
            <a:pathLst>
              <a:path w="173354" h="173355">
                <a:moveTo>
                  <a:pt x="0" y="172732"/>
                </a:moveTo>
                <a:lnTo>
                  <a:pt x="172732" y="172732"/>
                </a:lnTo>
                <a:lnTo>
                  <a:pt x="172732" y="0"/>
                </a:lnTo>
                <a:lnTo>
                  <a:pt x="0" y="0"/>
                </a:lnTo>
                <a:lnTo>
                  <a:pt x="0" y="172732"/>
                </a:lnTo>
                <a:close/>
              </a:path>
            </a:pathLst>
          </a:custGeom>
          <a:solidFill>
            <a:srgbClr val="C3E6FC"/>
          </a:solidFill>
        </p:spPr>
        <p:txBody>
          <a:bodyPr wrap="square" lIns="0" tIns="0" rIns="0" bIns="0" rtlCol="0"/>
          <a:lstStyle/>
          <a:p>
            <a:endParaRPr/>
          </a:p>
        </p:txBody>
      </p:sp>
      <p:sp>
        <p:nvSpPr>
          <p:cNvPr id="70" name="object 70"/>
          <p:cNvSpPr/>
          <p:nvPr/>
        </p:nvSpPr>
        <p:spPr>
          <a:xfrm>
            <a:off x="554736" y="1230617"/>
            <a:ext cx="173355" cy="173355"/>
          </a:xfrm>
          <a:custGeom>
            <a:avLst/>
            <a:gdLst/>
            <a:ahLst/>
            <a:cxnLst/>
            <a:rect l="l" t="t" r="r" b="b"/>
            <a:pathLst>
              <a:path w="173354" h="173355">
                <a:moveTo>
                  <a:pt x="0" y="172732"/>
                </a:moveTo>
                <a:lnTo>
                  <a:pt x="172732" y="172732"/>
                </a:lnTo>
                <a:lnTo>
                  <a:pt x="172732" y="0"/>
                </a:lnTo>
                <a:lnTo>
                  <a:pt x="0" y="0"/>
                </a:lnTo>
                <a:lnTo>
                  <a:pt x="0" y="172732"/>
                </a:lnTo>
                <a:close/>
              </a:path>
            </a:pathLst>
          </a:custGeom>
          <a:ln w="6350">
            <a:solidFill>
              <a:srgbClr val="051F79"/>
            </a:solidFill>
          </a:ln>
        </p:spPr>
        <p:txBody>
          <a:bodyPr wrap="square" lIns="0" tIns="0" rIns="0" bIns="0" rtlCol="0"/>
          <a:lstStyle/>
          <a:p>
            <a:endParaRPr/>
          </a:p>
        </p:txBody>
      </p:sp>
      <p:sp>
        <p:nvSpPr>
          <p:cNvPr id="71" name="object 71"/>
          <p:cNvSpPr/>
          <p:nvPr/>
        </p:nvSpPr>
        <p:spPr>
          <a:xfrm>
            <a:off x="5022722" y="987666"/>
            <a:ext cx="173355" cy="173355"/>
          </a:xfrm>
          <a:custGeom>
            <a:avLst/>
            <a:gdLst/>
            <a:ahLst/>
            <a:cxnLst/>
            <a:rect l="l" t="t" r="r" b="b"/>
            <a:pathLst>
              <a:path w="173354" h="173355">
                <a:moveTo>
                  <a:pt x="0" y="172732"/>
                </a:moveTo>
                <a:lnTo>
                  <a:pt x="172732" y="172732"/>
                </a:lnTo>
                <a:lnTo>
                  <a:pt x="172732" y="0"/>
                </a:lnTo>
                <a:lnTo>
                  <a:pt x="0" y="0"/>
                </a:lnTo>
                <a:lnTo>
                  <a:pt x="0" y="172732"/>
                </a:lnTo>
                <a:close/>
              </a:path>
            </a:pathLst>
          </a:custGeom>
          <a:solidFill>
            <a:srgbClr val="0579C3"/>
          </a:solidFill>
        </p:spPr>
        <p:txBody>
          <a:bodyPr wrap="square" lIns="0" tIns="0" rIns="0" bIns="0" rtlCol="0"/>
          <a:lstStyle/>
          <a:p>
            <a:endParaRPr/>
          </a:p>
        </p:txBody>
      </p:sp>
      <p:sp>
        <p:nvSpPr>
          <p:cNvPr id="72" name="object 72"/>
          <p:cNvSpPr/>
          <p:nvPr/>
        </p:nvSpPr>
        <p:spPr>
          <a:xfrm>
            <a:off x="5022722" y="987666"/>
            <a:ext cx="173355" cy="173355"/>
          </a:xfrm>
          <a:custGeom>
            <a:avLst/>
            <a:gdLst/>
            <a:ahLst/>
            <a:cxnLst/>
            <a:rect l="l" t="t" r="r" b="b"/>
            <a:pathLst>
              <a:path w="173354" h="173355">
                <a:moveTo>
                  <a:pt x="0" y="172732"/>
                </a:moveTo>
                <a:lnTo>
                  <a:pt x="172732" y="172732"/>
                </a:lnTo>
                <a:lnTo>
                  <a:pt x="172732" y="0"/>
                </a:lnTo>
                <a:lnTo>
                  <a:pt x="0" y="0"/>
                </a:lnTo>
                <a:lnTo>
                  <a:pt x="0" y="172732"/>
                </a:lnTo>
                <a:close/>
              </a:path>
            </a:pathLst>
          </a:custGeom>
          <a:ln w="6350">
            <a:solidFill>
              <a:srgbClr val="051F79"/>
            </a:solidFill>
          </a:ln>
        </p:spPr>
        <p:txBody>
          <a:bodyPr wrap="square" lIns="0" tIns="0" rIns="0" bIns="0" rtlCol="0"/>
          <a:lstStyle/>
          <a:p>
            <a:endParaRPr/>
          </a:p>
        </p:txBody>
      </p:sp>
      <p:sp>
        <p:nvSpPr>
          <p:cNvPr id="73" name="object 73"/>
          <p:cNvSpPr/>
          <p:nvPr/>
        </p:nvSpPr>
        <p:spPr>
          <a:xfrm>
            <a:off x="554736" y="987666"/>
            <a:ext cx="173355" cy="173355"/>
          </a:xfrm>
          <a:custGeom>
            <a:avLst/>
            <a:gdLst/>
            <a:ahLst/>
            <a:cxnLst/>
            <a:rect l="l" t="t" r="r" b="b"/>
            <a:pathLst>
              <a:path w="173354" h="173355">
                <a:moveTo>
                  <a:pt x="0" y="172732"/>
                </a:moveTo>
                <a:lnTo>
                  <a:pt x="172732" y="172732"/>
                </a:lnTo>
                <a:lnTo>
                  <a:pt x="172732" y="0"/>
                </a:lnTo>
                <a:lnTo>
                  <a:pt x="0" y="0"/>
                </a:lnTo>
                <a:lnTo>
                  <a:pt x="0" y="172732"/>
                </a:lnTo>
                <a:close/>
              </a:path>
            </a:pathLst>
          </a:custGeom>
          <a:solidFill>
            <a:srgbClr val="D2DCFF"/>
          </a:solidFill>
        </p:spPr>
        <p:txBody>
          <a:bodyPr wrap="square" lIns="0" tIns="0" rIns="0" bIns="0" rtlCol="0"/>
          <a:lstStyle/>
          <a:p>
            <a:endParaRPr/>
          </a:p>
        </p:txBody>
      </p:sp>
      <p:sp>
        <p:nvSpPr>
          <p:cNvPr id="74" name="object 74"/>
          <p:cNvSpPr/>
          <p:nvPr/>
        </p:nvSpPr>
        <p:spPr>
          <a:xfrm>
            <a:off x="554736" y="987666"/>
            <a:ext cx="173355" cy="173355"/>
          </a:xfrm>
          <a:custGeom>
            <a:avLst/>
            <a:gdLst/>
            <a:ahLst/>
            <a:cxnLst/>
            <a:rect l="l" t="t" r="r" b="b"/>
            <a:pathLst>
              <a:path w="173354" h="173355">
                <a:moveTo>
                  <a:pt x="0" y="172732"/>
                </a:moveTo>
                <a:lnTo>
                  <a:pt x="172732" y="172732"/>
                </a:lnTo>
                <a:lnTo>
                  <a:pt x="172732" y="0"/>
                </a:lnTo>
                <a:lnTo>
                  <a:pt x="0" y="0"/>
                </a:lnTo>
                <a:lnTo>
                  <a:pt x="0" y="172732"/>
                </a:lnTo>
                <a:close/>
              </a:path>
            </a:pathLst>
          </a:custGeom>
          <a:ln w="6350">
            <a:solidFill>
              <a:srgbClr val="051F79"/>
            </a:solidFill>
          </a:ln>
        </p:spPr>
        <p:txBody>
          <a:bodyPr wrap="square" lIns="0" tIns="0" rIns="0" bIns="0" rtlCol="0"/>
          <a:lstStyle/>
          <a:p>
            <a:endParaRPr/>
          </a:p>
        </p:txBody>
      </p:sp>
      <p:sp>
        <p:nvSpPr>
          <p:cNvPr id="75" name="object 75"/>
          <p:cNvSpPr txBox="1"/>
          <p:nvPr/>
        </p:nvSpPr>
        <p:spPr>
          <a:xfrm>
            <a:off x="542036" y="899312"/>
            <a:ext cx="6292215" cy="841375"/>
          </a:xfrm>
          <a:prstGeom prst="rect">
            <a:avLst/>
          </a:prstGeom>
        </p:spPr>
        <p:txBody>
          <a:bodyPr vert="horz" wrap="square" lIns="0" tIns="12700" rIns="0" bIns="0" rtlCol="0">
            <a:spAutoFit/>
          </a:bodyPr>
          <a:lstStyle/>
          <a:p>
            <a:pPr marL="338455" marR="5080">
              <a:lnSpc>
                <a:spcPct val="158000"/>
              </a:lnSpc>
              <a:spcBef>
                <a:spcPts val="100"/>
              </a:spcBef>
              <a:tabLst>
                <a:tab pos="2358390" algn="l"/>
                <a:tab pos="4806950" algn="l"/>
              </a:tabLst>
            </a:pPr>
            <a:r>
              <a:rPr sz="1500" spc="-7" baseline="2777" dirty="0">
                <a:latin typeface="Arial"/>
                <a:cs typeface="Arial"/>
              </a:rPr>
              <a:t>Increase used</a:t>
            </a:r>
            <a:r>
              <a:rPr sz="1500" spc="-15" baseline="2777" dirty="0">
                <a:latin typeface="Arial"/>
                <a:cs typeface="Arial"/>
              </a:rPr>
              <a:t> </a:t>
            </a:r>
            <a:r>
              <a:rPr sz="1500" spc="-7" baseline="2777" dirty="0">
                <a:latin typeface="Arial"/>
                <a:cs typeface="Arial"/>
              </a:rPr>
              <a:t>car</a:t>
            </a:r>
            <a:r>
              <a:rPr sz="1500" baseline="2777" dirty="0">
                <a:latin typeface="Arial"/>
                <a:cs typeface="Arial"/>
              </a:rPr>
              <a:t> </a:t>
            </a:r>
            <a:r>
              <a:rPr sz="1500" spc="-15" baseline="2777" dirty="0">
                <a:latin typeface="Arial"/>
                <a:cs typeface="Arial"/>
              </a:rPr>
              <a:t>financing	</a:t>
            </a:r>
            <a:r>
              <a:rPr sz="1000" spc="-10" dirty="0">
                <a:latin typeface="Arial"/>
                <a:cs typeface="Arial"/>
              </a:rPr>
              <a:t>Redesign </a:t>
            </a:r>
            <a:r>
              <a:rPr sz="1000" spc="-5" dirty="0">
                <a:latin typeface="Arial"/>
                <a:cs typeface="Arial"/>
              </a:rPr>
              <a:t>end-to-end</a:t>
            </a:r>
            <a:r>
              <a:rPr sz="1000" spc="5" dirty="0">
                <a:latin typeface="Arial"/>
                <a:cs typeface="Arial"/>
              </a:rPr>
              <a:t> </a:t>
            </a:r>
            <a:r>
              <a:rPr sz="1000" spc="-10" dirty="0">
                <a:latin typeface="Arial"/>
                <a:cs typeface="Arial"/>
              </a:rPr>
              <a:t>B2B</a:t>
            </a:r>
            <a:r>
              <a:rPr sz="1000" dirty="0">
                <a:latin typeface="Arial"/>
                <a:cs typeface="Arial"/>
              </a:rPr>
              <a:t> </a:t>
            </a:r>
            <a:r>
              <a:rPr sz="1000" spc="-5" dirty="0">
                <a:latin typeface="Arial"/>
                <a:cs typeface="Arial"/>
              </a:rPr>
              <a:t>offering	</a:t>
            </a:r>
            <a:r>
              <a:rPr sz="1500" spc="-15" baseline="2777" dirty="0">
                <a:latin typeface="Arial"/>
                <a:cs typeface="Arial"/>
              </a:rPr>
              <a:t>Enter retail leasing </a:t>
            </a:r>
            <a:r>
              <a:rPr sz="1500" baseline="2777" dirty="0">
                <a:latin typeface="Arial"/>
                <a:cs typeface="Arial"/>
              </a:rPr>
              <a:t>market  </a:t>
            </a:r>
            <a:r>
              <a:rPr sz="1000" spc="-5" dirty="0">
                <a:latin typeface="Arial"/>
                <a:cs typeface="Arial"/>
              </a:rPr>
              <a:t>Expand </a:t>
            </a:r>
            <a:r>
              <a:rPr sz="1000" spc="-10" dirty="0">
                <a:latin typeface="Arial"/>
                <a:cs typeface="Arial"/>
              </a:rPr>
              <a:t>digital </a:t>
            </a:r>
            <a:r>
              <a:rPr sz="1000" spc="-5" dirty="0">
                <a:latin typeface="Arial"/>
                <a:cs typeface="Arial"/>
              </a:rPr>
              <a:t>presence</a:t>
            </a:r>
            <a:endParaRPr sz="1000">
              <a:latin typeface="Arial"/>
              <a:cs typeface="Arial"/>
            </a:endParaRPr>
          </a:p>
          <a:p>
            <a:pPr marL="12700">
              <a:lnSpc>
                <a:spcPct val="100000"/>
              </a:lnSpc>
              <a:spcBef>
                <a:spcPts val="710"/>
              </a:spcBef>
            </a:pPr>
            <a:r>
              <a:rPr sz="1600" b="1" spc="-5" dirty="0">
                <a:latin typeface="Arial"/>
                <a:cs typeface="Arial"/>
              </a:rPr>
              <a:t>ERB </a:t>
            </a:r>
            <a:r>
              <a:rPr sz="1600" b="1" spc="-20" dirty="0">
                <a:latin typeface="Arial"/>
                <a:cs typeface="Arial"/>
              </a:rPr>
              <a:t>RAR </a:t>
            </a:r>
            <a:r>
              <a:rPr sz="1600" b="1" spc="-10" dirty="0">
                <a:latin typeface="Arial"/>
                <a:cs typeface="Arial"/>
              </a:rPr>
              <a:t>evolution</a:t>
            </a:r>
            <a:r>
              <a:rPr sz="1600" b="1" spc="120" dirty="0">
                <a:latin typeface="Arial"/>
                <a:cs typeface="Arial"/>
              </a:rPr>
              <a:t> </a:t>
            </a:r>
            <a:r>
              <a:rPr sz="1600" b="1" spc="-5" dirty="0">
                <a:latin typeface="Arial"/>
                <a:cs typeface="Arial"/>
              </a:rPr>
              <a:t>2024-2030</a:t>
            </a:r>
            <a:r>
              <a:rPr sz="1600" spc="-5" dirty="0">
                <a:latin typeface="Arial"/>
                <a:cs typeface="Arial"/>
              </a:rPr>
              <a:t>,M€</a:t>
            </a:r>
            <a:endParaRPr sz="1600">
              <a:latin typeface="Arial"/>
              <a:cs typeface="Arial"/>
            </a:endParaRPr>
          </a:p>
        </p:txBody>
      </p:sp>
      <p:sp>
        <p:nvSpPr>
          <p:cNvPr id="78" name="object 78"/>
          <p:cNvSpPr/>
          <p:nvPr/>
        </p:nvSpPr>
        <p:spPr>
          <a:xfrm>
            <a:off x="548360" y="5892228"/>
            <a:ext cx="11084560" cy="408305"/>
          </a:xfrm>
          <a:custGeom>
            <a:avLst/>
            <a:gdLst/>
            <a:ahLst/>
            <a:cxnLst/>
            <a:rect l="l" t="t" r="r" b="b"/>
            <a:pathLst>
              <a:path w="11084560" h="408304">
                <a:moveTo>
                  <a:pt x="11015878" y="0"/>
                </a:moveTo>
                <a:lnTo>
                  <a:pt x="68046" y="0"/>
                </a:lnTo>
                <a:lnTo>
                  <a:pt x="41560" y="5347"/>
                </a:lnTo>
                <a:lnTo>
                  <a:pt x="19931" y="19931"/>
                </a:lnTo>
                <a:lnTo>
                  <a:pt x="5347" y="41560"/>
                </a:lnTo>
                <a:lnTo>
                  <a:pt x="0" y="68046"/>
                </a:lnTo>
                <a:lnTo>
                  <a:pt x="0" y="340220"/>
                </a:lnTo>
                <a:lnTo>
                  <a:pt x="5347" y="366706"/>
                </a:lnTo>
                <a:lnTo>
                  <a:pt x="19931" y="388335"/>
                </a:lnTo>
                <a:lnTo>
                  <a:pt x="41560" y="402919"/>
                </a:lnTo>
                <a:lnTo>
                  <a:pt x="68046" y="408266"/>
                </a:lnTo>
                <a:lnTo>
                  <a:pt x="11015878" y="408266"/>
                </a:lnTo>
                <a:lnTo>
                  <a:pt x="11042373" y="402919"/>
                </a:lnTo>
                <a:lnTo>
                  <a:pt x="11064011" y="388335"/>
                </a:lnTo>
                <a:lnTo>
                  <a:pt x="11078600" y="366706"/>
                </a:lnTo>
                <a:lnTo>
                  <a:pt x="11083950" y="340220"/>
                </a:lnTo>
                <a:lnTo>
                  <a:pt x="11083950" y="68046"/>
                </a:lnTo>
                <a:lnTo>
                  <a:pt x="11078600" y="41560"/>
                </a:lnTo>
                <a:lnTo>
                  <a:pt x="11064011" y="19931"/>
                </a:lnTo>
                <a:lnTo>
                  <a:pt x="11042373" y="5347"/>
                </a:lnTo>
                <a:lnTo>
                  <a:pt x="11015878" y="0"/>
                </a:lnTo>
                <a:close/>
              </a:path>
            </a:pathLst>
          </a:custGeom>
          <a:solidFill>
            <a:srgbClr val="7E7E7E"/>
          </a:solidFill>
        </p:spPr>
        <p:txBody>
          <a:bodyPr wrap="square" lIns="0" tIns="0" rIns="0" bIns="0" rtlCol="0"/>
          <a:lstStyle/>
          <a:p>
            <a:endParaRPr/>
          </a:p>
        </p:txBody>
      </p:sp>
      <p:sp>
        <p:nvSpPr>
          <p:cNvPr id="79" name="object 79"/>
          <p:cNvSpPr txBox="1"/>
          <p:nvPr/>
        </p:nvSpPr>
        <p:spPr>
          <a:xfrm>
            <a:off x="541426" y="5537202"/>
            <a:ext cx="10928985" cy="930910"/>
          </a:xfrm>
          <a:prstGeom prst="rect">
            <a:avLst/>
          </a:prstGeom>
        </p:spPr>
        <p:txBody>
          <a:bodyPr vert="horz" wrap="square" lIns="0" tIns="79375" rIns="0" bIns="0" rtlCol="0">
            <a:spAutoFit/>
          </a:bodyPr>
          <a:lstStyle/>
          <a:p>
            <a:pPr marL="880110">
              <a:lnSpc>
                <a:spcPct val="100000"/>
              </a:lnSpc>
              <a:spcBef>
                <a:spcPts val="625"/>
              </a:spcBef>
              <a:tabLst>
                <a:tab pos="10284460" algn="l"/>
              </a:tabLst>
            </a:pPr>
            <a:r>
              <a:rPr sz="1200" b="1" spc="-5" dirty="0">
                <a:solidFill>
                  <a:srgbClr val="051F79"/>
                </a:solidFill>
                <a:latin typeface="Georgia"/>
                <a:cs typeface="Georgia"/>
              </a:rPr>
              <a:t>~15%	</a:t>
            </a:r>
            <a:r>
              <a:rPr sz="1200" b="1" spc="-10" dirty="0">
                <a:solidFill>
                  <a:srgbClr val="051F79"/>
                </a:solidFill>
                <a:latin typeface="Georgia"/>
                <a:cs typeface="Georgia"/>
              </a:rPr>
              <a:t>~30%</a:t>
            </a:r>
            <a:endParaRPr sz="1200">
              <a:latin typeface="Georgia"/>
              <a:cs typeface="Georgia"/>
            </a:endParaRPr>
          </a:p>
          <a:p>
            <a:pPr marL="1939925" marR="5080" indent="-1758950">
              <a:lnSpc>
                <a:spcPct val="100000"/>
              </a:lnSpc>
              <a:spcBef>
                <a:spcPts val="620"/>
              </a:spcBef>
            </a:pPr>
            <a:r>
              <a:rPr sz="1400" spc="-5" dirty="0">
                <a:solidFill>
                  <a:srgbClr val="FFFFFF"/>
                </a:solidFill>
                <a:latin typeface="Arial"/>
                <a:cs typeface="Arial"/>
              </a:rPr>
              <a:t>Eurobank </a:t>
            </a:r>
            <a:r>
              <a:rPr sz="1400" dirty="0">
                <a:solidFill>
                  <a:srgbClr val="FFFFFF"/>
                </a:solidFill>
                <a:latin typeface="Arial"/>
                <a:cs typeface="Arial"/>
              </a:rPr>
              <a:t>can </a:t>
            </a:r>
            <a:r>
              <a:rPr sz="1400" b="1" dirty="0">
                <a:solidFill>
                  <a:srgbClr val="FFFFFF"/>
                </a:solidFill>
                <a:latin typeface="Arial"/>
                <a:cs typeface="Arial"/>
              </a:rPr>
              <a:t>faster </a:t>
            </a:r>
            <a:r>
              <a:rPr sz="1400" b="1" spc="-5" dirty="0">
                <a:solidFill>
                  <a:srgbClr val="FFFFFF"/>
                </a:solidFill>
                <a:latin typeface="Arial"/>
                <a:cs typeface="Arial"/>
              </a:rPr>
              <a:t>regain leading position </a:t>
            </a:r>
            <a:r>
              <a:rPr sz="1400" b="1" dirty="0">
                <a:solidFill>
                  <a:srgbClr val="FFFFFF"/>
                </a:solidFill>
                <a:latin typeface="Arial"/>
                <a:cs typeface="Arial"/>
              </a:rPr>
              <a:t>in </a:t>
            </a:r>
            <a:r>
              <a:rPr sz="1400" b="1" spc="-5" dirty="0">
                <a:solidFill>
                  <a:srgbClr val="FFFFFF"/>
                </a:solidFill>
                <a:latin typeface="Arial"/>
                <a:cs typeface="Arial"/>
              </a:rPr>
              <a:t>auto </a:t>
            </a:r>
            <a:r>
              <a:rPr sz="1400" b="1" dirty="0">
                <a:solidFill>
                  <a:srgbClr val="FFFFFF"/>
                </a:solidFill>
                <a:latin typeface="Arial"/>
                <a:cs typeface="Arial"/>
              </a:rPr>
              <a:t>loan</a:t>
            </a:r>
            <a:r>
              <a:rPr sz="1400" dirty="0">
                <a:solidFill>
                  <a:srgbClr val="FFFFFF"/>
                </a:solidFill>
                <a:latin typeface="Arial"/>
                <a:cs typeface="Arial"/>
              </a:rPr>
              <a:t>, </a:t>
            </a:r>
            <a:r>
              <a:rPr sz="1400" spc="-5" dirty="0">
                <a:solidFill>
                  <a:srgbClr val="FFFFFF"/>
                </a:solidFill>
                <a:latin typeface="Arial"/>
                <a:cs typeface="Arial"/>
              </a:rPr>
              <a:t>increasing competitiveness on used </a:t>
            </a:r>
            <a:r>
              <a:rPr sz="1400" dirty="0">
                <a:solidFill>
                  <a:srgbClr val="FFFFFF"/>
                </a:solidFill>
                <a:latin typeface="Arial"/>
                <a:cs typeface="Arial"/>
              </a:rPr>
              <a:t>car </a:t>
            </a:r>
            <a:r>
              <a:rPr sz="1400" spc="-5" dirty="0">
                <a:solidFill>
                  <a:srgbClr val="FFFFFF"/>
                </a:solidFill>
                <a:latin typeface="Arial"/>
                <a:cs typeface="Arial"/>
              </a:rPr>
              <a:t>and redesigning </a:t>
            </a:r>
            <a:r>
              <a:rPr sz="1400" dirty="0">
                <a:solidFill>
                  <a:srgbClr val="FFFFFF"/>
                </a:solidFill>
                <a:latin typeface="Arial"/>
                <a:cs typeface="Arial"/>
              </a:rPr>
              <a:t>B2B </a:t>
            </a:r>
            <a:r>
              <a:rPr sz="1400" spc="-10" dirty="0">
                <a:solidFill>
                  <a:srgbClr val="FFFFFF"/>
                </a:solidFill>
                <a:latin typeface="Arial"/>
                <a:cs typeface="Arial"/>
              </a:rPr>
              <a:t>offering, </a:t>
            </a:r>
            <a:r>
              <a:rPr sz="1400" b="1" dirty="0">
                <a:solidFill>
                  <a:srgbClr val="FFFFFF"/>
                </a:solidFill>
                <a:latin typeface="Arial"/>
                <a:cs typeface="Arial"/>
              </a:rPr>
              <a:t>while  </a:t>
            </a:r>
            <a:r>
              <a:rPr sz="1400" b="1" spc="-5" dirty="0">
                <a:solidFill>
                  <a:srgbClr val="FFFFFF"/>
                </a:solidFill>
                <a:latin typeface="Arial"/>
                <a:cs typeface="Arial"/>
              </a:rPr>
              <a:t>gradually</a:t>
            </a:r>
            <a:r>
              <a:rPr sz="1400" b="1" spc="-45" dirty="0">
                <a:solidFill>
                  <a:srgbClr val="FFFFFF"/>
                </a:solidFill>
                <a:latin typeface="Arial"/>
                <a:cs typeface="Arial"/>
              </a:rPr>
              <a:t> </a:t>
            </a:r>
            <a:r>
              <a:rPr sz="1400" b="1" spc="-5" dirty="0">
                <a:solidFill>
                  <a:srgbClr val="FFFFFF"/>
                </a:solidFill>
                <a:latin typeface="Arial"/>
                <a:cs typeface="Arial"/>
              </a:rPr>
              <a:t>expanding</a:t>
            </a:r>
            <a:r>
              <a:rPr sz="1400" b="1" spc="-50" dirty="0">
                <a:solidFill>
                  <a:srgbClr val="FFFFFF"/>
                </a:solidFill>
                <a:latin typeface="Arial"/>
                <a:cs typeface="Arial"/>
              </a:rPr>
              <a:t> </a:t>
            </a:r>
            <a:r>
              <a:rPr sz="1400" b="1" spc="-5" dirty="0">
                <a:solidFill>
                  <a:srgbClr val="FFFFFF"/>
                </a:solidFill>
                <a:latin typeface="Arial"/>
                <a:cs typeface="Arial"/>
              </a:rPr>
              <a:t>into</a:t>
            </a:r>
            <a:r>
              <a:rPr sz="1400" b="1" spc="-25" dirty="0">
                <a:solidFill>
                  <a:srgbClr val="FFFFFF"/>
                </a:solidFill>
                <a:latin typeface="Arial"/>
                <a:cs typeface="Arial"/>
              </a:rPr>
              <a:t> </a:t>
            </a:r>
            <a:r>
              <a:rPr sz="1400" b="1" spc="-5" dirty="0">
                <a:solidFill>
                  <a:srgbClr val="FFFFFF"/>
                </a:solidFill>
                <a:latin typeface="Arial"/>
                <a:cs typeface="Arial"/>
              </a:rPr>
              <a:t>new products</a:t>
            </a:r>
            <a:r>
              <a:rPr sz="1400" b="1" spc="-15" dirty="0">
                <a:solidFill>
                  <a:srgbClr val="FFFFFF"/>
                </a:solidFill>
                <a:latin typeface="Arial"/>
                <a:cs typeface="Arial"/>
              </a:rPr>
              <a:t> </a:t>
            </a:r>
            <a:r>
              <a:rPr sz="1400" dirty="0">
                <a:solidFill>
                  <a:srgbClr val="FFFFFF"/>
                </a:solidFill>
                <a:latin typeface="Arial"/>
                <a:cs typeface="Arial"/>
              </a:rPr>
              <a:t>(i.e.,</a:t>
            </a:r>
            <a:r>
              <a:rPr sz="1400" spc="-40" dirty="0">
                <a:solidFill>
                  <a:srgbClr val="FFFFFF"/>
                </a:solidFill>
                <a:latin typeface="Arial"/>
                <a:cs typeface="Arial"/>
              </a:rPr>
              <a:t> </a:t>
            </a:r>
            <a:r>
              <a:rPr sz="1400" spc="-5" dirty="0">
                <a:solidFill>
                  <a:srgbClr val="FFFFFF"/>
                </a:solidFill>
                <a:latin typeface="Arial"/>
                <a:cs typeface="Arial"/>
              </a:rPr>
              <a:t>operating</a:t>
            </a:r>
            <a:r>
              <a:rPr sz="1400" spc="-35" dirty="0">
                <a:solidFill>
                  <a:srgbClr val="FFFFFF"/>
                </a:solidFill>
                <a:latin typeface="Arial"/>
                <a:cs typeface="Arial"/>
              </a:rPr>
              <a:t> </a:t>
            </a:r>
            <a:r>
              <a:rPr sz="1400" spc="-5" dirty="0">
                <a:solidFill>
                  <a:srgbClr val="FFFFFF"/>
                </a:solidFill>
                <a:latin typeface="Arial"/>
                <a:cs typeface="Arial"/>
              </a:rPr>
              <a:t>leasing)</a:t>
            </a:r>
            <a:r>
              <a:rPr sz="1400" spc="-45" dirty="0">
                <a:solidFill>
                  <a:srgbClr val="FFFFFF"/>
                </a:solidFill>
                <a:latin typeface="Arial"/>
                <a:cs typeface="Arial"/>
              </a:rPr>
              <a:t> </a:t>
            </a:r>
            <a:r>
              <a:rPr sz="1400" spc="-5" dirty="0">
                <a:solidFill>
                  <a:srgbClr val="FFFFFF"/>
                </a:solidFill>
                <a:latin typeface="Arial"/>
                <a:cs typeface="Arial"/>
              </a:rPr>
              <a:t>and</a:t>
            </a:r>
            <a:r>
              <a:rPr sz="1400" spc="-20" dirty="0">
                <a:solidFill>
                  <a:srgbClr val="FFFFFF"/>
                </a:solidFill>
                <a:latin typeface="Arial"/>
                <a:cs typeface="Arial"/>
              </a:rPr>
              <a:t> </a:t>
            </a:r>
            <a:r>
              <a:rPr sz="1400" spc="-5" dirty="0">
                <a:solidFill>
                  <a:srgbClr val="FFFFFF"/>
                </a:solidFill>
                <a:latin typeface="Arial"/>
                <a:cs typeface="Arial"/>
              </a:rPr>
              <a:t>channels</a:t>
            </a:r>
            <a:r>
              <a:rPr sz="1400" spc="-35" dirty="0">
                <a:solidFill>
                  <a:srgbClr val="FFFFFF"/>
                </a:solidFill>
                <a:latin typeface="Arial"/>
                <a:cs typeface="Arial"/>
              </a:rPr>
              <a:t> </a:t>
            </a:r>
            <a:r>
              <a:rPr sz="1400" dirty="0">
                <a:solidFill>
                  <a:srgbClr val="FFFFFF"/>
                </a:solidFill>
                <a:latin typeface="Arial"/>
                <a:cs typeface="Arial"/>
              </a:rPr>
              <a:t>(i.e.,</a:t>
            </a:r>
            <a:r>
              <a:rPr sz="1400" spc="-30" dirty="0">
                <a:solidFill>
                  <a:srgbClr val="FFFFFF"/>
                </a:solidFill>
                <a:latin typeface="Arial"/>
                <a:cs typeface="Arial"/>
              </a:rPr>
              <a:t> </a:t>
            </a:r>
            <a:r>
              <a:rPr sz="1400" spc="-5" dirty="0">
                <a:solidFill>
                  <a:srgbClr val="FFFFFF"/>
                </a:solidFill>
                <a:latin typeface="Arial"/>
                <a:cs typeface="Arial"/>
              </a:rPr>
              <a:t>digital)</a:t>
            </a:r>
            <a:endParaRPr sz="1400">
              <a:latin typeface="Arial"/>
              <a:cs typeface="Arial"/>
            </a:endParaRPr>
          </a:p>
          <a:p>
            <a:pPr marL="12700">
              <a:lnSpc>
                <a:spcPct val="100000"/>
              </a:lnSpc>
              <a:spcBef>
                <a:spcPts val="220"/>
              </a:spcBef>
              <a:tabLst>
                <a:tab pos="240665" algn="l"/>
              </a:tabLst>
            </a:pPr>
            <a:r>
              <a:rPr sz="800" spc="-5" dirty="0">
                <a:latin typeface="Arial"/>
                <a:cs typeface="Arial"/>
              </a:rPr>
              <a:t>1.	Does not include </a:t>
            </a:r>
            <a:r>
              <a:rPr sz="800" dirty="0">
                <a:latin typeface="Arial"/>
                <a:cs typeface="Arial"/>
              </a:rPr>
              <a:t>moto; </a:t>
            </a:r>
            <a:r>
              <a:rPr sz="800" spc="-5" dirty="0">
                <a:latin typeface="Arial"/>
                <a:cs typeface="Arial"/>
              </a:rPr>
              <a:t>includes </a:t>
            </a:r>
            <a:r>
              <a:rPr sz="800" dirty="0">
                <a:latin typeface="Arial"/>
                <a:cs typeface="Arial"/>
              </a:rPr>
              <a:t>consumer </a:t>
            </a:r>
            <a:r>
              <a:rPr sz="800" spc="-5" dirty="0">
                <a:latin typeface="Arial"/>
                <a:cs typeface="Arial"/>
              </a:rPr>
              <a:t>loans for auto</a:t>
            </a:r>
            <a:r>
              <a:rPr sz="800" spc="45" dirty="0">
                <a:latin typeface="Arial"/>
                <a:cs typeface="Arial"/>
              </a:rPr>
              <a:t> </a:t>
            </a:r>
            <a:r>
              <a:rPr sz="800" spc="-5" dirty="0">
                <a:latin typeface="Arial"/>
                <a:cs typeface="Arial"/>
              </a:rPr>
              <a:t>purposes</a:t>
            </a:r>
            <a:endParaRPr sz="800">
              <a:latin typeface="Arial"/>
              <a:cs typeface="Arial"/>
            </a:endParaRPr>
          </a:p>
        </p:txBody>
      </p:sp>
      <p:sp>
        <p:nvSpPr>
          <p:cNvPr id="80" name="object 80"/>
          <p:cNvSpPr/>
          <p:nvPr/>
        </p:nvSpPr>
        <p:spPr>
          <a:xfrm>
            <a:off x="694512" y="2753867"/>
            <a:ext cx="1289050" cy="790575"/>
          </a:xfrm>
          <a:custGeom>
            <a:avLst/>
            <a:gdLst/>
            <a:ahLst/>
            <a:cxnLst/>
            <a:rect l="l" t="t" r="r" b="b"/>
            <a:pathLst>
              <a:path w="1289050" h="790575">
                <a:moveTo>
                  <a:pt x="0" y="0"/>
                </a:moveTo>
                <a:lnTo>
                  <a:pt x="214757" y="0"/>
                </a:lnTo>
                <a:lnTo>
                  <a:pt x="536879" y="0"/>
                </a:lnTo>
                <a:lnTo>
                  <a:pt x="1288465" y="0"/>
                </a:lnTo>
                <a:lnTo>
                  <a:pt x="1288465" y="377063"/>
                </a:lnTo>
                <a:lnTo>
                  <a:pt x="1288465" y="538607"/>
                </a:lnTo>
                <a:lnTo>
                  <a:pt x="1288465" y="646303"/>
                </a:lnTo>
                <a:lnTo>
                  <a:pt x="536879" y="646303"/>
                </a:lnTo>
                <a:lnTo>
                  <a:pt x="512394" y="790321"/>
                </a:lnTo>
                <a:lnTo>
                  <a:pt x="214757" y="646303"/>
                </a:lnTo>
                <a:lnTo>
                  <a:pt x="0" y="646303"/>
                </a:lnTo>
                <a:lnTo>
                  <a:pt x="0" y="538607"/>
                </a:lnTo>
                <a:lnTo>
                  <a:pt x="0" y="377063"/>
                </a:lnTo>
                <a:lnTo>
                  <a:pt x="0" y="0"/>
                </a:lnTo>
                <a:close/>
              </a:path>
            </a:pathLst>
          </a:custGeom>
          <a:ln w="6350">
            <a:solidFill>
              <a:srgbClr val="051F79"/>
            </a:solidFill>
          </a:ln>
        </p:spPr>
        <p:txBody>
          <a:bodyPr wrap="square" lIns="0" tIns="0" rIns="0" bIns="0" rtlCol="0"/>
          <a:lstStyle/>
          <a:p>
            <a:endParaRPr/>
          </a:p>
        </p:txBody>
      </p:sp>
      <p:sp>
        <p:nvSpPr>
          <p:cNvPr id="81" name="object 81"/>
          <p:cNvSpPr txBox="1"/>
          <p:nvPr/>
        </p:nvSpPr>
        <p:spPr>
          <a:xfrm>
            <a:off x="694512" y="2753867"/>
            <a:ext cx="1289050" cy="646430"/>
          </a:xfrm>
          <a:prstGeom prst="rect">
            <a:avLst/>
          </a:prstGeom>
          <a:ln w="6350">
            <a:solidFill>
              <a:srgbClr val="051F79"/>
            </a:solidFill>
          </a:ln>
        </p:spPr>
        <p:txBody>
          <a:bodyPr vert="horz" wrap="square" lIns="0" tIns="44450" rIns="0" bIns="0" rtlCol="0">
            <a:spAutoFit/>
          </a:bodyPr>
          <a:lstStyle/>
          <a:p>
            <a:pPr marL="91440" marR="86995" indent="635" algn="ctr">
              <a:lnSpc>
                <a:spcPct val="100000"/>
              </a:lnSpc>
              <a:spcBef>
                <a:spcPts val="350"/>
              </a:spcBef>
            </a:pPr>
            <a:r>
              <a:rPr sz="1200" dirty="0">
                <a:latin typeface="Arial"/>
                <a:cs typeface="Arial"/>
              </a:rPr>
              <a:t>Includes €5M  cash </a:t>
            </a:r>
            <a:r>
              <a:rPr sz="1200" spc="-5" dirty="0">
                <a:latin typeface="Arial"/>
                <a:cs typeface="Arial"/>
              </a:rPr>
              <a:t>loan used  </a:t>
            </a:r>
            <a:r>
              <a:rPr sz="1200" dirty="0">
                <a:latin typeface="Arial"/>
                <a:cs typeface="Arial"/>
              </a:rPr>
              <a:t>for car</a:t>
            </a:r>
            <a:r>
              <a:rPr sz="1200" spc="-120" dirty="0">
                <a:latin typeface="Arial"/>
                <a:cs typeface="Arial"/>
              </a:rPr>
              <a:t> </a:t>
            </a:r>
            <a:r>
              <a:rPr sz="1200" dirty="0">
                <a:latin typeface="Arial"/>
                <a:cs typeface="Arial"/>
              </a:rPr>
              <a:t>purchase</a:t>
            </a:r>
          </a:p>
        </p:txBody>
      </p:sp>
      <p:sp>
        <p:nvSpPr>
          <p:cNvPr id="82" name="TextBox 81">
            <a:extLst>
              <a:ext uri="{FF2B5EF4-FFF2-40B4-BE49-F238E27FC236}">
                <a16:creationId xmlns:a16="http://schemas.microsoft.com/office/drawing/2014/main" id="{2863C1CA-C908-E2CF-4ED7-081A510B5872}"/>
              </a:ext>
            </a:extLst>
          </p:cNvPr>
          <p:cNvSpPr txBox="1"/>
          <p:nvPr/>
        </p:nvSpPr>
        <p:spPr>
          <a:xfrm>
            <a:off x="2017217" y="2467271"/>
            <a:ext cx="1792605" cy="830997"/>
          </a:xfrm>
          <a:prstGeom prst="rect">
            <a:avLst/>
          </a:prstGeom>
          <a:noFill/>
        </p:spPr>
        <p:txBody>
          <a:bodyPr wrap="square">
            <a:spAutoFit/>
          </a:bodyPr>
          <a:lstStyle/>
          <a:p>
            <a:pPr marL="92075" marR="85090" algn="ctr">
              <a:lnSpc>
                <a:spcPct val="100000"/>
              </a:lnSpc>
              <a:spcBef>
                <a:spcPts val="350"/>
              </a:spcBef>
            </a:pPr>
            <a:r>
              <a:rPr lang="en-US" sz="1200" dirty="0">
                <a:latin typeface="Arial"/>
                <a:cs typeface="Arial"/>
              </a:rPr>
              <a:t>Increased car sales volumes, increased prices, increased finance penetration</a:t>
            </a:r>
          </a:p>
        </p:txBody>
      </p:sp>
      <p:sp>
        <p:nvSpPr>
          <p:cNvPr id="84" name="object 80">
            <a:extLst>
              <a:ext uri="{FF2B5EF4-FFF2-40B4-BE49-F238E27FC236}">
                <a16:creationId xmlns:a16="http://schemas.microsoft.com/office/drawing/2014/main" id="{806569C3-A4F9-77B5-A48E-CFF66AC5E87F}"/>
              </a:ext>
            </a:extLst>
          </p:cNvPr>
          <p:cNvSpPr/>
          <p:nvPr/>
        </p:nvSpPr>
        <p:spPr>
          <a:xfrm>
            <a:off x="2079118" y="2457565"/>
            <a:ext cx="1669540" cy="1135265"/>
          </a:xfrm>
          <a:custGeom>
            <a:avLst/>
            <a:gdLst/>
            <a:ahLst/>
            <a:cxnLst/>
            <a:rect l="l" t="t" r="r" b="b"/>
            <a:pathLst>
              <a:path w="1289050" h="790575">
                <a:moveTo>
                  <a:pt x="0" y="0"/>
                </a:moveTo>
                <a:lnTo>
                  <a:pt x="214757" y="0"/>
                </a:lnTo>
                <a:lnTo>
                  <a:pt x="536879" y="0"/>
                </a:lnTo>
                <a:lnTo>
                  <a:pt x="1288465" y="0"/>
                </a:lnTo>
                <a:lnTo>
                  <a:pt x="1288465" y="377063"/>
                </a:lnTo>
                <a:lnTo>
                  <a:pt x="1288465" y="538607"/>
                </a:lnTo>
                <a:lnTo>
                  <a:pt x="1288465" y="646303"/>
                </a:lnTo>
                <a:lnTo>
                  <a:pt x="536879" y="646303"/>
                </a:lnTo>
                <a:lnTo>
                  <a:pt x="512394" y="790321"/>
                </a:lnTo>
                <a:lnTo>
                  <a:pt x="214757" y="646303"/>
                </a:lnTo>
                <a:lnTo>
                  <a:pt x="0" y="646303"/>
                </a:lnTo>
                <a:lnTo>
                  <a:pt x="0" y="538607"/>
                </a:lnTo>
                <a:lnTo>
                  <a:pt x="0" y="377063"/>
                </a:lnTo>
                <a:lnTo>
                  <a:pt x="0" y="0"/>
                </a:lnTo>
                <a:close/>
              </a:path>
            </a:pathLst>
          </a:custGeom>
          <a:ln w="6350">
            <a:solidFill>
              <a:srgbClr val="051F79"/>
            </a:solidFill>
          </a:ln>
        </p:spPr>
        <p:txBody>
          <a:bodyPr wrap="square" lIns="0" tIns="0" rIns="0" bIns="0" rtlCol="0"/>
          <a:lstStyle/>
          <a:p>
            <a:endParaRPr/>
          </a:p>
        </p:txBody>
      </p:sp>
    </p:spTree>
    <p:extLst>
      <p:ext uri="{BB962C8B-B14F-4D97-AF65-F5344CB8AC3E}">
        <p14:creationId xmlns:p14="http://schemas.microsoft.com/office/powerpoint/2010/main" val="3044429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D0E9D-65E1-9A12-E7A9-1BFB866FB11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5C6E82D-06BF-AE0D-4E8C-79ACA4045676}"/>
              </a:ext>
            </a:extLst>
          </p:cNvPr>
          <p:cNvPicPr>
            <a:picLocks noChangeAspect="1"/>
          </p:cNvPicPr>
          <p:nvPr/>
        </p:nvPicPr>
        <p:blipFill>
          <a:blip r:embed="rId3"/>
          <a:stretch>
            <a:fillRect/>
          </a:stretch>
        </p:blipFill>
        <p:spPr>
          <a:xfrm>
            <a:off x="-21771" y="14059"/>
            <a:ext cx="12191999" cy="976542"/>
          </a:xfrm>
          <a:prstGeom prst="rect">
            <a:avLst/>
          </a:prstGeom>
        </p:spPr>
      </p:pic>
      <p:sp>
        <p:nvSpPr>
          <p:cNvPr id="2" name="object 2">
            <a:extLst>
              <a:ext uri="{FF2B5EF4-FFF2-40B4-BE49-F238E27FC236}">
                <a16:creationId xmlns:a16="http://schemas.microsoft.com/office/drawing/2014/main" id="{032C43DB-E6AA-C4C6-39EF-8DCC786BE22B}"/>
              </a:ext>
            </a:extLst>
          </p:cNvPr>
          <p:cNvSpPr txBox="1">
            <a:spLocks noGrp="1"/>
          </p:cNvSpPr>
          <p:nvPr>
            <p:ph type="title"/>
          </p:nvPr>
        </p:nvSpPr>
        <p:spPr>
          <a:prstGeom prst="rect">
            <a:avLst/>
          </a:prstGeom>
        </p:spPr>
        <p:txBody>
          <a:bodyPr vert="horz" wrap="square" lIns="0" tIns="45085" rIns="0" bIns="0" rtlCol="0">
            <a:spAutoFit/>
          </a:bodyPr>
          <a:lstStyle/>
          <a:p>
            <a:pPr marL="12700" marR="5080">
              <a:lnSpc>
                <a:spcPts val="2800"/>
              </a:lnSpc>
              <a:spcBef>
                <a:spcPts val="355"/>
              </a:spcBef>
            </a:pPr>
            <a:r>
              <a:rPr lang="en-US" spc="-5" dirty="0"/>
              <a:t>5 | Winning requires </a:t>
            </a:r>
            <a:r>
              <a:rPr lang="en-US" dirty="0"/>
              <a:t>dedicated value stream,</a:t>
            </a:r>
            <a:r>
              <a:rPr lang="en-US" spc="-5" dirty="0"/>
              <a:t> repossession capabilities, enhanced credit policy, targeted investments.</a:t>
            </a:r>
          </a:p>
        </p:txBody>
      </p:sp>
      <p:sp>
        <p:nvSpPr>
          <p:cNvPr id="3" name="object 3">
            <a:extLst>
              <a:ext uri="{FF2B5EF4-FFF2-40B4-BE49-F238E27FC236}">
                <a16:creationId xmlns:a16="http://schemas.microsoft.com/office/drawing/2014/main" id="{1EE1ED32-ACCB-65F2-EEBC-B6583D5727C3}"/>
              </a:ext>
            </a:extLst>
          </p:cNvPr>
          <p:cNvSpPr txBox="1"/>
          <p:nvPr/>
        </p:nvSpPr>
        <p:spPr>
          <a:xfrm>
            <a:off x="340945" y="1066800"/>
            <a:ext cx="882015"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Arial"/>
                <a:cs typeface="Arial"/>
              </a:rPr>
              <a:t>Enablers</a:t>
            </a:r>
            <a:endParaRPr sz="1600" dirty="0">
              <a:latin typeface="Arial"/>
              <a:cs typeface="Arial"/>
            </a:endParaRPr>
          </a:p>
        </p:txBody>
      </p:sp>
      <p:sp>
        <p:nvSpPr>
          <p:cNvPr id="4" name="object 4">
            <a:extLst>
              <a:ext uri="{FF2B5EF4-FFF2-40B4-BE49-F238E27FC236}">
                <a16:creationId xmlns:a16="http://schemas.microsoft.com/office/drawing/2014/main" id="{CCDDFF4F-13F9-8515-4623-9C3DD4C3BD5F}"/>
              </a:ext>
            </a:extLst>
          </p:cNvPr>
          <p:cNvSpPr txBox="1"/>
          <p:nvPr/>
        </p:nvSpPr>
        <p:spPr>
          <a:xfrm>
            <a:off x="2646914" y="1066800"/>
            <a:ext cx="9372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Arial"/>
                <a:cs typeface="Arial"/>
              </a:rPr>
              <a:t>Rationale</a:t>
            </a:r>
            <a:endParaRPr sz="1600" dirty="0">
              <a:latin typeface="Arial"/>
              <a:cs typeface="Arial"/>
            </a:endParaRPr>
          </a:p>
        </p:txBody>
      </p:sp>
      <p:sp>
        <p:nvSpPr>
          <p:cNvPr id="23" name="object 23">
            <a:extLst>
              <a:ext uri="{FF2B5EF4-FFF2-40B4-BE49-F238E27FC236}">
                <a16:creationId xmlns:a16="http://schemas.microsoft.com/office/drawing/2014/main" id="{044CDB7B-DD9E-DAA7-7FFE-AE19E50BD1A6}"/>
              </a:ext>
            </a:extLst>
          </p:cNvPr>
          <p:cNvSpPr/>
          <p:nvPr/>
        </p:nvSpPr>
        <p:spPr>
          <a:xfrm>
            <a:off x="1223210" y="1171043"/>
            <a:ext cx="50165" cy="130810"/>
          </a:xfrm>
          <a:custGeom>
            <a:avLst/>
            <a:gdLst/>
            <a:ahLst/>
            <a:cxnLst/>
            <a:rect l="l" t="t" r="r" b="b"/>
            <a:pathLst>
              <a:path w="50165" h="130810">
                <a:moveTo>
                  <a:pt x="0" y="130275"/>
                </a:moveTo>
                <a:lnTo>
                  <a:pt x="50104" y="130275"/>
                </a:lnTo>
                <a:lnTo>
                  <a:pt x="50104" y="0"/>
                </a:lnTo>
                <a:lnTo>
                  <a:pt x="0" y="0"/>
                </a:lnTo>
                <a:lnTo>
                  <a:pt x="0" y="130275"/>
                </a:lnTo>
                <a:close/>
              </a:path>
            </a:pathLst>
          </a:custGeom>
          <a:ln w="8245">
            <a:solidFill>
              <a:srgbClr val="051F79"/>
            </a:solidFill>
          </a:ln>
        </p:spPr>
        <p:txBody>
          <a:bodyPr wrap="square" lIns="0" tIns="0" rIns="0" bIns="0" rtlCol="0"/>
          <a:lstStyle/>
          <a:p>
            <a:endParaRPr/>
          </a:p>
        </p:txBody>
      </p:sp>
      <p:sp>
        <p:nvSpPr>
          <p:cNvPr id="24" name="object 24">
            <a:extLst>
              <a:ext uri="{FF2B5EF4-FFF2-40B4-BE49-F238E27FC236}">
                <a16:creationId xmlns:a16="http://schemas.microsoft.com/office/drawing/2014/main" id="{15C7DFF2-CFB9-AC5C-6FD6-0D9C0B577004}"/>
              </a:ext>
            </a:extLst>
          </p:cNvPr>
          <p:cNvSpPr/>
          <p:nvPr/>
        </p:nvSpPr>
        <p:spPr>
          <a:xfrm>
            <a:off x="1273315" y="1199447"/>
            <a:ext cx="175260" cy="46990"/>
          </a:xfrm>
          <a:custGeom>
            <a:avLst/>
            <a:gdLst/>
            <a:ahLst/>
            <a:cxnLst/>
            <a:rect l="l" t="t" r="r" b="b"/>
            <a:pathLst>
              <a:path w="175259" h="46990">
                <a:moveTo>
                  <a:pt x="0" y="0"/>
                </a:moveTo>
                <a:lnTo>
                  <a:pt x="151550" y="0"/>
                </a:lnTo>
                <a:lnTo>
                  <a:pt x="160616" y="1842"/>
                </a:lnTo>
                <a:lnTo>
                  <a:pt x="167942" y="6868"/>
                </a:lnTo>
                <a:lnTo>
                  <a:pt x="172949" y="14326"/>
                </a:lnTo>
                <a:lnTo>
                  <a:pt x="175056" y="23461"/>
                </a:lnTo>
                <a:lnTo>
                  <a:pt x="173210" y="32511"/>
                </a:lnTo>
                <a:lnTo>
                  <a:pt x="168174" y="39823"/>
                </a:lnTo>
                <a:lnTo>
                  <a:pt x="160703" y="44820"/>
                </a:lnTo>
                <a:lnTo>
                  <a:pt x="151550" y="46923"/>
                </a:lnTo>
                <a:lnTo>
                  <a:pt x="108250" y="46923"/>
                </a:lnTo>
              </a:path>
            </a:pathLst>
          </a:custGeom>
          <a:ln w="8233">
            <a:solidFill>
              <a:srgbClr val="051F79"/>
            </a:solidFill>
          </a:ln>
        </p:spPr>
        <p:txBody>
          <a:bodyPr wrap="square" lIns="0" tIns="0" rIns="0" bIns="0" rtlCol="0"/>
          <a:lstStyle/>
          <a:p>
            <a:endParaRPr/>
          </a:p>
        </p:txBody>
      </p:sp>
      <p:sp>
        <p:nvSpPr>
          <p:cNvPr id="25" name="object 25">
            <a:extLst>
              <a:ext uri="{FF2B5EF4-FFF2-40B4-BE49-F238E27FC236}">
                <a16:creationId xmlns:a16="http://schemas.microsoft.com/office/drawing/2014/main" id="{A684FBB4-E8A4-DDC0-1C7B-1914A71AE2D0}"/>
              </a:ext>
            </a:extLst>
          </p:cNvPr>
          <p:cNvSpPr/>
          <p:nvPr/>
        </p:nvSpPr>
        <p:spPr>
          <a:xfrm>
            <a:off x="1273315" y="1181927"/>
            <a:ext cx="292100" cy="116839"/>
          </a:xfrm>
          <a:custGeom>
            <a:avLst/>
            <a:gdLst/>
            <a:ahLst/>
            <a:cxnLst/>
            <a:rect l="l" t="t" r="r" b="b"/>
            <a:pathLst>
              <a:path w="292100" h="116839">
                <a:moveTo>
                  <a:pt x="170726" y="54564"/>
                </a:moveTo>
                <a:lnTo>
                  <a:pt x="209077" y="54564"/>
                </a:lnTo>
                <a:lnTo>
                  <a:pt x="251140" y="7640"/>
                </a:lnTo>
                <a:lnTo>
                  <a:pt x="258524" y="2228"/>
                </a:lnTo>
                <a:lnTo>
                  <a:pt x="267069" y="0"/>
                </a:lnTo>
                <a:lnTo>
                  <a:pt x="275845" y="1128"/>
                </a:lnTo>
                <a:lnTo>
                  <a:pt x="283925" y="5788"/>
                </a:lnTo>
                <a:lnTo>
                  <a:pt x="289608" y="13158"/>
                </a:lnTo>
                <a:lnTo>
                  <a:pt x="291811" y="21686"/>
                </a:lnTo>
                <a:lnTo>
                  <a:pt x="290536" y="30446"/>
                </a:lnTo>
                <a:lnTo>
                  <a:pt x="285780" y="38511"/>
                </a:lnTo>
                <a:lnTo>
                  <a:pt x="222067" y="110130"/>
                </a:lnTo>
                <a:lnTo>
                  <a:pt x="218974" y="113834"/>
                </a:lnTo>
                <a:lnTo>
                  <a:pt x="214026" y="116304"/>
                </a:lnTo>
                <a:lnTo>
                  <a:pt x="209077" y="116304"/>
                </a:lnTo>
                <a:lnTo>
                  <a:pt x="48248" y="116304"/>
                </a:lnTo>
                <a:lnTo>
                  <a:pt x="45155" y="116304"/>
                </a:lnTo>
                <a:lnTo>
                  <a:pt x="42681" y="115687"/>
                </a:lnTo>
                <a:lnTo>
                  <a:pt x="40207" y="114452"/>
                </a:lnTo>
                <a:lnTo>
                  <a:pt x="0" y="92842"/>
                </a:lnTo>
              </a:path>
            </a:pathLst>
          </a:custGeom>
          <a:ln w="8234">
            <a:solidFill>
              <a:srgbClr val="051F79"/>
            </a:solidFill>
          </a:ln>
        </p:spPr>
        <p:txBody>
          <a:bodyPr wrap="square" lIns="0" tIns="0" rIns="0" bIns="0" rtlCol="0"/>
          <a:lstStyle/>
          <a:p>
            <a:endParaRPr/>
          </a:p>
        </p:txBody>
      </p:sp>
      <p:sp>
        <p:nvSpPr>
          <p:cNvPr id="26" name="object 26">
            <a:extLst>
              <a:ext uri="{FF2B5EF4-FFF2-40B4-BE49-F238E27FC236}">
                <a16:creationId xmlns:a16="http://schemas.microsoft.com/office/drawing/2014/main" id="{3E3476E0-2915-87B4-7B9C-528D8F284016}"/>
              </a:ext>
            </a:extLst>
          </p:cNvPr>
          <p:cNvSpPr/>
          <p:nvPr/>
        </p:nvSpPr>
        <p:spPr>
          <a:xfrm>
            <a:off x="1288989" y="914400"/>
            <a:ext cx="248246" cy="249034"/>
          </a:xfrm>
          <a:prstGeom prst="rect">
            <a:avLst/>
          </a:prstGeom>
          <a:blipFill>
            <a:blip r:embed="rId4" cstate="print"/>
            <a:stretch>
              <a:fillRect/>
            </a:stretch>
          </a:blipFill>
        </p:spPr>
        <p:txBody>
          <a:bodyPr wrap="square" lIns="0" tIns="0" rIns="0" bIns="0" rtlCol="0"/>
          <a:lstStyle/>
          <a:p>
            <a:endParaRPr/>
          </a:p>
        </p:txBody>
      </p:sp>
      <p:sp>
        <p:nvSpPr>
          <p:cNvPr id="27" name="object 27">
            <a:extLst>
              <a:ext uri="{FF2B5EF4-FFF2-40B4-BE49-F238E27FC236}">
                <a16:creationId xmlns:a16="http://schemas.microsoft.com/office/drawing/2014/main" id="{07E4282F-081E-EA26-63B1-645362CC0836}"/>
              </a:ext>
            </a:extLst>
          </p:cNvPr>
          <p:cNvSpPr/>
          <p:nvPr/>
        </p:nvSpPr>
        <p:spPr>
          <a:xfrm>
            <a:off x="3703859" y="1001926"/>
            <a:ext cx="275463" cy="271876"/>
          </a:xfrm>
          <a:prstGeom prst="rect">
            <a:avLst/>
          </a:prstGeom>
          <a:blipFill>
            <a:blip r:embed="rId5" cstate="print"/>
            <a:stretch>
              <a:fillRect/>
            </a:stretch>
          </a:blipFill>
        </p:spPr>
        <p:txBody>
          <a:bodyPr wrap="square" lIns="0" tIns="0" rIns="0" bIns="0" rtlCol="0"/>
          <a:lstStyle/>
          <a:p>
            <a:endParaRPr/>
          </a:p>
        </p:txBody>
      </p:sp>
      <p:sp>
        <p:nvSpPr>
          <p:cNvPr id="28" name="object 28">
            <a:extLst>
              <a:ext uri="{FF2B5EF4-FFF2-40B4-BE49-F238E27FC236}">
                <a16:creationId xmlns:a16="http://schemas.microsoft.com/office/drawing/2014/main" id="{B1D86CF5-E124-2624-9EFB-30EF1906F90C}"/>
              </a:ext>
            </a:extLst>
          </p:cNvPr>
          <p:cNvSpPr/>
          <p:nvPr/>
        </p:nvSpPr>
        <p:spPr>
          <a:xfrm>
            <a:off x="3738289" y="929486"/>
            <a:ext cx="302895" cy="382905"/>
          </a:xfrm>
          <a:custGeom>
            <a:avLst/>
            <a:gdLst/>
            <a:ahLst/>
            <a:cxnLst/>
            <a:rect l="l" t="t" r="r" b="b"/>
            <a:pathLst>
              <a:path w="302895" h="382905">
                <a:moveTo>
                  <a:pt x="0" y="287718"/>
                </a:moveTo>
                <a:lnTo>
                  <a:pt x="0" y="382798"/>
                </a:lnTo>
                <a:lnTo>
                  <a:pt x="302482" y="382798"/>
                </a:lnTo>
                <a:lnTo>
                  <a:pt x="302482" y="72238"/>
                </a:lnTo>
                <a:lnTo>
                  <a:pt x="231964" y="0"/>
                </a:lnTo>
                <a:lnTo>
                  <a:pt x="0" y="0"/>
                </a:lnTo>
                <a:lnTo>
                  <a:pt x="0" y="59889"/>
                </a:lnTo>
              </a:path>
            </a:pathLst>
          </a:custGeom>
          <a:ln w="8241">
            <a:solidFill>
              <a:srgbClr val="051F79"/>
            </a:solidFill>
          </a:ln>
        </p:spPr>
        <p:txBody>
          <a:bodyPr wrap="square" lIns="0" tIns="0" rIns="0" bIns="0" rtlCol="0"/>
          <a:lstStyle/>
          <a:p>
            <a:endParaRPr/>
          </a:p>
        </p:txBody>
      </p:sp>
      <p:sp>
        <p:nvSpPr>
          <p:cNvPr id="29" name="object 29">
            <a:extLst>
              <a:ext uri="{FF2B5EF4-FFF2-40B4-BE49-F238E27FC236}">
                <a16:creationId xmlns:a16="http://schemas.microsoft.com/office/drawing/2014/main" id="{3BB1DA22-BC17-8C98-0D95-E090DACC4DBD}"/>
              </a:ext>
            </a:extLst>
          </p:cNvPr>
          <p:cNvSpPr/>
          <p:nvPr/>
        </p:nvSpPr>
        <p:spPr>
          <a:xfrm>
            <a:off x="3970254" y="929486"/>
            <a:ext cx="71120" cy="72390"/>
          </a:xfrm>
          <a:custGeom>
            <a:avLst/>
            <a:gdLst/>
            <a:ahLst/>
            <a:cxnLst/>
            <a:rect l="l" t="t" r="r" b="b"/>
            <a:pathLst>
              <a:path w="71120" h="72390">
                <a:moveTo>
                  <a:pt x="70517" y="72238"/>
                </a:moveTo>
                <a:lnTo>
                  <a:pt x="0" y="72238"/>
                </a:lnTo>
                <a:lnTo>
                  <a:pt x="0" y="0"/>
                </a:lnTo>
              </a:path>
            </a:pathLst>
          </a:custGeom>
          <a:ln w="8240">
            <a:solidFill>
              <a:srgbClr val="051F79"/>
            </a:solidFill>
          </a:ln>
        </p:spPr>
        <p:txBody>
          <a:bodyPr wrap="square" lIns="0" tIns="0" rIns="0" bIns="0" rtlCol="0"/>
          <a:lstStyle/>
          <a:p>
            <a:endParaRPr/>
          </a:p>
        </p:txBody>
      </p:sp>
      <p:sp>
        <p:nvSpPr>
          <p:cNvPr id="37" name="object 5">
            <a:extLst>
              <a:ext uri="{FF2B5EF4-FFF2-40B4-BE49-F238E27FC236}">
                <a16:creationId xmlns:a16="http://schemas.microsoft.com/office/drawing/2014/main" id="{492FAA5C-CB82-275C-B571-82E4DC704EF8}"/>
              </a:ext>
            </a:extLst>
          </p:cNvPr>
          <p:cNvSpPr/>
          <p:nvPr/>
        </p:nvSpPr>
        <p:spPr>
          <a:xfrm flipV="1">
            <a:off x="228606" y="1295400"/>
            <a:ext cx="11408786" cy="45719"/>
          </a:xfrm>
          <a:custGeom>
            <a:avLst/>
            <a:gdLst/>
            <a:ahLst/>
            <a:cxnLst/>
            <a:rect l="l" t="t" r="r" b="b"/>
            <a:pathLst>
              <a:path w="11082655">
                <a:moveTo>
                  <a:pt x="0" y="0"/>
                </a:moveTo>
                <a:lnTo>
                  <a:pt x="11082528" y="0"/>
                </a:lnTo>
              </a:path>
            </a:pathLst>
          </a:custGeom>
          <a:ln w="12700">
            <a:solidFill>
              <a:srgbClr val="757575"/>
            </a:solidFill>
          </a:ln>
        </p:spPr>
        <p:txBody>
          <a:bodyPr wrap="square" lIns="0" tIns="0" rIns="0" bIns="0" rtlCol="0"/>
          <a:lstStyle/>
          <a:p>
            <a:endParaRPr/>
          </a:p>
        </p:txBody>
      </p:sp>
      <p:sp>
        <p:nvSpPr>
          <p:cNvPr id="38" name="object 6">
            <a:extLst>
              <a:ext uri="{FF2B5EF4-FFF2-40B4-BE49-F238E27FC236}">
                <a16:creationId xmlns:a16="http://schemas.microsoft.com/office/drawing/2014/main" id="{D036E4C6-6456-8B55-0380-5B858BA3E0F1}"/>
              </a:ext>
            </a:extLst>
          </p:cNvPr>
          <p:cNvSpPr/>
          <p:nvPr/>
        </p:nvSpPr>
        <p:spPr>
          <a:xfrm>
            <a:off x="554736" y="2314331"/>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39" name="object 13">
            <a:extLst>
              <a:ext uri="{FF2B5EF4-FFF2-40B4-BE49-F238E27FC236}">
                <a16:creationId xmlns:a16="http://schemas.microsoft.com/office/drawing/2014/main" id="{19F07F22-D17A-44EE-5C88-3135C48A1225}"/>
              </a:ext>
            </a:extLst>
          </p:cNvPr>
          <p:cNvSpPr/>
          <p:nvPr/>
        </p:nvSpPr>
        <p:spPr>
          <a:xfrm>
            <a:off x="2646959" y="1411894"/>
            <a:ext cx="0" cy="853786"/>
          </a:xfrm>
          <a:custGeom>
            <a:avLst/>
            <a:gdLst/>
            <a:ahLst/>
            <a:cxnLst/>
            <a:rect l="l" t="t" r="r" b="b"/>
            <a:pathLst>
              <a:path h="939164">
                <a:moveTo>
                  <a:pt x="0" y="0"/>
                </a:moveTo>
                <a:lnTo>
                  <a:pt x="0" y="938656"/>
                </a:lnTo>
              </a:path>
            </a:pathLst>
          </a:custGeom>
          <a:ln w="12700">
            <a:solidFill>
              <a:srgbClr val="000000"/>
            </a:solidFill>
          </a:ln>
        </p:spPr>
        <p:txBody>
          <a:bodyPr wrap="square" lIns="0" tIns="0" rIns="0" bIns="0" rtlCol="0"/>
          <a:lstStyle/>
          <a:p>
            <a:endParaRPr/>
          </a:p>
        </p:txBody>
      </p:sp>
      <p:sp>
        <p:nvSpPr>
          <p:cNvPr id="40" name="object 14">
            <a:extLst>
              <a:ext uri="{FF2B5EF4-FFF2-40B4-BE49-F238E27FC236}">
                <a16:creationId xmlns:a16="http://schemas.microsoft.com/office/drawing/2014/main" id="{F2C90C6E-7275-EB73-6742-DE3038E016F8}"/>
              </a:ext>
            </a:extLst>
          </p:cNvPr>
          <p:cNvSpPr txBox="1"/>
          <p:nvPr/>
        </p:nvSpPr>
        <p:spPr>
          <a:xfrm>
            <a:off x="559714" y="1524000"/>
            <a:ext cx="2315845" cy="763671"/>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Arial"/>
                <a:cs typeface="Arial"/>
              </a:rPr>
              <a:t>Create </a:t>
            </a:r>
            <a:r>
              <a:rPr sz="1600" b="1" spc="-5" dirty="0">
                <a:latin typeface="Arial"/>
                <a:cs typeface="Arial"/>
              </a:rPr>
              <a:t>a dedicated </a:t>
            </a:r>
            <a:endParaRPr lang="en-US" sz="1600" b="1" spc="-5" dirty="0">
              <a:latin typeface="Arial"/>
              <a:cs typeface="Arial"/>
            </a:endParaRPr>
          </a:p>
          <a:p>
            <a:pPr marL="12700">
              <a:lnSpc>
                <a:spcPct val="100000"/>
              </a:lnSpc>
              <a:spcBef>
                <a:spcPts val="95"/>
              </a:spcBef>
            </a:pPr>
            <a:r>
              <a:rPr lang="en-US" sz="1600" b="1" spc="-10" dirty="0">
                <a:latin typeface="Arial"/>
                <a:cs typeface="Arial"/>
              </a:rPr>
              <a:t>A</a:t>
            </a:r>
            <a:r>
              <a:rPr sz="1600" b="1" spc="-10" dirty="0">
                <a:latin typeface="Arial"/>
                <a:cs typeface="Arial"/>
              </a:rPr>
              <a:t>uto</a:t>
            </a:r>
            <a:r>
              <a:rPr lang="en-US" sz="1600" b="1" spc="-10" dirty="0">
                <a:latin typeface="Arial"/>
                <a:cs typeface="Arial"/>
              </a:rPr>
              <a:t> </a:t>
            </a:r>
            <a:r>
              <a:rPr sz="1600" b="1" spc="-5" dirty="0">
                <a:latin typeface="Arial"/>
                <a:cs typeface="Arial"/>
              </a:rPr>
              <a:t>finance </a:t>
            </a:r>
            <a:r>
              <a:rPr sz="1600" b="1" spc="-15" dirty="0">
                <a:latin typeface="Arial"/>
                <a:cs typeface="Arial"/>
              </a:rPr>
              <a:t>value</a:t>
            </a:r>
            <a:r>
              <a:rPr sz="1600" b="1" spc="45" dirty="0">
                <a:latin typeface="Arial"/>
                <a:cs typeface="Arial"/>
              </a:rPr>
              <a:t> </a:t>
            </a:r>
            <a:r>
              <a:rPr sz="1600" b="1" spc="-10" dirty="0">
                <a:latin typeface="Arial"/>
                <a:cs typeface="Arial"/>
              </a:rPr>
              <a:t>stream</a:t>
            </a:r>
            <a:endParaRPr sz="1600" dirty="0">
              <a:latin typeface="Arial"/>
              <a:cs typeface="Arial"/>
            </a:endParaRPr>
          </a:p>
        </p:txBody>
      </p:sp>
      <p:sp>
        <p:nvSpPr>
          <p:cNvPr id="41" name="object 15">
            <a:extLst>
              <a:ext uri="{FF2B5EF4-FFF2-40B4-BE49-F238E27FC236}">
                <a16:creationId xmlns:a16="http://schemas.microsoft.com/office/drawing/2014/main" id="{A2704FEF-94DF-F93C-E3E0-B9FE747A758E}"/>
              </a:ext>
            </a:extLst>
          </p:cNvPr>
          <p:cNvSpPr txBox="1"/>
          <p:nvPr/>
        </p:nvSpPr>
        <p:spPr>
          <a:xfrm>
            <a:off x="2731077" y="1371600"/>
            <a:ext cx="8543415" cy="894080"/>
          </a:xfrm>
          <a:prstGeom prst="rect">
            <a:avLst/>
          </a:prstGeom>
        </p:spPr>
        <p:txBody>
          <a:bodyPr vert="horz" wrap="square" lIns="0" tIns="88265" rIns="0" bIns="0" rtlCol="0">
            <a:spAutoFit/>
          </a:bodyPr>
          <a:lstStyle/>
          <a:p>
            <a:pPr marL="238125" indent="-226060">
              <a:lnSpc>
                <a:spcPct val="100000"/>
              </a:lnSpc>
              <a:spcBef>
                <a:spcPts val="695"/>
              </a:spcBef>
              <a:buFont typeface="Wingdings"/>
              <a:buChar char=""/>
              <a:tabLst>
                <a:tab pos="238125" algn="l"/>
                <a:tab pos="238760" algn="l"/>
              </a:tabLst>
            </a:pPr>
            <a:r>
              <a:rPr sz="1400" spc="-5" dirty="0">
                <a:latin typeface="Arial"/>
                <a:cs typeface="Arial"/>
              </a:rPr>
              <a:t>Clear </a:t>
            </a:r>
            <a:r>
              <a:rPr sz="1400" b="1" spc="-5" dirty="0">
                <a:latin typeface="Arial"/>
                <a:cs typeface="Arial"/>
              </a:rPr>
              <a:t>ownership </a:t>
            </a:r>
            <a:r>
              <a:rPr sz="1400" b="1" dirty="0">
                <a:latin typeface="Arial"/>
                <a:cs typeface="Arial"/>
              </a:rPr>
              <a:t>with </a:t>
            </a:r>
            <a:r>
              <a:rPr sz="1400" spc="-5" dirty="0">
                <a:latin typeface="Arial"/>
                <a:cs typeface="Arial"/>
              </a:rPr>
              <a:t>full </a:t>
            </a:r>
            <a:r>
              <a:rPr sz="1400" b="1" spc="-5" dirty="0">
                <a:latin typeface="Arial"/>
                <a:cs typeface="Arial"/>
              </a:rPr>
              <a:t>P&amp;L</a:t>
            </a:r>
            <a:r>
              <a:rPr sz="1400" b="1" spc="-140" dirty="0">
                <a:latin typeface="Arial"/>
                <a:cs typeface="Arial"/>
              </a:rPr>
              <a:t> </a:t>
            </a:r>
            <a:r>
              <a:rPr sz="1400" b="1" spc="-5" dirty="0">
                <a:latin typeface="Arial"/>
                <a:cs typeface="Arial"/>
              </a:rPr>
              <a:t>accountability</a:t>
            </a:r>
            <a:endParaRPr sz="1400" dirty="0">
              <a:latin typeface="Arial"/>
              <a:cs typeface="Arial"/>
            </a:endParaRPr>
          </a:p>
          <a:p>
            <a:pPr marL="238125" indent="-226060">
              <a:lnSpc>
                <a:spcPct val="100000"/>
              </a:lnSpc>
              <a:spcBef>
                <a:spcPts val="600"/>
              </a:spcBef>
              <a:buFont typeface="Wingdings"/>
              <a:buChar char=""/>
              <a:tabLst>
                <a:tab pos="238125" algn="l"/>
                <a:tab pos="238760" algn="l"/>
              </a:tabLst>
            </a:pPr>
            <a:r>
              <a:rPr sz="1400" spc="-5" dirty="0">
                <a:latin typeface="Arial"/>
                <a:cs typeface="Arial"/>
              </a:rPr>
              <a:t>End-to-end </a:t>
            </a:r>
            <a:r>
              <a:rPr sz="1400" b="1" spc="-5" dirty="0">
                <a:latin typeface="Arial"/>
                <a:cs typeface="Arial"/>
              </a:rPr>
              <a:t>coordination for speed, flexibility</a:t>
            </a:r>
            <a:r>
              <a:rPr sz="1400" spc="-5" dirty="0">
                <a:latin typeface="Arial"/>
                <a:cs typeface="Arial"/>
              </a:rPr>
              <a:t>, </a:t>
            </a:r>
            <a:r>
              <a:rPr sz="1400" dirty="0">
                <a:latin typeface="Arial"/>
                <a:cs typeface="Arial"/>
              </a:rPr>
              <a:t>and </a:t>
            </a:r>
            <a:r>
              <a:rPr sz="1400" b="1" dirty="0">
                <a:latin typeface="Arial"/>
                <a:cs typeface="Arial"/>
              </a:rPr>
              <a:t>market</a:t>
            </a:r>
            <a:r>
              <a:rPr sz="1400" b="1" spc="-175" dirty="0">
                <a:latin typeface="Arial"/>
                <a:cs typeface="Arial"/>
              </a:rPr>
              <a:t> </a:t>
            </a:r>
            <a:r>
              <a:rPr sz="1400" b="1" spc="-5" dirty="0">
                <a:latin typeface="Arial"/>
                <a:cs typeface="Arial"/>
              </a:rPr>
              <a:t>responsiveness</a:t>
            </a:r>
            <a:endParaRPr sz="1400" dirty="0">
              <a:latin typeface="Arial"/>
              <a:cs typeface="Arial"/>
            </a:endParaRPr>
          </a:p>
          <a:p>
            <a:pPr marL="238125" indent="-226060">
              <a:lnSpc>
                <a:spcPct val="100000"/>
              </a:lnSpc>
              <a:spcBef>
                <a:spcPts val="600"/>
              </a:spcBef>
              <a:buFont typeface="Wingdings"/>
              <a:buChar char=""/>
              <a:tabLst>
                <a:tab pos="238125" algn="l"/>
                <a:tab pos="238760" algn="l"/>
              </a:tabLst>
            </a:pPr>
            <a:r>
              <a:rPr sz="1400" spc="-5" dirty="0">
                <a:latin typeface="Arial"/>
                <a:cs typeface="Arial"/>
              </a:rPr>
              <a:t>Potential </a:t>
            </a:r>
            <a:r>
              <a:rPr sz="1400" dirty="0">
                <a:latin typeface="Arial"/>
                <a:cs typeface="Arial"/>
              </a:rPr>
              <a:t>to </a:t>
            </a:r>
            <a:r>
              <a:rPr sz="1400" b="1" spc="-5" dirty="0">
                <a:latin typeface="Arial"/>
                <a:cs typeface="Arial"/>
              </a:rPr>
              <a:t>scale leasing model</a:t>
            </a:r>
            <a:r>
              <a:rPr sz="1400" b="1" spc="-125" dirty="0">
                <a:latin typeface="Arial"/>
                <a:cs typeface="Arial"/>
              </a:rPr>
              <a:t> </a:t>
            </a:r>
            <a:r>
              <a:rPr sz="1400" b="1" spc="-5" dirty="0">
                <a:latin typeface="Arial"/>
                <a:cs typeface="Arial"/>
              </a:rPr>
              <a:t>internationally</a:t>
            </a:r>
            <a:endParaRPr sz="1400" dirty="0">
              <a:latin typeface="Arial"/>
              <a:cs typeface="Arial"/>
            </a:endParaRPr>
          </a:p>
        </p:txBody>
      </p:sp>
      <p:sp>
        <p:nvSpPr>
          <p:cNvPr id="42" name="object 11">
            <a:extLst>
              <a:ext uri="{FF2B5EF4-FFF2-40B4-BE49-F238E27FC236}">
                <a16:creationId xmlns:a16="http://schemas.microsoft.com/office/drawing/2014/main" id="{10D291C7-490A-00EB-B14D-6EB7A07C9541}"/>
              </a:ext>
            </a:extLst>
          </p:cNvPr>
          <p:cNvSpPr/>
          <p:nvPr/>
        </p:nvSpPr>
        <p:spPr>
          <a:xfrm>
            <a:off x="350470" y="1378032"/>
            <a:ext cx="232346" cy="233298"/>
          </a:xfrm>
          <a:prstGeom prst="rect">
            <a:avLst/>
          </a:prstGeom>
          <a:blipFill>
            <a:blip r:embed="rId6" cstate="print"/>
            <a:stretch>
              <a:fillRect/>
            </a:stretch>
          </a:blipFill>
        </p:spPr>
        <p:txBody>
          <a:bodyPr wrap="square" lIns="0" tIns="0" rIns="0" bIns="0" rtlCol="0"/>
          <a:lstStyle/>
          <a:p>
            <a:endParaRPr/>
          </a:p>
        </p:txBody>
      </p:sp>
      <p:sp>
        <p:nvSpPr>
          <p:cNvPr id="43" name="object 12">
            <a:extLst>
              <a:ext uri="{FF2B5EF4-FFF2-40B4-BE49-F238E27FC236}">
                <a16:creationId xmlns:a16="http://schemas.microsoft.com/office/drawing/2014/main" id="{FA4D0963-5197-A940-3628-713ABCE44964}"/>
              </a:ext>
            </a:extLst>
          </p:cNvPr>
          <p:cNvSpPr txBox="1"/>
          <p:nvPr/>
        </p:nvSpPr>
        <p:spPr>
          <a:xfrm>
            <a:off x="436819" y="1360805"/>
            <a:ext cx="75565" cy="239395"/>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051F79"/>
                </a:solidFill>
                <a:latin typeface="Arial"/>
                <a:cs typeface="Arial"/>
              </a:rPr>
              <a:t>i</a:t>
            </a:r>
            <a:endParaRPr sz="1400" dirty="0">
              <a:latin typeface="Arial"/>
              <a:cs typeface="Arial"/>
            </a:endParaRPr>
          </a:p>
        </p:txBody>
      </p:sp>
      <p:sp>
        <p:nvSpPr>
          <p:cNvPr id="44" name="object 9">
            <a:extLst>
              <a:ext uri="{FF2B5EF4-FFF2-40B4-BE49-F238E27FC236}">
                <a16:creationId xmlns:a16="http://schemas.microsoft.com/office/drawing/2014/main" id="{5C18B7A6-C13D-7936-7D13-41D80E4C0F75}"/>
              </a:ext>
            </a:extLst>
          </p:cNvPr>
          <p:cNvSpPr txBox="1"/>
          <p:nvPr/>
        </p:nvSpPr>
        <p:spPr>
          <a:xfrm>
            <a:off x="559714" y="2611120"/>
            <a:ext cx="1896745" cy="513080"/>
          </a:xfrm>
          <a:prstGeom prst="rect">
            <a:avLst/>
          </a:prstGeom>
        </p:spPr>
        <p:txBody>
          <a:bodyPr vert="horz" wrap="square" lIns="0" tIns="12065" rIns="0" bIns="0" rtlCol="0">
            <a:spAutoFit/>
          </a:bodyPr>
          <a:lstStyle/>
          <a:p>
            <a:pPr marL="12700" marR="5080">
              <a:lnSpc>
                <a:spcPct val="100000"/>
              </a:lnSpc>
              <a:spcBef>
                <a:spcPts val="95"/>
              </a:spcBef>
            </a:pPr>
            <a:r>
              <a:rPr sz="1600" b="1" spc="-10" dirty="0">
                <a:latin typeface="Arial"/>
                <a:cs typeface="Arial"/>
              </a:rPr>
              <a:t>Build repossession  capabilities</a:t>
            </a:r>
            <a:endParaRPr sz="1600" dirty="0">
              <a:latin typeface="Arial"/>
              <a:cs typeface="Arial"/>
            </a:endParaRPr>
          </a:p>
        </p:txBody>
      </p:sp>
      <p:sp>
        <p:nvSpPr>
          <p:cNvPr id="45" name="object 10">
            <a:extLst>
              <a:ext uri="{FF2B5EF4-FFF2-40B4-BE49-F238E27FC236}">
                <a16:creationId xmlns:a16="http://schemas.microsoft.com/office/drawing/2014/main" id="{882C60F7-8C77-B678-4F26-8EE8B67550A5}"/>
              </a:ext>
            </a:extLst>
          </p:cNvPr>
          <p:cNvSpPr txBox="1"/>
          <p:nvPr/>
        </p:nvSpPr>
        <p:spPr>
          <a:xfrm>
            <a:off x="2734187" y="2387460"/>
            <a:ext cx="8543413" cy="736740"/>
          </a:xfrm>
          <a:prstGeom prst="rect">
            <a:avLst/>
          </a:prstGeom>
        </p:spPr>
        <p:txBody>
          <a:bodyPr vert="horz" wrap="square" lIns="0" tIns="13335" rIns="0" bIns="0" rtlCol="0">
            <a:spAutoFit/>
          </a:bodyPr>
          <a:lstStyle/>
          <a:p>
            <a:pPr marL="238125" marR="5080" indent="-226060">
              <a:lnSpc>
                <a:spcPct val="100000"/>
              </a:lnSpc>
              <a:spcBef>
                <a:spcPts val="105"/>
              </a:spcBef>
              <a:buFont typeface="Wingdings"/>
              <a:buChar char=""/>
              <a:tabLst>
                <a:tab pos="238125" algn="l"/>
                <a:tab pos="238760" algn="l"/>
              </a:tabLst>
            </a:pPr>
            <a:r>
              <a:rPr sz="1400" spc="-5" dirty="0">
                <a:latin typeface="Arial"/>
                <a:cs typeface="Arial"/>
              </a:rPr>
              <a:t>Enable </a:t>
            </a:r>
            <a:r>
              <a:rPr sz="1400" b="1" spc="-5" dirty="0">
                <a:latin typeface="Arial"/>
                <a:cs typeface="Arial"/>
              </a:rPr>
              <a:t>collateralized retail </a:t>
            </a:r>
            <a:r>
              <a:rPr sz="1400" spc="-5" dirty="0">
                <a:latin typeface="Arial"/>
                <a:cs typeface="Arial"/>
              </a:rPr>
              <a:t>and </a:t>
            </a:r>
            <a:r>
              <a:rPr sz="1400" b="1" spc="-5" dirty="0">
                <a:latin typeface="Arial"/>
                <a:cs typeface="Arial"/>
              </a:rPr>
              <a:t>B2B lending </a:t>
            </a:r>
            <a:r>
              <a:rPr sz="1400" dirty="0">
                <a:latin typeface="Arial"/>
                <a:cs typeface="Arial"/>
              </a:rPr>
              <a:t>to </a:t>
            </a:r>
            <a:r>
              <a:rPr sz="1400" b="1" spc="-5" dirty="0">
                <a:latin typeface="Arial"/>
                <a:cs typeface="Arial"/>
              </a:rPr>
              <a:t>drive volume </a:t>
            </a:r>
            <a:r>
              <a:rPr sz="1400" dirty="0">
                <a:latin typeface="Arial"/>
                <a:cs typeface="Arial"/>
              </a:rPr>
              <a:t>(e.g., increase SoW </a:t>
            </a:r>
            <a:r>
              <a:rPr sz="1400" spc="-5" dirty="0">
                <a:latin typeface="Arial"/>
                <a:cs typeface="Arial"/>
              </a:rPr>
              <a:t>on </a:t>
            </a:r>
            <a:r>
              <a:rPr sz="1400" dirty="0">
                <a:latin typeface="Arial"/>
                <a:cs typeface="Arial"/>
              </a:rPr>
              <a:t>car </a:t>
            </a:r>
            <a:r>
              <a:rPr sz="1400" spc="-5" dirty="0">
                <a:latin typeface="Arial"/>
                <a:cs typeface="Arial"/>
              </a:rPr>
              <a:t>age </a:t>
            </a:r>
            <a:r>
              <a:rPr sz="1400" dirty="0">
                <a:latin typeface="Arial"/>
                <a:cs typeface="Arial"/>
              </a:rPr>
              <a:t>&gt;9  </a:t>
            </a:r>
            <a:r>
              <a:rPr sz="1400" spc="-5" dirty="0">
                <a:latin typeface="Arial"/>
                <a:cs typeface="Arial"/>
              </a:rPr>
              <a:t>years), </a:t>
            </a:r>
            <a:r>
              <a:rPr sz="1400" spc="-10" dirty="0">
                <a:latin typeface="Arial"/>
                <a:cs typeface="Arial"/>
              </a:rPr>
              <a:t>while </a:t>
            </a:r>
            <a:r>
              <a:rPr sz="1400" spc="-5" dirty="0">
                <a:latin typeface="Arial"/>
                <a:cs typeface="Arial"/>
              </a:rPr>
              <a:t>balancing higher default </a:t>
            </a:r>
            <a:r>
              <a:rPr sz="1400" dirty="0">
                <a:latin typeface="Arial"/>
                <a:cs typeface="Arial"/>
              </a:rPr>
              <a:t>rates </a:t>
            </a:r>
            <a:r>
              <a:rPr sz="1400" spc="-5" dirty="0">
                <a:latin typeface="Arial"/>
                <a:cs typeface="Arial"/>
              </a:rPr>
              <a:t>with </a:t>
            </a:r>
            <a:r>
              <a:rPr sz="1400" dirty="0">
                <a:latin typeface="Arial"/>
                <a:cs typeface="Arial"/>
              </a:rPr>
              <a:t>stronger </a:t>
            </a:r>
            <a:r>
              <a:rPr sz="1400" spc="-5" dirty="0">
                <a:latin typeface="Arial"/>
                <a:cs typeface="Arial"/>
              </a:rPr>
              <a:t>recovery</a:t>
            </a:r>
            <a:r>
              <a:rPr sz="1400" spc="-195" dirty="0">
                <a:latin typeface="Arial"/>
                <a:cs typeface="Arial"/>
              </a:rPr>
              <a:t> </a:t>
            </a:r>
            <a:r>
              <a:rPr sz="1400" spc="-10" dirty="0">
                <a:latin typeface="Arial"/>
                <a:cs typeface="Arial"/>
              </a:rPr>
              <a:t>values</a:t>
            </a:r>
            <a:endParaRPr sz="1400" dirty="0">
              <a:latin typeface="Arial"/>
              <a:cs typeface="Arial"/>
            </a:endParaRPr>
          </a:p>
          <a:p>
            <a:pPr marL="238125" marR="10795" indent="-226060">
              <a:lnSpc>
                <a:spcPct val="100000"/>
              </a:lnSpc>
              <a:spcBef>
                <a:spcPts val="600"/>
              </a:spcBef>
              <a:buFont typeface="Wingdings"/>
              <a:buChar char=""/>
              <a:tabLst>
                <a:tab pos="238125" algn="l"/>
                <a:tab pos="238760" algn="l"/>
              </a:tabLst>
            </a:pPr>
            <a:r>
              <a:rPr sz="1400" spc="-5" dirty="0">
                <a:latin typeface="Arial"/>
                <a:cs typeface="Arial"/>
              </a:rPr>
              <a:t>Unlocks </a:t>
            </a:r>
            <a:r>
              <a:rPr sz="1400" b="1" spc="-5" dirty="0">
                <a:latin typeface="Arial"/>
                <a:cs typeface="Arial"/>
              </a:rPr>
              <a:t>balloon financing for used cars</a:t>
            </a:r>
            <a:r>
              <a:rPr sz="1400" dirty="0">
                <a:latin typeface="Arial"/>
                <a:cs typeface="Arial"/>
              </a:rPr>
              <a:t> </a:t>
            </a:r>
            <a:r>
              <a:rPr sz="1400" spc="-5" dirty="0">
                <a:latin typeface="Arial"/>
                <a:cs typeface="Arial"/>
              </a:rPr>
              <a:t>backed by dealer buy-back</a:t>
            </a:r>
            <a:r>
              <a:rPr sz="1400" spc="-35" dirty="0">
                <a:latin typeface="Arial"/>
                <a:cs typeface="Arial"/>
              </a:rPr>
              <a:t> </a:t>
            </a:r>
            <a:r>
              <a:rPr sz="1400" spc="-5" dirty="0">
                <a:latin typeface="Arial"/>
                <a:cs typeface="Arial"/>
              </a:rPr>
              <a:t>agreements</a:t>
            </a:r>
            <a:endParaRPr sz="1400" dirty="0">
              <a:latin typeface="Arial"/>
              <a:cs typeface="Arial"/>
            </a:endParaRPr>
          </a:p>
        </p:txBody>
      </p:sp>
      <p:sp>
        <p:nvSpPr>
          <p:cNvPr id="46" name="object 11">
            <a:extLst>
              <a:ext uri="{FF2B5EF4-FFF2-40B4-BE49-F238E27FC236}">
                <a16:creationId xmlns:a16="http://schemas.microsoft.com/office/drawing/2014/main" id="{F4333397-6BEF-57D2-25D1-9D55D783593A}"/>
              </a:ext>
            </a:extLst>
          </p:cNvPr>
          <p:cNvSpPr/>
          <p:nvPr/>
        </p:nvSpPr>
        <p:spPr>
          <a:xfrm>
            <a:off x="336105" y="2447043"/>
            <a:ext cx="232346" cy="233298"/>
          </a:xfrm>
          <a:prstGeom prst="rect">
            <a:avLst/>
          </a:prstGeom>
          <a:blipFill>
            <a:blip r:embed="rId6" cstate="print"/>
            <a:stretch>
              <a:fillRect/>
            </a:stretch>
          </a:blipFill>
        </p:spPr>
        <p:txBody>
          <a:bodyPr wrap="square" lIns="0" tIns="0" rIns="0" bIns="0" rtlCol="0"/>
          <a:lstStyle/>
          <a:p>
            <a:endParaRPr/>
          </a:p>
        </p:txBody>
      </p:sp>
      <p:sp>
        <p:nvSpPr>
          <p:cNvPr id="47" name="object 12">
            <a:extLst>
              <a:ext uri="{FF2B5EF4-FFF2-40B4-BE49-F238E27FC236}">
                <a16:creationId xmlns:a16="http://schemas.microsoft.com/office/drawing/2014/main" id="{85C83218-2716-E265-4C10-2CA47A987BA1}"/>
              </a:ext>
            </a:extLst>
          </p:cNvPr>
          <p:cNvSpPr txBox="1"/>
          <p:nvPr/>
        </p:nvSpPr>
        <p:spPr>
          <a:xfrm>
            <a:off x="390685" y="2438661"/>
            <a:ext cx="121699" cy="444352"/>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051F79"/>
                </a:solidFill>
                <a:latin typeface="Arial"/>
                <a:cs typeface="Arial"/>
              </a:rPr>
              <a:t>i</a:t>
            </a:r>
            <a:r>
              <a:rPr lang="en-US" sz="1400" b="1" dirty="0">
                <a:solidFill>
                  <a:srgbClr val="051F79"/>
                </a:solidFill>
                <a:latin typeface="Arial"/>
                <a:cs typeface="Arial"/>
              </a:rPr>
              <a:t>i</a:t>
            </a:r>
            <a:endParaRPr sz="1400" dirty="0">
              <a:latin typeface="Arial"/>
              <a:cs typeface="Arial"/>
            </a:endParaRPr>
          </a:p>
        </p:txBody>
      </p:sp>
      <p:sp>
        <p:nvSpPr>
          <p:cNvPr id="50" name="object 13">
            <a:extLst>
              <a:ext uri="{FF2B5EF4-FFF2-40B4-BE49-F238E27FC236}">
                <a16:creationId xmlns:a16="http://schemas.microsoft.com/office/drawing/2014/main" id="{D5F74D0D-1E3A-1614-AC38-1F8D09D25713}"/>
              </a:ext>
            </a:extLst>
          </p:cNvPr>
          <p:cNvSpPr/>
          <p:nvPr/>
        </p:nvSpPr>
        <p:spPr>
          <a:xfrm>
            <a:off x="2641598" y="2361205"/>
            <a:ext cx="0" cy="853786"/>
          </a:xfrm>
          <a:custGeom>
            <a:avLst/>
            <a:gdLst/>
            <a:ahLst/>
            <a:cxnLst/>
            <a:rect l="l" t="t" r="r" b="b"/>
            <a:pathLst>
              <a:path h="939164">
                <a:moveTo>
                  <a:pt x="0" y="0"/>
                </a:moveTo>
                <a:lnTo>
                  <a:pt x="0" y="938656"/>
                </a:lnTo>
              </a:path>
            </a:pathLst>
          </a:custGeom>
          <a:ln w="12700">
            <a:solidFill>
              <a:srgbClr val="000000"/>
            </a:solidFill>
          </a:ln>
        </p:spPr>
        <p:txBody>
          <a:bodyPr wrap="square" lIns="0" tIns="0" rIns="0" bIns="0" rtlCol="0"/>
          <a:lstStyle/>
          <a:p>
            <a:endParaRPr/>
          </a:p>
        </p:txBody>
      </p:sp>
      <p:sp>
        <p:nvSpPr>
          <p:cNvPr id="51" name="object 6">
            <a:extLst>
              <a:ext uri="{FF2B5EF4-FFF2-40B4-BE49-F238E27FC236}">
                <a16:creationId xmlns:a16="http://schemas.microsoft.com/office/drawing/2014/main" id="{1302A12A-73C4-EED2-8914-71C05D2C40F0}"/>
              </a:ext>
            </a:extLst>
          </p:cNvPr>
          <p:cNvSpPr/>
          <p:nvPr/>
        </p:nvSpPr>
        <p:spPr>
          <a:xfrm>
            <a:off x="537196" y="3276600"/>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52" name="object 21">
            <a:extLst>
              <a:ext uri="{FF2B5EF4-FFF2-40B4-BE49-F238E27FC236}">
                <a16:creationId xmlns:a16="http://schemas.microsoft.com/office/drawing/2014/main" id="{47AC3E21-DC30-9BE3-999C-651B22286178}"/>
              </a:ext>
            </a:extLst>
          </p:cNvPr>
          <p:cNvSpPr txBox="1"/>
          <p:nvPr/>
        </p:nvSpPr>
        <p:spPr>
          <a:xfrm>
            <a:off x="614374" y="3615304"/>
            <a:ext cx="2211655" cy="499496"/>
          </a:xfrm>
          <a:prstGeom prst="rect">
            <a:avLst/>
          </a:prstGeom>
        </p:spPr>
        <p:txBody>
          <a:bodyPr vert="horz" wrap="square" lIns="0" tIns="12065" rIns="0" bIns="0" rtlCol="0">
            <a:spAutoFit/>
          </a:bodyPr>
          <a:lstStyle/>
          <a:p>
            <a:pPr marL="12700">
              <a:lnSpc>
                <a:spcPts val="1914"/>
              </a:lnSpc>
              <a:spcBef>
                <a:spcPts val="95"/>
              </a:spcBef>
              <a:tabLst>
                <a:tab pos="329565" algn="l"/>
              </a:tabLst>
            </a:pPr>
            <a:r>
              <a:rPr lang="en-US" sz="1600" b="1" dirty="0">
                <a:latin typeface="Arial"/>
                <a:cs typeface="Arial"/>
              </a:rPr>
              <a:t>Refine Credit Policy for Used Cars</a:t>
            </a:r>
            <a:endParaRPr lang="en-US" sz="1600" spc="-5" dirty="0">
              <a:highlight>
                <a:srgbClr val="FFFF00"/>
              </a:highlight>
              <a:latin typeface="Arial"/>
              <a:cs typeface="Arial"/>
            </a:endParaRPr>
          </a:p>
        </p:txBody>
      </p:sp>
      <p:sp>
        <p:nvSpPr>
          <p:cNvPr id="53" name="object 20">
            <a:extLst>
              <a:ext uri="{FF2B5EF4-FFF2-40B4-BE49-F238E27FC236}">
                <a16:creationId xmlns:a16="http://schemas.microsoft.com/office/drawing/2014/main" id="{9E0A7723-FC95-BB57-8EE3-DFDA3AA66480}"/>
              </a:ext>
            </a:extLst>
          </p:cNvPr>
          <p:cNvSpPr/>
          <p:nvPr/>
        </p:nvSpPr>
        <p:spPr>
          <a:xfrm>
            <a:off x="350470" y="3504822"/>
            <a:ext cx="232346" cy="233299"/>
          </a:xfrm>
          <a:prstGeom prst="rect">
            <a:avLst/>
          </a:prstGeom>
          <a:blipFill>
            <a:blip r:embed="rId6" cstate="print"/>
            <a:stretch>
              <a:fillRect/>
            </a:stretch>
          </a:blipFill>
        </p:spPr>
        <p:txBody>
          <a:bodyPr wrap="square" lIns="0" tIns="0" rIns="0" bIns="0" rtlCol="0"/>
          <a:lstStyle/>
          <a:p>
            <a:r>
              <a:rPr lang="en-US" sz="1400" b="1" dirty="0">
                <a:solidFill>
                  <a:srgbClr val="051F79"/>
                </a:solidFill>
                <a:latin typeface="Arial"/>
                <a:cs typeface="Arial"/>
              </a:rPr>
              <a:t> iii </a:t>
            </a:r>
            <a:endParaRPr sz="1400" b="1" dirty="0"/>
          </a:p>
        </p:txBody>
      </p:sp>
      <p:sp>
        <p:nvSpPr>
          <p:cNvPr id="54" name="object 22">
            <a:extLst>
              <a:ext uri="{FF2B5EF4-FFF2-40B4-BE49-F238E27FC236}">
                <a16:creationId xmlns:a16="http://schemas.microsoft.com/office/drawing/2014/main" id="{4F32C327-52D2-EA8C-7F20-0D257FD555E8}"/>
              </a:ext>
            </a:extLst>
          </p:cNvPr>
          <p:cNvSpPr/>
          <p:nvPr/>
        </p:nvSpPr>
        <p:spPr>
          <a:xfrm flipH="1">
            <a:off x="2601686" y="3403052"/>
            <a:ext cx="45719" cy="1744259"/>
          </a:xfrm>
          <a:custGeom>
            <a:avLst/>
            <a:gdLst/>
            <a:ahLst/>
            <a:cxnLst/>
            <a:rect l="l" t="t" r="r" b="b"/>
            <a:pathLst>
              <a:path h="1016000">
                <a:moveTo>
                  <a:pt x="0" y="0"/>
                </a:moveTo>
                <a:lnTo>
                  <a:pt x="0" y="1015720"/>
                </a:lnTo>
              </a:path>
            </a:pathLst>
          </a:custGeom>
          <a:ln w="12700">
            <a:solidFill>
              <a:srgbClr val="000000"/>
            </a:solidFill>
          </a:ln>
        </p:spPr>
        <p:txBody>
          <a:bodyPr wrap="square" lIns="0" tIns="0" rIns="0" bIns="0" rtlCol="0"/>
          <a:lstStyle/>
          <a:p>
            <a:endParaRPr/>
          </a:p>
        </p:txBody>
      </p:sp>
      <p:sp>
        <p:nvSpPr>
          <p:cNvPr id="55" name="object 7">
            <a:extLst>
              <a:ext uri="{FF2B5EF4-FFF2-40B4-BE49-F238E27FC236}">
                <a16:creationId xmlns:a16="http://schemas.microsoft.com/office/drawing/2014/main" id="{C2229452-97BF-37E2-4F35-BD29DB8E2EF0}"/>
              </a:ext>
            </a:extLst>
          </p:cNvPr>
          <p:cNvSpPr/>
          <p:nvPr/>
        </p:nvSpPr>
        <p:spPr>
          <a:xfrm>
            <a:off x="713475" y="6629400"/>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57" name="object 20">
            <a:extLst>
              <a:ext uri="{FF2B5EF4-FFF2-40B4-BE49-F238E27FC236}">
                <a16:creationId xmlns:a16="http://schemas.microsoft.com/office/drawing/2014/main" id="{6003D8AE-6ACD-C165-A337-361B179A9528}"/>
              </a:ext>
            </a:extLst>
          </p:cNvPr>
          <p:cNvSpPr/>
          <p:nvPr/>
        </p:nvSpPr>
        <p:spPr>
          <a:xfrm>
            <a:off x="332309" y="5405501"/>
            <a:ext cx="232346" cy="233299"/>
          </a:xfrm>
          <a:prstGeom prst="rect">
            <a:avLst/>
          </a:prstGeom>
          <a:blipFill>
            <a:blip r:embed="rId6" cstate="print"/>
            <a:stretch>
              <a:fillRect/>
            </a:stretch>
          </a:blipFill>
        </p:spPr>
        <p:txBody>
          <a:bodyPr wrap="square" lIns="0" tIns="0" rIns="0" bIns="0" rtlCol="0"/>
          <a:lstStyle/>
          <a:p>
            <a:r>
              <a:rPr lang="en-US" sz="1400" b="1" dirty="0">
                <a:solidFill>
                  <a:srgbClr val="051F79"/>
                </a:solidFill>
                <a:latin typeface="Arial"/>
                <a:cs typeface="Arial"/>
              </a:rPr>
              <a:t> iv </a:t>
            </a:r>
            <a:endParaRPr sz="1400" b="1" dirty="0"/>
          </a:p>
        </p:txBody>
      </p:sp>
      <p:sp>
        <p:nvSpPr>
          <p:cNvPr id="58" name="object 19">
            <a:extLst>
              <a:ext uri="{FF2B5EF4-FFF2-40B4-BE49-F238E27FC236}">
                <a16:creationId xmlns:a16="http://schemas.microsoft.com/office/drawing/2014/main" id="{CA25112A-73D5-01DB-759A-7DD463F6B08F}"/>
              </a:ext>
            </a:extLst>
          </p:cNvPr>
          <p:cNvSpPr txBox="1"/>
          <p:nvPr/>
        </p:nvSpPr>
        <p:spPr>
          <a:xfrm>
            <a:off x="2675997" y="5368290"/>
            <a:ext cx="8581516" cy="1032510"/>
          </a:xfrm>
          <a:prstGeom prst="rect">
            <a:avLst/>
          </a:prstGeom>
        </p:spPr>
        <p:txBody>
          <a:bodyPr vert="horz" wrap="square" lIns="0" tIns="13335" rIns="0" bIns="0" rtlCol="0">
            <a:spAutoFit/>
          </a:bodyPr>
          <a:lstStyle/>
          <a:p>
            <a:pPr marL="276225" indent="-226060">
              <a:lnSpc>
                <a:spcPct val="100000"/>
              </a:lnSpc>
              <a:spcBef>
                <a:spcPts val="105"/>
              </a:spcBef>
              <a:buFont typeface="Wingdings"/>
              <a:buChar char=""/>
              <a:tabLst>
                <a:tab pos="276225" algn="l"/>
                <a:tab pos="276860" algn="l"/>
              </a:tabLst>
            </a:pPr>
            <a:r>
              <a:rPr sz="1400" b="1" spc="-5" dirty="0">
                <a:latin typeface="Arial"/>
                <a:cs typeface="Arial"/>
              </a:rPr>
              <a:t>Develop competitive B2B </a:t>
            </a:r>
            <a:r>
              <a:rPr sz="1400" b="1" dirty="0">
                <a:latin typeface="Arial"/>
                <a:cs typeface="Arial"/>
              </a:rPr>
              <a:t>offering </a:t>
            </a:r>
            <a:r>
              <a:rPr sz="1400" dirty="0">
                <a:latin typeface="Arial"/>
                <a:cs typeface="Arial"/>
              </a:rPr>
              <a:t>(e.g., </a:t>
            </a:r>
            <a:r>
              <a:rPr sz="1400" spc="-5" dirty="0">
                <a:latin typeface="Arial"/>
                <a:cs typeface="Arial"/>
              </a:rPr>
              <a:t>streamline origination, onboarding, </a:t>
            </a:r>
            <a:r>
              <a:rPr sz="1400" dirty="0">
                <a:latin typeface="Arial"/>
                <a:cs typeface="Arial"/>
              </a:rPr>
              <a:t>and</a:t>
            </a:r>
            <a:r>
              <a:rPr sz="1400" spc="-225" dirty="0">
                <a:latin typeface="Arial"/>
                <a:cs typeface="Arial"/>
              </a:rPr>
              <a:t> </a:t>
            </a:r>
            <a:r>
              <a:rPr sz="1400" spc="-5" dirty="0">
                <a:latin typeface="Arial"/>
                <a:cs typeface="Arial"/>
              </a:rPr>
              <a:t>repayment,</a:t>
            </a:r>
            <a:endParaRPr sz="1400" dirty="0">
              <a:latin typeface="Arial"/>
              <a:cs typeface="Arial"/>
            </a:endParaRPr>
          </a:p>
          <a:p>
            <a:pPr marL="276225">
              <a:lnSpc>
                <a:spcPct val="100000"/>
              </a:lnSpc>
              <a:spcBef>
                <a:spcPts val="5"/>
              </a:spcBef>
            </a:pPr>
            <a:r>
              <a:rPr sz="1400" spc="-5" dirty="0">
                <a:latin typeface="Arial"/>
                <a:cs typeface="Arial"/>
              </a:rPr>
              <a:t>ensuring integration with </a:t>
            </a:r>
            <a:r>
              <a:rPr sz="1400" dirty="0">
                <a:latin typeface="Arial"/>
                <a:cs typeface="Arial"/>
              </a:rPr>
              <a:t>DMS</a:t>
            </a:r>
            <a:r>
              <a:rPr sz="1350" baseline="24691" dirty="0">
                <a:latin typeface="Arial"/>
                <a:cs typeface="Arial"/>
              </a:rPr>
              <a:t> </a:t>
            </a:r>
            <a:r>
              <a:rPr sz="1400" spc="-5" dirty="0">
                <a:latin typeface="Arial"/>
                <a:cs typeface="Arial"/>
              </a:rPr>
              <a:t>for </a:t>
            </a:r>
            <a:r>
              <a:rPr sz="1400" dirty="0">
                <a:latin typeface="Arial"/>
                <a:cs typeface="Arial"/>
              </a:rPr>
              <a:t>real-time </a:t>
            </a:r>
            <a:r>
              <a:rPr sz="1400" spc="-5" dirty="0">
                <a:latin typeface="Arial"/>
                <a:cs typeface="Arial"/>
              </a:rPr>
              <a:t>inventory</a:t>
            </a:r>
            <a:r>
              <a:rPr sz="1400" spc="-260" dirty="0">
                <a:latin typeface="Arial"/>
                <a:cs typeface="Arial"/>
              </a:rPr>
              <a:t> </a:t>
            </a:r>
            <a:r>
              <a:rPr sz="1400" spc="-5" dirty="0">
                <a:latin typeface="Arial"/>
                <a:cs typeface="Arial"/>
              </a:rPr>
              <a:t>visibility)</a:t>
            </a:r>
            <a:endParaRPr sz="1400" dirty="0">
              <a:latin typeface="Arial"/>
              <a:cs typeface="Arial"/>
            </a:endParaRPr>
          </a:p>
          <a:p>
            <a:pPr marL="276225" indent="-226060">
              <a:lnSpc>
                <a:spcPct val="100000"/>
              </a:lnSpc>
              <a:spcBef>
                <a:spcPts val="600"/>
              </a:spcBef>
              <a:buFont typeface="Wingdings"/>
              <a:buChar char=""/>
              <a:tabLst>
                <a:tab pos="276225" algn="l"/>
                <a:tab pos="276860" algn="l"/>
              </a:tabLst>
            </a:pPr>
            <a:r>
              <a:rPr sz="1400" b="1" spc="-5" dirty="0">
                <a:latin typeface="Arial"/>
                <a:cs typeface="Arial"/>
              </a:rPr>
              <a:t>Launch new product </a:t>
            </a:r>
            <a:r>
              <a:rPr sz="1400" dirty="0">
                <a:latin typeface="Arial"/>
                <a:cs typeface="Arial"/>
              </a:rPr>
              <a:t>(e.g., </a:t>
            </a:r>
            <a:r>
              <a:rPr sz="1400" spc="-5" dirty="0">
                <a:latin typeface="Arial"/>
                <a:cs typeface="Arial"/>
              </a:rPr>
              <a:t>operating</a:t>
            </a:r>
            <a:r>
              <a:rPr sz="1400" spc="-130" dirty="0">
                <a:latin typeface="Arial"/>
                <a:cs typeface="Arial"/>
              </a:rPr>
              <a:t> </a:t>
            </a:r>
            <a:r>
              <a:rPr sz="1400" spc="-5" dirty="0">
                <a:latin typeface="Arial"/>
                <a:cs typeface="Arial"/>
              </a:rPr>
              <a:t>leasing)</a:t>
            </a:r>
            <a:endParaRPr sz="1400" dirty="0">
              <a:latin typeface="Arial"/>
              <a:cs typeface="Arial"/>
            </a:endParaRPr>
          </a:p>
          <a:p>
            <a:pPr marL="276225" indent="-226060">
              <a:lnSpc>
                <a:spcPct val="100000"/>
              </a:lnSpc>
              <a:spcBef>
                <a:spcPts val="595"/>
              </a:spcBef>
              <a:buFont typeface="Wingdings"/>
              <a:buChar char=""/>
              <a:tabLst>
                <a:tab pos="276225" algn="l"/>
                <a:tab pos="276860" algn="l"/>
              </a:tabLst>
            </a:pPr>
            <a:r>
              <a:rPr sz="1400" b="1" spc="-5" dirty="0">
                <a:latin typeface="Arial"/>
                <a:cs typeface="Arial"/>
              </a:rPr>
              <a:t>Expand digital presence </a:t>
            </a:r>
            <a:r>
              <a:rPr sz="1400" dirty="0">
                <a:latin typeface="Arial"/>
                <a:cs typeface="Arial"/>
              </a:rPr>
              <a:t>(e.g., </a:t>
            </a:r>
            <a:r>
              <a:rPr sz="1400" spc="-5" dirty="0">
                <a:latin typeface="Arial"/>
                <a:cs typeface="Arial"/>
              </a:rPr>
              <a:t>connect with third-party platforms and digital</a:t>
            </a:r>
            <a:r>
              <a:rPr sz="1400" spc="-185" dirty="0">
                <a:latin typeface="Arial"/>
                <a:cs typeface="Arial"/>
              </a:rPr>
              <a:t> </a:t>
            </a:r>
            <a:r>
              <a:rPr sz="1400" spc="-5" dirty="0">
                <a:latin typeface="Arial"/>
                <a:cs typeface="Arial"/>
              </a:rPr>
              <a:t>marketplaces)</a:t>
            </a:r>
            <a:endParaRPr sz="1400" dirty="0">
              <a:latin typeface="Arial"/>
              <a:cs typeface="Arial"/>
            </a:endParaRPr>
          </a:p>
        </p:txBody>
      </p:sp>
      <p:sp>
        <p:nvSpPr>
          <p:cNvPr id="59" name="object 21">
            <a:extLst>
              <a:ext uri="{FF2B5EF4-FFF2-40B4-BE49-F238E27FC236}">
                <a16:creationId xmlns:a16="http://schemas.microsoft.com/office/drawing/2014/main" id="{FB6069DB-F076-8009-332B-D28D847B0393}"/>
              </a:ext>
            </a:extLst>
          </p:cNvPr>
          <p:cNvSpPr txBox="1"/>
          <p:nvPr/>
        </p:nvSpPr>
        <p:spPr>
          <a:xfrm>
            <a:off x="304800" y="5520304"/>
            <a:ext cx="2586557" cy="743152"/>
          </a:xfrm>
          <a:prstGeom prst="rect">
            <a:avLst/>
          </a:prstGeom>
        </p:spPr>
        <p:txBody>
          <a:bodyPr vert="horz" wrap="square" lIns="0" tIns="12065" rIns="0" bIns="0" rtlCol="0">
            <a:spAutoFit/>
          </a:bodyPr>
          <a:lstStyle/>
          <a:p>
            <a:pPr marL="12700">
              <a:lnSpc>
                <a:spcPts val="1914"/>
              </a:lnSpc>
              <a:spcBef>
                <a:spcPts val="95"/>
              </a:spcBef>
              <a:tabLst>
                <a:tab pos="329565" algn="l"/>
              </a:tabLst>
            </a:pPr>
            <a:r>
              <a:rPr sz="1400" b="1" dirty="0">
                <a:solidFill>
                  <a:srgbClr val="051F79"/>
                </a:solidFill>
                <a:latin typeface="Arial"/>
                <a:cs typeface="Arial"/>
              </a:rPr>
              <a:t>	</a:t>
            </a:r>
            <a:r>
              <a:rPr sz="1600" b="1" spc="-5" dirty="0">
                <a:latin typeface="Arial"/>
                <a:cs typeface="Arial"/>
              </a:rPr>
              <a:t>Prioritize</a:t>
            </a:r>
            <a:r>
              <a:rPr sz="1600" b="1" spc="15" dirty="0">
                <a:latin typeface="Arial"/>
                <a:cs typeface="Arial"/>
              </a:rPr>
              <a:t> </a:t>
            </a:r>
            <a:r>
              <a:rPr sz="1600" b="1" spc="-10" dirty="0">
                <a:latin typeface="Arial"/>
                <a:cs typeface="Arial"/>
              </a:rPr>
              <a:t>targeted</a:t>
            </a:r>
            <a:endParaRPr sz="1600" dirty="0">
              <a:latin typeface="Arial"/>
              <a:cs typeface="Arial"/>
            </a:endParaRPr>
          </a:p>
          <a:p>
            <a:pPr marL="329565">
              <a:lnSpc>
                <a:spcPts val="1914"/>
              </a:lnSpc>
            </a:pPr>
            <a:r>
              <a:rPr sz="1600" b="1" spc="-10" dirty="0">
                <a:latin typeface="Arial"/>
                <a:cs typeface="Arial"/>
              </a:rPr>
              <a:t>investments </a:t>
            </a:r>
            <a:endParaRPr lang="en-US" sz="1600" b="1" spc="-10" dirty="0">
              <a:latin typeface="Arial"/>
              <a:cs typeface="Arial"/>
            </a:endParaRPr>
          </a:p>
          <a:p>
            <a:pPr marL="329565">
              <a:lnSpc>
                <a:spcPts val="1914"/>
              </a:lnSpc>
            </a:pPr>
            <a:r>
              <a:rPr sz="1600" b="1" spc="-10" dirty="0">
                <a:latin typeface="Arial"/>
                <a:cs typeface="Arial"/>
              </a:rPr>
              <a:t>for</a:t>
            </a:r>
            <a:r>
              <a:rPr sz="1600" b="1" spc="50" dirty="0">
                <a:latin typeface="Arial"/>
                <a:cs typeface="Arial"/>
              </a:rPr>
              <a:t> </a:t>
            </a:r>
            <a:r>
              <a:rPr sz="1600" b="1" dirty="0">
                <a:latin typeface="Arial"/>
                <a:cs typeface="Arial"/>
              </a:rPr>
              <a:t>growth</a:t>
            </a:r>
            <a:endParaRPr sz="1600" dirty="0">
              <a:latin typeface="Arial"/>
              <a:cs typeface="Arial"/>
            </a:endParaRPr>
          </a:p>
        </p:txBody>
      </p:sp>
      <p:sp>
        <p:nvSpPr>
          <p:cNvPr id="60" name="object 13">
            <a:extLst>
              <a:ext uri="{FF2B5EF4-FFF2-40B4-BE49-F238E27FC236}">
                <a16:creationId xmlns:a16="http://schemas.microsoft.com/office/drawing/2014/main" id="{4C9A1230-4D26-272D-F36C-D37C25CBECF3}"/>
              </a:ext>
            </a:extLst>
          </p:cNvPr>
          <p:cNvSpPr/>
          <p:nvPr/>
        </p:nvSpPr>
        <p:spPr>
          <a:xfrm>
            <a:off x="2641598" y="5368290"/>
            <a:ext cx="45719" cy="1166997"/>
          </a:xfrm>
          <a:custGeom>
            <a:avLst/>
            <a:gdLst/>
            <a:ahLst/>
            <a:cxnLst/>
            <a:rect l="l" t="t" r="r" b="b"/>
            <a:pathLst>
              <a:path h="939164">
                <a:moveTo>
                  <a:pt x="0" y="0"/>
                </a:moveTo>
                <a:lnTo>
                  <a:pt x="0" y="938656"/>
                </a:lnTo>
              </a:path>
            </a:pathLst>
          </a:custGeom>
          <a:ln w="12700">
            <a:solidFill>
              <a:srgbClr val="000000"/>
            </a:solidFill>
          </a:ln>
        </p:spPr>
        <p:txBody>
          <a:bodyPr wrap="square" lIns="0" tIns="0" rIns="0" bIns="0" rtlCol="0"/>
          <a:lstStyle/>
          <a:p>
            <a:endParaRPr/>
          </a:p>
        </p:txBody>
      </p:sp>
      <p:sp>
        <p:nvSpPr>
          <p:cNvPr id="61" name="object 7">
            <a:extLst>
              <a:ext uri="{FF2B5EF4-FFF2-40B4-BE49-F238E27FC236}">
                <a16:creationId xmlns:a16="http://schemas.microsoft.com/office/drawing/2014/main" id="{38297B42-7BC9-79FC-E06F-2CAA2DFC2A44}"/>
              </a:ext>
            </a:extLst>
          </p:cNvPr>
          <p:cNvSpPr/>
          <p:nvPr/>
        </p:nvSpPr>
        <p:spPr>
          <a:xfrm>
            <a:off x="685800" y="5257800"/>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62" name="object 3">
            <a:extLst>
              <a:ext uri="{FF2B5EF4-FFF2-40B4-BE49-F238E27FC236}">
                <a16:creationId xmlns:a16="http://schemas.microsoft.com/office/drawing/2014/main" id="{AB41DE89-8DEE-0A27-8E4B-4CC939320E5F}"/>
              </a:ext>
            </a:extLst>
          </p:cNvPr>
          <p:cNvSpPr txBox="1"/>
          <p:nvPr/>
        </p:nvSpPr>
        <p:spPr>
          <a:xfrm>
            <a:off x="11543016" y="6601295"/>
            <a:ext cx="153670" cy="151323"/>
          </a:xfrm>
          <a:prstGeom prst="rect">
            <a:avLst/>
          </a:prstGeom>
        </p:spPr>
        <p:txBody>
          <a:bodyPr vert="horz" wrap="square" lIns="0" tIns="12700" rIns="0" bIns="0" rtlCol="0">
            <a:spAutoFit/>
          </a:bodyPr>
          <a:lstStyle/>
          <a:p>
            <a:pPr marL="12700">
              <a:lnSpc>
                <a:spcPct val="100000"/>
              </a:lnSpc>
              <a:spcBef>
                <a:spcPts val="100"/>
              </a:spcBef>
            </a:pPr>
            <a:r>
              <a:rPr lang="en-US" sz="900" dirty="0">
                <a:latin typeface="Arial"/>
                <a:cs typeface="Arial"/>
              </a:rPr>
              <a:t>9</a:t>
            </a:r>
            <a:endParaRPr sz="900" dirty="0">
              <a:latin typeface="Arial"/>
              <a:cs typeface="Arial"/>
            </a:endParaRPr>
          </a:p>
        </p:txBody>
      </p:sp>
      <p:sp>
        <p:nvSpPr>
          <p:cNvPr id="68" name="Rectangle 67">
            <a:extLst>
              <a:ext uri="{FF2B5EF4-FFF2-40B4-BE49-F238E27FC236}">
                <a16:creationId xmlns:a16="http://schemas.microsoft.com/office/drawing/2014/main" id="{976491D8-8FB4-9BF2-F403-173B5FE75A20}"/>
              </a:ext>
            </a:extLst>
          </p:cNvPr>
          <p:cNvSpPr/>
          <p:nvPr/>
        </p:nvSpPr>
        <p:spPr>
          <a:xfrm>
            <a:off x="2759818" y="3352800"/>
            <a:ext cx="8101826" cy="1642107"/>
          </a:xfrm>
          <a:prstGeom prst="rect">
            <a:avLst/>
          </a:prstGeom>
          <a:no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l-GR"/>
          </a:p>
        </p:txBody>
      </p:sp>
      <p:sp>
        <p:nvSpPr>
          <p:cNvPr id="70" name="TextBox 69">
            <a:extLst>
              <a:ext uri="{FF2B5EF4-FFF2-40B4-BE49-F238E27FC236}">
                <a16:creationId xmlns:a16="http://schemas.microsoft.com/office/drawing/2014/main" id="{A892DD09-CA75-21C4-5D65-4C967D718696}"/>
              </a:ext>
            </a:extLst>
          </p:cNvPr>
          <p:cNvSpPr txBox="1"/>
          <p:nvPr/>
        </p:nvSpPr>
        <p:spPr>
          <a:xfrm>
            <a:off x="2590800" y="3315817"/>
            <a:ext cx="8276716"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Used Cars Policy for Asset’s </a:t>
            </a:r>
            <a:r>
              <a:rPr lang="en-US" sz="1400" b="1" dirty="0">
                <a:latin typeface="Arial" panose="020B0604020202020204" pitchFamily="34" charset="0"/>
                <a:cs typeface="Arial" panose="020B0604020202020204" pitchFamily="34" charset="0"/>
              </a:rPr>
              <a:t>Age</a:t>
            </a:r>
            <a:r>
              <a:rPr lang="en-US" sz="1400" dirty="0">
                <a:latin typeface="Arial" panose="020B0604020202020204" pitchFamily="34" charset="0"/>
                <a:cs typeface="Arial" panose="020B0604020202020204" pitchFamily="34" charset="0"/>
              </a:rPr>
              <a:t> and </a:t>
            </a:r>
            <a:r>
              <a:rPr lang="en-US" sz="1400" b="1" dirty="0">
                <a:latin typeface="Arial" panose="020B0604020202020204" pitchFamily="34" charset="0"/>
                <a:cs typeface="Arial" panose="020B0604020202020204" pitchFamily="34" charset="0"/>
              </a:rPr>
              <a:t>Downpayment</a:t>
            </a:r>
            <a:r>
              <a:rPr lang="en-US" sz="1400" dirty="0">
                <a:latin typeface="Arial" panose="020B0604020202020204" pitchFamily="34" charset="0"/>
                <a:cs typeface="Arial" panose="020B0604020202020204" pitchFamily="34" charset="0"/>
              </a:rPr>
              <a:t>			</a:t>
            </a:r>
          </a:p>
        </p:txBody>
      </p:sp>
      <p:sp>
        <p:nvSpPr>
          <p:cNvPr id="73" name="TextBox 72">
            <a:extLst>
              <a:ext uri="{FF2B5EF4-FFF2-40B4-BE49-F238E27FC236}">
                <a16:creationId xmlns:a16="http://schemas.microsoft.com/office/drawing/2014/main" id="{23C7FAA9-A2CA-B02D-BB32-1F2D743EEE45}"/>
              </a:ext>
            </a:extLst>
          </p:cNvPr>
          <p:cNvSpPr txBox="1"/>
          <p:nvPr/>
        </p:nvSpPr>
        <p:spPr>
          <a:xfrm>
            <a:off x="3335490" y="3628920"/>
            <a:ext cx="7865910" cy="30777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Before 6/2023	       *6/2023 – Now	           Proposed - with repossession</a:t>
            </a:r>
          </a:p>
        </p:txBody>
      </p:sp>
      <p:sp>
        <p:nvSpPr>
          <p:cNvPr id="75" name="TextBox 74">
            <a:extLst>
              <a:ext uri="{FF2B5EF4-FFF2-40B4-BE49-F238E27FC236}">
                <a16:creationId xmlns:a16="http://schemas.microsoft.com/office/drawing/2014/main" id="{B5D45C07-AB91-AF57-D0A2-79E12151B13F}"/>
              </a:ext>
            </a:extLst>
          </p:cNvPr>
          <p:cNvSpPr txBox="1"/>
          <p:nvPr/>
        </p:nvSpPr>
        <p:spPr>
          <a:xfrm>
            <a:off x="2646914" y="3935849"/>
            <a:ext cx="616228" cy="954107"/>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Age</a:t>
            </a: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DP</a:t>
            </a:r>
            <a:r>
              <a:rPr lang="en-US" sz="1400" dirty="0">
                <a:latin typeface="Arial" panose="020B0604020202020204" pitchFamily="34" charset="0"/>
                <a:cs typeface="Arial" panose="020B0604020202020204" pitchFamily="34" charset="0"/>
              </a:rPr>
              <a:t> </a:t>
            </a:r>
          </a:p>
        </p:txBody>
      </p:sp>
      <p:sp>
        <p:nvSpPr>
          <p:cNvPr id="79" name="TextBox 78">
            <a:extLst>
              <a:ext uri="{FF2B5EF4-FFF2-40B4-BE49-F238E27FC236}">
                <a16:creationId xmlns:a16="http://schemas.microsoft.com/office/drawing/2014/main" id="{3E8DCFF2-0DDA-34E7-849E-5F322337EABD}"/>
              </a:ext>
            </a:extLst>
          </p:cNvPr>
          <p:cNvSpPr txBox="1"/>
          <p:nvPr/>
        </p:nvSpPr>
        <p:spPr>
          <a:xfrm>
            <a:off x="3124200" y="3950348"/>
            <a:ext cx="2288098"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At RC 6-8 cars must be </a:t>
            </a:r>
          </a:p>
          <a:p>
            <a:r>
              <a:rPr lang="en-US" sz="1400" dirty="0">
                <a:latin typeface="Arial" panose="020B0604020202020204" pitchFamily="34" charset="0"/>
                <a:cs typeface="Arial" panose="020B0604020202020204" pitchFamily="34" charset="0"/>
              </a:rPr>
              <a:t>&lt;= 12Y at loan RPYMT</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No mandatory</a:t>
            </a:r>
          </a:p>
        </p:txBody>
      </p:sp>
      <p:sp>
        <p:nvSpPr>
          <p:cNvPr id="80" name="object 13">
            <a:extLst>
              <a:ext uri="{FF2B5EF4-FFF2-40B4-BE49-F238E27FC236}">
                <a16:creationId xmlns:a16="http://schemas.microsoft.com/office/drawing/2014/main" id="{CE879CE5-D1DB-C116-07CB-96095D5A951F}"/>
              </a:ext>
            </a:extLst>
          </p:cNvPr>
          <p:cNvSpPr/>
          <p:nvPr/>
        </p:nvSpPr>
        <p:spPr>
          <a:xfrm>
            <a:off x="5163612" y="3669065"/>
            <a:ext cx="0" cy="1512535"/>
          </a:xfrm>
          <a:custGeom>
            <a:avLst/>
            <a:gdLst/>
            <a:ahLst/>
            <a:cxnLst/>
            <a:rect l="l" t="t" r="r" b="b"/>
            <a:pathLst>
              <a:path h="939164">
                <a:moveTo>
                  <a:pt x="0" y="0"/>
                </a:moveTo>
                <a:lnTo>
                  <a:pt x="0" y="938656"/>
                </a:lnTo>
              </a:path>
            </a:pathLst>
          </a:custGeom>
          <a:ln w="12700">
            <a:solidFill>
              <a:srgbClr val="000000"/>
            </a:solidFill>
          </a:ln>
        </p:spPr>
        <p:txBody>
          <a:bodyPr wrap="square" lIns="0" tIns="0" rIns="0" bIns="0" rtlCol="0"/>
          <a:lstStyle/>
          <a:p>
            <a:endParaRPr/>
          </a:p>
        </p:txBody>
      </p:sp>
      <p:sp>
        <p:nvSpPr>
          <p:cNvPr id="81" name="object 13">
            <a:extLst>
              <a:ext uri="{FF2B5EF4-FFF2-40B4-BE49-F238E27FC236}">
                <a16:creationId xmlns:a16="http://schemas.microsoft.com/office/drawing/2014/main" id="{03926655-3004-5E4A-728C-20CFBBA34A17}"/>
              </a:ext>
            </a:extLst>
          </p:cNvPr>
          <p:cNvSpPr/>
          <p:nvPr/>
        </p:nvSpPr>
        <p:spPr>
          <a:xfrm>
            <a:off x="7317298" y="3669065"/>
            <a:ext cx="0" cy="1512535"/>
          </a:xfrm>
          <a:custGeom>
            <a:avLst/>
            <a:gdLst/>
            <a:ahLst/>
            <a:cxnLst/>
            <a:rect l="l" t="t" r="r" b="b"/>
            <a:pathLst>
              <a:path h="939164">
                <a:moveTo>
                  <a:pt x="0" y="0"/>
                </a:moveTo>
                <a:lnTo>
                  <a:pt x="0" y="938656"/>
                </a:lnTo>
              </a:path>
            </a:pathLst>
          </a:custGeom>
          <a:ln w="12700">
            <a:solidFill>
              <a:srgbClr val="000000"/>
            </a:solidFill>
          </a:ln>
        </p:spPr>
        <p:txBody>
          <a:bodyPr wrap="square" lIns="0" tIns="0" rIns="0" bIns="0" rtlCol="0"/>
          <a:lstStyle/>
          <a:p>
            <a:endParaRPr/>
          </a:p>
        </p:txBody>
      </p:sp>
      <p:sp>
        <p:nvSpPr>
          <p:cNvPr id="83" name="TextBox 82">
            <a:extLst>
              <a:ext uri="{FF2B5EF4-FFF2-40B4-BE49-F238E27FC236}">
                <a16:creationId xmlns:a16="http://schemas.microsoft.com/office/drawing/2014/main" id="{B87B18B2-4E3D-74EF-D903-91E2CFBBB6CD}"/>
              </a:ext>
            </a:extLst>
          </p:cNvPr>
          <p:cNvSpPr txBox="1"/>
          <p:nvPr/>
        </p:nvSpPr>
        <p:spPr>
          <a:xfrm>
            <a:off x="5183698" y="3935849"/>
            <a:ext cx="2153284" cy="1169551"/>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At RC 1-8 cars must be </a:t>
            </a:r>
          </a:p>
          <a:p>
            <a:r>
              <a:rPr lang="en-US" sz="1400" dirty="0">
                <a:latin typeface="Arial" panose="020B0604020202020204" pitchFamily="34" charset="0"/>
                <a:cs typeface="Arial" panose="020B0604020202020204" pitchFamily="34" charset="0"/>
              </a:rPr>
              <a:t>&lt;= 12Y at loan RPYMT</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Mandatory 35% for cars </a:t>
            </a:r>
          </a:p>
          <a:p>
            <a:r>
              <a:rPr lang="en-US" sz="1400" dirty="0">
                <a:latin typeface="Arial" panose="020B0604020202020204" pitchFamily="34" charset="0"/>
                <a:cs typeface="Arial" panose="020B0604020202020204" pitchFamily="34" charset="0"/>
              </a:rPr>
              <a:t>&gt;9Y at loan RPYMT</a:t>
            </a:r>
          </a:p>
        </p:txBody>
      </p:sp>
      <p:sp>
        <p:nvSpPr>
          <p:cNvPr id="85" name="TextBox 84">
            <a:extLst>
              <a:ext uri="{FF2B5EF4-FFF2-40B4-BE49-F238E27FC236}">
                <a16:creationId xmlns:a16="http://schemas.microsoft.com/office/drawing/2014/main" id="{DB66D18D-C891-660A-B0F4-A355AAA1BCC2}"/>
              </a:ext>
            </a:extLst>
          </p:cNvPr>
          <p:cNvSpPr txBox="1"/>
          <p:nvPr/>
        </p:nvSpPr>
        <p:spPr>
          <a:xfrm>
            <a:off x="7391400" y="3932371"/>
            <a:ext cx="4489467" cy="1169551"/>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At RC 8 cars must be </a:t>
            </a:r>
          </a:p>
          <a:p>
            <a:r>
              <a:rPr lang="en-US" sz="1400" dirty="0">
                <a:latin typeface="Arial" panose="020B0604020202020204" pitchFamily="34" charset="0"/>
                <a:cs typeface="Arial" panose="020B0604020202020204" pitchFamily="34" charset="0"/>
              </a:rPr>
              <a:t>&lt;= 12Y at loan RPYMT</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In case of the above criterion deviation at least 20%** downpayment is required (i.e., car age &gt; 12Y &amp; RC 8)</a:t>
            </a:r>
          </a:p>
        </p:txBody>
      </p:sp>
      <p:sp>
        <p:nvSpPr>
          <p:cNvPr id="86" name="object 5">
            <a:extLst>
              <a:ext uri="{FF2B5EF4-FFF2-40B4-BE49-F238E27FC236}">
                <a16:creationId xmlns:a16="http://schemas.microsoft.com/office/drawing/2014/main" id="{6685206C-DD8E-9F8B-D431-00A263010BFA}"/>
              </a:ext>
            </a:extLst>
          </p:cNvPr>
          <p:cNvSpPr/>
          <p:nvPr/>
        </p:nvSpPr>
        <p:spPr>
          <a:xfrm flipV="1">
            <a:off x="3122584" y="3828832"/>
            <a:ext cx="7088216" cy="92517"/>
          </a:xfrm>
          <a:custGeom>
            <a:avLst/>
            <a:gdLst/>
            <a:ahLst/>
            <a:cxnLst/>
            <a:rect l="l" t="t" r="r" b="b"/>
            <a:pathLst>
              <a:path w="11082655">
                <a:moveTo>
                  <a:pt x="0" y="0"/>
                </a:moveTo>
                <a:lnTo>
                  <a:pt x="11082528" y="0"/>
                </a:lnTo>
              </a:path>
            </a:pathLst>
          </a:custGeom>
          <a:ln w="12700">
            <a:solidFill>
              <a:srgbClr val="757575"/>
            </a:solidFill>
          </a:ln>
        </p:spPr>
        <p:txBody>
          <a:bodyPr wrap="square" lIns="0" tIns="0" rIns="0" bIns="0" rtlCol="0"/>
          <a:lstStyle/>
          <a:p>
            <a:endParaRPr/>
          </a:p>
        </p:txBody>
      </p:sp>
      <p:sp>
        <p:nvSpPr>
          <p:cNvPr id="91" name="TextBox 90">
            <a:extLst>
              <a:ext uri="{FF2B5EF4-FFF2-40B4-BE49-F238E27FC236}">
                <a16:creationId xmlns:a16="http://schemas.microsoft.com/office/drawing/2014/main" id="{4A301036-F45D-00AE-BDDA-FE5062DF716A}"/>
              </a:ext>
            </a:extLst>
          </p:cNvPr>
          <p:cNvSpPr txBox="1"/>
          <p:nvPr/>
        </p:nvSpPr>
        <p:spPr>
          <a:xfrm>
            <a:off x="5218041" y="5079404"/>
            <a:ext cx="1563759" cy="230832"/>
          </a:xfrm>
          <a:prstGeom prst="rect">
            <a:avLst/>
          </a:prstGeom>
          <a:noFill/>
        </p:spPr>
        <p:txBody>
          <a:bodyPr wrap="square">
            <a:spAutoFit/>
          </a:bodyPr>
          <a:lstStyle/>
          <a:p>
            <a:r>
              <a:rPr lang="en-US" sz="900" dirty="0">
                <a:latin typeface="Arial" panose="020B0604020202020204" pitchFamily="34" charset="0"/>
                <a:cs typeface="Arial" panose="020B0604020202020204" pitchFamily="34" charset="0"/>
              </a:rPr>
              <a:t>* Based on BRC 05/2023</a:t>
            </a:r>
            <a:endParaRPr lang="el-GR" sz="900" dirty="0"/>
          </a:p>
        </p:txBody>
      </p:sp>
      <p:sp>
        <p:nvSpPr>
          <p:cNvPr id="5" name="TextBox 4">
            <a:extLst>
              <a:ext uri="{FF2B5EF4-FFF2-40B4-BE49-F238E27FC236}">
                <a16:creationId xmlns:a16="http://schemas.microsoft.com/office/drawing/2014/main" id="{F0F18BD1-3196-0785-69B0-4343F092F97D}"/>
              </a:ext>
            </a:extLst>
          </p:cNvPr>
          <p:cNvSpPr txBox="1"/>
          <p:nvPr/>
        </p:nvSpPr>
        <p:spPr>
          <a:xfrm>
            <a:off x="7383385" y="5087098"/>
            <a:ext cx="4580015" cy="230832"/>
          </a:xfrm>
          <a:prstGeom prst="rect">
            <a:avLst/>
          </a:prstGeom>
          <a:noFill/>
        </p:spPr>
        <p:txBody>
          <a:bodyPr wrap="square">
            <a:spAutoFit/>
          </a:bodyPr>
          <a:lstStyle/>
          <a:p>
            <a:r>
              <a:rPr lang="en-US" sz="900" dirty="0">
                <a:latin typeface="Arial" panose="020B0604020202020204" pitchFamily="34" charset="0"/>
                <a:cs typeface="Arial" panose="020B0604020202020204" pitchFamily="34" charset="0"/>
              </a:rPr>
              <a:t>** DP</a:t>
            </a:r>
            <a:r>
              <a:rPr lang="el-GR" sz="900" dirty="0">
                <a:latin typeface="Arial" panose="020B0604020202020204" pitchFamily="34" charset="0"/>
                <a:cs typeface="Arial" panose="020B0604020202020204" pitchFamily="34" charset="0"/>
              </a:rPr>
              <a:t> may be adjusted by Credit based on other application characteristics</a:t>
            </a:r>
          </a:p>
        </p:txBody>
      </p:sp>
    </p:spTree>
    <p:extLst>
      <p:ext uri="{BB962C8B-B14F-4D97-AF65-F5344CB8AC3E}">
        <p14:creationId xmlns:p14="http://schemas.microsoft.com/office/powerpoint/2010/main" val="655799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6" name="Picture 175">
            <a:extLst>
              <a:ext uri="{FF2B5EF4-FFF2-40B4-BE49-F238E27FC236}">
                <a16:creationId xmlns:a16="http://schemas.microsoft.com/office/drawing/2014/main" id="{06A0717B-06BE-D843-F4F4-4EA95AAC9CAB}"/>
              </a:ext>
            </a:extLst>
          </p:cNvPr>
          <p:cNvPicPr>
            <a:picLocks noChangeAspect="1"/>
          </p:cNvPicPr>
          <p:nvPr/>
        </p:nvPicPr>
        <p:blipFill>
          <a:blip r:embed="rId3"/>
          <a:stretch>
            <a:fillRect/>
          </a:stretch>
        </p:blipFill>
        <p:spPr>
          <a:xfrm>
            <a:off x="1" y="24328"/>
            <a:ext cx="12191999" cy="976542"/>
          </a:xfrm>
          <a:prstGeom prst="rect">
            <a:avLst/>
          </a:prstGeom>
        </p:spPr>
      </p:pic>
      <p:sp>
        <p:nvSpPr>
          <p:cNvPr id="3" name="object 3"/>
          <p:cNvSpPr txBox="1"/>
          <p:nvPr/>
        </p:nvSpPr>
        <p:spPr>
          <a:xfrm>
            <a:off x="11499342" y="6485635"/>
            <a:ext cx="153670" cy="151323"/>
          </a:xfrm>
          <a:prstGeom prst="rect">
            <a:avLst/>
          </a:prstGeom>
        </p:spPr>
        <p:txBody>
          <a:bodyPr vert="horz" wrap="square" lIns="0" tIns="12700" rIns="0" bIns="0" rtlCol="0">
            <a:spAutoFit/>
          </a:bodyPr>
          <a:lstStyle/>
          <a:p>
            <a:pPr marL="12700">
              <a:lnSpc>
                <a:spcPct val="100000"/>
              </a:lnSpc>
              <a:spcBef>
                <a:spcPts val="100"/>
              </a:spcBef>
            </a:pPr>
            <a:r>
              <a:rPr lang="en-US" sz="900" dirty="0">
                <a:latin typeface="Arial"/>
                <a:cs typeface="Arial"/>
              </a:rPr>
              <a:t>10</a:t>
            </a:r>
            <a:endParaRPr sz="900" dirty="0">
              <a:latin typeface="Arial"/>
              <a:cs typeface="Arial"/>
            </a:endParaRPr>
          </a:p>
        </p:txBody>
      </p:sp>
      <p:sp>
        <p:nvSpPr>
          <p:cNvPr id="4" name="object 4"/>
          <p:cNvSpPr txBox="1"/>
          <p:nvPr/>
        </p:nvSpPr>
        <p:spPr>
          <a:xfrm>
            <a:off x="542036" y="1048640"/>
            <a:ext cx="41211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Step</a:t>
            </a:r>
            <a:endParaRPr sz="1400">
              <a:latin typeface="Arial"/>
              <a:cs typeface="Arial"/>
            </a:endParaRPr>
          </a:p>
        </p:txBody>
      </p:sp>
      <p:sp>
        <p:nvSpPr>
          <p:cNvPr id="5" name="object 5"/>
          <p:cNvSpPr/>
          <p:nvPr/>
        </p:nvSpPr>
        <p:spPr>
          <a:xfrm>
            <a:off x="3780535" y="998728"/>
            <a:ext cx="1943100" cy="337185"/>
          </a:xfrm>
          <a:custGeom>
            <a:avLst/>
            <a:gdLst/>
            <a:ahLst/>
            <a:cxnLst/>
            <a:rect l="l" t="t" r="r" b="b"/>
            <a:pathLst>
              <a:path w="1943100" h="337185">
                <a:moveTo>
                  <a:pt x="1881377" y="0"/>
                </a:moveTo>
                <a:lnTo>
                  <a:pt x="0" y="0"/>
                </a:lnTo>
                <a:lnTo>
                  <a:pt x="61340" y="168528"/>
                </a:lnTo>
                <a:lnTo>
                  <a:pt x="0" y="336930"/>
                </a:lnTo>
                <a:lnTo>
                  <a:pt x="1881377" y="336930"/>
                </a:lnTo>
                <a:lnTo>
                  <a:pt x="1942718" y="168528"/>
                </a:lnTo>
                <a:lnTo>
                  <a:pt x="1881377" y="0"/>
                </a:lnTo>
                <a:close/>
              </a:path>
            </a:pathLst>
          </a:custGeom>
          <a:solidFill>
            <a:srgbClr val="051F79"/>
          </a:solidFill>
        </p:spPr>
        <p:txBody>
          <a:bodyPr wrap="square" lIns="0" tIns="0" rIns="0" bIns="0" rtlCol="0"/>
          <a:lstStyle/>
          <a:p>
            <a:endParaRPr/>
          </a:p>
        </p:txBody>
      </p:sp>
      <p:sp>
        <p:nvSpPr>
          <p:cNvPr id="6" name="object 6"/>
          <p:cNvSpPr/>
          <p:nvPr/>
        </p:nvSpPr>
        <p:spPr>
          <a:xfrm>
            <a:off x="3780535" y="998728"/>
            <a:ext cx="1943100" cy="337185"/>
          </a:xfrm>
          <a:custGeom>
            <a:avLst/>
            <a:gdLst/>
            <a:ahLst/>
            <a:cxnLst/>
            <a:rect l="l" t="t" r="r" b="b"/>
            <a:pathLst>
              <a:path w="1943100" h="337185">
                <a:moveTo>
                  <a:pt x="0" y="0"/>
                </a:moveTo>
                <a:lnTo>
                  <a:pt x="1881377" y="0"/>
                </a:lnTo>
                <a:lnTo>
                  <a:pt x="1942718" y="168528"/>
                </a:lnTo>
                <a:lnTo>
                  <a:pt x="1881377" y="336930"/>
                </a:lnTo>
                <a:lnTo>
                  <a:pt x="0" y="336930"/>
                </a:lnTo>
                <a:lnTo>
                  <a:pt x="61340" y="168528"/>
                </a:lnTo>
                <a:lnTo>
                  <a:pt x="0" y="0"/>
                </a:lnTo>
                <a:close/>
              </a:path>
            </a:pathLst>
          </a:custGeom>
          <a:ln w="19050">
            <a:solidFill>
              <a:srgbClr val="051F79"/>
            </a:solidFill>
          </a:ln>
        </p:spPr>
        <p:txBody>
          <a:bodyPr wrap="square" lIns="0" tIns="0" rIns="0" bIns="0" rtlCol="0"/>
          <a:lstStyle/>
          <a:p>
            <a:endParaRPr/>
          </a:p>
        </p:txBody>
      </p:sp>
      <p:sp>
        <p:nvSpPr>
          <p:cNvPr id="7" name="object 7"/>
          <p:cNvSpPr txBox="1"/>
          <p:nvPr/>
        </p:nvSpPr>
        <p:spPr>
          <a:xfrm>
            <a:off x="4105783" y="1041604"/>
            <a:ext cx="1299210" cy="240029"/>
          </a:xfrm>
          <a:prstGeom prst="rect">
            <a:avLst/>
          </a:prstGeom>
        </p:spPr>
        <p:txBody>
          <a:bodyPr vert="horz" wrap="square" lIns="0" tIns="13335" rIns="0" bIns="0" rtlCol="0">
            <a:spAutoFit/>
          </a:bodyPr>
          <a:lstStyle/>
          <a:p>
            <a:pPr marL="12700">
              <a:lnSpc>
                <a:spcPct val="100000"/>
              </a:lnSpc>
              <a:spcBef>
                <a:spcPts val="105"/>
              </a:spcBef>
            </a:pPr>
            <a:r>
              <a:rPr sz="1400" b="1" spc="-10" dirty="0">
                <a:solidFill>
                  <a:srgbClr val="FFFFFF"/>
                </a:solidFill>
                <a:latin typeface="Arial"/>
                <a:cs typeface="Arial"/>
              </a:rPr>
              <a:t>Asset</a:t>
            </a:r>
            <a:r>
              <a:rPr sz="1400" b="1" spc="-50" dirty="0">
                <a:solidFill>
                  <a:srgbClr val="FFFFFF"/>
                </a:solidFill>
                <a:latin typeface="Arial"/>
                <a:cs typeface="Arial"/>
              </a:rPr>
              <a:t> </a:t>
            </a:r>
            <a:r>
              <a:rPr sz="1400" b="1" spc="-5" dirty="0">
                <a:solidFill>
                  <a:srgbClr val="FFFFFF"/>
                </a:solidFill>
                <a:latin typeface="Arial"/>
                <a:cs typeface="Arial"/>
              </a:rPr>
              <a:t>recovery</a:t>
            </a:r>
            <a:endParaRPr sz="1400">
              <a:latin typeface="Arial"/>
              <a:cs typeface="Arial"/>
            </a:endParaRPr>
          </a:p>
        </p:txBody>
      </p:sp>
      <p:sp>
        <p:nvSpPr>
          <p:cNvPr id="8" name="object 8"/>
          <p:cNvSpPr/>
          <p:nvPr/>
        </p:nvSpPr>
        <p:spPr>
          <a:xfrm>
            <a:off x="7723123" y="998728"/>
            <a:ext cx="1943100" cy="337185"/>
          </a:xfrm>
          <a:custGeom>
            <a:avLst/>
            <a:gdLst/>
            <a:ahLst/>
            <a:cxnLst/>
            <a:rect l="l" t="t" r="r" b="b"/>
            <a:pathLst>
              <a:path w="1943100" h="337185">
                <a:moveTo>
                  <a:pt x="1881504" y="0"/>
                </a:moveTo>
                <a:lnTo>
                  <a:pt x="0" y="0"/>
                </a:lnTo>
                <a:lnTo>
                  <a:pt x="61341" y="168528"/>
                </a:lnTo>
                <a:lnTo>
                  <a:pt x="0" y="336930"/>
                </a:lnTo>
                <a:lnTo>
                  <a:pt x="1881504" y="336930"/>
                </a:lnTo>
                <a:lnTo>
                  <a:pt x="1942846" y="168528"/>
                </a:lnTo>
                <a:lnTo>
                  <a:pt x="1881504" y="0"/>
                </a:lnTo>
                <a:close/>
              </a:path>
            </a:pathLst>
          </a:custGeom>
          <a:solidFill>
            <a:srgbClr val="051F79"/>
          </a:solidFill>
        </p:spPr>
        <p:txBody>
          <a:bodyPr wrap="square" lIns="0" tIns="0" rIns="0" bIns="0" rtlCol="0"/>
          <a:lstStyle/>
          <a:p>
            <a:endParaRPr/>
          </a:p>
        </p:txBody>
      </p:sp>
      <p:sp>
        <p:nvSpPr>
          <p:cNvPr id="9" name="object 9"/>
          <p:cNvSpPr/>
          <p:nvPr/>
        </p:nvSpPr>
        <p:spPr>
          <a:xfrm>
            <a:off x="7723123" y="998728"/>
            <a:ext cx="1943100" cy="337185"/>
          </a:xfrm>
          <a:custGeom>
            <a:avLst/>
            <a:gdLst/>
            <a:ahLst/>
            <a:cxnLst/>
            <a:rect l="l" t="t" r="r" b="b"/>
            <a:pathLst>
              <a:path w="1943100" h="337185">
                <a:moveTo>
                  <a:pt x="0" y="0"/>
                </a:moveTo>
                <a:lnTo>
                  <a:pt x="1881504" y="0"/>
                </a:lnTo>
                <a:lnTo>
                  <a:pt x="1942846" y="168528"/>
                </a:lnTo>
                <a:lnTo>
                  <a:pt x="1881504" y="336930"/>
                </a:lnTo>
                <a:lnTo>
                  <a:pt x="0" y="336930"/>
                </a:lnTo>
                <a:lnTo>
                  <a:pt x="61341" y="168528"/>
                </a:lnTo>
                <a:lnTo>
                  <a:pt x="0" y="0"/>
                </a:lnTo>
                <a:close/>
              </a:path>
            </a:pathLst>
          </a:custGeom>
          <a:ln w="19049">
            <a:solidFill>
              <a:srgbClr val="051F79"/>
            </a:solidFill>
          </a:ln>
        </p:spPr>
        <p:txBody>
          <a:bodyPr wrap="square" lIns="0" tIns="0" rIns="0" bIns="0" rtlCol="0"/>
          <a:lstStyle/>
          <a:p>
            <a:endParaRPr/>
          </a:p>
        </p:txBody>
      </p:sp>
      <p:sp>
        <p:nvSpPr>
          <p:cNvPr id="10" name="object 10"/>
          <p:cNvSpPr txBox="1"/>
          <p:nvPr/>
        </p:nvSpPr>
        <p:spPr>
          <a:xfrm>
            <a:off x="8237981" y="1041604"/>
            <a:ext cx="915035" cy="240029"/>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FFFFFF"/>
                </a:solidFill>
                <a:latin typeface="Arial"/>
                <a:cs typeface="Arial"/>
              </a:rPr>
              <a:t>Inspection</a:t>
            </a:r>
            <a:endParaRPr sz="1400">
              <a:latin typeface="Arial"/>
              <a:cs typeface="Arial"/>
            </a:endParaRPr>
          </a:p>
        </p:txBody>
      </p:sp>
      <p:sp>
        <p:nvSpPr>
          <p:cNvPr id="11" name="object 11"/>
          <p:cNvSpPr/>
          <p:nvPr/>
        </p:nvSpPr>
        <p:spPr>
          <a:xfrm>
            <a:off x="9694544" y="998728"/>
            <a:ext cx="1943100" cy="337185"/>
          </a:xfrm>
          <a:custGeom>
            <a:avLst/>
            <a:gdLst/>
            <a:ahLst/>
            <a:cxnLst/>
            <a:rect l="l" t="t" r="r" b="b"/>
            <a:pathLst>
              <a:path w="1943100" h="337185">
                <a:moveTo>
                  <a:pt x="1881377" y="0"/>
                </a:moveTo>
                <a:lnTo>
                  <a:pt x="0" y="0"/>
                </a:lnTo>
                <a:lnTo>
                  <a:pt x="61213" y="168528"/>
                </a:lnTo>
                <a:lnTo>
                  <a:pt x="0" y="336930"/>
                </a:lnTo>
                <a:lnTo>
                  <a:pt x="1881377" y="336930"/>
                </a:lnTo>
                <a:lnTo>
                  <a:pt x="1942719" y="168528"/>
                </a:lnTo>
                <a:lnTo>
                  <a:pt x="1881377" y="0"/>
                </a:lnTo>
                <a:close/>
              </a:path>
            </a:pathLst>
          </a:custGeom>
          <a:solidFill>
            <a:srgbClr val="051F79"/>
          </a:solidFill>
        </p:spPr>
        <p:txBody>
          <a:bodyPr wrap="square" lIns="0" tIns="0" rIns="0" bIns="0" rtlCol="0"/>
          <a:lstStyle/>
          <a:p>
            <a:endParaRPr/>
          </a:p>
        </p:txBody>
      </p:sp>
      <p:sp>
        <p:nvSpPr>
          <p:cNvPr id="12" name="object 12"/>
          <p:cNvSpPr/>
          <p:nvPr/>
        </p:nvSpPr>
        <p:spPr>
          <a:xfrm>
            <a:off x="9694544" y="998728"/>
            <a:ext cx="1943100" cy="337185"/>
          </a:xfrm>
          <a:custGeom>
            <a:avLst/>
            <a:gdLst/>
            <a:ahLst/>
            <a:cxnLst/>
            <a:rect l="l" t="t" r="r" b="b"/>
            <a:pathLst>
              <a:path w="1943100" h="337185">
                <a:moveTo>
                  <a:pt x="0" y="0"/>
                </a:moveTo>
                <a:lnTo>
                  <a:pt x="1881377" y="0"/>
                </a:lnTo>
                <a:lnTo>
                  <a:pt x="1942719" y="168528"/>
                </a:lnTo>
                <a:lnTo>
                  <a:pt x="1881377" y="336930"/>
                </a:lnTo>
                <a:lnTo>
                  <a:pt x="0" y="336930"/>
                </a:lnTo>
                <a:lnTo>
                  <a:pt x="61213" y="168528"/>
                </a:lnTo>
                <a:lnTo>
                  <a:pt x="0" y="0"/>
                </a:lnTo>
                <a:close/>
              </a:path>
            </a:pathLst>
          </a:custGeom>
          <a:ln w="19049">
            <a:solidFill>
              <a:srgbClr val="051F79"/>
            </a:solidFill>
          </a:ln>
        </p:spPr>
        <p:txBody>
          <a:bodyPr wrap="square" lIns="0" tIns="0" rIns="0" bIns="0" rtlCol="0"/>
          <a:lstStyle/>
          <a:p>
            <a:endParaRPr/>
          </a:p>
        </p:txBody>
      </p:sp>
      <p:sp>
        <p:nvSpPr>
          <p:cNvPr id="13" name="object 13"/>
          <p:cNvSpPr txBox="1"/>
          <p:nvPr/>
        </p:nvSpPr>
        <p:spPr>
          <a:xfrm>
            <a:off x="10114915" y="1041604"/>
            <a:ext cx="1107440" cy="240029"/>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FFFFFF"/>
                </a:solidFill>
                <a:latin typeface="Arial"/>
                <a:cs typeface="Arial"/>
              </a:rPr>
              <a:t>Remarketing</a:t>
            </a:r>
            <a:endParaRPr sz="1400">
              <a:latin typeface="Arial"/>
              <a:cs typeface="Arial"/>
            </a:endParaRPr>
          </a:p>
        </p:txBody>
      </p:sp>
      <p:sp>
        <p:nvSpPr>
          <p:cNvPr id="14" name="object 14"/>
          <p:cNvSpPr txBox="1">
            <a:spLocks noGrp="1"/>
          </p:cNvSpPr>
          <p:nvPr>
            <p:ph type="title"/>
          </p:nvPr>
        </p:nvSpPr>
        <p:spPr>
          <a:xfrm>
            <a:off x="417757" y="159549"/>
            <a:ext cx="10979150" cy="770255"/>
          </a:xfrm>
          <a:prstGeom prst="rect">
            <a:avLst/>
          </a:prstGeom>
        </p:spPr>
        <p:txBody>
          <a:bodyPr vert="horz" wrap="square" lIns="0" tIns="45085" rIns="0" bIns="0" rtlCol="0">
            <a:spAutoFit/>
          </a:bodyPr>
          <a:lstStyle/>
          <a:p>
            <a:pPr marL="12065" marR="5080">
              <a:lnSpc>
                <a:spcPts val="2800"/>
              </a:lnSpc>
              <a:spcBef>
                <a:spcPts val="355"/>
              </a:spcBef>
            </a:pPr>
            <a:r>
              <a:rPr lang="en-US" spc="-5" dirty="0"/>
              <a:t>6</a:t>
            </a:r>
            <a:r>
              <a:rPr spc="-5" dirty="0"/>
              <a:t> | Potential journey</a:t>
            </a:r>
            <a:r>
              <a:rPr lang="en-US" spc="-5" dirty="0"/>
              <a:t>,</a:t>
            </a:r>
            <a:r>
              <a:rPr spc="-5" dirty="0"/>
              <a:t> leveraging external partners across  </a:t>
            </a:r>
            <a:br>
              <a:rPr lang="en-US" spc="-5" dirty="0"/>
            </a:br>
            <a:r>
              <a:rPr spc="-10" dirty="0"/>
              <a:t>the </a:t>
            </a:r>
            <a:r>
              <a:rPr spc="-5" dirty="0"/>
              <a:t>value</a:t>
            </a:r>
            <a:r>
              <a:rPr spc="-10" dirty="0"/>
              <a:t> chain</a:t>
            </a:r>
          </a:p>
        </p:txBody>
      </p:sp>
      <p:sp>
        <p:nvSpPr>
          <p:cNvPr id="45" name="object 45"/>
          <p:cNvSpPr/>
          <p:nvPr/>
        </p:nvSpPr>
        <p:spPr>
          <a:xfrm>
            <a:off x="1801367" y="1453769"/>
            <a:ext cx="0" cy="4523105"/>
          </a:xfrm>
          <a:custGeom>
            <a:avLst/>
            <a:gdLst/>
            <a:ahLst/>
            <a:cxnLst/>
            <a:rect l="l" t="t" r="r" b="b"/>
            <a:pathLst>
              <a:path h="4523105">
                <a:moveTo>
                  <a:pt x="0" y="0"/>
                </a:moveTo>
                <a:lnTo>
                  <a:pt x="0" y="4522914"/>
                </a:lnTo>
              </a:path>
            </a:pathLst>
          </a:custGeom>
          <a:ln w="6350">
            <a:solidFill>
              <a:srgbClr val="B3B3B3"/>
            </a:solidFill>
          </a:ln>
        </p:spPr>
        <p:txBody>
          <a:bodyPr wrap="square" lIns="0" tIns="0" rIns="0" bIns="0" rtlCol="0"/>
          <a:lstStyle/>
          <a:p>
            <a:endParaRPr/>
          </a:p>
        </p:txBody>
      </p:sp>
      <p:sp>
        <p:nvSpPr>
          <p:cNvPr id="46" name="object 46"/>
          <p:cNvSpPr/>
          <p:nvPr/>
        </p:nvSpPr>
        <p:spPr>
          <a:xfrm>
            <a:off x="3766184" y="1453769"/>
            <a:ext cx="0" cy="3583304"/>
          </a:xfrm>
          <a:custGeom>
            <a:avLst/>
            <a:gdLst/>
            <a:ahLst/>
            <a:cxnLst/>
            <a:rect l="l" t="t" r="r" b="b"/>
            <a:pathLst>
              <a:path h="3583304">
                <a:moveTo>
                  <a:pt x="0" y="0"/>
                </a:moveTo>
                <a:lnTo>
                  <a:pt x="0" y="3582949"/>
                </a:lnTo>
              </a:path>
            </a:pathLst>
          </a:custGeom>
          <a:ln w="6350">
            <a:solidFill>
              <a:srgbClr val="B3B3B3"/>
            </a:solidFill>
          </a:ln>
        </p:spPr>
        <p:txBody>
          <a:bodyPr wrap="square" lIns="0" tIns="0" rIns="0" bIns="0" rtlCol="0"/>
          <a:lstStyle/>
          <a:p>
            <a:endParaRPr/>
          </a:p>
        </p:txBody>
      </p:sp>
      <p:sp>
        <p:nvSpPr>
          <p:cNvPr id="47" name="object 47"/>
          <p:cNvSpPr/>
          <p:nvPr/>
        </p:nvSpPr>
        <p:spPr>
          <a:xfrm>
            <a:off x="3766184" y="5467605"/>
            <a:ext cx="0" cy="509270"/>
          </a:xfrm>
          <a:custGeom>
            <a:avLst/>
            <a:gdLst/>
            <a:ahLst/>
            <a:cxnLst/>
            <a:rect l="l" t="t" r="r" b="b"/>
            <a:pathLst>
              <a:path h="509270">
                <a:moveTo>
                  <a:pt x="0" y="0"/>
                </a:moveTo>
                <a:lnTo>
                  <a:pt x="0" y="509079"/>
                </a:lnTo>
              </a:path>
            </a:pathLst>
          </a:custGeom>
          <a:ln w="6350">
            <a:solidFill>
              <a:srgbClr val="B3B3B3"/>
            </a:solidFill>
          </a:ln>
        </p:spPr>
        <p:txBody>
          <a:bodyPr wrap="square" lIns="0" tIns="0" rIns="0" bIns="0" rtlCol="0"/>
          <a:lstStyle/>
          <a:p>
            <a:endParaRPr/>
          </a:p>
        </p:txBody>
      </p:sp>
      <p:sp>
        <p:nvSpPr>
          <p:cNvPr id="48" name="object 48"/>
          <p:cNvSpPr/>
          <p:nvPr/>
        </p:nvSpPr>
        <p:spPr>
          <a:xfrm>
            <a:off x="5737605" y="1453769"/>
            <a:ext cx="0" cy="3583304"/>
          </a:xfrm>
          <a:custGeom>
            <a:avLst/>
            <a:gdLst/>
            <a:ahLst/>
            <a:cxnLst/>
            <a:rect l="l" t="t" r="r" b="b"/>
            <a:pathLst>
              <a:path h="3583304">
                <a:moveTo>
                  <a:pt x="0" y="0"/>
                </a:moveTo>
                <a:lnTo>
                  <a:pt x="0" y="3582949"/>
                </a:lnTo>
              </a:path>
            </a:pathLst>
          </a:custGeom>
          <a:ln w="6350">
            <a:solidFill>
              <a:srgbClr val="B3B3B3"/>
            </a:solidFill>
          </a:ln>
        </p:spPr>
        <p:txBody>
          <a:bodyPr wrap="square" lIns="0" tIns="0" rIns="0" bIns="0" rtlCol="0"/>
          <a:lstStyle/>
          <a:p>
            <a:endParaRPr/>
          </a:p>
        </p:txBody>
      </p:sp>
      <p:sp>
        <p:nvSpPr>
          <p:cNvPr id="49" name="object 49"/>
          <p:cNvSpPr/>
          <p:nvPr/>
        </p:nvSpPr>
        <p:spPr>
          <a:xfrm>
            <a:off x="5737605" y="5467605"/>
            <a:ext cx="0" cy="509270"/>
          </a:xfrm>
          <a:custGeom>
            <a:avLst/>
            <a:gdLst/>
            <a:ahLst/>
            <a:cxnLst/>
            <a:rect l="l" t="t" r="r" b="b"/>
            <a:pathLst>
              <a:path h="509270">
                <a:moveTo>
                  <a:pt x="0" y="0"/>
                </a:moveTo>
                <a:lnTo>
                  <a:pt x="0" y="509079"/>
                </a:lnTo>
              </a:path>
            </a:pathLst>
          </a:custGeom>
          <a:ln w="6350">
            <a:solidFill>
              <a:srgbClr val="B3B3B3"/>
            </a:solidFill>
          </a:ln>
        </p:spPr>
        <p:txBody>
          <a:bodyPr wrap="square" lIns="0" tIns="0" rIns="0" bIns="0" rtlCol="0"/>
          <a:lstStyle/>
          <a:p>
            <a:endParaRPr/>
          </a:p>
        </p:txBody>
      </p:sp>
      <p:sp>
        <p:nvSpPr>
          <p:cNvPr id="50" name="object 50"/>
          <p:cNvSpPr/>
          <p:nvPr/>
        </p:nvSpPr>
        <p:spPr>
          <a:xfrm>
            <a:off x="7708900" y="1453769"/>
            <a:ext cx="0" cy="2453005"/>
          </a:xfrm>
          <a:custGeom>
            <a:avLst/>
            <a:gdLst/>
            <a:ahLst/>
            <a:cxnLst/>
            <a:rect l="l" t="t" r="r" b="b"/>
            <a:pathLst>
              <a:path h="2453004">
                <a:moveTo>
                  <a:pt x="0" y="0"/>
                </a:moveTo>
                <a:lnTo>
                  <a:pt x="0" y="2452776"/>
                </a:lnTo>
              </a:path>
            </a:pathLst>
          </a:custGeom>
          <a:ln w="6350">
            <a:solidFill>
              <a:srgbClr val="B3B3B3"/>
            </a:solidFill>
          </a:ln>
        </p:spPr>
        <p:txBody>
          <a:bodyPr wrap="square" lIns="0" tIns="0" rIns="0" bIns="0" rtlCol="0"/>
          <a:lstStyle/>
          <a:p>
            <a:endParaRPr/>
          </a:p>
        </p:txBody>
      </p:sp>
      <p:sp>
        <p:nvSpPr>
          <p:cNvPr id="51" name="object 51"/>
          <p:cNvSpPr/>
          <p:nvPr/>
        </p:nvSpPr>
        <p:spPr>
          <a:xfrm>
            <a:off x="7708900" y="4363086"/>
            <a:ext cx="0" cy="95885"/>
          </a:xfrm>
          <a:custGeom>
            <a:avLst/>
            <a:gdLst/>
            <a:ahLst/>
            <a:cxnLst/>
            <a:rect l="l" t="t" r="r" b="b"/>
            <a:pathLst>
              <a:path h="95885">
                <a:moveTo>
                  <a:pt x="0" y="0"/>
                </a:moveTo>
                <a:lnTo>
                  <a:pt x="0" y="95529"/>
                </a:lnTo>
              </a:path>
            </a:pathLst>
          </a:custGeom>
          <a:ln w="6350">
            <a:solidFill>
              <a:srgbClr val="B3B3B3"/>
            </a:solidFill>
          </a:ln>
        </p:spPr>
        <p:txBody>
          <a:bodyPr wrap="square" lIns="0" tIns="0" rIns="0" bIns="0" rtlCol="0"/>
          <a:lstStyle/>
          <a:p>
            <a:endParaRPr/>
          </a:p>
        </p:txBody>
      </p:sp>
      <p:sp>
        <p:nvSpPr>
          <p:cNvPr id="52" name="object 52"/>
          <p:cNvSpPr/>
          <p:nvPr/>
        </p:nvSpPr>
        <p:spPr>
          <a:xfrm>
            <a:off x="7708900" y="4889500"/>
            <a:ext cx="0" cy="147320"/>
          </a:xfrm>
          <a:custGeom>
            <a:avLst/>
            <a:gdLst/>
            <a:ahLst/>
            <a:cxnLst/>
            <a:rect l="l" t="t" r="r" b="b"/>
            <a:pathLst>
              <a:path h="147320">
                <a:moveTo>
                  <a:pt x="0" y="0"/>
                </a:moveTo>
                <a:lnTo>
                  <a:pt x="0" y="147218"/>
                </a:lnTo>
              </a:path>
            </a:pathLst>
          </a:custGeom>
          <a:ln w="6350">
            <a:solidFill>
              <a:srgbClr val="B3B3B3"/>
            </a:solidFill>
          </a:ln>
        </p:spPr>
        <p:txBody>
          <a:bodyPr wrap="square" lIns="0" tIns="0" rIns="0" bIns="0" rtlCol="0"/>
          <a:lstStyle/>
          <a:p>
            <a:endParaRPr/>
          </a:p>
        </p:txBody>
      </p:sp>
      <p:sp>
        <p:nvSpPr>
          <p:cNvPr id="53" name="object 53"/>
          <p:cNvSpPr/>
          <p:nvPr/>
        </p:nvSpPr>
        <p:spPr>
          <a:xfrm>
            <a:off x="7708900" y="5467605"/>
            <a:ext cx="0" cy="509270"/>
          </a:xfrm>
          <a:custGeom>
            <a:avLst/>
            <a:gdLst/>
            <a:ahLst/>
            <a:cxnLst/>
            <a:rect l="l" t="t" r="r" b="b"/>
            <a:pathLst>
              <a:path h="509270">
                <a:moveTo>
                  <a:pt x="0" y="0"/>
                </a:moveTo>
                <a:lnTo>
                  <a:pt x="0" y="509079"/>
                </a:lnTo>
              </a:path>
            </a:pathLst>
          </a:custGeom>
          <a:ln w="6350">
            <a:solidFill>
              <a:srgbClr val="B3B3B3"/>
            </a:solidFill>
          </a:ln>
        </p:spPr>
        <p:txBody>
          <a:bodyPr wrap="square" lIns="0" tIns="0" rIns="0" bIns="0" rtlCol="0"/>
          <a:lstStyle/>
          <a:p>
            <a:endParaRPr/>
          </a:p>
        </p:txBody>
      </p:sp>
      <p:sp>
        <p:nvSpPr>
          <p:cNvPr id="54" name="object 54"/>
          <p:cNvSpPr/>
          <p:nvPr/>
        </p:nvSpPr>
        <p:spPr>
          <a:xfrm>
            <a:off x="9680193" y="1453769"/>
            <a:ext cx="0" cy="3005455"/>
          </a:xfrm>
          <a:custGeom>
            <a:avLst/>
            <a:gdLst/>
            <a:ahLst/>
            <a:cxnLst/>
            <a:rect l="l" t="t" r="r" b="b"/>
            <a:pathLst>
              <a:path h="3005454">
                <a:moveTo>
                  <a:pt x="0" y="0"/>
                </a:moveTo>
                <a:lnTo>
                  <a:pt x="0" y="3004845"/>
                </a:lnTo>
              </a:path>
            </a:pathLst>
          </a:custGeom>
          <a:ln w="6350">
            <a:solidFill>
              <a:srgbClr val="B3B3B3"/>
            </a:solidFill>
          </a:ln>
        </p:spPr>
        <p:txBody>
          <a:bodyPr wrap="square" lIns="0" tIns="0" rIns="0" bIns="0" rtlCol="0"/>
          <a:lstStyle/>
          <a:p>
            <a:endParaRPr/>
          </a:p>
        </p:txBody>
      </p:sp>
      <p:sp>
        <p:nvSpPr>
          <p:cNvPr id="55" name="object 55"/>
          <p:cNvSpPr/>
          <p:nvPr/>
        </p:nvSpPr>
        <p:spPr>
          <a:xfrm>
            <a:off x="9680193" y="4889500"/>
            <a:ext cx="0" cy="1087755"/>
          </a:xfrm>
          <a:custGeom>
            <a:avLst/>
            <a:gdLst/>
            <a:ahLst/>
            <a:cxnLst/>
            <a:rect l="l" t="t" r="r" b="b"/>
            <a:pathLst>
              <a:path h="1087754">
                <a:moveTo>
                  <a:pt x="0" y="0"/>
                </a:moveTo>
                <a:lnTo>
                  <a:pt x="0" y="1087183"/>
                </a:lnTo>
              </a:path>
            </a:pathLst>
          </a:custGeom>
          <a:ln w="6350">
            <a:solidFill>
              <a:srgbClr val="B3B3B3"/>
            </a:solidFill>
          </a:ln>
        </p:spPr>
        <p:txBody>
          <a:bodyPr wrap="square" lIns="0" tIns="0" rIns="0" bIns="0" rtlCol="0"/>
          <a:lstStyle/>
          <a:p>
            <a:endParaRPr/>
          </a:p>
        </p:txBody>
      </p:sp>
      <p:sp>
        <p:nvSpPr>
          <p:cNvPr id="56" name="object 56"/>
          <p:cNvSpPr/>
          <p:nvPr/>
        </p:nvSpPr>
        <p:spPr>
          <a:xfrm>
            <a:off x="1809114" y="998728"/>
            <a:ext cx="1943100" cy="337185"/>
          </a:xfrm>
          <a:custGeom>
            <a:avLst/>
            <a:gdLst/>
            <a:ahLst/>
            <a:cxnLst/>
            <a:rect l="l" t="t" r="r" b="b"/>
            <a:pathLst>
              <a:path w="1943100" h="337185">
                <a:moveTo>
                  <a:pt x="1881505" y="0"/>
                </a:moveTo>
                <a:lnTo>
                  <a:pt x="0" y="0"/>
                </a:lnTo>
                <a:lnTo>
                  <a:pt x="0" y="336930"/>
                </a:lnTo>
                <a:lnTo>
                  <a:pt x="1881505" y="336930"/>
                </a:lnTo>
                <a:lnTo>
                  <a:pt x="1942846" y="168528"/>
                </a:lnTo>
                <a:lnTo>
                  <a:pt x="1881505" y="0"/>
                </a:lnTo>
                <a:close/>
              </a:path>
            </a:pathLst>
          </a:custGeom>
          <a:solidFill>
            <a:srgbClr val="051F79"/>
          </a:solidFill>
        </p:spPr>
        <p:txBody>
          <a:bodyPr wrap="square" lIns="0" tIns="0" rIns="0" bIns="0" rtlCol="0"/>
          <a:lstStyle/>
          <a:p>
            <a:endParaRPr/>
          </a:p>
        </p:txBody>
      </p:sp>
      <p:sp>
        <p:nvSpPr>
          <p:cNvPr id="57" name="object 57"/>
          <p:cNvSpPr/>
          <p:nvPr/>
        </p:nvSpPr>
        <p:spPr>
          <a:xfrm>
            <a:off x="1809114" y="998728"/>
            <a:ext cx="1943100" cy="337185"/>
          </a:xfrm>
          <a:custGeom>
            <a:avLst/>
            <a:gdLst/>
            <a:ahLst/>
            <a:cxnLst/>
            <a:rect l="l" t="t" r="r" b="b"/>
            <a:pathLst>
              <a:path w="1943100" h="337185">
                <a:moveTo>
                  <a:pt x="0" y="0"/>
                </a:moveTo>
                <a:lnTo>
                  <a:pt x="1881505" y="0"/>
                </a:lnTo>
                <a:lnTo>
                  <a:pt x="1942846" y="168528"/>
                </a:lnTo>
                <a:lnTo>
                  <a:pt x="1881505" y="336930"/>
                </a:lnTo>
                <a:lnTo>
                  <a:pt x="0" y="336930"/>
                </a:lnTo>
                <a:lnTo>
                  <a:pt x="0" y="0"/>
                </a:lnTo>
                <a:close/>
              </a:path>
            </a:pathLst>
          </a:custGeom>
          <a:ln w="19049">
            <a:solidFill>
              <a:srgbClr val="051F79"/>
            </a:solidFill>
          </a:ln>
        </p:spPr>
        <p:txBody>
          <a:bodyPr wrap="square" lIns="0" tIns="0" rIns="0" bIns="0" rtlCol="0"/>
          <a:lstStyle/>
          <a:p>
            <a:endParaRPr/>
          </a:p>
        </p:txBody>
      </p:sp>
      <p:sp>
        <p:nvSpPr>
          <p:cNvPr id="58" name="object 58"/>
          <p:cNvSpPr txBox="1"/>
          <p:nvPr/>
        </p:nvSpPr>
        <p:spPr>
          <a:xfrm>
            <a:off x="1923414" y="1041604"/>
            <a:ext cx="1684020" cy="240029"/>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FFFFFF"/>
                </a:solidFill>
                <a:latin typeface="Arial"/>
                <a:cs typeface="Arial"/>
              </a:rPr>
              <a:t>Legal</a:t>
            </a:r>
            <a:r>
              <a:rPr sz="1400" b="1" spc="-80" dirty="0">
                <a:solidFill>
                  <a:srgbClr val="FFFFFF"/>
                </a:solidFill>
                <a:latin typeface="Arial"/>
                <a:cs typeface="Arial"/>
              </a:rPr>
              <a:t> </a:t>
            </a:r>
            <a:r>
              <a:rPr sz="1400" b="1" spc="-5" dirty="0">
                <a:solidFill>
                  <a:srgbClr val="FFFFFF"/>
                </a:solidFill>
                <a:latin typeface="Arial"/>
                <a:cs typeface="Arial"/>
              </a:rPr>
              <a:t>repossession</a:t>
            </a:r>
            <a:endParaRPr sz="1400" dirty="0">
              <a:latin typeface="Arial"/>
              <a:cs typeface="Arial"/>
            </a:endParaRPr>
          </a:p>
        </p:txBody>
      </p:sp>
      <p:sp>
        <p:nvSpPr>
          <p:cNvPr id="69" name="object 69"/>
          <p:cNvSpPr/>
          <p:nvPr/>
        </p:nvSpPr>
        <p:spPr>
          <a:xfrm>
            <a:off x="554736" y="2820035"/>
            <a:ext cx="1138555" cy="0"/>
          </a:xfrm>
          <a:custGeom>
            <a:avLst/>
            <a:gdLst/>
            <a:ahLst/>
            <a:cxnLst/>
            <a:rect l="l" t="t" r="r" b="b"/>
            <a:pathLst>
              <a:path w="1138555">
                <a:moveTo>
                  <a:pt x="0" y="0"/>
                </a:moveTo>
                <a:lnTo>
                  <a:pt x="1138174" y="0"/>
                </a:lnTo>
              </a:path>
            </a:pathLst>
          </a:custGeom>
          <a:ln w="6350">
            <a:solidFill>
              <a:srgbClr val="757575"/>
            </a:solidFill>
          </a:ln>
        </p:spPr>
        <p:txBody>
          <a:bodyPr wrap="square" lIns="0" tIns="0" rIns="0" bIns="0" rtlCol="0"/>
          <a:lstStyle/>
          <a:p>
            <a:endParaRPr/>
          </a:p>
        </p:txBody>
      </p:sp>
      <p:sp>
        <p:nvSpPr>
          <p:cNvPr id="70" name="object 70"/>
          <p:cNvSpPr/>
          <p:nvPr/>
        </p:nvSpPr>
        <p:spPr>
          <a:xfrm>
            <a:off x="9782809" y="2820035"/>
            <a:ext cx="1766570" cy="0"/>
          </a:xfrm>
          <a:custGeom>
            <a:avLst/>
            <a:gdLst/>
            <a:ahLst/>
            <a:cxnLst/>
            <a:rect l="l" t="t" r="r" b="b"/>
            <a:pathLst>
              <a:path w="1766570">
                <a:moveTo>
                  <a:pt x="0" y="0"/>
                </a:moveTo>
                <a:lnTo>
                  <a:pt x="1766189" y="0"/>
                </a:lnTo>
              </a:path>
            </a:pathLst>
          </a:custGeom>
          <a:ln w="6350">
            <a:solidFill>
              <a:srgbClr val="757575"/>
            </a:solidFill>
          </a:ln>
        </p:spPr>
        <p:txBody>
          <a:bodyPr wrap="square" lIns="0" tIns="0" rIns="0" bIns="0" rtlCol="0"/>
          <a:lstStyle/>
          <a:p>
            <a:endParaRPr/>
          </a:p>
        </p:txBody>
      </p:sp>
      <p:sp>
        <p:nvSpPr>
          <p:cNvPr id="71" name="object 71"/>
          <p:cNvSpPr txBox="1"/>
          <p:nvPr/>
        </p:nvSpPr>
        <p:spPr>
          <a:xfrm>
            <a:off x="542036" y="4440682"/>
            <a:ext cx="715645" cy="452755"/>
          </a:xfrm>
          <a:prstGeom prst="rect">
            <a:avLst/>
          </a:prstGeom>
        </p:spPr>
        <p:txBody>
          <a:bodyPr vert="horz" wrap="square" lIns="0" tIns="12700" rIns="0" bIns="0" rtlCol="0">
            <a:spAutoFit/>
          </a:bodyPr>
          <a:lstStyle/>
          <a:p>
            <a:pPr marL="12700" marR="5080">
              <a:lnSpc>
                <a:spcPct val="100000"/>
              </a:lnSpc>
              <a:spcBef>
                <a:spcPts val="100"/>
              </a:spcBef>
            </a:pPr>
            <a:r>
              <a:rPr sz="1400" b="1" spc="-95" dirty="0">
                <a:latin typeface="Arial"/>
                <a:cs typeface="Arial"/>
              </a:rPr>
              <a:t>A</a:t>
            </a:r>
            <a:r>
              <a:rPr sz="1400" b="1" spc="-15" dirty="0">
                <a:latin typeface="Arial"/>
                <a:cs typeface="Arial"/>
              </a:rPr>
              <a:t>v</a:t>
            </a:r>
            <a:r>
              <a:rPr sz="1400" b="1" spc="-5" dirty="0">
                <a:latin typeface="Arial"/>
                <a:cs typeface="Arial"/>
              </a:rPr>
              <a:t>e</a:t>
            </a:r>
            <a:r>
              <a:rPr sz="1400" b="1" dirty="0">
                <a:latin typeface="Arial"/>
                <a:cs typeface="Arial"/>
              </a:rPr>
              <a:t>r</a:t>
            </a:r>
            <a:r>
              <a:rPr sz="1400" b="1" spc="-5" dirty="0">
                <a:latin typeface="Arial"/>
                <a:cs typeface="Arial"/>
              </a:rPr>
              <a:t>a</a:t>
            </a:r>
            <a:r>
              <a:rPr sz="1400" b="1" spc="-10" dirty="0">
                <a:latin typeface="Arial"/>
                <a:cs typeface="Arial"/>
              </a:rPr>
              <a:t>g</a:t>
            </a:r>
            <a:r>
              <a:rPr sz="1400" b="1" dirty="0">
                <a:latin typeface="Arial"/>
                <a:cs typeface="Arial"/>
              </a:rPr>
              <a:t>e  </a:t>
            </a:r>
            <a:r>
              <a:rPr sz="1400" b="1" spc="-5" dirty="0">
                <a:latin typeface="Arial"/>
                <a:cs typeface="Arial"/>
              </a:rPr>
              <a:t>timing</a:t>
            </a:r>
            <a:endParaRPr sz="1400">
              <a:latin typeface="Arial"/>
              <a:cs typeface="Arial"/>
            </a:endParaRPr>
          </a:p>
        </p:txBody>
      </p:sp>
      <p:sp>
        <p:nvSpPr>
          <p:cNvPr id="72" name="object 72"/>
          <p:cNvSpPr/>
          <p:nvPr/>
        </p:nvSpPr>
        <p:spPr>
          <a:xfrm>
            <a:off x="5840095" y="4458615"/>
            <a:ext cx="5709285" cy="431165"/>
          </a:xfrm>
          <a:custGeom>
            <a:avLst/>
            <a:gdLst/>
            <a:ahLst/>
            <a:cxnLst/>
            <a:rect l="l" t="t" r="r" b="b"/>
            <a:pathLst>
              <a:path w="5709284" h="431164">
                <a:moveTo>
                  <a:pt x="0" y="430885"/>
                </a:moveTo>
                <a:lnTo>
                  <a:pt x="5708777" y="430885"/>
                </a:lnTo>
                <a:lnTo>
                  <a:pt x="5708777" y="0"/>
                </a:lnTo>
                <a:lnTo>
                  <a:pt x="0" y="0"/>
                </a:lnTo>
                <a:lnTo>
                  <a:pt x="0" y="430885"/>
                </a:lnTo>
                <a:close/>
              </a:path>
            </a:pathLst>
          </a:custGeom>
          <a:ln w="9525">
            <a:solidFill>
              <a:srgbClr val="051F79"/>
            </a:solidFill>
            <a:prstDash val="sysDash"/>
          </a:ln>
        </p:spPr>
        <p:txBody>
          <a:bodyPr wrap="square" lIns="0" tIns="0" rIns="0" bIns="0" rtlCol="0"/>
          <a:lstStyle/>
          <a:p>
            <a:endParaRPr/>
          </a:p>
        </p:txBody>
      </p:sp>
      <p:sp>
        <p:nvSpPr>
          <p:cNvPr id="73" name="object 73"/>
          <p:cNvSpPr txBox="1"/>
          <p:nvPr/>
        </p:nvSpPr>
        <p:spPr>
          <a:xfrm>
            <a:off x="7168133" y="4566286"/>
            <a:ext cx="305562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a:cs typeface="Arial"/>
              </a:rPr>
              <a:t>~60-90 </a:t>
            </a:r>
            <a:r>
              <a:rPr sz="1200" b="1" spc="-10" dirty="0">
                <a:latin typeface="Arial"/>
                <a:cs typeface="Arial"/>
              </a:rPr>
              <a:t>days </a:t>
            </a:r>
            <a:r>
              <a:rPr sz="1200" dirty="0">
                <a:latin typeface="Arial"/>
                <a:cs typeface="Arial"/>
              </a:rPr>
              <a:t>for a used car </a:t>
            </a:r>
            <a:r>
              <a:rPr sz="1200" spc="-5" dirty="0">
                <a:latin typeface="Arial"/>
                <a:cs typeface="Arial"/>
              </a:rPr>
              <a:t>in good</a:t>
            </a:r>
            <a:r>
              <a:rPr sz="1200" spc="-85" dirty="0">
                <a:latin typeface="Arial"/>
                <a:cs typeface="Arial"/>
              </a:rPr>
              <a:t> </a:t>
            </a:r>
            <a:r>
              <a:rPr sz="1200" spc="-5" dirty="0">
                <a:latin typeface="Arial"/>
                <a:cs typeface="Arial"/>
              </a:rPr>
              <a:t>condition</a:t>
            </a:r>
            <a:endParaRPr sz="1200">
              <a:latin typeface="Arial"/>
              <a:cs typeface="Arial"/>
            </a:endParaRPr>
          </a:p>
        </p:txBody>
      </p:sp>
      <p:sp>
        <p:nvSpPr>
          <p:cNvPr id="74" name="object 74"/>
          <p:cNvSpPr/>
          <p:nvPr/>
        </p:nvSpPr>
        <p:spPr>
          <a:xfrm>
            <a:off x="554736" y="4384930"/>
            <a:ext cx="1138555" cy="0"/>
          </a:xfrm>
          <a:custGeom>
            <a:avLst/>
            <a:gdLst/>
            <a:ahLst/>
            <a:cxnLst/>
            <a:rect l="l" t="t" r="r" b="b"/>
            <a:pathLst>
              <a:path w="1138555">
                <a:moveTo>
                  <a:pt x="0" y="0"/>
                </a:moveTo>
                <a:lnTo>
                  <a:pt x="1138174" y="0"/>
                </a:lnTo>
              </a:path>
            </a:pathLst>
          </a:custGeom>
          <a:ln w="6350">
            <a:solidFill>
              <a:srgbClr val="757575"/>
            </a:solidFill>
          </a:ln>
        </p:spPr>
        <p:txBody>
          <a:bodyPr wrap="square" lIns="0" tIns="0" rIns="0" bIns="0" rtlCol="0"/>
          <a:lstStyle/>
          <a:p>
            <a:endParaRPr/>
          </a:p>
        </p:txBody>
      </p:sp>
      <p:sp>
        <p:nvSpPr>
          <p:cNvPr id="75" name="object 75"/>
          <p:cNvSpPr/>
          <p:nvPr/>
        </p:nvSpPr>
        <p:spPr>
          <a:xfrm>
            <a:off x="9782809" y="4384930"/>
            <a:ext cx="1766570" cy="0"/>
          </a:xfrm>
          <a:custGeom>
            <a:avLst/>
            <a:gdLst/>
            <a:ahLst/>
            <a:cxnLst/>
            <a:rect l="l" t="t" r="r" b="b"/>
            <a:pathLst>
              <a:path w="1766570">
                <a:moveTo>
                  <a:pt x="0" y="0"/>
                </a:moveTo>
                <a:lnTo>
                  <a:pt x="1766189" y="0"/>
                </a:lnTo>
              </a:path>
            </a:pathLst>
          </a:custGeom>
          <a:ln w="6350">
            <a:solidFill>
              <a:srgbClr val="757575"/>
            </a:solidFill>
          </a:ln>
        </p:spPr>
        <p:txBody>
          <a:bodyPr wrap="square" lIns="0" tIns="0" rIns="0" bIns="0" rtlCol="0"/>
          <a:lstStyle/>
          <a:p>
            <a:endParaRPr/>
          </a:p>
        </p:txBody>
      </p:sp>
      <p:sp>
        <p:nvSpPr>
          <p:cNvPr id="76" name="object 76"/>
          <p:cNvSpPr/>
          <p:nvPr/>
        </p:nvSpPr>
        <p:spPr>
          <a:xfrm>
            <a:off x="554736" y="3521330"/>
            <a:ext cx="1138555" cy="0"/>
          </a:xfrm>
          <a:custGeom>
            <a:avLst/>
            <a:gdLst/>
            <a:ahLst/>
            <a:cxnLst/>
            <a:rect l="l" t="t" r="r" b="b"/>
            <a:pathLst>
              <a:path w="1138555">
                <a:moveTo>
                  <a:pt x="0" y="0"/>
                </a:moveTo>
                <a:lnTo>
                  <a:pt x="1138174" y="0"/>
                </a:lnTo>
              </a:path>
            </a:pathLst>
          </a:custGeom>
          <a:ln w="6350">
            <a:solidFill>
              <a:srgbClr val="757575"/>
            </a:solidFill>
          </a:ln>
        </p:spPr>
        <p:txBody>
          <a:bodyPr wrap="square" lIns="0" tIns="0" rIns="0" bIns="0" rtlCol="0"/>
          <a:lstStyle/>
          <a:p>
            <a:endParaRPr/>
          </a:p>
        </p:txBody>
      </p:sp>
      <p:sp>
        <p:nvSpPr>
          <p:cNvPr id="77" name="object 77"/>
          <p:cNvSpPr/>
          <p:nvPr/>
        </p:nvSpPr>
        <p:spPr>
          <a:xfrm>
            <a:off x="9782809" y="3521330"/>
            <a:ext cx="1766570" cy="0"/>
          </a:xfrm>
          <a:custGeom>
            <a:avLst/>
            <a:gdLst/>
            <a:ahLst/>
            <a:cxnLst/>
            <a:rect l="l" t="t" r="r" b="b"/>
            <a:pathLst>
              <a:path w="1766570">
                <a:moveTo>
                  <a:pt x="0" y="0"/>
                </a:moveTo>
                <a:lnTo>
                  <a:pt x="1766189" y="0"/>
                </a:lnTo>
              </a:path>
            </a:pathLst>
          </a:custGeom>
          <a:ln w="6350">
            <a:solidFill>
              <a:srgbClr val="757575"/>
            </a:solidFill>
          </a:ln>
        </p:spPr>
        <p:txBody>
          <a:bodyPr wrap="square" lIns="0" tIns="0" rIns="0" bIns="0" rtlCol="0"/>
          <a:lstStyle/>
          <a:p>
            <a:endParaRPr/>
          </a:p>
        </p:txBody>
      </p:sp>
      <p:sp>
        <p:nvSpPr>
          <p:cNvPr id="78" name="object 78"/>
          <p:cNvSpPr txBox="1"/>
          <p:nvPr/>
        </p:nvSpPr>
        <p:spPr>
          <a:xfrm>
            <a:off x="542036" y="1435354"/>
            <a:ext cx="1005840"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Description</a:t>
            </a:r>
            <a:endParaRPr sz="1400">
              <a:latin typeface="Arial"/>
              <a:cs typeface="Arial"/>
            </a:endParaRPr>
          </a:p>
        </p:txBody>
      </p:sp>
      <p:sp>
        <p:nvSpPr>
          <p:cNvPr id="79" name="object 79"/>
          <p:cNvSpPr txBox="1"/>
          <p:nvPr/>
        </p:nvSpPr>
        <p:spPr>
          <a:xfrm>
            <a:off x="9774428" y="1436879"/>
            <a:ext cx="1720850" cy="1306195"/>
          </a:xfrm>
          <a:prstGeom prst="rect">
            <a:avLst/>
          </a:prstGeom>
        </p:spPr>
        <p:txBody>
          <a:bodyPr vert="horz" wrap="square" lIns="0" tIns="12700" rIns="0" bIns="0" rtlCol="0">
            <a:spAutoFit/>
          </a:bodyPr>
          <a:lstStyle/>
          <a:p>
            <a:pPr marL="12700" marR="5080">
              <a:lnSpc>
                <a:spcPct val="100000"/>
              </a:lnSpc>
              <a:spcBef>
                <a:spcPts val="100"/>
              </a:spcBef>
            </a:pPr>
            <a:r>
              <a:rPr sz="1200" spc="-15" dirty="0">
                <a:latin typeface="Arial"/>
                <a:cs typeface="Arial"/>
              </a:rPr>
              <a:t>Vehicle </a:t>
            </a:r>
            <a:r>
              <a:rPr sz="1200" spc="-5" dirty="0">
                <a:latin typeface="Arial"/>
                <a:cs typeface="Arial"/>
              </a:rPr>
              <a:t>is prepared </a:t>
            </a:r>
            <a:r>
              <a:rPr sz="1200" dirty="0">
                <a:latin typeface="Arial"/>
                <a:cs typeface="Arial"/>
              </a:rPr>
              <a:t>for  </a:t>
            </a:r>
            <a:r>
              <a:rPr sz="1200" b="1" spc="-5" dirty="0">
                <a:latin typeface="Arial"/>
                <a:cs typeface="Arial"/>
              </a:rPr>
              <a:t>remarketing </a:t>
            </a:r>
            <a:r>
              <a:rPr sz="1200" spc="-5" dirty="0">
                <a:latin typeface="Arial"/>
                <a:cs typeface="Arial"/>
              </a:rPr>
              <a:t>(e.g.,  cleaning, </a:t>
            </a:r>
            <a:r>
              <a:rPr sz="1200" dirty="0">
                <a:latin typeface="Arial"/>
                <a:cs typeface="Arial"/>
              </a:rPr>
              <a:t>minor </a:t>
            </a:r>
            <a:r>
              <a:rPr sz="1200" spc="-5" dirty="0">
                <a:latin typeface="Arial"/>
                <a:cs typeface="Arial"/>
              </a:rPr>
              <a:t>repairs)  </a:t>
            </a:r>
            <a:r>
              <a:rPr sz="1200" dirty="0">
                <a:latin typeface="Arial"/>
                <a:cs typeface="Arial"/>
              </a:rPr>
              <a:t>and routed to </a:t>
            </a:r>
            <a:r>
              <a:rPr sz="1200" b="1" dirty="0">
                <a:latin typeface="Arial"/>
                <a:cs typeface="Arial"/>
              </a:rPr>
              <a:t>auction  house</a:t>
            </a:r>
            <a:r>
              <a:rPr sz="1200" dirty="0">
                <a:latin typeface="Arial"/>
                <a:cs typeface="Arial"/>
              </a:rPr>
              <a:t>, </a:t>
            </a:r>
            <a:r>
              <a:rPr sz="1200" b="1" dirty="0">
                <a:latin typeface="Arial"/>
                <a:cs typeface="Arial"/>
              </a:rPr>
              <a:t>dealership  network </a:t>
            </a:r>
            <a:r>
              <a:rPr sz="1200" spc="-5" dirty="0">
                <a:latin typeface="Arial"/>
                <a:cs typeface="Arial"/>
              </a:rPr>
              <a:t>or</a:t>
            </a:r>
            <a:r>
              <a:rPr sz="1200" spc="-80" dirty="0">
                <a:latin typeface="Arial"/>
                <a:cs typeface="Arial"/>
              </a:rPr>
              <a:t> </a:t>
            </a:r>
            <a:r>
              <a:rPr sz="1200" b="1" spc="-5" dirty="0">
                <a:latin typeface="Arial"/>
                <a:cs typeface="Arial"/>
              </a:rPr>
              <a:t>marketplace  </a:t>
            </a:r>
            <a:r>
              <a:rPr sz="1200" dirty="0">
                <a:latin typeface="Arial"/>
                <a:cs typeface="Arial"/>
              </a:rPr>
              <a:t>for</a:t>
            </a:r>
            <a:r>
              <a:rPr sz="1200" spc="-20" dirty="0">
                <a:latin typeface="Arial"/>
                <a:cs typeface="Arial"/>
              </a:rPr>
              <a:t> </a:t>
            </a:r>
            <a:r>
              <a:rPr sz="1200" spc="-5" dirty="0">
                <a:latin typeface="Arial"/>
                <a:cs typeface="Arial"/>
              </a:rPr>
              <a:t>resale</a:t>
            </a:r>
            <a:endParaRPr sz="1200">
              <a:latin typeface="Arial"/>
              <a:cs typeface="Arial"/>
            </a:endParaRPr>
          </a:p>
        </p:txBody>
      </p:sp>
      <p:sp>
        <p:nvSpPr>
          <p:cNvPr id="80" name="object 80"/>
          <p:cNvSpPr/>
          <p:nvPr/>
        </p:nvSpPr>
        <p:spPr>
          <a:xfrm>
            <a:off x="554736" y="4963034"/>
            <a:ext cx="1138555" cy="0"/>
          </a:xfrm>
          <a:custGeom>
            <a:avLst/>
            <a:gdLst/>
            <a:ahLst/>
            <a:cxnLst/>
            <a:rect l="l" t="t" r="r" b="b"/>
            <a:pathLst>
              <a:path w="1138555">
                <a:moveTo>
                  <a:pt x="0" y="0"/>
                </a:moveTo>
                <a:lnTo>
                  <a:pt x="1138174" y="0"/>
                </a:lnTo>
              </a:path>
            </a:pathLst>
          </a:custGeom>
          <a:ln w="6350">
            <a:solidFill>
              <a:srgbClr val="757575"/>
            </a:solidFill>
          </a:ln>
        </p:spPr>
        <p:txBody>
          <a:bodyPr wrap="square" lIns="0" tIns="0" rIns="0" bIns="0" rtlCol="0"/>
          <a:lstStyle/>
          <a:p>
            <a:endParaRPr/>
          </a:p>
        </p:txBody>
      </p:sp>
      <p:sp>
        <p:nvSpPr>
          <p:cNvPr id="81" name="object 81"/>
          <p:cNvSpPr/>
          <p:nvPr/>
        </p:nvSpPr>
        <p:spPr>
          <a:xfrm>
            <a:off x="9782809" y="4963034"/>
            <a:ext cx="1766570" cy="0"/>
          </a:xfrm>
          <a:custGeom>
            <a:avLst/>
            <a:gdLst/>
            <a:ahLst/>
            <a:cxnLst/>
            <a:rect l="l" t="t" r="r" b="b"/>
            <a:pathLst>
              <a:path w="1766570">
                <a:moveTo>
                  <a:pt x="0" y="0"/>
                </a:moveTo>
                <a:lnTo>
                  <a:pt x="1766189" y="0"/>
                </a:lnTo>
              </a:path>
            </a:pathLst>
          </a:custGeom>
          <a:ln w="6350">
            <a:solidFill>
              <a:srgbClr val="757575"/>
            </a:solidFill>
          </a:ln>
        </p:spPr>
        <p:txBody>
          <a:bodyPr wrap="square" lIns="0" tIns="0" rIns="0" bIns="0" rtlCol="0"/>
          <a:lstStyle/>
          <a:p>
            <a:endParaRPr/>
          </a:p>
        </p:txBody>
      </p:sp>
      <p:sp>
        <p:nvSpPr>
          <p:cNvPr id="82" name="object 82"/>
          <p:cNvSpPr txBox="1"/>
          <p:nvPr/>
        </p:nvSpPr>
        <p:spPr>
          <a:xfrm>
            <a:off x="542036" y="5018939"/>
            <a:ext cx="1162685" cy="453390"/>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a:cs typeface="Arial"/>
              </a:rPr>
              <a:t>ERB</a:t>
            </a:r>
            <a:r>
              <a:rPr sz="1400" b="1" spc="-60" dirty="0">
                <a:latin typeface="Arial"/>
                <a:cs typeface="Arial"/>
              </a:rPr>
              <a:t> </a:t>
            </a:r>
            <a:r>
              <a:rPr sz="1400" b="1" spc="-5" dirty="0">
                <a:latin typeface="Arial"/>
                <a:cs typeface="Arial"/>
              </a:rPr>
              <a:t>required</a:t>
            </a:r>
            <a:endParaRPr sz="1400" dirty="0">
              <a:latin typeface="Arial"/>
              <a:cs typeface="Arial"/>
            </a:endParaRPr>
          </a:p>
          <a:p>
            <a:pPr marL="12700">
              <a:lnSpc>
                <a:spcPct val="100000"/>
              </a:lnSpc>
            </a:pPr>
            <a:r>
              <a:rPr sz="1400" b="1" spc="-5" dirty="0">
                <a:latin typeface="Arial"/>
                <a:cs typeface="Arial"/>
              </a:rPr>
              <a:t>capabilities</a:t>
            </a:r>
            <a:endParaRPr sz="1400" dirty="0">
              <a:latin typeface="Arial"/>
              <a:cs typeface="Arial"/>
            </a:endParaRPr>
          </a:p>
        </p:txBody>
      </p:sp>
      <p:sp>
        <p:nvSpPr>
          <p:cNvPr id="83" name="object 83"/>
          <p:cNvSpPr txBox="1"/>
          <p:nvPr/>
        </p:nvSpPr>
        <p:spPr>
          <a:xfrm>
            <a:off x="9771380" y="5020437"/>
            <a:ext cx="1565275" cy="574675"/>
          </a:xfrm>
          <a:prstGeom prst="rect">
            <a:avLst/>
          </a:prstGeom>
        </p:spPr>
        <p:txBody>
          <a:bodyPr vert="horz" wrap="square" lIns="0" tIns="12700" rIns="0" bIns="0" rtlCol="0">
            <a:spAutoFit/>
          </a:bodyPr>
          <a:lstStyle/>
          <a:p>
            <a:pPr marL="12700" marR="5080" algn="just">
              <a:lnSpc>
                <a:spcPct val="100000"/>
              </a:lnSpc>
              <a:spcBef>
                <a:spcPts val="100"/>
              </a:spcBef>
            </a:pPr>
            <a:r>
              <a:rPr sz="1200" b="1" spc="-5" dirty="0">
                <a:latin typeface="Arial"/>
                <a:cs typeface="Arial"/>
              </a:rPr>
              <a:t>Remarketing</a:t>
            </a:r>
            <a:r>
              <a:rPr sz="1200" b="1" spc="-90" dirty="0">
                <a:latin typeface="Arial"/>
                <a:cs typeface="Arial"/>
              </a:rPr>
              <a:t> </a:t>
            </a:r>
            <a:r>
              <a:rPr sz="1200" b="1" dirty="0">
                <a:latin typeface="Arial"/>
                <a:cs typeface="Arial"/>
              </a:rPr>
              <a:t>channel  </a:t>
            </a:r>
            <a:r>
              <a:rPr sz="1200" b="1" spc="-5" dirty="0">
                <a:latin typeface="Arial"/>
                <a:cs typeface="Arial"/>
              </a:rPr>
              <a:t>strategy </a:t>
            </a:r>
            <a:r>
              <a:rPr sz="1200" spc="-10" dirty="0">
                <a:latin typeface="Arial"/>
                <a:cs typeface="Arial"/>
              </a:rPr>
              <a:t>(which </a:t>
            </a:r>
            <a:r>
              <a:rPr sz="1200" dirty="0">
                <a:latin typeface="Arial"/>
                <a:cs typeface="Arial"/>
              </a:rPr>
              <a:t>car </a:t>
            </a:r>
            <a:r>
              <a:rPr sz="1200" spc="-5" dirty="0">
                <a:latin typeface="Arial"/>
                <a:cs typeface="Arial"/>
              </a:rPr>
              <a:t>on  which</a:t>
            </a:r>
            <a:r>
              <a:rPr sz="1200" spc="-20" dirty="0">
                <a:latin typeface="Arial"/>
                <a:cs typeface="Arial"/>
              </a:rPr>
              <a:t> </a:t>
            </a:r>
            <a:r>
              <a:rPr sz="1200" spc="-5" dirty="0">
                <a:latin typeface="Arial"/>
                <a:cs typeface="Arial"/>
              </a:rPr>
              <a:t>channel)</a:t>
            </a:r>
            <a:endParaRPr sz="1200">
              <a:latin typeface="Arial"/>
              <a:cs typeface="Arial"/>
            </a:endParaRPr>
          </a:p>
        </p:txBody>
      </p:sp>
      <p:sp>
        <p:nvSpPr>
          <p:cNvPr id="84" name="object 84"/>
          <p:cNvSpPr/>
          <p:nvPr/>
        </p:nvSpPr>
        <p:spPr>
          <a:xfrm>
            <a:off x="1911985" y="5036719"/>
            <a:ext cx="7680325" cy="431165"/>
          </a:xfrm>
          <a:custGeom>
            <a:avLst/>
            <a:gdLst/>
            <a:ahLst/>
            <a:cxnLst/>
            <a:rect l="l" t="t" r="r" b="b"/>
            <a:pathLst>
              <a:path w="7680325" h="431164">
                <a:moveTo>
                  <a:pt x="0" y="430885"/>
                </a:moveTo>
                <a:lnTo>
                  <a:pt x="7679944" y="430885"/>
                </a:lnTo>
                <a:lnTo>
                  <a:pt x="7679944" y="0"/>
                </a:lnTo>
                <a:lnTo>
                  <a:pt x="0" y="0"/>
                </a:lnTo>
                <a:lnTo>
                  <a:pt x="0" y="430885"/>
                </a:lnTo>
                <a:close/>
              </a:path>
            </a:pathLst>
          </a:custGeom>
          <a:ln w="9525">
            <a:solidFill>
              <a:srgbClr val="051F79"/>
            </a:solidFill>
            <a:prstDash val="sysDash"/>
          </a:ln>
        </p:spPr>
        <p:txBody>
          <a:bodyPr wrap="square" lIns="0" tIns="0" rIns="0" bIns="0" rtlCol="0"/>
          <a:lstStyle/>
          <a:p>
            <a:endParaRPr/>
          </a:p>
        </p:txBody>
      </p:sp>
      <p:sp>
        <p:nvSpPr>
          <p:cNvPr id="85" name="object 85"/>
          <p:cNvSpPr txBox="1"/>
          <p:nvPr/>
        </p:nvSpPr>
        <p:spPr>
          <a:xfrm>
            <a:off x="4483734" y="5144517"/>
            <a:ext cx="253873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SLA team to </a:t>
            </a:r>
            <a:r>
              <a:rPr sz="1200" b="1" dirty="0">
                <a:latin typeface="Arial"/>
                <a:cs typeface="Arial"/>
              </a:rPr>
              <a:t>steer external</a:t>
            </a:r>
            <a:r>
              <a:rPr sz="1200" b="1" spc="-215" dirty="0">
                <a:latin typeface="Arial"/>
                <a:cs typeface="Arial"/>
              </a:rPr>
              <a:t> </a:t>
            </a:r>
            <a:r>
              <a:rPr sz="1200" b="1" spc="-5" dirty="0">
                <a:latin typeface="Arial"/>
                <a:cs typeface="Arial"/>
              </a:rPr>
              <a:t>partners</a:t>
            </a:r>
            <a:endParaRPr sz="1200">
              <a:latin typeface="Arial"/>
              <a:cs typeface="Arial"/>
            </a:endParaRPr>
          </a:p>
        </p:txBody>
      </p:sp>
      <p:sp>
        <p:nvSpPr>
          <p:cNvPr id="86" name="object 86"/>
          <p:cNvSpPr txBox="1"/>
          <p:nvPr/>
        </p:nvSpPr>
        <p:spPr>
          <a:xfrm>
            <a:off x="542036" y="2875535"/>
            <a:ext cx="1083310" cy="452755"/>
          </a:xfrm>
          <a:prstGeom prst="rect">
            <a:avLst/>
          </a:prstGeom>
        </p:spPr>
        <p:txBody>
          <a:bodyPr vert="horz" wrap="square" lIns="0" tIns="13335" rIns="0" bIns="0" rtlCol="0">
            <a:spAutoFit/>
          </a:bodyPr>
          <a:lstStyle/>
          <a:p>
            <a:pPr marL="12700" marR="5080">
              <a:lnSpc>
                <a:spcPct val="100000"/>
              </a:lnSpc>
              <a:spcBef>
                <a:spcPts val="105"/>
              </a:spcBef>
            </a:pPr>
            <a:r>
              <a:rPr sz="1400" b="1" spc="-10" dirty="0">
                <a:latin typeface="Arial"/>
                <a:cs typeface="Arial"/>
              </a:rPr>
              <a:t>R</a:t>
            </a:r>
            <a:r>
              <a:rPr sz="1400" b="1" spc="-5" dirty="0">
                <a:latin typeface="Arial"/>
                <a:cs typeface="Arial"/>
              </a:rPr>
              <a:t>es</a:t>
            </a:r>
            <a:r>
              <a:rPr sz="1400" b="1" spc="-10" dirty="0">
                <a:latin typeface="Arial"/>
                <a:cs typeface="Arial"/>
              </a:rPr>
              <a:t>pon</a:t>
            </a:r>
            <a:r>
              <a:rPr sz="1400" b="1" spc="-5" dirty="0">
                <a:latin typeface="Arial"/>
                <a:cs typeface="Arial"/>
              </a:rPr>
              <a:t>s</a:t>
            </a:r>
            <a:r>
              <a:rPr sz="1400" b="1" dirty="0">
                <a:latin typeface="Arial"/>
                <a:cs typeface="Arial"/>
              </a:rPr>
              <a:t>i</a:t>
            </a:r>
            <a:r>
              <a:rPr sz="1400" b="1" spc="-10" dirty="0">
                <a:latin typeface="Arial"/>
                <a:cs typeface="Arial"/>
              </a:rPr>
              <a:t>b</a:t>
            </a:r>
            <a:r>
              <a:rPr sz="1400" b="1" dirty="0">
                <a:latin typeface="Arial"/>
                <a:cs typeface="Arial"/>
              </a:rPr>
              <a:t>le  </a:t>
            </a:r>
            <a:r>
              <a:rPr sz="1400" b="1" spc="-5" dirty="0">
                <a:latin typeface="Arial"/>
                <a:cs typeface="Arial"/>
              </a:rPr>
              <a:t>partner</a:t>
            </a:r>
            <a:endParaRPr sz="1400" dirty="0">
              <a:latin typeface="Arial"/>
              <a:cs typeface="Arial"/>
            </a:endParaRPr>
          </a:p>
        </p:txBody>
      </p:sp>
      <p:sp>
        <p:nvSpPr>
          <p:cNvPr id="87" name="object 87"/>
          <p:cNvSpPr txBox="1"/>
          <p:nvPr/>
        </p:nvSpPr>
        <p:spPr>
          <a:xfrm>
            <a:off x="10861929" y="3062732"/>
            <a:ext cx="33909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E</a:t>
            </a:r>
            <a:r>
              <a:rPr sz="1200" spc="-5" dirty="0">
                <a:latin typeface="Arial"/>
                <a:cs typeface="Arial"/>
              </a:rPr>
              <a:t>RB</a:t>
            </a:r>
            <a:endParaRPr sz="1200">
              <a:latin typeface="Arial"/>
              <a:cs typeface="Arial"/>
            </a:endParaRPr>
          </a:p>
        </p:txBody>
      </p:sp>
      <p:sp>
        <p:nvSpPr>
          <p:cNvPr id="88" name="object 88"/>
          <p:cNvSpPr/>
          <p:nvPr/>
        </p:nvSpPr>
        <p:spPr>
          <a:xfrm>
            <a:off x="9782809" y="2902979"/>
            <a:ext cx="698500" cy="535940"/>
          </a:xfrm>
          <a:custGeom>
            <a:avLst/>
            <a:gdLst/>
            <a:ahLst/>
            <a:cxnLst/>
            <a:rect l="l" t="t" r="r" b="b"/>
            <a:pathLst>
              <a:path w="698500" h="535939">
                <a:moveTo>
                  <a:pt x="0" y="535419"/>
                </a:moveTo>
                <a:lnTo>
                  <a:pt x="698373" y="535419"/>
                </a:lnTo>
                <a:lnTo>
                  <a:pt x="698373" y="0"/>
                </a:lnTo>
                <a:lnTo>
                  <a:pt x="0" y="0"/>
                </a:lnTo>
                <a:lnTo>
                  <a:pt x="0" y="535419"/>
                </a:lnTo>
                <a:close/>
              </a:path>
            </a:pathLst>
          </a:custGeom>
          <a:ln w="12700">
            <a:solidFill>
              <a:srgbClr val="051F79"/>
            </a:solidFill>
          </a:ln>
        </p:spPr>
        <p:txBody>
          <a:bodyPr wrap="square" lIns="0" tIns="0" rIns="0" bIns="0" rtlCol="0"/>
          <a:lstStyle/>
          <a:p>
            <a:endParaRPr/>
          </a:p>
        </p:txBody>
      </p:sp>
      <p:sp>
        <p:nvSpPr>
          <p:cNvPr id="89" name="object 89"/>
          <p:cNvSpPr/>
          <p:nvPr/>
        </p:nvSpPr>
        <p:spPr>
          <a:xfrm>
            <a:off x="10215498" y="2971965"/>
            <a:ext cx="200175" cy="180301"/>
          </a:xfrm>
          <a:prstGeom prst="rect">
            <a:avLst/>
          </a:prstGeom>
          <a:blipFill>
            <a:blip r:embed="rId4" cstate="print"/>
            <a:stretch>
              <a:fillRect/>
            </a:stretch>
          </a:blipFill>
        </p:spPr>
        <p:txBody>
          <a:bodyPr wrap="square" lIns="0" tIns="0" rIns="0" bIns="0" rtlCol="0"/>
          <a:lstStyle/>
          <a:p>
            <a:endParaRPr/>
          </a:p>
        </p:txBody>
      </p:sp>
      <p:sp>
        <p:nvSpPr>
          <p:cNvPr id="90" name="object 90"/>
          <p:cNvSpPr/>
          <p:nvPr/>
        </p:nvSpPr>
        <p:spPr>
          <a:xfrm>
            <a:off x="10250544" y="3333058"/>
            <a:ext cx="125287" cy="75114"/>
          </a:xfrm>
          <a:prstGeom prst="rect">
            <a:avLst/>
          </a:prstGeom>
          <a:blipFill>
            <a:blip r:embed="rId5" cstate="print"/>
            <a:stretch>
              <a:fillRect/>
            </a:stretch>
          </a:blipFill>
        </p:spPr>
        <p:txBody>
          <a:bodyPr wrap="square" lIns="0" tIns="0" rIns="0" bIns="0" rtlCol="0"/>
          <a:lstStyle/>
          <a:p>
            <a:endParaRPr/>
          </a:p>
        </p:txBody>
      </p:sp>
      <p:sp>
        <p:nvSpPr>
          <p:cNvPr id="91" name="object 91"/>
          <p:cNvSpPr/>
          <p:nvPr/>
        </p:nvSpPr>
        <p:spPr>
          <a:xfrm>
            <a:off x="9859699" y="3331816"/>
            <a:ext cx="119345" cy="72085"/>
          </a:xfrm>
          <a:prstGeom prst="rect">
            <a:avLst/>
          </a:prstGeom>
          <a:blipFill>
            <a:blip r:embed="rId6" cstate="print"/>
            <a:stretch>
              <a:fillRect/>
            </a:stretch>
          </a:blipFill>
        </p:spPr>
        <p:txBody>
          <a:bodyPr wrap="square" lIns="0" tIns="0" rIns="0" bIns="0" rtlCol="0"/>
          <a:lstStyle/>
          <a:p>
            <a:endParaRPr/>
          </a:p>
        </p:txBody>
      </p:sp>
      <p:sp>
        <p:nvSpPr>
          <p:cNvPr id="92" name="object 92"/>
          <p:cNvSpPr/>
          <p:nvPr/>
        </p:nvSpPr>
        <p:spPr>
          <a:xfrm>
            <a:off x="9842972" y="3202883"/>
            <a:ext cx="577850" cy="205104"/>
          </a:xfrm>
          <a:custGeom>
            <a:avLst/>
            <a:gdLst/>
            <a:ahLst/>
            <a:cxnLst/>
            <a:rect l="l" t="t" r="r" b="b"/>
            <a:pathLst>
              <a:path w="577850" h="205104">
                <a:moveTo>
                  <a:pt x="572700" y="132697"/>
                </a:moveTo>
                <a:lnTo>
                  <a:pt x="473123" y="132697"/>
                </a:lnTo>
                <a:lnTo>
                  <a:pt x="495259" y="136994"/>
                </a:lnTo>
                <a:lnTo>
                  <a:pt x="513385" y="149171"/>
                </a:lnTo>
                <a:lnTo>
                  <a:pt x="525680" y="167415"/>
                </a:lnTo>
                <a:lnTo>
                  <a:pt x="530322" y="189908"/>
                </a:lnTo>
                <a:lnTo>
                  <a:pt x="530342" y="195316"/>
                </a:lnTo>
                <a:lnTo>
                  <a:pt x="529726" y="200239"/>
                </a:lnTo>
                <a:lnTo>
                  <a:pt x="528486" y="205074"/>
                </a:lnTo>
                <a:lnTo>
                  <a:pt x="529734" y="205084"/>
                </a:lnTo>
                <a:lnTo>
                  <a:pt x="533727" y="204820"/>
                </a:lnTo>
                <a:lnTo>
                  <a:pt x="543697" y="203683"/>
                </a:lnTo>
                <a:lnTo>
                  <a:pt x="556635" y="201152"/>
                </a:lnTo>
                <a:lnTo>
                  <a:pt x="569530" y="196708"/>
                </a:lnTo>
                <a:lnTo>
                  <a:pt x="572990" y="195103"/>
                </a:lnTo>
                <a:lnTo>
                  <a:pt x="577354" y="191941"/>
                </a:lnTo>
                <a:lnTo>
                  <a:pt x="576044" y="188059"/>
                </a:lnTo>
                <a:lnTo>
                  <a:pt x="576012" y="187816"/>
                </a:lnTo>
                <a:lnTo>
                  <a:pt x="575621" y="182144"/>
                </a:lnTo>
                <a:lnTo>
                  <a:pt x="575510" y="176492"/>
                </a:lnTo>
                <a:lnTo>
                  <a:pt x="575359" y="164555"/>
                </a:lnTo>
                <a:lnTo>
                  <a:pt x="575092" y="152111"/>
                </a:lnTo>
                <a:lnTo>
                  <a:pt x="573944" y="136876"/>
                </a:lnTo>
                <a:lnTo>
                  <a:pt x="573862" y="136235"/>
                </a:lnTo>
                <a:lnTo>
                  <a:pt x="572700" y="132697"/>
                </a:lnTo>
                <a:close/>
              </a:path>
              <a:path w="577850" h="205104">
                <a:moveTo>
                  <a:pt x="572695" y="132681"/>
                </a:moveTo>
                <a:lnTo>
                  <a:pt x="79057" y="132681"/>
                </a:lnTo>
                <a:lnTo>
                  <a:pt x="79722" y="132697"/>
                </a:lnTo>
                <a:lnTo>
                  <a:pt x="82659" y="132851"/>
                </a:lnTo>
                <a:lnTo>
                  <a:pt x="122809" y="155110"/>
                </a:lnTo>
                <a:lnTo>
                  <a:pt x="134607" y="194187"/>
                </a:lnTo>
                <a:lnTo>
                  <a:pt x="134293" y="197437"/>
                </a:lnTo>
                <a:lnTo>
                  <a:pt x="133697" y="200803"/>
                </a:lnTo>
                <a:lnTo>
                  <a:pt x="418691" y="204042"/>
                </a:lnTo>
                <a:lnTo>
                  <a:pt x="417655" y="199685"/>
                </a:lnTo>
                <a:lnTo>
                  <a:pt x="417123" y="195316"/>
                </a:lnTo>
                <a:lnTo>
                  <a:pt x="417206" y="189907"/>
                </a:lnTo>
                <a:lnTo>
                  <a:pt x="421496" y="168093"/>
                </a:lnTo>
                <a:lnTo>
                  <a:pt x="433489" y="149803"/>
                </a:lnTo>
                <a:lnTo>
                  <a:pt x="451295" y="137396"/>
                </a:lnTo>
                <a:lnTo>
                  <a:pt x="473123" y="132697"/>
                </a:lnTo>
                <a:lnTo>
                  <a:pt x="572700" y="132697"/>
                </a:lnTo>
                <a:close/>
              </a:path>
              <a:path w="577850" h="205104">
                <a:moveTo>
                  <a:pt x="569585" y="196708"/>
                </a:moveTo>
                <a:close/>
              </a:path>
              <a:path w="577850" h="205104">
                <a:moveTo>
                  <a:pt x="215592" y="0"/>
                </a:moveTo>
                <a:lnTo>
                  <a:pt x="153400" y="588"/>
                </a:lnTo>
                <a:lnTo>
                  <a:pt x="71574" y="7575"/>
                </a:lnTo>
                <a:lnTo>
                  <a:pt x="41200" y="30967"/>
                </a:lnTo>
                <a:lnTo>
                  <a:pt x="13723" y="114076"/>
                </a:lnTo>
                <a:lnTo>
                  <a:pt x="12329" y="122188"/>
                </a:lnTo>
                <a:lnTo>
                  <a:pt x="8434" y="137396"/>
                </a:lnTo>
                <a:lnTo>
                  <a:pt x="4909" y="150057"/>
                </a:lnTo>
                <a:lnTo>
                  <a:pt x="342" y="165703"/>
                </a:lnTo>
                <a:lnTo>
                  <a:pt x="0" y="169312"/>
                </a:lnTo>
                <a:lnTo>
                  <a:pt x="17285" y="195316"/>
                </a:lnTo>
                <a:lnTo>
                  <a:pt x="18047" y="195160"/>
                </a:lnTo>
                <a:lnTo>
                  <a:pt x="21392" y="187816"/>
                </a:lnTo>
                <a:lnTo>
                  <a:pt x="21559" y="185209"/>
                </a:lnTo>
                <a:lnTo>
                  <a:pt x="38417" y="149171"/>
                </a:lnTo>
                <a:lnTo>
                  <a:pt x="72405" y="132681"/>
                </a:lnTo>
                <a:lnTo>
                  <a:pt x="572695" y="132681"/>
                </a:lnTo>
                <a:lnTo>
                  <a:pt x="569685" y="123521"/>
                </a:lnTo>
                <a:lnTo>
                  <a:pt x="564970" y="117865"/>
                </a:lnTo>
                <a:lnTo>
                  <a:pt x="563779" y="115439"/>
                </a:lnTo>
                <a:lnTo>
                  <a:pt x="560042" y="113346"/>
                </a:lnTo>
                <a:lnTo>
                  <a:pt x="558109" y="112218"/>
                </a:lnTo>
                <a:lnTo>
                  <a:pt x="524681" y="99951"/>
                </a:lnTo>
                <a:lnTo>
                  <a:pt x="477571" y="88684"/>
                </a:lnTo>
                <a:lnTo>
                  <a:pt x="432989" y="79437"/>
                </a:lnTo>
                <a:lnTo>
                  <a:pt x="407147" y="73231"/>
                </a:lnTo>
                <a:lnTo>
                  <a:pt x="399813" y="70351"/>
                </a:lnTo>
                <a:lnTo>
                  <a:pt x="393359" y="67414"/>
                </a:lnTo>
                <a:lnTo>
                  <a:pt x="383773" y="60420"/>
                </a:lnTo>
                <a:lnTo>
                  <a:pt x="369279" y="50375"/>
                </a:lnTo>
                <a:lnTo>
                  <a:pt x="334337" y="28718"/>
                </a:lnTo>
                <a:lnTo>
                  <a:pt x="296131" y="11498"/>
                </a:lnTo>
                <a:lnTo>
                  <a:pt x="259897" y="3578"/>
                </a:lnTo>
                <a:lnTo>
                  <a:pt x="215592" y="0"/>
                </a:lnTo>
                <a:close/>
              </a:path>
            </a:pathLst>
          </a:custGeom>
          <a:solidFill>
            <a:srgbClr val="2151FF"/>
          </a:solidFill>
        </p:spPr>
        <p:txBody>
          <a:bodyPr wrap="square" lIns="0" tIns="0" rIns="0" bIns="0" rtlCol="0"/>
          <a:lstStyle/>
          <a:p>
            <a:endParaRPr/>
          </a:p>
        </p:txBody>
      </p:sp>
      <p:sp>
        <p:nvSpPr>
          <p:cNvPr id="93" name="object 93"/>
          <p:cNvSpPr/>
          <p:nvPr/>
        </p:nvSpPr>
        <p:spPr>
          <a:xfrm>
            <a:off x="9928397" y="3336238"/>
            <a:ext cx="3810" cy="635"/>
          </a:xfrm>
          <a:custGeom>
            <a:avLst/>
            <a:gdLst/>
            <a:ahLst/>
            <a:cxnLst/>
            <a:rect l="l" t="t" r="r" b="b"/>
            <a:pathLst>
              <a:path w="3809" h="635">
                <a:moveTo>
                  <a:pt x="0" y="0"/>
                </a:moveTo>
                <a:lnTo>
                  <a:pt x="2178" y="381"/>
                </a:lnTo>
                <a:lnTo>
                  <a:pt x="3304" y="535"/>
                </a:lnTo>
                <a:lnTo>
                  <a:pt x="2210" y="324"/>
                </a:lnTo>
                <a:lnTo>
                  <a:pt x="1117" y="146"/>
                </a:lnTo>
                <a:lnTo>
                  <a:pt x="0" y="0"/>
                </a:lnTo>
                <a:close/>
              </a:path>
            </a:pathLst>
          </a:custGeom>
          <a:solidFill>
            <a:srgbClr val="1537B9"/>
          </a:solidFill>
        </p:spPr>
        <p:txBody>
          <a:bodyPr wrap="square" lIns="0" tIns="0" rIns="0" bIns="0" rtlCol="0"/>
          <a:lstStyle/>
          <a:p>
            <a:endParaRPr/>
          </a:p>
        </p:txBody>
      </p:sp>
      <p:sp>
        <p:nvSpPr>
          <p:cNvPr id="94" name="object 94"/>
          <p:cNvSpPr/>
          <p:nvPr/>
        </p:nvSpPr>
        <p:spPr>
          <a:xfrm>
            <a:off x="9931701" y="3336773"/>
            <a:ext cx="5080" cy="1270"/>
          </a:xfrm>
          <a:custGeom>
            <a:avLst/>
            <a:gdLst/>
            <a:ahLst/>
            <a:cxnLst/>
            <a:rect l="l" t="t" r="r" b="b"/>
            <a:pathLst>
              <a:path w="5079" h="1270">
                <a:moveTo>
                  <a:pt x="4496" y="1066"/>
                </a:moveTo>
                <a:close/>
              </a:path>
              <a:path w="5079" h="1270">
                <a:moveTo>
                  <a:pt x="0" y="0"/>
                </a:moveTo>
                <a:lnTo>
                  <a:pt x="1525" y="300"/>
                </a:lnTo>
                <a:lnTo>
                  <a:pt x="3034" y="649"/>
                </a:lnTo>
                <a:lnTo>
                  <a:pt x="4496" y="1066"/>
                </a:lnTo>
                <a:lnTo>
                  <a:pt x="4111" y="819"/>
                </a:lnTo>
                <a:lnTo>
                  <a:pt x="3785" y="454"/>
                </a:lnTo>
                <a:lnTo>
                  <a:pt x="1248" y="178"/>
                </a:lnTo>
                <a:lnTo>
                  <a:pt x="0" y="0"/>
                </a:lnTo>
                <a:close/>
              </a:path>
            </a:pathLst>
          </a:custGeom>
          <a:solidFill>
            <a:srgbClr val="1537B9"/>
          </a:solidFill>
        </p:spPr>
        <p:txBody>
          <a:bodyPr wrap="square" lIns="0" tIns="0" rIns="0" bIns="0" rtlCol="0"/>
          <a:lstStyle/>
          <a:p>
            <a:endParaRPr/>
          </a:p>
        </p:txBody>
      </p:sp>
      <p:sp>
        <p:nvSpPr>
          <p:cNvPr id="95" name="object 95"/>
          <p:cNvSpPr/>
          <p:nvPr/>
        </p:nvSpPr>
        <p:spPr>
          <a:xfrm>
            <a:off x="10060178" y="3301438"/>
            <a:ext cx="26670" cy="8890"/>
          </a:xfrm>
          <a:custGeom>
            <a:avLst/>
            <a:gdLst/>
            <a:ahLst/>
            <a:cxnLst/>
            <a:rect l="l" t="t" r="r" b="b"/>
            <a:pathLst>
              <a:path w="26670" h="8889">
                <a:moveTo>
                  <a:pt x="24670" y="0"/>
                </a:moveTo>
                <a:lnTo>
                  <a:pt x="1705" y="0"/>
                </a:lnTo>
                <a:lnTo>
                  <a:pt x="0" y="1979"/>
                </a:lnTo>
                <a:lnTo>
                  <a:pt x="0" y="6864"/>
                </a:lnTo>
                <a:lnTo>
                  <a:pt x="1705" y="8835"/>
                </a:lnTo>
                <a:lnTo>
                  <a:pt x="24670" y="8835"/>
                </a:lnTo>
                <a:lnTo>
                  <a:pt x="26375" y="6864"/>
                </a:lnTo>
                <a:lnTo>
                  <a:pt x="26375" y="1979"/>
                </a:lnTo>
                <a:lnTo>
                  <a:pt x="24670" y="0"/>
                </a:lnTo>
                <a:close/>
              </a:path>
            </a:pathLst>
          </a:custGeom>
          <a:solidFill>
            <a:srgbClr val="041C2C"/>
          </a:solidFill>
        </p:spPr>
        <p:txBody>
          <a:bodyPr wrap="square" lIns="0" tIns="0" rIns="0" bIns="0" rtlCol="0"/>
          <a:lstStyle/>
          <a:p>
            <a:endParaRPr/>
          </a:p>
        </p:txBody>
      </p:sp>
      <p:sp>
        <p:nvSpPr>
          <p:cNvPr id="96" name="object 96"/>
          <p:cNvSpPr/>
          <p:nvPr/>
        </p:nvSpPr>
        <p:spPr>
          <a:xfrm>
            <a:off x="10060570" y="3301430"/>
            <a:ext cx="26034" cy="5080"/>
          </a:xfrm>
          <a:custGeom>
            <a:avLst/>
            <a:gdLst/>
            <a:ahLst/>
            <a:cxnLst/>
            <a:rect l="l" t="t" r="r" b="b"/>
            <a:pathLst>
              <a:path w="26034" h="5079">
                <a:moveTo>
                  <a:pt x="24270" y="0"/>
                </a:moveTo>
                <a:lnTo>
                  <a:pt x="1321" y="0"/>
                </a:lnTo>
                <a:lnTo>
                  <a:pt x="0" y="1111"/>
                </a:lnTo>
                <a:lnTo>
                  <a:pt x="0" y="3837"/>
                </a:lnTo>
                <a:lnTo>
                  <a:pt x="1321" y="4941"/>
                </a:lnTo>
                <a:lnTo>
                  <a:pt x="24270" y="4941"/>
                </a:lnTo>
                <a:lnTo>
                  <a:pt x="25592" y="3837"/>
                </a:lnTo>
                <a:lnTo>
                  <a:pt x="25592" y="1111"/>
                </a:lnTo>
                <a:lnTo>
                  <a:pt x="24270" y="0"/>
                </a:lnTo>
                <a:close/>
              </a:path>
            </a:pathLst>
          </a:custGeom>
          <a:solidFill>
            <a:srgbClr val="041C2C"/>
          </a:solidFill>
        </p:spPr>
        <p:txBody>
          <a:bodyPr wrap="square" lIns="0" tIns="0" rIns="0" bIns="0" rtlCol="0"/>
          <a:lstStyle/>
          <a:p>
            <a:endParaRPr/>
          </a:p>
        </p:txBody>
      </p:sp>
      <p:sp>
        <p:nvSpPr>
          <p:cNvPr id="97" name="object 97"/>
          <p:cNvSpPr/>
          <p:nvPr/>
        </p:nvSpPr>
        <p:spPr>
          <a:xfrm>
            <a:off x="9842938" y="3211255"/>
            <a:ext cx="578587" cy="197651"/>
          </a:xfrm>
          <a:prstGeom prst="rect">
            <a:avLst/>
          </a:prstGeom>
          <a:blipFill>
            <a:blip r:embed="rId7" cstate="print"/>
            <a:stretch>
              <a:fillRect/>
            </a:stretch>
          </a:blipFill>
        </p:spPr>
        <p:txBody>
          <a:bodyPr wrap="square" lIns="0" tIns="0" rIns="0" bIns="0" rtlCol="0"/>
          <a:lstStyle/>
          <a:p>
            <a:endParaRPr/>
          </a:p>
        </p:txBody>
      </p:sp>
      <p:sp>
        <p:nvSpPr>
          <p:cNvPr id="98" name="object 98"/>
          <p:cNvSpPr/>
          <p:nvPr/>
        </p:nvSpPr>
        <p:spPr>
          <a:xfrm>
            <a:off x="9852266" y="3212981"/>
            <a:ext cx="564904" cy="225135"/>
          </a:xfrm>
          <a:prstGeom prst="rect">
            <a:avLst/>
          </a:prstGeom>
          <a:blipFill>
            <a:blip r:embed="rId8" cstate="print"/>
            <a:stretch>
              <a:fillRect/>
            </a:stretch>
          </a:blipFill>
        </p:spPr>
        <p:txBody>
          <a:bodyPr wrap="square" lIns="0" tIns="0" rIns="0" bIns="0" rtlCol="0"/>
          <a:lstStyle/>
          <a:p>
            <a:endParaRPr/>
          </a:p>
        </p:txBody>
      </p:sp>
      <p:sp>
        <p:nvSpPr>
          <p:cNvPr id="99" name="object 99"/>
          <p:cNvSpPr txBox="1"/>
          <p:nvPr/>
        </p:nvSpPr>
        <p:spPr>
          <a:xfrm>
            <a:off x="4625466" y="2971293"/>
            <a:ext cx="983615" cy="391160"/>
          </a:xfrm>
          <a:prstGeom prst="rect">
            <a:avLst/>
          </a:prstGeom>
        </p:spPr>
        <p:txBody>
          <a:bodyPr vert="horz" wrap="square" lIns="0" tIns="12700" rIns="0" bIns="0" rtlCol="0">
            <a:spAutoFit/>
          </a:bodyPr>
          <a:lstStyle/>
          <a:p>
            <a:pPr marL="300355" marR="5080" indent="-288290">
              <a:lnSpc>
                <a:spcPct val="100000"/>
              </a:lnSpc>
              <a:spcBef>
                <a:spcPts val="100"/>
              </a:spcBef>
            </a:pPr>
            <a:r>
              <a:rPr sz="1200" spc="-5" dirty="0">
                <a:latin typeface="Arial"/>
                <a:cs typeface="Arial"/>
              </a:rPr>
              <a:t>Re</a:t>
            </a:r>
            <a:r>
              <a:rPr sz="1200" spc="5" dirty="0">
                <a:latin typeface="Arial"/>
                <a:cs typeface="Arial"/>
              </a:rPr>
              <a:t>p</a:t>
            </a:r>
            <a:r>
              <a:rPr sz="1200" dirty="0">
                <a:latin typeface="Arial"/>
                <a:cs typeface="Arial"/>
              </a:rPr>
              <a:t>ossessi</a:t>
            </a:r>
            <a:r>
              <a:rPr sz="1200" spc="-10" dirty="0">
                <a:latin typeface="Arial"/>
                <a:cs typeface="Arial"/>
              </a:rPr>
              <a:t>o</a:t>
            </a:r>
            <a:r>
              <a:rPr sz="1200" dirty="0">
                <a:latin typeface="Arial"/>
                <a:cs typeface="Arial"/>
              </a:rPr>
              <a:t>n  </a:t>
            </a:r>
            <a:r>
              <a:rPr sz="1200" spc="-5" dirty="0">
                <a:latin typeface="Arial"/>
                <a:cs typeface="Arial"/>
              </a:rPr>
              <a:t>agent</a:t>
            </a:r>
            <a:endParaRPr sz="1200">
              <a:latin typeface="Arial"/>
              <a:cs typeface="Arial"/>
            </a:endParaRPr>
          </a:p>
        </p:txBody>
      </p:sp>
      <p:sp>
        <p:nvSpPr>
          <p:cNvPr id="100" name="object 100"/>
          <p:cNvSpPr/>
          <p:nvPr/>
        </p:nvSpPr>
        <p:spPr>
          <a:xfrm>
            <a:off x="3884295" y="2893695"/>
            <a:ext cx="698500" cy="533400"/>
          </a:xfrm>
          <a:custGeom>
            <a:avLst/>
            <a:gdLst/>
            <a:ahLst/>
            <a:cxnLst/>
            <a:rect l="l" t="t" r="r" b="b"/>
            <a:pathLst>
              <a:path w="698500" h="533400">
                <a:moveTo>
                  <a:pt x="0" y="533019"/>
                </a:moveTo>
                <a:lnTo>
                  <a:pt x="698373" y="533019"/>
                </a:lnTo>
                <a:lnTo>
                  <a:pt x="698373" y="0"/>
                </a:lnTo>
                <a:lnTo>
                  <a:pt x="0" y="0"/>
                </a:lnTo>
                <a:lnTo>
                  <a:pt x="0" y="533019"/>
                </a:lnTo>
                <a:close/>
              </a:path>
            </a:pathLst>
          </a:custGeom>
          <a:ln w="12700">
            <a:solidFill>
              <a:srgbClr val="051F79"/>
            </a:solidFill>
          </a:ln>
        </p:spPr>
        <p:txBody>
          <a:bodyPr wrap="square" lIns="0" tIns="0" rIns="0" bIns="0" rtlCol="0"/>
          <a:lstStyle/>
          <a:p>
            <a:endParaRPr/>
          </a:p>
        </p:txBody>
      </p:sp>
      <p:sp>
        <p:nvSpPr>
          <p:cNvPr id="101" name="object 101"/>
          <p:cNvSpPr/>
          <p:nvPr/>
        </p:nvSpPr>
        <p:spPr>
          <a:xfrm>
            <a:off x="4351902" y="3312865"/>
            <a:ext cx="125287" cy="75114"/>
          </a:xfrm>
          <a:prstGeom prst="rect">
            <a:avLst/>
          </a:prstGeom>
          <a:blipFill>
            <a:blip r:embed="rId9" cstate="print"/>
            <a:stretch>
              <a:fillRect/>
            </a:stretch>
          </a:blipFill>
        </p:spPr>
        <p:txBody>
          <a:bodyPr wrap="square" lIns="0" tIns="0" rIns="0" bIns="0" rtlCol="0"/>
          <a:lstStyle/>
          <a:p>
            <a:endParaRPr/>
          </a:p>
        </p:txBody>
      </p:sp>
      <p:sp>
        <p:nvSpPr>
          <p:cNvPr id="102" name="object 102"/>
          <p:cNvSpPr/>
          <p:nvPr/>
        </p:nvSpPr>
        <p:spPr>
          <a:xfrm>
            <a:off x="3961057" y="3311623"/>
            <a:ext cx="119345" cy="72085"/>
          </a:xfrm>
          <a:prstGeom prst="rect">
            <a:avLst/>
          </a:prstGeom>
          <a:blipFill>
            <a:blip r:embed="rId6" cstate="print"/>
            <a:stretch>
              <a:fillRect/>
            </a:stretch>
          </a:blipFill>
        </p:spPr>
        <p:txBody>
          <a:bodyPr wrap="square" lIns="0" tIns="0" rIns="0" bIns="0" rtlCol="0"/>
          <a:lstStyle/>
          <a:p>
            <a:endParaRPr/>
          </a:p>
        </p:txBody>
      </p:sp>
      <p:sp>
        <p:nvSpPr>
          <p:cNvPr id="103" name="object 103"/>
          <p:cNvSpPr/>
          <p:nvPr/>
        </p:nvSpPr>
        <p:spPr>
          <a:xfrm>
            <a:off x="3944330" y="3182690"/>
            <a:ext cx="577850" cy="205104"/>
          </a:xfrm>
          <a:custGeom>
            <a:avLst/>
            <a:gdLst/>
            <a:ahLst/>
            <a:cxnLst/>
            <a:rect l="l" t="t" r="r" b="b"/>
            <a:pathLst>
              <a:path w="577850" h="205104">
                <a:moveTo>
                  <a:pt x="572700" y="132697"/>
                </a:moveTo>
                <a:lnTo>
                  <a:pt x="473124" y="132697"/>
                </a:lnTo>
                <a:lnTo>
                  <a:pt x="495259" y="136994"/>
                </a:lnTo>
                <a:lnTo>
                  <a:pt x="513385" y="149171"/>
                </a:lnTo>
                <a:lnTo>
                  <a:pt x="525680" y="167415"/>
                </a:lnTo>
                <a:lnTo>
                  <a:pt x="530322" y="189908"/>
                </a:lnTo>
                <a:lnTo>
                  <a:pt x="530342" y="195316"/>
                </a:lnTo>
                <a:lnTo>
                  <a:pt x="529726" y="200239"/>
                </a:lnTo>
                <a:lnTo>
                  <a:pt x="528486" y="205074"/>
                </a:lnTo>
                <a:lnTo>
                  <a:pt x="529734" y="205084"/>
                </a:lnTo>
                <a:lnTo>
                  <a:pt x="533727" y="204820"/>
                </a:lnTo>
                <a:lnTo>
                  <a:pt x="543697" y="203683"/>
                </a:lnTo>
                <a:lnTo>
                  <a:pt x="556635" y="201152"/>
                </a:lnTo>
                <a:lnTo>
                  <a:pt x="569530" y="196708"/>
                </a:lnTo>
                <a:lnTo>
                  <a:pt x="572990" y="195103"/>
                </a:lnTo>
                <a:lnTo>
                  <a:pt x="577354" y="191941"/>
                </a:lnTo>
                <a:lnTo>
                  <a:pt x="576044" y="188059"/>
                </a:lnTo>
                <a:lnTo>
                  <a:pt x="576012" y="187816"/>
                </a:lnTo>
                <a:lnTo>
                  <a:pt x="575621" y="182144"/>
                </a:lnTo>
                <a:lnTo>
                  <a:pt x="575510" y="176492"/>
                </a:lnTo>
                <a:lnTo>
                  <a:pt x="575359" y="164555"/>
                </a:lnTo>
                <a:lnTo>
                  <a:pt x="575092" y="152111"/>
                </a:lnTo>
                <a:lnTo>
                  <a:pt x="573944" y="136876"/>
                </a:lnTo>
                <a:lnTo>
                  <a:pt x="573862" y="136235"/>
                </a:lnTo>
                <a:lnTo>
                  <a:pt x="572700" y="132697"/>
                </a:lnTo>
                <a:close/>
              </a:path>
              <a:path w="577850" h="205104">
                <a:moveTo>
                  <a:pt x="572695" y="132681"/>
                </a:moveTo>
                <a:lnTo>
                  <a:pt x="79057" y="132681"/>
                </a:lnTo>
                <a:lnTo>
                  <a:pt x="79722" y="132697"/>
                </a:lnTo>
                <a:lnTo>
                  <a:pt x="82659" y="132851"/>
                </a:lnTo>
                <a:lnTo>
                  <a:pt x="122809" y="155110"/>
                </a:lnTo>
                <a:lnTo>
                  <a:pt x="134607" y="194187"/>
                </a:lnTo>
                <a:lnTo>
                  <a:pt x="134293" y="197437"/>
                </a:lnTo>
                <a:lnTo>
                  <a:pt x="133697" y="200803"/>
                </a:lnTo>
                <a:lnTo>
                  <a:pt x="418691" y="204042"/>
                </a:lnTo>
                <a:lnTo>
                  <a:pt x="417655" y="199685"/>
                </a:lnTo>
                <a:lnTo>
                  <a:pt x="417123" y="195316"/>
                </a:lnTo>
                <a:lnTo>
                  <a:pt x="417206" y="189907"/>
                </a:lnTo>
                <a:lnTo>
                  <a:pt x="421496" y="168093"/>
                </a:lnTo>
                <a:lnTo>
                  <a:pt x="433489" y="149803"/>
                </a:lnTo>
                <a:lnTo>
                  <a:pt x="451295" y="137396"/>
                </a:lnTo>
                <a:lnTo>
                  <a:pt x="473124" y="132697"/>
                </a:lnTo>
                <a:lnTo>
                  <a:pt x="572700" y="132697"/>
                </a:lnTo>
                <a:close/>
              </a:path>
              <a:path w="577850" h="205104">
                <a:moveTo>
                  <a:pt x="569585" y="196708"/>
                </a:moveTo>
                <a:close/>
              </a:path>
              <a:path w="577850" h="205104">
                <a:moveTo>
                  <a:pt x="215592" y="0"/>
                </a:moveTo>
                <a:lnTo>
                  <a:pt x="153400" y="588"/>
                </a:lnTo>
                <a:lnTo>
                  <a:pt x="71574" y="7575"/>
                </a:lnTo>
                <a:lnTo>
                  <a:pt x="41200" y="30967"/>
                </a:lnTo>
                <a:lnTo>
                  <a:pt x="13723" y="114076"/>
                </a:lnTo>
                <a:lnTo>
                  <a:pt x="12329" y="122188"/>
                </a:lnTo>
                <a:lnTo>
                  <a:pt x="8434" y="137396"/>
                </a:lnTo>
                <a:lnTo>
                  <a:pt x="4909" y="150057"/>
                </a:lnTo>
                <a:lnTo>
                  <a:pt x="342" y="165703"/>
                </a:lnTo>
                <a:lnTo>
                  <a:pt x="0" y="169312"/>
                </a:lnTo>
                <a:lnTo>
                  <a:pt x="17285" y="195316"/>
                </a:lnTo>
                <a:lnTo>
                  <a:pt x="18047" y="195160"/>
                </a:lnTo>
                <a:lnTo>
                  <a:pt x="21392" y="187816"/>
                </a:lnTo>
                <a:lnTo>
                  <a:pt x="21559" y="185209"/>
                </a:lnTo>
                <a:lnTo>
                  <a:pt x="38417" y="149171"/>
                </a:lnTo>
                <a:lnTo>
                  <a:pt x="72405" y="132681"/>
                </a:lnTo>
                <a:lnTo>
                  <a:pt x="572695" y="132681"/>
                </a:lnTo>
                <a:lnTo>
                  <a:pt x="569685" y="123521"/>
                </a:lnTo>
                <a:lnTo>
                  <a:pt x="564970" y="117865"/>
                </a:lnTo>
                <a:lnTo>
                  <a:pt x="563779" y="115439"/>
                </a:lnTo>
                <a:lnTo>
                  <a:pt x="560042" y="113346"/>
                </a:lnTo>
                <a:lnTo>
                  <a:pt x="558109" y="112218"/>
                </a:lnTo>
                <a:lnTo>
                  <a:pt x="524681" y="99951"/>
                </a:lnTo>
                <a:lnTo>
                  <a:pt x="477571" y="88684"/>
                </a:lnTo>
                <a:lnTo>
                  <a:pt x="432989" y="79437"/>
                </a:lnTo>
                <a:lnTo>
                  <a:pt x="407147" y="73231"/>
                </a:lnTo>
                <a:lnTo>
                  <a:pt x="399813" y="70351"/>
                </a:lnTo>
                <a:lnTo>
                  <a:pt x="393360" y="67414"/>
                </a:lnTo>
                <a:lnTo>
                  <a:pt x="383774" y="60420"/>
                </a:lnTo>
                <a:lnTo>
                  <a:pt x="369279" y="50375"/>
                </a:lnTo>
                <a:lnTo>
                  <a:pt x="334337" y="28718"/>
                </a:lnTo>
                <a:lnTo>
                  <a:pt x="296131" y="11498"/>
                </a:lnTo>
                <a:lnTo>
                  <a:pt x="259897" y="3578"/>
                </a:lnTo>
                <a:lnTo>
                  <a:pt x="215592" y="0"/>
                </a:lnTo>
                <a:close/>
              </a:path>
            </a:pathLst>
          </a:custGeom>
          <a:solidFill>
            <a:srgbClr val="2151FF"/>
          </a:solidFill>
        </p:spPr>
        <p:txBody>
          <a:bodyPr wrap="square" lIns="0" tIns="0" rIns="0" bIns="0" rtlCol="0"/>
          <a:lstStyle/>
          <a:p>
            <a:endParaRPr/>
          </a:p>
        </p:txBody>
      </p:sp>
      <p:sp>
        <p:nvSpPr>
          <p:cNvPr id="104" name="object 104"/>
          <p:cNvSpPr/>
          <p:nvPr/>
        </p:nvSpPr>
        <p:spPr>
          <a:xfrm>
            <a:off x="4029755" y="3316045"/>
            <a:ext cx="3810" cy="635"/>
          </a:xfrm>
          <a:custGeom>
            <a:avLst/>
            <a:gdLst/>
            <a:ahLst/>
            <a:cxnLst/>
            <a:rect l="l" t="t" r="r" b="b"/>
            <a:pathLst>
              <a:path w="3810" h="635">
                <a:moveTo>
                  <a:pt x="0" y="0"/>
                </a:moveTo>
                <a:lnTo>
                  <a:pt x="2178" y="381"/>
                </a:lnTo>
                <a:lnTo>
                  <a:pt x="3304" y="535"/>
                </a:lnTo>
                <a:lnTo>
                  <a:pt x="2210" y="324"/>
                </a:lnTo>
                <a:lnTo>
                  <a:pt x="1117" y="146"/>
                </a:lnTo>
                <a:lnTo>
                  <a:pt x="0" y="0"/>
                </a:lnTo>
                <a:close/>
              </a:path>
            </a:pathLst>
          </a:custGeom>
          <a:solidFill>
            <a:srgbClr val="1537B9"/>
          </a:solidFill>
        </p:spPr>
        <p:txBody>
          <a:bodyPr wrap="square" lIns="0" tIns="0" rIns="0" bIns="0" rtlCol="0"/>
          <a:lstStyle/>
          <a:p>
            <a:endParaRPr/>
          </a:p>
        </p:txBody>
      </p:sp>
      <p:sp>
        <p:nvSpPr>
          <p:cNvPr id="105" name="object 105"/>
          <p:cNvSpPr/>
          <p:nvPr/>
        </p:nvSpPr>
        <p:spPr>
          <a:xfrm>
            <a:off x="4033059" y="3316581"/>
            <a:ext cx="5080" cy="1270"/>
          </a:xfrm>
          <a:custGeom>
            <a:avLst/>
            <a:gdLst/>
            <a:ahLst/>
            <a:cxnLst/>
            <a:rect l="l" t="t" r="r" b="b"/>
            <a:pathLst>
              <a:path w="5079" h="1270">
                <a:moveTo>
                  <a:pt x="4496" y="1066"/>
                </a:moveTo>
                <a:close/>
              </a:path>
              <a:path w="5079" h="1270">
                <a:moveTo>
                  <a:pt x="0" y="0"/>
                </a:moveTo>
                <a:lnTo>
                  <a:pt x="1525" y="300"/>
                </a:lnTo>
                <a:lnTo>
                  <a:pt x="3034" y="649"/>
                </a:lnTo>
                <a:lnTo>
                  <a:pt x="4496" y="1066"/>
                </a:lnTo>
                <a:lnTo>
                  <a:pt x="4111" y="819"/>
                </a:lnTo>
                <a:lnTo>
                  <a:pt x="3785" y="454"/>
                </a:lnTo>
                <a:lnTo>
                  <a:pt x="1248" y="178"/>
                </a:lnTo>
                <a:lnTo>
                  <a:pt x="0" y="0"/>
                </a:lnTo>
                <a:close/>
              </a:path>
            </a:pathLst>
          </a:custGeom>
          <a:solidFill>
            <a:srgbClr val="1537B9"/>
          </a:solidFill>
        </p:spPr>
        <p:txBody>
          <a:bodyPr wrap="square" lIns="0" tIns="0" rIns="0" bIns="0" rtlCol="0"/>
          <a:lstStyle/>
          <a:p>
            <a:endParaRPr/>
          </a:p>
        </p:txBody>
      </p:sp>
      <p:sp>
        <p:nvSpPr>
          <p:cNvPr id="106" name="object 106"/>
          <p:cNvSpPr/>
          <p:nvPr/>
        </p:nvSpPr>
        <p:spPr>
          <a:xfrm>
            <a:off x="4161536" y="3281245"/>
            <a:ext cx="26670" cy="8890"/>
          </a:xfrm>
          <a:custGeom>
            <a:avLst/>
            <a:gdLst/>
            <a:ahLst/>
            <a:cxnLst/>
            <a:rect l="l" t="t" r="r" b="b"/>
            <a:pathLst>
              <a:path w="26670" h="8889">
                <a:moveTo>
                  <a:pt x="24670" y="0"/>
                </a:moveTo>
                <a:lnTo>
                  <a:pt x="1705" y="0"/>
                </a:lnTo>
                <a:lnTo>
                  <a:pt x="0" y="1979"/>
                </a:lnTo>
                <a:lnTo>
                  <a:pt x="0" y="6864"/>
                </a:lnTo>
                <a:lnTo>
                  <a:pt x="1705" y="8835"/>
                </a:lnTo>
                <a:lnTo>
                  <a:pt x="24670" y="8835"/>
                </a:lnTo>
                <a:lnTo>
                  <a:pt x="26375" y="6864"/>
                </a:lnTo>
                <a:lnTo>
                  <a:pt x="26375" y="1979"/>
                </a:lnTo>
                <a:lnTo>
                  <a:pt x="24670" y="0"/>
                </a:lnTo>
                <a:close/>
              </a:path>
            </a:pathLst>
          </a:custGeom>
          <a:solidFill>
            <a:srgbClr val="041C2C"/>
          </a:solidFill>
        </p:spPr>
        <p:txBody>
          <a:bodyPr wrap="square" lIns="0" tIns="0" rIns="0" bIns="0" rtlCol="0"/>
          <a:lstStyle/>
          <a:p>
            <a:endParaRPr/>
          </a:p>
        </p:txBody>
      </p:sp>
      <p:sp>
        <p:nvSpPr>
          <p:cNvPr id="107" name="object 107"/>
          <p:cNvSpPr/>
          <p:nvPr/>
        </p:nvSpPr>
        <p:spPr>
          <a:xfrm>
            <a:off x="4161928" y="3281237"/>
            <a:ext cx="26034" cy="5080"/>
          </a:xfrm>
          <a:custGeom>
            <a:avLst/>
            <a:gdLst/>
            <a:ahLst/>
            <a:cxnLst/>
            <a:rect l="l" t="t" r="r" b="b"/>
            <a:pathLst>
              <a:path w="26035" h="5079">
                <a:moveTo>
                  <a:pt x="24270" y="0"/>
                </a:moveTo>
                <a:lnTo>
                  <a:pt x="1321" y="0"/>
                </a:lnTo>
                <a:lnTo>
                  <a:pt x="0" y="1111"/>
                </a:lnTo>
                <a:lnTo>
                  <a:pt x="0" y="3837"/>
                </a:lnTo>
                <a:lnTo>
                  <a:pt x="1321" y="4941"/>
                </a:lnTo>
                <a:lnTo>
                  <a:pt x="24270" y="4941"/>
                </a:lnTo>
                <a:lnTo>
                  <a:pt x="25592" y="3837"/>
                </a:lnTo>
                <a:lnTo>
                  <a:pt x="25592" y="1111"/>
                </a:lnTo>
                <a:lnTo>
                  <a:pt x="24270" y="0"/>
                </a:lnTo>
                <a:close/>
              </a:path>
            </a:pathLst>
          </a:custGeom>
          <a:solidFill>
            <a:srgbClr val="041C2C"/>
          </a:solidFill>
        </p:spPr>
        <p:txBody>
          <a:bodyPr wrap="square" lIns="0" tIns="0" rIns="0" bIns="0" rtlCol="0"/>
          <a:lstStyle/>
          <a:p>
            <a:endParaRPr/>
          </a:p>
        </p:txBody>
      </p:sp>
      <p:sp>
        <p:nvSpPr>
          <p:cNvPr id="108" name="object 108"/>
          <p:cNvSpPr/>
          <p:nvPr/>
        </p:nvSpPr>
        <p:spPr>
          <a:xfrm>
            <a:off x="3944297" y="3191062"/>
            <a:ext cx="578587" cy="197651"/>
          </a:xfrm>
          <a:prstGeom prst="rect">
            <a:avLst/>
          </a:prstGeom>
          <a:blipFill>
            <a:blip r:embed="rId7" cstate="print"/>
            <a:stretch>
              <a:fillRect/>
            </a:stretch>
          </a:blipFill>
        </p:spPr>
        <p:txBody>
          <a:bodyPr wrap="square" lIns="0" tIns="0" rIns="0" bIns="0" rtlCol="0"/>
          <a:lstStyle/>
          <a:p>
            <a:endParaRPr/>
          </a:p>
        </p:txBody>
      </p:sp>
      <p:sp>
        <p:nvSpPr>
          <p:cNvPr id="109" name="object 109"/>
          <p:cNvSpPr/>
          <p:nvPr/>
        </p:nvSpPr>
        <p:spPr>
          <a:xfrm>
            <a:off x="3953623" y="2950973"/>
            <a:ext cx="564904" cy="478155"/>
          </a:xfrm>
          <a:prstGeom prst="rect">
            <a:avLst/>
          </a:prstGeom>
          <a:blipFill>
            <a:blip r:embed="rId10" cstate="print"/>
            <a:stretch>
              <a:fillRect/>
            </a:stretch>
          </a:blipFill>
        </p:spPr>
        <p:txBody>
          <a:bodyPr wrap="square" lIns="0" tIns="0" rIns="0" bIns="0" rtlCol="0"/>
          <a:lstStyle/>
          <a:p>
            <a:endParaRPr/>
          </a:p>
        </p:txBody>
      </p:sp>
      <p:sp>
        <p:nvSpPr>
          <p:cNvPr id="110" name="object 110"/>
          <p:cNvSpPr txBox="1"/>
          <p:nvPr/>
        </p:nvSpPr>
        <p:spPr>
          <a:xfrm>
            <a:off x="542036" y="3719830"/>
            <a:ext cx="857250" cy="452755"/>
          </a:xfrm>
          <a:prstGeom prst="rect">
            <a:avLst/>
          </a:prstGeom>
        </p:spPr>
        <p:txBody>
          <a:bodyPr vert="horz" wrap="square" lIns="0" tIns="12700" rIns="0" bIns="0" rtlCol="0">
            <a:spAutoFit/>
          </a:bodyPr>
          <a:lstStyle/>
          <a:p>
            <a:pPr marL="12700" marR="5080">
              <a:lnSpc>
                <a:spcPct val="100000"/>
              </a:lnSpc>
              <a:spcBef>
                <a:spcPts val="100"/>
              </a:spcBef>
            </a:pPr>
            <a:r>
              <a:rPr sz="1400" b="1" spc="-5" dirty="0">
                <a:latin typeface="Arial"/>
                <a:cs typeface="Arial"/>
              </a:rPr>
              <a:t>Potential  </a:t>
            </a:r>
            <a:r>
              <a:rPr sz="1400" b="1" spc="-10" dirty="0">
                <a:latin typeface="Arial"/>
                <a:cs typeface="Arial"/>
              </a:rPr>
              <a:t>p</a:t>
            </a:r>
            <a:r>
              <a:rPr sz="1400" b="1" spc="-5" dirty="0">
                <a:latin typeface="Arial"/>
                <a:cs typeface="Arial"/>
              </a:rPr>
              <a:t>a</a:t>
            </a:r>
            <a:r>
              <a:rPr sz="1400" b="1" dirty="0">
                <a:latin typeface="Arial"/>
                <a:cs typeface="Arial"/>
              </a:rPr>
              <a:t>rt</a:t>
            </a:r>
            <a:r>
              <a:rPr sz="1400" b="1" spc="-10" dirty="0">
                <a:latin typeface="Arial"/>
                <a:cs typeface="Arial"/>
              </a:rPr>
              <a:t>n</a:t>
            </a:r>
            <a:r>
              <a:rPr sz="1400" b="1" spc="-5" dirty="0">
                <a:latin typeface="Arial"/>
                <a:cs typeface="Arial"/>
              </a:rPr>
              <a:t>e</a:t>
            </a:r>
            <a:r>
              <a:rPr sz="1400" b="1" dirty="0">
                <a:latin typeface="Arial"/>
                <a:cs typeface="Arial"/>
              </a:rPr>
              <a:t>r(s)</a:t>
            </a:r>
            <a:endParaRPr sz="1400">
              <a:latin typeface="Arial"/>
              <a:cs typeface="Arial"/>
            </a:endParaRPr>
          </a:p>
        </p:txBody>
      </p:sp>
      <p:sp>
        <p:nvSpPr>
          <p:cNvPr id="111" name="object 111"/>
          <p:cNvSpPr/>
          <p:nvPr/>
        </p:nvSpPr>
        <p:spPr>
          <a:xfrm>
            <a:off x="1911985" y="2820035"/>
            <a:ext cx="1766570" cy="0"/>
          </a:xfrm>
          <a:custGeom>
            <a:avLst/>
            <a:gdLst/>
            <a:ahLst/>
            <a:cxnLst/>
            <a:rect l="l" t="t" r="r" b="b"/>
            <a:pathLst>
              <a:path w="1766570">
                <a:moveTo>
                  <a:pt x="0" y="0"/>
                </a:moveTo>
                <a:lnTo>
                  <a:pt x="1766062" y="0"/>
                </a:lnTo>
              </a:path>
            </a:pathLst>
          </a:custGeom>
          <a:ln w="6350">
            <a:solidFill>
              <a:srgbClr val="757575"/>
            </a:solidFill>
          </a:ln>
        </p:spPr>
        <p:txBody>
          <a:bodyPr wrap="square" lIns="0" tIns="0" rIns="0" bIns="0" rtlCol="0"/>
          <a:lstStyle/>
          <a:p>
            <a:endParaRPr/>
          </a:p>
        </p:txBody>
      </p:sp>
      <p:sp>
        <p:nvSpPr>
          <p:cNvPr id="112" name="object 112"/>
          <p:cNvSpPr txBox="1"/>
          <p:nvPr/>
        </p:nvSpPr>
        <p:spPr>
          <a:xfrm>
            <a:off x="2069083" y="4416994"/>
            <a:ext cx="1455420" cy="468630"/>
          </a:xfrm>
          <a:prstGeom prst="rect">
            <a:avLst/>
          </a:prstGeom>
        </p:spPr>
        <p:txBody>
          <a:bodyPr vert="horz" wrap="square" lIns="0" tIns="51435" rIns="0" bIns="0" rtlCol="0">
            <a:spAutoFit/>
          </a:bodyPr>
          <a:lstStyle/>
          <a:p>
            <a:pPr marL="12700">
              <a:lnSpc>
                <a:spcPct val="100000"/>
              </a:lnSpc>
              <a:spcBef>
                <a:spcPts val="405"/>
              </a:spcBef>
            </a:pPr>
            <a:r>
              <a:rPr sz="1200" b="1" spc="-5" dirty="0">
                <a:latin typeface="Arial"/>
                <a:cs typeface="Arial"/>
              </a:rPr>
              <a:t>~1 month </a:t>
            </a:r>
            <a:r>
              <a:rPr sz="1200" dirty="0">
                <a:latin typeface="Arial"/>
                <a:cs typeface="Arial"/>
              </a:rPr>
              <a:t>for</a:t>
            </a:r>
            <a:r>
              <a:rPr sz="1200" spc="-60" dirty="0">
                <a:latin typeface="Arial"/>
                <a:cs typeface="Arial"/>
              </a:rPr>
              <a:t> </a:t>
            </a:r>
            <a:r>
              <a:rPr sz="1200" spc="-5" dirty="0">
                <a:latin typeface="Arial"/>
                <a:cs typeface="Arial"/>
              </a:rPr>
              <a:t>leasing</a:t>
            </a:r>
            <a:endParaRPr sz="1200" dirty="0">
              <a:latin typeface="Arial"/>
              <a:cs typeface="Arial"/>
            </a:endParaRPr>
          </a:p>
          <a:p>
            <a:pPr marL="24765">
              <a:lnSpc>
                <a:spcPct val="100000"/>
              </a:lnSpc>
              <a:spcBef>
                <a:spcPts val="300"/>
              </a:spcBef>
            </a:pPr>
            <a:r>
              <a:rPr sz="1200" b="1" spc="-5" dirty="0">
                <a:latin typeface="Arial"/>
                <a:cs typeface="Arial"/>
              </a:rPr>
              <a:t>~10 months </a:t>
            </a:r>
            <a:r>
              <a:rPr sz="1200" spc="5" dirty="0">
                <a:latin typeface="Arial"/>
                <a:cs typeface="Arial"/>
              </a:rPr>
              <a:t>for</a:t>
            </a:r>
            <a:r>
              <a:rPr sz="1200" spc="-90" dirty="0">
                <a:latin typeface="Arial"/>
                <a:cs typeface="Arial"/>
              </a:rPr>
              <a:t> </a:t>
            </a:r>
            <a:r>
              <a:rPr sz="1200" dirty="0">
                <a:latin typeface="Arial"/>
                <a:cs typeface="Arial"/>
              </a:rPr>
              <a:t>loan</a:t>
            </a:r>
          </a:p>
        </p:txBody>
      </p:sp>
      <p:sp>
        <p:nvSpPr>
          <p:cNvPr id="113" name="object 113"/>
          <p:cNvSpPr/>
          <p:nvPr/>
        </p:nvSpPr>
        <p:spPr>
          <a:xfrm>
            <a:off x="1911985" y="4384930"/>
            <a:ext cx="1766570" cy="0"/>
          </a:xfrm>
          <a:custGeom>
            <a:avLst/>
            <a:gdLst/>
            <a:ahLst/>
            <a:cxnLst/>
            <a:rect l="l" t="t" r="r" b="b"/>
            <a:pathLst>
              <a:path w="1766570">
                <a:moveTo>
                  <a:pt x="0" y="0"/>
                </a:moveTo>
                <a:lnTo>
                  <a:pt x="1766062" y="0"/>
                </a:lnTo>
              </a:path>
            </a:pathLst>
          </a:custGeom>
          <a:ln w="6350">
            <a:solidFill>
              <a:srgbClr val="757575"/>
            </a:solidFill>
          </a:ln>
        </p:spPr>
        <p:txBody>
          <a:bodyPr wrap="square" lIns="0" tIns="0" rIns="0" bIns="0" rtlCol="0"/>
          <a:lstStyle/>
          <a:p>
            <a:endParaRPr/>
          </a:p>
        </p:txBody>
      </p:sp>
      <p:sp>
        <p:nvSpPr>
          <p:cNvPr id="114" name="object 114"/>
          <p:cNvSpPr/>
          <p:nvPr/>
        </p:nvSpPr>
        <p:spPr>
          <a:xfrm>
            <a:off x="1911985" y="3521330"/>
            <a:ext cx="1766570" cy="0"/>
          </a:xfrm>
          <a:custGeom>
            <a:avLst/>
            <a:gdLst/>
            <a:ahLst/>
            <a:cxnLst/>
            <a:rect l="l" t="t" r="r" b="b"/>
            <a:pathLst>
              <a:path w="1766570">
                <a:moveTo>
                  <a:pt x="0" y="0"/>
                </a:moveTo>
                <a:lnTo>
                  <a:pt x="1766062" y="0"/>
                </a:lnTo>
              </a:path>
            </a:pathLst>
          </a:custGeom>
          <a:ln w="6350">
            <a:solidFill>
              <a:srgbClr val="757575"/>
            </a:solidFill>
          </a:ln>
        </p:spPr>
        <p:txBody>
          <a:bodyPr wrap="square" lIns="0" tIns="0" rIns="0" bIns="0" rtlCol="0"/>
          <a:lstStyle/>
          <a:p>
            <a:endParaRPr/>
          </a:p>
        </p:txBody>
      </p:sp>
      <p:sp>
        <p:nvSpPr>
          <p:cNvPr id="115" name="object 115"/>
          <p:cNvSpPr txBox="1"/>
          <p:nvPr/>
        </p:nvSpPr>
        <p:spPr>
          <a:xfrm>
            <a:off x="1902714" y="1436879"/>
            <a:ext cx="1731010" cy="1306195"/>
          </a:xfrm>
          <a:prstGeom prst="rect">
            <a:avLst/>
          </a:prstGeom>
        </p:spPr>
        <p:txBody>
          <a:bodyPr vert="horz" wrap="square" lIns="0" tIns="12700" rIns="0" bIns="0" rtlCol="0">
            <a:spAutoFit/>
          </a:bodyPr>
          <a:lstStyle/>
          <a:p>
            <a:pPr marL="12700" marR="5080">
              <a:lnSpc>
                <a:spcPct val="100000"/>
              </a:lnSpc>
              <a:spcBef>
                <a:spcPts val="100"/>
              </a:spcBef>
            </a:pPr>
            <a:r>
              <a:rPr sz="1200" dirty="0">
                <a:latin typeface="Arial"/>
                <a:cs typeface="Arial"/>
              </a:rPr>
              <a:t>After </a:t>
            </a:r>
            <a:r>
              <a:rPr sz="1200" b="1" dirty="0">
                <a:latin typeface="Arial"/>
                <a:cs typeface="Arial"/>
              </a:rPr>
              <a:t>default notices</a:t>
            </a:r>
            <a:r>
              <a:rPr sz="1200" b="1" spc="-100" dirty="0">
                <a:latin typeface="Arial"/>
                <a:cs typeface="Arial"/>
              </a:rPr>
              <a:t> </a:t>
            </a:r>
            <a:r>
              <a:rPr sz="1200" dirty="0">
                <a:latin typeface="Arial"/>
                <a:cs typeface="Arial"/>
              </a:rPr>
              <a:t>are  </a:t>
            </a:r>
            <a:r>
              <a:rPr sz="1200" b="1" dirty="0">
                <a:latin typeface="Arial"/>
                <a:cs typeface="Arial"/>
              </a:rPr>
              <a:t>issued</a:t>
            </a:r>
            <a:r>
              <a:rPr sz="1200" dirty="0">
                <a:latin typeface="Arial"/>
                <a:cs typeface="Arial"/>
              </a:rPr>
              <a:t>, </a:t>
            </a:r>
            <a:r>
              <a:rPr sz="1200" spc="-5" dirty="0">
                <a:latin typeface="Arial"/>
                <a:cs typeface="Arial"/>
              </a:rPr>
              <a:t>lender gains  </a:t>
            </a:r>
            <a:r>
              <a:rPr sz="1200" b="1" spc="-5" dirty="0">
                <a:latin typeface="Arial"/>
                <a:cs typeface="Arial"/>
              </a:rPr>
              <a:t>contractual </a:t>
            </a:r>
            <a:r>
              <a:rPr sz="1200" dirty="0">
                <a:latin typeface="Arial"/>
                <a:cs typeface="Arial"/>
              </a:rPr>
              <a:t>and </a:t>
            </a:r>
            <a:r>
              <a:rPr sz="1200" b="1" dirty="0">
                <a:latin typeface="Arial"/>
                <a:cs typeface="Arial"/>
              </a:rPr>
              <a:t>legal  </a:t>
            </a:r>
            <a:r>
              <a:rPr sz="1200" b="1" spc="-5" dirty="0">
                <a:latin typeface="Arial"/>
                <a:cs typeface="Arial"/>
              </a:rPr>
              <a:t>right </a:t>
            </a:r>
            <a:r>
              <a:rPr sz="1200" dirty="0">
                <a:latin typeface="Arial"/>
                <a:cs typeface="Arial"/>
              </a:rPr>
              <a:t>to </a:t>
            </a:r>
            <a:r>
              <a:rPr sz="1200" b="1" dirty="0">
                <a:latin typeface="Arial"/>
                <a:cs typeface="Arial"/>
              </a:rPr>
              <a:t>repossess </a:t>
            </a:r>
            <a:r>
              <a:rPr sz="1200" dirty="0">
                <a:latin typeface="Arial"/>
                <a:cs typeface="Arial"/>
              </a:rPr>
              <a:t>the  </a:t>
            </a:r>
            <a:r>
              <a:rPr sz="1200" spc="-5" dirty="0">
                <a:latin typeface="Arial"/>
                <a:cs typeface="Arial"/>
              </a:rPr>
              <a:t>vehicle </a:t>
            </a:r>
            <a:r>
              <a:rPr sz="1200" dirty="0">
                <a:latin typeface="Arial"/>
                <a:cs typeface="Arial"/>
              </a:rPr>
              <a:t>and </a:t>
            </a:r>
            <a:r>
              <a:rPr sz="1200" spc="-5" dirty="0">
                <a:latin typeface="Arial"/>
                <a:cs typeface="Arial"/>
              </a:rPr>
              <a:t>authorizes  </a:t>
            </a:r>
            <a:r>
              <a:rPr sz="1200" b="1" spc="-5" dirty="0">
                <a:latin typeface="Arial"/>
                <a:cs typeface="Arial"/>
              </a:rPr>
              <a:t>repossession agents </a:t>
            </a:r>
            <a:r>
              <a:rPr sz="1200" dirty="0">
                <a:latin typeface="Arial"/>
                <a:cs typeface="Arial"/>
              </a:rPr>
              <a:t>to  proceed </a:t>
            </a:r>
            <a:r>
              <a:rPr sz="1200" spc="-10" dirty="0">
                <a:latin typeface="Arial"/>
                <a:cs typeface="Arial"/>
              </a:rPr>
              <a:t>with</a:t>
            </a:r>
            <a:r>
              <a:rPr sz="1200" spc="-55" dirty="0">
                <a:latin typeface="Arial"/>
                <a:cs typeface="Arial"/>
              </a:rPr>
              <a:t> </a:t>
            </a:r>
            <a:r>
              <a:rPr sz="1200" b="1" spc="-5" dirty="0">
                <a:latin typeface="Arial"/>
                <a:cs typeface="Arial"/>
              </a:rPr>
              <a:t>recovery</a:t>
            </a:r>
            <a:endParaRPr sz="1200" dirty="0">
              <a:latin typeface="Arial"/>
              <a:cs typeface="Arial"/>
            </a:endParaRPr>
          </a:p>
        </p:txBody>
      </p:sp>
      <p:sp>
        <p:nvSpPr>
          <p:cNvPr id="116" name="object 116"/>
          <p:cNvSpPr/>
          <p:nvPr/>
        </p:nvSpPr>
        <p:spPr>
          <a:xfrm>
            <a:off x="1911985" y="4963034"/>
            <a:ext cx="1766570" cy="0"/>
          </a:xfrm>
          <a:custGeom>
            <a:avLst/>
            <a:gdLst/>
            <a:ahLst/>
            <a:cxnLst/>
            <a:rect l="l" t="t" r="r" b="b"/>
            <a:pathLst>
              <a:path w="1766570">
                <a:moveTo>
                  <a:pt x="0" y="0"/>
                </a:moveTo>
                <a:lnTo>
                  <a:pt x="1766062" y="0"/>
                </a:lnTo>
              </a:path>
            </a:pathLst>
          </a:custGeom>
          <a:ln w="6350">
            <a:solidFill>
              <a:srgbClr val="757575"/>
            </a:solidFill>
          </a:ln>
        </p:spPr>
        <p:txBody>
          <a:bodyPr wrap="square" lIns="0" tIns="0" rIns="0" bIns="0" rtlCol="0"/>
          <a:lstStyle/>
          <a:p>
            <a:endParaRPr/>
          </a:p>
        </p:txBody>
      </p:sp>
      <p:sp>
        <p:nvSpPr>
          <p:cNvPr id="117" name="object 117"/>
          <p:cNvSpPr txBox="1"/>
          <p:nvPr/>
        </p:nvSpPr>
        <p:spPr>
          <a:xfrm>
            <a:off x="2654045" y="2971293"/>
            <a:ext cx="983615" cy="391160"/>
          </a:xfrm>
          <a:prstGeom prst="rect">
            <a:avLst/>
          </a:prstGeom>
        </p:spPr>
        <p:txBody>
          <a:bodyPr vert="horz" wrap="square" lIns="0" tIns="12700" rIns="0" bIns="0" rtlCol="0">
            <a:spAutoFit/>
          </a:bodyPr>
          <a:lstStyle/>
          <a:p>
            <a:pPr marL="300355" marR="5080" indent="-288290">
              <a:lnSpc>
                <a:spcPct val="100000"/>
              </a:lnSpc>
              <a:spcBef>
                <a:spcPts val="100"/>
              </a:spcBef>
            </a:pPr>
            <a:r>
              <a:rPr sz="1200" spc="-5" dirty="0">
                <a:latin typeface="Arial"/>
                <a:cs typeface="Arial"/>
              </a:rPr>
              <a:t>Re</a:t>
            </a:r>
            <a:r>
              <a:rPr sz="1200" spc="5" dirty="0">
                <a:latin typeface="Arial"/>
                <a:cs typeface="Arial"/>
              </a:rPr>
              <a:t>p</a:t>
            </a:r>
            <a:r>
              <a:rPr sz="1200" dirty="0">
                <a:latin typeface="Arial"/>
                <a:cs typeface="Arial"/>
              </a:rPr>
              <a:t>ossessi</a:t>
            </a:r>
            <a:r>
              <a:rPr sz="1200" spc="-10" dirty="0">
                <a:latin typeface="Arial"/>
                <a:cs typeface="Arial"/>
              </a:rPr>
              <a:t>o</a:t>
            </a:r>
            <a:r>
              <a:rPr sz="1200" dirty="0">
                <a:latin typeface="Arial"/>
                <a:cs typeface="Arial"/>
              </a:rPr>
              <a:t>n  </a:t>
            </a:r>
            <a:r>
              <a:rPr sz="1200" spc="-5" dirty="0">
                <a:latin typeface="Arial"/>
                <a:cs typeface="Arial"/>
              </a:rPr>
              <a:t>agent</a:t>
            </a:r>
            <a:endParaRPr sz="1200">
              <a:latin typeface="Arial"/>
              <a:cs typeface="Arial"/>
            </a:endParaRPr>
          </a:p>
        </p:txBody>
      </p:sp>
      <p:sp>
        <p:nvSpPr>
          <p:cNvPr id="118" name="object 118"/>
          <p:cNvSpPr/>
          <p:nvPr/>
        </p:nvSpPr>
        <p:spPr>
          <a:xfrm>
            <a:off x="1911985" y="2893695"/>
            <a:ext cx="698500" cy="533400"/>
          </a:xfrm>
          <a:custGeom>
            <a:avLst/>
            <a:gdLst/>
            <a:ahLst/>
            <a:cxnLst/>
            <a:rect l="l" t="t" r="r" b="b"/>
            <a:pathLst>
              <a:path w="698500" h="533400">
                <a:moveTo>
                  <a:pt x="0" y="533019"/>
                </a:moveTo>
                <a:lnTo>
                  <a:pt x="698373" y="533019"/>
                </a:lnTo>
                <a:lnTo>
                  <a:pt x="698373" y="0"/>
                </a:lnTo>
                <a:lnTo>
                  <a:pt x="0" y="0"/>
                </a:lnTo>
                <a:lnTo>
                  <a:pt x="0" y="533019"/>
                </a:lnTo>
                <a:close/>
              </a:path>
            </a:pathLst>
          </a:custGeom>
          <a:ln w="12700">
            <a:solidFill>
              <a:srgbClr val="051F79"/>
            </a:solidFill>
          </a:ln>
        </p:spPr>
        <p:txBody>
          <a:bodyPr wrap="square" lIns="0" tIns="0" rIns="0" bIns="0" rtlCol="0"/>
          <a:lstStyle/>
          <a:p>
            <a:endParaRPr/>
          </a:p>
        </p:txBody>
      </p:sp>
      <p:sp>
        <p:nvSpPr>
          <p:cNvPr id="119" name="object 119"/>
          <p:cNvSpPr/>
          <p:nvPr/>
        </p:nvSpPr>
        <p:spPr>
          <a:xfrm>
            <a:off x="2379592" y="3312865"/>
            <a:ext cx="125287" cy="75114"/>
          </a:xfrm>
          <a:prstGeom prst="rect">
            <a:avLst/>
          </a:prstGeom>
          <a:blipFill>
            <a:blip r:embed="rId9" cstate="print"/>
            <a:stretch>
              <a:fillRect/>
            </a:stretch>
          </a:blipFill>
        </p:spPr>
        <p:txBody>
          <a:bodyPr wrap="square" lIns="0" tIns="0" rIns="0" bIns="0" rtlCol="0"/>
          <a:lstStyle/>
          <a:p>
            <a:endParaRPr/>
          </a:p>
        </p:txBody>
      </p:sp>
      <p:sp>
        <p:nvSpPr>
          <p:cNvPr id="120" name="object 120"/>
          <p:cNvSpPr/>
          <p:nvPr/>
        </p:nvSpPr>
        <p:spPr>
          <a:xfrm>
            <a:off x="1988747" y="3311623"/>
            <a:ext cx="119345" cy="72085"/>
          </a:xfrm>
          <a:prstGeom prst="rect">
            <a:avLst/>
          </a:prstGeom>
          <a:blipFill>
            <a:blip r:embed="rId6" cstate="print"/>
            <a:stretch>
              <a:fillRect/>
            </a:stretch>
          </a:blipFill>
        </p:spPr>
        <p:txBody>
          <a:bodyPr wrap="square" lIns="0" tIns="0" rIns="0" bIns="0" rtlCol="0"/>
          <a:lstStyle/>
          <a:p>
            <a:endParaRPr/>
          </a:p>
        </p:txBody>
      </p:sp>
      <p:sp>
        <p:nvSpPr>
          <p:cNvPr id="121" name="object 121"/>
          <p:cNvSpPr/>
          <p:nvPr/>
        </p:nvSpPr>
        <p:spPr>
          <a:xfrm>
            <a:off x="1972020" y="3182690"/>
            <a:ext cx="577850" cy="205104"/>
          </a:xfrm>
          <a:custGeom>
            <a:avLst/>
            <a:gdLst/>
            <a:ahLst/>
            <a:cxnLst/>
            <a:rect l="l" t="t" r="r" b="b"/>
            <a:pathLst>
              <a:path w="577850" h="205104">
                <a:moveTo>
                  <a:pt x="572700" y="132697"/>
                </a:moveTo>
                <a:lnTo>
                  <a:pt x="473124" y="132697"/>
                </a:lnTo>
                <a:lnTo>
                  <a:pt x="495259" y="136994"/>
                </a:lnTo>
                <a:lnTo>
                  <a:pt x="513385" y="149171"/>
                </a:lnTo>
                <a:lnTo>
                  <a:pt x="525680" y="167415"/>
                </a:lnTo>
                <a:lnTo>
                  <a:pt x="530322" y="189908"/>
                </a:lnTo>
                <a:lnTo>
                  <a:pt x="530342" y="195316"/>
                </a:lnTo>
                <a:lnTo>
                  <a:pt x="529726" y="200239"/>
                </a:lnTo>
                <a:lnTo>
                  <a:pt x="528486" y="205074"/>
                </a:lnTo>
                <a:lnTo>
                  <a:pt x="529734" y="205084"/>
                </a:lnTo>
                <a:lnTo>
                  <a:pt x="533727" y="204820"/>
                </a:lnTo>
                <a:lnTo>
                  <a:pt x="543697" y="203683"/>
                </a:lnTo>
                <a:lnTo>
                  <a:pt x="556635" y="201152"/>
                </a:lnTo>
                <a:lnTo>
                  <a:pt x="569530" y="196708"/>
                </a:lnTo>
                <a:lnTo>
                  <a:pt x="572990" y="195103"/>
                </a:lnTo>
                <a:lnTo>
                  <a:pt x="577354" y="191941"/>
                </a:lnTo>
                <a:lnTo>
                  <a:pt x="576044" y="188059"/>
                </a:lnTo>
                <a:lnTo>
                  <a:pt x="576012" y="187816"/>
                </a:lnTo>
                <a:lnTo>
                  <a:pt x="575621" y="182144"/>
                </a:lnTo>
                <a:lnTo>
                  <a:pt x="575510" y="176492"/>
                </a:lnTo>
                <a:lnTo>
                  <a:pt x="575359" y="164555"/>
                </a:lnTo>
                <a:lnTo>
                  <a:pt x="575092" y="152111"/>
                </a:lnTo>
                <a:lnTo>
                  <a:pt x="573944" y="136876"/>
                </a:lnTo>
                <a:lnTo>
                  <a:pt x="573862" y="136235"/>
                </a:lnTo>
                <a:lnTo>
                  <a:pt x="572700" y="132697"/>
                </a:lnTo>
                <a:close/>
              </a:path>
              <a:path w="577850" h="205104">
                <a:moveTo>
                  <a:pt x="572695" y="132681"/>
                </a:moveTo>
                <a:lnTo>
                  <a:pt x="79057" y="132681"/>
                </a:lnTo>
                <a:lnTo>
                  <a:pt x="79722" y="132697"/>
                </a:lnTo>
                <a:lnTo>
                  <a:pt x="82659" y="132851"/>
                </a:lnTo>
                <a:lnTo>
                  <a:pt x="122809" y="155110"/>
                </a:lnTo>
                <a:lnTo>
                  <a:pt x="134607" y="194187"/>
                </a:lnTo>
                <a:lnTo>
                  <a:pt x="134293" y="197437"/>
                </a:lnTo>
                <a:lnTo>
                  <a:pt x="133697" y="200803"/>
                </a:lnTo>
                <a:lnTo>
                  <a:pt x="418691" y="204042"/>
                </a:lnTo>
                <a:lnTo>
                  <a:pt x="417655" y="199685"/>
                </a:lnTo>
                <a:lnTo>
                  <a:pt x="417123" y="195316"/>
                </a:lnTo>
                <a:lnTo>
                  <a:pt x="417206" y="189907"/>
                </a:lnTo>
                <a:lnTo>
                  <a:pt x="421496" y="168093"/>
                </a:lnTo>
                <a:lnTo>
                  <a:pt x="433489" y="149803"/>
                </a:lnTo>
                <a:lnTo>
                  <a:pt x="451295" y="137396"/>
                </a:lnTo>
                <a:lnTo>
                  <a:pt x="473124" y="132697"/>
                </a:lnTo>
                <a:lnTo>
                  <a:pt x="572700" y="132697"/>
                </a:lnTo>
                <a:close/>
              </a:path>
              <a:path w="577850" h="205104">
                <a:moveTo>
                  <a:pt x="569585" y="196708"/>
                </a:moveTo>
                <a:close/>
              </a:path>
              <a:path w="577850" h="205104">
                <a:moveTo>
                  <a:pt x="215592" y="0"/>
                </a:moveTo>
                <a:lnTo>
                  <a:pt x="153400" y="588"/>
                </a:lnTo>
                <a:lnTo>
                  <a:pt x="71574" y="7575"/>
                </a:lnTo>
                <a:lnTo>
                  <a:pt x="41200" y="30967"/>
                </a:lnTo>
                <a:lnTo>
                  <a:pt x="13723" y="114076"/>
                </a:lnTo>
                <a:lnTo>
                  <a:pt x="12329" y="122188"/>
                </a:lnTo>
                <a:lnTo>
                  <a:pt x="8434" y="137396"/>
                </a:lnTo>
                <a:lnTo>
                  <a:pt x="4909" y="150057"/>
                </a:lnTo>
                <a:lnTo>
                  <a:pt x="342" y="165703"/>
                </a:lnTo>
                <a:lnTo>
                  <a:pt x="0" y="169312"/>
                </a:lnTo>
                <a:lnTo>
                  <a:pt x="17285" y="195316"/>
                </a:lnTo>
                <a:lnTo>
                  <a:pt x="18047" y="195160"/>
                </a:lnTo>
                <a:lnTo>
                  <a:pt x="21392" y="187816"/>
                </a:lnTo>
                <a:lnTo>
                  <a:pt x="21559" y="185209"/>
                </a:lnTo>
                <a:lnTo>
                  <a:pt x="38417" y="149171"/>
                </a:lnTo>
                <a:lnTo>
                  <a:pt x="72405" y="132681"/>
                </a:lnTo>
                <a:lnTo>
                  <a:pt x="572695" y="132681"/>
                </a:lnTo>
                <a:lnTo>
                  <a:pt x="569685" y="123521"/>
                </a:lnTo>
                <a:lnTo>
                  <a:pt x="564970" y="117865"/>
                </a:lnTo>
                <a:lnTo>
                  <a:pt x="563779" y="115439"/>
                </a:lnTo>
                <a:lnTo>
                  <a:pt x="560042" y="113346"/>
                </a:lnTo>
                <a:lnTo>
                  <a:pt x="558109" y="112218"/>
                </a:lnTo>
                <a:lnTo>
                  <a:pt x="524681" y="99951"/>
                </a:lnTo>
                <a:lnTo>
                  <a:pt x="477571" y="88684"/>
                </a:lnTo>
                <a:lnTo>
                  <a:pt x="432989" y="79437"/>
                </a:lnTo>
                <a:lnTo>
                  <a:pt x="407147" y="73231"/>
                </a:lnTo>
                <a:lnTo>
                  <a:pt x="399813" y="70351"/>
                </a:lnTo>
                <a:lnTo>
                  <a:pt x="393360" y="67414"/>
                </a:lnTo>
                <a:lnTo>
                  <a:pt x="383774" y="60420"/>
                </a:lnTo>
                <a:lnTo>
                  <a:pt x="369279" y="50375"/>
                </a:lnTo>
                <a:lnTo>
                  <a:pt x="334337" y="28718"/>
                </a:lnTo>
                <a:lnTo>
                  <a:pt x="296131" y="11498"/>
                </a:lnTo>
                <a:lnTo>
                  <a:pt x="259897" y="3578"/>
                </a:lnTo>
                <a:lnTo>
                  <a:pt x="215592" y="0"/>
                </a:lnTo>
                <a:close/>
              </a:path>
            </a:pathLst>
          </a:custGeom>
          <a:solidFill>
            <a:srgbClr val="2151FF"/>
          </a:solidFill>
        </p:spPr>
        <p:txBody>
          <a:bodyPr wrap="square" lIns="0" tIns="0" rIns="0" bIns="0" rtlCol="0"/>
          <a:lstStyle/>
          <a:p>
            <a:endParaRPr/>
          </a:p>
        </p:txBody>
      </p:sp>
      <p:sp>
        <p:nvSpPr>
          <p:cNvPr id="122" name="object 122"/>
          <p:cNvSpPr/>
          <p:nvPr/>
        </p:nvSpPr>
        <p:spPr>
          <a:xfrm>
            <a:off x="2057445" y="3316045"/>
            <a:ext cx="3810" cy="635"/>
          </a:xfrm>
          <a:custGeom>
            <a:avLst/>
            <a:gdLst/>
            <a:ahLst/>
            <a:cxnLst/>
            <a:rect l="l" t="t" r="r" b="b"/>
            <a:pathLst>
              <a:path w="3810" h="635">
                <a:moveTo>
                  <a:pt x="0" y="0"/>
                </a:moveTo>
                <a:lnTo>
                  <a:pt x="2178" y="381"/>
                </a:lnTo>
                <a:lnTo>
                  <a:pt x="3304" y="535"/>
                </a:lnTo>
                <a:lnTo>
                  <a:pt x="2210" y="324"/>
                </a:lnTo>
                <a:lnTo>
                  <a:pt x="1117" y="146"/>
                </a:lnTo>
                <a:lnTo>
                  <a:pt x="0" y="0"/>
                </a:lnTo>
                <a:close/>
              </a:path>
            </a:pathLst>
          </a:custGeom>
          <a:solidFill>
            <a:srgbClr val="1537B9"/>
          </a:solidFill>
        </p:spPr>
        <p:txBody>
          <a:bodyPr wrap="square" lIns="0" tIns="0" rIns="0" bIns="0" rtlCol="0"/>
          <a:lstStyle/>
          <a:p>
            <a:endParaRPr/>
          </a:p>
        </p:txBody>
      </p:sp>
      <p:sp>
        <p:nvSpPr>
          <p:cNvPr id="123" name="object 123"/>
          <p:cNvSpPr/>
          <p:nvPr/>
        </p:nvSpPr>
        <p:spPr>
          <a:xfrm>
            <a:off x="2060749" y="3316581"/>
            <a:ext cx="5080" cy="1270"/>
          </a:xfrm>
          <a:custGeom>
            <a:avLst/>
            <a:gdLst/>
            <a:ahLst/>
            <a:cxnLst/>
            <a:rect l="l" t="t" r="r" b="b"/>
            <a:pathLst>
              <a:path w="5080" h="1270">
                <a:moveTo>
                  <a:pt x="4496" y="1066"/>
                </a:moveTo>
                <a:close/>
              </a:path>
              <a:path w="5080" h="1270">
                <a:moveTo>
                  <a:pt x="0" y="0"/>
                </a:moveTo>
                <a:lnTo>
                  <a:pt x="1525" y="300"/>
                </a:lnTo>
                <a:lnTo>
                  <a:pt x="3034" y="649"/>
                </a:lnTo>
                <a:lnTo>
                  <a:pt x="4496" y="1066"/>
                </a:lnTo>
                <a:lnTo>
                  <a:pt x="4111" y="819"/>
                </a:lnTo>
                <a:lnTo>
                  <a:pt x="3785" y="454"/>
                </a:lnTo>
                <a:lnTo>
                  <a:pt x="1248" y="178"/>
                </a:lnTo>
                <a:lnTo>
                  <a:pt x="0" y="0"/>
                </a:lnTo>
                <a:close/>
              </a:path>
            </a:pathLst>
          </a:custGeom>
          <a:solidFill>
            <a:srgbClr val="1537B9"/>
          </a:solidFill>
        </p:spPr>
        <p:txBody>
          <a:bodyPr wrap="square" lIns="0" tIns="0" rIns="0" bIns="0" rtlCol="0"/>
          <a:lstStyle/>
          <a:p>
            <a:endParaRPr/>
          </a:p>
        </p:txBody>
      </p:sp>
      <p:sp>
        <p:nvSpPr>
          <p:cNvPr id="124" name="object 124"/>
          <p:cNvSpPr/>
          <p:nvPr/>
        </p:nvSpPr>
        <p:spPr>
          <a:xfrm>
            <a:off x="2189226" y="3281245"/>
            <a:ext cx="26670" cy="8890"/>
          </a:xfrm>
          <a:custGeom>
            <a:avLst/>
            <a:gdLst/>
            <a:ahLst/>
            <a:cxnLst/>
            <a:rect l="l" t="t" r="r" b="b"/>
            <a:pathLst>
              <a:path w="26669" h="8889">
                <a:moveTo>
                  <a:pt x="24670" y="0"/>
                </a:moveTo>
                <a:lnTo>
                  <a:pt x="1705" y="0"/>
                </a:lnTo>
                <a:lnTo>
                  <a:pt x="0" y="1979"/>
                </a:lnTo>
                <a:lnTo>
                  <a:pt x="0" y="6864"/>
                </a:lnTo>
                <a:lnTo>
                  <a:pt x="1705" y="8835"/>
                </a:lnTo>
                <a:lnTo>
                  <a:pt x="24670" y="8835"/>
                </a:lnTo>
                <a:lnTo>
                  <a:pt x="26375" y="6864"/>
                </a:lnTo>
                <a:lnTo>
                  <a:pt x="26375" y="1979"/>
                </a:lnTo>
                <a:lnTo>
                  <a:pt x="24670" y="0"/>
                </a:lnTo>
                <a:close/>
              </a:path>
            </a:pathLst>
          </a:custGeom>
          <a:solidFill>
            <a:srgbClr val="041C2C"/>
          </a:solidFill>
        </p:spPr>
        <p:txBody>
          <a:bodyPr wrap="square" lIns="0" tIns="0" rIns="0" bIns="0" rtlCol="0"/>
          <a:lstStyle/>
          <a:p>
            <a:endParaRPr/>
          </a:p>
        </p:txBody>
      </p:sp>
      <p:sp>
        <p:nvSpPr>
          <p:cNvPr id="125" name="object 125"/>
          <p:cNvSpPr/>
          <p:nvPr/>
        </p:nvSpPr>
        <p:spPr>
          <a:xfrm>
            <a:off x="2189618" y="3281237"/>
            <a:ext cx="26034" cy="5080"/>
          </a:xfrm>
          <a:custGeom>
            <a:avLst/>
            <a:gdLst/>
            <a:ahLst/>
            <a:cxnLst/>
            <a:rect l="l" t="t" r="r" b="b"/>
            <a:pathLst>
              <a:path w="26035" h="5079">
                <a:moveTo>
                  <a:pt x="24270" y="0"/>
                </a:moveTo>
                <a:lnTo>
                  <a:pt x="1321" y="0"/>
                </a:lnTo>
                <a:lnTo>
                  <a:pt x="0" y="1111"/>
                </a:lnTo>
                <a:lnTo>
                  <a:pt x="0" y="3837"/>
                </a:lnTo>
                <a:lnTo>
                  <a:pt x="1321" y="4941"/>
                </a:lnTo>
                <a:lnTo>
                  <a:pt x="24270" y="4941"/>
                </a:lnTo>
                <a:lnTo>
                  <a:pt x="25592" y="3837"/>
                </a:lnTo>
                <a:lnTo>
                  <a:pt x="25592" y="1111"/>
                </a:lnTo>
                <a:lnTo>
                  <a:pt x="24270" y="0"/>
                </a:lnTo>
                <a:close/>
              </a:path>
            </a:pathLst>
          </a:custGeom>
          <a:solidFill>
            <a:srgbClr val="041C2C"/>
          </a:solidFill>
        </p:spPr>
        <p:txBody>
          <a:bodyPr wrap="square" lIns="0" tIns="0" rIns="0" bIns="0" rtlCol="0"/>
          <a:lstStyle/>
          <a:p>
            <a:endParaRPr/>
          </a:p>
        </p:txBody>
      </p:sp>
      <p:sp>
        <p:nvSpPr>
          <p:cNvPr id="126" name="object 126"/>
          <p:cNvSpPr/>
          <p:nvPr/>
        </p:nvSpPr>
        <p:spPr>
          <a:xfrm>
            <a:off x="1971987" y="3191062"/>
            <a:ext cx="578587" cy="197651"/>
          </a:xfrm>
          <a:prstGeom prst="rect">
            <a:avLst/>
          </a:prstGeom>
          <a:blipFill>
            <a:blip r:embed="rId7" cstate="print"/>
            <a:stretch>
              <a:fillRect/>
            </a:stretch>
          </a:blipFill>
        </p:spPr>
        <p:txBody>
          <a:bodyPr wrap="square" lIns="0" tIns="0" rIns="0" bIns="0" rtlCol="0"/>
          <a:lstStyle/>
          <a:p>
            <a:endParaRPr/>
          </a:p>
        </p:txBody>
      </p:sp>
      <p:sp>
        <p:nvSpPr>
          <p:cNvPr id="127" name="object 127"/>
          <p:cNvSpPr/>
          <p:nvPr/>
        </p:nvSpPr>
        <p:spPr>
          <a:xfrm>
            <a:off x="1981313" y="2950973"/>
            <a:ext cx="564904" cy="478155"/>
          </a:xfrm>
          <a:prstGeom prst="rect">
            <a:avLst/>
          </a:prstGeom>
          <a:blipFill>
            <a:blip r:embed="rId11" cstate="print"/>
            <a:stretch>
              <a:fillRect/>
            </a:stretch>
          </a:blipFill>
        </p:spPr>
        <p:txBody>
          <a:bodyPr wrap="square" lIns="0" tIns="0" rIns="0" bIns="0" rtlCol="0"/>
          <a:lstStyle/>
          <a:p>
            <a:endParaRPr/>
          </a:p>
        </p:txBody>
      </p:sp>
      <p:sp>
        <p:nvSpPr>
          <p:cNvPr id="128" name="object 128"/>
          <p:cNvSpPr/>
          <p:nvPr/>
        </p:nvSpPr>
        <p:spPr>
          <a:xfrm>
            <a:off x="3884295" y="2820035"/>
            <a:ext cx="1766570" cy="0"/>
          </a:xfrm>
          <a:custGeom>
            <a:avLst/>
            <a:gdLst/>
            <a:ahLst/>
            <a:cxnLst/>
            <a:rect l="l" t="t" r="r" b="b"/>
            <a:pathLst>
              <a:path w="1766570">
                <a:moveTo>
                  <a:pt x="0" y="0"/>
                </a:moveTo>
                <a:lnTo>
                  <a:pt x="1766062" y="0"/>
                </a:lnTo>
              </a:path>
            </a:pathLst>
          </a:custGeom>
          <a:ln w="6350">
            <a:solidFill>
              <a:srgbClr val="757575"/>
            </a:solidFill>
          </a:ln>
        </p:spPr>
        <p:txBody>
          <a:bodyPr wrap="square" lIns="0" tIns="0" rIns="0" bIns="0" rtlCol="0"/>
          <a:lstStyle/>
          <a:p>
            <a:endParaRPr/>
          </a:p>
        </p:txBody>
      </p:sp>
      <p:sp>
        <p:nvSpPr>
          <p:cNvPr id="129" name="object 129"/>
          <p:cNvSpPr txBox="1"/>
          <p:nvPr/>
        </p:nvSpPr>
        <p:spPr>
          <a:xfrm>
            <a:off x="4351146" y="4566286"/>
            <a:ext cx="83693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a:cs typeface="Arial"/>
              </a:rPr>
              <a:t>~1-2</a:t>
            </a:r>
            <a:r>
              <a:rPr sz="1200" b="1" spc="-65" dirty="0">
                <a:latin typeface="Arial"/>
                <a:cs typeface="Arial"/>
              </a:rPr>
              <a:t> </a:t>
            </a:r>
            <a:r>
              <a:rPr sz="1200" b="1" dirty="0">
                <a:latin typeface="Arial"/>
                <a:cs typeface="Arial"/>
              </a:rPr>
              <a:t>weeks</a:t>
            </a:r>
            <a:endParaRPr sz="1200">
              <a:latin typeface="Arial"/>
              <a:cs typeface="Arial"/>
            </a:endParaRPr>
          </a:p>
        </p:txBody>
      </p:sp>
      <p:sp>
        <p:nvSpPr>
          <p:cNvPr id="130" name="object 130"/>
          <p:cNvSpPr/>
          <p:nvPr/>
        </p:nvSpPr>
        <p:spPr>
          <a:xfrm>
            <a:off x="3884295" y="4384930"/>
            <a:ext cx="1766570" cy="0"/>
          </a:xfrm>
          <a:custGeom>
            <a:avLst/>
            <a:gdLst/>
            <a:ahLst/>
            <a:cxnLst/>
            <a:rect l="l" t="t" r="r" b="b"/>
            <a:pathLst>
              <a:path w="1766570">
                <a:moveTo>
                  <a:pt x="0" y="0"/>
                </a:moveTo>
                <a:lnTo>
                  <a:pt x="1766062" y="0"/>
                </a:lnTo>
              </a:path>
            </a:pathLst>
          </a:custGeom>
          <a:ln w="6350">
            <a:solidFill>
              <a:srgbClr val="757575"/>
            </a:solidFill>
          </a:ln>
        </p:spPr>
        <p:txBody>
          <a:bodyPr wrap="square" lIns="0" tIns="0" rIns="0" bIns="0" rtlCol="0"/>
          <a:lstStyle/>
          <a:p>
            <a:endParaRPr/>
          </a:p>
        </p:txBody>
      </p:sp>
      <p:sp>
        <p:nvSpPr>
          <p:cNvPr id="131" name="object 131"/>
          <p:cNvSpPr/>
          <p:nvPr/>
        </p:nvSpPr>
        <p:spPr>
          <a:xfrm>
            <a:off x="3884295" y="3521330"/>
            <a:ext cx="1766570" cy="0"/>
          </a:xfrm>
          <a:custGeom>
            <a:avLst/>
            <a:gdLst/>
            <a:ahLst/>
            <a:cxnLst/>
            <a:rect l="l" t="t" r="r" b="b"/>
            <a:pathLst>
              <a:path w="1766570">
                <a:moveTo>
                  <a:pt x="0" y="0"/>
                </a:moveTo>
                <a:lnTo>
                  <a:pt x="1766062" y="0"/>
                </a:lnTo>
              </a:path>
            </a:pathLst>
          </a:custGeom>
          <a:ln w="6350">
            <a:solidFill>
              <a:srgbClr val="757575"/>
            </a:solidFill>
          </a:ln>
        </p:spPr>
        <p:txBody>
          <a:bodyPr wrap="square" lIns="0" tIns="0" rIns="0" bIns="0" rtlCol="0"/>
          <a:lstStyle/>
          <a:p>
            <a:endParaRPr/>
          </a:p>
        </p:txBody>
      </p:sp>
      <p:sp>
        <p:nvSpPr>
          <p:cNvPr id="132" name="object 132"/>
          <p:cNvSpPr txBox="1"/>
          <p:nvPr/>
        </p:nvSpPr>
        <p:spPr>
          <a:xfrm>
            <a:off x="3875023" y="1436879"/>
            <a:ext cx="1675764" cy="939800"/>
          </a:xfrm>
          <a:prstGeom prst="rect">
            <a:avLst/>
          </a:prstGeom>
        </p:spPr>
        <p:txBody>
          <a:bodyPr vert="horz" wrap="square" lIns="0" tIns="12700" rIns="0" bIns="0" rtlCol="0">
            <a:spAutoFit/>
          </a:bodyPr>
          <a:lstStyle/>
          <a:p>
            <a:pPr marL="12700" marR="5080">
              <a:lnSpc>
                <a:spcPct val="100000"/>
              </a:lnSpc>
              <a:spcBef>
                <a:spcPts val="100"/>
              </a:spcBef>
            </a:pPr>
            <a:r>
              <a:rPr sz="1200" spc="-15" dirty="0">
                <a:latin typeface="Arial"/>
                <a:cs typeface="Arial"/>
              </a:rPr>
              <a:t>Vehicle </a:t>
            </a:r>
            <a:r>
              <a:rPr sz="1200" spc="-5" dirty="0">
                <a:latin typeface="Arial"/>
                <a:cs typeface="Arial"/>
              </a:rPr>
              <a:t>is </a:t>
            </a:r>
            <a:r>
              <a:rPr sz="1200" b="1" dirty="0">
                <a:latin typeface="Arial"/>
                <a:cs typeface="Arial"/>
              </a:rPr>
              <a:t>located</a:t>
            </a:r>
            <a:r>
              <a:rPr sz="1200" dirty="0">
                <a:latin typeface="Arial"/>
                <a:cs typeface="Arial"/>
              </a:rPr>
              <a:t>,  </a:t>
            </a:r>
            <a:r>
              <a:rPr sz="1200" b="1" dirty="0">
                <a:latin typeface="Arial"/>
                <a:cs typeface="Arial"/>
              </a:rPr>
              <a:t>secured </a:t>
            </a:r>
            <a:r>
              <a:rPr sz="1200" dirty="0">
                <a:latin typeface="Arial"/>
                <a:cs typeface="Arial"/>
              </a:rPr>
              <a:t>and </a:t>
            </a:r>
            <a:r>
              <a:rPr sz="1200" b="1" spc="-5" dirty="0">
                <a:latin typeface="Arial"/>
                <a:cs typeface="Arial"/>
              </a:rPr>
              <a:t>retrieved</a:t>
            </a:r>
            <a:r>
              <a:rPr sz="1200" spc="-5" dirty="0">
                <a:latin typeface="Arial"/>
                <a:cs typeface="Arial"/>
              </a:rPr>
              <a:t>,  </a:t>
            </a:r>
            <a:r>
              <a:rPr sz="1200" dirty="0">
                <a:latin typeface="Arial"/>
                <a:cs typeface="Arial"/>
              </a:rPr>
              <a:t>and then </a:t>
            </a:r>
            <a:r>
              <a:rPr sz="1200" b="1" spc="-5" dirty="0">
                <a:latin typeface="Arial"/>
                <a:cs typeface="Arial"/>
              </a:rPr>
              <a:t>transported</a:t>
            </a:r>
            <a:r>
              <a:rPr sz="1200" b="1" spc="-85" dirty="0">
                <a:latin typeface="Arial"/>
                <a:cs typeface="Arial"/>
              </a:rPr>
              <a:t> </a:t>
            </a:r>
            <a:r>
              <a:rPr sz="1200" dirty="0">
                <a:latin typeface="Arial"/>
                <a:cs typeface="Arial"/>
              </a:rPr>
              <a:t>to  the </a:t>
            </a:r>
            <a:r>
              <a:rPr sz="1200" b="1" spc="-5" dirty="0">
                <a:latin typeface="Arial"/>
                <a:cs typeface="Arial"/>
              </a:rPr>
              <a:t>storage </a:t>
            </a:r>
            <a:r>
              <a:rPr sz="1200" b="1" dirty="0">
                <a:latin typeface="Arial"/>
                <a:cs typeface="Arial"/>
              </a:rPr>
              <a:t>facility  </a:t>
            </a:r>
            <a:r>
              <a:rPr sz="1200" dirty="0">
                <a:latin typeface="Arial"/>
                <a:cs typeface="Arial"/>
              </a:rPr>
              <a:t>preferred by the</a:t>
            </a:r>
            <a:r>
              <a:rPr sz="1200" spc="-105" dirty="0">
                <a:latin typeface="Arial"/>
                <a:cs typeface="Arial"/>
              </a:rPr>
              <a:t> </a:t>
            </a:r>
            <a:r>
              <a:rPr sz="1200" spc="-5" dirty="0">
                <a:latin typeface="Arial"/>
                <a:cs typeface="Arial"/>
              </a:rPr>
              <a:t>lender</a:t>
            </a:r>
            <a:endParaRPr sz="1200">
              <a:latin typeface="Arial"/>
              <a:cs typeface="Arial"/>
            </a:endParaRPr>
          </a:p>
        </p:txBody>
      </p:sp>
      <p:sp>
        <p:nvSpPr>
          <p:cNvPr id="133" name="object 133"/>
          <p:cNvSpPr/>
          <p:nvPr/>
        </p:nvSpPr>
        <p:spPr>
          <a:xfrm>
            <a:off x="3884295" y="4963034"/>
            <a:ext cx="1766570" cy="0"/>
          </a:xfrm>
          <a:custGeom>
            <a:avLst/>
            <a:gdLst/>
            <a:ahLst/>
            <a:cxnLst/>
            <a:rect l="l" t="t" r="r" b="b"/>
            <a:pathLst>
              <a:path w="1766570">
                <a:moveTo>
                  <a:pt x="0" y="0"/>
                </a:moveTo>
                <a:lnTo>
                  <a:pt x="1766062" y="0"/>
                </a:lnTo>
              </a:path>
            </a:pathLst>
          </a:custGeom>
          <a:ln w="6350">
            <a:solidFill>
              <a:srgbClr val="757575"/>
            </a:solidFill>
          </a:ln>
        </p:spPr>
        <p:txBody>
          <a:bodyPr wrap="square" lIns="0" tIns="0" rIns="0" bIns="0" rtlCol="0"/>
          <a:lstStyle/>
          <a:p>
            <a:endParaRPr/>
          </a:p>
        </p:txBody>
      </p:sp>
      <p:sp>
        <p:nvSpPr>
          <p:cNvPr id="134" name="object 134"/>
          <p:cNvSpPr/>
          <p:nvPr/>
        </p:nvSpPr>
        <p:spPr>
          <a:xfrm>
            <a:off x="4179696" y="3923450"/>
            <a:ext cx="963777" cy="174078"/>
          </a:xfrm>
          <a:prstGeom prst="rect">
            <a:avLst/>
          </a:prstGeom>
          <a:blipFill>
            <a:blip r:embed="rId12" cstate="print"/>
            <a:stretch>
              <a:fillRect/>
            </a:stretch>
          </a:blipFill>
        </p:spPr>
        <p:txBody>
          <a:bodyPr wrap="square" lIns="0" tIns="0" rIns="0" bIns="0" rtlCol="0"/>
          <a:lstStyle/>
          <a:p>
            <a:endParaRPr/>
          </a:p>
        </p:txBody>
      </p:sp>
      <p:sp>
        <p:nvSpPr>
          <p:cNvPr id="135" name="object 135"/>
          <p:cNvSpPr/>
          <p:nvPr/>
        </p:nvSpPr>
        <p:spPr>
          <a:xfrm>
            <a:off x="5840095" y="4963034"/>
            <a:ext cx="1766570" cy="0"/>
          </a:xfrm>
          <a:custGeom>
            <a:avLst/>
            <a:gdLst/>
            <a:ahLst/>
            <a:cxnLst/>
            <a:rect l="l" t="t" r="r" b="b"/>
            <a:pathLst>
              <a:path w="1766570">
                <a:moveTo>
                  <a:pt x="0" y="0"/>
                </a:moveTo>
                <a:lnTo>
                  <a:pt x="1766188" y="0"/>
                </a:lnTo>
              </a:path>
            </a:pathLst>
          </a:custGeom>
          <a:ln w="6350">
            <a:solidFill>
              <a:srgbClr val="757575"/>
            </a:solidFill>
          </a:ln>
        </p:spPr>
        <p:txBody>
          <a:bodyPr wrap="square" lIns="0" tIns="0" rIns="0" bIns="0" rtlCol="0"/>
          <a:lstStyle/>
          <a:p>
            <a:endParaRPr/>
          </a:p>
        </p:txBody>
      </p:sp>
      <p:sp>
        <p:nvSpPr>
          <p:cNvPr id="136" name="object 136"/>
          <p:cNvSpPr txBox="1"/>
          <p:nvPr/>
        </p:nvSpPr>
        <p:spPr>
          <a:xfrm>
            <a:off x="6591045" y="3062732"/>
            <a:ext cx="99758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Logistic</a:t>
            </a:r>
            <a:r>
              <a:rPr sz="1200" spc="-70" dirty="0">
                <a:latin typeface="Arial"/>
                <a:cs typeface="Arial"/>
              </a:rPr>
              <a:t> </a:t>
            </a:r>
            <a:r>
              <a:rPr sz="1200" spc="-5" dirty="0">
                <a:latin typeface="Arial"/>
                <a:cs typeface="Arial"/>
              </a:rPr>
              <a:t>player</a:t>
            </a:r>
            <a:endParaRPr sz="1200">
              <a:latin typeface="Arial"/>
              <a:cs typeface="Arial"/>
            </a:endParaRPr>
          </a:p>
        </p:txBody>
      </p:sp>
      <p:sp>
        <p:nvSpPr>
          <p:cNvPr id="137" name="object 137"/>
          <p:cNvSpPr/>
          <p:nvPr/>
        </p:nvSpPr>
        <p:spPr>
          <a:xfrm>
            <a:off x="5833745" y="2887345"/>
            <a:ext cx="711073" cy="545719"/>
          </a:xfrm>
          <a:prstGeom prst="rect">
            <a:avLst/>
          </a:prstGeom>
          <a:blipFill>
            <a:blip r:embed="rId13" cstate="print"/>
            <a:stretch>
              <a:fillRect/>
            </a:stretch>
          </a:blipFill>
        </p:spPr>
        <p:txBody>
          <a:bodyPr wrap="square" lIns="0" tIns="0" rIns="0" bIns="0" rtlCol="0"/>
          <a:lstStyle/>
          <a:p>
            <a:endParaRPr/>
          </a:p>
        </p:txBody>
      </p:sp>
      <p:sp>
        <p:nvSpPr>
          <p:cNvPr id="138" name="object 138"/>
          <p:cNvSpPr/>
          <p:nvPr/>
        </p:nvSpPr>
        <p:spPr>
          <a:xfrm>
            <a:off x="6307830" y="3312865"/>
            <a:ext cx="125287" cy="75114"/>
          </a:xfrm>
          <a:prstGeom prst="rect">
            <a:avLst/>
          </a:prstGeom>
          <a:blipFill>
            <a:blip r:embed="rId5" cstate="print"/>
            <a:stretch>
              <a:fillRect/>
            </a:stretch>
          </a:blipFill>
        </p:spPr>
        <p:txBody>
          <a:bodyPr wrap="square" lIns="0" tIns="0" rIns="0" bIns="0" rtlCol="0"/>
          <a:lstStyle/>
          <a:p>
            <a:endParaRPr/>
          </a:p>
        </p:txBody>
      </p:sp>
      <p:sp>
        <p:nvSpPr>
          <p:cNvPr id="139" name="object 139"/>
          <p:cNvSpPr/>
          <p:nvPr/>
        </p:nvSpPr>
        <p:spPr>
          <a:xfrm>
            <a:off x="5916984" y="3311623"/>
            <a:ext cx="119345" cy="72085"/>
          </a:xfrm>
          <a:prstGeom prst="rect">
            <a:avLst/>
          </a:prstGeom>
          <a:blipFill>
            <a:blip r:embed="rId6" cstate="print"/>
            <a:stretch>
              <a:fillRect/>
            </a:stretch>
          </a:blipFill>
        </p:spPr>
        <p:txBody>
          <a:bodyPr wrap="square" lIns="0" tIns="0" rIns="0" bIns="0" rtlCol="0"/>
          <a:lstStyle/>
          <a:p>
            <a:endParaRPr/>
          </a:p>
        </p:txBody>
      </p:sp>
      <p:sp>
        <p:nvSpPr>
          <p:cNvPr id="140" name="object 140"/>
          <p:cNvSpPr/>
          <p:nvPr/>
        </p:nvSpPr>
        <p:spPr>
          <a:xfrm>
            <a:off x="5900257" y="3182690"/>
            <a:ext cx="577850" cy="205104"/>
          </a:xfrm>
          <a:custGeom>
            <a:avLst/>
            <a:gdLst/>
            <a:ahLst/>
            <a:cxnLst/>
            <a:rect l="l" t="t" r="r" b="b"/>
            <a:pathLst>
              <a:path w="577850" h="205104">
                <a:moveTo>
                  <a:pt x="572700" y="132697"/>
                </a:moveTo>
                <a:lnTo>
                  <a:pt x="473123" y="132697"/>
                </a:lnTo>
                <a:lnTo>
                  <a:pt x="495259" y="136994"/>
                </a:lnTo>
                <a:lnTo>
                  <a:pt x="513385" y="149171"/>
                </a:lnTo>
                <a:lnTo>
                  <a:pt x="525680" y="167415"/>
                </a:lnTo>
                <a:lnTo>
                  <a:pt x="530322" y="189908"/>
                </a:lnTo>
                <a:lnTo>
                  <a:pt x="530342" y="195316"/>
                </a:lnTo>
                <a:lnTo>
                  <a:pt x="529726" y="200239"/>
                </a:lnTo>
                <a:lnTo>
                  <a:pt x="528486" y="205074"/>
                </a:lnTo>
                <a:lnTo>
                  <a:pt x="529734" y="205084"/>
                </a:lnTo>
                <a:lnTo>
                  <a:pt x="533727" y="204820"/>
                </a:lnTo>
                <a:lnTo>
                  <a:pt x="543697" y="203683"/>
                </a:lnTo>
                <a:lnTo>
                  <a:pt x="556635" y="201152"/>
                </a:lnTo>
                <a:lnTo>
                  <a:pt x="569530" y="196708"/>
                </a:lnTo>
                <a:lnTo>
                  <a:pt x="572990" y="195103"/>
                </a:lnTo>
                <a:lnTo>
                  <a:pt x="577354" y="191941"/>
                </a:lnTo>
                <a:lnTo>
                  <a:pt x="576044" y="188059"/>
                </a:lnTo>
                <a:lnTo>
                  <a:pt x="576012" y="187816"/>
                </a:lnTo>
                <a:lnTo>
                  <a:pt x="575621" y="182144"/>
                </a:lnTo>
                <a:lnTo>
                  <a:pt x="575510" y="176492"/>
                </a:lnTo>
                <a:lnTo>
                  <a:pt x="575359" y="164555"/>
                </a:lnTo>
                <a:lnTo>
                  <a:pt x="575092" y="152111"/>
                </a:lnTo>
                <a:lnTo>
                  <a:pt x="573944" y="136876"/>
                </a:lnTo>
                <a:lnTo>
                  <a:pt x="573862" y="136235"/>
                </a:lnTo>
                <a:lnTo>
                  <a:pt x="572700" y="132697"/>
                </a:lnTo>
                <a:close/>
              </a:path>
              <a:path w="577850" h="205104">
                <a:moveTo>
                  <a:pt x="572695" y="132681"/>
                </a:moveTo>
                <a:lnTo>
                  <a:pt x="79057" y="132681"/>
                </a:lnTo>
                <a:lnTo>
                  <a:pt x="79722" y="132697"/>
                </a:lnTo>
                <a:lnTo>
                  <a:pt x="82659" y="132851"/>
                </a:lnTo>
                <a:lnTo>
                  <a:pt x="122809" y="155110"/>
                </a:lnTo>
                <a:lnTo>
                  <a:pt x="134607" y="194187"/>
                </a:lnTo>
                <a:lnTo>
                  <a:pt x="134293" y="197437"/>
                </a:lnTo>
                <a:lnTo>
                  <a:pt x="133697" y="200803"/>
                </a:lnTo>
                <a:lnTo>
                  <a:pt x="418691" y="204042"/>
                </a:lnTo>
                <a:lnTo>
                  <a:pt x="417655" y="199685"/>
                </a:lnTo>
                <a:lnTo>
                  <a:pt x="417123" y="195316"/>
                </a:lnTo>
                <a:lnTo>
                  <a:pt x="417206" y="189907"/>
                </a:lnTo>
                <a:lnTo>
                  <a:pt x="421496" y="168093"/>
                </a:lnTo>
                <a:lnTo>
                  <a:pt x="433489" y="149803"/>
                </a:lnTo>
                <a:lnTo>
                  <a:pt x="451295" y="137396"/>
                </a:lnTo>
                <a:lnTo>
                  <a:pt x="473123" y="132697"/>
                </a:lnTo>
                <a:lnTo>
                  <a:pt x="572700" y="132697"/>
                </a:lnTo>
                <a:close/>
              </a:path>
              <a:path w="577850" h="205104">
                <a:moveTo>
                  <a:pt x="569585" y="196708"/>
                </a:moveTo>
                <a:close/>
              </a:path>
              <a:path w="577850" h="205104">
                <a:moveTo>
                  <a:pt x="215592" y="0"/>
                </a:moveTo>
                <a:lnTo>
                  <a:pt x="153400" y="588"/>
                </a:lnTo>
                <a:lnTo>
                  <a:pt x="71574" y="7575"/>
                </a:lnTo>
                <a:lnTo>
                  <a:pt x="41200" y="30967"/>
                </a:lnTo>
                <a:lnTo>
                  <a:pt x="13723" y="114076"/>
                </a:lnTo>
                <a:lnTo>
                  <a:pt x="12329" y="122188"/>
                </a:lnTo>
                <a:lnTo>
                  <a:pt x="8434" y="137396"/>
                </a:lnTo>
                <a:lnTo>
                  <a:pt x="4909" y="150057"/>
                </a:lnTo>
                <a:lnTo>
                  <a:pt x="342" y="165703"/>
                </a:lnTo>
                <a:lnTo>
                  <a:pt x="0" y="169312"/>
                </a:lnTo>
                <a:lnTo>
                  <a:pt x="17285" y="195316"/>
                </a:lnTo>
                <a:lnTo>
                  <a:pt x="18047" y="195160"/>
                </a:lnTo>
                <a:lnTo>
                  <a:pt x="21392" y="187816"/>
                </a:lnTo>
                <a:lnTo>
                  <a:pt x="21559" y="185209"/>
                </a:lnTo>
                <a:lnTo>
                  <a:pt x="38417" y="149171"/>
                </a:lnTo>
                <a:lnTo>
                  <a:pt x="72405" y="132681"/>
                </a:lnTo>
                <a:lnTo>
                  <a:pt x="572695" y="132681"/>
                </a:lnTo>
                <a:lnTo>
                  <a:pt x="569685" y="123521"/>
                </a:lnTo>
                <a:lnTo>
                  <a:pt x="564970" y="117865"/>
                </a:lnTo>
                <a:lnTo>
                  <a:pt x="563779" y="115439"/>
                </a:lnTo>
                <a:lnTo>
                  <a:pt x="560042" y="113346"/>
                </a:lnTo>
                <a:lnTo>
                  <a:pt x="558109" y="112218"/>
                </a:lnTo>
                <a:lnTo>
                  <a:pt x="524681" y="99951"/>
                </a:lnTo>
                <a:lnTo>
                  <a:pt x="477571" y="88684"/>
                </a:lnTo>
                <a:lnTo>
                  <a:pt x="432989" y="79437"/>
                </a:lnTo>
                <a:lnTo>
                  <a:pt x="407147" y="73231"/>
                </a:lnTo>
                <a:lnTo>
                  <a:pt x="399813" y="70351"/>
                </a:lnTo>
                <a:lnTo>
                  <a:pt x="393359" y="67414"/>
                </a:lnTo>
                <a:lnTo>
                  <a:pt x="383773" y="60420"/>
                </a:lnTo>
                <a:lnTo>
                  <a:pt x="369279" y="50375"/>
                </a:lnTo>
                <a:lnTo>
                  <a:pt x="334337" y="28718"/>
                </a:lnTo>
                <a:lnTo>
                  <a:pt x="296131" y="11498"/>
                </a:lnTo>
                <a:lnTo>
                  <a:pt x="259897" y="3578"/>
                </a:lnTo>
                <a:lnTo>
                  <a:pt x="215592" y="0"/>
                </a:lnTo>
                <a:close/>
              </a:path>
            </a:pathLst>
          </a:custGeom>
          <a:solidFill>
            <a:srgbClr val="2151FF"/>
          </a:solidFill>
        </p:spPr>
        <p:txBody>
          <a:bodyPr wrap="square" lIns="0" tIns="0" rIns="0" bIns="0" rtlCol="0"/>
          <a:lstStyle/>
          <a:p>
            <a:endParaRPr/>
          </a:p>
        </p:txBody>
      </p:sp>
      <p:sp>
        <p:nvSpPr>
          <p:cNvPr id="141" name="object 141"/>
          <p:cNvSpPr/>
          <p:nvPr/>
        </p:nvSpPr>
        <p:spPr>
          <a:xfrm>
            <a:off x="5985682" y="3316045"/>
            <a:ext cx="3810" cy="635"/>
          </a:xfrm>
          <a:custGeom>
            <a:avLst/>
            <a:gdLst/>
            <a:ahLst/>
            <a:cxnLst/>
            <a:rect l="l" t="t" r="r" b="b"/>
            <a:pathLst>
              <a:path w="3810" h="635">
                <a:moveTo>
                  <a:pt x="0" y="0"/>
                </a:moveTo>
                <a:lnTo>
                  <a:pt x="2178" y="381"/>
                </a:lnTo>
                <a:lnTo>
                  <a:pt x="3304" y="535"/>
                </a:lnTo>
                <a:lnTo>
                  <a:pt x="2210" y="324"/>
                </a:lnTo>
                <a:lnTo>
                  <a:pt x="1117" y="146"/>
                </a:lnTo>
                <a:lnTo>
                  <a:pt x="0" y="0"/>
                </a:lnTo>
                <a:close/>
              </a:path>
            </a:pathLst>
          </a:custGeom>
          <a:solidFill>
            <a:srgbClr val="1537B9"/>
          </a:solidFill>
        </p:spPr>
        <p:txBody>
          <a:bodyPr wrap="square" lIns="0" tIns="0" rIns="0" bIns="0" rtlCol="0"/>
          <a:lstStyle/>
          <a:p>
            <a:endParaRPr/>
          </a:p>
        </p:txBody>
      </p:sp>
      <p:sp>
        <p:nvSpPr>
          <p:cNvPr id="142" name="object 142"/>
          <p:cNvSpPr/>
          <p:nvPr/>
        </p:nvSpPr>
        <p:spPr>
          <a:xfrm>
            <a:off x="5988986" y="3316581"/>
            <a:ext cx="5080" cy="1270"/>
          </a:xfrm>
          <a:custGeom>
            <a:avLst/>
            <a:gdLst/>
            <a:ahLst/>
            <a:cxnLst/>
            <a:rect l="l" t="t" r="r" b="b"/>
            <a:pathLst>
              <a:path w="5079" h="1270">
                <a:moveTo>
                  <a:pt x="4496" y="1066"/>
                </a:moveTo>
                <a:close/>
              </a:path>
              <a:path w="5079" h="1270">
                <a:moveTo>
                  <a:pt x="0" y="0"/>
                </a:moveTo>
                <a:lnTo>
                  <a:pt x="1525" y="300"/>
                </a:lnTo>
                <a:lnTo>
                  <a:pt x="3034" y="649"/>
                </a:lnTo>
                <a:lnTo>
                  <a:pt x="4496" y="1066"/>
                </a:lnTo>
                <a:lnTo>
                  <a:pt x="4111" y="819"/>
                </a:lnTo>
                <a:lnTo>
                  <a:pt x="3785" y="454"/>
                </a:lnTo>
                <a:lnTo>
                  <a:pt x="1248" y="178"/>
                </a:lnTo>
                <a:lnTo>
                  <a:pt x="0" y="0"/>
                </a:lnTo>
                <a:close/>
              </a:path>
            </a:pathLst>
          </a:custGeom>
          <a:solidFill>
            <a:srgbClr val="1537B9"/>
          </a:solidFill>
        </p:spPr>
        <p:txBody>
          <a:bodyPr wrap="square" lIns="0" tIns="0" rIns="0" bIns="0" rtlCol="0"/>
          <a:lstStyle/>
          <a:p>
            <a:endParaRPr/>
          </a:p>
        </p:txBody>
      </p:sp>
      <p:sp>
        <p:nvSpPr>
          <p:cNvPr id="143" name="object 143"/>
          <p:cNvSpPr/>
          <p:nvPr/>
        </p:nvSpPr>
        <p:spPr>
          <a:xfrm>
            <a:off x="6117463" y="3281245"/>
            <a:ext cx="26670" cy="8890"/>
          </a:xfrm>
          <a:custGeom>
            <a:avLst/>
            <a:gdLst/>
            <a:ahLst/>
            <a:cxnLst/>
            <a:rect l="l" t="t" r="r" b="b"/>
            <a:pathLst>
              <a:path w="26670" h="8889">
                <a:moveTo>
                  <a:pt x="24670" y="0"/>
                </a:moveTo>
                <a:lnTo>
                  <a:pt x="1705" y="0"/>
                </a:lnTo>
                <a:lnTo>
                  <a:pt x="0" y="1979"/>
                </a:lnTo>
                <a:lnTo>
                  <a:pt x="0" y="6864"/>
                </a:lnTo>
                <a:lnTo>
                  <a:pt x="1705" y="8835"/>
                </a:lnTo>
                <a:lnTo>
                  <a:pt x="24670" y="8835"/>
                </a:lnTo>
                <a:lnTo>
                  <a:pt x="26375" y="6864"/>
                </a:lnTo>
                <a:lnTo>
                  <a:pt x="26375" y="1979"/>
                </a:lnTo>
                <a:lnTo>
                  <a:pt x="24670" y="0"/>
                </a:lnTo>
                <a:close/>
              </a:path>
            </a:pathLst>
          </a:custGeom>
          <a:solidFill>
            <a:srgbClr val="041C2C"/>
          </a:solidFill>
        </p:spPr>
        <p:txBody>
          <a:bodyPr wrap="square" lIns="0" tIns="0" rIns="0" bIns="0" rtlCol="0"/>
          <a:lstStyle/>
          <a:p>
            <a:endParaRPr/>
          </a:p>
        </p:txBody>
      </p:sp>
      <p:sp>
        <p:nvSpPr>
          <p:cNvPr id="144" name="object 144"/>
          <p:cNvSpPr/>
          <p:nvPr/>
        </p:nvSpPr>
        <p:spPr>
          <a:xfrm>
            <a:off x="6117855" y="3281237"/>
            <a:ext cx="26034" cy="5080"/>
          </a:xfrm>
          <a:custGeom>
            <a:avLst/>
            <a:gdLst/>
            <a:ahLst/>
            <a:cxnLst/>
            <a:rect l="l" t="t" r="r" b="b"/>
            <a:pathLst>
              <a:path w="26035" h="5079">
                <a:moveTo>
                  <a:pt x="24270" y="0"/>
                </a:moveTo>
                <a:lnTo>
                  <a:pt x="1321" y="0"/>
                </a:lnTo>
                <a:lnTo>
                  <a:pt x="0" y="1111"/>
                </a:lnTo>
                <a:lnTo>
                  <a:pt x="0" y="3837"/>
                </a:lnTo>
                <a:lnTo>
                  <a:pt x="1321" y="4941"/>
                </a:lnTo>
                <a:lnTo>
                  <a:pt x="24270" y="4941"/>
                </a:lnTo>
                <a:lnTo>
                  <a:pt x="25592" y="3837"/>
                </a:lnTo>
                <a:lnTo>
                  <a:pt x="25592" y="1111"/>
                </a:lnTo>
                <a:lnTo>
                  <a:pt x="24270" y="0"/>
                </a:lnTo>
                <a:close/>
              </a:path>
            </a:pathLst>
          </a:custGeom>
          <a:solidFill>
            <a:srgbClr val="041C2C"/>
          </a:solidFill>
        </p:spPr>
        <p:txBody>
          <a:bodyPr wrap="square" lIns="0" tIns="0" rIns="0" bIns="0" rtlCol="0"/>
          <a:lstStyle/>
          <a:p>
            <a:endParaRPr/>
          </a:p>
        </p:txBody>
      </p:sp>
      <p:sp>
        <p:nvSpPr>
          <p:cNvPr id="145" name="object 145"/>
          <p:cNvSpPr/>
          <p:nvPr/>
        </p:nvSpPr>
        <p:spPr>
          <a:xfrm>
            <a:off x="5900223" y="3191062"/>
            <a:ext cx="578587" cy="197651"/>
          </a:xfrm>
          <a:prstGeom prst="rect">
            <a:avLst/>
          </a:prstGeom>
          <a:blipFill>
            <a:blip r:embed="rId7" cstate="print"/>
            <a:stretch>
              <a:fillRect/>
            </a:stretch>
          </a:blipFill>
        </p:spPr>
        <p:txBody>
          <a:bodyPr wrap="square" lIns="0" tIns="0" rIns="0" bIns="0" rtlCol="0"/>
          <a:lstStyle/>
          <a:p>
            <a:endParaRPr/>
          </a:p>
        </p:txBody>
      </p:sp>
      <p:sp>
        <p:nvSpPr>
          <p:cNvPr id="146" name="object 146"/>
          <p:cNvSpPr/>
          <p:nvPr/>
        </p:nvSpPr>
        <p:spPr>
          <a:xfrm>
            <a:off x="5909550" y="3192788"/>
            <a:ext cx="564904" cy="225135"/>
          </a:xfrm>
          <a:prstGeom prst="rect">
            <a:avLst/>
          </a:prstGeom>
          <a:blipFill>
            <a:blip r:embed="rId14" cstate="print"/>
            <a:stretch>
              <a:fillRect/>
            </a:stretch>
          </a:blipFill>
        </p:spPr>
        <p:txBody>
          <a:bodyPr wrap="square" lIns="0" tIns="0" rIns="0" bIns="0" rtlCol="0"/>
          <a:lstStyle/>
          <a:p>
            <a:endParaRPr/>
          </a:p>
        </p:txBody>
      </p:sp>
      <p:sp>
        <p:nvSpPr>
          <p:cNvPr id="147" name="object 147"/>
          <p:cNvSpPr/>
          <p:nvPr/>
        </p:nvSpPr>
        <p:spPr>
          <a:xfrm>
            <a:off x="5751829" y="998728"/>
            <a:ext cx="1943100" cy="337185"/>
          </a:xfrm>
          <a:custGeom>
            <a:avLst/>
            <a:gdLst/>
            <a:ahLst/>
            <a:cxnLst/>
            <a:rect l="l" t="t" r="r" b="b"/>
            <a:pathLst>
              <a:path w="1943100" h="337185">
                <a:moveTo>
                  <a:pt x="1881504" y="0"/>
                </a:moveTo>
                <a:lnTo>
                  <a:pt x="0" y="0"/>
                </a:lnTo>
                <a:lnTo>
                  <a:pt x="61341" y="168528"/>
                </a:lnTo>
                <a:lnTo>
                  <a:pt x="0" y="336930"/>
                </a:lnTo>
                <a:lnTo>
                  <a:pt x="1881504" y="336930"/>
                </a:lnTo>
                <a:lnTo>
                  <a:pt x="1942719" y="168528"/>
                </a:lnTo>
                <a:lnTo>
                  <a:pt x="1881504" y="0"/>
                </a:lnTo>
                <a:close/>
              </a:path>
            </a:pathLst>
          </a:custGeom>
          <a:solidFill>
            <a:srgbClr val="051F79"/>
          </a:solidFill>
        </p:spPr>
        <p:txBody>
          <a:bodyPr wrap="square" lIns="0" tIns="0" rIns="0" bIns="0" rtlCol="0"/>
          <a:lstStyle/>
          <a:p>
            <a:endParaRPr/>
          </a:p>
        </p:txBody>
      </p:sp>
      <p:sp>
        <p:nvSpPr>
          <p:cNvPr id="148" name="object 148"/>
          <p:cNvSpPr/>
          <p:nvPr/>
        </p:nvSpPr>
        <p:spPr>
          <a:xfrm>
            <a:off x="5751829" y="998728"/>
            <a:ext cx="1943100" cy="337185"/>
          </a:xfrm>
          <a:custGeom>
            <a:avLst/>
            <a:gdLst/>
            <a:ahLst/>
            <a:cxnLst/>
            <a:rect l="l" t="t" r="r" b="b"/>
            <a:pathLst>
              <a:path w="1943100" h="337185">
                <a:moveTo>
                  <a:pt x="0" y="0"/>
                </a:moveTo>
                <a:lnTo>
                  <a:pt x="1881504" y="0"/>
                </a:lnTo>
                <a:lnTo>
                  <a:pt x="1942719" y="168528"/>
                </a:lnTo>
                <a:lnTo>
                  <a:pt x="1881504" y="336930"/>
                </a:lnTo>
                <a:lnTo>
                  <a:pt x="0" y="336930"/>
                </a:lnTo>
                <a:lnTo>
                  <a:pt x="61341" y="168528"/>
                </a:lnTo>
                <a:lnTo>
                  <a:pt x="0" y="0"/>
                </a:lnTo>
                <a:close/>
              </a:path>
            </a:pathLst>
          </a:custGeom>
          <a:ln w="19049">
            <a:solidFill>
              <a:srgbClr val="051F79"/>
            </a:solidFill>
          </a:ln>
        </p:spPr>
        <p:txBody>
          <a:bodyPr wrap="square" lIns="0" tIns="0" rIns="0" bIns="0" rtlCol="0"/>
          <a:lstStyle/>
          <a:p>
            <a:endParaRPr/>
          </a:p>
        </p:txBody>
      </p:sp>
      <p:sp>
        <p:nvSpPr>
          <p:cNvPr id="149" name="object 149"/>
          <p:cNvSpPr txBox="1"/>
          <p:nvPr/>
        </p:nvSpPr>
        <p:spPr>
          <a:xfrm>
            <a:off x="6379209" y="1041604"/>
            <a:ext cx="688340" cy="240029"/>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FFFFFF"/>
                </a:solidFill>
                <a:latin typeface="Arial"/>
                <a:cs typeface="Arial"/>
              </a:rPr>
              <a:t>Storage</a:t>
            </a:r>
            <a:endParaRPr sz="1400">
              <a:latin typeface="Arial"/>
              <a:cs typeface="Arial"/>
            </a:endParaRPr>
          </a:p>
        </p:txBody>
      </p:sp>
      <p:sp>
        <p:nvSpPr>
          <p:cNvPr id="150" name="object 150"/>
          <p:cNvSpPr/>
          <p:nvPr/>
        </p:nvSpPr>
        <p:spPr>
          <a:xfrm>
            <a:off x="5840095" y="2820035"/>
            <a:ext cx="1766570" cy="0"/>
          </a:xfrm>
          <a:custGeom>
            <a:avLst/>
            <a:gdLst/>
            <a:ahLst/>
            <a:cxnLst/>
            <a:rect l="l" t="t" r="r" b="b"/>
            <a:pathLst>
              <a:path w="1766570">
                <a:moveTo>
                  <a:pt x="0" y="0"/>
                </a:moveTo>
                <a:lnTo>
                  <a:pt x="1766188" y="0"/>
                </a:lnTo>
              </a:path>
            </a:pathLst>
          </a:custGeom>
          <a:ln w="6350">
            <a:solidFill>
              <a:srgbClr val="757575"/>
            </a:solidFill>
          </a:ln>
        </p:spPr>
        <p:txBody>
          <a:bodyPr wrap="square" lIns="0" tIns="0" rIns="0" bIns="0" rtlCol="0"/>
          <a:lstStyle/>
          <a:p>
            <a:endParaRPr/>
          </a:p>
        </p:txBody>
      </p:sp>
      <p:sp>
        <p:nvSpPr>
          <p:cNvPr id="151" name="object 151"/>
          <p:cNvSpPr/>
          <p:nvPr/>
        </p:nvSpPr>
        <p:spPr>
          <a:xfrm>
            <a:off x="5840095" y="4384930"/>
            <a:ext cx="1766570" cy="0"/>
          </a:xfrm>
          <a:custGeom>
            <a:avLst/>
            <a:gdLst/>
            <a:ahLst/>
            <a:cxnLst/>
            <a:rect l="l" t="t" r="r" b="b"/>
            <a:pathLst>
              <a:path w="1766570">
                <a:moveTo>
                  <a:pt x="0" y="0"/>
                </a:moveTo>
                <a:lnTo>
                  <a:pt x="1766188" y="0"/>
                </a:lnTo>
              </a:path>
            </a:pathLst>
          </a:custGeom>
          <a:ln w="6350">
            <a:solidFill>
              <a:srgbClr val="757575"/>
            </a:solidFill>
          </a:ln>
        </p:spPr>
        <p:txBody>
          <a:bodyPr wrap="square" lIns="0" tIns="0" rIns="0" bIns="0" rtlCol="0"/>
          <a:lstStyle/>
          <a:p>
            <a:endParaRPr/>
          </a:p>
        </p:txBody>
      </p:sp>
      <p:sp>
        <p:nvSpPr>
          <p:cNvPr id="152" name="object 152"/>
          <p:cNvSpPr/>
          <p:nvPr/>
        </p:nvSpPr>
        <p:spPr>
          <a:xfrm>
            <a:off x="5840095" y="3521330"/>
            <a:ext cx="1766570" cy="0"/>
          </a:xfrm>
          <a:custGeom>
            <a:avLst/>
            <a:gdLst/>
            <a:ahLst/>
            <a:cxnLst/>
            <a:rect l="l" t="t" r="r" b="b"/>
            <a:pathLst>
              <a:path w="1766570">
                <a:moveTo>
                  <a:pt x="0" y="0"/>
                </a:moveTo>
                <a:lnTo>
                  <a:pt x="1766188" y="0"/>
                </a:lnTo>
              </a:path>
            </a:pathLst>
          </a:custGeom>
          <a:ln w="6350">
            <a:solidFill>
              <a:srgbClr val="757575"/>
            </a:solidFill>
          </a:ln>
        </p:spPr>
        <p:txBody>
          <a:bodyPr wrap="square" lIns="0" tIns="0" rIns="0" bIns="0" rtlCol="0"/>
          <a:lstStyle/>
          <a:p>
            <a:endParaRPr/>
          </a:p>
        </p:txBody>
      </p:sp>
      <p:sp>
        <p:nvSpPr>
          <p:cNvPr id="153" name="object 153"/>
          <p:cNvSpPr txBox="1"/>
          <p:nvPr/>
        </p:nvSpPr>
        <p:spPr>
          <a:xfrm>
            <a:off x="5831204" y="1436879"/>
            <a:ext cx="1695450" cy="1123315"/>
          </a:xfrm>
          <a:prstGeom prst="rect">
            <a:avLst/>
          </a:prstGeom>
        </p:spPr>
        <p:txBody>
          <a:bodyPr vert="horz" wrap="square" lIns="0" tIns="12700" rIns="0" bIns="0" rtlCol="0">
            <a:spAutoFit/>
          </a:bodyPr>
          <a:lstStyle/>
          <a:p>
            <a:pPr marL="12700" marR="5080">
              <a:lnSpc>
                <a:spcPct val="100000"/>
              </a:lnSpc>
              <a:spcBef>
                <a:spcPts val="100"/>
              </a:spcBef>
            </a:pPr>
            <a:r>
              <a:rPr sz="1200" spc="-15" dirty="0">
                <a:latin typeface="Arial"/>
                <a:cs typeface="Arial"/>
              </a:rPr>
              <a:t>Vehicle </a:t>
            </a:r>
            <a:r>
              <a:rPr sz="1200" b="1" spc="-5" dirty="0">
                <a:latin typeface="Arial"/>
                <a:cs typeface="Arial"/>
              </a:rPr>
              <a:t>custody </a:t>
            </a:r>
            <a:r>
              <a:rPr sz="1200" spc="-5" dirty="0">
                <a:latin typeface="Arial"/>
                <a:cs typeface="Arial"/>
              </a:rPr>
              <a:t>is  </a:t>
            </a:r>
            <a:r>
              <a:rPr sz="1200" b="1" dirty="0">
                <a:latin typeface="Arial"/>
                <a:cs typeface="Arial"/>
              </a:rPr>
              <a:t>documented </a:t>
            </a:r>
            <a:r>
              <a:rPr sz="1200" spc="-5" dirty="0">
                <a:latin typeface="Arial"/>
                <a:cs typeface="Arial"/>
              </a:rPr>
              <a:t>(e.g.,  condition, </a:t>
            </a:r>
            <a:r>
              <a:rPr sz="1200" dirty="0">
                <a:latin typeface="Arial"/>
                <a:cs typeface="Arial"/>
              </a:rPr>
              <a:t>date of </a:t>
            </a:r>
            <a:r>
              <a:rPr sz="1200" spc="-5" dirty="0">
                <a:latin typeface="Arial"/>
                <a:cs typeface="Arial"/>
              </a:rPr>
              <a:t>arrival)  </a:t>
            </a:r>
            <a:r>
              <a:rPr sz="1200" dirty="0">
                <a:latin typeface="Arial"/>
                <a:cs typeface="Arial"/>
              </a:rPr>
              <a:t>and </a:t>
            </a:r>
            <a:r>
              <a:rPr sz="1200" spc="-5" dirty="0">
                <a:latin typeface="Arial"/>
                <a:cs typeface="Arial"/>
              </a:rPr>
              <a:t>is </a:t>
            </a:r>
            <a:r>
              <a:rPr sz="1200" b="1" spc="-5" dirty="0">
                <a:latin typeface="Arial"/>
                <a:cs typeface="Arial"/>
              </a:rPr>
              <a:t>stored </a:t>
            </a:r>
            <a:r>
              <a:rPr sz="1200" spc="-5" dirty="0">
                <a:latin typeface="Arial"/>
                <a:cs typeface="Arial"/>
              </a:rPr>
              <a:t>in </a:t>
            </a:r>
            <a:r>
              <a:rPr sz="1200" dirty="0">
                <a:latin typeface="Arial"/>
                <a:cs typeface="Arial"/>
              </a:rPr>
              <a:t>a</a:t>
            </a:r>
            <a:r>
              <a:rPr sz="1200" spc="-85" dirty="0">
                <a:latin typeface="Arial"/>
                <a:cs typeface="Arial"/>
              </a:rPr>
              <a:t> </a:t>
            </a:r>
            <a:r>
              <a:rPr sz="1200" dirty="0">
                <a:latin typeface="Arial"/>
                <a:cs typeface="Arial"/>
              </a:rPr>
              <a:t>gated,  </a:t>
            </a:r>
            <a:r>
              <a:rPr sz="1200" b="1" spc="-5" dirty="0">
                <a:latin typeface="Arial"/>
                <a:cs typeface="Arial"/>
              </a:rPr>
              <a:t>monitored </a:t>
            </a:r>
            <a:r>
              <a:rPr sz="1200" dirty="0">
                <a:latin typeface="Arial"/>
                <a:cs typeface="Arial"/>
              </a:rPr>
              <a:t>area </a:t>
            </a:r>
            <a:r>
              <a:rPr sz="1200" spc="-10" dirty="0">
                <a:latin typeface="Arial"/>
                <a:cs typeface="Arial"/>
              </a:rPr>
              <a:t>within  </a:t>
            </a:r>
            <a:r>
              <a:rPr sz="1200" b="1" spc="-5" dirty="0">
                <a:latin typeface="Arial"/>
                <a:cs typeface="Arial"/>
              </a:rPr>
              <a:t>storage</a:t>
            </a:r>
            <a:r>
              <a:rPr sz="1200" b="1" spc="-15" dirty="0">
                <a:latin typeface="Arial"/>
                <a:cs typeface="Arial"/>
              </a:rPr>
              <a:t> </a:t>
            </a:r>
            <a:r>
              <a:rPr sz="1200" b="1" spc="-5" dirty="0">
                <a:latin typeface="Arial"/>
                <a:cs typeface="Arial"/>
              </a:rPr>
              <a:t>facility</a:t>
            </a:r>
            <a:endParaRPr sz="1200">
              <a:latin typeface="Arial"/>
              <a:cs typeface="Arial"/>
            </a:endParaRPr>
          </a:p>
        </p:txBody>
      </p:sp>
      <p:sp>
        <p:nvSpPr>
          <p:cNvPr id="154" name="object 154"/>
          <p:cNvSpPr/>
          <p:nvPr/>
        </p:nvSpPr>
        <p:spPr>
          <a:xfrm>
            <a:off x="10791825" y="3594913"/>
            <a:ext cx="686714" cy="335864"/>
          </a:xfrm>
          <a:prstGeom prst="rect">
            <a:avLst/>
          </a:prstGeom>
          <a:blipFill>
            <a:blip r:embed="rId15" cstate="print"/>
            <a:stretch>
              <a:fillRect/>
            </a:stretch>
          </a:blipFill>
        </p:spPr>
        <p:txBody>
          <a:bodyPr wrap="square" lIns="0" tIns="0" rIns="0" bIns="0" rtlCol="0"/>
          <a:lstStyle/>
          <a:p>
            <a:endParaRPr/>
          </a:p>
        </p:txBody>
      </p:sp>
      <p:sp>
        <p:nvSpPr>
          <p:cNvPr id="155" name="object 155"/>
          <p:cNvSpPr/>
          <p:nvPr/>
        </p:nvSpPr>
        <p:spPr>
          <a:xfrm>
            <a:off x="7811516" y="2820035"/>
            <a:ext cx="1766570" cy="0"/>
          </a:xfrm>
          <a:custGeom>
            <a:avLst/>
            <a:gdLst/>
            <a:ahLst/>
            <a:cxnLst/>
            <a:rect l="l" t="t" r="r" b="b"/>
            <a:pathLst>
              <a:path w="1766570">
                <a:moveTo>
                  <a:pt x="0" y="0"/>
                </a:moveTo>
                <a:lnTo>
                  <a:pt x="1766061" y="0"/>
                </a:lnTo>
              </a:path>
            </a:pathLst>
          </a:custGeom>
          <a:ln w="6350">
            <a:solidFill>
              <a:srgbClr val="757575"/>
            </a:solidFill>
          </a:ln>
        </p:spPr>
        <p:txBody>
          <a:bodyPr wrap="square" lIns="0" tIns="0" rIns="0" bIns="0" rtlCol="0"/>
          <a:lstStyle/>
          <a:p>
            <a:endParaRPr/>
          </a:p>
        </p:txBody>
      </p:sp>
      <p:sp>
        <p:nvSpPr>
          <p:cNvPr id="156" name="object 156"/>
          <p:cNvSpPr/>
          <p:nvPr/>
        </p:nvSpPr>
        <p:spPr>
          <a:xfrm>
            <a:off x="7811516" y="4384930"/>
            <a:ext cx="1766570" cy="0"/>
          </a:xfrm>
          <a:custGeom>
            <a:avLst/>
            <a:gdLst/>
            <a:ahLst/>
            <a:cxnLst/>
            <a:rect l="l" t="t" r="r" b="b"/>
            <a:pathLst>
              <a:path w="1766570">
                <a:moveTo>
                  <a:pt x="0" y="0"/>
                </a:moveTo>
                <a:lnTo>
                  <a:pt x="1766061" y="0"/>
                </a:lnTo>
              </a:path>
            </a:pathLst>
          </a:custGeom>
          <a:ln w="6350">
            <a:solidFill>
              <a:srgbClr val="757575"/>
            </a:solidFill>
          </a:ln>
        </p:spPr>
        <p:txBody>
          <a:bodyPr wrap="square" lIns="0" tIns="0" rIns="0" bIns="0" rtlCol="0"/>
          <a:lstStyle/>
          <a:p>
            <a:endParaRPr/>
          </a:p>
        </p:txBody>
      </p:sp>
      <p:sp>
        <p:nvSpPr>
          <p:cNvPr id="157" name="object 157"/>
          <p:cNvSpPr/>
          <p:nvPr/>
        </p:nvSpPr>
        <p:spPr>
          <a:xfrm>
            <a:off x="7811516" y="3521330"/>
            <a:ext cx="1766570" cy="0"/>
          </a:xfrm>
          <a:custGeom>
            <a:avLst/>
            <a:gdLst/>
            <a:ahLst/>
            <a:cxnLst/>
            <a:rect l="l" t="t" r="r" b="b"/>
            <a:pathLst>
              <a:path w="1766570">
                <a:moveTo>
                  <a:pt x="0" y="0"/>
                </a:moveTo>
                <a:lnTo>
                  <a:pt x="1766061" y="0"/>
                </a:lnTo>
              </a:path>
            </a:pathLst>
          </a:custGeom>
          <a:ln w="6350">
            <a:solidFill>
              <a:srgbClr val="757575"/>
            </a:solidFill>
          </a:ln>
        </p:spPr>
        <p:txBody>
          <a:bodyPr wrap="square" lIns="0" tIns="0" rIns="0" bIns="0" rtlCol="0"/>
          <a:lstStyle/>
          <a:p>
            <a:endParaRPr/>
          </a:p>
        </p:txBody>
      </p:sp>
      <p:sp>
        <p:nvSpPr>
          <p:cNvPr id="158" name="object 158"/>
          <p:cNvSpPr txBox="1"/>
          <p:nvPr/>
        </p:nvSpPr>
        <p:spPr>
          <a:xfrm>
            <a:off x="7803006" y="1436879"/>
            <a:ext cx="1678305" cy="1306195"/>
          </a:xfrm>
          <a:prstGeom prst="rect">
            <a:avLst/>
          </a:prstGeom>
        </p:spPr>
        <p:txBody>
          <a:bodyPr vert="horz" wrap="square" lIns="0" tIns="12700" rIns="0" bIns="0" rtlCol="0">
            <a:spAutoFit/>
          </a:bodyPr>
          <a:lstStyle/>
          <a:p>
            <a:pPr marL="12700" marR="5080">
              <a:lnSpc>
                <a:spcPct val="100000"/>
              </a:lnSpc>
              <a:spcBef>
                <a:spcPts val="100"/>
              </a:spcBef>
            </a:pPr>
            <a:r>
              <a:rPr sz="1200" spc="-15" dirty="0">
                <a:latin typeface="Arial"/>
                <a:cs typeface="Arial"/>
              </a:rPr>
              <a:t>Vehicle </a:t>
            </a:r>
            <a:r>
              <a:rPr sz="1200" spc="-5" dirty="0">
                <a:latin typeface="Arial"/>
                <a:cs typeface="Arial"/>
              </a:rPr>
              <a:t>goes through  </a:t>
            </a:r>
            <a:r>
              <a:rPr sz="1200" b="1" dirty="0">
                <a:latin typeface="Arial"/>
                <a:cs typeface="Arial"/>
              </a:rPr>
              <a:t>inspection </a:t>
            </a:r>
            <a:r>
              <a:rPr sz="1200" spc="-10" dirty="0">
                <a:latin typeface="Arial"/>
                <a:cs typeface="Arial"/>
              </a:rPr>
              <a:t>(interior,  exterior, </a:t>
            </a:r>
            <a:r>
              <a:rPr sz="1200" spc="-5" dirty="0">
                <a:latin typeface="Arial"/>
                <a:cs typeface="Arial"/>
              </a:rPr>
              <a:t>engine, </a:t>
            </a:r>
            <a:r>
              <a:rPr sz="1200" dirty="0">
                <a:latin typeface="Arial"/>
                <a:cs typeface="Arial"/>
              </a:rPr>
              <a:t>tires,  </a:t>
            </a:r>
            <a:r>
              <a:rPr sz="1200" spc="-5" dirty="0">
                <a:latin typeface="Arial"/>
                <a:cs typeface="Arial"/>
              </a:rPr>
              <a:t>electronics) </a:t>
            </a:r>
            <a:r>
              <a:rPr sz="1200" dirty="0">
                <a:latin typeface="Arial"/>
                <a:cs typeface="Arial"/>
              </a:rPr>
              <a:t>for </a:t>
            </a:r>
            <a:r>
              <a:rPr sz="1200" b="1" dirty="0">
                <a:latin typeface="Arial"/>
                <a:cs typeface="Arial"/>
              </a:rPr>
              <a:t>wear</a:t>
            </a:r>
            <a:r>
              <a:rPr sz="1200" dirty="0">
                <a:latin typeface="Arial"/>
                <a:cs typeface="Arial"/>
              </a:rPr>
              <a:t>,  </a:t>
            </a:r>
            <a:r>
              <a:rPr sz="1200" b="1" dirty="0">
                <a:latin typeface="Arial"/>
                <a:cs typeface="Arial"/>
              </a:rPr>
              <a:t>damage</a:t>
            </a:r>
            <a:r>
              <a:rPr sz="1200" dirty="0">
                <a:latin typeface="Arial"/>
                <a:cs typeface="Arial"/>
              </a:rPr>
              <a:t>, </a:t>
            </a:r>
            <a:r>
              <a:rPr sz="1200" b="1" spc="-5" dirty="0">
                <a:latin typeface="Arial"/>
                <a:cs typeface="Arial"/>
              </a:rPr>
              <a:t>missing</a:t>
            </a:r>
            <a:r>
              <a:rPr sz="1200" b="1" spc="-75" dirty="0">
                <a:latin typeface="Arial"/>
                <a:cs typeface="Arial"/>
              </a:rPr>
              <a:t> </a:t>
            </a:r>
            <a:r>
              <a:rPr sz="1200" b="1" spc="-5" dirty="0">
                <a:latin typeface="Arial"/>
                <a:cs typeface="Arial"/>
              </a:rPr>
              <a:t>parts  </a:t>
            </a:r>
            <a:r>
              <a:rPr sz="1200" dirty="0">
                <a:latin typeface="Arial"/>
                <a:cs typeface="Arial"/>
              </a:rPr>
              <a:t>and </a:t>
            </a:r>
            <a:r>
              <a:rPr sz="1200" b="1" spc="-5" dirty="0">
                <a:latin typeface="Arial"/>
                <a:cs typeface="Arial"/>
              </a:rPr>
              <a:t>market value </a:t>
            </a:r>
            <a:r>
              <a:rPr sz="1200" spc="-5" dirty="0">
                <a:latin typeface="Arial"/>
                <a:cs typeface="Arial"/>
              </a:rPr>
              <a:t>is  </a:t>
            </a:r>
            <a:r>
              <a:rPr sz="1200" dirty="0">
                <a:latin typeface="Arial"/>
                <a:cs typeface="Arial"/>
              </a:rPr>
              <a:t>estimated by</a:t>
            </a:r>
            <a:r>
              <a:rPr sz="1200" spc="-65" dirty="0">
                <a:latin typeface="Arial"/>
                <a:cs typeface="Arial"/>
              </a:rPr>
              <a:t> </a:t>
            </a:r>
            <a:r>
              <a:rPr sz="1200" spc="-5" dirty="0">
                <a:latin typeface="Arial"/>
                <a:cs typeface="Arial"/>
              </a:rPr>
              <a:t>inspector</a:t>
            </a:r>
            <a:endParaRPr sz="1200">
              <a:latin typeface="Arial"/>
              <a:cs typeface="Arial"/>
            </a:endParaRPr>
          </a:p>
        </p:txBody>
      </p:sp>
      <p:sp>
        <p:nvSpPr>
          <p:cNvPr id="159" name="object 159"/>
          <p:cNvSpPr/>
          <p:nvPr/>
        </p:nvSpPr>
        <p:spPr>
          <a:xfrm>
            <a:off x="7842377" y="4963034"/>
            <a:ext cx="1766570" cy="0"/>
          </a:xfrm>
          <a:custGeom>
            <a:avLst/>
            <a:gdLst/>
            <a:ahLst/>
            <a:cxnLst/>
            <a:rect l="l" t="t" r="r" b="b"/>
            <a:pathLst>
              <a:path w="1766570">
                <a:moveTo>
                  <a:pt x="0" y="0"/>
                </a:moveTo>
                <a:lnTo>
                  <a:pt x="1766189" y="0"/>
                </a:lnTo>
              </a:path>
            </a:pathLst>
          </a:custGeom>
          <a:ln w="6350">
            <a:solidFill>
              <a:srgbClr val="757575"/>
            </a:solidFill>
          </a:ln>
        </p:spPr>
        <p:txBody>
          <a:bodyPr wrap="square" lIns="0" tIns="0" rIns="0" bIns="0" rtlCol="0"/>
          <a:lstStyle/>
          <a:p>
            <a:endParaRPr/>
          </a:p>
        </p:txBody>
      </p:sp>
      <p:sp>
        <p:nvSpPr>
          <p:cNvPr id="160" name="object 160"/>
          <p:cNvSpPr txBox="1"/>
          <p:nvPr/>
        </p:nvSpPr>
        <p:spPr>
          <a:xfrm>
            <a:off x="8678418" y="2879853"/>
            <a:ext cx="763905" cy="574040"/>
          </a:xfrm>
          <a:prstGeom prst="rect">
            <a:avLst/>
          </a:prstGeom>
        </p:spPr>
        <p:txBody>
          <a:bodyPr vert="horz" wrap="square" lIns="0" tIns="12700" rIns="0" bIns="0" rtlCol="0">
            <a:spAutoFit/>
          </a:bodyPr>
          <a:lstStyle/>
          <a:p>
            <a:pPr marL="30480" marR="5080" indent="-18415" algn="just">
              <a:lnSpc>
                <a:spcPct val="100000"/>
              </a:lnSpc>
              <a:spcBef>
                <a:spcPts val="100"/>
              </a:spcBef>
            </a:pPr>
            <a:r>
              <a:rPr sz="1200" spc="-5" dirty="0">
                <a:latin typeface="Arial"/>
                <a:cs typeface="Arial"/>
              </a:rPr>
              <a:t>D</a:t>
            </a:r>
            <a:r>
              <a:rPr sz="1200" dirty="0">
                <a:latin typeface="Arial"/>
                <a:cs typeface="Arial"/>
              </a:rPr>
              <a:t>e</a:t>
            </a:r>
            <a:r>
              <a:rPr sz="1200" spc="-5" dirty="0">
                <a:latin typeface="Arial"/>
                <a:cs typeface="Arial"/>
              </a:rPr>
              <a:t>-</a:t>
            </a:r>
            <a:r>
              <a:rPr sz="1200" spc="10" dirty="0">
                <a:latin typeface="Arial"/>
                <a:cs typeface="Arial"/>
              </a:rPr>
              <a:t>f</a:t>
            </a:r>
            <a:r>
              <a:rPr sz="1200" spc="-5" dirty="0">
                <a:latin typeface="Arial"/>
                <a:cs typeface="Arial"/>
              </a:rPr>
              <a:t>le</a:t>
            </a:r>
            <a:r>
              <a:rPr sz="1200" spc="5" dirty="0">
                <a:latin typeface="Arial"/>
                <a:cs typeface="Arial"/>
              </a:rPr>
              <a:t>e</a:t>
            </a:r>
            <a:r>
              <a:rPr sz="1200" dirty="0">
                <a:latin typeface="Arial"/>
                <a:cs typeface="Arial"/>
              </a:rPr>
              <a:t>ti</a:t>
            </a:r>
            <a:r>
              <a:rPr sz="1200" spc="-10" dirty="0">
                <a:latin typeface="Arial"/>
                <a:cs typeface="Arial"/>
              </a:rPr>
              <a:t>n</a:t>
            </a:r>
            <a:r>
              <a:rPr sz="1200" dirty="0">
                <a:latin typeface="Arial"/>
                <a:cs typeface="Arial"/>
              </a:rPr>
              <a:t>g  </a:t>
            </a:r>
            <a:r>
              <a:rPr sz="1200" spc="-5" dirty="0">
                <a:latin typeface="Arial"/>
                <a:cs typeface="Arial"/>
              </a:rPr>
              <a:t>company </a:t>
            </a:r>
            <a:r>
              <a:rPr sz="1200" dirty="0">
                <a:latin typeface="Arial"/>
                <a:cs typeface="Arial"/>
              </a:rPr>
              <a:t>/  </a:t>
            </a:r>
            <a:r>
              <a:rPr sz="1200" spc="-5" dirty="0">
                <a:latin typeface="Arial"/>
                <a:cs typeface="Arial"/>
              </a:rPr>
              <a:t>inspector</a:t>
            </a:r>
            <a:endParaRPr sz="1200">
              <a:latin typeface="Arial"/>
              <a:cs typeface="Arial"/>
            </a:endParaRPr>
          </a:p>
        </p:txBody>
      </p:sp>
      <p:sp>
        <p:nvSpPr>
          <p:cNvPr id="161" name="object 161"/>
          <p:cNvSpPr/>
          <p:nvPr/>
        </p:nvSpPr>
        <p:spPr>
          <a:xfrm>
            <a:off x="7811516" y="2902992"/>
            <a:ext cx="698500" cy="534670"/>
          </a:xfrm>
          <a:custGeom>
            <a:avLst/>
            <a:gdLst/>
            <a:ahLst/>
            <a:cxnLst/>
            <a:rect l="l" t="t" r="r" b="b"/>
            <a:pathLst>
              <a:path w="698500" h="534670">
                <a:moveTo>
                  <a:pt x="0" y="534644"/>
                </a:moveTo>
                <a:lnTo>
                  <a:pt x="698373" y="534644"/>
                </a:lnTo>
                <a:lnTo>
                  <a:pt x="698373" y="0"/>
                </a:lnTo>
                <a:lnTo>
                  <a:pt x="0" y="0"/>
                </a:lnTo>
                <a:lnTo>
                  <a:pt x="0" y="534644"/>
                </a:lnTo>
                <a:close/>
              </a:path>
            </a:pathLst>
          </a:custGeom>
          <a:ln w="12700">
            <a:solidFill>
              <a:srgbClr val="051F79"/>
            </a:solidFill>
          </a:ln>
        </p:spPr>
        <p:txBody>
          <a:bodyPr wrap="square" lIns="0" tIns="0" rIns="0" bIns="0" rtlCol="0"/>
          <a:lstStyle/>
          <a:p>
            <a:endParaRPr/>
          </a:p>
        </p:txBody>
      </p:sp>
      <p:sp>
        <p:nvSpPr>
          <p:cNvPr id="162" name="object 162"/>
          <p:cNvSpPr/>
          <p:nvPr/>
        </p:nvSpPr>
        <p:spPr>
          <a:xfrm>
            <a:off x="8276964" y="3332736"/>
            <a:ext cx="125287" cy="75343"/>
          </a:xfrm>
          <a:prstGeom prst="rect">
            <a:avLst/>
          </a:prstGeom>
          <a:blipFill>
            <a:blip r:embed="rId9" cstate="print"/>
            <a:stretch>
              <a:fillRect/>
            </a:stretch>
          </a:blipFill>
        </p:spPr>
        <p:txBody>
          <a:bodyPr wrap="square" lIns="0" tIns="0" rIns="0" bIns="0" rtlCol="0"/>
          <a:lstStyle/>
          <a:p>
            <a:endParaRPr/>
          </a:p>
        </p:txBody>
      </p:sp>
      <p:sp>
        <p:nvSpPr>
          <p:cNvPr id="163" name="object 163"/>
          <p:cNvSpPr/>
          <p:nvPr/>
        </p:nvSpPr>
        <p:spPr>
          <a:xfrm>
            <a:off x="7886119" y="3331490"/>
            <a:ext cx="119345" cy="72305"/>
          </a:xfrm>
          <a:prstGeom prst="rect">
            <a:avLst/>
          </a:prstGeom>
          <a:blipFill>
            <a:blip r:embed="rId16" cstate="print"/>
            <a:stretch>
              <a:fillRect/>
            </a:stretch>
          </a:blipFill>
        </p:spPr>
        <p:txBody>
          <a:bodyPr wrap="square" lIns="0" tIns="0" rIns="0" bIns="0" rtlCol="0"/>
          <a:lstStyle/>
          <a:p>
            <a:endParaRPr/>
          </a:p>
        </p:txBody>
      </p:sp>
      <p:sp>
        <p:nvSpPr>
          <p:cNvPr id="164" name="object 164"/>
          <p:cNvSpPr/>
          <p:nvPr/>
        </p:nvSpPr>
        <p:spPr>
          <a:xfrm>
            <a:off x="7869392" y="3202164"/>
            <a:ext cx="577850" cy="205740"/>
          </a:xfrm>
          <a:custGeom>
            <a:avLst/>
            <a:gdLst/>
            <a:ahLst/>
            <a:cxnLst/>
            <a:rect l="l" t="t" r="r" b="b"/>
            <a:pathLst>
              <a:path w="577850" h="205739">
                <a:moveTo>
                  <a:pt x="572700" y="133103"/>
                </a:moveTo>
                <a:lnTo>
                  <a:pt x="473123" y="133102"/>
                </a:lnTo>
                <a:lnTo>
                  <a:pt x="495259" y="137412"/>
                </a:lnTo>
                <a:lnTo>
                  <a:pt x="513385" y="149627"/>
                </a:lnTo>
                <a:lnTo>
                  <a:pt x="525680" y="167926"/>
                </a:lnTo>
                <a:lnTo>
                  <a:pt x="530322" y="190487"/>
                </a:lnTo>
                <a:lnTo>
                  <a:pt x="530342" y="195913"/>
                </a:lnTo>
                <a:lnTo>
                  <a:pt x="529726" y="200850"/>
                </a:lnTo>
                <a:lnTo>
                  <a:pt x="528486" y="205700"/>
                </a:lnTo>
                <a:lnTo>
                  <a:pt x="529734" y="205710"/>
                </a:lnTo>
                <a:lnTo>
                  <a:pt x="533727" y="205445"/>
                </a:lnTo>
                <a:lnTo>
                  <a:pt x="543697" y="204305"/>
                </a:lnTo>
                <a:lnTo>
                  <a:pt x="556635" y="201766"/>
                </a:lnTo>
                <a:lnTo>
                  <a:pt x="569530" y="197308"/>
                </a:lnTo>
                <a:lnTo>
                  <a:pt x="572990" y="195699"/>
                </a:lnTo>
                <a:lnTo>
                  <a:pt x="577354" y="192527"/>
                </a:lnTo>
                <a:lnTo>
                  <a:pt x="576044" y="188633"/>
                </a:lnTo>
                <a:lnTo>
                  <a:pt x="576012" y="188389"/>
                </a:lnTo>
                <a:lnTo>
                  <a:pt x="575621" y="182700"/>
                </a:lnTo>
                <a:lnTo>
                  <a:pt x="575510" y="177031"/>
                </a:lnTo>
                <a:lnTo>
                  <a:pt x="575359" y="165058"/>
                </a:lnTo>
                <a:lnTo>
                  <a:pt x="575092" y="152576"/>
                </a:lnTo>
                <a:lnTo>
                  <a:pt x="573944" y="137294"/>
                </a:lnTo>
                <a:lnTo>
                  <a:pt x="573862" y="136651"/>
                </a:lnTo>
                <a:lnTo>
                  <a:pt x="572700" y="133103"/>
                </a:lnTo>
                <a:close/>
              </a:path>
              <a:path w="577850" h="205739">
                <a:moveTo>
                  <a:pt x="572695" y="133086"/>
                </a:moveTo>
                <a:lnTo>
                  <a:pt x="79057" y="133086"/>
                </a:lnTo>
                <a:lnTo>
                  <a:pt x="79722" y="133102"/>
                </a:lnTo>
                <a:lnTo>
                  <a:pt x="82659" y="133257"/>
                </a:lnTo>
                <a:lnTo>
                  <a:pt x="122809" y="155584"/>
                </a:lnTo>
                <a:lnTo>
                  <a:pt x="134607" y="194780"/>
                </a:lnTo>
                <a:lnTo>
                  <a:pt x="134293" y="198040"/>
                </a:lnTo>
                <a:lnTo>
                  <a:pt x="133697" y="201416"/>
                </a:lnTo>
                <a:lnTo>
                  <a:pt x="418691" y="204665"/>
                </a:lnTo>
                <a:lnTo>
                  <a:pt x="417655" y="200294"/>
                </a:lnTo>
                <a:lnTo>
                  <a:pt x="417123" y="195912"/>
                </a:lnTo>
                <a:lnTo>
                  <a:pt x="417206" y="190487"/>
                </a:lnTo>
                <a:lnTo>
                  <a:pt x="421496" y="168606"/>
                </a:lnTo>
                <a:lnTo>
                  <a:pt x="433489" y="150260"/>
                </a:lnTo>
                <a:lnTo>
                  <a:pt x="451295" y="137816"/>
                </a:lnTo>
                <a:lnTo>
                  <a:pt x="473123" y="133102"/>
                </a:lnTo>
                <a:lnTo>
                  <a:pt x="572700" y="133103"/>
                </a:lnTo>
                <a:close/>
              </a:path>
              <a:path w="577850" h="205739">
                <a:moveTo>
                  <a:pt x="569585" y="197308"/>
                </a:moveTo>
                <a:close/>
              </a:path>
              <a:path w="577850" h="205739">
                <a:moveTo>
                  <a:pt x="215592" y="0"/>
                </a:moveTo>
                <a:lnTo>
                  <a:pt x="153400" y="590"/>
                </a:lnTo>
                <a:lnTo>
                  <a:pt x="71574" y="7598"/>
                </a:lnTo>
                <a:lnTo>
                  <a:pt x="41200" y="31061"/>
                </a:lnTo>
                <a:lnTo>
                  <a:pt x="13723" y="114424"/>
                </a:lnTo>
                <a:lnTo>
                  <a:pt x="12329" y="122561"/>
                </a:lnTo>
                <a:lnTo>
                  <a:pt x="8434" y="137816"/>
                </a:lnTo>
                <a:lnTo>
                  <a:pt x="4909" y="150515"/>
                </a:lnTo>
                <a:lnTo>
                  <a:pt x="342" y="166209"/>
                </a:lnTo>
                <a:lnTo>
                  <a:pt x="0" y="169829"/>
                </a:lnTo>
                <a:lnTo>
                  <a:pt x="17285" y="195912"/>
                </a:lnTo>
                <a:lnTo>
                  <a:pt x="18047" y="195756"/>
                </a:lnTo>
                <a:lnTo>
                  <a:pt x="21392" y="188389"/>
                </a:lnTo>
                <a:lnTo>
                  <a:pt x="21559" y="185774"/>
                </a:lnTo>
                <a:lnTo>
                  <a:pt x="38417" y="149627"/>
                </a:lnTo>
                <a:lnTo>
                  <a:pt x="72405" y="133086"/>
                </a:lnTo>
                <a:lnTo>
                  <a:pt x="572695" y="133086"/>
                </a:lnTo>
                <a:lnTo>
                  <a:pt x="569685" y="123898"/>
                </a:lnTo>
                <a:lnTo>
                  <a:pt x="564970" y="118225"/>
                </a:lnTo>
                <a:lnTo>
                  <a:pt x="563779" y="115792"/>
                </a:lnTo>
                <a:lnTo>
                  <a:pt x="560042" y="113692"/>
                </a:lnTo>
                <a:lnTo>
                  <a:pt x="558109" y="112561"/>
                </a:lnTo>
                <a:lnTo>
                  <a:pt x="524681" y="100257"/>
                </a:lnTo>
                <a:lnTo>
                  <a:pt x="477571" y="88955"/>
                </a:lnTo>
                <a:lnTo>
                  <a:pt x="432989" y="79680"/>
                </a:lnTo>
                <a:lnTo>
                  <a:pt x="407147" y="73455"/>
                </a:lnTo>
                <a:lnTo>
                  <a:pt x="399813" y="70566"/>
                </a:lnTo>
                <a:lnTo>
                  <a:pt x="393359" y="67620"/>
                </a:lnTo>
                <a:lnTo>
                  <a:pt x="383773" y="60604"/>
                </a:lnTo>
                <a:lnTo>
                  <a:pt x="369279" y="50529"/>
                </a:lnTo>
                <a:lnTo>
                  <a:pt x="334337" y="28806"/>
                </a:lnTo>
                <a:lnTo>
                  <a:pt x="296131" y="11533"/>
                </a:lnTo>
                <a:lnTo>
                  <a:pt x="259897" y="3589"/>
                </a:lnTo>
                <a:lnTo>
                  <a:pt x="215592" y="0"/>
                </a:lnTo>
                <a:close/>
              </a:path>
            </a:pathLst>
          </a:custGeom>
          <a:solidFill>
            <a:srgbClr val="2151FF"/>
          </a:solidFill>
        </p:spPr>
        <p:txBody>
          <a:bodyPr wrap="square" lIns="0" tIns="0" rIns="0" bIns="0" rtlCol="0"/>
          <a:lstStyle/>
          <a:p>
            <a:endParaRPr/>
          </a:p>
        </p:txBody>
      </p:sp>
      <p:sp>
        <p:nvSpPr>
          <p:cNvPr id="165" name="object 165"/>
          <p:cNvSpPr/>
          <p:nvPr/>
        </p:nvSpPr>
        <p:spPr>
          <a:xfrm>
            <a:off x="7954817" y="3335926"/>
            <a:ext cx="3810" cy="635"/>
          </a:xfrm>
          <a:custGeom>
            <a:avLst/>
            <a:gdLst/>
            <a:ahLst/>
            <a:cxnLst/>
            <a:rect l="l" t="t" r="r" b="b"/>
            <a:pathLst>
              <a:path w="3809" h="635">
                <a:moveTo>
                  <a:pt x="0" y="0"/>
                </a:moveTo>
                <a:lnTo>
                  <a:pt x="2178" y="382"/>
                </a:lnTo>
                <a:lnTo>
                  <a:pt x="3304" y="537"/>
                </a:lnTo>
                <a:lnTo>
                  <a:pt x="2210" y="325"/>
                </a:lnTo>
                <a:lnTo>
                  <a:pt x="1117" y="146"/>
                </a:lnTo>
                <a:lnTo>
                  <a:pt x="0" y="0"/>
                </a:lnTo>
                <a:close/>
              </a:path>
            </a:pathLst>
          </a:custGeom>
          <a:solidFill>
            <a:srgbClr val="1537B9"/>
          </a:solidFill>
        </p:spPr>
        <p:txBody>
          <a:bodyPr wrap="square" lIns="0" tIns="0" rIns="0" bIns="0" rtlCol="0"/>
          <a:lstStyle/>
          <a:p>
            <a:endParaRPr/>
          </a:p>
        </p:txBody>
      </p:sp>
      <p:sp>
        <p:nvSpPr>
          <p:cNvPr id="166" name="object 166"/>
          <p:cNvSpPr/>
          <p:nvPr/>
        </p:nvSpPr>
        <p:spPr>
          <a:xfrm>
            <a:off x="7958121" y="3336463"/>
            <a:ext cx="5080" cy="1270"/>
          </a:xfrm>
          <a:custGeom>
            <a:avLst/>
            <a:gdLst/>
            <a:ahLst/>
            <a:cxnLst/>
            <a:rect l="l" t="t" r="r" b="b"/>
            <a:pathLst>
              <a:path w="5079" h="1270">
                <a:moveTo>
                  <a:pt x="4496" y="1070"/>
                </a:moveTo>
                <a:close/>
              </a:path>
              <a:path w="5079" h="1270">
                <a:moveTo>
                  <a:pt x="0" y="0"/>
                </a:moveTo>
                <a:lnTo>
                  <a:pt x="1525" y="301"/>
                </a:lnTo>
                <a:lnTo>
                  <a:pt x="3034" y="651"/>
                </a:lnTo>
                <a:lnTo>
                  <a:pt x="4496" y="1070"/>
                </a:lnTo>
                <a:lnTo>
                  <a:pt x="4111" y="821"/>
                </a:lnTo>
                <a:lnTo>
                  <a:pt x="3785" y="455"/>
                </a:lnTo>
                <a:lnTo>
                  <a:pt x="1248" y="179"/>
                </a:lnTo>
                <a:lnTo>
                  <a:pt x="0" y="0"/>
                </a:lnTo>
                <a:close/>
              </a:path>
            </a:pathLst>
          </a:custGeom>
          <a:solidFill>
            <a:srgbClr val="1537B9"/>
          </a:solidFill>
        </p:spPr>
        <p:txBody>
          <a:bodyPr wrap="square" lIns="0" tIns="0" rIns="0" bIns="0" rtlCol="0"/>
          <a:lstStyle/>
          <a:p>
            <a:endParaRPr/>
          </a:p>
        </p:txBody>
      </p:sp>
      <p:sp>
        <p:nvSpPr>
          <p:cNvPr id="167" name="object 167"/>
          <p:cNvSpPr/>
          <p:nvPr/>
        </p:nvSpPr>
        <p:spPr>
          <a:xfrm>
            <a:off x="8086598" y="3301020"/>
            <a:ext cx="26670" cy="8890"/>
          </a:xfrm>
          <a:custGeom>
            <a:avLst/>
            <a:gdLst/>
            <a:ahLst/>
            <a:cxnLst/>
            <a:rect l="l" t="t" r="r" b="b"/>
            <a:pathLst>
              <a:path w="26670" h="8889">
                <a:moveTo>
                  <a:pt x="24670" y="0"/>
                </a:moveTo>
                <a:lnTo>
                  <a:pt x="1705" y="0"/>
                </a:lnTo>
                <a:lnTo>
                  <a:pt x="0" y="1985"/>
                </a:lnTo>
                <a:lnTo>
                  <a:pt x="0" y="6885"/>
                </a:lnTo>
                <a:lnTo>
                  <a:pt x="1705" y="8862"/>
                </a:lnTo>
                <a:lnTo>
                  <a:pt x="24670" y="8862"/>
                </a:lnTo>
                <a:lnTo>
                  <a:pt x="26375" y="6885"/>
                </a:lnTo>
                <a:lnTo>
                  <a:pt x="26375" y="1985"/>
                </a:lnTo>
                <a:lnTo>
                  <a:pt x="24670" y="0"/>
                </a:lnTo>
                <a:close/>
              </a:path>
            </a:pathLst>
          </a:custGeom>
          <a:solidFill>
            <a:srgbClr val="041C2C"/>
          </a:solidFill>
        </p:spPr>
        <p:txBody>
          <a:bodyPr wrap="square" lIns="0" tIns="0" rIns="0" bIns="0" rtlCol="0"/>
          <a:lstStyle/>
          <a:p>
            <a:endParaRPr/>
          </a:p>
        </p:txBody>
      </p:sp>
      <p:sp>
        <p:nvSpPr>
          <p:cNvPr id="168" name="object 168"/>
          <p:cNvSpPr/>
          <p:nvPr/>
        </p:nvSpPr>
        <p:spPr>
          <a:xfrm>
            <a:off x="8086990" y="3301012"/>
            <a:ext cx="26034" cy="5080"/>
          </a:xfrm>
          <a:custGeom>
            <a:avLst/>
            <a:gdLst/>
            <a:ahLst/>
            <a:cxnLst/>
            <a:rect l="l" t="t" r="r" b="b"/>
            <a:pathLst>
              <a:path w="26034" h="5079">
                <a:moveTo>
                  <a:pt x="24270" y="0"/>
                </a:moveTo>
                <a:lnTo>
                  <a:pt x="1321" y="0"/>
                </a:lnTo>
                <a:lnTo>
                  <a:pt x="0" y="1114"/>
                </a:lnTo>
                <a:lnTo>
                  <a:pt x="0" y="3849"/>
                </a:lnTo>
                <a:lnTo>
                  <a:pt x="1321" y="4956"/>
                </a:lnTo>
                <a:lnTo>
                  <a:pt x="24270" y="4956"/>
                </a:lnTo>
                <a:lnTo>
                  <a:pt x="25592" y="3849"/>
                </a:lnTo>
                <a:lnTo>
                  <a:pt x="25592" y="1114"/>
                </a:lnTo>
                <a:lnTo>
                  <a:pt x="24270" y="0"/>
                </a:lnTo>
                <a:close/>
              </a:path>
            </a:pathLst>
          </a:custGeom>
          <a:solidFill>
            <a:srgbClr val="041C2C"/>
          </a:solidFill>
        </p:spPr>
        <p:txBody>
          <a:bodyPr wrap="square" lIns="0" tIns="0" rIns="0" bIns="0" rtlCol="0"/>
          <a:lstStyle/>
          <a:p>
            <a:endParaRPr/>
          </a:p>
        </p:txBody>
      </p:sp>
      <p:sp>
        <p:nvSpPr>
          <p:cNvPr id="169" name="object 169"/>
          <p:cNvSpPr/>
          <p:nvPr/>
        </p:nvSpPr>
        <p:spPr>
          <a:xfrm>
            <a:off x="7869358" y="3210561"/>
            <a:ext cx="578587" cy="198255"/>
          </a:xfrm>
          <a:prstGeom prst="rect">
            <a:avLst/>
          </a:prstGeom>
          <a:blipFill>
            <a:blip r:embed="rId7" cstate="print"/>
            <a:stretch>
              <a:fillRect/>
            </a:stretch>
          </a:blipFill>
        </p:spPr>
        <p:txBody>
          <a:bodyPr wrap="square" lIns="0" tIns="0" rIns="0" bIns="0" rtlCol="0"/>
          <a:lstStyle/>
          <a:p>
            <a:endParaRPr/>
          </a:p>
        </p:txBody>
      </p:sp>
      <p:sp>
        <p:nvSpPr>
          <p:cNvPr id="170" name="object 170"/>
          <p:cNvSpPr/>
          <p:nvPr/>
        </p:nvSpPr>
        <p:spPr>
          <a:xfrm>
            <a:off x="7878685" y="2912618"/>
            <a:ext cx="617741" cy="525496"/>
          </a:xfrm>
          <a:prstGeom prst="rect">
            <a:avLst/>
          </a:prstGeom>
          <a:blipFill>
            <a:blip r:embed="rId17" cstate="print"/>
            <a:stretch>
              <a:fillRect/>
            </a:stretch>
          </a:blipFill>
        </p:spPr>
        <p:txBody>
          <a:bodyPr wrap="square" lIns="0" tIns="0" rIns="0" bIns="0" rtlCol="0"/>
          <a:lstStyle/>
          <a:p>
            <a:endParaRPr/>
          </a:p>
        </p:txBody>
      </p:sp>
      <p:sp>
        <p:nvSpPr>
          <p:cNvPr id="171" name="object 171"/>
          <p:cNvSpPr txBox="1"/>
          <p:nvPr/>
        </p:nvSpPr>
        <p:spPr>
          <a:xfrm>
            <a:off x="9836277" y="3925570"/>
            <a:ext cx="840105" cy="391160"/>
          </a:xfrm>
          <a:prstGeom prst="rect">
            <a:avLst/>
          </a:prstGeom>
        </p:spPr>
        <p:txBody>
          <a:bodyPr vert="horz" wrap="square" lIns="0" tIns="12700" rIns="0" bIns="0" rtlCol="0">
            <a:spAutoFit/>
          </a:bodyPr>
          <a:lstStyle/>
          <a:p>
            <a:pPr marL="127000" marR="5080" indent="-114300">
              <a:lnSpc>
                <a:spcPct val="100000"/>
              </a:lnSpc>
              <a:spcBef>
                <a:spcPts val="100"/>
              </a:spcBef>
            </a:pPr>
            <a:r>
              <a:rPr sz="1200" b="1" spc="-5" dirty="0">
                <a:latin typeface="Arial"/>
                <a:cs typeface="Arial"/>
              </a:rPr>
              <a:t>ERB</a:t>
            </a:r>
            <a:r>
              <a:rPr sz="1200" b="1" spc="-80" dirty="0">
                <a:latin typeface="Arial"/>
                <a:cs typeface="Arial"/>
              </a:rPr>
              <a:t> </a:t>
            </a:r>
            <a:r>
              <a:rPr sz="1200" b="1" dirty="0">
                <a:latin typeface="Arial"/>
                <a:cs typeface="Arial"/>
              </a:rPr>
              <a:t>dealer  network</a:t>
            </a:r>
            <a:endParaRPr sz="1200">
              <a:latin typeface="Arial"/>
              <a:cs typeface="Arial"/>
            </a:endParaRPr>
          </a:p>
        </p:txBody>
      </p:sp>
      <p:sp>
        <p:nvSpPr>
          <p:cNvPr id="172" name="object 172"/>
          <p:cNvSpPr/>
          <p:nvPr/>
        </p:nvSpPr>
        <p:spPr>
          <a:xfrm>
            <a:off x="10797278" y="4085495"/>
            <a:ext cx="713020" cy="198187"/>
          </a:xfrm>
          <a:prstGeom prst="rect">
            <a:avLst/>
          </a:prstGeom>
          <a:blipFill>
            <a:blip r:embed="rId18" cstate="print"/>
            <a:stretch>
              <a:fillRect/>
            </a:stretch>
          </a:blipFill>
        </p:spPr>
        <p:txBody>
          <a:bodyPr wrap="square" lIns="0" tIns="0" rIns="0" bIns="0" rtlCol="0"/>
          <a:lstStyle/>
          <a:p>
            <a:endParaRPr/>
          </a:p>
        </p:txBody>
      </p:sp>
      <p:sp>
        <p:nvSpPr>
          <p:cNvPr id="173" name="object 173"/>
          <p:cNvSpPr/>
          <p:nvPr/>
        </p:nvSpPr>
        <p:spPr>
          <a:xfrm>
            <a:off x="9820304" y="3653811"/>
            <a:ext cx="858208" cy="183310"/>
          </a:xfrm>
          <a:prstGeom prst="rect">
            <a:avLst/>
          </a:prstGeom>
          <a:blipFill>
            <a:blip r:embed="rId19" cstate="print"/>
            <a:stretch>
              <a:fillRect/>
            </a:stretch>
          </a:blipFill>
        </p:spPr>
        <p:txBody>
          <a:bodyPr wrap="square" lIns="0" tIns="0" rIns="0" bIns="0" rtlCol="0"/>
          <a:lstStyle/>
          <a:p>
            <a:endParaRPr/>
          </a:p>
        </p:txBody>
      </p:sp>
      <p:sp>
        <p:nvSpPr>
          <p:cNvPr id="174" name="object 174"/>
          <p:cNvSpPr/>
          <p:nvPr/>
        </p:nvSpPr>
        <p:spPr>
          <a:xfrm>
            <a:off x="553338" y="6100979"/>
            <a:ext cx="11083925" cy="365760"/>
          </a:xfrm>
          <a:custGeom>
            <a:avLst/>
            <a:gdLst/>
            <a:ahLst/>
            <a:cxnLst/>
            <a:rect l="l" t="t" r="r" b="b"/>
            <a:pathLst>
              <a:path w="11083925" h="365760">
                <a:moveTo>
                  <a:pt x="11022965" y="0"/>
                </a:moveTo>
                <a:lnTo>
                  <a:pt x="60921" y="0"/>
                </a:lnTo>
                <a:lnTo>
                  <a:pt x="37210" y="4788"/>
                </a:lnTo>
                <a:lnTo>
                  <a:pt x="17845" y="17846"/>
                </a:lnTo>
                <a:lnTo>
                  <a:pt x="4788" y="37215"/>
                </a:lnTo>
                <a:lnTo>
                  <a:pt x="0" y="60934"/>
                </a:lnTo>
                <a:lnTo>
                  <a:pt x="0" y="304647"/>
                </a:lnTo>
                <a:lnTo>
                  <a:pt x="4788" y="328359"/>
                </a:lnTo>
                <a:lnTo>
                  <a:pt x="17845" y="347724"/>
                </a:lnTo>
                <a:lnTo>
                  <a:pt x="37210" y="360781"/>
                </a:lnTo>
                <a:lnTo>
                  <a:pt x="60921" y="365569"/>
                </a:lnTo>
                <a:lnTo>
                  <a:pt x="11022965" y="365569"/>
                </a:lnTo>
                <a:lnTo>
                  <a:pt x="11046688" y="360781"/>
                </a:lnTo>
                <a:lnTo>
                  <a:pt x="11066065" y="347724"/>
                </a:lnTo>
                <a:lnTo>
                  <a:pt x="11079132" y="328359"/>
                </a:lnTo>
                <a:lnTo>
                  <a:pt x="11083925" y="304647"/>
                </a:lnTo>
                <a:lnTo>
                  <a:pt x="11083925" y="60934"/>
                </a:lnTo>
                <a:lnTo>
                  <a:pt x="11079132" y="37215"/>
                </a:lnTo>
                <a:lnTo>
                  <a:pt x="11066065" y="17846"/>
                </a:lnTo>
                <a:lnTo>
                  <a:pt x="11046688" y="4788"/>
                </a:lnTo>
                <a:lnTo>
                  <a:pt x="11022965" y="0"/>
                </a:lnTo>
                <a:close/>
              </a:path>
            </a:pathLst>
          </a:custGeom>
          <a:solidFill>
            <a:srgbClr val="051F79"/>
          </a:solidFill>
        </p:spPr>
        <p:txBody>
          <a:bodyPr wrap="square" lIns="0" tIns="0" rIns="0" bIns="0" rtlCol="0"/>
          <a:lstStyle/>
          <a:p>
            <a:endParaRPr/>
          </a:p>
        </p:txBody>
      </p:sp>
      <p:sp>
        <p:nvSpPr>
          <p:cNvPr id="175" name="object 175"/>
          <p:cNvSpPr txBox="1"/>
          <p:nvPr/>
        </p:nvSpPr>
        <p:spPr>
          <a:xfrm>
            <a:off x="2092198" y="6145365"/>
            <a:ext cx="8001634"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Arial"/>
                <a:cs typeface="Arial"/>
              </a:rPr>
              <a:t>Effective repossession can </a:t>
            </a:r>
            <a:r>
              <a:rPr sz="1600" spc="-10" dirty="0">
                <a:solidFill>
                  <a:srgbClr val="FFFFFF"/>
                </a:solidFill>
                <a:latin typeface="Arial"/>
                <a:cs typeface="Arial"/>
              </a:rPr>
              <a:t>lower </a:t>
            </a:r>
            <a:r>
              <a:rPr sz="1600" spc="-5" dirty="0">
                <a:solidFill>
                  <a:srgbClr val="FFFFFF"/>
                </a:solidFill>
                <a:latin typeface="Arial"/>
                <a:cs typeface="Arial"/>
              </a:rPr>
              <a:t>cost of risk and strengthen Eurobank’s</a:t>
            </a:r>
            <a:r>
              <a:rPr sz="1600" spc="65" dirty="0">
                <a:solidFill>
                  <a:srgbClr val="FFFFFF"/>
                </a:solidFill>
                <a:latin typeface="Arial"/>
                <a:cs typeface="Arial"/>
              </a:rPr>
              <a:t> </a:t>
            </a:r>
            <a:r>
              <a:rPr sz="1600" spc="-5" dirty="0">
                <a:solidFill>
                  <a:srgbClr val="FFFFFF"/>
                </a:solidFill>
                <a:latin typeface="Arial"/>
                <a:cs typeface="Arial"/>
              </a:rPr>
              <a:t>competitiveness</a:t>
            </a:r>
            <a:endParaRPr sz="1600">
              <a:latin typeface="Arial"/>
              <a:cs typeface="Arial"/>
            </a:endParaRPr>
          </a:p>
        </p:txBody>
      </p:sp>
      <p:sp>
        <p:nvSpPr>
          <p:cNvPr id="177" name="object 177"/>
          <p:cNvSpPr/>
          <p:nvPr/>
        </p:nvSpPr>
        <p:spPr>
          <a:xfrm>
            <a:off x="1089069" y="6145873"/>
            <a:ext cx="74295" cy="147955"/>
          </a:xfrm>
          <a:custGeom>
            <a:avLst/>
            <a:gdLst/>
            <a:ahLst/>
            <a:cxnLst/>
            <a:rect l="l" t="t" r="r" b="b"/>
            <a:pathLst>
              <a:path w="74294" h="147954">
                <a:moveTo>
                  <a:pt x="0" y="0"/>
                </a:moveTo>
                <a:lnTo>
                  <a:pt x="74024" y="73885"/>
                </a:lnTo>
                <a:lnTo>
                  <a:pt x="0" y="147771"/>
                </a:lnTo>
              </a:path>
            </a:pathLst>
          </a:custGeom>
          <a:ln w="12695">
            <a:solidFill>
              <a:srgbClr val="FFFFFF"/>
            </a:solidFill>
          </a:ln>
        </p:spPr>
        <p:txBody>
          <a:bodyPr wrap="square" lIns="0" tIns="0" rIns="0" bIns="0" rtlCol="0"/>
          <a:lstStyle/>
          <a:p>
            <a:endParaRPr/>
          </a:p>
        </p:txBody>
      </p:sp>
      <p:sp>
        <p:nvSpPr>
          <p:cNvPr id="178" name="object 178"/>
          <p:cNvSpPr/>
          <p:nvPr/>
        </p:nvSpPr>
        <p:spPr>
          <a:xfrm>
            <a:off x="4043171" y="3702686"/>
            <a:ext cx="5356860" cy="76200"/>
          </a:xfrm>
          <a:custGeom>
            <a:avLst/>
            <a:gdLst/>
            <a:ahLst/>
            <a:cxnLst/>
            <a:rect l="l" t="t" r="r" b="b"/>
            <a:pathLst>
              <a:path w="5356859" h="76200">
                <a:moveTo>
                  <a:pt x="76200" y="0"/>
                </a:moveTo>
                <a:lnTo>
                  <a:pt x="0" y="38100"/>
                </a:lnTo>
                <a:lnTo>
                  <a:pt x="76200" y="76200"/>
                </a:lnTo>
                <a:lnTo>
                  <a:pt x="76200" y="41275"/>
                </a:lnTo>
                <a:lnTo>
                  <a:pt x="63500" y="41275"/>
                </a:lnTo>
                <a:lnTo>
                  <a:pt x="63500" y="34925"/>
                </a:lnTo>
                <a:lnTo>
                  <a:pt x="76200" y="34925"/>
                </a:lnTo>
                <a:lnTo>
                  <a:pt x="76200" y="0"/>
                </a:lnTo>
                <a:close/>
              </a:path>
              <a:path w="5356859" h="76200">
                <a:moveTo>
                  <a:pt x="5280659" y="0"/>
                </a:moveTo>
                <a:lnTo>
                  <a:pt x="5280659" y="76200"/>
                </a:lnTo>
                <a:lnTo>
                  <a:pt x="5350509" y="41275"/>
                </a:lnTo>
                <a:lnTo>
                  <a:pt x="5293359" y="41275"/>
                </a:lnTo>
                <a:lnTo>
                  <a:pt x="5293359" y="34925"/>
                </a:lnTo>
                <a:lnTo>
                  <a:pt x="5350509" y="34925"/>
                </a:lnTo>
                <a:lnTo>
                  <a:pt x="5280659" y="0"/>
                </a:lnTo>
                <a:close/>
              </a:path>
              <a:path w="5356859" h="76200">
                <a:moveTo>
                  <a:pt x="76200" y="34925"/>
                </a:moveTo>
                <a:lnTo>
                  <a:pt x="63500" y="34925"/>
                </a:lnTo>
                <a:lnTo>
                  <a:pt x="63500" y="41275"/>
                </a:lnTo>
                <a:lnTo>
                  <a:pt x="76200" y="41275"/>
                </a:lnTo>
                <a:lnTo>
                  <a:pt x="76200" y="34925"/>
                </a:lnTo>
                <a:close/>
              </a:path>
              <a:path w="5356859" h="76200">
                <a:moveTo>
                  <a:pt x="5280659" y="34925"/>
                </a:moveTo>
                <a:lnTo>
                  <a:pt x="76200" y="34925"/>
                </a:lnTo>
                <a:lnTo>
                  <a:pt x="76200" y="41275"/>
                </a:lnTo>
                <a:lnTo>
                  <a:pt x="5280659" y="41275"/>
                </a:lnTo>
                <a:lnTo>
                  <a:pt x="5280659" y="34925"/>
                </a:lnTo>
                <a:close/>
              </a:path>
              <a:path w="5356859" h="76200">
                <a:moveTo>
                  <a:pt x="5350509" y="34925"/>
                </a:moveTo>
                <a:lnTo>
                  <a:pt x="5293359" y="34925"/>
                </a:lnTo>
                <a:lnTo>
                  <a:pt x="5293359" y="41275"/>
                </a:lnTo>
                <a:lnTo>
                  <a:pt x="5350509" y="41275"/>
                </a:lnTo>
                <a:lnTo>
                  <a:pt x="5356859" y="38100"/>
                </a:lnTo>
                <a:lnTo>
                  <a:pt x="5350509" y="34925"/>
                </a:lnTo>
                <a:close/>
              </a:path>
            </a:pathLst>
          </a:custGeom>
          <a:solidFill>
            <a:srgbClr val="000000"/>
          </a:solidFill>
        </p:spPr>
        <p:txBody>
          <a:bodyPr wrap="square" lIns="0" tIns="0" rIns="0" bIns="0" rtlCol="0"/>
          <a:lstStyle/>
          <a:p>
            <a:endParaRPr/>
          </a:p>
        </p:txBody>
      </p:sp>
      <p:sp>
        <p:nvSpPr>
          <p:cNvPr id="179" name="object 179"/>
          <p:cNvSpPr/>
          <p:nvPr/>
        </p:nvSpPr>
        <p:spPr>
          <a:xfrm>
            <a:off x="6205092" y="3576574"/>
            <a:ext cx="1033081" cy="327151"/>
          </a:xfrm>
          <a:prstGeom prst="rect">
            <a:avLst/>
          </a:prstGeom>
          <a:blipFill>
            <a:blip r:embed="rId20" cstate="print"/>
            <a:stretch>
              <a:fillRect/>
            </a:stretch>
          </a:blipFill>
        </p:spPr>
        <p:txBody>
          <a:bodyPr wrap="square" lIns="0" tIns="0" rIns="0" bIns="0" rtlCol="0"/>
          <a:lstStyle/>
          <a:p>
            <a:endParaRPr/>
          </a:p>
        </p:txBody>
      </p:sp>
      <p:sp>
        <p:nvSpPr>
          <p:cNvPr id="180" name="object 180"/>
          <p:cNvSpPr txBox="1"/>
          <p:nvPr/>
        </p:nvSpPr>
        <p:spPr>
          <a:xfrm>
            <a:off x="6908292" y="4071071"/>
            <a:ext cx="85090" cy="170815"/>
          </a:xfrm>
          <a:prstGeom prst="rect">
            <a:avLst/>
          </a:prstGeom>
        </p:spPr>
        <p:txBody>
          <a:bodyPr vert="horz" wrap="square" lIns="0" tIns="0" rIns="0" bIns="0" rtlCol="0">
            <a:spAutoFit/>
          </a:bodyPr>
          <a:lstStyle/>
          <a:p>
            <a:pPr>
              <a:lnSpc>
                <a:spcPts val="1325"/>
              </a:lnSpc>
            </a:pPr>
            <a:r>
              <a:rPr sz="1200" dirty="0">
                <a:latin typeface="Arial"/>
                <a:cs typeface="Arial"/>
              </a:rPr>
              <a:t>1</a:t>
            </a:r>
            <a:endParaRPr sz="1200">
              <a:latin typeface="Arial"/>
              <a:cs typeface="Arial"/>
            </a:endParaRPr>
          </a:p>
        </p:txBody>
      </p:sp>
      <p:sp>
        <p:nvSpPr>
          <p:cNvPr id="181" name="object 181"/>
          <p:cNvSpPr txBox="1"/>
          <p:nvPr/>
        </p:nvSpPr>
        <p:spPr>
          <a:xfrm>
            <a:off x="574344" y="6543040"/>
            <a:ext cx="1694180" cy="162560"/>
          </a:xfrm>
          <a:prstGeom prst="rect">
            <a:avLst/>
          </a:prstGeom>
        </p:spPr>
        <p:txBody>
          <a:bodyPr vert="horz" wrap="square" lIns="0" tIns="12700" rIns="0" bIns="0" rtlCol="0">
            <a:spAutoFit/>
          </a:bodyPr>
          <a:lstStyle/>
          <a:p>
            <a:pPr marL="12700">
              <a:lnSpc>
                <a:spcPct val="100000"/>
              </a:lnSpc>
              <a:spcBef>
                <a:spcPts val="100"/>
              </a:spcBef>
            </a:pPr>
            <a:r>
              <a:rPr sz="900" spc="-5" dirty="0">
                <a:latin typeface="Arial"/>
                <a:cs typeface="Arial"/>
              </a:rPr>
              <a:t>Note: ΠΑΕΓΑΕ </a:t>
            </a:r>
            <a:r>
              <a:rPr sz="900" dirty="0">
                <a:latin typeface="Arial"/>
                <a:cs typeface="Arial"/>
              </a:rPr>
              <a:t>is </a:t>
            </a:r>
            <a:r>
              <a:rPr sz="900" spc="-5" dirty="0">
                <a:latin typeface="Arial"/>
                <a:cs typeface="Arial"/>
              </a:rPr>
              <a:t>owned </a:t>
            </a:r>
            <a:r>
              <a:rPr sz="900" dirty="0">
                <a:latin typeface="Arial"/>
                <a:cs typeface="Arial"/>
              </a:rPr>
              <a:t>by</a:t>
            </a:r>
            <a:r>
              <a:rPr sz="900" spc="-75" dirty="0">
                <a:latin typeface="Arial"/>
                <a:cs typeface="Arial"/>
              </a:rPr>
              <a:t> </a:t>
            </a:r>
            <a:r>
              <a:rPr sz="900" spc="-5" dirty="0">
                <a:latin typeface="Arial"/>
                <a:cs typeface="Arial"/>
              </a:rPr>
              <a:t>NBG</a:t>
            </a:r>
            <a:endParaRPr sz="900">
              <a:latin typeface="Arial"/>
              <a:cs typeface="Arial"/>
            </a:endParaRPr>
          </a:p>
        </p:txBody>
      </p:sp>
      <p:sp>
        <p:nvSpPr>
          <p:cNvPr id="182" name="object 182"/>
          <p:cNvSpPr/>
          <p:nvPr/>
        </p:nvSpPr>
        <p:spPr>
          <a:xfrm>
            <a:off x="10895330" y="3981079"/>
            <a:ext cx="338975" cy="115940"/>
          </a:xfrm>
          <a:prstGeom prst="rect">
            <a:avLst/>
          </a:prstGeom>
          <a:blipFill>
            <a:blip r:embed="rId21" cstate="print"/>
            <a:stretch>
              <a:fillRect/>
            </a:stretch>
          </a:blipFill>
        </p:spPr>
        <p:txBody>
          <a:bodyPr wrap="square" lIns="0" tIns="0" rIns="0" bIns="0" rtlCol="0"/>
          <a:lstStyle/>
          <a:p>
            <a:endParaRPr/>
          </a:p>
        </p:txBody>
      </p:sp>
      <p:sp>
        <p:nvSpPr>
          <p:cNvPr id="183" name="object 183"/>
          <p:cNvSpPr/>
          <p:nvPr/>
        </p:nvSpPr>
        <p:spPr>
          <a:xfrm>
            <a:off x="5840095" y="4086480"/>
            <a:ext cx="3560445" cy="76200"/>
          </a:xfrm>
          <a:custGeom>
            <a:avLst/>
            <a:gdLst/>
            <a:ahLst/>
            <a:cxnLst/>
            <a:rect l="l" t="t" r="r" b="b"/>
            <a:pathLst>
              <a:path w="3560445" h="76200">
                <a:moveTo>
                  <a:pt x="76200" y="0"/>
                </a:moveTo>
                <a:lnTo>
                  <a:pt x="0" y="38099"/>
                </a:lnTo>
                <a:lnTo>
                  <a:pt x="76200" y="76199"/>
                </a:lnTo>
                <a:lnTo>
                  <a:pt x="76200" y="41274"/>
                </a:lnTo>
                <a:lnTo>
                  <a:pt x="63500" y="41274"/>
                </a:lnTo>
                <a:lnTo>
                  <a:pt x="63500" y="34924"/>
                </a:lnTo>
                <a:lnTo>
                  <a:pt x="76200" y="34924"/>
                </a:lnTo>
                <a:lnTo>
                  <a:pt x="76200" y="0"/>
                </a:lnTo>
                <a:close/>
              </a:path>
              <a:path w="3560445" h="76200">
                <a:moveTo>
                  <a:pt x="3483736" y="0"/>
                </a:moveTo>
                <a:lnTo>
                  <a:pt x="3483736" y="76199"/>
                </a:lnTo>
                <a:lnTo>
                  <a:pt x="3553586" y="41274"/>
                </a:lnTo>
                <a:lnTo>
                  <a:pt x="3496436" y="41274"/>
                </a:lnTo>
                <a:lnTo>
                  <a:pt x="3496436" y="34924"/>
                </a:lnTo>
                <a:lnTo>
                  <a:pt x="3553586" y="34924"/>
                </a:lnTo>
                <a:lnTo>
                  <a:pt x="3483736" y="0"/>
                </a:lnTo>
                <a:close/>
              </a:path>
              <a:path w="3560445" h="76200">
                <a:moveTo>
                  <a:pt x="76200" y="34924"/>
                </a:moveTo>
                <a:lnTo>
                  <a:pt x="63500" y="34924"/>
                </a:lnTo>
                <a:lnTo>
                  <a:pt x="63500" y="41274"/>
                </a:lnTo>
                <a:lnTo>
                  <a:pt x="76200" y="41274"/>
                </a:lnTo>
                <a:lnTo>
                  <a:pt x="76200" y="34924"/>
                </a:lnTo>
                <a:close/>
              </a:path>
              <a:path w="3560445" h="76200">
                <a:moveTo>
                  <a:pt x="3483736" y="34924"/>
                </a:moveTo>
                <a:lnTo>
                  <a:pt x="76200" y="34924"/>
                </a:lnTo>
                <a:lnTo>
                  <a:pt x="76200" y="41274"/>
                </a:lnTo>
                <a:lnTo>
                  <a:pt x="3483736" y="41274"/>
                </a:lnTo>
                <a:lnTo>
                  <a:pt x="3483736" y="34924"/>
                </a:lnTo>
                <a:close/>
              </a:path>
              <a:path w="3560445" h="76200">
                <a:moveTo>
                  <a:pt x="3553586" y="34924"/>
                </a:moveTo>
                <a:lnTo>
                  <a:pt x="3496436" y="34924"/>
                </a:lnTo>
                <a:lnTo>
                  <a:pt x="3496436" y="41274"/>
                </a:lnTo>
                <a:lnTo>
                  <a:pt x="3553586" y="41274"/>
                </a:lnTo>
                <a:lnTo>
                  <a:pt x="3559936" y="38099"/>
                </a:lnTo>
                <a:lnTo>
                  <a:pt x="3553586" y="34924"/>
                </a:lnTo>
                <a:close/>
              </a:path>
            </a:pathLst>
          </a:custGeom>
          <a:solidFill>
            <a:srgbClr val="000000"/>
          </a:solidFill>
        </p:spPr>
        <p:txBody>
          <a:bodyPr wrap="square" lIns="0" tIns="0" rIns="0" bIns="0" rtlCol="0"/>
          <a:lstStyle/>
          <a:p>
            <a:endParaRPr/>
          </a:p>
        </p:txBody>
      </p:sp>
      <p:sp>
        <p:nvSpPr>
          <p:cNvPr id="184" name="object 184"/>
          <p:cNvSpPr/>
          <p:nvPr/>
        </p:nvSpPr>
        <p:spPr>
          <a:xfrm>
            <a:off x="6722871" y="4037432"/>
            <a:ext cx="1034122" cy="325653"/>
          </a:xfrm>
          <a:prstGeom prst="rect">
            <a:avLst/>
          </a:prstGeom>
          <a:blipFill>
            <a:blip r:embed="rId22" cstate="print"/>
            <a:stretch>
              <a:fillRect/>
            </a:stretch>
          </a:blipFill>
        </p:spPr>
        <p:txBody>
          <a:bodyPr wrap="square" lIns="0" tIns="0" rIns="0" bIns="0" rtlCol="0"/>
          <a:lstStyle/>
          <a:p>
            <a:endParaRPr/>
          </a:p>
        </p:txBody>
      </p:sp>
      <p:sp>
        <p:nvSpPr>
          <p:cNvPr id="185" name="object 185"/>
          <p:cNvSpPr/>
          <p:nvPr/>
        </p:nvSpPr>
        <p:spPr>
          <a:xfrm>
            <a:off x="7185914" y="3906546"/>
            <a:ext cx="667689" cy="220319"/>
          </a:xfrm>
          <a:prstGeom prst="rect">
            <a:avLst/>
          </a:prstGeom>
          <a:blipFill>
            <a:blip r:embed="rId23" cstate="print"/>
            <a:stretch>
              <a:fillRect/>
            </a:stretch>
          </a:blipFill>
        </p:spPr>
        <p:txBody>
          <a:bodyPr wrap="square" lIns="0" tIns="0" rIns="0" bIns="0" rtlCol="0"/>
          <a:lstStyle/>
          <a:p>
            <a:endParaRPr/>
          </a:p>
        </p:txBody>
      </p:sp>
      <p:sp>
        <p:nvSpPr>
          <p:cNvPr id="186" name="object 186"/>
          <p:cNvSpPr/>
          <p:nvPr/>
        </p:nvSpPr>
        <p:spPr>
          <a:xfrm>
            <a:off x="7920990" y="3985552"/>
            <a:ext cx="687298" cy="296252"/>
          </a:xfrm>
          <a:prstGeom prst="rect">
            <a:avLst/>
          </a:prstGeom>
          <a:blipFill>
            <a:blip r:embed="rId24" cstate="print"/>
            <a:stretch>
              <a:fillRect/>
            </a:stretch>
          </a:blipFill>
        </p:spPr>
        <p:txBody>
          <a:bodyPr wrap="square" lIns="0" tIns="0" rIns="0" bIns="0" rtlCol="0"/>
          <a:lstStyle/>
          <a:p>
            <a:endParaRPr/>
          </a:p>
        </p:txBody>
      </p:sp>
      <p:sp>
        <p:nvSpPr>
          <p:cNvPr id="187" name="object 187"/>
          <p:cNvSpPr/>
          <p:nvPr/>
        </p:nvSpPr>
        <p:spPr>
          <a:xfrm>
            <a:off x="2313177" y="3946183"/>
            <a:ext cx="963777" cy="174078"/>
          </a:xfrm>
          <a:prstGeom prst="rect">
            <a:avLst/>
          </a:prstGeom>
          <a:blipFill>
            <a:blip r:embed="rId12" cstate="print"/>
            <a:stretch>
              <a:fillRect/>
            </a:stretch>
          </a:blipFill>
        </p:spPr>
        <p:txBody>
          <a:bodyPr wrap="square" lIns="0" tIns="0" rIns="0" bIns="0" rtlCol="0"/>
          <a:lstStyle/>
          <a:p>
            <a:endParaRPr/>
          </a:p>
        </p:txBody>
      </p:sp>
      <p:sp>
        <p:nvSpPr>
          <p:cNvPr id="2" name="object 74">
            <a:extLst>
              <a:ext uri="{FF2B5EF4-FFF2-40B4-BE49-F238E27FC236}">
                <a16:creationId xmlns:a16="http://schemas.microsoft.com/office/drawing/2014/main" id="{952E9189-4BC9-C119-13FA-F59AE8DBF171}"/>
              </a:ext>
            </a:extLst>
          </p:cNvPr>
          <p:cNvSpPr/>
          <p:nvPr/>
        </p:nvSpPr>
        <p:spPr>
          <a:xfrm>
            <a:off x="587757" y="5562600"/>
            <a:ext cx="1138555" cy="0"/>
          </a:xfrm>
          <a:custGeom>
            <a:avLst/>
            <a:gdLst/>
            <a:ahLst/>
            <a:cxnLst/>
            <a:rect l="l" t="t" r="r" b="b"/>
            <a:pathLst>
              <a:path w="1138555">
                <a:moveTo>
                  <a:pt x="0" y="0"/>
                </a:moveTo>
                <a:lnTo>
                  <a:pt x="1138174" y="0"/>
                </a:lnTo>
              </a:path>
            </a:pathLst>
          </a:custGeom>
          <a:ln w="6350">
            <a:solidFill>
              <a:srgbClr val="757575"/>
            </a:solidFill>
          </a:ln>
        </p:spPr>
        <p:txBody>
          <a:bodyPr wrap="square" lIns="0" tIns="0" rIns="0" bIns="0" rtlCol="0"/>
          <a:lstStyle/>
          <a:p>
            <a:endParaRPr/>
          </a:p>
        </p:txBody>
      </p:sp>
      <p:sp>
        <p:nvSpPr>
          <p:cNvPr id="188" name="object 75">
            <a:extLst>
              <a:ext uri="{FF2B5EF4-FFF2-40B4-BE49-F238E27FC236}">
                <a16:creationId xmlns:a16="http://schemas.microsoft.com/office/drawing/2014/main" id="{A0B833CC-91F4-913F-0BE9-9257C33C2CB5}"/>
              </a:ext>
            </a:extLst>
          </p:cNvPr>
          <p:cNvSpPr/>
          <p:nvPr/>
        </p:nvSpPr>
        <p:spPr>
          <a:xfrm>
            <a:off x="9815830" y="5562600"/>
            <a:ext cx="1766570" cy="0"/>
          </a:xfrm>
          <a:custGeom>
            <a:avLst/>
            <a:gdLst/>
            <a:ahLst/>
            <a:cxnLst/>
            <a:rect l="l" t="t" r="r" b="b"/>
            <a:pathLst>
              <a:path w="1766570">
                <a:moveTo>
                  <a:pt x="0" y="0"/>
                </a:moveTo>
                <a:lnTo>
                  <a:pt x="1766189" y="0"/>
                </a:lnTo>
              </a:path>
            </a:pathLst>
          </a:custGeom>
          <a:ln w="6350">
            <a:solidFill>
              <a:srgbClr val="757575"/>
            </a:solidFill>
          </a:ln>
        </p:spPr>
        <p:txBody>
          <a:bodyPr wrap="square" lIns="0" tIns="0" rIns="0" bIns="0" rtlCol="0"/>
          <a:lstStyle/>
          <a:p>
            <a:endParaRPr/>
          </a:p>
        </p:txBody>
      </p:sp>
      <p:sp>
        <p:nvSpPr>
          <p:cNvPr id="189" name="object 113">
            <a:extLst>
              <a:ext uri="{FF2B5EF4-FFF2-40B4-BE49-F238E27FC236}">
                <a16:creationId xmlns:a16="http://schemas.microsoft.com/office/drawing/2014/main" id="{F3AE196F-63B1-7D24-CB45-4AAFEC36666F}"/>
              </a:ext>
            </a:extLst>
          </p:cNvPr>
          <p:cNvSpPr/>
          <p:nvPr/>
        </p:nvSpPr>
        <p:spPr>
          <a:xfrm>
            <a:off x="1945006" y="5562600"/>
            <a:ext cx="1766570" cy="0"/>
          </a:xfrm>
          <a:custGeom>
            <a:avLst/>
            <a:gdLst/>
            <a:ahLst/>
            <a:cxnLst/>
            <a:rect l="l" t="t" r="r" b="b"/>
            <a:pathLst>
              <a:path w="1766570">
                <a:moveTo>
                  <a:pt x="0" y="0"/>
                </a:moveTo>
                <a:lnTo>
                  <a:pt x="1766062" y="0"/>
                </a:lnTo>
              </a:path>
            </a:pathLst>
          </a:custGeom>
          <a:ln w="6350">
            <a:solidFill>
              <a:srgbClr val="757575"/>
            </a:solidFill>
          </a:ln>
        </p:spPr>
        <p:txBody>
          <a:bodyPr wrap="square" lIns="0" tIns="0" rIns="0" bIns="0" rtlCol="0"/>
          <a:lstStyle/>
          <a:p>
            <a:endParaRPr/>
          </a:p>
        </p:txBody>
      </p:sp>
      <p:sp>
        <p:nvSpPr>
          <p:cNvPr id="190" name="object 130">
            <a:extLst>
              <a:ext uri="{FF2B5EF4-FFF2-40B4-BE49-F238E27FC236}">
                <a16:creationId xmlns:a16="http://schemas.microsoft.com/office/drawing/2014/main" id="{94E3DFE0-B6F6-76BC-4FA8-E78602CFCB73}"/>
              </a:ext>
            </a:extLst>
          </p:cNvPr>
          <p:cNvSpPr/>
          <p:nvPr/>
        </p:nvSpPr>
        <p:spPr>
          <a:xfrm>
            <a:off x="3917316" y="5562600"/>
            <a:ext cx="1766570" cy="0"/>
          </a:xfrm>
          <a:custGeom>
            <a:avLst/>
            <a:gdLst/>
            <a:ahLst/>
            <a:cxnLst/>
            <a:rect l="l" t="t" r="r" b="b"/>
            <a:pathLst>
              <a:path w="1766570">
                <a:moveTo>
                  <a:pt x="0" y="0"/>
                </a:moveTo>
                <a:lnTo>
                  <a:pt x="1766062" y="0"/>
                </a:lnTo>
              </a:path>
            </a:pathLst>
          </a:custGeom>
          <a:ln w="6350">
            <a:solidFill>
              <a:srgbClr val="757575"/>
            </a:solidFill>
          </a:ln>
        </p:spPr>
        <p:txBody>
          <a:bodyPr wrap="square" lIns="0" tIns="0" rIns="0" bIns="0" rtlCol="0"/>
          <a:lstStyle/>
          <a:p>
            <a:endParaRPr/>
          </a:p>
        </p:txBody>
      </p:sp>
      <p:sp>
        <p:nvSpPr>
          <p:cNvPr id="191" name="object 151">
            <a:extLst>
              <a:ext uri="{FF2B5EF4-FFF2-40B4-BE49-F238E27FC236}">
                <a16:creationId xmlns:a16="http://schemas.microsoft.com/office/drawing/2014/main" id="{AE18EBE6-611F-56A1-3863-273C0635AEA6}"/>
              </a:ext>
            </a:extLst>
          </p:cNvPr>
          <p:cNvSpPr/>
          <p:nvPr/>
        </p:nvSpPr>
        <p:spPr>
          <a:xfrm>
            <a:off x="5873116" y="5562600"/>
            <a:ext cx="1766570" cy="0"/>
          </a:xfrm>
          <a:custGeom>
            <a:avLst/>
            <a:gdLst/>
            <a:ahLst/>
            <a:cxnLst/>
            <a:rect l="l" t="t" r="r" b="b"/>
            <a:pathLst>
              <a:path w="1766570">
                <a:moveTo>
                  <a:pt x="0" y="0"/>
                </a:moveTo>
                <a:lnTo>
                  <a:pt x="1766188" y="0"/>
                </a:lnTo>
              </a:path>
            </a:pathLst>
          </a:custGeom>
          <a:ln w="6350">
            <a:solidFill>
              <a:srgbClr val="757575"/>
            </a:solidFill>
          </a:ln>
        </p:spPr>
        <p:txBody>
          <a:bodyPr wrap="square" lIns="0" tIns="0" rIns="0" bIns="0" rtlCol="0"/>
          <a:lstStyle/>
          <a:p>
            <a:endParaRPr/>
          </a:p>
        </p:txBody>
      </p:sp>
      <p:sp>
        <p:nvSpPr>
          <p:cNvPr id="192" name="object 156">
            <a:extLst>
              <a:ext uri="{FF2B5EF4-FFF2-40B4-BE49-F238E27FC236}">
                <a16:creationId xmlns:a16="http://schemas.microsoft.com/office/drawing/2014/main" id="{D763C303-66D6-08DB-A271-83C2DADD6FA2}"/>
              </a:ext>
            </a:extLst>
          </p:cNvPr>
          <p:cNvSpPr/>
          <p:nvPr/>
        </p:nvSpPr>
        <p:spPr>
          <a:xfrm>
            <a:off x="7844537" y="5562600"/>
            <a:ext cx="1766570" cy="0"/>
          </a:xfrm>
          <a:custGeom>
            <a:avLst/>
            <a:gdLst/>
            <a:ahLst/>
            <a:cxnLst/>
            <a:rect l="l" t="t" r="r" b="b"/>
            <a:pathLst>
              <a:path w="1766570">
                <a:moveTo>
                  <a:pt x="0" y="0"/>
                </a:moveTo>
                <a:lnTo>
                  <a:pt x="1766061" y="0"/>
                </a:lnTo>
              </a:path>
            </a:pathLst>
          </a:custGeom>
          <a:ln w="6350">
            <a:solidFill>
              <a:srgbClr val="757575"/>
            </a:solidFill>
          </a:ln>
        </p:spPr>
        <p:txBody>
          <a:bodyPr wrap="square" lIns="0" tIns="0" rIns="0" bIns="0" rtlCol="0"/>
          <a:lstStyle/>
          <a:p>
            <a:endParaRPr/>
          </a:p>
        </p:txBody>
      </p:sp>
      <p:sp>
        <p:nvSpPr>
          <p:cNvPr id="193" name="object 74">
            <a:extLst>
              <a:ext uri="{FF2B5EF4-FFF2-40B4-BE49-F238E27FC236}">
                <a16:creationId xmlns:a16="http://schemas.microsoft.com/office/drawing/2014/main" id="{0B7CF266-38CE-834D-11F6-A8932055FF57}"/>
              </a:ext>
            </a:extLst>
          </p:cNvPr>
          <p:cNvSpPr/>
          <p:nvPr/>
        </p:nvSpPr>
        <p:spPr>
          <a:xfrm>
            <a:off x="609600" y="6019800"/>
            <a:ext cx="1138555" cy="0"/>
          </a:xfrm>
          <a:custGeom>
            <a:avLst/>
            <a:gdLst/>
            <a:ahLst/>
            <a:cxnLst/>
            <a:rect l="l" t="t" r="r" b="b"/>
            <a:pathLst>
              <a:path w="1138555">
                <a:moveTo>
                  <a:pt x="0" y="0"/>
                </a:moveTo>
                <a:lnTo>
                  <a:pt x="1138174" y="0"/>
                </a:lnTo>
              </a:path>
            </a:pathLst>
          </a:custGeom>
          <a:ln w="6350">
            <a:solidFill>
              <a:srgbClr val="757575"/>
            </a:solidFill>
          </a:ln>
        </p:spPr>
        <p:txBody>
          <a:bodyPr wrap="square" lIns="0" tIns="0" rIns="0" bIns="0" rtlCol="0"/>
          <a:lstStyle/>
          <a:p>
            <a:endParaRPr/>
          </a:p>
        </p:txBody>
      </p:sp>
      <p:sp>
        <p:nvSpPr>
          <p:cNvPr id="194" name="object 75">
            <a:extLst>
              <a:ext uri="{FF2B5EF4-FFF2-40B4-BE49-F238E27FC236}">
                <a16:creationId xmlns:a16="http://schemas.microsoft.com/office/drawing/2014/main" id="{31F630F4-E898-C413-290E-9179BBE4D342}"/>
              </a:ext>
            </a:extLst>
          </p:cNvPr>
          <p:cNvSpPr/>
          <p:nvPr/>
        </p:nvSpPr>
        <p:spPr>
          <a:xfrm>
            <a:off x="9837673" y="6019800"/>
            <a:ext cx="1766570" cy="0"/>
          </a:xfrm>
          <a:custGeom>
            <a:avLst/>
            <a:gdLst/>
            <a:ahLst/>
            <a:cxnLst/>
            <a:rect l="l" t="t" r="r" b="b"/>
            <a:pathLst>
              <a:path w="1766570">
                <a:moveTo>
                  <a:pt x="0" y="0"/>
                </a:moveTo>
                <a:lnTo>
                  <a:pt x="1766189" y="0"/>
                </a:lnTo>
              </a:path>
            </a:pathLst>
          </a:custGeom>
          <a:ln w="6350">
            <a:solidFill>
              <a:srgbClr val="757575"/>
            </a:solidFill>
          </a:ln>
        </p:spPr>
        <p:txBody>
          <a:bodyPr wrap="square" lIns="0" tIns="0" rIns="0" bIns="0" rtlCol="0"/>
          <a:lstStyle/>
          <a:p>
            <a:endParaRPr/>
          </a:p>
        </p:txBody>
      </p:sp>
      <p:sp>
        <p:nvSpPr>
          <p:cNvPr id="195" name="object 113">
            <a:extLst>
              <a:ext uri="{FF2B5EF4-FFF2-40B4-BE49-F238E27FC236}">
                <a16:creationId xmlns:a16="http://schemas.microsoft.com/office/drawing/2014/main" id="{0DD9C201-EEED-2602-F23C-3EA63CFF41B5}"/>
              </a:ext>
            </a:extLst>
          </p:cNvPr>
          <p:cNvSpPr/>
          <p:nvPr/>
        </p:nvSpPr>
        <p:spPr>
          <a:xfrm>
            <a:off x="1966849" y="6019800"/>
            <a:ext cx="1766570" cy="0"/>
          </a:xfrm>
          <a:custGeom>
            <a:avLst/>
            <a:gdLst/>
            <a:ahLst/>
            <a:cxnLst/>
            <a:rect l="l" t="t" r="r" b="b"/>
            <a:pathLst>
              <a:path w="1766570">
                <a:moveTo>
                  <a:pt x="0" y="0"/>
                </a:moveTo>
                <a:lnTo>
                  <a:pt x="1766062" y="0"/>
                </a:lnTo>
              </a:path>
            </a:pathLst>
          </a:custGeom>
          <a:ln w="6350">
            <a:solidFill>
              <a:srgbClr val="757575"/>
            </a:solidFill>
          </a:ln>
        </p:spPr>
        <p:txBody>
          <a:bodyPr wrap="square" lIns="0" tIns="0" rIns="0" bIns="0" rtlCol="0"/>
          <a:lstStyle/>
          <a:p>
            <a:endParaRPr/>
          </a:p>
        </p:txBody>
      </p:sp>
      <p:sp>
        <p:nvSpPr>
          <p:cNvPr id="196" name="object 130">
            <a:extLst>
              <a:ext uri="{FF2B5EF4-FFF2-40B4-BE49-F238E27FC236}">
                <a16:creationId xmlns:a16="http://schemas.microsoft.com/office/drawing/2014/main" id="{E6F9177F-1429-2CE9-70EF-A04C7915F9AA}"/>
              </a:ext>
            </a:extLst>
          </p:cNvPr>
          <p:cNvSpPr/>
          <p:nvPr/>
        </p:nvSpPr>
        <p:spPr>
          <a:xfrm>
            <a:off x="3939159" y="6019800"/>
            <a:ext cx="1766570" cy="0"/>
          </a:xfrm>
          <a:custGeom>
            <a:avLst/>
            <a:gdLst/>
            <a:ahLst/>
            <a:cxnLst/>
            <a:rect l="l" t="t" r="r" b="b"/>
            <a:pathLst>
              <a:path w="1766570">
                <a:moveTo>
                  <a:pt x="0" y="0"/>
                </a:moveTo>
                <a:lnTo>
                  <a:pt x="1766062" y="0"/>
                </a:lnTo>
              </a:path>
            </a:pathLst>
          </a:custGeom>
          <a:ln w="6350">
            <a:solidFill>
              <a:srgbClr val="757575"/>
            </a:solidFill>
          </a:ln>
        </p:spPr>
        <p:txBody>
          <a:bodyPr wrap="square" lIns="0" tIns="0" rIns="0" bIns="0" rtlCol="0"/>
          <a:lstStyle/>
          <a:p>
            <a:endParaRPr/>
          </a:p>
        </p:txBody>
      </p:sp>
      <p:sp>
        <p:nvSpPr>
          <p:cNvPr id="197" name="object 151">
            <a:extLst>
              <a:ext uri="{FF2B5EF4-FFF2-40B4-BE49-F238E27FC236}">
                <a16:creationId xmlns:a16="http://schemas.microsoft.com/office/drawing/2014/main" id="{312AF62C-9DC4-E3A3-D9FF-9B591F1D28A0}"/>
              </a:ext>
            </a:extLst>
          </p:cNvPr>
          <p:cNvSpPr/>
          <p:nvPr/>
        </p:nvSpPr>
        <p:spPr>
          <a:xfrm>
            <a:off x="5894959" y="6019800"/>
            <a:ext cx="1766570" cy="0"/>
          </a:xfrm>
          <a:custGeom>
            <a:avLst/>
            <a:gdLst/>
            <a:ahLst/>
            <a:cxnLst/>
            <a:rect l="l" t="t" r="r" b="b"/>
            <a:pathLst>
              <a:path w="1766570">
                <a:moveTo>
                  <a:pt x="0" y="0"/>
                </a:moveTo>
                <a:lnTo>
                  <a:pt x="1766188" y="0"/>
                </a:lnTo>
              </a:path>
            </a:pathLst>
          </a:custGeom>
          <a:ln w="6350">
            <a:solidFill>
              <a:srgbClr val="757575"/>
            </a:solidFill>
          </a:ln>
        </p:spPr>
        <p:txBody>
          <a:bodyPr wrap="square" lIns="0" tIns="0" rIns="0" bIns="0" rtlCol="0"/>
          <a:lstStyle/>
          <a:p>
            <a:endParaRPr/>
          </a:p>
        </p:txBody>
      </p:sp>
      <p:sp>
        <p:nvSpPr>
          <p:cNvPr id="198" name="object 156">
            <a:extLst>
              <a:ext uri="{FF2B5EF4-FFF2-40B4-BE49-F238E27FC236}">
                <a16:creationId xmlns:a16="http://schemas.microsoft.com/office/drawing/2014/main" id="{42DD4337-029E-F1BE-1B03-DC43CE2EA27A}"/>
              </a:ext>
            </a:extLst>
          </p:cNvPr>
          <p:cNvSpPr/>
          <p:nvPr/>
        </p:nvSpPr>
        <p:spPr>
          <a:xfrm>
            <a:off x="7866380" y="6019800"/>
            <a:ext cx="1766570" cy="0"/>
          </a:xfrm>
          <a:custGeom>
            <a:avLst/>
            <a:gdLst/>
            <a:ahLst/>
            <a:cxnLst/>
            <a:rect l="l" t="t" r="r" b="b"/>
            <a:pathLst>
              <a:path w="1766570">
                <a:moveTo>
                  <a:pt x="0" y="0"/>
                </a:moveTo>
                <a:lnTo>
                  <a:pt x="1766061" y="0"/>
                </a:lnTo>
              </a:path>
            </a:pathLst>
          </a:custGeom>
          <a:ln w="6350">
            <a:solidFill>
              <a:srgbClr val="757575"/>
            </a:solidFill>
          </a:ln>
        </p:spPr>
        <p:txBody>
          <a:bodyPr wrap="square" lIns="0" tIns="0" rIns="0" bIns="0" rtlCol="0"/>
          <a:lstStyle/>
          <a:p>
            <a:endParaRPr/>
          </a:p>
        </p:txBody>
      </p:sp>
      <p:sp>
        <p:nvSpPr>
          <p:cNvPr id="199" name="object 82">
            <a:extLst>
              <a:ext uri="{FF2B5EF4-FFF2-40B4-BE49-F238E27FC236}">
                <a16:creationId xmlns:a16="http://schemas.microsoft.com/office/drawing/2014/main" id="{78A34DE4-9BC5-5AB2-2231-E9750BBD160D}"/>
              </a:ext>
            </a:extLst>
          </p:cNvPr>
          <p:cNvSpPr txBox="1"/>
          <p:nvPr/>
        </p:nvSpPr>
        <p:spPr>
          <a:xfrm>
            <a:off x="533400" y="5566410"/>
            <a:ext cx="1162685" cy="443711"/>
          </a:xfrm>
          <a:prstGeom prst="rect">
            <a:avLst/>
          </a:prstGeom>
        </p:spPr>
        <p:txBody>
          <a:bodyPr vert="horz" wrap="square" lIns="0" tIns="12700" rIns="0" bIns="0" rtlCol="0">
            <a:spAutoFit/>
          </a:bodyPr>
          <a:lstStyle/>
          <a:p>
            <a:pPr marL="12700">
              <a:lnSpc>
                <a:spcPct val="100000"/>
              </a:lnSpc>
              <a:spcBef>
                <a:spcPts val="100"/>
              </a:spcBef>
            </a:pPr>
            <a:r>
              <a:rPr lang="en-US" sz="1400" b="1" spc="-5" dirty="0">
                <a:latin typeface="Arial"/>
                <a:cs typeface="Arial"/>
              </a:rPr>
              <a:t>Costs incurred</a:t>
            </a:r>
            <a:endParaRPr sz="1400" dirty="0">
              <a:latin typeface="Arial"/>
              <a:cs typeface="Arial"/>
            </a:endParaRPr>
          </a:p>
        </p:txBody>
      </p:sp>
      <p:sp>
        <p:nvSpPr>
          <p:cNvPr id="200" name="object 112">
            <a:extLst>
              <a:ext uri="{FF2B5EF4-FFF2-40B4-BE49-F238E27FC236}">
                <a16:creationId xmlns:a16="http://schemas.microsoft.com/office/drawing/2014/main" id="{0E21A160-1D25-DDD1-0823-C03C7F698BFE}"/>
              </a:ext>
            </a:extLst>
          </p:cNvPr>
          <p:cNvSpPr txBox="1"/>
          <p:nvPr/>
        </p:nvSpPr>
        <p:spPr>
          <a:xfrm>
            <a:off x="2049779" y="5551170"/>
            <a:ext cx="1702431" cy="459741"/>
          </a:xfrm>
          <a:prstGeom prst="rect">
            <a:avLst/>
          </a:prstGeom>
        </p:spPr>
        <p:txBody>
          <a:bodyPr vert="horz" wrap="square" lIns="0" tIns="51435" rIns="0" bIns="0" rtlCol="0">
            <a:spAutoFit/>
          </a:bodyPr>
          <a:lstStyle/>
          <a:p>
            <a:pPr marL="12700">
              <a:lnSpc>
                <a:spcPct val="100000"/>
              </a:lnSpc>
              <a:spcBef>
                <a:spcPts val="405"/>
              </a:spcBef>
            </a:pPr>
            <a:r>
              <a:rPr sz="1200" b="1" spc="-5" dirty="0">
                <a:latin typeface="Arial"/>
                <a:cs typeface="Arial"/>
              </a:rPr>
              <a:t>~</a:t>
            </a:r>
            <a:r>
              <a:rPr lang="el-GR" sz="1200" b="1" spc="-5" dirty="0">
                <a:latin typeface="Arial"/>
                <a:cs typeface="Arial"/>
              </a:rPr>
              <a:t>€</a:t>
            </a:r>
            <a:r>
              <a:rPr lang="en-US" sz="1200" b="1" spc="-5" dirty="0">
                <a:latin typeface="Arial"/>
                <a:cs typeface="Arial"/>
              </a:rPr>
              <a:t>200-300 </a:t>
            </a:r>
            <a:r>
              <a:rPr sz="1200" dirty="0">
                <a:latin typeface="Arial"/>
                <a:cs typeface="Arial"/>
              </a:rPr>
              <a:t>for</a:t>
            </a:r>
            <a:r>
              <a:rPr sz="1200" spc="-60" dirty="0">
                <a:latin typeface="Arial"/>
                <a:cs typeface="Arial"/>
              </a:rPr>
              <a:t> </a:t>
            </a:r>
            <a:r>
              <a:rPr sz="1200" spc="-5" dirty="0">
                <a:latin typeface="Arial"/>
                <a:cs typeface="Arial"/>
              </a:rPr>
              <a:t>leasing</a:t>
            </a:r>
            <a:endParaRPr sz="1200" dirty="0">
              <a:latin typeface="Arial"/>
              <a:cs typeface="Arial"/>
            </a:endParaRPr>
          </a:p>
          <a:p>
            <a:pPr marL="24765">
              <a:lnSpc>
                <a:spcPct val="100000"/>
              </a:lnSpc>
              <a:spcBef>
                <a:spcPts val="300"/>
              </a:spcBef>
            </a:pPr>
            <a:r>
              <a:rPr sz="1200" b="1" spc="-5" dirty="0">
                <a:latin typeface="Arial"/>
                <a:cs typeface="Arial"/>
              </a:rPr>
              <a:t>~</a:t>
            </a:r>
            <a:r>
              <a:rPr lang="el-GR" sz="1200" b="1" spc="-5" dirty="0">
                <a:latin typeface="Arial"/>
                <a:cs typeface="Arial"/>
              </a:rPr>
              <a:t>€</a:t>
            </a:r>
            <a:r>
              <a:rPr sz="1200" b="1" spc="-5" dirty="0">
                <a:latin typeface="Arial"/>
                <a:cs typeface="Arial"/>
              </a:rPr>
              <a:t>1</a:t>
            </a:r>
            <a:r>
              <a:rPr lang="en-US" sz="1200" b="1" spc="-5" dirty="0">
                <a:latin typeface="Arial"/>
                <a:cs typeface="Arial"/>
              </a:rPr>
              <a:t>.000</a:t>
            </a:r>
            <a:r>
              <a:rPr sz="1200" b="1" spc="-5" dirty="0">
                <a:latin typeface="Arial"/>
                <a:cs typeface="Arial"/>
              </a:rPr>
              <a:t> </a:t>
            </a:r>
            <a:r>
              <a:rPr sz="1200" spc="5" dirty="0">
                <a:latin typeface="Arial"/>
                <a:cs typeface="Arial"/>
              </a:rPr>
              <a:t>for</a:t>
            </a:r>
            <a:r>
              <a:rPr sz="1200" spc="-90" dirty="0">
                <a:latin typeface="Arial"/>
                <a:cs typeface="Arial"/>
              </a:rPr>
              <a:t> </a:t>
            </a:r>
            <a:r>
              <a:rPr sz="1200" dirty="0">
                <a:latin typeface="Arial"/>
                <a:cs typeface="Arial"/>
              </a:rPr>
              <a:t>loan</a:t>
            </a:r>
          </a:p>
        </p:txBody>
      </p:sp>
      <p:sp>
        <p:nvSpPr>
          <p:cNvPr id="201" name="object 112">
            <a:extLst>
              <a:ext uri="{FF2B5EF4-FFF2-40B4-BE49-F238E27FC236}">
                <a16:creationId xmlns:a16="http://schemas.microsoft.com/office/drawing/2014/main" id="{30FCEB12-2D16-68AC-F78C-8286376EE0C8}"/>
              </a:ext>
            </a:extLst>
          </p:cNvPr>
          <p:cNvSpPr txBox="1"/>
          <p:nvPr/>
        </p:nvSpPr>
        <p:spPr>
          <a:xfrm>
            <a:off x="3900615" y="5636259"/>
            <a:ext cx="1702431" cy="459741"/>
          </a:xfrm>
          <a:prstGeom prst="rect">
            <a:avLst/>
          </a:prstGeom>
        </p:spPr>
        <p:txBody>
          <a:bodyPr vert="horz" wrap="square" lIns="0" tIns="51435" rIns="0" bIns="0" rtlCol="0">
            <a:spAutoFit/>
          </a:bodyPr>
          <a:lstStyle/>
          <a:p>
            <a:pPr marL="12700">
              <a:lnSpc>
                <a:spcPct val="100000"/>
              </a:lnSpc>
              <a:spcBef>
                <a:spcPts val="405"/>
              </a:spcBef>
            </a:pPr>
            <a:r>
              <a:rPr sz="1200" b="1" spc="-5" dirty="0">
                <a:latin typeface="Arial"/>
                <a:cs typeface="Arial"/>
              </a:rPr>
              <a:t>~</a:t>
            </a:r>
            <a:r>
              <a:rPr lang="el-GR" sz="1200" b="1" spc="-5" dirty="0">
                <a:latin typeface="Arial"/>
                <a:cs typeface="Arial"/>
              </a:rPr>
              <a:t>€150</a:t>
            </a:r>
            <a:r>
              <a:rPr lang="en-US" sz="1200" b="1" spc="-5" dirty="0">
                <a:latin typeface="Arial"/>
                <a:cs typeface="Arial"/>
              </a:rPr>
              <a:t>-300 </a:t>
            </a:r>
            <a:r>
              <a:rPr lang="en-US" sz="1200" spc="-5" dirty="0">
                <a:latin typeface="Arial"/>
                <a:cs typeface="Arial"/>
              </a:rPr>
              <a:t>per car</a:t>
            </a:r>
            <a:endParaRPr sz="1200" dirty="0">
              <a:latin typeface="Arial"/>
              <a:cs typeface="Arial"/>
            </a:endParaRPr>
          </a:p>
          <a:p>
            <a:pPr marL="24765">
              <a:lnSpc>
                <a:spcPct val="100000"/>
              </a:lnSpc>
              <a:spcBef>
                <a:spcPts val="300"/>
              </a:spcBef>
            </a:pPr>
            <a:endParaRPr sz="1200" dirty="0">
              <a:latin typeface="Arial"/>
              <a:cs typeface="Arial"/>
            </a:endParaRPr>
          </a:p>
        </p:txBody>
      </p:sp>
      <p:sp>
        <p:nvSpPr>
          <p:cNvPr id="202" name="object 112">
            <a:extLst>
              <a:ext uri="{FF2B5EF4-FFF2-40B4-BE49-F238E27FC236}">
                <a16:creationId xmlns:a16="http://schemas.microsoft.com/office/drawing/2014/main" id="{5E229535-0B3A-88FA-8D21-EEC541FC4F1A}"/>
              </a:ext>
            </a:extLst>
          </p:cNvPr>
          <p:cNvSpPr txBox="1"/>
          <p:nvPr/>
        </p:nvSpPr>
        <p:spPr>
          <a:xfrm>
            <a:off x="5890628" y="5623118"/>
            <a:ext cx="1702431" cy="236603"/>
          </a:xfrm>
          <a:prstGeom prst="rect">
            <a:avLst/>
          </a:prstGeom>
        </p:spPr>
        <p:txBody>
          <a:bodyPr vert="horz" wrap="square" lIns="0" tIns="51435" rIns="0" bIns="0" rtlCol="0">
            <a:spAutoFit/>
          </a:bodyPr>
          <a:lstStyle/>
          <a:p>
            <a:pPr marL="12700">
              <a:lnSpc>
                <a:spcPct val="100000"/>
              </a:lnSpc>
              <a:spcBef>
                <a:spcPts val="405"/>
              </a:spcBef>
            </a:pPr>
            <a:r>
              <a:rPr sz="1200" b="1" spc="-5" dirty="0">
                <a:latin typeface="Arial"/>
                <a:cs typeface="Arial"/>
              </a:rPr>
              <a:t>~</a:t>
            </a:r>
            <a:r>
              <a:rPr lang="el-GR" sz="1200" b="1" spc="-5" dirty="0">
                <a:latin typeface="Arial"/>
                <a:cs typeface="Arial"/>
              </a:rPr>
              <a:t>€</a:t>
            </a:r>
            <a:r>
              <a:rPr lang="en-US" sz="1200" b="1" spc="-5" dirty="0">
                <a:latin typeface="Arial"/>
                <a:cs typeface="Arial"/>
              </a:rPr>
              <a:t>50-70 </a:t>
            </a:r>
            <a:r>
              <a:rPr sz="1200" dirty="0">
                <a:latin typeface="Arial"/>
                <a:cs typeface="Arial"/>
              </a:rPr>
              <a:t>for</a:t>
            </a:r>
            <a:r>
              <a:rPr sz="1200" spc="-60" dirty="0">
                <a:latin typeface="Arial"/>
                <a:cs typeface="Arial"/>
              </a:rPr>
              <a:t> </a:t>
            </a:r>
            <a:r>
              <a:rPr sz="1200" spc="-5" dirty="0">
                <a:latin typeface="Arial"/>
                <a:cs typeface="Arial"/>
              </a:rPr>
              <a:t>leasing</a:t>
            </a:r>
            <a:endParaRPr sz="1200" dirty="0">
              <a:latin typeface="Arial"/>
              <a:cs typeface="Arial"/>
            </a:endParaRPr>
          </a:p>
        </p:txBody>
      </p:sp>
      <p:sp>
        <p:nvSpPr>
          <p:cNvPr id="203" name="object 112">
            <a:extLst>
              <a:ext uri="{FF2B5EF4-FFF2-40B4-BE49-F238E27FC236}">
                <a16:creationId xmlns:a16="http://schemas.microsoft.com/office/drawing/2014/main" id="{B2957CE1-251A-0BD5-CED6-0AF69BF10131}"/>
              </a:ext>
            </a:extLst>
          </p:cNvPr>
          <p:cNvSpPr txBox="1"/>
          <p:nvPr/>
        </p:nvSpPr>
        <p:spPr>
          <a:xfrm>
            <a:off x="7843394" y="5603938"/>
            <a:ext cx="1702431" cy="236603"/>
          </a:xfrm>
          <a:prstGeom prst="rect">
            <a:avLst/>
          </a:prstGeom>
        </p:spPr>
        <p:txBody>
          <a:bodyPr vert="horz" wrap="square" lIns="0" tIns="51435" rIns="0" bIns="0" rtlCol="0">
            <a:spAutoFit/>
          </a:bodyPr>
          <a:lstStyle/>
          <a:p>
            <a:pPr marL="12700">
              <a:lnSpc>
                <a:spcPct val="100000"/>
              </a:lnSpc>
              <a:spcBef>
                <a:spcPts val="405"/>
              </a:spcBef>
            </a:pPr>
            <a:r>
              <a:rPr sz="1200" b="1" spc="-5" dirty="0">
                <a:latin typeface="Arial"/>
                <a:cs typeface="Arial"/>
              </a:rPr>
              <a:t>~</a:t>
            </a:r>
            <a:r>
              <a:rPr lang="el-GR" sz="1200" b="1" spc="-5" dirty="0">
                <a:latin typeface="Arial"/>
                <a:cs typeface="Arial"/>
              </a:rPr>
              <a:t>€</a:t>
            </a:r>
            <a:r>
              <a:rPr lang="en-US" sz="1200" b="1" spc="-5" dirty="0">
                <a:latin typeface="Arial"/>
                <a:cs typeface="Arial"/>
              </a:rPr>
              <a:t>150-200 </a:t>
            </a:r>
            <a:r>
              <a:rPr lang="en-US" sz="1200" dirty="0">
                <a:latin typeface="Arial"/>
                <a:cs typeface="Arial"/>
              </a:rPr>
              <a:t>per car</a:t>
            </a:r>
            <a:endParaRPr sz="1200" dirty="0">
              <a:latin typeface="Arial"/>
              <a:cs typeface="Arial"/>
            </a:endParaRPr>
          </a:p>
        </p:txBody>
      </p:sp>
      <p:sp>
        <p:nvSpPr>
          <p:cNvPr id="204" name="object 112">
            <a:extLst>
              <a:ext uri="{FF2B5EF4-FFF2-40B4-BE49-F238E27FC236}">
                <a16:creationId xmlns:a16="http://schemas.microsoft.com/office/drawing/2014/main" id="{77BA7E5C-3117-A348-5CDB-D5F96B7CA4B3}"/>
              </a:ext>
            </a:extLst>
          </p:cNvPr>
          <p:cNvSpPr txBox="1"/>
          <p:nvPr/>
        </p:nvSpPr>
        <p:spPr>
          <a:xfrm>
            <a:off x="9770972" y="5603938"/>
            <a:ext cx="1880514" cy="236603"/>
          </a:xfrm>
          <a:prstGeom prst="rect">
            <a:avLst/>
          </a:prstGeom>
        </p:spPr>
        <p:txBody>
          <a:bodyPr vert="horz" wrap="square" lIns="0" tIns="51435" rIns="0" bIns="0" rtlCol="0">
            <a:spAutoFit/>
          </a:bodyPr>
          <a:lstStyle/>
          <a:p>
            <a:pPr marL="12700">
              <a:lnSpc>
                <a:spcPct val="100000"/>
              </a:lnSpc>
              <a:spcBef>
                <a:spcPts val="405"/>
              </a:spcBef>
            </a:pPr>
            <a:r>
              <a:rPr sz="1200" b="1" spc="-5" dirty="0">
                <a:latin typeface="Arial"/>
                <a:cs typeface="Arial"/>
              </a:rPr>
              <a:t>~</a:t>
            </a:r>
            <a:r>
              <a:rPr lang="en-US" sz="1200" b="1" spc="-5" dirty="0">
                <a:latin typeface="Arial"/>
                <a:cs typeface="Arial"/>
              </a:rPr>
              <a:t>2%-8% </a:t>
            </a:r>
            <a:r>
              <a:rPr lang="en-US" sz="1200" spc="-5" dirty="0">
                <a:latin typeface="Arial"/>
                <a:cs typeface="Arial"/>
              </a:rPr>
              <a:t>of the resale value</a:t>
            </a:r>
            <a:endParaRPr sz="1200" dirty="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A7EA2-76A2-67C5-5C18-FB64E1BF26A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52A442D-711C-2198-37A3-B40E8E921DFE}"/>
              </a:ext>
            </a:extLst>
          </p:cNvPr>
          <p:cNvPicPr>
            <a:picLocks noChangeAspect="1"/>
          </p:cNvPicPr>
          <p:nvPr/>
        </p:nvPicPr>
        <p:blipFill>
          <a:blip r:embed="rId2"/>
          <a:stretch>
            <a:fillRect/>
          </a:stretch>
        </p:blipFill>
        <p:spPr>
          <a:xfrm>
            <a:off x="76202" y="1"/>
            <a:ext cx="12039598" cy="6772274"/>
          </a:xfrm>
          <a:prstGeom prst="rect">
            <a:avLst/>
          </a:prstGeom>
        </p:spPr>
      </p:pic>
      <p:sp>
        <p:nvSpPr>
          <p:cNvPr id="2" name="object 14">
            <a:extLst>
              <a:ext uri="{FF2B5EF4-FFF2-40B4-BE49-F238E27FC236}">
                <a16:creationId xmlns:a16="http://schemas.microsoft.com/office/drawing/2014/main" id="{CED9588B-6CFE-ACA9-7EB0-318912D6A2B7}"/>
              </a:ext>
            </a:extLst>
          </p:cNvPr>
          <p:cNvSpPr txBox="1">
            <a:spLocks noGrp="1"/>
          </p:cNvSpPr>
          <p:nvPr>
            <p:ph type="title"/>
          </p:nvPr>
        </p:nvSpPr>
        <p:spPr>
          <a:xfrm>
            <a:off x="1136650" y="3048000"/>
            <a:ext cx="10979150" cy="770255"/>
          </a:xfrm>
          <a:prstGeom prst="rect">
            <a:avLst/>
          </a:prstGeom>
        </p:spPr>
        <p:txBody>
          <a:bodyPr vert="horz" wrap="square" lIns="0" tIns="45085" rIns="0" bIns="0" rtlCol="0">
            <a:spAutoFit/>
          </a:bodyPr>
          <a:lstStyle/>
          <a:p>
            <a:pPr marL="12065" marR="5080">
              <a:lnSpc>
                <a:spcPts val="2800"/>
              </a:lnSpc>
              <a:spcBef>
                <a:spcPts val="355"/>
              </a:spcBef>
            </a:pPr>
            <a:r>
              <a:rPr spc="-5" dirty="0">
                <a:latin typeface="Arial" panose="020B0604020202020204" pitchFamily="34" charset="0"/>
                <a:cs typeface="Arial" panose="020B0604020202020204" pitchFamily="34" charset="0"/>
              </a:rPr>
              <a:t>8i | Potential journey for ERB leveraging external partners across  </a:t>
            </a:r>
            <a:r>
              <a:rPr spc="-10" dirty="0">
                <a:latin typeface="Arial" panose="020B0604020202020204" pitchFamily="34" charset="0"/>
                <a:cs typeface="Arial" panose="020B0604020202020204" pitchFamily="34" charset="0"/>
              </a:rPr>
              <a:t>the </a:t>
            </a:r>
            <a:r>
              <a:rPr spc="-5" dirty="0">
                <a:latin typeface="Arial" panose="020B0604020202020204" pitchFamily="34" charset="0"/>
                <a:cs typeface="Arial" panose="020B0604020202020204" pitchFamily="34" charset="0"/>
              </a:rPr>
              <a:t>value</a:t>
            </a:r>
            <a:r>
              <a:rPr spc="-10" dirty="0">
                <a:latin typeface="Arial" panose="020B0604020202020204" pitchFamily="34" charset="0"/>
                <a:cs typeface="Arial" panose="020B0604020202020204" pitchFamily="34" charset="0"/>
              </a:rPr>
              <a:t> chain</a:t>
            </a:r>
          </a:p>
        </p:txBody>
      </p:sp>
      <p:sp>
        <p:nvSpPr>
          <p:cNvPr id="3" name="Rectangle 2">
            <a:extLst>
              <a:ext uri="{FF2B5EF4-FFF2-40B4-BE49-F238E27FC236}">
                <a16:creationId xmlns:a16="http://schemas.microsoft.com/office/drawing/2014/main" id="{9ECD567F-14F4-34FD-79E0-496AEA01A9C6}"/>
              </a:ext>
            </a:extLst>
          </p:cNvPr>
          <p:cNvSpPr/>
          <p:nvPr/>
        </p:nvSpPr>
        <p:spPr>
          <a:xfrm>
            <a:off x="228600" y="76200"/>
            <a:ext cx="11734800" cy="6324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1600" dirty="0">
                <a:latin typeface="Eurobank Sans" panose="02000503000000020004" pitchFamily="2" charset="0"/>
              </a:rPr>
              <a:t>EV &amp; PHEV market share 2025: 15%</a:t>
            </a:r>
          </a:p>
          <a:p>
            <a:pPr lvl="1"/>
            <a:endParaRPr lang="en-US" sz="1600" dirty="0">
              <a:latin typeface="Eurobank Sans" panose="02000503000000020004" pitchFamily="2" charset="0"/>
            </a:endParaRPr>
          </a:p>
          <a:p>
            <a:pPr lvl="1"/>
            <a:r>
              <a:rPr lang="en-US" sz="1600" dirty="0">
                <a:latin typeface="Eurobank Sans" panose="02000503000000020004" pitchFamily="2" charset="0"/>
              </a:rPr>
              <a:t>Hybrid market share 2025: 50%</a:t>
            </a:r>
          </a:p>
          <a:p>
            <a:pPr lvl="1"/>
            <a:endParaRPr lang="en-US" sz="1600" dirty="0">
              <a:latin typeface="Eurobank Sans" panose="02000503000000020004" pitchFamily="2" charset="0"/>
            </a:endParaRPr>
          </a:p>
          <a:p>
            <a:pPr lvl="1"/>
            <a:r>
              <a:rPr lang="en-US" sz="1600" dirty="0">
                <a:latin typeface="Eurobank Sans" panose="02000503000000020004" pitchFamily="2" charset="0"/>
              </a:rPr>
              <a:t>Supply-side acceleration: +20 new brands entering GR market</a:t>
            </a:r>
          </a:p>
          <a:p>
            <a:pPr lvl="1"/>
            <a:endParaRPr lang="en-US" sz="1600" dirty="0">
              <a:latin typeface="Eurobank Sans" panose="02000503000000020004" pitchFamily="2" charset="0"/>
            </a:endParaRPr>
          </a:p>
          <a:p>
            <a:pPr lvl="1"/>
            <a:r>
              <a:rPr lang="en-US" sz="1600" dirty="0">
                <a:latin typeface="Eurobank Sans" panose="02000503000000020004" pitchFamily="2" charset="0"/>
              </a:rPr>
              <a:t>Demand-side support: Government incentives for EV purchases</a:t>
            </a:r>
          </a:p>
          <a:p>
            <a:pPr lvl="1"/>
            <a:endParaRPr lang="en-US" sz="1600" dirty="0">
              <a:latin typeface="Eurobank Sans" panose="02000503000000020004" pitchFamily="2" charset="0"/>
            </a:endParaRPr>
          </a:p>
          <a:p>
            <a:pPr lvl="1"/>
            <a:r>
              <a:rPr lang="en-US" sz="1600" dirty="0">
                <a:latin typeface="Eurobank Sans" panose="02000503000000020004" pitchFamily="2" charset="0"/>
              </a:rPr>
              <a:t>Electrified vehicles market share 2030: </a:t>
            </a:r>
          </a:p>
          <a:p>
            <a:pPr lvl="1"/>
            <a:r>
              <a:rPr lang="en-US" sz="1600" dirty="0">
                <a:latin typeface="Eurobank Sans" panose="02000503000000020004" pitchFamily="2" charset="0"/>
              </a:rPr>
              <a:t>New up to 70%</a:t>
            </a:r>
          </a:p>
          <a:p>
            <a:pPr lvl="1"/>
            <a:r>
              <a:rPr lang="en-US" sz="1600" dirty="0">
                <a:latin typeface="Eurobank Sans" panose="02000503000000020004" pitchFamily="2" charset="0"/>
              </a:rPr>
              <a:t>Used up to 50%</a:t>
            </a:r>
          </a:p>
        </p:txBody>
      </p:sp>
      <p:sp>
        <p:nvSpPr>
          <p:cNvPr id="4" name="object 2">
            <a:extLst>
              <a:ext uri="{FF2B5EF4-FFF2-40B4-BE49-F238E27FC236}">
                <a16:creationId xmlns:a16="http://schemas.microsoft.com/office/drawing/2014/main" id="{31C8BA65-ED9A-76D4-0EB0-DFCCEBFAA8EF}"/>
              </a:ext>
            </a:extLst>
          </p:cNvPr>
          <p:cNvSpPr txBox="1">
            <a:spLocks/>
          </p:cNvSpPr>
          <p:nvPr/>
        </p:nvSpPr>
        <p:spPr>
          <a:xfrm>
            <a:off x="542036" y="147066"/>
            <a:ext cx="10979150" cy="814967"/>
          </a:xfrm>
          <a:prstGeom prst="rect">
            <a:avLst/>
          </a:prstGeom>
        </p:spPr>
        <p:txBody>
          <a:bodyPr vert="horz" wrap="square" lIns="0" tIns="45085" rIns="0" bIns="0" rtlCol="0">
            <a:spAutoFit/>
          </a:bodyPr>
          <a:lstStyle>
            <a:lvl1pPr>
              <a:defRPr sz="2500" b="1" i="0">
                <a:solidFill>
                  <a:schemeClr val="tx1"/>
                </a:solidFill>
                <a:latin typeface="Georgia"/>
                <a:ea typeface="+mj-ea"/>
                <a:cs typeface="Georgia"/>
              </a:defRPr>
            </a:lvl1pPr>
          </a:lstStyle>
          <a:p>
            <a:pPr marL="12700" marR="5080">
              <a:lnSpc>
                <a:spcPts val="2800"/>
              </a:lnSpc>
              <a:spcBef>
                <a:spcPts val="355"/>
              </a:spcBef>
            </a:pPr>
            <a:r>
              <a:rPr lang="en-US" kern="0" spc="-5" dirty="0"/>
              <a:t>7 | Auto Lending Sustainability Strategy</a:t>
            </a:r>
          </a:p>
          <a:p>
            <a:pPr marL="12700" marR="5080">
              <a:lnSpc>
                <a:spcPts val="2800"/>
              </a:lnSpc>
              <a:spcBef>
                <a:spcPts val="355"/>
              </a:spcBef>
            </a:pPr>
            <a:endParaRPr lang="en-US" kern="0" spc="-5" dirty="0"/>
          </a:p>
        </p:txBody>
      </p:sp>
      <p:sp>
        <p:nvSpPr>
          <p:cNvPr id="6" name="object 57">
            <a:extLst>
              <a:ext uri="{FF2B5EF4-FFF2-40B4-BE49-F238E27FC236}">
                <a16:creationId xmlns:a16="http://schemas.microsoft.com/office/drawing/2014/main" id="{2C9E5702-2BF7-5E3F-6EFC-4E142611F801}"/>
              </a:ext>
            </a:extLst>
          </p:cNvPr>
          <p:cNvSpPr/>
          <p:nvPr/>
        </p:nvSpPr>
        <p:spPr>
          <a:xfrm>
            <a:off x="114300" y="1143000"/>
            <a:ext cx="4495800" cy="337185"/>
          </a:xfrm>
          <a:custGeom>
            <a:avLst/>
            <a:gdLst/>
            <a:ahLst/>
            <a:cxnLst/>
            <a:rect l="l" t="t" r="r" b="b"/>
            <a:pathLst>
              <a:path w="1943100" h="337185">
                <a:moveTo>
                  <a:pt x="0" y="0"/>
                </a:moveTo>
                <a:lnTo>
                  <a:pt x="1881505" y="0"/>
                </a:lnTo>
                <a:lnTo>
                  <a:pt x="1942846" y="168528"/>
                </a:lnTo>
                <a:lnTo>
                  <a:pt x="1881505" y="336930"/>
                </a:lnTo>
                <a:lnTo>
                  <a:pt x="0" y="336930"/>
                </a:lnTo>
                <a:lnTo>
                  <a:pt x="0" y="0"/>
                </a:lnTo>
                <a:close/>
              </a:path>
            </a:pathLst>
          </a:custGeom>
          <a:solidFill>
            <a:srgbClr val="051F79"/>
          </a:solidFill>
        </p:spPr>
        <p:txBody>
          <a:bodyPr wrap="square" lIns="0" tIns="0" rIns="0" bIns="0" rtlCol="0"/>
          <a:lstStyle/>
          <a:p>
            <a:r>
              <a:rPr lang="en-US" b="1" dirty="0">
                <a:solidFill>
                  <a:schemeClr val="bg1"/>
                </a:solidFill>
                <a:latin typeface="Arial" panose="020B0604020202020204" pitchFamily="34" charset="0"/>
                <a:cs typeface="Arial" panose="020B0604020202020204" pitchFamily="34" charset="0"/>
              </a:rPr>
              <a:t>  Auto Market</a:t>
            </a:r>
          </a:p>
          <a:p>
            <a:endParaRPr dirty="0"/>
          </a:p>
        </p:txBody>
      </p:sp>
      <p:sp>
        <p:nvSpPr>
          <p:cNvPr id="8" name="Rectangle 7">
            <a:extLst>
              <a:ext uri="{FF2B5EF4-FFF2-40B4-BE49-F238E27FC236}">
                <a16:creationId xmlns:a16="http://schemas.microsoft.com/office/drawing/2014/main" id="{6D48A326-38C9-3ED1-D3CB-34BA41FFF3F1}"/>
              </a:ext>
            </a:extLst>
          </p:cNvPr>
          <p:cNvSpPr/>
          <p:nvPr/>
        </p:nvSpPr>
        <p:spPr>
          <a:xfrm>
            <a:off x="76250" y="2094146"/>
            <a:ext cx="4190949" cy="3442662"/>
          </a:xfrm>
          <a:prstGeom prst="rect">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1600" dirty="0">
                <a:solidFill>
                  <a:schemeClr val="tx1"/>
                </a:solidFill>
                <a:latin typeface="Arial" panose="020B0604020202020204" pitchFamily="34" charset="0"/>
                <a:cs typeface="Arial" panose="020B0604020202020204" pitchFamily="34" charset="0"/>
              </a:rPr>
              <a:t>EV &amp; PHEV market share 2025: 15%</a:t>
            </a:r>
          </a:p>
          <a:p>
            <a:pPr lvl="1"/>
            <a:endParaRPr lang="en-US" sz="1600" dirty="0">
              <a:solidFill>
                <a:schemeClr val="tx1"/>
              </a:solidFill>
              <a:latin typeface="Arial" panose="020B0604020202020204" pitchFamily="34" charset="0"/>
              <a:cs typeface="Arial" panose="020B0604020202020204" pitchFamily="34" charset="0"/>
            </a:endParaRPr>
          </a:p>
          <a:p>
            <a:pPr lvl="1"/>
            <a:r>
              <a:rPr lang="en-US" sz="1600" dirty="0">
                <a:solidFill>
                  <a:schemeClr val="tx1"/>
                </a:solidFill>
                <a:latin typeface="Arial" panose="020B0604020202020204" pitchFamily="34" charset="0"/>
                <a:cs typeface="Arial" panose="020B0604020202020204" pitchFamily="34" charset="0"/>
              </a:rPr>
              <a:t>Hybrid market share 2025: 50%</a:t>
            </a:r>
          </a:p>
          <a:p>
            <a:pPr lvl="1"/>
            <a:endParaRPr lang="en-US" sz="1600" dirty="0">
              <a:solidFill>
                <a:schemeClr val="tx1"/>
              </a:solidFill>
              <a:latin typeface="Arial" panose="020B0604020202020204" pitchFamily="34" charset="0"/>
              <a:cs typeface="Arial" panose="020B0604020202020204" pitchFamily="34" charset="0"/>
            </a:endParaRPr>
          </a:p>
          <a:p>
            <a:pPr lvl="1"/>
            <a:r>
              <a:rPr lang="en-US" sz="1600" dirty="0">
                <a:solidFill>
                  <a:schemeClr val="tx1"/>
                </a:solidFill>
                <a:latin typeface="Arial" panose="020B0604020202020204" pitchFamily="34" charset="0"/>
                <a:cs typeface="Arial" panose="020B0604020202020204" pitchFamily="34" charset="0"/>
              </a:rPr>
              <a:t>Supply-side acceleration: +20 new brands entering GR market</a:t>
            </a:r>
          </a:p>
          <a:p>
            <a:pPr lvl="1"/>
            <a:endParaRPr lang="en-US" sz="1600" dirty="0">
              <a:solidFill>
                <a:schemeClr val="tx1"/>
              </a:solidFill>
              <a:latin typeface="Arial" panose="020B0604020202020204" pitchFamily="34" charset="0"/>
              <a:cs typeface="Arial" panose="020B0604020202020204" pitchFamily="34" charset="0"/>
            </a:endParaRPr>
          </a:p>
          <a:p>
            <a:pPr lvl="1"/>
            <a:r>
              <a:rPr lang="en-US" sz="1600" dirty="0">
                <a:solidFill>
                  <a:schemeClr val="tx1"/>
                </a:solidFill>
                <a:latin typeface="Arial" panose="020B0604020202020204" pitchFamily="34" charset="0"/>
                <a:cs typeface="Arial" panose="020B0604020202020204" pitchFamily="34" charset="0"/>
              </a:rPr>
              <a:t>Demand-side support: Government incentives for EV purchases</a:t>
            </a:r>
          </a:p>
          <a:p>
            <a:pPr lvl="1"/>
            <a:endParaRPr lang="en-US" sz="1600" dirty="0">
              <a:solidFill>
                <a:schemeClr val="tx1"/>
              </a:solidFill>
              <a:latin typeface="Arial" panose="020B0604020202020204" pitchFamily="34" charset="0"/>
              <a:cs typeface="Arial" panose="020B0604020202020204" pitchFamily="34" charset="0"/>
            </a:endParaRPr>
          </a:p>
          <a:p>
            <a:pPr lvl="1"/>
            <a:r>
              <a:rPr lang="en-US" sz="1600" dirty="0">
                <a:solidFill>
                  <a:schemeClr val="tx1"/>
                </a:solidFill>
                <a:latin typeface="Arial" panose="020B0604020202020204" pitchFamily="34" charset="0"/>
                <a:cs typeface="Arial" panose="020B0604020202020204" pitchFamily="34" charset="0"/>
              </a:rPr>
              <a:t>Electrified vehicles market share 2030: </a:t>
            </a:r>
          </a:p>
          <a:p>
            <a:pPr lvl="1"/>
            <a:r>
              <a:rPr lang="en-US" sz="1600" dirty="0">
                <a:solidFill>
                  <a:schemeClr val="tx1"/>
                </a:solidFill>
                <a:latin typeface="Arial" panose="020B0604020202020204" pitchFamily="34" charset="0"/>
                <a:cs typeface="Arial" panose="020B0604020202020204" pitchFamily="34" charset="0"/>
              </a:rPr>
              <a:t>New up to 70%</a:t>
            </a:r>
          </a:p>
          <a:p>
            <a:pPr lvl="1"/>
            <a:r>
              <a:rPr lang="en-US" sz="1600" dirty="0">
                <a:solidFill>
                  <a:schemeClr val="tx1"/>
                </a:solidFill>
                <a:latin typeface="Arial" panose="020B0604020202020204" pitchFamily="34" charset="0"/>
                <a:cs typeface="Arial" panose="020B0604020202020204" pitchFamily="34" charset="0"/>
              </a:rPr>
              <a:t>Used up to 35%</a:t>
            </a:r>
            <a:endParaRPr lang="el-GR" sz="1600" dirty="0">
              <a:latin typeface="Arial" panose="020B0604020202020204" pitchFamily="34" charset="0"/>
              <a:cs typeface="Arial" panose="020B0604020202020204" pitchFamily="34" charset="0"/>
            </a:endParaRPr>
          </a:p>
        </p:txBody>
      </p:sp>
      <p:sp>
        <p:nvSpPr>
          <p:cNvPr id="11" name="object 57">
            <a:extLst>
              <a:ext uri="{FF2B5EF4-FFF2-40B4-BE49-F238E27FC236}">
                <a16:creationId xmlns:a16="http://schemas.microsoft.com/office/drawing/2014/main" id="{558A9899-4460-DC24-4F4D-5948C33CC85C}"/>
              </a:ext>
            </a:extLst>
          </p:cNvPr>
          <p:cNvSpPr/>
          <p:nvPr/>
        </p:nvSpPr>
        <p:spPr>
          <a:xfrm>
            <a:off x="4762498" y="1143000"/>
            <a:ext cx="7315202" cy="337185"/>
          </a:xfrm>
          <a:custGeom>
            <a:avLst/>
            <a:gdLst/>
            <a:ahLst/>
            <a:cxnLst/>
            <a:rect l="l" t="t" r="r" b="b"/>
            <a:pathLst>
              <a:path w="1943100" h="337185">
                <a:moveTo>
                  <a:pt x="0" y="0"/>
                </a:moveTo>
                <a:lnTo>
                  <a:pt x="1881505" y="0"/>
                </a:lnTo>
                <a:lnTo>
                  <a:pt x="1942846" y="168528"/>
                </a:lnTo>
                <a:lnTo>
                  <a:pt x="1881505" y="336930"/>
                </a:lnTo>
                <a:lnTo>
                  <a:pt x="0" y="336930"/>
                </a:lnTo>
                <a:lnTo>
                  <a:pt x="0" y="0"/>
                </a:lnTo>
                <a:close/>
              </a:path>
            </a:pathLst>
          </a:custGeom>
          <a:solidFill>
            <a:srgbClr val="051F79"/>
          </a:solidFill>
        </p:spPr>
        <p:txBody>
          <a:bodyPr wrap="square" lIns="0" tIns="0" rIns="0" bIns="0" rtlCol="0"/>
          <a:lstStyle/>
          <a:p>
            <a:r>
              <a:rPr lang="en-US" b="1" dirty="0">
                <a:solidFill>
                  <a:schemeClr val="bg1"/>
                </a:solidFill>
                <a:latin typeface="Arial" panose="020B0604020202020204" pitchFamily="34" charset="0"/>
                <a:cs typeface="Arial" panose="020B0604020202020204" pitchFamily="34" charset="0"/>
              </a:rPr>
              <a:t>  Accelerating Sustainable Auto Finance</a:t>
            </a:r>
          </a:p>
          <a:p>
            <a:endParaRPr dirty="0">
              <a:solidFill>
                <a:schemeClr val="bg1"/>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AC348064-82D6-53FA-21FD-6608D922B6D4}"/>
              </a:ext>
            </a:extLst>
          </p:cNvPr>
          <p:cNvSpPr/>
          <p:nvPr/>
        </p:nvSpPr>
        <p:spPr>
          <a:xfrm>
            <a:off x="4267199" y="1599556"/>
            <a:ext cx="7810497" cy="4953644"/>
          </a:xfrm>
          <a:prstGeom prst="rect">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1600" dirty="0">
                <a:solidFill>
                  <a:schemeClr val="tx1"/>
                </a:solidFill>
                <a:latin typeface="Arial" panose="020B0604020202020204" pitchFamily="34" charset="0"/>
                <a:cs typeface="Arial" panose="020B0604020202020204" pitchFamily="34" charset="0"/>
              </a:rPr>
              <a:t>Eurobank supports the transition towards a sustainable economy and considers sustainability and climate change as an opportunity.</a:t>
            </a:r>
          </a:p>
          <a:p>
            <a:pPr lvl="1"/>
            <a:endParaRPr lang="en-US" sz="1600" dirty="0">
              <a:solidFill>
                <a:schemeClr val="tx1"/>
              </a:solidFill>
              <a:latin typeface="Arial" panose="020B0604020202020204" pitchFamily="34" charset="0"/>
              <a:cs typeface="Arial" panose="020B0604020202020204" pitchFamily="34" charset="0"/>
            </a:endParaRPr>
          </a:p>
          <a:p>
            <a:pPr lvl="1"/>
            <a:r>
              <a:rPr lang="en-US" sz="1600" dirty="0">
                <a:solidFill>
                  <a:schemeClr val="tx1"/>
                </a:solidFill>
                <a:latin typeface="Arial" panose="020B0604020202020204" pitchFamily="34" charset="0"/>
                <a:cs typeface="Arial" panose="020B0604020202020204" pitchFamily="34" charset="0"/>
              </a:rPr>
              <a:t>The bank has already developed its Sustainable Finance Framework and is currently developing its Transition Finance Framework. These documents act as key enablers in supporting its net zero commitments, by systematically identifying and financing credible sustainable and transition activities that contribute to the mitigation of its transition risk and to the long-term decarbonization across the economy.</a:t>
            </a:r>
          </a:p>
          <a:p>
            <a:pPr lvl="1"/>
            <a:endParaRPr lang="en-US" sz="1600" dirty="0">
              <a:solidFill>
                <a:schemeClr val="tx1"/>
              </a:solidFill>
              <a:latin typeface="Arial" panose="020B0604020202020204" pitchFamily="34" charset="0"/>
              <a:cs typeface="Arial" panose="020B0604020202020204" pitchFamily="34" charset="0"/>
            </a:endParaRPr>
          </a:p>
          <a:p>
            <a:pPr lvl="1"/>
            <a:r>
              <a:rPr lang="en-US" sz="1600" dirty="0">
                <a:solidFill>
                  <a:schemeClr val="tx1"/>
                </a:solidFill>
                <a:latin typeface="Arial" panose="020B0604020202020204" pitchFamily="34" charset="0"/>
                <a:cs typeface="Arial" panose="020B0604020202020204" pitchFamily="34" charset="0"/>
              </a:rPr>
              <a:t>Financing of clean transportation, including different types of EVs and PHEVs is included both in Bank’s SFF and TFF. The enhancement of the sustainable auto lending stream is totally aligned with Bank’s sustainability strategy by contributing to the sustainable financing mobilization target. </a:t>
            </a:r>
          </a:p>
          <a:p>
            <a:pPr lvl="1"/>
            <a:endParaRPr lang="en-US" sz="1600" dirty="0">
              <a:solidFill>
                <a:schemeClr val="tx1"/>
              </a:solidFill>
              <a:latin typeface="Arial" panose="020B0604020202020204" pitchFamily="34" charset="0"/>
              <a:cs typeface="Arial" panose="020B0604020202020204" pitchFamily="34" charset="0"/>
            </a:endParaRPr>
          </a:p>
          <a:p>
            <a:pPr lvl="1"/>
            <a:r>
              <a:rPr lang="en-US" sz="1600" dirty="0">
                <a:solidFill>
                  <a:schemeClr val="tx1"/>
                </a:solidFill>
                <a:latin typeface="Arial" panose="020B0604020202020204" pitchFamily="34" charset="0"/>
                <a:cs typeface="Arial" panose="020B0604020202020204" pitchFamily="34" charset="0"/>
              </a:rPr>
              <a:t>Expected total Sustainable and Transition Auto disbursements by 2030 without proposed Auto Operating Model: 283m.</a:t>
            </a:r>
          </a:p>
          <a:p>
            <a:pPr lvl="1"/>
            <a:r>
              <a:rPr lang="en-US" sz="1600" dirty="0">
                <a:solidFill>
                  <a:schemeClr val="tx1"/>
                </a:solidFill>
                <a:latin typeface="Arial" panose="020B0604020202020204" pitchFamily="34" charset="0"/>
                <a:cs typeface="Arial" panose="020B0604020202020204" pitchFamily="34" charset="0"/>
              </a:rPr>
              <a:t>Expected total Sustainable and Transition Auto disbursements by 2030 with proposed Auto Operating Model: 700m. (c.50% of total)</a:t>
            </a:r>
          </a:p>
          <a:p>
            <a:pPr lvl="1"/>
            <a:endParaRPr lang="en-US" sz="1600" dirty="0">
              <a:solidFill>
                <a:schemeClr val="tx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A92BB023-8E33-1290-5BF4-2358D5F3E349}"/>
              </a:ext>
            </a:extLst>
          </p:cNvPr>
          <p:cNvPicPr>
            <a:picLocks noChangeAspect="1"/>
          </p:cNvPicPr>
          <p:nvPr/>
        </p:nvPicPr>
        <p:blipFill>
          <a:blip r:embed="rId3"/>
          <a:stretch>
            <a:fillRect/>
          </a:stretch>
        </p:blipFill>
        <p:spPr>
          <a:xfrm>
            <a:off x="7086600" y="287562"/>
            <a:ext cx="248434" cy="271076"/>
          </a:xfrm>
          <a:prstGeom prst="rect">
            <a:avLst/>
          </a:prstGeom>
        </p:spPr>
      </p:pic>
      <p:sp>
        <p:nvSpPr>
          <p:cNvPr id="16" name="Rectangle 15">
            <a:extLst>
              <a:ext uri="{FF2B5EF4-FFF2-40B4-BE49-F238E27FC236}">
                <a16:creationId xmlns:a16="http://schemas.microsoft.com/office/drawing/2014/main" id="{4D452D5A-687B-2F8E-144B-11D8D43A502F}"/>
              </a:ext>
            </a:extLst>
          </p:cNvPr>
          <p:cNvSpPr/>
          <p:nvPr/>
        </p:nvSpPr>
        <p:spPr>
          <a:xfrm>
            <a:off x="10210797" y="6477000"/>
            <a:ext cx="1676403" cy="2952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                                            11</a:t>
            </a:r>
            <a:endParaRPr lang="el-GR" sz="1000" dirty="0">
              <a:solidFill>
                <a:schemeClr val="tx1"/>
              </a:solidFill>
            </a:endParaRPr>
          </a:p>
        </p:txBody>
      </p:sp>
      <p:sp>
        <p:nvSpPr>
          <p:cNvPr id="7" name="object 13">
            <a:extLst>
              <a:ext uri="{FF2B5EF4-FFF2-40B4-BE49-F238E27FC236}">
                <a16:creationId xmlns:a16="http://schemas.microsoft.com/office/drawing/2014/main" id="{068565D9-1EF4-9CEA-738F-9B612CA99C15}"/>
              </a:ext>
            </a:extLst>
          </p:cNvPr>
          <p:cNvSpPr/>
          <p:nvPr/>
        </p:nvSpPr>
        <p:spPr>
          <a:xfrm>
            <a:off x="4648200" y="1501416"/>
            <a:ext cx="0" cy="4746984"/>
          </a:xfrm>
          <a:custGeom>
            <a:avLst/>
            <a:gdLst/>
            <a:ahLst/>
            <a:cxnLst/>
            <a:rect l="l" t="t" r="r" b="b"/>
            <a:pathLst>
              <a:path h="939164">
                <a:moveTo>
                  <a:pt x="0" y="0"/>
                </a:moveTo>
                <a:lnTo>
                  <a:pt x="0" y="938656"/>
                </a:lnTo>
              </a:path>
            </a:pathLst>
          </a:custGeom>
          <a:ln w="12700">
            <a:solidFill>
              <a:srgbClr val="000000"/>
            </a:solidFill>
          </a:ln>
        </p:spPr>
        <p:txBody>
          <a:bodyPr wrap="square" lIns="0" tIns="0" rIns="0" bIns="0" rtlCol="0"/>
          <a:lstStyle/>
          <a:p>
            <a:endParaRPr/>
          </a:p>
        </p:txBody>
      </p:sp>
      <p:pic>
        <p:nvPicPr>
          <p:cNvPr id="9" name="Picture 8">
            <a:extLst>
              <a:ext uri="{FF2B5EF4-FFF2-40B4-BE49-F238E27FC236}">
                <a16:creationId xmlns:a16="http://schemas.microsoft.com/office/drawing/2014/main" id="{84E834A3-03D4-AED4-750F-6315A221D14B}"/>
              </a:ext>
            </a:extLst>
          </p:cNvPr>
          <p:cNvPicPr>
            <a:picLocks noChangeAspect="1"/>
          </p:cNvPicPr>
          <p:nvPr/>
        </p:nvPicPr>
        <p:blipFill>
          <a:blip r:embed="rId4"/>
          <a:stretch>
            <a:fillRect/>
          </a:stretch>
        </p:blipFill>
        <p:spPr>
          <a:xfrm>
            <a:off x="0" y="26632"/>
            <a:ext cx="12191999" cy="976542"/>
          </a:xfrm>
          <a:prstGeom prst="rect">
            <a:avLst/>
          </a:prstGeom>
        </p:spPr>
      </p:pic>
      <p:sp>
        <p:nvSpPr>
          <p:cNvPr id="10" name="object 2">
            <a:extLst>
              <a:ext uri="{FF2B5EF4-FFF2-40B4-BE49-F238E27FC236}">
                <a16:creationId xmlns:a16="http://schemas.microsoft.com/office/drawing/2014/main" id="{5752C5FF-8EC2-C0DC-D0D3-3122878BCC24}"/>
              </a:ext>
            </a:extLst>
          </p:cNvPr>
          <p:cNvSpPr txBox="1">
            <a:spLocks/>
          </p:cNvSpPr>
          <p:nvPr/>
        </p:nvSpPr>
        <p:spPr>
          <a:xfrm>
            <a:off x="465837" y="137083"/>
            <a:ext cx="10979150" cy="814967"/>
          </a:xfrm>
          <a:prstGeom prst="rect">
            <a:avLst/>
          </a:prstGeom>
        </p:spPr>
        <p:txBody>
          <a:bodyPr vert="horz" wrap="square" lIns="0" tIns="45085" rIns="0" bIns="0" rtlCol="0">
            <a:spAutoFit/>
          </a:bodyPr>
          <a:lstStyle>
            <a:lvl1pPr>
              <a:defRPr sz="2500" b="1" i="0">
                <a:solidFill>
                  <a:schemeClr val="tx1"/>
                </a:solidFill>
                <a:latin typeface="Georgia"/>
                <a:ea typeface="+mj-ea"/>
                <a:cs typeface="Georgia"/>
              </a:defRPr>
            </a:lvl1pPr>
          </a:lstStyle>
          <a:p>
            <a:pPr marL="12700" marR="5080">
              <a:lnSpc>
                <a:spcPts val="2800"/>
              </a:lnSpc>
              <a:spcBef>
                <a:spcPts val="355"/>
              </a:spcBef>
            </a:pPr>
            <a:r>
              <a:rPr lang="en-US" kern="0" spc="-5" dirty="0"/>
              <a:t>7 | Auto Lending Sustainability Strategy</a:t>
            </a:r>
          </a:p>
          <a:p>
            <a:pPr marL="12700" marR="5080">
              <a:lnSpc>
                <a:spcPts val="2800"/>
              </a:lnSpc>
              <a:spcBef>
                <a:spcPts val="355"/>
              </a:spcBef>
            </a:pPr>
            <a:endParaRPr lang="en-US" kern="0" spc="-5" dirty="0"/>
          </a:p>
        </p:txBody>
      </p:sp>
    </p:spTree>
    <p:extLst>
      <p:ext uri="{BB962C8B-B14F-4D97-AF65-F5344CB8AC3E}">
        <p14:creationId xmlns:p14="http://schemas.microsoft.com/office/powerpoint/2010/main" val="733292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D5902B-CBA5-D04D-3679-AC283142A875}"/>
              </a:ext>
            </a:extLst>
          </p:cNvPr>
          <p:cNvPicPr>
            <a:picLocks noChangeAspect="1"/>
          </p:cNvPicPr>
          <p:nvPr/>
        </p:nvPicPr>
        <p:blipFill>
          <a:blip r:embed="rId2"/>
          <a:stretch>
            <a:fillRect/>
          </a:stretch>
        </p:blipFill>
        <p:spPr>
          <a:xfrm>
            <a:off x="0" y="26632"/>
            <a:ext cx="12191999" cy="976542"/>
          </a:xfrm>
          <a:prstGeom prst="rect">
            <a:avLst/>
          </a:prstGeom>
        </p:spPr>
      </p:pic>
      <p:sp>
        <p:nvSpPr>
          <p:cNvPr id="2" name="object 2"/>
          <p:cNvSpPr txBox="1">
            <a:spLocks noGrp="1"/>
          </p:cNvSpPr>
          <p:nvPr>
            <p:ph type="title"/>
          </p:nvPr>
        </p:nvSpPr>
        <p:spPr>
          <a:xfrm>
            <a:off x="542036" y="228600"/>
            <a:ext cx="6119495" cy="406400"/>
          </a:xfrm>
          <a:prstGeom prst="rect">
            <a:avLst/>
          </a:prstGeom>
        </p:spPr>
        <p:txBody>
          <a:bodyPr vert="horz" wrap="square" lIns="0" tIns="12065" rIns="0" bIns="0" rtlCol="0">
            <a:spAutoFit/>
          </a:bodyPr>
          <a:lstStyle/>
          <a:p>
            <a:pPr marL="12700">
              <a:lnSpc>
                <a:spcPct val="100000"/>
              </a:lnSpc>
              <a:spcBef>
                <a:spcPts val="95"/>
              </a:spcBef>
            </a:pPr>
            <a:r>
              <a:rPr spc="-5" dirty="0"/>
              <a:t>8 | How the next </a:t>
            </a:r>
            <a:r>
              <a:rPr dirty="0"/>
              <a:t>6-8 </a:t>
            </a:r>
            <a:r>
              <a:rPr spc="-5" dirty="0"/>
              <a:t>months look</a:t>
            </a:r>
            <a:r>
              <a:rPr dirty="0"/>
              <a:t> </a:t>
            </a:r>
            <a:r>
              <a:rPr spc="-5" dirty="0"/>
              <a:t>like</a:t>
            </a:r>
          </a:p>
        </p:txBody>
      </p:sp>
      <p:sp>
        <p:nvSpPr>
          <p:cNvPr id="4" name="object 4"/>
          <p:cNvSpPr/>
          <p:nvPr/>
        </p:nvSpPr>
        <p:spPr>
          <a:xfrm>
            <a:off x="2179954" y="1921510"/>
            <a:ext cx="0" cy="4319270"/>
          </a:xfrm>
          <a:custGeom>
            <a:avLst/>
            <a:gdLst/>
            <a:ahLst/>
            <a:cxnLst/>
            <a:rect l="l" t="t" r="r" b="b"/>
            <a:pathLst>
              <a:path h="4319270">
                <a:moveTo>
                  <a:pt x="0" y="0"/>
                </a:moveTo>
                <a:lnTo>
                  <a:pt x="0" y="4319028"/>
                </a:lnTo>
              </a:path>
            </a:pathLst>
          </a:custGeom>
          <a:ln w="6350">
            <a:solidFill>
              <a:srgbClr val="B3B3B3"/>
            </a:solidFill>
            <a:prstDash val="sysDash"/>
          </a:ln>
        </p:spPr>
        <p:txBody>
          <a:bodyPr wrap="square" lIns="0" tIns="0" rIns="0" bIns="0" rtlCol="0"/>
          <a:lstStyle/>
          <a:p>
            <a:endParaRPr/>
          </a:p>
        </p:txBody>
      </p:sp>
      <p:sp>
        <p:nvSpPr>
          <p:cNvPr id="5" name="object 5"/>
          <p:cNvSpPr/>
          <p:nvPr/>
        </p:nvSpPr>
        <p:spPr>
          <a:xfrm>
            <a:off x="3170554" y="1921510"/>
            <a:ext cx="0" cy="4319270"/>
          </a:xfrm>
          <a:custGeom>
            <a:avLst/>
            <a:gdLst/>
            <a:ahLst/>
            <a:cxnLst/>
            <a:rect l="l" t="t" r="r" b="b"/>
            <a:pathLst>
              <a:path h="4319270">
                <a:moveTo>
                  <a:pt x="0" y="0"/>
                </a:moveTo>
                <a:lnTo>
                  <a:pt x="0" y="4319028"/>
                </a:lnTo>
              </a:path>
            </a:pathLst>
          </a:custGeom>
          <a:ln w="6350">
            <a:solidFill>
              <a:srgbClr val="B3B3B3"/>
            </a:solidFill>
            <a:prstDash val="sysDash"/>
          </a:ln>
        </p:spPr>
        <p:txBody>
          <a:bodyPr wrap="square" lIns="0" tIns="0" rIns="0" bIns="0" rtlCol="0"/>
          <a:lstStyle/>
          <a:p>
            <a:endParaRPr/>
          </a:p>
        </p:txBody>
      </p:sp>
      <p:sp>
        <p:nvSpPr>
          <p:cNvPr id="6" name="object 6"/>
          <p:cNvSpPr/>
          <p:nvPr/>
        </p:nvSpPr>
        <p:spPr>
          <a:xfrm>
            <a:off x="4237354" y="1921510"/>
            <a:ext cx="0" cy="4319270"/>
          </a:xfrm>
          <a:custGeom>
            <a:avLst/>
            <a:gdLst/>
            <a:ahLst/>
            <a:cxnLst/>
            <a:rect l="l" t="t" r="r" b="b"/>
            <a:pathLst>
              <a:path h="4319270">
                <a:moveTo>
                  <a:pt x="0" y="0"/>
                </a:moveTo>
                <a:lnTo>
                  <a:pt x="0" y="4319028"/>
                </a:lnTo>
              </a:path>
            </a:pathLst>
          </a:custGeom>
          <a:ln w="6350">
            <a:solidFill>
              <a:srgbClr val="B3B3B3"/>
            </a:solidFill>
            <a:prstDash val="sysDash"/>
          </a:ln>
        </p:spPr>
        <p:txBody>
          <a:bodyPr wrap="square" lIns="0" tIns="0" rIns="0" bIns="0" rtlCol="0"/>
          <a:lstStyle/>
          <a:p>
            <a:endParaRPr/>
          </a:p>
        </p:txBody>
      </p:sp>
      <p:sp>
        <p:nvSpPr>
          <p:cNvPr id="7" name="object 7"/>
          <p:cNvSpPr/>
          <p:nvPr/>
        </p:nvSpPr>
        <p:spPr>
          <a:xfrm>
            <a:off x="5304154" y="1921510"/>
            <a:ext cx="0" cy="4319270"/>
          </a:xfrm>
          <a:custGeom>
            <a:avLst/>
            <a:gdLst/>
            <a:ahLst/>
            <a:cxnLst/>
            <a:rect l="l" t="t" r="r" b="b"/>
            <a:pathLst>
              <a:path h="4319270">
                <a:moveTo>
                  <a:pt x="0" y="0"/>
                </a:moveTo>
                <a:lnTo>
                  <a:pt x="0" y="4319028"/>
                </a:lnTo>
              </a:path>
            </a:pathLst>
          </a:custGeom>
          <a:ln w="6350">
            <a:solidFill>
              <a:srgbClr val="B3B3B3"/>
            </a:solidFill>
            <a:prstDash val="sysDash"/>
          </a:ln>
        </p:spPr>
        <p:txBody>
          <a:bodyPr wrap="square" lIns="0" tIns="0" rIns="0" bIns="0" rtlCol="0"/>
          <a:lstStyle/>
          <a:p>
            <a:endParaRPr/>
          </a:p>
        </p:txBody>
      </p:sp>
      <p:sp>
        <p:nvSpPr>
          <p:cNvPr id="8" name="object 8"/>
          <p:cNvSpPr/>
          <p:nvPr/>
        </p:nvSpPr>
        <p:spPr>
          <a:xfrm>
            <a:off x="6447154" y="1921510"/>
            <a:ext cx="0" cy="4319270"/>
          </a:xfrm>
          <a:custGeom>
            <a:avLst/>
            <a:gdLst/>
            <a:ahLst/>
            <a:cxnLst/>
            <a:rect l="l" t="t" r="r" b="b"/>
            <a:pathLst>
              <a:path h="4319270">
                <a:moveTo>
                  <a:pt x="0" y="0"/>
                </a:moveTo>
                <a:lnTo>
                  <a:pt x="0" y="4319028"/>
                </a:lnTo>
              </a:path>
            </a:pathLst>
          </a:custGeom>
          <a:ln w="6350">
            <a:solidFill>
              <a:srgbClr val="B3B3B3"/>
            </a:solidFill>
            <a:prstDash val="sysDash"/>
          </a:ln>
        </p:spPr>
        <p:txBody>
          <a:bodyPr wrap="square" lIns="0" tIns="0" rIns="0" bIns="0" rtlCol="0"/>
          <a:lstStyle/>
          <a:p>
            <a:endParaRPr/>
          </a:p>
        </p:txBody>
      </p:sp>
      <p:sp>
        <p:nvSpPr>
          <p:cNvPr id="9" name="object 9"/>
          <p:cNvSpPr/>
          <p:nvPr/>
        </p:nvSpPr>
        <p:spPr>
          <a:xfrm>
            <a:off x="7513954" y="1921510"/>
            <a:ext cx="0" cy="4319270"/>
          </a:xfrm>
          <a:custGeom>
            <a:avLst/>
            <a:gdLst/>
            <a:ahLst/>
            <a:cxnLst/>
            <a:rect l="l" t="t" r="r" b="b"/>
            <a:pathLst>
              <a:path h="4319270">
                <a:moveTo>
                  <a:pt x="0" y="0"/>
                </a:moveTo>
                <a:lnTo>
                  <a:pt x="0" y="4319028"/>
                </a:lnTo>
              </a:path>
            </a:pathLst>
          </a:custGeom>
          <a:ln w="6350">
            <a:solidFill>
              <a:srgbClr val="B3B3B3"/>
            </a:solidFill>
            <a:prstDash val="sysDash"/>
          </a:ln>
        </p:spPr>
        <p:txBody>
          <a:bodyPr wrap="square" lIns="0" tIns="0" rIns="0" bIns="0" rtlCol="0"/>
          <a:lstStyle/>
          <a:p>
            <a:endParaRPr/>
          </a:p>
        </p:txBody>
      </p:sp>
      <p:sp>
        <p:nvSpPr>
          <p:cNvPr id="10" name="object 10"/>
          <p:cNvSpPr/>
          <p:nvPr/>
        </p:nvSpPr>
        <p:spPr>
          <a:xfrm>
            <a:off x="8656953" y="1905000"/>
            <a:ext cx="45719" cy="4319270"/>
          </a:xfrm>
          <a:custGeom>
            <a:avLst/>
            <a:gdLst/>
            <a:ahLst/>
            <a:cxnLst/>
            <a:rect l="l" t="t" r="r" b="b"/>
            <a:pathLst>
              <a:path h="3679190">
                <a:moveTo>
                  <a:pt x="0" y="0"/>
                </a:moveTo>
                <a:lnTo>
                  <a:pt x="0" y="3678923"/>
                </a:lnTo>
              </a:path>
            </a:pathLst>
          </a:custGeom>
          <a:ln w="6350">
            <a:solidFill>
              <a:srgbClr val="B3B3B3"/>
            </a:solidFill>
            <a:prstDash val="sysDash"/>
          </a:ln>
        </p:spPr>
        <p:txBody>
          <a:bodyPr wrap="square" lIns="0" tIns="0" rIns="0" bIns="0" rtlCol="0"/>
          <a:lstStyle/>
          <a:p>
            <a:endParaRPr/>
          </a:p>
        </p:txBody>
      </p:sp>
      <p:sp>
        <p:nvSpPr>
          <p:cNvPr id="11" name="object 11"/>
          <p:cNvSpPr txBox="1"/>
          <p:nvPr/>
        </p:nvSpPr>
        <p:spPr>
          <a:xfrm>
            <a:off x="3001644" y="1606677"/>
            <a:ext cx="397510" cy="258404"/>
          </a:xfrm>
          <a:prstGeom prst="rect">
            <a:avLst/>
          </a:prstGeom>
        </p:spPr>
        <p:txBody>
          <a:bodyPr vert="horz" wrap="square" lIns="0" tIns="12065" rIns="0" bIns="0" rtlCol="0">
            <a:spAutoFit/>
          </a:bodyPr>
          <a:lstStyle/>
          <a:p>
            <a:pPr marL="12700">
              <a:lnSpc>
                <a:spcPct val="100000"/>
              </a:lnSpc>
              <a:spcBef>
                <a:spcPts val="95"/>
              </a:spcBef>
            </a:pPr>
            <a:r>
              <a:rPr lang="en-US" sz="1600" b="1" spc="-10" dirty="0">
                <a:latin typeface="Arial"/>
                <a:cs typeface="Arial"/>
              </a:rPr>
              <a:t>Mar</a:t>
            </a:r>
            <a:endParaRPr sz="1600" dirty="0">
              <a:latin typeface="Arial"/>
              <a:cs typeface="Arial"/>
            </a:endParaRPr>
          </a:p>
        </p:txBody>
      </p:sp>
      <p:sp>
        <p:nvSpPr>
          <p:cNvPr id="12" name="object 12"/>
          <p:cNvSpPr txBox="1"/>
          <p:nvPr/>
        </p:nvSpPr>
        <p:spPr>
          <a:xfrm>
            <a:off x="6251825" y="1616202"/>
            <a:ext cx="386080" cy="258404"/>
          </a:xfrm>
          <a:prstGeom prst="rect">
            <a:avLst/>
          </a:prstGeom>
        </p:spPr>
        <p:txBody>
          <a:bodyPr vert="horz" wrap="square" lIns="0" tIns="12065" rIns="0" bIns="0" rtlCol="0">
            <a:spAutoFit/>
          </a:bodyPr>
          <a:lstStyle/>
          <a:p>
            <a:pPr marL="12700">
              <a:lnSpc>
                <a:spcPct val="100000"/>
              </a:lnSpc>
              <a:spcBef>
                <a:spcPts val="95"/>
              </a:spcBef>
            </a:pPr>
            <a:r>
              <a:rPr lang="en-US" sz="1600" b="1" spc="-5" dirty="0">
                <a:latin typeface="Arial"/>
                <a:cs typeface="Arial"/>
              </a:rPr>
              <a:t>Jun</a:t>
            </a:r>
            <a:endParaRPr sz="1600" dirty="0">
              <a:latin typeface="Arial"/>
              <a:cs typeface="Arial"/>
            </a:endParaRPr>
          </a:p>
        </p:txBody>
      </p:sp>
      <p:sp>
        <p:nvSpPr>
          <p:cNvPr id="13" name="object 13"/>
          <p:cNvSpPr txBox="1"/>
          <p:nvPr/>
        </p:nvSpPr>
        <p:spPr>
          <a:xfrm>
            <a:off x="8447087" y="1606677"/>
            <a:ext cx="419734" cy="258404"/>
          </a:xfrm>
          <a:prstGeom prst="rect">
            <a:avLst/>
          </a:prstGeom>
        </p:spPr>
        <p:txBody>
          <a:bodyPr vert="horz" wrap="square" lIns="0" tIns="12065" rIns="0" bIns="0" rtlCol="0">
            <a:spAutoFit/>
          </a:bodyPr>
          <a:lstStyle/>
          <a:p>
            <a:pPr marL="12700">
              <a:lnSpc>
                <a:spcPct val="100000"/>
              </a:lnSpc>
              <a:spcBef>
                <a:spcPts val="95"/>
              </a:spcBef>
            </a:pPr>
            <a:r>
              <a:rPr lang="en-US" sz="1600" b="1" spc="-5" dirty="0">
                <a:latin typeface="Arial"/>
                <a:cs typeface="Arial"/>
              </a:rPr>
              <a:t>Aug</a:t>
            </a:r>
            <a:endParaRPr sz="1600" dirty="0">
              <a:latin typeface="Arial"/>
              <a:cs typeface="Arial"/>
            </a:endParaRPr>
          </a:p>
        </p:txBody>
      </p:sp>
      <p:sp>
        <p:nvSpPr>
          <p:cNvPr id="15" name="object 15"/>
          <p:cNvSpPr/>
          <p:nvPr/>
        </p:nvSpPr>
        <p:spPr>
          <a:xfrm>
            <a:off x="1004442" y="1496566"/>
            <a:ext cx="9938509" cy="87973"/>
          </a:xfrm>
          <a:custGeom>
            <a:avLst/>
            <a:gdLst/>
            <a:ahLst/>
            <a:cxnLst/>
            <a:rect l="l" t="t" r="r" b="b"/>
            <a:pathLst>
              <a:path w="4002404" h="76200">
                <a:moveTo>
                  <a:pt x="3926204" y="0"/>
                </a:moveTo>
                <a:lnTo>
                  <a:pt x="3926204" y="76200"/>
                </a:lnTo>
                <a:lnTo>
                  <a:pt x="3989704" y="44450"/>
                </a:lnTo>
                <a:lnTo>
                  <a:pt x="3938904" y="44450"/>
                </a:lnTo>
                <a:lnTo>
                  <a:pt x="3938904" y="31750"/>
                </a:lnTo>
                <a:lnTo>
                  <a:pt x="3989704" y="31750"/>
                </a:lnTo>
                <a:lnTo>
                  <a:pt x="3926204" y="0"/>
                </a:lnTo>
                <a:close/>
              </a:path>
              <a:path w="4002404" h="76200">
                <a:moveTo>
                  <a:pt x="3926204" y="31750"/>
                </a:moveTo>
                <a:lnTo>
                  <a:pt x="0" y="31750"/>
                </a:lnTo>
                <a:lnTo>
                  <a:pt x="0" y="44450"/>
                </a:lnTo>
                <a:lnTo>
                  <a:pt x="3926204" y="44450"/>
                </a:lnTo>
                <a:lnTo>
                  <a:pt x="3926204" y="31750"/>
                </a:lnTo>
                <a:close/>
              </a:path>
              <a:path w="4002404" h="76200">
                <a:moveTo>
                  <a:pt x="3989704" y="31750"/>
                </a:moveTo>
                <a:lnTo>
                  <a:pt x="3938904" y="31750"/>
                </a:lnTo>
                <a:lnTo>
                  <a:pt x="3938904" y="44450"/>
                </a:lnTo>
                <a:lnTo>
                  <a:pt x="3989704" y="44450"/>
                </a:lnTo>
                <a:lnTo>
                  <a:pt x="4002404" y="38100"/>
                </a:lnTo>
                <a:lnTo>
                  <a:pt x="3989704" y="31750"/>
                </a:lnTo>
                <a:close/>
              </a:path>
            </a:pathLst>
          </a:custGeom>
          <a:solidFill>
            <a:srgbClr val="000000"/>
          </a:solidFill>
        </p:spPr>
        <p:txBody>
          <a:bodyPr wrap="square" lIns="0" tIns="0" rIns="0" bIns="0" rtlCol="0"/>
          <a:lstStyle/>
          <a:p>
            <a:endParaRPr/>
          </a:p>
        </p:txBody>
      </p:sp>
      <p:sp>
        <p:nvSpPr>
          <p:cNvPr id="16" name="object 16"/>
          <p:cNvSpPr txBox="1"/>
          <p:nvPr/>
        </p:nvSpPr>
        <p:spPr>
          <a:xfrm>
            <a:off x="4008722" y="1141308"/>
            <a:ext cx="478155" cy="753110"/>
          </a:xfrm>
          <a:prstGeom prst="rect">
            <a:avLst/>
          </a:prstGeom>
        </p:spPr>
        <p:txBody>
          <a:bodyPr vert="horz" wrap="square" lIns="0" tIns="132715" rIns="0" bIns="0" rtlCol="0">
            <a:spAutoFit/>
          </a:bodyPr>
          <a:lstStyle/>
          <a:p>
            <a:pPr marL="12700">
              <a:lnSpc>
                <a:spcPct val="100000"/>
              </a:lnSpc>
              <a:spcBef>
                <a:spcPts val="1045"/>
              </a:spcBef>
            </a:pPr>
            <a:endParaRPr sz="1600" dirty="0">
              <a:latin typeface="Arial"/>
              <a:cs typeface="Arial"/>
            </a:endParaRPr>
          </a:p>
          <a:p>
            <a:pPr marL="12700">
              <a:lnSpc>
                <a:spcPct val="100000"/>
              </a:lnSpc>
              <a:spcBef>
                <a:spcPts val="944"/>
              </a:spcBef>
            </a:pPr>
            <a:r>
              <a:rPr lang="en-US" sz="1600" b="1" spc="-5" dirty="0">
                <a:latin typeface="Arial"/>
                <a:cs typeface="Arial"/>
              </a:rPr>
              <a:t>Apr</a:t>
            </a:r>
            <a:endParaRPr sz="1600" dirty="0">
              <a:latin typeface="Arial"/>
              <a:cs typeface="Arial"/>
            </a:endParaRPr>
          </a:p>
        </p:txBody>
      </p:sp>
      <p:sp>
        <p:nvSpPr>
          <p:cNvPr id="17" name="object 17"/>
          <p:cNvSpPr txBox="1"/>
          <p:nvPr/>
        </p:nvSpPr>
        <p:spPr>
          <a:xfrm>
            <a:off x="5096445" y="1616033"/>
            <a:ext cx="478154" cy="258404"/>
          </a:xfrm>
          <a:prstGeom prst="rect">
            <a:avLst/>
          </a:prstGeom>
        </p:spPr>
        <p:txBody>
          <a:bodyPr vert="horz" wrap="square" lIns="0" tIns="12065" rIns="0" bIns="0" rtlCol="0">
            <a:spAutoFit/>
          </a:bodyPr>
          <a:lstStyle/>
          <a:p>
            <a:pPr marL="12700">
              <a:lnSpc>
                <a:spcPct val="100000"/>
              </a:lnSpc>
              <a:spcBef>
                <a:spcPts val="95"/>
              </a:spcBef>
            </a:pPr>
            <a:r>
              <a:rPr lang="en-US" sz="1600" b="1" spc="-5" dirty="0">
                <a:latin typeface="Arial"/>
                <a:cs typeface="Arial"/>
              </a:rPr>
              <a:t>May</a:t>
            </a:r>
            <a:endParaRPr sz="1600" dirty="0">
              <a:latin typeface="Arial"/>
              <a:cs typeface="Arial"/>
            </a:endParaRPr>
          </a:p>
        </p:txBody>
      </p:sp>
      <p:sp>
        <p:nvSpPr>
          <p:cNvPr id="18" name="object 18"/>
          <p:cNvSpPr txBox="1"/>
          <p:nvPr/>
        </p:nvSpPr>
        <p:spPr>
          <a:xfrm>
            <a:off x="7339201" y="1616033"/>
            <a:ext cx="552195" cy="258404"/>
          </a:xfrm>
          <a:prstGeom prst="rect">
            <a:avLst/>
          </a:prstGeom>
        </p:spPr>
        <p:txBody>
          <a:bodyPr vert="horz" wrap="square" lIns="0" tIns="12065" rIns="0" bIns="0" rtlCol="0">
            <a:spAutoFit/>
          </a:bodyPr>
          <a:lstStyle/>
          <a:p>
            <a:pPr marL="12700">
              <a:lnSpc>
                <a:spcPct val="100000"/>
              </a:lnSpc>
              <a:spcBef>
                <a:spcPts val="95"/>
              </a:spcBef>
            </a:pPr>
            <a:r>
              <a:rPr lang="en-US" sz="1600" b="1" spc="-55" dirty="0">
                <a:latin typeface="Arial"/>
                <a:cs typeface="Arial"/>
              </a:rPr>
              <a:t>Jul</a:t>
            </a:r>
            <a:endParaRPr sz="1600" dirty="0">
              <a:latin typeface="Arial"/>
              <a:cs typeface="Arial"/>
            </a:endParaRPr>
          </a:p>
        </p:txBody>
      </p:sp>
      <p:sp>
        <p:nvSpPr>
          <p:cNvPr id="19" name="object 19"/>
          <p:cNvSpPr/>
          <p:nvPr/>
        </p:nvSpPr>
        <p:spPr>
          <a:xfrm>
            <a:off x="4237355" y="3810000"/>
            <a:ext cx="6629396" cy="488950"/>
          </a:xfrm>
          <a:custGeom>
            <a:avLst/>
            <a:gdLst/>
            <a:ahLst/>
            <a:cxnLst/>
            <a:rect l="l" t="t" r="r" b="b"/>
            <a:pathLst>
              <a:path w="8239125" h="488950">
                <a:moveTo>
                  <a:pt x="8089773" y="0"/>
                </a:moveTo>
                <a:lnTo>
                  <a:pt x="0" y="0"/>
                </a:lnTo>
                <a:lnTo>
                  <a:pt x="0" y="488950"/>
                </a:lnTo>
                <a:lnTo>
                  <a:pt x="8089773" y="488950"/>
                </a:lnTo>
                <a:lnTo>
                  <a:pt x="8238998" y="244475"/>
                </a:lnTo>
                <a:lnTo>
                  <a:pt x="8089773" y="0"/>
                </a:lnTo>
                <a:close/>
              </a:path>
            </a:pathLst>
          </a:custGeom>
          <a:solidFill>
            <a:srgbClr val="2151FF"/>
          </a:solidFill>
        </p:spPr>
        <p:txBody>
          <a:bodyPr wrap="square" lIns="0" tIns="0" rIns="0" bIns="0" rtlCol="0"/>
          <a:lstStyle/>
          <a:p>
            <a:endParaRPr/>
          </a:p>
        </p:txBody>
      </p:sp>
      <p:sp>
        <p:nvSpPr>
          <p:cNvPr id="20" name="object 20"/>
          <p:cNvSpPr/>
          <p:nvPr/>
        </p:nvSpPr>
        <p:spPr>
          <a:xfrm>
            <a:off x="4237355" y="3810000"/>
            <a:ext cx="6629396" cy="488950"/>
          </a:xfrm>
          <a:custGeom>
            <a:avLst/>
            <a:gdLst/>
            <a:ahLst/>
            <a:cxnLst/>
            <a:rect l="l" t="t" r="r" b="b"/>
            <a:pathLst>
              <a:path w="8239125" h="488950">
                <a:moveTo>
                  <a:pt x="0" y="0"/>
                </a:moveTo>
                <a:lnTo>
                  <a:pt x="8089773" y="0"/>
                </a:lnTo>
                <a:lnTo>
                  <a:pt x="8238998" y="244475"/>
                </a:lnTo>
                <a:lnTo>
                  <a:pt x="8089773" y="488950"/>
                </a:lnTo>
                <a:lnTo>
                  <a:pt x="0" y="488950"/>
                </a:lnTo>
                <a:lnTo>
                  <a:pt x="0" y="0"/>
                </a:lnTo>
                <a:close/>
              </a:path>
            </a:pathLst>
          </a:custGeom>
          <a:ln w="6350">
            <a:solidFill>
              <a:srgbClr val="2151FF"/>
            </a:solidFill>
          </a:ln>
        </p:spPr>
        <p:txBody>
          <a:bodyPr wrap="square" lIns="0" tIns="0" rIns="0" bIns="0" rtlCol="0"/>
          <a:lstStyle/>
          <a:p>
            <a:endParaRPr/>
          </a:p>
        </p:txBody>
      </p:sp>
      <p:sp>
        <p:nvSpPr>
          <p:cNvPr id="21" name="object 21"/>
          <p:cNvSpPr/>
          <p:nvPr/>
        </p:nvSpPr>
        <p:spPr>
          <a:xfrm>
            <a:off x="4237355" y="4406900"/>
            <a:ext cx="5181600" cy="488950"/>
          </a:xfrm>
          <a:custGeom>
            <a:avLst/>
            <a:gdLst/>
            <a:ahLst/>
            <a:cxnLst/>
            <a:rect l="l" t="t" r="r" b="b"/>
            <a:pathLst>
              <a:path w="6142355" h="488950">
                <a:moveTo>
                  <a:pt x="5993130" y="0"/>
                </a:moveTo>
                <a:lnTo>
                  <a:pt x="0" y="0"/>
                </a:lnTo>
                <a:lnTo>
                  <a:pt x="0" y="488950"/>
                </a:lnTo>
                <a:lnTo>
                  <a:pt x="5993130" y="488950"/>
                </a:lnTo>
                <a:lnTo>
                  <a:pt x="6142355" y="244475"/>
                </a:lnTo>
                <a:lnTo>
                  <a:pt x="5993130" y="0"/>
                </a:lnTo>
                <a:close/>
              </a:path>
            </a:pathLst>
          </a:custGeom>
          <a:solidFill>
            <a:srgbClr val="2151FF"/>
          </a:solidFill>
        </p:spPr>
        <p:txBody>
          <a:bodyPr wrap="square" lIns="0" tIns="0" rIns="0" bIns="0" rtlCol="0"/>
          <a:lstStyle/>
          <a:p>
            <a:endParaRPr lang="en-US" sz="1200" spc="-5" dirty="0">
              <a:solidFill>
                <a:srgbClr val="FFFFFF"/>
              </a:solidFill>
              <a:latin typeface="Arial"/>
              <a:cs typeface="Arial"/>
            </a:endParaRPr>
          </a:p>
          <a:p>
            <a:r>
              <a:rPr lang="en-US" sz="1200" spc="-5" dirty="0">
                <a:solidFill>
                  <a:srgbClr val="FFFFFF"/>
                </a:solidFill>
                <a:latin typeface="Arial"/>
                <a:cs typeface="Arial"/>
              </a:rPr>
              <a:t>Develop repossession framework and capabilities</a:t>
            </a:r>
            <a:endParaRPr sz="1200" spc="-5" dirty="0">
              <a:solidFill>
                <a:srgbClr val="FFFFFF"/>
              </a:solidFill>
              <a:latin typeface="Arial"/>
              <a:cs typeface="Arial"/>
            </a:endParaRPr>
          </a:p>
        </p:txBody>
      </p:sp>
      <p:sp>
        <p:nvSpPr>
          <p:cNvPr id="22" name="object 22"/>
          <p:cNvSpPr/>
          <p:nvPr/>
        </p:nvSpPr>
        <p:spPr>
          <a:xfrm>
            <a:off x="4237354" y="4406900"/>
            <a:ext cx="5172013" cy="488950"/>
          </a:xfrm>
          <a:custGeom>
            <a:avLst/>
            <a:gdLst/>
            <a:ahLst/>
            <a:cxnLst/>
            <a:rect l="l" t="t" r="r" b="b"/>
            <a:pathLst>
              <a:path w="6142355" h="488950">
                <a:moveTo>
                  <a:pt x="0" y="0"/>
                </a:moveTo>
                <a:lnTo>
                  <a:pt x="5993130" y="0"/>
                </a:lnTo>
                <a:lnTo>
                  <a:pt x="6142355" y="244475"/>
                </a:lnTo>
                <a:lnTo>
                  <a:pt x="5993130" y="488950"/>
                </a:lnTo>
                <a:lnTo>
                  <a:pt x="0" y="488950"/>
                </a:lnTo>
                <a:lnTo>
                  <a:pt x="0" y="0"/>
                </a:lnTo>
                <a:close/>
              </a:path>
            </a:pathLst>
          </a:custGeom>
          <a:ln w="6350">
            <a:solidFill>
              <a:srgbClr val="2151FF"/>
            </a:solidFill>
          </a:ln>
        </p:spPr>
        <p:txBody>
          <a:bodyPr wrap="square" lIns="0" tIns="0" rIns="0" bIns="0" rtlCol="0"/>
          <a:lstStyle/>
          <a:p>
            <a:endParaRPr/>
          </a:p>
        </p:txBody>
      </p:sp>
      <p:sp>
        <p:nvSpPr>
          <p:cNvPr id="25" name="object 25"/>
          <p:cNvSpPr/>
          <p:nvPr/>
        </p:nvSpPr>
        <p:spPr>
          <a:xfrm>
            <a:off x="1042970" y="2616454"/>
            <a:ext cx="2112472" cy="488950"/>
          </a:xfrm>
          <a:custGeom>
            <a:avLst/>
            <a:gdLst/>
            <a:ahLst/>
            <a:cxnLst/>
            <a:rect l="l" t="t" r="r" b="b"/>
            <a:pathLst>
              <a:path w="2731135" h="488950">
                <a:moveTo>
                  <a:pt x="2608580" y="0"/>
                </a:moveTo>
                <a:lnTo>
                  <a:pt x="0" y="0"/>
                </a:lnTo>
                <a:lnTo>
                  <a:pt x="0" y="488950"/>
                </a:lnTo>
                <a:lnTo>
                  <a:pt x="2608580" y="488950"/>
                </a:lnTo>
                <a:lnTo>
                  <a:pt x="2731008" y="244475"/>
                </a:lnTo>
                <a:lnTo>
                  <a:pt x="2608580" y="0"/>
                </a:lnTo>
                <a:close/>
              </a:path>
            </a:pathLst>
          </a:custGeom>
          <a:solidFill>
            <a:srgbClr val="00A9F4"/>
          </a:solidFill>
        </p:spPr>
        <p:txBody>
          <a:bodyPr wrap="square" lIns="0" tIns="0" rIns="0" bIns="0" rtlCol="0"/>
          <a:lstStyle/>
          <a:p>
            <a:endParaRPr/>
          </a:p>
        </p:txBody>
      </p:sp>
      <p:sp>
        <p:nvSpPr>
          <p:cNvPr id="26" name="object 26"/>
          <p:cNvSpPr/>
          <p:nvPr/>
        </p:nvSpPr>
        <p:spPr>
          <a:xfrm>
            <a:off x="1067434" y="2616454"/>
            <a:ext cx="2096389" cy="488950"/>
          </a:xfrm>
          <a:custGeom>
            <a:avLst/>
            <a:gdLst/>
            <a:ahLst/>
            <a:cxnLst/>
            <a:rect l="l" t="t" r="r" b="b"/>
            <a:pathLst>
              <a:path w="2731135" h="488950">
                <a:moveTo>
                  <a:pt x="0" y="0"/>
                </a:moveTo>
                <a:lnTo>
                  <a:pt x="2608580" y="0"/>
                </a:lnTo>
                <a:lnTo>
                  <a:pt x="2731008" y="244475"/>
                </a:lnTo>
                <a:lnTo>
                  <a:pt x="2608580" y="488950"/>
                </a:lnTo>
                <a:lnTo>
                  <a:pt x="0" y="488950"/>
                </a:lnTo>
                <a:lnTo>
                  <a:pt x="0" y="0"/>
                </a:lnTo>
                <a:close/>
              </a:path>
            </a:pathLst>
          </a:custGeom>
          <a:ln w="6350">
            <a:solidFill>
              <a:srgbClr val="00A9F4"/>
            </a:solidFill>
          </a:ln>
        </p:spPr>
        <p:txBody>
          <a:bodyPr wrap="square" lIns="0" tIns="0" rIns="0" bIns="0" rtlCol="0"/>
          <a:lstStyle/>
          <a:p>
            <a:endParaRPr/>
          </a:p>
        </p:txBody>
      </p:sp>
      <p:sp>
        <p:nvSpPr>
          <p:cNvPr id="27" name="object 27"/>
          <p:cNvSpPr txBox="1"/>
          <p:nvPr/>
        </p:nvSpPr>
        <p:spPr>
          <a:xfrm>
            <a:off x="1523829" y="2661284"/>
            <a:ext cx="1477814" cy="382156"/>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Arial"/>
                <a:cs typeface="Arial"/>
              </a:rPr>
              <a:t>Approve</a:t>
            </a:r>
            <a:r>
              <a:rPr sz="1200" spc="-30" dirty="0">
                <a:solidFill>
                  <a:srgbClr val="FFFFFF"/>
                </a:solidFill>
                <a:latin typeface="Arial"/>
                <a:cs typeface="Arial"/>
              </a:rPr>
              <a:t> </a:t>
            </a:r>
            <a:r>
              <a:rPr sz="1200" dirty="0">
                <a:solidFill>
                  <a:srgbClr val="FFFFFF"/>
                </a:solidFill>
                <a:latin typeface="Arial"/>
                <a:cs typeface="Arial"/>
              </a:rPr>
              <a:t>strategy</a:t>
            </a:r>
            <a:endParaRPr sz="1200" dirty="0">
              <a:latin typeface="Arial"/>
              <a:cs typeface="Arial"/>
            </a:endParaRPr>
          </a:p>
          <a:p>
            <a:pPr marL="12700">
              <a:lnSpc>
                <a:spcPct val="100000"/>
              </a:lnSpc>
            </a:pPr>
            <a:r>
              <a:rPr sz="1200" spc="-5" dirty="0">
                <a:solidFill>
                  <a:srgbClr val="FFFFFF"/>
                </a:solidFill>
                <a:latin typeface="Arial"/>
                <a:cs typeface="Arial"/>
              </a:rPr>
              <a:t>(CEO, ExBO,</a:t>
            </a:r>
            <a:r>
              <a:rPr sz="1200" spc="-10" dirty="0">
                <a:solidFill>
                  <a:srgbClr val="FFFFFF"/>
                </a:solidFill>
                <a:latin typeface="Arial"/>
                <a:cs typeface="Arial"/>
              </a:rPr>
              <a:t> </a:t>
            </a:r>
            <a:r>
              <a:rPr sz="1200" spc="-5" dirty="0">
                <a:solidFill>
                  <a:srgbClr val="FFFFFF"/>
                </a:solidFill>
                <a:latin typeface="Arial"/>
                <a:cs typeface="Arial"/>
              </a:rPr>
              <a:t>BRC)</a:t>
            </a:r>
            <a:endParaRPr sz="1200" dirty="0">
              <a:latin typeface="Arial"/>
              <a:cs typeface="Arial"/>
            </a:endParaRPr>
          </a:p>
        </p:txBody>
      </p:sp>
      <p:sp>
        <p:nvSpPr>
          <p:cNvPr id="30" name="object 30"/>
          <p:cNvSpPr txBox="1"/>
          <p:nvPr/>
        </p:nvSpPr>
        <p:spPr>
          <a:xfrm>
            <a:off x="1089280" y="1122197"/>
            <a:ext cx="651000" cy="1111202"/>
          </a:xfrm>
          <a:prstGeom prst="rect">
            <a:avLst/>
          </a:prstGeom>
        </p:spPr>
        <p:txBody>
          <a:bodyPr vert="horz" wrap="square" lIns="0" tIns="132715" rIns="0" bIns="0" rtlCol="0">
            <a:spAutoFit/>
          </a:bodyPr>
          <a:lstStyle/>
          <a:p>
            <a:pPr marL="12700">
              <a:lnSpc>
                <a:spcPct val="100000"/>
              </a:lnSpc>
              <a:spcBef>
                <a:spcPts val="1045"/>
              </a:spcBef>
            </a:pPr>
            <a:r>
              <a:rPr sz="1600" b="1" spc="-5" dirty="0">
                <a:latin typeface="Arial"/>
                <a:cs typeface="Arial"/>
              </a:rPr>
              <a:t>2</a:t>
            </a:r>
            <a:r>
              <a:rPr lang="el-GR" sz="1600" b="1" spc="-5" dirty="0">
                <a:latin typeface="Arial"/>
                <a:cs typeface="Arial"/>
              </a:rPr>
              <a:t>02</a:t>
            </a:r>
            <a:r>
              <a:rPr lang="en-US" sz="1600" b="1" spc="-5" dirty="0">
                <a:latin typeface="Arial"/>
                <a:cs typeface="Arial"/>
              </a:rPr>
              <a:t>6</a:t>
            </a:r>
          </a:p>
          <a:p>
            <a:pPr marL="12700">
              <a:lnSpc>
                <a:spcPct val="100000"/>
              </a:lnSpc>
              <a:spcBef>
                <a:spcPts val="944"/>
              </a:spcBef>
              <a:tabLst>
                <a:tab pos="1409065" algn="l"/>
              </a:tabLst>
            </a:pPr>
            <a:r>
              <a:rPr lang="en-US" sz="1600" b="1" spc="-10" dirty="0">
                <a:latin typeface="Arial"/>
                <a:cs typeface="Arial"/>
              </a:rPr>
              <a:t>Jan</a:t>
            </a:r>
            <a:r>
              <a:rPr lang="el-GR" sz="1200" spc="-45" dirty="0">
                <a:solidFill>
                  <a:srgbClr val="FFFFFF"/>
                </a:solidFill>
                <a:latin typeface="Arial"/>
                <a:cs typeface="Arial"/>
              </a:rPr>
              <a:t> </a:t>
            </a:r>
            <a:r>
              <a:rPr lang="en-US" sz="1200" spc="-5" dirty="0">
                <a:solidFill>
                  <a:srgbClr val="FFFFFF"/>
                </a:solidFill>
                <a:latin typeface="Arial"/>
                <a:cs typeface="Arial"/>
              </a:rPr>
              <a:t>stakeholders</a:t>
            </a:r>
            <a:endParaRPr lang="el-GR" sz="1200" dirty="0">
              <a:latin typeface="Arial"/>
              <a:cs typeface="Arial"/>
            </a:endParaRPr>
          </a:p>
        </p:txBody>
      </p:sp>
      <p:sp>
        <p:nvSpPr>
          <p:cNvPr id="31" name="object 31"/>
          <p:cNvSpPr/>
          <p:nvPr/>
        </p:nvSpPr>
        <p:spPr>
          <a:xfrm>
            <a:off x="4237355" y="5003672"/>
            <a:ext cx="4999354" cy="488950"/>
          </a:xfrm>
          <a:custGeom>
            <a:avLst/>
            <a:gdLst/>
            <a:ahLst/>
            <a:cxnLst/>
            <a:rect l="l" t="t" r="r" b="b"/>
            <a:pathLst>
              <a:path w="6142355" h="488950">
                <a:moveTo>
                  <a:pt x="5996305" y="0"/>
                </a:moveTo>
                <a:lnTo>
                  <a:pt x="0" y="0"/>
                </a:lnTo>
                <a:lnTo>
                  <a:pt x="0" y="488949"/>
                </a:lnTo>
                <a:lnTo>
                  <a:pt x="5996305" y="488949"/>
                </a:lnTo>
                <a:lnTo>
                  <a:pt x="6142355" y="244474"/>
                </a:lnTo>
                <a:lnTo>
                  <a:pt x="5996305" y="0"/>
                </a:lnTo>
                <a:close/>
              </a:path>
            </a:pathLst>
          </a:custGeom>
          <a:solidFill>
            <a:srgbClr val="2151FF"/>
          </a:solidFill>
        </p:spPr>
        <p:txBody>
          <a:bodyPr wrap="square" lIns="0" tIns="0" rIns="0" bIns="0" rtlCol="0"/>
          <a:lstStyle/>
          <a:p>
            <a:endParaRPr/>
          </a:p>
        </p:txBody>
      </p:sp>
      <p:sp>
        <p:nvSpPr>
          <p:cNvPr id="32" name="object 32"/>
          <p:cNvSpPr/>
          <p:nvPr/>
        </p:nvSpPr>
        <p:spPr>
          <a:xfrm>
            <a:off x="4237355" y="5003672"/>
            <a:ext cx="5172012" cy="488950"/>
          </a:xfrm>
          <a:custGeom>
            <a:avLst/>
            <a:gdLst/>
            <a:ahLst/>
            <a:cxnLst/>
            <a:rect l="l" t="t" r="r" b="b"/>
            <a:pathLst>
              <a:path w="6142355" h="488950">
                <a:moveTo>
                  <a:pt x="0" y="0"/>
                </a:moveTo>
                <a:lnTo>
                  <a:pt x="5996305" y="0"/>
                </a:lnTo>
                <a:lnTo>
                  <a:pt x="6142355" y="244474"/>
                </a:lnTo>
                <a:lnTo>
                  <a:pt x="5996305" y="488949"/>
                </a:lnTo>
                <a:lnTo>
                  <a:pt x="0" y="488949"/>
                </a:lnTo>
                <a:lnTo>
                  <a:pt x="0" y="0"/>
                </a:lnTo>
                <a:close/>
              </a:path>
            </a:pathLst>
          </a:custGeom>
          <a:ln w="6350">
            <a:solidFill>
              <a:srgbClr val="2151FF"/>
            </a:solidFill>
          </a:ln>
        </p:spPr>
        <p:txBody>
          <a:bodyPr wrap="square" lIns="0" tIns="0" rIns="0" bIns="0" rtlCol="0"/>
          <a:lstStyle/>
          <a:p>
            <a:endParaRPr/>
          </a:p>
        </p:txBody>
      </p:sp>
      <p:sp>
        <p:nvSpPr>
          <p:cNvPr id="33" name="object 33"/>
          <p:cNvSpPr txBox="1"/>
          <p:nvPr/>
        </p:nvSpPr>
        <p:spPr>
          <a:xfrm>
            <a:off x="4246942" y="3886200"/>
            <a:ext cx="7386696" cy="394980"/>
          </a:xfrm>
          <a:prstGeom prst="rect">
            <a:avLst/>
          </a:prstGeom>
        </p:spPr>
        <p:txBody>
          <a:bodyPr vert="horz" wrap="square" lIns="0" tIns="12700" rIns="0" bIns="0" rtlCol="0">
            <a:spAutoFit/>
          </a:bodyPr>
          <a:lstStyle/>
          <a:p>
            <a:pPr marL="12700">
              <a:lnSpc>
                <a:spcPct val="100000"/>
              </a:lnSpc>
              <a:spcBef>
                <a:spcPts val="100"/>
              </a:spcBef>
            </a:pPr>
            <a:r>
              <a:rPr lang="en-US" sz="1200" spc="-5" dirty="0">
                <a:solidFill>
                  <a:srgbClr val="FFFFFF"/>
                </a:solidFill>
                <a:latin typeface="Arial"/>
                <a:cs typeface="Arial"/>
              </a:rPr>
              <a:t> </a:t>
            </a:r>
            <a:r>
              <a:rPr sz="1200" spc="-5" dirty="0">
                <a:solidFill>
                  <a:srgbClr val="FFFFFF"/>
                </a:solidFill>
                <a:latin typeface="Arial"/>
                <a:cs typeface="Arial"/>
              </a:rPr>
              <a:t>Develop</a:t>
            </a:r>
            <a:r>
              <a:rPr sz="1200" spc="-20" dirty="0">
                <a:solidFill>
                  <a:srgbClr val="FFFFFF"/>
                </a:solidFill>
                <a:latin typeface="Arial"/>
                <a:cs typeface="Arial"/>
              </a:rPr>
              <a:t> </a:t>
            </a:r>
            <a:r>
              <a:rPr sz="1200" dirty="0">
                <a:solidFill>
                  <a:srgbClr val="FFFFFF"/>
                </a:solidFill>
                <a:latin typeface="Arial"/>
                <a:cs typeface="Arial"/>
              </a:rPr>
              <a:t>new</a:t>
            </a:r>
            <a:r>
              <a:rPr sz="1200" spc="-20" dirty="0">
                <a:solidFill>
                  <a:srgbClr val="FFFFFF"/>
                </a:solidFill>
                <a:latin typeface="Arial"/>
                <a:cs typeface="Arial"/>
              </a:rPr>
              <a:t> </a:t>
            </a:r>
            <a:r>
              <a:rPr sz="1200" dirty="0">
                <a:solidFill>
                  <a:srgbClr val="FFFFFF"/>
                </a:solidFill>
                <a:latin typeface="Arial"/>
                <a:cs typeface="Arial"/>
              </a:rPr>
              <a:t>products</a:t>
            </a:r>
            <a:r>
              <a:rPr sz="1200" spc="-20" dirty="0">
                <a:solidFill>
                  <a:srgbClr val="FFFFFF"/>
                </a:solidFill>
                <a:latin typeface="Arial"/>
                <a:cs typeface="Arial"/>
              </a:rPr>
              <a:t> </a:t>
            </a:r>
            <a:r>
              <a:rPr sz="1200" spc="-5" dirty="0">
                <a:solidFill>
                  <a:srgbClr val="FFFFFF"/>
                </a:solidFill>
                <a:latin typeface="Arial"/>
                <a:cs typeface="Arial"/>
              </a:rPr>
              <a:t>(e.g.</a:t>
            </a:r>
            <a:r>
              <a:rPr sz="1200" spc="5" dirty="0">
                <a:solidFill>
                  <a:srgbClr val="FFFFFF"/>
                </a:solidFill>
                <a:latin typeface="Arial"/>
                <a:cs typeface="Arial"/>
              </a:rPr>
              <a:t> </a:t>
            </a:r>
            <a:r>
              <a:rPr sz="1200" spc="-5" dirty="0">
                <a:solidFill>
                  <a:srgbClr val="FFFFFF"/>
                </a:solidFill>
                <a:latin typeface="Arial"/>
                <a:cs typeface="Arial"/>
              </a:rPr>
              <a:t>operating</a:t>
            </a:r>
            <a:r>
              <a:rPr sz="1200" spc="-45" dirty="0">
                <a:solidFill>
                  <a:srgbClr val="FFFFFF"/>
                </a:solidFill>
                <a:latin typeface="Arial"/>
                <a:cs typeface="Arial"/>
              </a:rPr>
              <a:t> </a:t>
            </a:r>
            <a:r>
              <a:rPr sz="1200" spc="-5" dirty="0">
                <a:solidFill>
                  <a:srgbClr val="FFFFFF"/>
                </a:solidFill>
                <a:latin typeface="Arial"/>
                <a:cs typeface="Arial"/>
              </a:rPr>
              <a:t>leasing,</a:t>
            </a:r>
            <a:r>
              <a:rPr sz="1200" spc="-15" dirty="0">
                <a:solidFill>
                  <a:srgbClr val="FFFFFF"/>
                </a:solidFill>
                <a:latin typeface="Arial"/>
                <a:cs typeface="Arial"/>
              </a:rPr>
              <a:t> </a:t>
            </a:r>
            <a:r>
              <a:rPr sz="1200" dirty="0">
                <a:solidFill>
                  <a:srgbClr val="FFFFFF"/>
                </a:solidFill>
                <a:latin typeface="Arial"/>
                <a:cs typeface="Arial"/>
              </a:rPr>
              <a:t>B2B</a:t>
            </a:r>
            <a:r>
              <a:rPr sz="1200" spc="-5" dirty="0">
                <a:solidFill>
                  <a:srgbClr val="FFFFFF"/>
                </a:solidFill>
                <a:latin typeface="Arial"/>
                <a:cs typeface="Arial"/>
              </a:rPr>
              <a:t> financing,</a:t>
            </a:r>
            <a:r>
              <a:rPr sz="1200" spc="-35" dirty="0">
                <a:solidFill>
                  <a:srgbClr val="FFFFFF"/>
                </a:solidFill>
                <a:latin typeface="Arial"/>
                <a:cs typeface="Arial"/>
              </a:rPr>
              <a:t> </a:t>
            </a:r>
            <a:r>
              <a:rPr sz="1200" spc="-5" dirty="0">
                <a:solidFill>
                  <a:srgbClr val="FFFFFF"/>
                </a:solidFill>
                <a:latin typeface="Arial"/>
                <a:cs typeface="Arial"/>
              </a:rPr>
              <a:t>balloon</a:t>
            </a:r>
            <a:r>
              <a:rPr sz="1200" spc="-40" dirty="0">
                <a:solidFill>
                  <a:srgbClr val="FFFFFF"/>
                </a:solidFill>
                <a:latin typeface="Arial"/>
                <a:cs typeface="Arial"/>
              </a:rPr>
              <a:t> </a:t>
            </a:r>
            <a:r>
              <a:rPr sz="1200" spc="-5" dirty="0">
                <a:solidFill>
                  <a:srgbClr val="FFFFFF"/>
                </a:solidFill>
                <a:latin typeface="Arial"/>
                <a:cs typeface="Arial"/>
              </a:rPr>
              <a:t>financing)</a:t>
            </a:r>
            <a:r>
              <a:rPr sz="1200" spc="-40" dirty="0">
                <a:solidFill>
                  <a:srgbClr val="FFFFFF"/>
                </a:solidFill>
                <a:latin typeface="Arial"/>
                <a:cs typeface="Arial"/>
              </a:rPr>
              <a:t> </a:t>
            </a:r>
            <a:endParaRPr lang="en-US" sz="1200" spc="-40" dirty="0">
              <a:solidFill>
                <a:srgbClr val="FFFFFF"/>
              </a:solidFill>
              <a:latin typeface="Arial"/>
              <a:cs typeface="Arial"/>
            </a:endParaRPr>
          </a:p>
          <a:p>
            <a:pPr marL="12700">
              <a:lnSpc>
                <a:spcPct val="100000"/>
              </a:lnSpc>
              <a:spcBef>
                <a:spcPts val="100"/>
              </a:spcBef>
            </a:pPr>
            <a:r>
              <a:rPr sz="1200" dirty="0">
                <a:solidFill>
                  <a:srgbClr val="FFFFFF"/>
                </a:solidFill>
                <a:latin typeface="Arial"/>
                <a:cs typeface="Arial"/>
              </a:rPr>
              <a:t>and</a:t>
            </a:r>
            <a:r>
              <a:rPr lang="en-US" sz="1200" dirty="0">
                <a:solidFill>
                  <a:srgbClr val="FFFFFF"/>
                </a:solidFill>
                <a:latin typeface="Arial"/>
                <a:cs typeface="Arial"/>
              </a:rPr>
              <a:t> </a:t>
            </a:r>
            <a:r>
              <a:rPr sz="1200" spc="-5" dirty="0">
                <a:solidFill>
                  <a:srgbClr val="FFFFFF"/>
                </a:solidFill>
                <a:latin typeface="Arial"/>
                <a:cs typeface="Arial"/>
              </a:rPr>
              <a:t>expand</a:t>
            </a:r>
            <a:r>
              <a:rPr sz="1200" spc="-30" dirty="0">
                <a:solidFill>
                  <a:srgbClr val="FFFFFF"/>
                </a:solidFill>
                <a:latin typeface="Arial"/>
                <a:cs typeface="Arial"/>
              </a:rPr>
              <a:t> </a:t>
            </a:r>
            <a:r>
              <a:rPr sz="1200" spc="-5" dirty="0">
                <a:solidFill>
                  <a:srgbClr val="FFFFFF"/>
                </a:solidFill>
                <a:latin typeface="Arial"/>
                <a:cs typeface="Arial"/>
              </a:rPr>
              <a:t>digital</a:t>
            </a:r>
            <a:r>
              <a:rPr sz="1200" spc="-10" dirty="0">
                <a:solidFill>
                  <a:srgbClr val="FFFFFF"/>
                </a:solidFill>
                <a:latin typeface="Arial"/>
                <a:cs typeface="Arial"/>
              </a:rPr>
              <a:t> </a:t>
            </a:r>
            <a:r>
              <a:rPr sz="1200" dirty="0">
                <a:solidFill>
                  <a:srgbClr val="FFFFFF"/>
                </a:solidFill>
                <a:latin typeface="Arial"/>
                <a:cs typeface="Arial"/>
              </a:rPr>
              <a:t>presence</a:t>
            </a:r>
            <a:endParaRPr sz="1200" dirty="0">
              <a:latin typeface="Arial"/>
              <a:cs typeface="Arial"/>
            </a:endParaRPr>
          </a:p>
        </p:txBody>
      </p:sp>
      <p:sp>
        <p:nvSpPr>
          <p:cNvPr id="34" name="object 34"/>
          <p:cNvSpPr/>
          <p:nvPr/>
        </p:nvSpPr>
        <p:spPr>
          <a:xfrm>
            <a:off x="3186310" y="3213226"/>
            <a:ext cx="2178932" cy="488950"/>
          </a:xfrm>
          <a:custGeom>
            <a:avLst/>
            <a:gdLst/>
            <a:ahLst/>
            <a:cxnLst/>
            <a:rect l="l" t="t" r="r" b="b"/>
            <a:pathLst>
              <a:path w="2774315" h="488950">
                <a:moveTo>
                  <a:pt x="2651506" y="0"/>
                </a:moveTo>
                <a:lnTo>
                  <a:pt x="0" y="0"/>
                </a:lnTo>
                <a:lnTo>
                  <a:pt x="0" y="488950"/>
                </a:lnTo>
                <a:lnTo>
                  <a:pt x="2651506" y="488950"/>
                </a:lnTo>
                <a:lnTo>
                  <a:pt x="2773934" y="244475"/>
                </a:lnTo>
                <a:lnTo>
                  <a:pt x="2651506" y="0"/>
                </a:lnTo>
                <a:close/>
              </a:path>
            </a:pathLst>
          </a:custGeom>
          <a:solidFill>
            <a:srgbClr val="2151FF"/>
          </a:solidFill>
        </p:spPr>
        <p:txBody>
          <a:bodyPr wrap="square" lIns="0" tIns="0" rIns="0" bIns="0" rtlCol="0"/>
          <a:lstStyle/>
          <a:p>
            <a:endParaRPr/>
          </a:p>
        </p:txBody>
      </p:sp>
      <p:sp>
        <p:nvSpPr>
          <p:cNvPr id="35" name="object 35"/>
          <p:cNvSpPr/>
          <p:nvPr/>
        </p:nvSpPr>
        <p:spPr>
          <a:xfrm>
            <a:off x="3186310" y="3213226"/>
            <a:ext cx="2178932" cy="488950"/>
          </a:xfrm>
          <a:custGeom>
            <a:avLst/>
            <a:gdLst/>
            <a:ahLst/>
            <a:cxnLst/>
            <a:rect l="l" t="t" r="r" b="b"/>
            <a:pathLst>
              <a:path w="2774315" h="488950">
                <a:moveTo>
                  <a:pt x="0" y="0"/>
                </a:moveTo>
                <a:lnTo>
                  <a:pt x="2651506" y="0"/>
                </a:lnTo>
                <a:lnTo>
                  <a:pt x="2773934" y="244475"/>
                </a:lnTo>
                <a:lnTo>
                  <a:pt x="2651506" y="488950"/>
                </a:lnTo>
                <a:lnTo>
                  <a:pt x="0" y="488950"/>
                </a:lnTo>
                <a:lnTo>
                  <a:pt x="0" y="0"/>
                </a:lnTo>
                <a:close/>
              </a:path>
            </a:pathLst>
          </a:custGeom>
          <a:ln w="6350">
            <a:solidFill>
              <a:srgbClr val="2151FF"/>
            </a:solidFill>
          </a:ln>
        </p:spPr>
        <p:txBody>
          <a:bodyPr wrap="square" lIns="0" tIns="0" rIns="0" bIns="0" rtlCol="0"/>
          <a:lstStyle/>
          <a:p>
            <a:endParaRPr/>
          </a:p>
        </p:txBody>
      </p:sp>
      <p:sp>
        <p:nvSpPr>
          <p:cNvPr id="36" name="object 36"/>
          <p:cNvSpPr txBox="1"/>
          <p:nvPr/>
        </p:nvSpPr>
        <p:spPr>
          <a:xfrm>
            <a:off x="3265175" y="3257753"/>
            <a:ext cx="1703705" cy="392430"/>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FFFFF"/>
                </a:solidFill>
                <a:latin typeface="Arial"/>
                <a:cs typeface="Arial"/>
              </a:rPr>
              <a:t>Include CAPEX and</a:t>
            </a:r>
            <a:r>
              <a:rPr sz="1200" spc="-125" dirty="0">
                <a:solidFill>
                  <a:srgbClr val="FFFFFF"/>
                </a:solidFill>
                <a:latin typeface="Arial"/>
                <a:cs typeface="Arial"/>
              </a:rPr>
              <a:t> </a:t>
            </a:r>
            <a:r>
              <a:rPr sz="1200" dirty="0">
                <a:solidFill>
                  <a:srgbClr val="FFFFFF"/>
                </a:solidFill>
                <a:latin typeface="Arial"/>
                <a:cs typeface="Arial"/>
              </a:rPr>
              <a:t>FTE</a:t>
            </a:r>
            <a:endParaRPr sz="1200">
              <a:latin typeface="Arial"/>
              <a:cs typeface="Arial"/>
            </a:endParaRPr>
          </a:p>
          <a:p>
            <a:pPr marL="12700">
              <a:lnSpc>
                <a:spcPct val="100000"/>
              </a:lnSpc>
              <a:spcBef>
                <a:spcPts val="5"/>
              </a:spcBef>
            </a:pPr>
            <a:r>
              <a:rPr sz="1200" dirty="0">
                <a:solidFill>
                  <a:srgbClr val="FFFFFF"/>
                </a:solidFill>
                <a:latin typeface="Arial"/>
                <a:cs typeface="Arial"/>
              </a:rPr>
              <a:t>needs </a:t>
            </a:r>
            <a:r>
              <a:rPr sz="1200" spc="-5" dirty="0">
                <a:solidFill>
                  <a:srgbClr val="FFFFFF"/>
                </a:solidFill>
                <a:latin typeface="Arial"/>
                <a:cs typeface="Arial"/>
              </a:rPr>
              <a:t>in </a:t>
            </a:r>
            <a:r>
              <a:rPr sz="1200" dirty="0">
                <a:solidFill>
                  <a:srgbClr val="FFFFFF"/>
                </a:solidFill>
                <a:latin typeface="Arial"/>
                <a:cs typeface="Arial"/>
              </a:rPr>
              <a:t>2026</a:t>
            </a:r>
            <a:r>
              <a:rPr sz="1200" spc="-90" dirty="0">
                <a:solidFill>
                  <a:srgbClr val="FFFFFF"/>
                </a:solidFill>
                <a:latin typeface="Arial"/>
                <a:cs typeface="Arial"/>
              </a:rPr>
              <a:t> </a:t>
            </a:r>
            <a:r>
              <a:rPr sz="1200" dirty="0">
                <a:solidFill>
                  <a:srgbClr val="FFFFFF"/>
                </a:solidFill>
                <a:latin typeface="Arial"/>
                <a:cs typeface="Arial"/>
              </a:rPr>
              <a:t>budget</a:t>
            </a:r>
            <a:endParaRPr sz="1200">
              <a:latin typeface="Arial"/>
              <a:cs typeface="Arial"/>
            </a:endParaRPr>
          </a:p>
        </p:txBody>
      </p:sp>
      <p:sp>
        <p:nvSpPr>
          <p:cNvPr id="37" name="object 37"/>
          <p:cNvSpPr/>
          <p:nvPr/>
        </p:nvSpPr>
        <p:spPr>
          <a:xfrm>
            <a:off x="5456554" y="3213226"/>
            <a:ext cx="3211448" cy="488950"/>
          </a:xfrm>
          <a:custGeom>
            <a:avLst/>
            <a:gdLst/>
            <a:ahLst/>
            <a:cxnLst/>
            <a:rect l="l" t="t" r="r" b="b"/>
            <a:pathLst>
              <a:path w="4507230" h="488950">
                <a:moveTo>
                  <a:pt x="4384675" y="0"/>
                </a:moveTo>
                <a:lnTo>
                  <a:pt x="0" y="0"/>
                </a:lnTo>
                <a:lnTo>
                  <a:pt x="0" y="488950"/>
                </a:lnTo>
                <a:lnTo>
                  <a:pt x="4384675" y="488950"/>
                </a:lnTo>
                <a:lnTo>
                  <a:pt x="4507103" y="244475"/>
                </a:lnTo>
                <a:lnTo>
                  <a:pt x="4384675" y="0"/>
                </a:lnTo>
                <a:close/>
              </a:path>
            </a:pathLst>
          </a:custGeom>
          <a:solidFill>
            <a:srgbClr val="2151FF"/>
          </a:solidFill>
        </p:spPr>
        <p:txBody>
          <a:bodyPr wrap="square" lIns="0" tIns="0" rIns="0" bIns="0" rtlCol="0"/>
          <a:lstStyle/>
          <a:p>
            <a:endParaRPr/>
          </a:p>
        </p:txBody>
      </p:sp>
      <p:sp>
        <p:nvSpPr>
          <p:cNvPr id="38" name="object 38"/>
          <p:cNvSpPr/>
          <p:nvPr/>
        </p:nvSpPr>
        <p:spPr>
          <a:xfrm>
            <a:off x="5456554" y="3213226"/>
            <a:ext cx="3200399" cy="488950"/>
          </a:xfrm>
          <a:custGeom>
            <a:avLst/>
            <a:gdLst/>
            <a:ahLst/>
            <a:cxnLst/>
            <a:rect l="l" t="t" r="r" b="b"/>
            <a:pathLst>
              <a:path w="4507230" h="488950">
                <a:moveTo>
                  <a:pt x="0" y="0"/>
                </a:moveTo>
                <a:lnTo>
                  <a:pt x="4384675" y="0"/>
                </a:lnTo>
                <a:lnTo>
                  <a:pt x="4507103" y="244475"/>
                </a:lnTo>
                <a:lnTo>
                  <a:pt x="4384675" y="488950"/>
                </a:lnTo>
                <a:lnTo>
                  <a:pt x="0" y="488950"/>
                </a:lnTo>
                <a:lnTo>
                  <a:pt x="0" y="0"/>
                </a:lnTo>
                <a:close/>
              </a:path>
            </a:pathLst>
          </a:custGeom>
          <a:ln w="6350">
            <a:solidFill>
              <a:srgbClr val="2151FF"/>
            </a:solidFill>
          </a:ln>
        </p:spPr>
        <p:txBody>
          <a:bodyPr wrap="square" lIns="0" tIns="0" rIns="0" bIns="0" rtlCol="0"/>
          <a:lstStyle/>
          <a:p>
            <a:endParaRPr/>
          </a:p>
        </p:txBody>
      </p:sp>
      <p:sp>
        <p:nvSpPr>
          <p:cNvPr id="39" name="object 39"/>
          <p:cNvSpPr txBox="1"/>
          <p:nvPr/>
        </p:nvSpPr>
        <p:spPr>
          <a:xfrm>
            <a:off x="5535803" y="3349193"/>
            <a:ext cx="2272030" cy="208915"/>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Arial"/>
                <a:cs typeface="Arial"/>
              </a:rPr>
              <a:t>Initiate hiring </a:t>
            </a:r>
            <a:r>
              <a:rPr sz="1200" dirty="0">
                <a:solidFill>
                  <a:srgbClr val="FFFFFF"/>
                </a:solidFill>
                <a:latin typeface="Arial"/>
                <a:cs typeface="Arial"/>
              </a:rPr>
              <a:t>and IT</a:t>
            </a:r>
            <a:r>
              <a:rPr sz="1200" spc="-110" dirty="0">
                <a:solidFill>
                  <a:srgbClr val="FFFFFF"/>
                </a:solidFill>
                <a:latin typeface="Arial"/>
                <a:cs typeface="Arial"/>
              </a:rPr>
              <a:t> </a:t>
            </a:r>
            <a:r>
              <a:rPr sz="1200" spc="-5" dirty="0">
                <a:solidFill>
                  <a:srgbClr val="FFFFFF"/>
                </a:solidFill>
                <a:latin typeface="Arial"/>
                <a:cs typeface="Arial"/>
              </a:rPr>
              <a:t>development</a:t>
            </a:r>
            <a:endParaRPr sz="1200">
              <a:latin typeface="Arial"/>
              <a:cs typeface="Arial"/>
            </a:endParaRPr>
          </a:p>
        </p:txBody>
      </p:sp>
      <p:sp>
        <p:nvSpPr>
          <p:cNvPr id="40" name="object 40"/>
          <p:cNvSpPr txBox="1"/>
          <p:nvPr/>
        </p:nvSpPr>
        <p:spPr>
          <a:xfrm>
            <a:off x="7620128" y="1211960"/>
            <a:ext cx="59372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Strategy</a:t>
            </a:r>
            <a:endParaRPr sz="1200" dirty="0">
              <a:latin typeface="Arial"/>
              <a:cs typeface="Arial"/>
            </a:endParaRPr>
          </a:p>
        </p:txBody>
      </p:sp>
      <p:sp>
        <p:nvSpPr>
          <p:cNvPr id="41" name="object 41"/>
          <p:cNvSpPr txBox="1"/>
          <p:nvPr/>
        </p:nvSpPr>
        <p:spPr>
          <a:xfrm>
            <a:off x="8636382" y="1211960"/>
            <a:ext cx="127825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Prepare for</a:t>
            </a:r>
            <a:r>
              <a:rPr sz="1200" spc="-105" dirty="0">
                <a:latin typeface="Arial"/>
                <a:cs typeface="Arial"/>
              </a:rPr>
              <a:t> </a:t>
            </a:r>
            <a:r>
              <a:rPr sz="1200" spc="-5" dirty="0">
                <a:latin typeface="Arial"/>
                <a:cs typeface="Arial"/>
              </a:rPr>
              <a:t>launch</a:t>
            </a:r>
            <a:endParaRPr sz="1200" dirty="0">
              <a:latin typeface="Arial"/>
              <a:cs typeface="Arial"/>
            </a:endParaRPr>
          </a:p>
        </p:txBody>
      </p:sp>
      <p:sp>
        <p:nvSpPr>
          <p:cNvPr id="42" name="object 42"/>
          <p:cNvSpPr/>
          <p:nvPr/>
        </p:nvSpPr>
        <p:spPr>
          <a:xfrm>
            <a:off x="8331328" y="1228978"/>
            <a:ext cx="241300" cy="184785"/>
          </a:xfrm>
          <a:custGeom>
            <a:avLst/>
            <a:gdLst/>
            <a:ahLst/>
            <a:cxnLst/>
            <a:rect l="l" t="t" r="r" b="b"/>
            <a:pathLst>
              <a:path w="241300" h="184784">
                <a:moveTo>
                  <a:pt x="194055" y="0"/>
                </a:moveTo>
                <a:lnTo>
                  <a:pt x="0" y="0"/>
                </a:lnTo>
                <a:lnTo>
                  <a:pt x="0" y="184658"/>
                </a:lnTo>
                <a:lnTo>
                  <a:pt x="194055" y="184658"/>
                </a:lnTo>
                <a:lnTo>
                  <a:pt x="240918" y="92329"/>
                </a:lnTo>
                <a:lnTo>
                  <a:pt x="194055" y="0"/>
                </a:lnTo>
                <a:close/>
              </a:path>
            </a:pathLst>
          </a:custGeom>
          <a:solidFill>
            <a:srgbClr val="2151FF"/>
          </a:solidFill>
        </p:spPr>
        <p:txBody>
          <a:bodyPr wrap="square" lIns="0" tIns="0" rIns="0" bIns="0" rtlCol="0"/>
          <a:lstStyle/>
          <a:p>
            <a:endParaRPr/>
          </a:p>
        </p:txBody>
      </p:sp>
      <p:sp>
        <p:nvSpPr>
          <p:cNvPr id="43" name="object 43"/>
          <p:cNvSpPr txBox="1"/>
          <p:nvPr/>
        </p:nvSpPr>
        <p:spPr>
          <a:xfrm>
            <a:off x="10341992" y="1211960"/>
            <a:ext cx="49720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Go</a:t>
            </a:r>
            <a:r>
              <a:rPr sz="1200" spc="-70" dirty="0">
                <a:latin typeface="Arial"/>
                <a:cs typeface="Arial"/>
              </a:rPr>
              <a:t> </a:t>
            </a:r>
            <a:r>
              <a:rPr sz="1200" spc="-10" dirty="0">
                <a:latin typeface="Arial"/>
                <a:cs typeface="Arial"/>
              </a:rPr>
              <a:t>live</a:t>
            </a:r>
            <a:endParaRPr sz="1200">
              <a:latin typeface="Arial"/>
              <a:cs typeface="Arial"/>
            </a:endParaRPr>
          </a:p>
        </p:txBody>
      </p:sp>
      <p:sp>
        <p:nvSpPr>
          <p:cNvPr id="44" name="object 44"/>
          <p:cNvSpPr/>
          <p:nvPr/>
        </p:nvSpPr>
        <p:spPr>
          <a:xfrm>
            <a:off x="10093960" y="1228966"/>
            <a:ext cx="184150" cy="184785"/>
          </a:xfrm>
          <a:custGeom>
            <a:avLst/>
            <a:gdLst/>
            <a:ahLst/>
            <a:cxnLst/>
            <a:rect l="l" t="t" r="r" b="b"/>
            <a:pathLst>
              <a:path w="184150" h="184784">
                <a:moveTo>
                  <a:pt x="0" y="184670"/>
                </a:moveTo>
                <a:lnTo>
                  <a:pt x="183603" y="184670"/>
                </a:lnTo>
                <a:lnTo>
                  <a:pt x="183603" y="0"/>
                </a:lnTo>
                <a:lnTo>
                  <a:pt x="0" y="0"/>
                </a:lnTo>
                <a:lnTo>
                  <a:pt x="0" y="184670"/>
                </a:lnTo>
                <a:close/>
              </a:path>
            </a:pathLst>
          </a:custGeom>
          <a:solidFill>
            <a:srgbClr val="051F79"/>
          </a:solidFill>
        </p:spPr>
        <p:txBody>
          <a:bodyPr wrap="square" lIns="0" tIns="0" rIns="0" bIns="0" rtlCol="0"/>
          <a:lstStyle/>
          <a:p>
            <a:endParaRPr/>
          </a:p>
        </p:txBody>
      </p:sp>
      <p:sp>
        <p:nvSpPr>
          <p:cNvPr id="45" name="object 45"/>
          <p:cNvSpPr/>
          <p:nvPr/>
        </p:nvSpPr>
        <p:spPr>
          <a:xfrm>
            <a:off x="7315200" y="1228978"/>
            <a:ext cx="241300" cy="184785"/>
          </a:xfrm>
          <a:custGeom>
            <a:avLst/>
            <a:gdLst/>
            <a:ahLst/>
            <a:cxnLst/>
            <a:rect l="l" t="t" r="r" b="b"/>
            <a:pathLst>
              <a:path w="241300" h="184784">
                <a:moveTo>
                  <a:pt x="194183" y="0"/>
                </a:moveTo>
                <a:lnTo>
                  <a:pt x="0" y="0"/>
                </a:lnTo>
                <a:lnTo>
                  <a:pt x="0" y="184658"/>
                </a:lnTo>
                <a:lnTo>
                  <a:pt x="194183" y="184658"/>
                </a:lnTo>
                <a:lnTo>
                  <a:pt x="241046" y="92329"/>
                </a:lnTo>
                <a:lnTo>
                  <a:pt x="194183" y="0"/>
                </a:lnTo>
                <a:close/>
              </a:path>
            </a:pathLst>
          </a:custGeom>
          <a:solidFill>
            <a:srgbClr val="00A9F4"/>
          </a:solidFill>
        </p:spPr>
        <p:txBody>
          <a:bodyPr wrap="square" lIns="0" tIns="0" rIns="0" bIns="0" rtlCol="0"/>
          <a:lstStyle/>
          <a:p>
            <a:endParaRPr/>
          </a:p>
        </p:txBody>
      </p:sp>
      <p:sp>
        <p:nvSpPr>
          <p:cNvPr id="46" name="object 46"/>
          <p:cNvSpPr/>
          <p:nvPr/>
        </p:nvSpPr>
        <p:spPr>
          <a:xfrm>
            <a:off x="0" y="2898043"/>
            <a:ext cx="4246182" cy="3959953"/>
          </a:xfrm>
          <a:prstGeom prst="rect">
            <a:avLst/>
          </a:prstGeom>
          <a:blipFill>
            <a:blip r:embed="rId3" cstate="print"/>
            <a:stretch>
              <a:fillRect/>
            </a:stretch>
          </a:blipFill>
        </p:spPr>
        <p:txBody>
          <a:bodyPr wrap="square" lIns="0" tIns="0" rIns="0" bIns="0" rtlCol="0"/>
          <a:lstStyle/>
          <a:p>
            <a:endParaRPr/>
          </a:p>
        </p:txBody>
      </p:sp>
      <p:sp>
        <p:nvSpPr>
          <p:cNvPr id="48" name="object 48"/>
          <p:cNvSpPr txBox="1">
            <a:spLocks noGrp="1"/>
          </p:cNvSpPr>
          <p:nvPr>
            <p:ph type="sldNum" sz="quarter" idx="7"/>
          </p:nvPr>
        </p:nvSpPr>
        <p:spPr>
          <a:xfrm>
            <a:off x="11473942" y="6496463"/>
            <a:ext cx="204470" cy="140423"/>
          </a:xfrm>
          <a:prstGeom prst="rect">
            <a:avLst/>
          </a:prstGeom>
        </p:spPr>
        <p:txBody>
          <a:bodyPr vert="horz" wrap="square" lIns="0" tIns="1905" rIns="0" bIns="0" rtlCol="0">
            <a:spAutoFit/>
          </a:bodyPr>
          <a:lstStyle/>
          <a:p>
            <a:pPr marL="38100">
              <a:lnSpc>
                <a:spcPct val="100000"/>
              </a:lnSpc>
              <a:spcBef>
                <a:spcPts val="15"/>
              </a:spcBef>
            </a:pPr>
            <a:r>
              <a:rPr lang="en-US" dirty="0"/>
              <a:t>12</a:t>
            </a:r>
            <a:endParaRPr dirty="0"/>
          </a:p>
        </p:txBody>
      </p:sp>
      <p:sp>
        <p:nvSpPr>
          <p:cNvPr id="51" name="object 13">
            <a:extLst>
              <a:ext uri="{FF2B5EF4-FFF2-40B4-BE49-F238E27FC236}">
                <a16:creationId xmlns:a16="http://schemas.microsoft.com/office/drawing/2014/main" id="{0D3FB8A4-6DE0-30B5-0C04-37F145BD7B7A}"/>
              </a:ext>
            </a:extLst>
          </p:cNvPr>
          <p:cNvSpPr txBox="1"/>
          <p:nvPr/>
        </p:nvSpPr>
        <p:spPr>
          <a:xfrm>
            <a:off x="9474233" y="1616033"/>
            <a:ext cx="630809" cy="258404"/>
          </a:xfrm>
          <a:prstGeom prst="rect">
            <a:avLst/>
          </a:prstGeom>
        </p:spPr>
        <p:txBody>
          <a:bodyPr vert="horz" wrap="square" lIns="0" tIns="12065" rIns="0" bIns="0" rtlCol="0">
            <a:spAutoFit/>
          </a:bodyPr>
          <a:lstStyle/>
          <a:p>
            <a:pPr marL="12700">
              <a:lnSpc>
                <a:spcPct val="100000"/>
              </a:lnSpc>
              <a:spcBef>
                <a:spcPts val="95"/>
              </a:spcBef>
            </a:pPr>
            <a:r>
              <a:rPr lang="en-US" sz="1600" b="1" spc="-5" dirty="0">
                <a:latin typeface="Arial"/>
                <a:cs typeface="Arial"/>
              </a:rPr>
              <a:t>Sept</a:t>
            </a:r>
            <a:endParaRPr sz="1600" dirty="0">
              <a:latin typeface="Arial"/>
              <a:cs typeface="Arial"/>
            </a:endParaRPr>
          </a:p>
        </p:txBody>
      </p:sp>
      <p:sp>
        <p:nvSpPr>
          <p:cNvPr id="52" name="object 10">
            <a:extLst>
              <a:ext uri="{FF2B5EF4-FFF2-40B4-BE49-F238E27FC236}">
                <a16:creationId xmlns:a16="http://schemas.microsoft.com/office/drawing/2014/main" id="{0AF05513-8E9B-ECE9-F4D0-0A4E84D6C005}"/>
              </a:ext>
            </a:extLst>
          </p:cNvPr>
          <p:cNvSpPr/>
          <p:nvPr/>
        </p:nvSpPr>
        <p:spPr>
          <a:xfrm flipH="1">
            <a:off x="9678035" y="1923097"/>
            <a:ext cx="45719" cy="4317683"/>
          </a:xfrm>
          <a:custGeom>
            <a:avLst/>
            <a:gdLst/>
            <a:ahLst/>
            <a:cxnLst/>
            <a:rect l="l" t="t" r="r" b="b"/>
            <a:pathLst>
              <a:path h="3679190">
                <a:moveTo>
                  <a:pt x="0" y="0"/>
                </a:moveTo>
                <a:lnTo>
                  <a:pt x="0" y="3678923"/>
                </a:lnTo>
              </a:path>
            </a:pathLst>
          </a:custGeom>
          <a:ln w="6350">
            <a:solidFill>
              <a:srgbClr val="B3B3B3"/>
            </a:solidFill>
            <a:prstDash val="sysDash"/>
          </a:ln>
        </p:spPr>
        <p:txBody>
          <a:bodyPr wrap="square" lIns="0" tIns="0" rIns="0" bIns="0" rtlCol="0"/>
          <a:lstStyle/>
          <a:p>
            <a:endParaRPr/>
          </a:p>
        </p:txBody>
      </p:sp>
      <p:sp>
        <p:nvSpPr>
          <p:cNvPr id="53" name="object 4">
            <a:extLst>
              <a:ext uri="{FF2B5EF4-FFF2-40B4-BE49-F238E27FC236}">
                <a16:creationId xmlns:a16="http://schemas.microsoft.com/office/drawing/2014/main" id="{0A4152CB-718C-342B-FBBB-3AD907926338}"/>
              </a:ext>
            </a:extLst>
          </p:cNvPr>
          <p:cNvSpPr/>
          <p:nvPr/>
        </p:nvSpPr>
        <p:spPr>
          <a:xfrm>
            <a:off x="1036954" y="1905000"/>
            <a:ext cx="0" cy="4319270"/>
          </a:xfrm>
          <a:custGeom>
            <a:avLst/>
            <a:gdLst/>
            <a:ahLst/>
            <a:cxnLst/>
            <a:rect l="l" t="t" r="r" b="b"/>
            <a:pathLst>
              <a:path h="4319270">
                <a:moveTo>
                  <a:pt x="0" y="0"/>
                </a:moveTo>
                <a:lnTo>
                  <a:pt x="0" y="4319028"/>
                </a:lnTo>
              </a:path>
            </a:pathLst>
          </a:custGeom>
          <a:ln w="6350">
            <a:solidFill>
              <a:srgbClr val="B3B3B3"/>
            </a:solidFill>
            <a:prstDash val="sysDash"/>
          </a:ln>
        </p:spPr>
        <p:txBody>
          <a:bodyPr wrap="square" lIns="0" tIns="0" rIns="0" bIns="0" rtlCol="0"/>
          <a:lstStyle/>
          <a:p>
            <a:endParaRPr/>
          </a:p>
        </p:txBody>
      </p:sp>
      <p:sp>
        <p:nvSpPr>
          <p:cNvPr id="54" name="object 21">
            <a:extLst>
              <a:ext uri="{FF2B5EF4-FFF2-40B4-BE49-F238E27FC236}">
                <a16:creationId xmlns:a16="http://schemas.microsoft.com/office/drawing/2014/main" id="{C5D746A1-1182-4401-76A3-1A352F4B7C99}"/>
              </a:ext>
            </a:extLst>
          </p:cNvPr>
          <p:cNvSpPr/>
          <p:nvPr/>
        </p:nvSpPr>
        <p:spPr>
          <a:xfrm>
            <a:off x="4246943" y="4986432"/>
            <a:ext cx="5172012" cy="544621"/>
          </a:xfrm>
          <a:custGeom>
            <a:avLst/>
            <a:gdLst/>
            <a:ahLst/>
            <a:cxnLst/>
            <a:rect l="l" t="t" r="r" b="b"/>
            <a:pathLst>
              <a:path w="6142355" h="488950">
                <a:moveTo>
                  <a:pt x="5993130" y="0"/>
                </a:moveTo>
                <a:lnTo>
                  <a:pt x="0" y="0"/>
                </a:lnTo>
                <a:lnTo>
                  <a:pt x="0" y="488950"/>
                </a:lnTo>
                <a:lnTo>
                  <a:pt x="5993130" y="488950"/>
                </a:lnTo>
                <a:lnTo>
                  <a:pt x="6142355" y="244475"/>
                </a:lnTo>
                <a:lnTo>
                  <a:pt x="5993130" y="0"/>
                </a:lnTo>
                <a:close/>
              </a:path>
            </a:pathLst>
          </a:custGeom>
          <a:solidFill>
            <a:srgbClr val="2151FF"/>
          </a:solidFill>
        </p:spPr>
        <p:txBody>
          <a:bodyPr wrap="square" lIns="0" tIns="0" rIns="0" bIns="0" rtlCol="0"/>
          <a:lstStyle/>
          <a:p>
            <a:endParaRPr lang="en-US" sz="1200" spc="-5" dirty="0">
              <a:solidFill>
                <a:srgbClr val="FFFFFF"/>
              </a:solidFill>
              <a:latin typeface="Arial"/>
              <a:cs typeface="Arial"/>
            </a:endParaRPr>
          </a:p>
          <a:p>
            <a:r>
              <a:rPr lang="en-US" sz="1200" spc="-5" dirty="0">
                <a:solidFill>
                  <a:srgbClr val="FFFFFF"/>
                </a:solidFill>
                <a:latin typeface="Arial"/>
                <a:cs typeface="Arial"/>
              </a:rPr>
              <a:t>Review and adjust credit policy</a:t>
            </a:r>
            <a:endParaRPr sz="1200" spc="-5" dirty="0">
              <a:solidFill>
                <a:srgbClr val="FFFFFF"/>
              </a:solidFill>
              <a:latin typeface="Arial"/>
              <a:cs typeface="Arial"/>
            </a:endParaRPr>
          </a:p>
        </p:txBody>
      </p:sp>
      <p:cxnSp>
        <p:nvCxnSpPr>
          <p:cNvPr id="56" name="Straight Connector 55">
            <a:extLst>
              <a:ext uri="{FF2B5EF4-FFF2-40B4-BE49-F238E27FC236}">
                <a16:creationId xmlns:a16="http://schemas.microsoft.com/office/drawing/2014/main" id="{8A383CFA-9913-11D2-04D8-682EB2AF994E}"/>
              </a:ext>
            </a:extLst>
          </p:cNvPr>
          <p:cNvCxnSpPr>
            <a:cxnSpLocks/>
            <a:endCxn id="61" idx="2"/>
          </p:cNvCxnSpPr>
          <p:nvPr/>
        </p:nvCxnSpPr>
        <p:spPr>
          <a:xfrm flipV="1">
            <a:off x="1036954" y="1874437"/>
            <a:ext cx="9906763" cy="30563"/>
          </a:xfrm>
          <a:prstGeom prst="line">
            <a:avLst/>
          </a:prstGeom>
        </p:spPr>
        <p:style>
          <a:lnRef idx="1">
            <a:schemeClr val="accent1"/>
          </a:lnRef>
          <a:fillRef idx="0">
            <a:schemeClr val="accent1"/>
          </a:fillRef>
          <a:effectRef idx="0">
            <a:schemeClr val="accent1"/>
          </a:effectRef>
          <a:fontRef idx="minor">
            <a:schemeClr val="tx1"/>
          </a:fontRef>
        </p:style>
      </p:cxnSp>
      <p:sp>
        <p:nvSpPr>
          <p:cNvPr id="57" name="object 10">
            <a:extLst>
              <a:ext uri="{FF2B5EF4-FFF2-40B4-BE49-F238E27FC236}">
                <a16:creationId xmlns:a16="http://schemas.microsoft.com/office/drawing/2014/main" id="{9B19E9F7-605D-11DD-2BB4-8037BC89C721}"/>
              </a:ext>
            </a:extLst>
          </p:cNvPr>
          <p:cNvSpPr/>
          <p:nvPr/>
        </p:nvSpPr>
        <p:spPr>
          <a:xfrm>
            <a:off x="10942953" y="1905000"/>
            <a:ext cx="45719" cy="4317683"/>
          </a:xfrm>
          <a:custGeom>
            <a:avLst/>
            <a:gdLst/>
            <a:ahLst/>
            <a:cxnLst/>
            <a:rect l="l" t="t" r="r" b="b"/>
            <a:pathLst>
              <a:path h="3679190">
                <a:moveTo>
                  <a:pt x="0" y="0"/>
                </a:moveTo>
                <a:lnTo>
                  <a:pt x="0" y="3678923"/>
                </a:lnTo>
              </a:path>
            </a:pathLst>
          </a:custGeom>
          <a:ln w="6350">
            <a:solidFill>
              <a:srgbClr val="B3B3B3"/>
            </a:solidFill>
            <a:prstDash val="sysDash"/>
          </a:ln>
        </p:spPr>
        <p:txBody>
          <a:bodyPr wrap="square" lIns="0" tIns="0" rIns="0" bIns="0" rtlCol="0"/>
          <a:lstStyle/>
          <a:p>
            <a:endParaRPr/>
          </a:p>
        </p:txBody>
      </p:sp>
      <p:sp>
        <p:nvSpPr>
          <p:cNvPr id="60" name="object 11">
            <a:extLst>
              <a:ext uri="{FF2B5EF4-FFF2-40B4-BE49-F238E27FC236}">
                <a16:creationId xmlns:a16="http://schemas.microsoft.com/office/drawing/2014/main" id="{B392FD9A-B22B-A5FC-650A-0D0CCB58EB9A}"/>
              </a:ext>
            </a:extLst>
          </p:cNvPr>
          <p:cNvSpPr txBox="1"/>
          <p:nvPr/>
        </p:nvSpPr>
        <p:spPr>
          <a:xfrm>
            <a:off x="1933637" y="1622971"/>
            <a:ext cx="397510" cy="258404"/>
          </a:xfrm>
          <a:prstGeom prst="rect">
            <a:avLst/>
          </a:prstGeom>
        </p:spPr>
        <p:txBody>
          <a:bodyPr vert="horz" wrap="square" lIns="0" tIns="12065" rIns="0" bIns="0" rtlCol="0">
            <a:spAutoFit/>
          </a:bodyPr>
          <a:lstStyle/>
          <a:p>
            <a:pPr marL="12700">
              <a:lnSpc>
                <a:spcPct val="100000"/>
              </a:lnSpc>
              <a:spcBef>
                <a:spcPts val="95"/>
              </a:spcBef>
            </a:pPr>
            <a:r>
              <a:rPr lang="en-US" sz="1600" b="1" spc="-10" dirty="0">
                <a:latin typeface="Arial"/>
                <a:cs typeface="Arial"/>
              </a:rPr>
              <a:t>Feb</a:t>
            </a:r>
            <a:endParaRPr sz="1600" dirty="0">
              <a:latin typeface="Arial"/>
              <a:cs typeface="Arial"/>
            </a:endParaRPr>
          </a:p>
        </p:txBody>
      </p:sp>
      <p:sp>
        <p:nvSpPr>
          <p:cNvPr id="61" name="object 13">
            <a:extLst>
              <a:ext uri="{FF2B5EF4-FFF2-40B4-BE49-F238E27FC236}">
                <a16:creationId xmlns:a16="http://schemas.microsoft.com/office/drawing/2014/main" id="{7CC229DF-2D27-757A-9DF9-4D50B755220A}"/>
              </a:ext>
            </a:extLst>
          </p:cNvPr>
          <p:cNvSpPr txBox="1"/>
          <p:nvPr/>
        </p:nvSpPr>
        <p:spPr>
          <a:xfrm>
            <a:off x="10628312" y="1616033"/>
            <a:ext cx="630809" cy="258404"/>
          </a:xfrm>
          <a:prstGeom prst="rect">
            <a:avLst/>
          </a:prstGeom>
        </p:spPr>
        <p:txBody>
          <a:bodyPr vert="horz" wrap="square" lIns="0" tIns="12065" rIns="0" bIns="0" rtlCol="0">
            <a:spAutoFit/>
          </a:bodyPr>
          <a:lstStyle/>
          <a:p>
            <a:pPr marL="12700">
              <a:lnSpc>
                <a:spcPct val="100000"/>
              </a:lnSpc>
              <a:spcBef>
                <a:spcPts val="95"/>
              </a:spcBef>
            </a:pPr>
            <a:r>
              <a:rPr lang="en-US" sz="1600" b="1" spc="-5" dirty="0">
                <a:latin typeface="Arial"/>
                <a:cs typeface="Arial"/>
              </a:rPr>
              <a:t>Oct</a:t>
            </a:r>
            <a:endParaRPr sz="1600" dirty="0">
              <a:latin typeface="Arial"/>
              <a:cs typeface="Arial"/>
            </a:endParaRPr>
          </a:p>
        </p:txBody>
      </p:sp>
      <p:pic>
        <p:nvPicPr>
          <p:cNvPr id="14" name="Picture 13">
            <a:extLst>
              <a:ext uri="{FF2B5EF4-FFF2-40B4-BE49-F238E27FC236}">
                <a16:creationId xmlns:a16="http://schemas.microsoft.com/office/drawing/2014/main" id="{34D8827C-B298-0FED-2E95-B967FEA66A54}"/>
              </a:ext>
            </a:extLst>
          </p:cNvPr>
          <p:cNvPicPr>
            <a:picLocks noChangeAspect="1"/>
          </p:cNvPicPr>
          <p:nvPr/>
        </p:nvPicPr>
        <p:blipFill>
          <a:blip r:embed="rId4"/>
          <a:stretch>
            <a:fillRect/>
          </a:stretch>
        </p:blipFill>
        <p:spPr>
          <a:xfrm>
            <a:off x="8915400" y="5629034"/>
            <a:ext cx="1920406" cy="64775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170212" y="1711013"/>
            <a:ext cx="6019800" cy="5144770"/>
          </a:xfrm>
          <a:custGeom>
            <a:avLst/>
            <a:gdLst/>
            <a:ahLst/>
            <a:cxnLst/>
            <a:rect l="l" t="t" r="r" b="b"/>
            <a:pathLst>
              <a:path w="6019800" h="5144770">
                <a:moveTo>
                  <a:pt x="6019345" y="0"/>
                </a:moveTo>
                <a:lnTo>
                  <a:pt x="0" y="5144324"/>
                </a:lnTo>
              </a:path>
            </a:pathLst>
          </a:custGeom>
          <a:ln w="7402">
            <a:solidFill>
              <a:srgbClr val="00A9F4"/>
            </a:solidFill>
          </a:ln>
        </p:spPr>
        <p:txBody>
          <a:bodyPr wrap="square" lIns="0" tIns="0" rIns="0" bIns="0" rtlCol="0"/>
          <a:lstStyle/>
          <a:p>
            <a:endParaRPr/>
          </a:p>
        </p:txBody>
      </p:sp>
      <p:sp>
        <p:nvSpPr>
          <p:cNvPr id="3" name="object 3"/>
          <p:cNvSpPr/>
          <p:nvPr/>
        </p:nvSpPr>
        <p:spPr>
          <a:xfrm>
            <a:off x="6380124" y="1682810"/>
            <a:ext cx="5809615" cy="5172710"/>
          </a:xfrm>
          <a:custGeom>
            <a:avLst/>
            <a:gdLst/>
            <a:ahLst/>
            <a:cxnLst/>
            <a:rect l="l" t="t" r="r" b="b"/>
            <a:pathLst>
              <a:path w="5809615" h="5172709">
                <a:moveTo>
                  <a:pt x="5809433" y="0"/>
                </a:moveTo>
                <a:lnTo>
                  <a:pt x="0" y="5172527"/>
                </a:lnTo>
              </a:path>
            </a:pathLst>
          </a:custGeom>
          <a:ln w="7402">
            <a:solidFill>
              <a:srgbClr val="00A7F4"/>
            </a:solidFill>
          </a:ln>
        </p:spPr>
        <p:txBody>
          <a:bodyPr wrap="square" lIns="0" tIns="0" rIns="0" bIns="0" rtlCol="0"/>
          <a:lstStyle/>
          <a:p>
            <a:endParaRPr/>
          </a:p>
        </p:txBody>
      </p:sp>
      <p:sp>
        <p:nvSpPr>
          <p:cNvPr id="4" name="object 4"/>
          <p:cNvSpPr/>
          <p:nvPr/>
        </p:nvSpPr>
        <p:spPr>
          <a:xfrm>
            <a:off x="6578703" y="1647363"/>
            <a:ext cx="5610860" cy="5208270"/>
          </a:xfrm>
          <a:custGeom>
            <a:avLst/>
            <a:gdLst/>
            <a:ahLst/>
            <a:cxnLst/>
            <a:rect l="l" t="t" r="r" b="b"/>
            <a:pathLst>
              <a:path w="5610859" h="5208270">
                <a:moveTo>
                  <a:pt x="5610854" y="0"/>
                </a:moveTo>
                <a:lnTo>
                  <a:pt x="0" y="5207974"/>
                </a:lnTo>
              </a:path>
            </a:pathLst>
          </a:custGeom>
          <a:ln w="7402">
            <a:solidFill>
              <a:srgbClr val="01A4F5"/>
            </a:solidFill>
          </a:ln>
        </p:spPr>
        <p:txBody>
          <a:bodyPr wrap="square" lIns="0" tIns="0" rIns="0" bIns="0" rtlCol="0"/>
          <a:lstStyle/>
          <a:p>
            <a:endParaRPr/>
          </a:p>
        </p:txBody>
      </p:sp>
      <p:sp>
        <p:nvSpPr>
          <p:cNvPr id="5" name="object 5"/>
          <p:cNvSpPr/>
          <p:nvPr/>
        </p:nvSpPr>
        <p:spPr>
          <a:xfrm>
            <a:off x="6767457" y="1604852"/>
            <a:ext cx="5422265" cy="5250815"/>
          </a:xfrm>
          <a:custGeom>
            <a:avLst/>
            <a:gdLst/>
            <a:ahLst/>
            <a:cxnLst/>
            <a:rect l="l" t="t" r="r" b="b"/>
            <a:pathLst>
              <a:path w="5422265" h="5250815">
                <a:moveTo>
                  <a:pt x="5422101" y="0"/>
                </a:moveTo>
                <a:lnTo>
                  <a:pt x="0" y="5250484"/>
                </a:lnTo>
              </a:path>
            </a:pathLst>
          </a:custGeom>
          <a:ln w="7402">
            <a:solidFill>
              <a:srgbClr val="01A2F5"/>
            </a:solidFill>
          </a:ln>
        </p:spPr>
        <p:txBody>
          <a:bodyPr wrap="square" lIns="0" tIns="0" rIns="0" bIns="0" rtlCol="0"/>
          <a:lstStyle/>
          <a:p>
            <a:endParaRPr/>
          </a:p>
        </p:txBody>
      </p:sp>
      <p:sp>
        <p:nvSpPr>
          <p:cNvPr id="6" name="object 6"/>
          <p:cNvSpPr/>
          <p:nvPr/>
        </p:nvSpPr>
        <p:spPr>
          <a:xfrm>
            <a:off x="6945940" y="1554082"/>
            <a:ext cx="5243830" cy="5301615"/>
          </a:xfrm>
          <a:custGeom>
            <a:avLst/>
            <a:gdLst/>
            <a:ahLst/>
            <a:cxnLst/>
            <a:rect l="l" t="t" r="r" b="b"/>
            <a:pathLst>
              <a:path w="5243830" h="5301615">
                <a:moveTo>
                  <a:pt x="5243617" y="0"/>
                </a:moveTo>
                <a:lnTo>
                  <a:pt x="0" y="5301254"/>
                </a:lnTo>
              </a:path>
            </a:pathLst>
          </a:custGeom>
          <a:ln w="7402">
            <a:solidFill>
              <a:srgbClr val="039FF5"/>
            </a:solidFill>
          </a:ln>
        </p:spPr>
        <p:txBody>
          <a:bodyPr wrap="square" lIns="0" tIns="0" rIns="0" bIns="0" rtlCol="0"/>
          <a:lstStyle/>
          <a:p>
            <a:endParaRPr/>
          </a:p>
        </p:txBody>
      </p:sp>
      <p:sp>
        <p:nvSpPr>
          <p:cNvPr id="7" name="object 7"/>
          <p:cNvSpPr/>
          <p:nvPr/>
        </p:nvSpPr>
        <p:spPr>
          <a:xfrm>
            <a:off x="7115916" y="1495649"/>
            <a:ext cx="5073650" cy="5360035"/>
          </a:xfrm>
          <a:custGeom>
            <a:avLst/>
            <a:gdLst/>
            <a:ahLst/>
            <a:cxnLst/>
            <a:rect l="l" t="t" r="r" b="b"/>
            <a:pathLst>
              <a:path w="5073650" h="5360034">
                <a:moveTo>
                  <a:pt x="5073641" y="0"/>
                </a:moveTo>
                <a:lnTo>
                  <a:pt x="0" y="5359688"/>
                </a:lnTo>
              </a:path>
            </a:pathLst>
          </a:custGeom>
          <a:ln w="7402">
            <a:solidFill>
              <a:srgbClr val="049EF5"/>
            </a:solidFill>
          </a:ln>
        </p:spPr>
        <p:txBody>
          <a:bodyPr wrap="square" lIns="0" tIns="0" rIns="0" bIns="0" rtlCol="0"/>
          <a:lstStyle/>
          <a:p>
            <a:endParaRPr/>
          </a:p>
        </p:txBody>
      </p:sp>
      <p:sp>
        <p:nvSpPr>
          <p:cNvPr id="8" name="object 8"/>
          <p:cNvSpPr/>
          <p:nvPr/>
        </p:nvSpPr>
        <p:spPr>
          <a:xfrm>
            <a:off x="7277342" y="1428114"/>
            <a:ext cx="4912360" cy="5427345"/>
          </a:xfrm>
          <a:custGeom>
            <a:avLst/>
            <a:gdLst/>
            <a:ahLst/>
            <a:cxnLst/>
            <a:rect l="l" t="t" r="r" b="b"/>
            <a:pathLst>
              <a:path w="4912359" h="5427345">
                <a:moveTo>
                  <a:pt x="4912216" y="0"/>
                </a:moveTo>
                <a:lnTo>
                  <a:pt x="0" y="5427222"/>
                </a:lnTo>
              </a:path>
            </a:pathLst>
          </a:custGeom>
          <a:ln w="7402">
            <a:solidFill>
              <a:srgbClr val="049CF6"/>
            </a:solidFill>
          </a:ln>
        </p:spPr>
        <p:txBody>
          <a:bodyPr wrap="square" lIns="0" tIns="0" rIns="0" bIns="0" rtlCol="0"/>
          <a:lstStyle/>
          <a:p>
            <a:endParaRPr/>
          </a:p>
        </p:txBody>
      </p:sp>
      <p:sp>
        <p:nvSpPr>
          <p:cNvPr id="9" name="object 9"/>
          <p:cNvSpPr/>
          <p:nvPr/>
        </p:nvSpPr>
        <p:spPr>
          <a:xfrm>
            <a:off x="7429140" y="1349148"/>
            <a:ext cx="4760595" cy="5506720"/>
          </a:xfrm>
          <a:custGeom>
            <a:avLst/>
            <a:gdLst/>
            <a:ahLst/>
            <a:cxnLst/>
            <a:rect l="l" t="t" r="r" b="b"/>
            <a:pathLst>
              <a:path w="4760595" h="5506720">
                <a:moveTo>
                  <a:pt x="4760418" y="0"/>
                </a:moveTo>
                <a:lnTo>
                  <a:pt x="0" y="5506189"/>
                </a:lnTo>
              </a:path>
            </a:pathLst>
          </a:custGeom>
          <a:ln w="7402">
            <a:solidFill>
              <a:srgbClr val="059AF6"/>
            </a:solidFill>
          </a:ln>
        </p:spPr>
        <p:txBody>
          <a:bodyPr wrap="square" lIns="0" tIns="0" rIns="0" bIns="0" rtlCol="0"/>
          <a:lstStyle/>
          <a:p>
            <a:endParaRPr/>
          </a:p>
        </p:txBody>
      </p:sp>
      <p:sp>
        <p:nvSpPr>
          <p:cNvPr id="10" name="object 10"/>
          <p:cNvSpPr/>
          <p:nvPr/>
        </p:nvSpPr>
        <p:spPr>
          <a:xfrm>
            <a:off x="7573502" y="1259948"/>
            <a:ext cx="4616450" cy="5595620"/>
          </a:xfrm>
          <a:custGeom>
            <a:avLst/>
            <a:gdLst/>
            <a:ahLst/>
            <a:cxnLst/>
            <a:rect l="l" t="t" r="r" b="b"/>
            <a:pathLst>
              <a:path w="4616450" h="5595620">
                <a:moveTo>
                  <a:pt x="4616056" y="0"/>
                </a:moveTo>
                <a:lnTo>
                  <a:pt x="0" y="5595388"/>
                </a:lnTo>
              </a:path>
            </a:pathLst>
          </a:custGeom>
          <a:ln w="7402">
            <a:solidFill>
              <a:srgbClr val="0797F6"/>
            </a:solidFill>
          </a:ln>
        </p:spPr>
        <p:txBody>
          <a:bodyPr wrap="square" lIns="0" tIns="0" rIns="0" bIns="0" rtlCol="0"/>
          <a:lstStyle/>
          <a:p>
            <a:endParaRPr/>
          </a:p>
        </p:txBody>
      </p:sp>
      <p:sp>
        <p:nvSpPr>
          <p:cNvPr id="11" name="object 11"/>
          <p:cNvSpPr/>
          <p:nvPr/>
        </p:nvSpPr>
        <p:spPr>
          <a:xfrm>
            <a:off x="7709081" y="1157257"/>
            <a:ext cx="4480560" cy="5698490"/>
          </a:xfrm>
          <a:custGeom>
            <a:avLst/>
            <a:gdLst/>
            <a:ahLst/>
            <a:cxnLst/>
            <a:rect l="l" t="t" r="r" b="b"/>
            <a:pathLst>
              <a:path w="4480559" h="5698490">
                <a:moveTo>
                  <a:pt x="4480476" y="0"/>
                </a:moveTo>
                <a:lnTo>
                  <a:pt x="0" y="5698079"/>
                </a:lnTo>
              </a:path>
            </a:pathLst>
          </a:custGeom>
          <a:ln w="7402">
            <a:solidFill>
              <a:srgbClr val="0795F6"/>
            </a:solidFill>
          </a:ln>
        </p:spPr>
        <p:txBody>
          <a:bodyPr wrap="square" lIns="0" tIns="0" rIns="0" bIns="0" rtlCol="0"/>
          <a:lstStyle/>
          <a:p>
            <a:endParaRPr/>
          </a:p>
        </p:txBody>
      </p:sp>
      <p:sp>
        <p:nvSpPr>
          <p:cNvPr id="12" name="object 12"/>
          <p:cNvSpPr/>
          <p:nvPr/>
        </p:nvSpPr>
        <p:spPr>
          <a:xfrm>
            <a:off x="7837861" y="1041508"/>
            <a:ext cx="4352290" cy="5814060"/>
          </a:xfrm>
          <a:custGeom>
            <a:avLst/>
            <a:gdLst/>
            <a:ahLst/>
            <a:cxnLst/>
            <a:rect l="l" t="t" r="r" b="b"/>
            <a:pathLst>
              <a:path w="4352290" h="5814059">
                <a:moveTo>
                  <a:pt x="4351696" y="0"/>
                </a:moveTo>
                <a:lnTo>
                  <a:pt x="0" y="5813828"/>
                </a:lnTo>
              </a:path>
            </a:pathLst>
          </a:custGeom>
          <a:ln w="7402">
            <a:solidFill>
              <a:srgbClr val="0893F7"/>
            </a:solidFill>
          </a:ln>
        </p:spPr>
        <p:txBody>
          <a:bodyPr wrap="square" lIns="0" tIns="0" rIns="0" bIns="0" rtlCol="0"/>
          <a:lstStyle/>
          <a:p>
            <a:endParaRPr/>
          </a:p>
        </p:txBody>
      </p:sp>
      <p:sp>
        <p:nvSpPr>
          <p:cNvPr id="13" name="object 13"/>
          <p:cNvSpPr/>
          <p:nvPr/>
        </p:nvSpPr>
        <p:spPr>
          <a:xfrm>
            <a:off x="7958252" y="908725"/>
            <a:ext cx="4231640" cy="5946775"/>
          </a:xfrm>
          <a:custGeom>
            <a:avLst/>
            <a:gdLst/>
            <a:ahLst/>
            <a:cxnLst/>
            <a:rect l="l" t="t" r="r" b="b"/>
            <a:pathLst>
              <a:path w="4231640" h="5946775">
                <a:moveTo>
                  <a:pt x="4231305" y="0"/>
                </a:moveTo>
                <a:lnTo>
                  <a:pt x="0" y="5946611"/>
                </a:lnTo>
              </a:path>
            </a:pathLst>
          </a:custGeom>
          <a:ln w="7402">
            <a:solidFill>
              <a:srgbClr val="0991F7"/>
            </a:solidFill>
          </a:ln>
        </p:spPr>
        <p:txBody>
          <a:bodyPr wrap="square" lIns="0" tIns="0" rIns="0" bIns="0" rtlCol="0"/>
          <a:lstStyle/>
          <a:p>
            <a:endParaRPr/>
          </a:p>
        </p:txBody>
      </p:sp>
      <p:sp>
        <p:nvSpPr>
          <p:cNvPr id="14" name="object 14"/>
          <p:cNvSpPr/>
          <p:nvPr/>
        </p:nvSpPr>
        <p:spPr>
          <a:xfrm>
            <a:off x="8071070" y="757573"/>
            <a:ext cx="4118610" cy="6097905"/>
          </a:xfrm>
          <a:custGeom>
            <a:avLst/>
            <a:gdLst/>
            <a:ahLst/>
            <a:cxnLst/>
            <a:rect l="l" t="t" r="r" b="b"/>
            <a:pathLst>
              <a:path w="4118609" h="6097905">
                <a:moveTo>
                  <a:pt x="4118488" y="0"/>
                </a:moveTo>
                <a:lnTo>
                  <a:pt x="0" y="6097763"/>
                </a:lnTo>
              </a:path>
            </a:pathLst>
          </a:custGeom>
          <a:ln w="7403">
            <a:solidFill>
              <a:srgbClr val="098FF7"/>
            </a:solidFill>
          </a:ln>
        </p:spPr>
        <p:txBody>
          <a:bodyPr wrap="square" lIns="0" tIns="0" rIns="0" bIns="0" rtlCol="0"/>
          <a:lstStyle/>
          <a:p>
            <a:endParaRPr/>
          </a:p>
        </p:txBody>
      </p:sp>
      <p:sp>
        <p:nvSpPr>
          <p:cNvPr id="15" name="object 15"/>
          <p:cNvSpPr/>
          <p:nvPr/>
        </p:nvSpPr>
        <p:spPr>
          <a:xfrm>
            <a:off x="8177565" y="587434"/>
            <a:ext cx="4012565" cy="6268085"/>
          </a:xfrm>
          <a:custGeom>
            <a:avLst/>
            <a:gdLst/>
            <a:ahLst/>
            <a:cxnLst/>
            <a:rect l="l" t="t" r="r" b="b"/>
            <a:pathLst>
              <a:path w="4012565" h="6268084">
                <a:moveTo>
                  <a:pt x="4011993" y="0"/>
                </a:moveTo>
                <a:lnTo>
                  <a:pt x="0" y="6267903"/>
                </a:lnTo>
              </a:path>
            </a:pathLst>
          </a:custGeom>
          <a:ln w="7403">
            <a:solidFill>
              <a:srgbClr val="0A8DF7"/>
            </a:solidFill>
          </a:ln>
        </p:spPr>
        <p:txBody>
          <a:bodyPr wrap="square" lIns="0" tIns="0" rIns="0" bIns="0" rtlCol="0"/>
          <a:lstStyle/>
          <a:p>
            <a:endParaRPr/>
          </a:p>
        </p:txBody>
      </p:sp>
      <p:sp>
        <p:nvSpPr>
          <p:cNvPr id="16" name="object 16"/>
          <p:cNvSpPr/>
          <p:nvPr/>
        </p:nvSpPr>
        <p:spPr>
          <a:xfrm>
            <a:off x="8277147" y="394096"/>
            <a:ext cx="3912870" cy="6461760"/>
          </a:xfrm>
          <a:custGeom>
            <a:avLst/>
            <a:gdLst/>
            <a:ahLst/>
            <a:cxnLst/>
            <a:rect l="l" t="t" r="r" b="b"/>
            <a:pathLst>
              <a:path w="3912870" h="6461759">
                <a:moveTo>
                  <a:pt x="3912411" y="0"/>
                </a:moveTo>
                <a:lnTo>
                  <a:pt x="0" y="6461241"/>
                </a:lnTo>
              </a:path>
            </a:pathLst>
          </a:custGeom>
          <a:ln w="7403">
            <a:solidFill>
              <a:srgbClr val="0C8AF8"/>
            </a:solidFill>
          </a:ln>
        </p:spPr>
        <p:txBody>
          <a:bodyPr wrap="square" lIns="0" tIns="0" rIns="0" bIns="0" rtlCol="0"/>
          <a:lstStyle/>
          <a:p>
            <a:endParaRPr/>
          </a:p>
        </p:txBody>
      </p:sp>
      <p:sp>
        <p:nvSpPr>
          <p:cNvPr id="17" name="object 17"/>
          <p:cNvSpPr/>
          <p:nvPr/>
        </p:nvSpPr>
        <p:spPr>
          <a:xfrm>
            <a:off x="8370436" y="174798"/>
            <a:ext cx="3819525" cy="6680834"/>
          </a:xfrm>
          <a:custGeom>
            <a:avLst/>
            <a:gdLst/>
            <a:ahLst/>
            <a:cxnLst/>
            <a:rect l="l" t="t" r="r" b="b"/>
            <a:pathLst>
              <a:path w="3819525" h="6680834">
                <a:moveTo>
                  <a:pt x="3819122" y="0"/>
                </a:moveTo>
                <a:lnTo>
                  <a:pt x="0" y="6680538"/>
                </a:lnTo>
              </a:path>
            </a:pathLst>
          </a:custGeom>
          <a:ln w="7403">
            <a:solidFill>
              <a:srgbClr val="0C88F8"/>
            </a:solidFill>
          </a:ln>
        </p:spPr>
        <p:txBody>
          <a:bodyPr wrap="square" lIns="0" tIns="0" rIns="0" bIns="0" rtlCol="0"/>
          <a:lstStyle/>
          <a:p>
            <a:endParaRPr/>
          </a:p>
        </p:txBody>
      </p:sp>
      <p:sp>
        <p:nvSpPr>
          <p:cNvPr id="18" name="object 18"/>
          <p:cNvSpPr/>
          <p:nvPr/>
        </p:nvSpPr>
        <p:spPr>
          <a:xfrm>
            <a:off x="8456881" y="4443"/>
            <a:ext cx="3689985" cy="6851015"/>
          </a:xfrm>
          <a:custGeom>
            <a:avLst/>
            <a:gdLst/>
            <a:ahLst/>
            <a:cxnLst/>
            <a:rect l="l" t="t" r="r" b="b"/>
            <a:pathLst>
              <a:path w="3689984" h="6851015">
                <a:moveTo>
                  <a:pt x="3689640" y="0"/>
                </a:moveTo>
                <a:lnTo>
                  <a:pt x="0" y="6850894"/>
                </a:lnTo>
              </a:path>
            </a:pathLst>
          </a:custGeom>
          <a:ln w="7403">
            <a:solidFill>
              <a:srgbClr val="0D86F8"/>
            </a:solidFill>
          </a:ln>
        </p:spPr>
        <p:txBody>
          <a:bodyPr wrap="square" lIns="0" tIns="0" rIns="0" bIns="0" rtlCol="0"/>
          <a:lstStyle/>
          <a:p>
            <a:endParaRPr/>
          </a:p>
        </p:txBody>
      </p:sp>
      <p:sp>
        <p:nvSpPr>
          <p:cNvPr id="19" name="object 19"/>
          <p:cNvSpPr/>
          <p:nvPr/>
        </p:nvSpPr>
        <p:spPr>
          <a:xfrm>
            <a:off x="8537568" y="4443"/>
            <a:ext cx="3467735" cy="6851015"/>
          </a:xfrm>
          <a:custGeom>
            <a:avLst/>
            <a:gdLst/>
            <a:ahLst/>
            <a:cxnLst/>
            <a:rect l="l" t="t" r="r" b="b"/>
            <a:pathLst>
              <a:path w="3467734" h="6851015">
                <a:moveTo>
                  <a:pt x="3467577" y="0"/>
                </a:moveTo>
                <a:lnTo>
                  <a:pt x="0" y="6850894"/>
                </a:lnTo>
              </a:path>
            </a:pathLst>
          </a:custGeom>
          <a:ln w="7403">
            <a:solidFill>
              <a:srgbClr val="0D85F8"/>
            </a:solidFill>
          </a:ln>
        </p:spPr>
        <p:txBody>
          <a:bodyPr wrap="square" lIns="0" tIns="0" rIns="0" bIns="0" rtlCol="0"/>
          <a:lstStyle/>
          <a:p>
            <a:endParaRPr/>
          </a:p>
        </p:txBody>
      </p:sp>
      <p:sp>
        <p:nvSpPr>
          <p:cNvPr id="20" name="object 20"/>
          <p:cNvSpPr/>
          <p:nvPr/>
        </p:nvSpPr>
        <p:spPr>
          <a:xfrm>
            <a:off x="8612253" y="4443"/>
            <a:ext cx="3250565" cy="6851015"/>
          </a:xfrm>
          <a:custGeom>
            <a:avLst/>
            <a:gdLst/>
            <a:ahLst/>
            <a:cxnLst/>
            <a:rect l="l" t="t" r="r" b="b"/>
            <a:pathLst>
              <a:path w="3250565" h="6851015">
                <a:moveTo>
                  <a:pt x="3250212" y="0"/>
                </a:moveTo>
                <a:lnTo>
                  <a:pt x="0" y="6850894"/>
                </a:lnTo>
              </a:path>
            </a:pathLst>
          </a:custGeom>
          <a:ln w="7403">
            <a:solidFill>
              <a:srgbClr val="0E82F8"/>
            </a:solidFill>
          </a:ln>
        </p:spPr>
        <p:txBody>
          <a:bodyPr wrap="square" lIns="0" tIns="0" rIns="0" bIns="0" rtlCol="0"/>
          <a:lstStyle/>
          <a:p>
            <a:endParaRPr/>
          </a:p>
        </p:txBody>
      </p:sp>
      <p:sp>
        <p:nvSpPr>
          <p:cNvPr id="21" name="object 21"/>
          <p:cNvSpPr/>
          <p:nvPr/>
        </p:nvSpPr>
        <p:spPr>
          <a:xfrm>
            <a:off x="8681101" y="4443"/>
            <a:ext cx="3037205" cy="6851015"/>
          </a:xfrm>
          <a:custGeom>
            <a:avLst/>
            <a:gdLst/>
            <a:ahLst/>
            <a:cxnLst/>
            <a:rect l="l" t="t" r="r" b="b"/>
            <a:pathLst>
              <a:path w="3037204" h="6851015">
                <a:moveTo>
                  <a:pt x="3037141" y="0"/>
                </a:moveTo>
                <a:lnTo>
                  <a:pt x="0" y="6850894"/>
                </a:lnTo>
              </a:path>
            </a:pathLst>
          </a:custGeom>
          <a:ln w="7403">
            <a:solidFill>
              <a:srgbClr val="0F80F8"/>
            </a:solidFill>
          </a:ln>
        </p:spPr>
        <p:txBody>
          <a:bodyPr wrap="square" lIns="0" tIns="0" rIns="0" bIns="0" rtlCol="0"/>
          <a:lstStyle/>
          <a:p>
            <a:endParaRPr/>
          </a:p>
        </p:txBody>
      </p:sp>
      <p:sp>
        <p:nvSpPr>
          <p:cNvPr id="22" name="object 22"/>
          <p:cNvSpPr/>
          <p:nvPr/>
        </p:nvSpPr>
        <p:spPr>
          <a:xfrm>
            <a:off x="8744401" y="4443"/>
            <a:ext cx="2828925" cy="6851015"/>
          </a:xfrm>
          <a:custGeom>
            <a:avLst/>
            <a:gdLst/>
            <a:ahLst/>
            <a:cxnLst/>
            <a:rect l="l" t="t" r="r" b="b"/>
            <a:pathLst>
              <a:path w="2828925" h="6851015">
                <a:moveTo>
                  <a:pt x="2828589" y="0"/>
                </a:moveTo>
                <a:lnTo>
                  <a:pt x="0" y="6850894"/>
                </a:lnTo>
              </a:path>
            </a:pathLst>
          </a:custGeom>
          <a:ln w="7403">
            <a:solidFill>
              <a:srgbClr val="117DF8"/>
            </a:solidFill>
          </a:ln>
        </p:spPr>
        <p:txBody>
          <a:bodyPr wrap="square" lIns="0" tIns="0" rIns="0" bIns="0" rtlCol="0"/>
          <a:lstStyle/>
          <a:p>
            <a:endParaRPr/>
          </a:p>
        </p:txBody>
      </p:sp>
      <p:sp>
        <p:nvSpPr>
          <p:cNvPr id="23" name="object 23"/>
          <p:cNvSpPr/>
          <p:nvPr/>
        </p:nvSpPr>
        <p:spPr>
          <a:xfrm>
            <a:off x="8801981" y="4443"/>
            <a:ext cx="2624455" cy="6851015"/>
          </a:xfrm>
          <a:custGeom>
            <a:avLst/>
            <a:gdLst/>
            <a:ahLst/>
            <a:cxnLst/>
            <a:rect l="l" t="t" r="r" b="b"/>
            <a:pathLst>
              <a:path w="2624454" h="6851015">
                <a:moveTo>
                  <a:pt x="2624080" y="0"/>
                </a:moveTo>
                <a:lnTo>
                  <a:pt x="0" y="6850894"/>
                </a:lnTo>
              </a:path>
            </a:pathLst>
          </a:custGeom>
          <a:ln w="7403">
            <a:solidFill>
              <a:srgbClr val="117BF9"/>
            </a:solidFill>
          </a:ln>
        </p:spPr>
        <p:txBody>
          <a:bodyPr wrap="square" lIns="0" tIns="0" rIns="0" bIns="0" rtlCol="0"/>
          <a:lstStyle/>
          <a:p>
            <a:endParaRPr/>
          </a:p>
        </p:txBody>
      </p:sp>
      <p:sp>
        <p:nvSpPr>
          <p:cNvPr id="24" name="object 24"/>
          <p:cNvSpPr/>
          <p:nvPr/>
        </p:nvSpPr>
        <p:spPr>
          <a:xfrm>
            <a:off x="8854589" y="4443"/>
            <a:ext cx="2424430" cy="6851015"/>
          </a:xfrm>
          <a:custGeom>
            <a:avLst/>
            <a:gdLst/>
            <a:ahLst/>
            <a:cxnLst/>
            <a:rect l="l" t="t" r="r" b="b"/>
            <a:pathLst>
              <a:path w="2424429" h="6851015">
                <a:moveTo>
                  <a:pt x="2423816" y="0"/>
                </a:moveTo>
                <a:lnTo>
                  <a:pt x="0" y="6850894"/>
                </a:lnTo>
              </a:path>
            </a:pathLst>
          </a:custGeom>
          <a:ln w="7403">
            <a:solidFill>
              <a:srgbClr val="1279F9"/>
            </a:solidFill>
          </a:ln>
        </p:spPr>
        <p:txBody>
          <a:bodyPr wrap="square" lIns="0" tIns="0" rIns="0" bIns="0" rtlCol="0"/>
          <a:lstStyle/>
          <a:p>
            <a:endParaRPr/>
          </a:p>
        </p:txBody>
      </p:sp>
      <p:sp>
        <p:nvSpPr>
          <p:cNvPr id="25" name="object 25"/>
          <p:cNvSpPr/>
          <p:nvPr/>
        </p:nvSpPr>
        <p:spPr>
          <a:xfrm>
            <a:off x="8901973" y="4443"/>
            <a:ext cx="2227580" cy="6851015"/>
          </a:xfrm>
          <a:custGeom>
            <a:avLst/>
            <a:gdLst/>
            <a:ahLst/>
            <a:cxnLst/>
            <a:rect l="l" t="t" r="r" b="b"/>
            <a:pathLst>
              <a:path w="2227579" h="6851015">
                <a:moveTo>
                  <a:pt x="2227364" y="0"/>
                </a:moveTo>
                <a:lnTo>
                  <a:pt x="0" y="6850894"/>
                </a:lnTo>
              </a:path>
            </a:pathLst>
          </a:custGeom>
          <a:ln w="7403">
            <a:solidFill>
              <a:srgbClr val="1278F9"/>
            </a:solidFill>
          </a:ln>
        </p:spPr>
        <p:txBody>
          <a:bodyPr wrap="square" lIns="0" tIns="0" rIns="0" bIns="0" rtlCol="0"/>
          <a:lstStyle/>
          <a:p>
            <a:endParaRPr/>
          </a:p>
        </p:txBody>
      </p:sp>
      <p:sp>
        <p:nvSpPr>
          <p:cNvPr id="26" name="object 26"/>
          <p:cNvSpPr/>
          <p:nvPr/>
        </p:nvSpPr>
        <p:spPr>
          <a:xfrm>
            <a:off x="8944431" y="4443"/>
            <a:ext cx="2035175" cy="6851015"/>
          </a:xfrm>
          <a:custGeom>
            <a:avLst/>
            <a:gdLst/>
            <a:ahLst/>
            <a:cxnLst/>
            <a:rect l="l" t="t" r="r" b="b"/>
            <a:pathLst>
              <a:path w="2035175" h="6851015">
                <a:moveTo>
                  <a:pt x="2034882" y="0"/>
                </a:moveTo>
                <a:lnTo>
                  <a:pt x="0" y="6850894"/>
                </a:lnTo>
              </a:path>
            </a:pathLst>
          </a:custGeom>
          <a:ln w="7403">
            <a:solidFill>
              <a:srgbClr val="1375F9"/>
            </a:solidFill>
          </a:ln>
        </p:spPr>
        <p:txBody>
          <a:bodyPr wrap="square" lIns="0" tIns="0" rIns="0" bIns="0" rtlCol="0"/>
          <a:lstStyle/>
          <a:p>
            <a:endParaRPr/>
          </a:p>
        </p:txBody>
      </p:sp>
      <p:sp>
        <p:nvSpPr>
          <p:cNvPr id="27" name="object 27"/>
          <p:cNvSpPr/>
          <p:nvPr/>
        </p:nvSpPr>
        <p:spPr>
          <a:xfrm>
            <a:off x="8981916" y="4443"/>
            <a:ext cx="1846580" cy="6851015"/>
          </a:xfrm>
          <a:custGeom>
            <a:avLst/>
            <a:gdLst/>
            <a:ahLst/>
            <a:cxnLst/>
            <a:rect l="l" t="t" r="r" b="b"/>
            <a:pathLst>
              <a:path w="1846579" h="6851015">
                <a:moveTo>
                  <a:pt x="1846080" y="0"/>
                </a:moveTo>
                <a:lnTo>
                  <a:pt x="0" y="6850894"/>
                </a:lnTo>
              </a:path>
            </a:pathLst>
          </a:custGeom>
          <a:ln w="7403">
            <a:solidFill>
              <a:srgbClr val="1573FA"/>
            </a:solidFill>
          </a:ln>
        </p:spPr>
        <p:txBody>
          <a:bodyPr wrap="square" lIns="0" tIns="0" rIns="0" bIns="0" rtlCol="0"/>
          <a:lstStyle/>
          <a:p>
            <a:endParaRPr/>
          </a:p>
        </p:txBody>
      </p:sp>
      <p:sp>
        <p:nvSpPr>
          <p:cNvPr id="28" name="object 28"/>
          <p:cNvSpPr/>
          <p:nvPr/>
        </p:nvSpPr>
        <p:spPr>
          <a:xfrm>
            <a:off x="9014970" y="4443"/>
            <a:ext cx="1661160" cy="6851015"/>
          </a:xfrm>
          <a:custGeom>
            <a:avLst/>
            <a:gdLst/>
            <a:ahLst/>
            <a:cxnLst/>
            <a:rect l="l" t="t" r="r" b="b"/>
            <a:pathLst>
              <a:path w="1661159" h="6851015">
                <a:moveTo>
                  <a:pt x="1660936" y="0"/>
                </a:moveTo>
                <a:lnTo>
                  <a:pt x="0" y="6850894"/>
                </a:lnTo>
              </a:path>
            </a:pathLst>
          </a:custGeom>
          <a:ln w="7403">
            <a:solidFill>
              <a:srgbClr val="1670FA"/>
            </a:solidFill>
          </a:ln>
        </p:spPr>
        <p:txBody>
          <a:bodyPr wrap="square" lIns="0" tIns="0" rIns="0" bIns="0" rtlCol="0"/>
          <a:lstStyle/>
          <a:p>
            <a:endParaRPr/>
          </a:p>
        </p:txBody>
      </p:sp>
      <p:sp>
        <p:nvSpPr>
          <p:cNvPr id="29" name="object 29"/>
          <p:cNvSpPr/>
          <p:nvPr/>
        </p:nvSpPr>
        <p:spPr>
          <a:xfrm>
            <a:off x="9043229" y="4443"/>
            <a:ext cx="1479550" cy="6851015"/>
          </a:xfrm>
          <a:custGeom>
            <a:avLst/>
            <a:gdLst/>
            <a:ahLst/>
            <a:cxnLst/>
            <a:rect l="l" t="t" r="r" b="b"/>
            <a:pathLst>
              <a:path w="1479550" h="6851015">
                <a:moveTo>
                  <a:pt x="1479278" y="0"/>
                </a:moveTo>
                <a:lnTo>
                  <a:pt x="0" y="6850894"/>
                </a:lnTo>
              </a:path>
            </a:pathLst>
          </a:custGeom>
          <a:ln w="7403">
            <a:solidFill>
              <a:srgbClr val="166EFA"/>
            </a:solidFill>
          </a:ln>
        </p:spPr>
        <p:txBody>
          <a:bodyPr wrap="square" lIns="0" tIns="0" rIns="0" bIns="0" rtlCol="0"/>
          <a:lstStyle/>
          <a:p>
            <a:endParaRPr/>
          </a:p>
        </p:txBody>
      </p:sp>
      <p:sp>
        <p:nvSpPr>
          <p:cNvPr id="30" name="object 30"/>
          <p:cNvSpPr/>
          <p:nvPr/>
        </p:nvSpPr>
        <p:spPr>
          <a:xfrm>
            <a:off x="9067375" y="4443"/>
            <a:ext cx="1301115" cy="6851015"/>
          </a:xfrm>
          <a:custGeom>
            <a:avLst/>
            <a:gdLst/>
            <a:ahLst/>
            <a:cxnLst/>
            <a:rect l="l" t="t" r="r" b="b"/>
            <a:pathLst>
              <a:path w="1301115" h="6851015">
                <a:moveTo>
                  <a:pt x="1301070" y="0"/>
                </a:moveTo>
                <a:lnTo>
                  <a:pt x="0" y="6850894"/>
                </a:lnTo>
              </a:path>
            </a:pathLst>
          </a:custGeom>
          <a:ln w="7403">
            <a:solidFill>
              <a:srgbClr val="176CFB"/>
            </a:solidFill>
          </a:ln>
        </p:spPr>
        <p:txBody>
          <a:bodyPr wrap="square" lIns="0" tIns="0" rIns="0" bIns="0" rtlCol="0"/>
          <a:lstStyle/>
          <a:p>
            <a:endParaRPr/>
          </a:p>
        </p:txBody>
      </p:sp>
      <p:sp>
        <p:nvSpPr>
          <p:cNvPr id="31" name="object 31"/>
          <p:cNvSpPr/>
          <p:nvPr/>
        </p:nvSpPr>
        <p:spPr>
          <a:xfrm>
            <a:off x="9086837" y="4443"/>
            <a:ext cx="1126490" cy="6851015"/>
          </a:xfrm>
          <a:custGeom>
            <a:avLst/>
            <a:gdLst/>
            <a:ahLst/>
            <a:cxnLst/>
            <a:rect l="l" t="t" r="r" b="b"/>
            <a:pathLst>
              <a:path w="1126490" h="6851015">
                <a:moveTo>
                  <a:pt x="1126137" y="0"/>
                </a:moveTo>
                <a:lnTo>
                  <a:pt x="0" y="6850894"/>
                </a:lnTo>
              </a:path>
            </a:pathLst>
          </a:custGeom>
          <a:ln w="7404">
            <a:solidFill>
              <a:srgbClr val="176BFB"/>
            </a:solidFill>
          </a:ln>
        </p:spPr>
        <p:txBody>
          <a:bodyPr wrap="square" lIns="0" tIns="0" rIns="0" bIns="0" rtlCol="0"/>
          <a:lstStyle/>
          <a:p>
            <a:endParaRPr/>
          </a:p>
        </p:txBody>
      </p:sp>
      <p:sp>
        <p:nvSpPr>
          <p:cNvPr id="32" name="object 32"/>
          <p:cNvSpPr/>
          <p:nvPr/>
        </p:nvSpPr>
        <p:spPr>
          <a:xfrm>
            <a:off x="9102523" y="4443"/>
            <a:ext cx="955040" cy="6851015"/>
          </a:xfrm>
          <a:custGeom>
            <a:avLst/>
            <a:gdLst/>
            <a:ahLst/>
            <a:cxnLst/>
            <a:rect l="l" t="t" r="r" b="b"/>
            <a:pathLst>
              <a:path w="955040" h="6851015">
                <a:moveTo>
                  <a:pt x="954514" y="0"/>
                </a:moveTo>
                <a:lnTo>
                  <a:pt x="0" y="6850894"/>
                </a:lnTo>
              </a:path>
            </a:pathLst>
          </a:custGeom>
          <a:ln w="7404">
            <a:solidFill>
              <a:srgbClr val="1869FB"/>
            </a:solidFill>
          </a:ln>
        </p:spPr>
        <p:txBody>
          <a:bodyPr wrap="square" lIns="0" tIns="0" rIns="0" bIns="0" rtlCol="0"/>
          <a:lstStyle/>
          <a:p>
            <a:endParaRPr/>
          </a:p>
        </p:txBody>
      </p:sp>
      <p:sp>
        <p:nvSpPr>
          <p:cNvPr id="33" name="object 33"/>
          <p:cNvSpPr/>
          <p:nvPr/>
        </p:nvSpPr>
        <p:spPr>
          <a:xfrm>
            <a:off x="9113866" y="4443"/>
            <a:ext cx="786130" cy="6851015"/>
          </a:xfrm>
          <a:custGeom>
            <a:avLst/>
            <a:gdLst/>
            <a:ahLst/>
            <a:cxnLst/>
            <a:rect l="l" t="t" r="r" b="b"/>
            <a:pathLst>
              <a:path w="786129" h="6851015">
                <a:moveTo>
                  <a:pt x="785961" y="0"/>
                </a:moveTo>
                <a:lnTo>
                  <a:pt x="0" y="6850894"/>
                </a:lnTo>
              </a:path>
            </a:pathLst>
          </a:custGeom>
          <a:ln w="7404">
            <a:solidFill>
              <a:srgbClr val="1A66FB"/>
            </a:solidFill>
          </a:ln>
        </p:spPr>
        <p:txBody>
          <a:bodyPr wrap="square" lIns="0" tIns="0" rIns="0" bIns="0" rtlCol="0"/>
          <a:lstStyle/>
          <a:p>
            <a:endParaRPr/>
          </a:p>
        </p:txBody>
      </p:sp>
      <p:sp>
        <p:nvSpPr>
          <p:cNvPr id="34" name="object 34"/>
          <p:cNvSpPr/>
          <p:nvPr/>
        </p:nvSpPr>
        <p:spPr>
          <a:xfrm>
            <a:off x="9121296" y="4443"/>
            <a:ext cx="621030" cy="6851015"/>
          </a:xfrm>
          <a:custGeom>
            <a:avLst/>
            <a:gdLst/>
            <a:ahLst/>
            <a:cxnLst/>
            <a:rect l="l" t="t" r="r" b="b"/>
            <a:pathLst>
              <a:path w="621029" h="6851015">
                <a:moveTo>
                  <a:pt x="620597" y="0"/>
                </a:moveTo>
                <a:lnTo>
                  <a:pt x="0" y="6850894"/>
                </a:lnTo>
              </a:path>
            </a:pathLst>
          </a:custGeom>
          <a:ln w="7404">
            <a:solidFill>
              <a:srgbClr val="1B63FC"/>
            </a:solidFill>
          </a:ln>
        </p:spPr>
        <p:txBody>
          <a:bodyPr wrap="square" lIns="0" tIns="0" rIns="0" bIns="0" rtlCol="0"/>
          <a:lstStyle/>
          <a:p>
            <a:endParaRPr/>
          </a:p>
        </p:txBody>
      </p:sp>
      <p:sp>
        <p:nvSpPr>
          <p:cNvPr id="35" name="object 35"/>
          <p:cNvSpPr/>
          <p:nvPr/>
        </p:nvSpPr>
        <p:spPr>
          <a:xfrm>
            <a:off x="9125093" y="4443"/>
            <a:ext cx="458470" cy="6851015"/>
          </a:xfrm>
          <a:custGeom>
            <a:avLst/>
            <a:gdLst/>
            <a:ahLst/>
            <a:cxnLst/>
            <a:rect l="l" t="t" r="r" b="b"/>
            <a:pathLst>
              <a:path w="458470" h="6851015">
                <a:moveTo>
                  <a:pt x="458150" y="0"/>
                </a:moveTo>
                <a:lnTo>
                  <a:pt x="0" y="6850894"/>
                </a:lnTo>
              </a:path>
            </a:pathLst>
          </a:custGeom>
          <a:ln w="7404">
            <a:solidFill>
              <a:srgbClr val="1B61FC"/>
            </a:solidFill>
          </a:ln>
        </p:spPr>
        <p:txBody>
          <a:bodyPr wrap="square" lIns="0" tIns="0" rIns="0" bIns="0" rtlCol="0"/>
          <a:lstStyle/>
          <a:p>
            <a:endParaRPr/>
          </a:p>
        </p:txBody>
      </p:sp>
      <p:sp>
        <p:nvSpPr>
          <p:cNvPr id="36" name="object 36"/>
          <p:cNvSpPr/>
          <p:nvPr/>
        </p:nvSpPr>
        <p:spPr>
          <a:xfrm>
            <a:off x="9124921" y="4443"/>
            <a:ext cx="299085" cy="6851015"/>
          </a:xfrm>
          <a:custGeom>
            <a:avLst/>
            <a:gdLst/>
            <a:ahLst/>
            <a:cxnLst/>
            <a:rect l="l" t="t" r="r" b="b"/>
            <a:pathLst>
              <a:path w="299084" h="6851015">
                <a:moveTo>
                  <a:pt x="298534" y="0"/>
                </a:moveTo>
                <a:lnTo>
                  <a:pt x="0" y="6850894"/>
                </a:lnTo>
              </a:path>
            </a:pathLst>
          </a:custGeom>
          <a:ln w="7404">
            <a:solidFill>
              <a:srgbClr val="1C5FFC"/>
            </a:solidFill>
          </a:ln>
        </p:spPr>
        <p:txBody>
          <a:bodyPr wrap="square" lIns="0" tIns="0" rIns="0" bIns="0" rtlCol="0"/>
          <a:lstStyle/>
          <a:p>
            <a:endParaRPr/>
          </a:p>
        </p:txBody>
      </p:sp>
      <p:sp>
        <p:nvSpPr>
          <p:cNvPr id="37" name="object 37"/>
          <p:cNvSpPr/>
          <p:nvPr/>
        </p:nvSpPr>
        <p:spPr>
          <a:xfrm>
            <a:off x="9120843" y="4443"/>
            <a:ext cx="142240" cy="6851015"/>
          </a:xfrm>
          <a:custGeom>
            <a:avLst/>
            <a:gdLst/>
            <a:ahLst/>
            <a:cxnLst/>
            <a:rect l="l" t="t" r="r" b="b"/>
            <a:pathLst>
              <a:path w="142240" h="6851015">
                <a:moveTo>
                  <a:pt x="141805" y="0"/>
                </a:moveTo>
                <a:lnTo>
                  <a:pt x="0" y="6850894"/>
                </a:lnTo>
              </a:path>
            </a:pathLst>
          </a:custGeom>
          <a:ln w="7404">
            <a:solidFill>
              <a:srgbClr val="1D5EFC"/>
            </a:solidFill>
          </a:ln>
        </p:spPr>
        <p:txBody>
          <a:bodyPr wrap="square" lIns="0" tIns="0" rIns="0" bIns="0" rtlCol="0"/>
          <a:lstStyle/>
          <a:p>
            <a:endParaRPr/>
          </a:p>
        </p:txBody>
      </p:sp>
      <p:sp>
        <p:nvSpPr>
          <p:cNvPr id="38" name="object 38"/>
          <p:cNvSpPr/>
          <p:nvPr/>
        </p:nvSpPr>
        <p:spPr>
          <a:xfrm>
            <a:off x="9101560" y="4443"/>
            <a:ext cx="12700" cy="6851015"/>
          </a:xfrm>
          <a:custGeom>
            <a:avLst/>
            <a:gdLst/>
            <a:ahLst/>
            <a:cxnLst/>
            <a:rect l="l" t="t" r="r" b="b"/>
            <a:pathLst>
              <a:path w="12700" h="6851015">
                <a:moveTo>
                  <a:pt x="0" y="0"/>
                </a:moveTo>
                <a:lnTo>
                  <a:pt x="12177" y="6850894"/>
                </a:lnTo>
              </a:path>
            </a:pathLst>
          </a:custGeom>
          <a:ln w="7404">
            <a:solidFill>
              <a:srgbClr val="1E5CFD"/>
            </a:solidFill>
          </a:ln>
        </p:spPr>
        <p:txBody>
          <a:bodyPr wrap="square" lIns="0" tIns="0" rIns="0" bIns="0" rtlCol="0"/>
          <a:lstStyle/>
          <a:p>
            <a:endParaRPr/>
          </a:p>
        </p:txBody>
      </p:sp>
      <p:sp>
        <p:nvSpPr>
          <p:cNvPr id="39" name="object 39"/>
          <p:cNvSpPr/>
          <p:nvPr/>
        </p:nvSpPr>
        <p:spPr>
          <a:xfrm>
            <a:off x="8939468" y="4443"/>
            <a:ext cx="163830" cy="6851015"/>
          </a:xfrm>
          <a:custGeom>
            <a:avLst/>
            <a:gdLst/>
            <a:ahLst/>
            <a:cxnLst/>
            <a:rect l="l" t="t" r="r" b="b"/>
            <a:pathLst>
              <a:path w="163829" h="6851015">
                <a:moveTo>
                  <a:pt x="0" y="0"/>
                </a:moveTo>
                <a:lnTo>
                  <a:pt x="163420" y="6850894"/>
                </a:lnTo>
              </a:path>
            </a:pathLst>
          </a:custGeom>
          <a:ln w="7404">
            <a:solidFill>
              <a:srgbClr val="1F5AFD"/>
            </a:solidFill>
          </a:ln>
        </p:spPr>
        <p:txBody>
          <a:bodyPr wrap="square" lIns="0" tIns="0" rIns="0" bIns="0" rtlCol="0"/>
          <a:lstStyle/>
          <a:p>
            <a:endParaRPr/>
          </a:p>
        </p:txBody>
      </p:sp>
      <p:sp>
        <p:nvSpPr>
          <p:cNvPr id="40" name="object 40"/>
          <p:cNvSpPr/>
          <p:nvPr/>
        </p:nvSpPr>
        <p:spPr>
          <a:xfrm>
            <a:off x="8776558" y="4443"/>
            <a:ext cx="312420" cy="6851015"/>
          </a:xfrm>
          <a:custGeom>
            <a:avLst/>
            <a:gdLst/>
            <a:ahLst/>
            <a:cxnLst/>
            <a:rect l="l" t="t" r="r" b="b"/>
            <a:pathLst>
              <a:path w="312420" h="6851015">
                <a:moveTo>
                  <a:pt x="0" y="0"/>
                </a:moveTo>
                <a:lnTo>
                  <a:pt x="312183" y="6850894"/>
                </a:lnTo>
              </a:path>
            </a:pathLst>
          </a:custGeom>
          <a:ln w="7404">
            <a:solidFill>
              <a:srgbClr val="1F56FD"/>
            </a:solidFill>
          </a:ln>
        </p:spPr>
        <p:txBody>
          <a:bodyPr wrap="square" lIns="0" tIns="0" rIns="0" bIns="0" rtlCol="0"/>
          <a:lstStyle/>
          <a:p>
            <a:endParaRPr/>
          </a:p>
        </p:txBody>
      </p:sp>
      <p:sp>
        <p:nvSpPr>
          <p:cNvPr id="41" name="object 41"/>
          <p:cNvSpPr/>
          <p:nvPr/>
        </p:nvSpPr>
        <p:spPr>
          <a:xfrm>
            <a:off x="8613185" y="4443"/>
            <a:ext cx="458470" cy="6851015"/>
          </a:xfrm>
          <a:custGeom>
            <a:avLst/>
            <a:gdLst/>
            <a:ahLst/>
            <a:cxnLst/>
            <a:rect l="l" t="t" r="r" b="b"/>
            <a:pathLst>
              <a:path w="458470" h="6851015">
                <a:moveTo>
                  <a:pt x="0" y="0"/>
                </a:moveTo>
                <a:lnTo>
                  <a:pt x="458345" y="6850894"/>
                </a:lnTo>
              </a:path>
            </a:pathLst>
          </a:custGeom>
          <a:ln w="7404">
            <a:solidFill>
              <a:srgbClr val="1F54FD"/>
            </a:solidFill>
          </a:ln>
        </p:spPr>
        <p:txBody>
          <a:bodyPr wrap="square" lIns="0" tIns="0" rIns="0" bIns="0" rtlCol="0"/>
          <a:lstStyle/>
          <a:p>
            <a:endParaRPr/>
          </a:p>
        </p:txBody>
      </p:sp>
      <p:sp>
        <p:nvSpPr>
          <p:cNvPr id="42" name="object 42"/>
          <p:cNvSpPr/>
          <p:nvPr/>
        </p:nvSpPr>
        <p:spPr>
          <a:xfrm>
            <a:off x="8448821" y="4443"/>
            <a:ext cx="602615" cy="6851015"/>
          </a:xfrm>
          <a:custGeom>
            <a:avLst/>
            <a:gdLst/>
            <a:ahLst/>
            <a:cxnLst/>
            <a:rect l="l" t="t" r="r" b="b"/>
            <a:pathLst>
              <a:path w="602615" h="6851015">
                <a:moveTo>
                  <a:pt x="0" y="0"/>
                </a:moveTo>
                <a:lnTo>
                  <a:pt x="602095" y="6850894"/>
                </a:lnTo>
              </a:path>
            </a:pathLst>
          </a:custGeom>
          <a:ln w="7404">
            <a:solidFill>
              <a:srgbClr val="2052FF"/>
            </a:solidFill>
          </a:ln>
        </p:spPr>
        <p:txBody>
          <a:bodyPr wrap="square" lIns="0" tIns="0" rIns="0" bIns="0" rtlCol="0"/>
          <a:lstStyle/>
          <a:p>
            <a:endParaRPr/>
          </a:p>
        </p:txBody>
      </p:sp>
      <p:sp>
        <p:nvSpPr>
          <p:cNvPr id="43" name="object 43"/>
          <p:cNvSpPr/>
          <p:nvPr/>
        </p:nvSpPr>
        <p:spPr>
          <a:xfrm>
            <a:off x="8283805" y="4443"/>
            <a:ext cx="743585" cy="6851015"/>
          </a:xfrm>
          <a:custGeom>
            <a:avLst/>
            <a:gdLst/>
            <a:ahLst/>
            <a:cxnLst/>
            <a:rect l="l" t="t" r="r" b="b"/>
            <a:pathLst>
              <a:path w="743584" h="6851015">
                <a:moveTo>
                  <a:pt x="0" y="0"/>
                </a:moveTo>
                <a:lnTo>
                  <a:pt x="743294" y="6850894"/>
                </a:lnTo>
              </a:path>
            </a:pathLst>
          </a:custGeom>
          <a:ln w="7404">
            <a:solidFill>
              <a:srgbClr val="2151FF"/>
            </a:solidFill>
          </a:ln>
        </p:spPr>
        <p:txBody>
          <a:bodyPr wrap="square" lIns="0" tIns="0" rIns="0" bIns="0" rtlCol="0"/>
          <a:lstStyle/>
          <a:p>
            <a:endParaRPr/>
          </a:p>
        </p:txBody>
      </p:sp>
      <p:sp>
        <p:nvSpPr>
          <p:cNvPr id="45" name="TextBox 44">
            <a:extLst>
              <a:ext uri="{FF2B5EF4-FFF2-40B4-BE49-F238E27FC236}">
                <a16:creationId xmlns:a16="http://schemas.microsoft.com/office/drawing/2014/main" id="{1C7B5DB8-DA33-638E-EED8-4C2F890A81A2}"/>
              </a:ext>
            </a:extLst>
          </p:cNvPr>
          <p:cNvSpPr txBox="1"/>
          <p:nvPr/>
        </p:nvSpPr>
        <p:spPr>
          <a:xfrm>
            <a:off x="4572000" y="2667000"/>
            <a:ext cx="1933543" cy="584775"/>
          </a:xfrm>
          <a:prstGeom prst="rect">
            <a:avLst/>
          </a:prstGeom>
          <a:noFill/>
        </p:spPr>
        <p:txBody>
          <a:bodyPr wrap="none" rtlCol="0">
            <a:spAutoFit/>
          </a:bodyPr>
          <a:lstStyle/>
          <a:p>
            <a:r>
              <a:rPr lang="en-US" sz="3200" b="1" dirty="0"/>
              <a:t>APPENDIX</a:t>
            </a:r>
            <a:endParaRPr lang="el-GR" sz="3200"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647557-6B71-24D2-05B1-E57B1D1312C4}"/>
              </a:ext>
            </a:extLst>
          </p:cNvPr>
          <p:cNvSpPr txBox="1"/>
          <p:nvPr/>
        </p:nvSpPr>
        <p:spPr>
          <a:xfrm>
            <a:off x="990600" y="1621215"/>
            <a:ext cx="9906000" cy="2031325"/>
          </a:xfrm>
          <a:prstGeom prst="rect">
            <a:avLst/>
          </a:prstGeom>
          <a:noFill/>
        </p:spPr>
        <p:txBody>
          <a:bodyPr wrap="square">
            <a:spAutoFit/>
          </a:bodyPr>
          <a:lstStyle/>
          <a:p>
            <a:pPr>
              <a:buNone/>
            </a:pPr>
            <a:r>
              <a:rPr lang="en-US" dirty="0"/>
              <a:t>The assumption of a stable PBT/OPEX ratio is driven by a structural improvement in the operating leverage of the new operating model. Specifically, the majority of incremental OPEX relates to fixed and semi-fixed infrastructure costs (B2B platforms, digital channels, core repossession operations), which are required largely independently of transaction volumes. Once the model reaches maturity (steady state), the marginal cost per additional disbursement becomes low, while incremental revenues (RAR) scale almost linearly with volume. This creates positive operating leverage -&gt; RAR grows faster than OPEX, resulting in an uplift in PBT.</a:t>
            </a:r>
          </a:p>
        </p:txBody>
      </p:sp>
    </p:spTree>
    <p:extLst>
      <p:ext uri="{BB962C8B-B14F-4D97-AF65-F5344CB8AC3E}">
        <p14:creationId xmlns:p14="http://schemas.microsoft.com/office/powerpoint/2010/main" val="36263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058EB87-646F-F2BB-411B-B2A309572055}"/>
              </a:ext>
            </a:extLst>
          </p:cNvPr>
          <p:cNvPicPr>
            <a:picLocks noChangeAspect="1"/>
          </p:cNvPicPr>
          <p:nvPr/>
        </p:nvPicPr>
        <p:blipFill>
          <a:blip r:embed="rId2"/>
          <a:stretch>
            <a:fillRect/>
          </a:stretch>
        </p:blipFill>
        <p:spPr>
          <a:xfrm>
            <a:off x="76202" y="1"/>
            <a:ext cx="12039598" cy="6772274"/>
          </a:xfrm>
          <a:prstGeom prst="rect">
            <a:avLst/>
          </a:prstGeom>
        </p:spPr>
      </p:pic>
      <p:sp>
        <p:nvSpPr>
          <p:cNvPr id="6" name="Rectangle 5">
            <a:extLst>
              <a:ext uri="{FF2B5EF4-FFF2-40B4-BE49-F238E27FC236}">
                <a16:creationId xmlns:a16="http://schemas.microsoft.com/office/drawing/2014/main" id="{555C91EF-B572-6326-BB60-FC08548D7A1A}"/>
              </a:ext>
            </a:extLst>
          </p:cNvPr>
          <p:cNvSpPr/>
          <p:nvPr/>
        </p:nvSpPr>
        <p:spPr>
          <a:xfrm>
            <a:off x="10210797" y="6477000"/>
            <a:ext cx="1676403" cy="2952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                                            10</a:t>
            </a:r>
            <a:endParaRPr lang="el-GR" sz="1000" dirty="0">
              <a:solidFill>
                <a:schemeClr val="tx1"/>
              </a:solidFill>
            </a:endParaRPr>
          </a:p>
        </p:txBody>
      </p:sp>
      <p:sp>
        <p:nvSpPr>
          <p:cNvPr id="7" name="Rectangle 6">
            <a:extLst>
              <a:ext uri="{FF2B5EF4-FFF2-40B4-BE49-F238E27FC236}">
                <a16:creationId xmlns:a16="http://schemas.microsoft.com/office/drawing/2014/main" id="{EE6D2F27-7FAE-2587-6AAE-F5E26D1F5F58}"/>
              </a:ext>
            </a:extLst>
          </p:cNvPr>
          <p:cNvSpPr/>
          <p:nvPr/>
        </p:nvSpPr>
        <p:spPr>
          <a:xfrm>
            <a:off x="533400" y="76200"/>
            <a:ext cx="762000" cy="4367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500" b="1" spc="-5" dirty="0">
                <a:solidFill>
                  <a:schemeClr val="tx1"/>
                </a:solidFill>
                <a:latin typeface="Georgia" panose="02040502050405020303" pitchFamily="18" charset="0"/>
              </a:rPr>
              <a:t>6i |</a:t>
            </a:r>
            <a:endParaRPr lang="el-GR" sz="2500" b="1" dirty="0">
              <a:solidFill>
                <a:schemeClr val="tx1"/>
              </a:solidFill>
              <a:latin typeface="Georgia" panose="02040502050405020303" pitchFamily="18" charset="0"/>
            </a:endParaRPr>
          </a:p>
        </p:txBody>
      </p:sp>
    </p:spTree>
    <p:extLst>
      <p:ext uri="{BB962C8B-B14F-4D97-AF65-F5344CB8AC3E}">
        <p14:creationId xmlns:p14="http://schemas.microsoft.com/office/powerpoint/2010/main" val="3515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413759" y="0"/>
            <a:ext cx="8778240" cy="6858000"/>
          </a:xfrm>
          <a:custGeom>
            <a:avLst/>
            <a:gdLst/>
            <a:ahLst/>
            <a:cxnLst/>
            <a:rect l="l" t="t" r="r" b="b"/>
            <a:pathLst>
              <a:path w="8778240" h="6858000">
                <a:moveTo>
                  <a:pt x="0" y="6858000"/>
                </a:moveTo>
                <a:lnTo>
                  <a:pt x="8778240" y="6858000"/>
                </a:lnTo>
                <a:lnTo>
                  <a:pt x="8778240" y="0"/>
                </a:lnTo>
                <a:lnTo>
                  <a:pt x="0" y="0"/>
                </a:lnTo>
                <a:lnTo>
                  <a:pt x="0" y="6858000"/>
                </a:lnTo>
                <a:close/>
              </a:path>
            </a:pathLst>
          </a:custGeom>
          <a:solidFill>
            <a:srgbClr val="E6E6E6"/>
          </a:solidFill>
        </p:spPr>
        <p:txBody>
          <a:bodyPr wrap="square" lIns="0" tIns="0" rIns="0" bIns="0" rtlCol="0"/>
          <a:lstStyle/>
          <a:p>
            <a:endParaRPr/>
          </a:p>
        </p:txBody>
      </p:sp>
      <p:sp>
        <p:nvSpPr>
          <p:cNvPr id="3" name="object 3"/>
          <p:cNvSpPr txBox="1"/>
          <p:nvPr/>
        </p:nvSpPr>
        <p:spPr>
          <a:xfrm>
            <a:off x="542036" y="2145029"/>
            <a:ext cx="2414905" cy="2887345"/>
          </a:xfrm>
          <a:prstGeom prst="rect">
            <a:avLst/>
          </a:prstGeom>
        </p:spPr>
        <p:txBody>
          <a:bodyPr vert="horz" wrap="square" lIns="0" tIns="12065" rIns="0" bIns="0" rtlCol="0">
            <a:spAutoFit/>
          </a:bodyPr>
          <a:lstStyle/>
          <a:p>
            <a:pPr marL="12700" algn="just">
              <a:lnSpc>
                <a:spcPts val="2900"/>
              </a:lnSpc>
              <a:spcBef>
                <a:spcPts val="95"/>
              </a:spcBef>
            </a:pPr>
            <a:r>
              <a:rPr sz="2500" b="1" spc="-5" dirty="0">
                <a:latin typeface="Georgia"/>
                <a:cs typeface="Georgia"/>
              </a:rPr>
              <a:t>| By</a:t>
            </a:r>
            <a:r>
              <a:rPr sz="2500" b="1" spc="-20" dirty="0">
                <a:latin typeface="Georgia"/>
                <a:cs typeface="Georgia"/>
              </a:rPr>
              <a:t> </a:t>
            </a:r>
            <a:r>
              <a:rPr sz="2500" b="1" spc="-10" dirty="0">
                <a:latin typeface="Georgia"/>
                <a:cs typeface="Georgia"/>
              </a:rPr>
              <a:t>2030,</a:t>
            </a:r>
            <a:endParaRPr sz="2500" dirty="0">
              <a:latin typeface="Georgia"/>
              <a:cs typeface="Georgia"/>
            </a:endParaRPr>
          </a:p>
          <a:p>
            <a:pPr marL="12700" marR="116205" algn="just">
              <a:lnSpc>
                <a:spcPct val="93000"/>
              </a:lnSpc>
              <a:spcBef>
                <a:spcPts val="110"/>
              </a:spcBef>
            </a:pPr>
            <a:r>
              <a:rPr sz="2500" b="1" spc="-10" dirty="0">
                <a:latin typeface="Georgia"/>
                <a:cs typeface="Georgia"/>
              </a:rPr>
              <a:t>Eurobank</a:t>
            </a:r>
            <a:r>
              <a:rPr sz="2500" b="1" spc="-65" dirty="0">
                <a:latin typeface="Georgia"/>
                <a:cs typeface="Georgia"/>
              </a:rPr>
              <a:t> </a:t>
            </a:r>
            <a:r>
              <a:rPr sz="2500" b="1" spc="-10" dirty="0">
                <a:latin typeface="Georgia"/>
                <a:cs typeface="Georgia"/>
              </a:rPr>
              <a:t>can  </a:t>
            </a:r>
            <a:r>
              <a:rPr sz="2500" b="1" spc="-5" dirty="0">
                <a:latin typeface="Georgia"/>
                <a:cs typeface="Georgia"/>
              </a:rPr>
              <a:t>position </a:t>
            </a:r>
            <a:r>
              <a:rPr sz="2500" b="1" dirty="0">
                <a:latin typeface="Georgia"/>
                <a:cs typeface="Georgia"/>
              </a:rPr>
              <a:t>itself  </a:t>
            </a:r>
            <a:r>
              <a:rPr sz="2500" b="1" spc="-5" dirty="0">
                <a:latin typeface="Georgia"/>
                <a:cs typeface="Georgia"/>
              </a:rPr>
              <a:t>as the</a:t>
            </a:r>
            <a:r>
              <a:rPr sz="2500" b="1" spc="-10" dirty="0">
                <a:latin typeface="Georgia"/>
                <a:cs typeface="Georgia"/>
              </a:rPr>
              <a:t> #1</a:t>
            </a:r>
            <a:endParaRPr sz="2500" dirty="0">
              <a:latin typeface="Georgia"/>
              <a:cs typeface="Georgia"/>
            </a:endParaRPr>
          </a:p>
          <a:p>
            <a:pPr marL="12700">
              <a:lnSpc>
                <a:spcPts val="2685"/>
              </a:lnSpc>
            </a:pPr>
            <a:r>
              <a:rPr sz="2500" b="1" spc="-5" dirty="0">
                <a:latin typeface="Georgia"/>
                <a:cs typeface="Georgia"/>
              </a:rPr>
              <a:t>“captive”</a:t>
            </a:r>
            <a:r>
              <a:rPr sz="2500" b="1" spc="-70" dirty="0">
                <a:latin typeface="Georgia"/>
                <a:cs typeface="Georgia"/>
              </a:rPr>
              <a:t> </a:t>
            </a:r>
            <a:r>
              <a:rPr sz="2500" b="1" spc="-5" dirty="0">
                <a:latin typeface="Georgia"/>
                <a:cs typeface="Georgia"/>
              </a:rPr>
              <a:t>bank</a:t>
            </a:r>
            <a:endParaRPr sz="2500" dirty="0">
              <a:latin typeface="Georgia"/>
              <a:cs typeface="Georgia"/>
            </a:endParaRPr>
          </a:p>
          <a:p>
            <a:pPr marL="12700" marR="325120">
              <a:lnSpc>
                <a:spcPct val="93000"/>
              </a:lnSpc>
              <a:spcBef>
                <a:spcPts val="105"/>
              </a:spcBef>
            </a:pPr>
            <a:r>
              <a:rPr sz="2500" b="1" spc="-10" dirty="0">
                <a:latin typeface="Georgia"/>
                <a:cs typeface="Georgia"/>
              </a:rPr>
              <a:t>for  </a:t>
            </a:r>
            <a:r>
              <a:rPr sz="2500" b="1" spc="-5" dirty="0">
                <a:latin typeface="Georgia"/>
                <a:cs typeface="Georgia"/>
              </a:rPr>
              <a:t>i</a:t>
            </a:r>
            <a:r>
              <a:rPr sz="2500" b="1" dirty="0">
                <a:latin typeface="Georgia"/>
                <a:cs typeface="Georgia"/>
              </a:rPr>
              <a:t>n</a:t>
            </a:r>
            <a:r>
              <a:rPr sz="2500" b="1" spc="-10" dirty="0">
                <a:latin typeface="Georgia"/>
                <a:cs typeface="Georgia"/>
              </a:rPr>
              <a:t>depe</a:t>
            </a:r>
            <a:r>
              <a:rPr sz="2500" b="1" dirty="0">
                <a:latin typeface="Georgia"/>
                <a:cs typeface="Georgia"/>
              </a:rPr>
              <a:t>n</a:t>
            </a:r>
            <a:r>
              <a:rPr sz="2500" b="1" spc="-10" dirty="0">
                <a:latin typeface="Georgia"/>
                <a:cs typeface="Georgia"/>
              </a:rPr>
              <a:t>dent  dealers</a:t>
            </a:r>
            <a:endParaRPr sz="2500" dirty="0">
              <a:latin typeface="Georgia"/>
              <a:cs typeface="Georgia"/>
            </a:endParaRPr>
          </a:p>
        </p:txBody>
      </p:sp>
      <p:sp>
        <p:nvSpPr>
          <p:cNvPr id="4" name="object 4"/>
          <p:cNvSpPr/>
          <p:nvPr/>
        </p:nvSpPr>
        <p:spPr>
          <a:xfrm>
            <a:off x="5713857" y="1080096"/>
            <a:ext cx="5955665" cy="915669"/>
          </a:xfrm>
          <a:custGeom>
            <a:avLst/>
            <a:gdLst/>
            <a:ahLst/>
            <a:cxnLst/>
            <a:rect l="l" t="t" r="r" b="b"/>
            <a:pathLst>
              <a:path w="5955665" h="915669">
                <a:moveTo>
                  <a:pt x="0" y="915454"/>
                </a:moveTo>
                <a:lnTo>
                  <a:pt x="5955157" y="915454"/>
                </a:lnTo>
                <a:lnTo>
                  <a:pt x="5955157" y="0"/>
                </a:lnTo>
                <a:lnTo>
                  <a:pt x="0" y="0"/>
                </a:lnTo>
                <a:lnTo>
                  <a:pt x="0" y="915454"/>
                </a:lnTo>
                <a:close/>
              </a:path>
            </a:pathLst>
          </a:custGeom>
          <a:solidFill>
            <a:srgbClr val="F1F1F1"/>
          </a:solidFill>
        </p:spPr>
        <p:txBody>
          <a:bodyPr wrap="square" lIns="0" tIns="0" rIns="0" bIns="0" rtlCol="0"/>
          <a:lstStyle/>
          <a:p>
            <a:endParaRPr/>
          </a:p>
        </p:txBody>
      </p:sp>
      <p:sp>
        <p:nvSpPr>
          <p:cNvPr id="5" name="object 5"/>
          <p:cNvSpPr/>
          <p:nvPr/>
        </p:nvSpPr>
        <p:spPr>
          <a:xfrm>
            <a:off x="5713857" y="1080096"/>
            <a:ext cx="5955665" cy="915669"/>
          </a:xfrm>
          <a:custGeom>
            <a:avLst/>
            <a:gdLst/>
            <a:ahLst/>
            <a:cxnLst/>
            <a:rect l="l" t="t" r="r" b="b"/>
            <a:pathLst>
              <a:path w="5955665" h="915669">
                <a:moveTo>
                  <a:pt x="0" y="915454"/>
                </a:moveTo>
                <a:lnTo>
                  <a:pt x="5955157" y="915454"/>
                </a:lnTo>
                <a:lnTo>
                  <a:pt x="5955157" y="0"/>
                </a:lnTo>
                <a:lnTo>
                  <a:pt x="0" y="0"/>
                </a:lnTo>
                <a:lnTo>
                  <a:pt x="0" y="915454"/>
                </a:lnTo>
                <a:close/>
              </a:path>
            </a:pathLst>
          </a:custGeom>
          <a:ln w="6350">
            <a:solidFill>
              <a:srgbClr val="051F79"/>
            </a:solidFill>
          </a:ln>
        </p:spPr>
        <p:txBody>
          <a:bodyPr wrap="square" lIns="0" tIns="0" rIns="0" bIns="0" rtlCol="0"/>
          <a:lstStyle/>
          <a:p>
            <a:endParaRPr/>
          </a:p>
        </p:txBody>
      </p:sp>
      <p:sp>
        <p:nvSpPr>
          <p:cNvPr id="6" name="object 6"/>
          <p:cNvSpPr/>
          <p:nvPr/>
        </p:nvSpPr>
        <p:spPr>
          <a:xfrm>
            <a:off x="4428109" y="1753107"/>
            <a:ext cx="6816090" cy="4359910"/>
          </a:xfrm>
          <a:custGeom>
            <a:avLst/>
            <a:gdLst/>
            <a:ahLst/>
            <a:cxnLst/>
            <a:rect l="l" t="t" r="r" b="b"/>
            <a:pathLst>
              <a:path w="6816090" h="4359910">
                <a:moveTo>
                  <a:pt x="6699504" y="161416"/>
                </a:moveTo>
                <a:lnTo>
                  <a:pt x="6501257" y="161416"/>
                </a:lnTo>
                <a:lnTo>
                  <a:pt x="6501257" y="4161548"/>
                </a:lnTo>
                <a:lnTo>
                  <a:pt x="0" y="4161548"/>
                </a:lnTo>
                <a:lnTo>
                  <a:pt x="0" y="4359871"/>
                </a:lnTo>
                <a:lnTo>
                  <a:pt x="6699504" y="4359871"/>
                </a:lnTo>
                <a:lnTo>
                  <a:pt x="6699504" y="161416"/>
                </a:lnTo>
                <a:close/>
              </a:path>
              <a:path w="6816090" h="4359910">
                <a:moveTo>
                  <a:pt x="6600444" y="0"/>
                </a:moveTo>
                <a:lnTo>
                  <a:pt x="6384670" y="161416"/>
                </a:lnTo>
                <a:lnTo>
                  <a:pt x="6816090" y="161416"/>
                </a:lnTo>
                <a:lnTo>
                  <a:pt x="6600444" y="0"/>
                </a:lnTo>
                <a:close/>
              </a:path>
            </a:pathLst>
          </a:custGeom>
          <a:solidFill>
            <a:srgbClr val="051F79"/>
          </a:solidFill>
        </p:spPr>
        <p:txBody>
          <a:bodyPr wrap="square" lIns="0" tIns="0" rIns="0" bIns="0" rtlCol="0"/>
          <a:lstStyle/>
          <a:p>
            <a:endParaRPr/>
          </a:p>
        </p:txBody>
      </p:sp>
      <p:sp>
        <p:nvSpPr>
          <p:cNvPr id="7" name="object 7"/>
          <p:cNvSpPr/>
          <p:nvPr/>
        </p:nvSpPr>
        <p:spPr>
          <a:xfrm>
            <a:off x="5722111" y="2001964"/>
            <a:ext cx="4333240" cy="3681095"/>
          </a:xfrm>
          <a:custGeom>
            <a:avLst/>
            <a:gdLst/>
            <a:ahLst/>
            <a:cxnLst/>
            <a:rect l="l" t="t" r="r" b="b"/>
            <a:pathLst>
              <a:path w="4333240" h="3681095">
                <a:moveTo>
                  <a:pt x="0" y="3681095"/>
                </a:moveTo>
                <a:lnTo>
                  <a:pt x="4332986" y="3681095"/>
                </a:lnTo>
                <a:lnTo>
                  <a:pt x="4332986" y="0"/>
                </a:lnTo>
                <a:lnTo>
                  <a:pt x="0" y="0"/>
                </a:lnTo>
                <a:lnTo>
                  <a:pt x="0" y="3681095"/>
                </a:lnTo>
                <a:close/>
              </a:path>
            </a:pathLst>
          </a:custGeom>
          <a:solidFill>
            <a:srgbClr val="C3E6FC"/>
          </a:solidFill>
        </p:spPr>
        <p:txBody>
          <a:bodyPr wrap="square" lIns="0" tIns="0" rIns="0" bIns="0" rtlCol="0"/>
          <a:lstStyle/>
          <a:p>
            <a:endParaRPr/>
          </a:p>
        </p:txBody>
      </p:sp>
      <p:sp>
        <p:nvSpPr>
          <p:cNvPr id="8" name="object 8"/>
          <p:cNvSpPr/>
          <p:nvPr/>
        </p:nvSpPr>
        <p:spPr>
          <a:xfrm>
            <a:off x="5722111" y="2001964"/>
            <a:ext cx="4333240" cy="3681095"/>
          </a:xfrm>
          <a:custGeom>
            <a:avLst/>
            <a:gdLst/>
            <a:ahLst/>
            <a:cxnLst/>
            <a:rect l="l" t="t" r="r" b="b"/>
            <a:pathLst>
              <a:path w="4333240" h="3681095">
                <a:moveTo>
                  <a:pt x="0" y="3681095"/>
                </a:moveTo>
                <a:lnTo>
                  <a:pt x="4332986" y="3681095"/>
                </a:lnTo>
                <a:lnTo>
                  <a:pt x="4332986" y="0"/>
                </a:lnTo>
                <a:lnTo>
                  <a:pt x="0" y="0"/>
                </a:lnTo>
                <a:lnTo>
                  <a:pt x="0" y="3681095"/>
                </a:lnTo>
                <a:close/>
              </a:path>
            </a:pathLst>
          </a:custGeom>
          <a:ln w="6350">
            <a:solidFill>
              <a:srgbClr val="6C8AF8"/>
            </a:solidFill>
          </a:ln>
        </p:spPr>
        <p:txBody>
          <a:bodyPr wrap="square" lIns="0" tIns="0" rIns="0" bIns="0" rtlCol="0"/>
          <a:lstStyle/>
          <a:p>
            <a:endParaRPr/>
          </a:p>
        </p:txBody>
      </p:sp>
      <p:sp>
        <p:nvSpPr>
          <p:cNvPr id="9" name="object 9"/>
          <p:cNvSpPr/>
          <p:nvPr/>
        </p:nvSpPr>
        <p:spPr>
          <a:xfrm>
            <a:off x="3849115" y="1001572"/>
            <a:ext cx="586105" cy="5229225"/>
          </a:xfrm>
          <a:custGeom>
            <a:avLst/>
            <a:gdLst/>
            <a:ahLst/>
            <a:cxnLst/>
            <a:rect l="l" t="t" r="r" b="b"/>
            <a:pathLst>
              <a:path w="586104" h="5229225">
                <a:moveTo>
                  <a:pt x="0" y="5228717"/>
                </a:moveTo>
                <a:lnTo>
                  <a:pt x="585533" y="5228717"/>
                </a:lnTo>
                <a:lnTo>
                  <a:pt x="585533" y="0"/>
                </a:lnTo>
                <a:lnTo>
                  <a:pt x="0" y="0"/>
                </a:lnTo>
                <a:lnTo>
                  <a:pt x="0" y="5228717"/>
                </a:lnTo>
                <a:close/>
              </a:path>
            </a:pathLst>
          </a:custGeom>
          <a:solidFill>
            <a:srgbClr val="FFFFFF"/>
          </a:solidFill>
        </p:spPr>
        <p:txBody>
          <a:bodyPr wrap="square" lIns="0" tIns="0" rIns="0" bIns="0" rtlCol="0"/>
          <a:lstStyle/>
          <a:p>
            <a:endParaRPr/>
          </a:p>
        </p:txBody>
      </p:sp>
      <p:sp>
        <p:nvSpPr>
          <p:cNvPr id="10" name="object 10"/>
          <p:cNvSpPr/>
          <p:nvPr/>
        </p:nvSpPr>
        <p:spPr>
          <a:xfrm>
            <a:off x="3849115" y="1001572"/>
            <a:ext cx="586105" cy="5229225"/>
          </a:xfrm>
          <a:custGeom>
            <a:avLst/>
            <a:gdLst/>
            <a:ahLst/>
            <a:cxnLst/>
            <a:rect l="l" t="t" r="r" b="b"/>
            <a:pathLst>
              <a:path w="586104" h="5229225">
                <a:moveTo>
                  <a:pt x="0" y="5228717"/>
                </a:moveTo>
                <a:lnTo>
                  <a:pt x="585533" y="5228717"/>
                </a:lnTo>
                <a:lnTo>
                  <a:pt x="585533" y="0"/>
                </a:lnTo>
                <a:lnTo>
                  <a:pt x="0" y="0"/>
                </a:lnTo>
                <a:lnTo>
                  <a:pt x="0" y="5228717"/>
                </a:lnTo>
                <a:close/>
              </a:path>
            </a:pathLst>
          </a:custGeom>
          <a:ln w="6350">
            <a:solidFill>
              <a:srgbClr val="051F79"/>
            </a:solidFill>
          </a:ln>
        </p:spPr>
        <p:txBody>
          <a:bodyPr wrap="square" lIns="0" tIns="0" rIns="0" bIns="0" rtlCol="0"/>
          <a:lstStyle/>
          <a:p>
            <a:endParaRPr/>
          </a:p>
        </p:txBody>
      </p:sp>
      <p:sp>
        <p:nvSpPr>
          <p:cNvPr id="11" name="object 11"/>
          <p:cNvSpPr/>
          <p:nvPr/>
        </p:nvSpPr>
        <p:spPr>
          <a:xfrm>
            <a:off x="5750052" y="3109086"/>
            <a:ext cx="4275455" cy="1275080"/>
          </a:xfrm>
          <a:custGeom>
            <a:avLst/>
            <a:gdLst/>
            <a:ahLst/>
            <a:cxnLst/>
            <a:rect l="l" t="t" r="r" b="b"/>
            <a:pathLst>
              <a:path w="4275455" h="1275079">
                <a:moveTo>
                  <a:pt x="0" y="1275080"/>
                </a:moveTo>
                <a:lnTo>
                  <a:pt x="4275074" y="1275080"/>
                </a:lnTo>
                <a:lnTo>
                  <a:pt x="4275074" y="0"/>
                </a:lnTo>
                <a:lnTo>
                  <a:pt x="0" y="0"/>
                </a:lnTo>
                <a:lnTo>
                  <a:pt x="0" y="1275080"/>
                </a:lnTo>
                <a:close/>
              </a:path>
            </a:pathLst>
          </a:custGeom>
          <a:ln w="6350">
            <a:solidFill>
              <a:srgbClr val="051F79"/>
            </a:solidFill>
            <a:prstDash val="sysDash"/>
          </a:ln>
        </p:spPr>
        <p:txBody>
          <a:bodyPr wrap="square" lIns="0" tIns="0" rIns="0" bIns="0" rtlCol="0"/>
          <a:lstStyle/>
          <a:p>
            <a:endParaRPr/>
          </a:p>
        </p:txBody>
      </p:sp>
      <p:sp>
        <p:nvSpPr>
          <p:cNvPr id="12" name="object 12"/>
          <p:cNvSpPr/>
          <p:nvPr/>
        </p:nvSpPr>
        <p:spPr>
          <a:xfrm>
            <a:off x="5720079" y="2187448"/>
            <a:ext cx="2141220" cy="704215"/>
          </a:xfrm>
          <a:custGeom>
            <a:avLst/>
            <a:gdLst/>
            <a:ahLst/>
            <a:cxnLst/>
            <a:rect l="l" t="t" r="r" b="b"/>
            <a:pathLst>
              <a:path w="2141220" h="704214">
                <a:moveTo>
                  <a:pt x="0" y="704088"/>
                </a:moveTo>
                <a:lnTo>
                  <a:pt x="2140839" y="704088"/>
                </a:lnTo>
                <a:lnTo>
                  <a:pt x="2140839" y="0"/>
                </a:lnTo>
                <a:lnTo>
                  <a:pt x="0" y="0"/>
                </a:lnTo>
                <a:lnTo>
                  <a:pt x="0" y="704088"/>
                </a:lnTo>
                <a:close/>
              </a:path>
            </a:pathLst>
          </a:custGeom>
          <a:solidFill>
            <a:srgbClr val="FFFFFF"/>
          </a:solidFill>
        </p:spPr>
        <p:txBody>
          <a:bodyPr wrap="square" lIns="0" tIns="0" rIns="0" bIns="0" rtlCol="0"/>
          <a:lstStyle/>
          <a:p>
            <a:endParaRPr/>
          </a:p>
        </p:txBody>
      </p:sp>
      <p:sp>
        <p:nvSpPr>
          <p:cNvPr id="13" name="object 13"/>
          <p:cNvSpPr/>
          <p:nvPr/>
        </p:nvSpPr>
        <p:spPr>
          <a:xfrm>
            <a:off x="5720079" y="2187448"/>
            <a:ext cx="2141220" cy="704215"/>
          </a:xfrm>
          <a:custGeom>
            <a:avLst/>
            <a:gdLst/>
            <a:ahLst/>
            <a:cxnLst/>
            <a:rect l="l" t="t" r="r" b="b"/>
            <a:pathLst>
              <a:path w="2141220" h="704214">
                <a:moveTo>
                  <a:pt x="0" y="704088"/>
                </a:moveTo>
                <a:lnTo>
                  <a:pt x="2140839" y="704088"/>
                </a:lnTo>
                <a:lnTo>
                  <a:pt x="2140839" y="0"/>
                </a:lnTo>
                <a:lnTo>
                  <a:pt x="0" y="0"/>
                </a:lnTo>
                <a:lnTo>
                  <a:pt x="0" y="704088"/>
                </a:lnTo>
                <a:close/>
              </a:path>
            </a:pathLst>
          </a:custGeom>
          <a:ln w="6350">
            <a:solidFill>
              <a:srgbClr val="051F79"/>
            </a:solidFill>
          </a:ln>
        </p:spPr>
        <p:txBody>
          <a:bodyPr wrap="square" lIns="0" tIns="0" rIns="0" bIns="0" rtlCol="0"/>
          <a:lstStyle/>
          <a:p>
            <a:endParaRPr/>
          </a:p>
        </p:txBody>
      </p:sp>
      <p:sp>
        <p:nvSpPr>
          <p:cNvPr id="14" name="object 14"/>
          <p:cNvSpPr txBox="1"/>
          <p:nvPr/>
        </p:nvSpPr>
        <p:spPr>
          <a:xfrm>
            <a:off x="5720079" y="2307717"/>
            <a:ext cx="2141220" cy="453390"/>
          </a:xfrm>
          <a:prstGeom prst="rect">
            <a:avLst/>
          </a:prstGeom>
        </p:spPr>
        <p:txBody>
          <a:bodyPr vert="horz" wrap="square" lIns="0" tIns="13335" rIns="0" bIns="0" rtlCol="0">
            <a:spAutoFit/>
          </a:bodyPr>
          <a:lstStyle/>
          <a:p>
            <a:pPr algn="ctr">
              <a:lnSpc>
                <a:spcPct val="100000"/>
              </a:lnSpc>
              <a:spcBef>
                <a:spcPts val="105"/>
              </a:spcBef>
            </a:pPr>
            <a:r>
              <a:rPr sz="1400" spc="-5" dirty="0">
                <a:latin typeface="Arial"/>
                <a:cs typeface="Arial"/>
              </a:rPr>
              <a:t>Owned channels</a:t>
            </a:r>
            <a:r>
              <a:rPr sz="1400" spc="-75" dirty="0">
                <a:latin typeface="Arial"/>
                <a:cs typeface="Arial"/>
              </a:rPr>
              <a:t> </a:t>
            </a:r>
            <a:r>
              <a:rPr sz="1400" dirty="0">
                <a:latin typeface="Arial"/>
                <a:cs typeface="Arial"/>
              </a:rPr>
              <a:t>(digital</a:t>
            </a:r>
            <a:endParaRPr sz="1400">
              <a:latin typeface="Arial"/>
              <a:cs typeface="Arial"/>
            </a:endParaRPr>
          </a:p>
          <a:p>
            <a:pPr algn="ctr">
              <a:lnSpc>
                <a:spcPct val="100000"/>
              </a:lnSpc>
            </a:pPr>
            <a:r>
              <a:rPr sz="1400" dirty="0">
                <a:latin typeface="Arial"/>
                <a:cs typeface="Arial"/>
              </a:rPr>
              <a:t>&amp;</a:t>
            </a:r>
            <a:r>
              <a:rPr sz="1400" spc="-20" dirty="0">
                <a:latin typeface="Arial"/>
                <a:cs typeface="Arial"/>
              </a:rPr>
              <a:t> </a:t>
            </a:r>
            <a:r>
              <a:rPr sz="1400" spc="-5" dirty="0">
                <a:latin typeface="Arial"/>
                <a:cs typeface="Arial"/>
              </a:rPr>
              <a:t>physical)</a:t>
            </a:r>
            <a:endParaRPr sz="1400">
              <a:latin typeface="Arial"/>
              <a:cs typeface="Arial"/>
            </a:endParaRPr>
          </a:p>
        </p:txBody>
      </p:sp>
      <p:sp>
        <p:nvSpPr>
          <p:cNvPr id="15" name="object 15"/>
          <p:cNvSpPr txBox="1"/>
          <p:nvPr/>
        </p:nvSpPr>
        <p:spPr>
          <a:xfrm>
            <a:off x="5822569" y="4614265"/>
            <a:ext cx="1254125" cy="605155"/>
          </a:xfrm>
          <a:prstGeom prst="rect">
            <a:avLst/>
          </a:prstGeom>
        </p:spPr>
        <p:txBody>
          <a:bodyPr vert="horz" wrap="square" lIns="0" tIns="88900" rIns="0" bIns="0" rtlCol="0">
            <a:spAutoFit/>
          </a:bodyPr>
          <a:lstStyle/>
          <a:p>
            <a:pPr marL="172085" indent="-172720">
              <a:lnSpc>
                <a:spcPct val="100000"/>
              </a:lnSpc>
              <a:spcBef>
                <a:spcPts val="700"/>
              </a:spcBef>
              <a:buChar char="•"/>
              <a:tabLst>
                <a:tab pos="172720" algn="l"/>
              </a:tabLst>
            </a:pPr>
            <a:r>
              <a:rPr sz="1400" spc="-5" dirty="0">
                <a:latin typeface="Arial"/>
                <a:cs typeface="Arial"/>
              </a:rPr>
              <a:t>Floor</a:t>
            </a:r>
            <a:r>
              <a:rPr sz="1400" spc="-35" dirty="0">
                <a:latin typeface="Arial"/>
                <a:cs typeface="Arial"/>
              </a:rPr>
              <a:t> </a:t>
            </a:r>
            <a:r>
              <a:rPr sz="1400" spc="-5" dirty="0">
                <a:latin typeface="Arial"/>
                <a:cs typeface="Arial"/>
              </a:rPr>
              <a:t>plan</a:t>
            </a:r>
            <a:endParaRPr sz="1400">
              <a:latin typeface="Arial"/>
              <a:cs typeface="Arial"/>
            </a:endParaRPr>
          </a:p>
          <a:p>
            <a:pPr marL="172085" indent="-172720">
              <a:lnSpc>
                <a:spcPct val="100000"/>
              </a:lnSpc>
              <a:spcBef>
                <a:spcPts val="600"/>
              </a:spcBef>
              <a:buChar char="•"/>
              <a:tabLst>
                <a:tab pos="172720" algn="l"/>
              </a:tabLst>
            </a:pPr>
            <a:r>
              <a:rPr sz="1400" dirty="0">
                <a:latin typeface="Arial"/>
                <a:cs typeface="Arial"/>
              </a:rPr>
              <a:t>Stock</a:t>
            </a:r>
            <a:r>
              <a:rPr sz="1400" spc="-80" dirty="0">
                <a:latin typeface="Arial"/>
                <a:cs typeface="Arial"/>
              </a:rPr>
              <a:t> </a:t>
            </a:r>
            <a:r>
              <a:rPr sz="1400" spc="-5" dirty="0">
                <a:latin typeface="Arial"/>
                <a:cs typeface="Arial"/>
              </a:rPr>
              <a:t>finance</a:t>
            </a:r>
            <a:endParaRPr sz="1400">
              <a:latin typeface="Arial"/>
              <a:cs typeface="Arial"/>
            </a:endParaRPr>
          </a:p>
        </p:txBody>
      </p:sp>
      <p:sp>
        <p:nvSpPr>
          <p:cNvPr id="16" name="object 16"/>
          <p:cNvSpPr/>
          <p:nvPr/>
        </p:nvSpPr>
        <p:spPr>
          <a:xfrm>
            <a:off x="7955915" y="2447925"/>
            <a:ext cx="2115820" cy="443865"/>
          </a:xfrm>
          <a:custGeom>
            <a:avLst/>
            <a:gdLst/>
            <a:ahLst/>
            <a:cxnLst/>
            <a:rect l="l" t="t" r="r" b="b"/>
            <a:pathLst>
              <a:path w="2115820" h="443864">
                <a:moveTo>
                  <a:pt x="0" y="443611"/>
                </a:moveTo>
                <a:lnTo>
                  <a:pt x="2115820" y="443611"/>
                </a:lnTo>
                <a:lnTo>
                  <a:pt x="2115820" y="0"/>
                </a:lnTo>
                <a:lnTo>
                  <a:pt x="0" y="0"/>
                </a:lnTo>
                <a:lnTo>
                  <a:pt x="0" y="443611"/>
                </a:lnTo>
                <a:close/>
              </a:path>
            </a:pathLst>
          </a:custGeom>
          <a:solidFill>
            <a:srgbClr val="FFFFFF"/>
          </a:solidFill>
        </p:spPr>
        <p:txBody>
          <a:bodyPr wrap="square" lIns="0" tIns="0" rIns="0" bIns="0" rtlCol="0"/>
          <a:lstStyle/>
          <a:p>
            <a:endParaRPr/>
          </a:p>
        </p:txBody>
      </p:sp>
      <p:sp>
        <p:nvSpPr>
          <p:cNvPr id="17" name="object 17"/>
          <p:cNvSpPr/>
          <p:nvPr/>
        </p:nvSpPr>
        <p:spPr>
          <a:xfrm>
            <a:off x="7955915" y="2187448"/>
            <a:ext cx="2115820" cy="704215"/>
          </a:xfrm>
          <a:custGeom>
            <a:avLst/>
            <a:gdLst/>
            <a:ahLst/>
            <a:cxnLst/>
            <a:rect l="l" t="t" r="r" b="b"/>
            <a:pathLst>
              <a:path w="2115820" h="704214">
                <a:moveTo>
                  <a:pt x="0" y="704088"/>
                </a:moveTo>
                <a:lnTo>
                  <a:pt x="2115820" y="704088"/>
                </a:lnTo>
                <a:lnTo>
                  <a:pt x="2115820" y="0"/>
                </a:lnTo>
                <a:lnTo>
                  <a:pt x="0" y="0"/>
                </a:lnTo>
                <a:lnTo>
                  <a:pt x="0" y="704088"/>
                </a:lnTo>
                <a:close/>
              </a:path>
            </a:pathLst>
          </a:custGeom>
          <a:ln w="6350">
            <a:solidFill>
              <a:srgbClr val="051F79"/>
            </a:solidFill>
          </a:ln>
        </p:spPr>
        <p:txBody>
          <a:bodyPr wrap="square" lIns="0" tIns="0" rIns="0" bIns="0" rtlCol="0"/>
          <a:lstStyle/>
          <a:p>
            <a:endParaRPr/>
          </a:p>
        </p:txBody>
      </p:sp>
      <p:sp>
        <p:nvSpPr>
          <p:cNvPr id="18" name="object 18"/>
          <p:cNvSpPr/>
          <p:nvPr/>
        </p:nvSpPr>
        <p:spPr>
          <a:xfrm>
            <a:off x="10060813" y="2447925"/>
            <a:ext cx="1608455" cy="443865"/>
          </a:xfrm>
          <a:custGeom>
            <a:avLst/>
            <a:gdLst/>
            <a:ahLst/>
            <a:cxnLst/>
            <a:rect l="l" t="t" r="r" b="b"/>
            <a:pathLst>
              <a:path w="1608454" h="443864">
                <a:moveTo>
                  <a:pt x="0" y="443611"/>
                </a:moveTo>
                <a:lnTo>
                  <a:pt x="1608201" y="443611"/>
                </a:lnTo>
                <a:lnTo>
                  <a:pt x="1608201" y="0"/>
                </a:lnTo>
                <a:lnTo>
                  <a:pt x="0" y="0"/>
                </a:lnTo>
                <a:lnTo>
                  <a:pt x="0" y="443611"/>
                </a:lnTo>
                <a:close/>
              </a:path>
            </a:pathLst>
          </a:custGeom>
          <a:solidFill>
            <a:srgbClr val="FFFFFF"/>
          </a:solidFill>
        </p:spPr>
        <p:txBody>
          <a:bodyPr wrap="square" lIns="0" tIns="0" rIns="0" bIns="0" rtlCol="0"/>
          <a:lstStyle/>
          <a:p>
            <a:endParaRPr/>
          </a:p>
        </p:txBody>
      </p:sp>
      <p:sp>
        <p:nvSpPr>
          <p:cNvPr id="19" name="object 19"/>
          <p:cNvSpPr/>
          <p:nvPr/>
        </p:nvSpPr>
        <p:spPr>
          <a:xfrm>
            <a:off x="10060813" y="2187448"/>
            <a:ext cx="1608455" cy="704215"/>
          </a:xfrm>
          <a:custGeom>
            <a:avLst/>
            <a:gdLst/>
            <a:ahLst/>
            <a:cxnLst/>
            <a:rect l="l" t="t" r="r" b="b"/>
            <a:pathLst>
              <a:path w="1608454" h="704214">
                <a:moveTo>
                  <a:pt x="0" y="704088"/>
                </a:moveTo>
                <a:lnTo>
                  <a:pt x="1608201" y="704088"/>
                </a:lnTo>
                <a:lnTo>
                  <a:pt x="1608201" y="0"/>
                </a:lnTo>
                <a:lnTo>
                  <a:pt x="0" y="0"/>
                </a:lnTo>
                <a:lnTo>
                  <a:pt x="0" y="704088"/>
                </a:lnTo>
                <a:close/>
              </a:path>
            </a:pathLst>
          </a:custGeom>
          <a:ln w="6350">
            <a:solidFill>
              <a:srgbClr val="051F79"/>
            </a:solidFill>
            <a:prstDash val="sysDash"/>
          </a:ln>
        </p:spPr>
        <p:txBody>
          <a:bodyPr wrap="square" lIns="0" tIns="0" rIns="0" bIns="0" rtlCol="0"/>
          <a:lstStyle/>
          <a:p>
            <a:endParaRPr/>
          </a:p>
        </p:txBody>
      </p:sp>
      <p:sp>
        <p:nvSpPr>
          <p:cNvPr id="20" name="object 20"/>
          <p:cNvSpPr txBox="1"/>
          <p:nvPr/>
        </p:nvSpPr>
        <p:spPr>
          <a:xfrm>
            <a:off x="5822569" y="3113177"/>
            <a:ext cx="1442720" cy="604520"/>
          </a:xfrm>
          <a:prstGeom prst="rect">
            <a:avLst/>
          </a:prstGeom>
        </p:spPr>
        <p:txBody>
          <a:bodyPr vert="horz" wrap="square" lIns="0" tIns="88265" rIns="0" bIns="0" rtlCol="0">
            <a:spAutoFit/>
          </a:bodyPr>
          <a:lstStyle/>
          <a:p>
            <a:pPr marL="172085" indent="-172720">
              <a:lnSpc>
                <a:spcPct val="100000"/>
              </a:lnSpc>
              <a:spcBef>
                <a:spcPts val="695"/>
              </a:spcBef>
              <a:buChar char="•"/>
              <a:tabLst>
                <a:tab pos="172720" algn="l"/>
              </a:tabLst>
            </a:pPr>
            <a:r>
              <a:rPr sz="1400" dirty="0">
                <a:latin typeface="Arial"/>
                <a:cs typeface="Arial"/>
              </a:rPr>
              <a:t>Auto</a:t>
            </a:r>
            <a:r>
              <a:rPr sz="1400" spc="-30" dirty="0">
                <a:latin typeface="Arial"/>
                <a:cs typeface="Arial"/>
              </a:rPr>
              <a:t> </a:t>
            </a:r>
            <a:r>
              <a:rPr sz="1400" spc="-5" dirty="0">
                <a:latin typeface="Arial"/>
                <a:cs typeface="Arial"/>
              </a:rPr>
              <a:t>loan</a:t>
            </a:r>
            <a:endParaRPr sz="1400" dirty="0">
              <a:latin typeface="Arial"/>
              <a:cs typeface="Arial"/>
            </a:endParaRPr>
          </a:p>
          <a:p>
            <a:pPr marL="172085" indent="-172720">
              <a:lnSpc>
                <a:spcPct val="100000"/>
              </a:lnSpc>
              <a:spcBef>
                <a:spcPts val="600"/>
              </a:spcBef>
              <a:buChar char="•"/>
              <a:tabLst>
                <a:tab pos="172720" algn="l"/>
              </a:tabLst>
            </a:pPr>
            <a:r>
              <a:rPr sz="1400" dirty="0">
                <a:latin typeface="Arial"/>
                <a:cs typeface="Arial"/>
              </a:rPr>
              <a:t>Ballon</a:t>
            </a:r>
            <a:r>
              <a:rPr sz="1400" spc="-75" dirty="0">
                <a:latin typeface="Arial"/>
                <a:cs typeface="Arial"/>
              </a:rPr>
              <a:t> </a:t>
            </a:r>
            <a:r>
              <a:rPr sz="1400" spc="-5" dirty="0">
                <a:latin typeface="Arial"/>
                <a:cs typeface="Arial"/>
              </a:rPr>
              <a:t>financing</a:t>
            </a:r>
            <a:endParaRPr sz="1400" dirty="0">
              <a:latin typeface="Arial"/>
              <a:cs typeface="Arial"/>
            </a:endParaRPr>
          </a:p>
        </p:txBody>
      </p:sp>
      <p:sp>
        <p:nvSpPr>
          <p:cNvPr id="21" name="object 21"/>
          <p:cNvSpPr txBox="1"/>
          <p:nvPr/>
        </p:nvSpPr>
        <p:spPr>
          <a:xfrm>
            <a:off x="5822569" y="3692118"/>
            <a:ext cx="1577975" cy="604520"/>
          </a:xfrm>
          <a:prstGeom prst="rect">
            <a:avLst/>
          </a:prstGeom>
        </p:spPr>
        <p:txBody>
          <a:bodyPr vert="horz" wrap="square" lIns="0" tIns="88900" rIns="0" bIns="0" rtlCol="0">
            <a:spAutoFit/>
          </a:bodyPr>
          <a:lstStyle/>
          <a:p>
            <a:pPr marL="172085" indent="-172720">
              <a:lnSpc>
                <a:spcPct val="100000"/>
              </a:lnSpc>
              <a:spcBef>
                <a:spcPts val="700"/>
              </a:spcBef>
              <a:buChar char="•"/>
              <a:tabLst>
                <a:tab pos="172720" algn="l"/>
              </a:tabLst>
            </a:pPr>
            <a:r>
              <a:rPr sz="1400" dirty="0">
                <a:latin typeface="Arial"/>
                <a:cs typeface="Arial"/>
              </a:rPr>
              <a:t>Operating</a:t>
            </a:r>
            <a:r>
              <a:rPr sz="1400" spc="-114" dirty="0">
                <a:latin typeface="Arial"/>
                <a:cs typeface="Arial"/>
              </a:rPr>
              <a:t> </a:t>
            </a:r>
            <a:r>
              <a:rPr sz="1400" spc="-5" dirty="0">
                <a:latin typeface="Arial"/>
                <a:cs typeface="Arial"/>
              </a:rPr>
              <a:t>leasing</a:t>
            </a:r>
            <a:endParaRPr sz="1400" dirty="0">
              <a:latin typeface="Arial"/>
              <a:cs typeface="Arial"/>
            </a:endParaRPr>
          </a:p>
          <a:p>
            <a:pPr marL="172085" indent="-172720">
              <a:lnSpc>
                <a:spcPct val="100000"/>
              </a:lnSpc>
              <a:spcBef>
                <a:spcPts val="600"/>
              </a:spcBef>
              <a:buChar char="•"/>
              <a:tabLst>
                <a:tab pos="172720" algn="l"/>
              </a:tabLst>
            </a:pPr>
            <a:r>
              <a:rPr sz="1400" spc="-5" dirty="0">
                <a:latin typeface="Arial"/>
                <a:cs typeface="Arial"/>
              </a:rPr>
              <a:t>Financial</a:t>
            </a:r>
            <a:r>
              <a:rPr sz="1400" spc="-95" dirty="0">
                <a:latin typeface="Arial"/>
                <a:cs typeface="Arial"/>
              </a:rPr>
              <a:t> </a:t>
            </a:r>
            <a:r>
              <a:rPr sz="1400" spc="-5" dirty="0">
                <a:latin typeface="Arial"/>
                <a:cs typeface="Arial"/>
              </a:rPr>
              <a:t>leasing</a:t>
            </a:r>
            <a:endParaRPr sz="1400" dirty="0">
              <a:latin typeface="Arial"/>
              <a:cs typeface="Arial"/>
            </a:endParaRPr>
          </a:p>
        </p:txBody>
      </p:sp>
      <p:sp>
        <p:nvSpPr>
          <p:cNvPr id="22" name="object 22"/>
          <p:cNvSpPr txBox="1"/>
          <p:nvPr/>
        </p:nvSpPr>
        <p:spPr>
          <a:xfrm>
            <a:off x="8045831" y="3691509"/>
            <a:ext cx="1442720" cy="239395"/>
          </a:xfrm>
          <a:prstGeom prst="rect">
            <a:avLst/>
          </a:prstGeom>
        </p:spPr>
        <p:txBody>
          <a:bodyPr vert="horz" wrap="square" lIns="0" tIns="12700" rIns="0" bIns="0" rtlCol="0">
            <a:spAutoFit/>
          </a:bodyPr>
          <a:lstStyle/>
          <a:p>
            <a:pPr marL="172085" indent="-172720">
              <a:lnSpc>
                <a:spcPct val="100000"/>
              </a:lnSpc>
              <a:spcBef>
                <a:spcPts val="100"/>
              </a:spcBef>
              <a:buChar char="•"/>
              <a:tabLst>
                <a:tab pos="172720" algn="l"/>
              </a:tabLst>
            </a:pPr>
            <a:r>
              <a:rPr sz="1400" dirty="0">
                <a:latin typeface="Arial"/>
                <a:cs typeface="Arial"/>
              </a:rPr>
              <a:t>Ballon</a:t>
            </a:r>
            <a:r>
              <a:rPr sz="1400" spc="-65" dirty="0">
                <a:latin typeface="Arial"/>
                <a:cs typeface="Arial"/>
              </a:rPr>
              <a:t> </a:t>
            </a:r>
            <a:r>
              <a:rPr sz="1400" spc="-5" dirty="0">
                <a:latin typeface="Arial"/>
                <a:cs typeface="Arial"/>
              </a:rPr>
              <a:t>financing</a:t>
            </a:r>
            <a:endParaRPr sz="1400">
              <a:latin typeface="Arial"/>
              <a:cs typeface="Arial"/>
            </a:endParaRPr>
          </a:p>
        </p:txBody>
      </p:sp>
      <p:sp>
        <p:nvSpPr>
          <p:cNvPr id="23" name="object 23"/>
          <p:cNvSpPr/>
          <p:nvPr/>
        </p:nvSpPr>
        <p:spPr>
          <a:xfrm>
            <a:off x="8321293" y="2565857"/>
            <a:ext cx="3044825" cy="215900"/>
          </a:xfrm>
          <a:custGeom>
            <a:avLst/>
            <a:gdLst/>
            <a:ahLst/>
            <a:cxnLst/>
            <a:rect l="l" t="t" r="r" b="b"/>
            <a:pathLst>
              <a:path w="3044825" h="215900">
                <a:moveTo>
                  <a:pt x="0" y="215442"/>
                </a:moveTo>
                <a:lnTo>
                  <a:pt x="3044825" y="215442"/>
                </a:lnTo>
                <a:lnTo>
                  <a:pt x="3044825" y="0"/>
                </a:lnTo>
                <a:lnTo>
                  <a:pt x="0" y="0"/>
                </a:lnTo>
                <a:lnTo>
                  <a:pt x="0" y="215442"/>
                </a:lnTo>
                <a:close/>
              </a:path>
            </a:pathLst>
          </a:custGeom>
          <a:solidFill>
            <a:srgbClr val="FFFFFF"/>
          </a:solidFill>
        </p:spPr>
        <p:txBody>
          <a:bodyPr wrap="square" lIns="0" tIns="0" rIns="0" bIns="0" rtlCol="0"/>
          <a:lstStyle/>
          <a:p>
            <a:endParaRPr/>
          </a:p>
        </p:txBody>
      </p:sp>
      <p:sp>
        <p:nvSpPr>
          <p:cNvPr id="24" name="object 24"/>
          <p:cNvSpPr/>
          <p:nvPr/>
        </p:nvSpPr>
        <p:spPr>
          <a:xfrm>
            <a:off x="7950072" y="2185530"/>
            <a:ext cx="2105025" cy="262890"/>
          </a:xfrm>
          <a:custGeom>
            <a:avLst/>
            <a:gdLst/>
            <a:ahLst/>
            <a:cxnLst/>
            <a:rect l="l" t="t" r="r" b="b"/>
            <a:pathLst>
              <a:path w="2105025" h="262889">
                <a:moveTo>
                  <a:pt x="0" y="262394"/>
                </a:moveTo>
                <a:lnTo>
                  <a:pt x="2104898" y="262394"/>
                </a:lnTo>
                <a:lnTo>
                  <a:pt x="2104898" y="0"/>
                </a:lnTo>
                <a:lnTo>
                  <a:pt x="0" y="0"/>
                </a:lnTo>
                <a:lnTo>
                  <a:pt x="0" y="262394"/>
                </a:lnTo>
                <a:close/>
              </a:path>
            </a:pathLst>
          </a:custGeom>
          <a:solidFill>
            <a:srgbClr val="FFFFFF"/>
          </a:solidFill>
        </p:spPr>
        <p:txBody>
          <a:bodyPr wrap="square" lIns="0" tIns="0" rIns="0" bIns="0" rtlCol="0"/>
          <a:lstStyle/>
          <a:p>
            <a:endParaRPr/>
          </a:p>
        </p:txBody>
      </p:sp>
      <p:sp>
        <p:nvSpPr>
          <p:cNvPr id="25" name="object 25"/>
          <p:cNvSpPr/>
          <p:nvPr/>
        </p:nvSpPr>
        <p:spPr>
          <a:xfrm>
            <a:off x="7950072" y="2185530"/>
            <a:ext cx="2105025" cy="262890"/>
          </a:xfrm>
          <a:custGeom>
            <a:avLst/>
            <a:gdLst/>
            <a:ahLst/>
            <a:cxnLst/>
            <a:rect l="l" t="t" r="r" b="b"/>
            <a:pathLst>
              <a:path w="2105025" h="262889">
                <a:moveTo>
                  <a:pt x="0" y="262394"/>
                </a:moveTo>
                <a:lnTo>
                  <a:pt x="2104898" y="262394"/>
                </a:lnTo>
                <a:lnTo>
                  <a:pt x="2104898" y="0"/>
                </a:lnTo>
                <a:lnTo>
                  <a:pt x="0" y="0"/>
                </a:lnTo>
                <a:lnTo>
                  <a:pt x="0" y="262394"/>
                </a:lnTo>
                <a:close/>
              </a:path>
            </a:pathLst>
          </a:custGeom>
          <a:ln w="6350">
            <a:solidFill>
              <a:srgbClr val="051F79"/>
            </a:solidFill>
          </a:ln>
        </p:spPr>
        <p:txBody>
          <a:bodyPr wrap="square" lIns="0" tIns="0" rIns="0" bIns="0" rtlCol="0"/>
          <a:lstStyle/>
          <a:p>
            <a:endParaRPr/>
          </a:p>
        </p:txBody>
      </p:sp>
      <p:sp>
        <p:nvSpPr>
          <p:cNvPr id="26" name="object 26"/>
          <p:cNvSpPr/>
          <p:nvPr/>
        </p:nvSpPr>
        <p:spPr>
          <a:xfrm>
            <a:off x="10054970" y="2185530"/>
            <a:ext cx="1619885" cy="262890"/>
          </a:xfrm>
          <a:custGeom>
            <a:avLst/>
            <a:gdLst/>
            <a:ahLst/>
            <a:cxnLst/>
            <a:rect l="l" t="t" r="r" b="b"/>
            <a:pathLst>
              <a:path w="1619884" h="262889">
                <a:moveTo>
                  <a:pt x="0" y="262394"/>
                </a:moveTo>
                <a:lnTo>
                  <a:pt x="1619884" y="262394"/>
                </a:lnTo>
                <a:lnTo>
                  <a:pt x="1619884" y="0"/>
                </a:lnTo>
                <a:lnTo>
                  <a:pt x="0" y="0"/>
                </a:lnTo>
                <a:lnTo>
                  <a:pt x="0" y="262394"/>
                </a:lnTo>
                <a:close/>
              </a:path>
            </a:pathLst>
          </a:custGeom>
          <a:solidFill>
            <a:srgbClr val="FFFFFF"/>
          </a:solidFill>
        </p:spPr>
        <p:txBody>
          <a:bodyPr wrap="square" lIns="0" tIns="0" rIns="0" bIns="0" rtlCol="0"/>
          <a:lstStyle/>
          <a:p>
            <a:endParaRPr/>
          </a:p>
        </p:txBody>
      </p:sp>
      <p:sp>
        <p:nvSpPr>
          <p:cNvPr id="27" name="object 27"/>
          <p:cNvSpPr/>
          <p:nvPr/>
        </p:nvSpPr>
        <p:spPr>
          <a:xfrm>
            <a:off x="10054970" y="2185530"/>
            <a:ext cx="1619885" cy="262890"/>
          </a:xfrm>
          <a:custGeom>
            <a:avLst/>
            <a:gdLst/>
            <a:ahLst/>
            <a:cxnLst/>
            <a:rect l="l" t="t" r="r" b="b"/>
            <a:pathLst>
              <a:path w="1619884" h="262889">
                <a:moveTo>
                  <a:pt x="0" y="262394"/>
                </a:moveTo>
                <a:lnTo>
                  <a:pt x="1619884" y="262394"/>
                </a:lnTo>
                <a:lnTo>
                  <a:pt x="1619884" y="0"/>
                </a:lnTo>
                <a:lnTo>
                  <a:pt x="0" y="0"/>
                </a:lnTo>
                <a:lnTo>
                  <a:pt x="0" y="262394"/>
                </a:lnTo>
                <a:close/>
              </a:path>
            </a:pathLst>
          </a:custGeom>
          <a:ln w="6350">
            <a:solidFill>
              <a:srgbClr val="051F79"/>
            </a:solidFill>
            <a:prstDash val="sysDash"/>
          </a:ln>
        </p:spPr>
        <p:txBody>
          <a:bodyPr wrap="square" lIns="0" tIns="0" rIns="0" bIns="0" rtlCol="0"/>
          <a:lstStyle/>
          <a:p>
            <a:endParaRPr/>
          </a:p>
        </p:txBody>
      </p:sp>
      <p:sp>
        <p:nvSpPr>
          <p:cNvPr id="28" name="object 28"/>
          <p:cNvSpPr txBox="1"/>
          <p:nvPr/>
        </p:nvSpPr>
        <p:spPr>
          <a:xfrm>
            <a:off x="8804402" y="2191638"/>
            <a:ext cx="2279015" cy="595630"/>
          </a:xfrm>
          <a:prstGeom prst="rect">
            <a:avLst/>
          </a:prstGeom>
        </p:spPr>
        <p:txBody>
          <a:bodyPr vert="horz" wrap="square" lIns="0" tIns="13335" rIns="0" bIns="0" rtlCol="0">
            <a:spAutoFit/>
          </a:bodyPr>
          <a:lstStyle/>
          <a:p>
            <a:pPr marL="25400">
              <a:lnSpc>
                <a:spcPct val="100000"/>
              </a:lnSpc>
              <a:spcBef>
                <a:spcPts val="105"/>
              </a:spcBef>
              <a:tabLst>
                <a:tab pos="1884045" algn="l"/>
              </a:tabLst>
            </a:pPr>
            <a:r>
              <a:rPr sz="1400" spc="-5" dirty="0">
                <a:latin typeface="Arial"/>
                <a:cs typeface="Arial"/>
              </a:rPr>
              <a:t>B2C	C2C</a:t>
            </a:r>
            <a:endParaRPr sz="1400">
              <a:latin typeface="Arial"/>
              <a:cs typeface="Arial"/>
            </a:endParaRPr>
          </a:p>
          <a:p>
            <a:pPr marL="67945">
              <a:lnSpc>
                <a:spcPct val="100000"/>
              </a:lnSpc>
              <a:spcBef>
                <a:spcPts val="1120"/>
              </a:spcBef>
            </a:pPr>
            <a:r>
              <a:rPr sz="1400" spc="5" dirty="0">
                <a:latin typeface="Arial"/>
                <a:cs typeface="Arial"/>
              </a:rPr>
              <a:t>3</a:t>
            </a:r>
            <a:r>
              <a:rPr sz="1350" spc="7" baseline="24691" dirty="0">
                <a:latin typeface="Arial"/>
                <a:cs typeface="Arial"/>
              </a:rPr>
              <a:t>rd </a:t>
            </a:r>
            <a:r>
              <a:rPr sz="1400" spc="-5" dirty="0">
                <a:latin typeface="Arial"/>
                <a:cs typeface="Arial"/>
              </a:rPr>
              <a:t>party digital</a:t>
            </a:r>
            <a:r>
              <a:rPr sz="1400" spc="-185" dirty="0">
                <a:latin typeface="Arial"/>
                <a:cs typeface="Arial"/>
              </a:rPr>
              <a:t> </a:t>
            </a:r>
            <a:r>
              <a:rPr sz="1400" spc="-5" dirty="0">
                <a:latin typeface="Arial"/>
                <a:cs typeface="Arial"/>
              </a:rPr>
              <a:t>platforms</a:t>
            </a:r>
            <a:endParaRPr sz="1400">
              <a:latin typeface="Arial"/>
              <a:cs typeface="Arial"/>
            </a:endParaRPr>
          </a:p>
        </p:txBody>
      </p:sp>
      <p:sp>
        <p:nvSpPr>
          <p:cNvPr id="29" name="object 29"/>
          <p:cNvSpPr/>
          <p:nvPr/>
        </p:nvSpPr>
        <p:spPr>
          <a:xfrm>
            <a:off x="3864203" y="2379853"/>
            <a:ext cx="563905" cy="1970785"/>
          </a:xfrm>
          <a:prstGeom prst="rect">
            <a:avLst/>
          </a:prstGeom>
          <a:blipFill>
            <a:blip r:embed="rId2" cstate="print"/>
            <a:stretch>
              <a:fillRect/>
            </a:stretch>
          </a:blipFill>
        </p:spPr>
        <p:txBody>
          <a:bodyPr wrap="square" lIns="0" tIns="0" rIns="0" bIns="0" rtlCol="0"/>
          <a:lstStyle/>
          <a:p>
            <a:endParaRPr/>
          </a:p>
        </p:txBody>
      </p:sp>
      <p:sp>
        <p:nvSpPr>
          <p:cNvPr id="30" name="object 30"/>
          <p:cNvSpPr/>
          <p:nvPr/>
        </p:nvSpPr>
        <p:spPr>
          <a:xfrm>
            <a:off x="4448683" y="1218183"/>
            <a:ext cx="1273810" cy="335280"/>
          </a:xfrm>
          <a:custGeom>
            <a:avLst/>
            <a:gdLst/>
            <a:ahLst/>
            <a:cxnLst/>
            <a:rect l="l" t="t" r="r" b="b"/>
            <a:pathLst>
              <a:path w="1273810" h="335280">
                <a:moveTo>
                  <a:pt x="1106042" y="0"/>
                </a:moveTo>
                <a:lnTo>
                  <a:pt x="1106042" y="83692"/>
                </a:lnTo>
                <a:lnTo>
                  <a:pt x="0" y="83692"/>
                </a:lnTo>
                <a:lnTo>
                  <a:pt x="0" y="251078"/>
                </a:lnTo>
                <a:lnTo>
                  <a:pt x="1106042" y="251078"/>
                </a:lnTo>
                <a:lnTo>
                  <a:pt x="1106042" y="334771"/>
                </a:lnTo>
                <a:lnTo>
                  <a:pt x="1273428" y="167386"/>
                </a:lnTo>
                <a:lnTo>
                  <a:pt x="1106042" y="0"/>
                </a:lnTo>
                <a:close/>
              </a:path>
            </a:pathLst>
          </a:custGeom>
          <a:solidFill>
            <a:srgbClr val="051F79"/>
          </a:solidFill>
        </p:spPr>
        <p:txBody>
          <a:bodyPr wrap="square" lIns="0" tIns="0" rIns="0" bIns="0" rtlCol="0"/>
          <a:lstStyle/>
          <a:p>
            <a:endParaRPr/>
          </a:p>
        </p:txBody>
      </p:sp>
      <p:sp>
        <p:nvSpPr>
          <p:cNvPr id="31" name="object 31"/>
          <p:cNvSpPr/>
          <p:nvPr/>
        </p:nvSpPr>
        <p:spPr>
          <a:xfrm>
            <a:off x="4448683" y="3361816"/>
            <a:ext cx="1273810" cy="335280"/>
          </a:xfrm>
          <a:custGeom>
            <a:avLst/>
            <a:gdLst/>
            <a:ahLst/>
            <a:cxnLst/>
            <a:rect l="l" t="t" r="r" b="b"/>
            <a:pathLst>
              <a:path w="1273810" h="335279">
                <a:moveTo>
                  <a:pt x="1106042" y="0"/>
                </a:moveTo>
                <a:lnTo>
                  <a:pt x="1106042" y="83693"/>
                </a:lnTo>
                <a:lnTo>
                  <a:pt x="0" y="83693"/>
                </a:lnTo>
                <a:lnTo>
                  <a:pt x="0" y="251079"/>
                </a:lnTo>
                <a:lnTo>
                  <a:pt x="1106042" y="251079"/>
                </a:lnTo>
                <a:lnTo>
                  <a:pt x="1106042" y="334772"/>
                </a:lnTo>
                <a:lnTo>
                  <a:pt x="1273428" y="167386"/>
                </a:lnTo>
                <a:lnTo>
                  <a:pt x="1106042" y="0"/>
                </a:lnTo>
                <a:close/>
              </a:path>
            </a:pathLst>
          </a:custGeom>
          <a:solidFill>
            <a:srgbClr val="051F79"/>
          </a:solidFill>
        </p:spPr>
        <p:txBody>
          <a:bodyPr wrap="square" lIns="0" tIns="0" rIns="0" bIns="0" rtlCol="0"/>
          <a:lstStyle/>
          <a:p>
            <a:endParaRPr/>
          </a:p>
        </p:txBody>
      </p:sp>
      <p:sp>
        <p:nvSpPr>
          <p:cNvPr id="32" name="object 32"/>
          <p:cNvSpPr/>
          <p:nvPr/>
        </p:nvSpPr>
        <p:spPr>
          <a:xfrm>
            <a:off x="4448683" y="4995926"/>
            <a:ext cx="1273810" cy="335280"/>
          </a:xfrm>
          <a:custGeom>
            <a:avLst/>
            <a:gdLst/>
            <a:ahLst/>
            <a:cxnLst/>
            <a:rect l="l" t="t" r="r" b="b"/>
            <a:pathLst>
              <a:path w="1273810" h="335279">
                <a:moveTo>
                  <a:pt x="1106042" y="0"/>
                </a:moveTo>
                <a:lnTo>
                  <a:pt x="1106042" y="83693"/>
                </a:lnTo>
                <a:lnTo>
                  <a:pt x="0" y="83693"/>
                </a:lnTo>
                <a:lnTo>
                  <a:pt x="0" y="251079"/>
                </a:lnTo>
                <a:lnTo>
                  <a:pt x="1106042" y="251079"/>
                </a:lnTo>
                <a:lnTo>
                  <a:pt x="1106042" y="334772"/>
                </a:lnTo>
                <a:lnTo>
                  <a:pt x="1273428" y="167386"/>
                </a:lnTo>
                <a:lnTo>
                  <a:pt x="1106042" y="0"/>
                </a:lnTo>
                <a:close/>
              </a:path>
            </a:pathLst>
          </a:custGeom>
          <a:solidFill>
            <a:srgbClr val="051F79"/>
          </a:solidFill>
        </p:spPr>
        <p:txBody>
          <a:bodyPr wrap="square" lIns="0" tIns="0" rIns="0" bIns="0" rtlCol="0"/>
          <a:lstStyle/>
          <a:p>
            <a:endParaRPr/>
          </a:p>
        </p:txBody>
      </p:sp>
      <p:sp>
        <p:nvSpPr>
          <p:cNvPr id="33" name="object 33"/>
          <p:cNvSpPr/>
          <p:nvPr/>
        </p:nvSpPr>
        <p:spPr>
          <a:xfrm>
            <a:off x="7376414" y="3006547"/>
            <a:ext cx="1024890" cy="215900"/>
          </a:xfrm>
          <a:custGeom>
            <a:avLst/>
            <a:gdLst/>
            <a:ahLst/>
            <a:cxnLst/>
            <a:rect l="l" t="t" r="r" b="b"/>
            <a:pathLst>
              <a:path w="1024890" h="215900">
                <a:moveTo>
                  <a:pt x="0" y="215442"/>
                </a:moveTo>
                <a:lnTo>
                  <a:pt x="1024318" y="215442"/>
                </a:lnTo>
                <a:lnTo>
                  <a:pt x="1024318" y="0"/>
                </a:lnTo>
                <a:lnTo>
                  <a:pt x="0" y="0"/>
                </a:lnTo>
                <a:lnTo>
                  <a:pt x="0" y="215442"/>
                </a:lnTo>
                <a:close/>
              </a:path>
            </a:pathLst>
          </a:custGeom>
          <a:solidFill>
            <a:srgbClr val="C3E6FC"/>
          </a:solidFill>
        </p:spPr>
        <p:txBody>
          <a:bodyPr wrap="square" lIns="0" tIns="0" rIns="0" bIns="0" rtlCol="0"/>
          <a:lstStyle/>
          <a:p>
            <a:endParaRPr/>
          </a:p>
        </p:txBody>
      </p:sp>
      <p:sp>
        <p:nvSpPr>
          <p:cNvPr id="34" name="object 34"/>
          <p:cNvSpPr txBox="1"/>
          <p:nvPr/>
        </p:nvSpPr>
        <p:spPr>
          <a:xfrm>
            <a:off x="7377430" y="2988310"/>
            <a:ext cx="2325370" cy="653415"/>
          </a:xfrm>
          <a:prstGeom prst="rect">
            <a:avLst/>
          </a:prstGeom>
        </p:spPr>
        <p:txBody>
          <a:bodyPr vert="horz" wrap="square" lIns="0" tIns="13335" rIns="0" bIns="0" rtlCol="0">
            <a:spAutoFit/>
          </a:bodyPr>
          <a:lstStyle/>
          <a:p>
            <a:pPr marR="1299210" algn="ctr">
              <a:lnSpc>
                <a:spcPts val="1625"/>
              </a:lnSpc>
              <a:spcBef>
                <a:spcPts val="105"/>
              </a:spcBef>
            </a:pPr>
            <a:r>
              <a:rPr sz="1400" i="1" dirty="0">
                <a:latin typeface="Arial"/>
                <a:cs typeface="Arial"/>
              </a:rPr>
              <a:t>Product</a:t>
            </a:r>
            <a:r>
              <a:rPr sz="1400" i="1" spc="-100" dirty="0">
                <a:latin typeface="Arial"/>
                <a:cs typeface="Arial"/>
              </a:rPr>
              <a:t> </a:t>
            </a:r>
            <a:r>
              <a:rPr sz="1400" i="1" spc="-5" dirty="0">
                <a:latin typeface="Arial"/>
                <a:cs typeface="Arial"/>
              </a:rPr>
              <a:t>offer</a:t>
            </a:r>
            <a:endParaRPr sz="1400">
              <a:latin typeface="Arial"/>
              <a:cs typeface="Arial"/>
            </a:endParaRPr>
          </a:p>
          <a:p>
            <a:pPr marL="840105" indent="-185420">
              <a:lnSpc>
                <a:spcPts val="1630"/>
              </a:lnSpc>
              <a:buChar char="•"/>
              <a:tabLst>
                <a:tab pos="840740" algn="l"/>
              </a:tabLst>
            </a:pPr>
            <a:r>
              <a:rPr sz="1400" spc="-5" dirty="0">
                <a:latin typeface="Arial"/>
                <a:cs typeface="Arial"/>
              </a:rPr>
              <a:t>Pre-approved</a:t>
            </a:r>
            <a:r>
              <a:rPr sz="1400" spc="-80" dirty="0">
                <a:latin typeface="Arial"/>
                <a:cs typeface="Arial"/>
              </a:rPr>
              <a:t> </a:t>
            </a:r>
            <a:r>
              <a:rPr sz="1400" dirty="0">
                <a:latin typeface="Arial"/>
                <a:cs typeface="Arial"/>
              </a:rPr>
              <a:t>auto</a:t>
            </a:r>
            <a:endParaRPr sz="1400">
              <a:latin typeface="Arial"/>
              <a:cs typeface="Arial"/>
            </a:endParaRPr>
          </a:p>
          <a:p>
            <a:pPr marR="297815" algn="ctr">
              <a:lnSpc>
                <a:spcPct val="100000"/>
              </a:lnSpc>
            </a:pPr>
            <a:r>
              <a:rPr sz="1400" spc="-5" dirty="0">
                <a:latin typeface="Arial"/>
                <a:cs typeface="Arial"/>
              </a:rPr>
              <a:t>loan</a:t>
            </a:r>
            <a:endParaRPr sz="1400">
              <a:latin typeface="Arial"/>
              <a:cs typeface="Arial"/>
            </a:endParaRPr>
          </a:p>
        </p:txBody>
      </p:sp>
      <p:sp>
        <p:nvSpPr>
          <p:cNvPr id="35" name="object 35"/>
          <p:cNvSpPr txBox="1"/>
          <p:nvPr/>
        </p:nvSpPr>
        <p:spPr>
          <a:xfrm>
            <a:off x="4503546" y="3172206"/>
            <a:ext cx="381635" cy="239395"/>
          </a:xfrm>
          <a:prstGeom prst="rect">
            <a:avLst/>
          </a:prstGeom>
        </p:spPr>
        <p:txBody>
          <a:bodyPr vert="horz" wrap="square" lIns="0" tIns="13335" rIns="0" bIns="0" rtlCol="0">
            <a:spAutoFit/>
          </a:bodyPr>
          <a:lstStyle/>
          <a:p>
            <a:pPr marL="12700">
              <a:lnSpc>
                <a:spcPct val="100000"/>
              </a:lnSpc>
              <a:spcBef>
                <a:spcPts val="105"/>
              </a:spcBef>
            </a:pPr>
            <a:r>
              <a:rPr sz="1400" b="1" spc="-10" dirty="0">
                <a:latin typeface="Arial"/>
                <a:cs typeface="Arial"/>
              </a:rPr>
              <a:t>B</a:t>
            </a:r>
            <a:r>
              <a:rPr sz="1400" b="1" spc="-5" dirty="0">
                <a:latin typeface="Arial"/>
                <a:cs typeface="Arial"/>
              </a:rPr>
              <a:t>2C</a:t>
            </a:r>
            <a:endParaRPr sz="1400">
              <a:latin typeface="Arial"/>
              <a:cs typeface="Arial"/>
            </a:endParaRPr>
          </a:p>
        </p:txBody>
      </p:sp>
      <p:sp>
        <p:nvSpPr>
          <p:cNvPr id="36" name="object 36"/>
          <p:cNvSpPr txBox="1"/>
          <p:nvPr/>
        </p:nvSpPr>
        <p:spPr>
          <a:xfrm>
            <a:off x="4503546" y="4753736"/>
            <a:ext cx="381635" cy="239395"/>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B</a:t>
            </a:r>
            <a:r>
              <a:rPr sz="1400" b="1" spc="-5" dirty="0">
                <a:latin typeface="Arial"/>
                <a:cs typeface="Arial"/>
              </a:rPr>
              <a:t>2B</a:t>
            </a:r>
            <a:endParaRPr sz="1400">
              <a:latin typeface="Arial"/>
              <a:cs typeface="Arial"/>
            </a:endParaRPr>
          </a:p>
        </p:txBody>
      </p:sp>
      <p:sp>
        <p:nvSpPr>
          <p:cNvPr id="37" name="object 37"/>
          <p:cNvSpPr/>
          <p:nvPr/>
        </p:nvSpPr>
        <p:spPr>
          <a:xfrm>
            <a:off x="5750052" y="4596587"/>
            <a:ext cx="4275455" cy="958215"/>
          </a:xfrm>
          <a:custGeom>
            <a:avLst/>
            <a:gdLst/>
            <a:ahLst/>
            <a:cxnLst/>
            <a:rect l="l" t="t" r="r" b="b"/>
            <a:pathLst>
              <a:path w="4275455" h="958214">
                <a:moveTo>
                  <a:pt x="0" y="958011"/>
                </a:moveTo>
                <a:lnTo>
                  <a:pt x="4275074" y="958011"/>
                </a:lnTo>
                <a:lnTo>
                  <a:pt x="4275074" y="0"/>
                </a:lnTo>
                <a:lnTo>
                  <a:pt x="0" y="0"/>
                </a:lnTo>
                <a:lnTo>
                  <a:pt x="0" y="958011"/>
                </a:lnTo>
                <a:close/>
              </a:path>
            </a:pathLst>
          </a:custGeom>
          <a:ln w="6349">
            <a:solidFill>
              <a:srgbClr val="051F79"/>
            </a:solidFill>
            <a:prstDash val="sysDash"/>
          </a:ln>
        </p:spPr>
        <p:txBody>
          <a:bodyPr wrap="square" lIns="0" tIns="0" rIns="0" bIns="0" rtlCol="0"/>
          <a:lstStyle/>
          <a:p>
            <a:endParaRPr/>
          </a:p>
        </p:txBody>
      </p:sp>
      <p:sp>
        <p:nvSpPr>
          <p:cNvPr id="38" name="object 38"/>
          <p:cNvSpPr/>
          <p:nvPr/>
        </p:nvSpPr>
        <p:spPr>
          <a:xfrm>
            <a:off x="6461633" y="1753107"/>
            <a:ext cx="332105" cy="432434"/>
          </a:xfrm>
          <a:custGeom>
            <a:avLst/>
            <a:gdLst/>
            <a:ahLst/>
            <a:cxnLst/>
            <a:rect l="l" t="t" r="r" b="b"/>
            <a:pathLst>
              <a:path w="332104" h="432435">
                <a:moveTo>
                  <a:pt x="248792" y="165988"/>
                </a:moveTo>
                <a:lnTo>
                  <a:pt x="82931" y="165988"/>
                </a:lnTo>
                <a:lnTo>
                  <a:pt x="82931" y="432434"/>
                </a:lnTo>
                <a:lnTo>
                  <a:pt x="248792" y="432434"/>
                </a:lnTo>
                <a:lnTo>
                  <a:pt x="248792" y="165988"/>
                </a:lnTo>
                <a:close/>
              </a:path>
              <a:path w="332104" h="432435">
                <a:moveTo>
                  <a:pt x="165862" y="0"/>
                </a:moveTo>
                <a:lnTo>
                  <a:pt x="0" y="165988"/>
                </a:lnTo>
                <a:lnTo>
                  <a:pt x="331723" y="165988"/>
                </a:lnTo>
                <a:lnTo>
                  <a:pt x="165862" y="0"/>
                </a:lnTo>
                <a:close/>
              </a:path>
            </a:pathLst>
          </a:custGeom>
          <a:solidFill>
            <a:srgbClr val="051F79"/>
          </a:solidFill>
        </p:spPr>
        <p:txBody>
          <a:bodyPr wrap="square" lIns="0" tIns="0" rIns="0" bIns="0" rtlCol="0"/>
          <a:lstStyle/>
          <a:p>
            <a:endParaRPr/>
          </a:p>
        </p:txBody>
      </p:sp>
      <p:sp>
        <p:nvSpPr>
          <p:cNvPr id="39" name="object 39"/>
          <p:cNvSpPr/>
          <p:nvPr/>
        </p:nvSpPr>
        <p:spPr>
          <a:xfrm>
            <a:off x="8865869" y="1753107"/>
            <a:ext cx="332105" cy="432434"/>
          </a:xfrm>
          <a:custGeom>
            <a:avLst/>
            <a:gdLst/>
            <a:ahLst/>
            <a:cxnLst/>
            <a:rect l="l" t="t" r="r" b="b"/>
            <a:pathLst>
              <a:path w="332104" h="432435">
                <a:moveTo>
                  <a:pt x="248793" y="165988"/>
                </a:moveTo>
                <a:lnTo>
                  <a:pt x="82930" y="165988"/>
                </a:lnTo>
                <a:lnTo>
                  <a:pt x="82930" y="432434"/>
                </a:lnTo>
                <a:lnTo>
                  <a:pt x="248793" y="432434"/>
                </a:lnTo>
                <a:lnTo>
                  <a:pt x="248793" y="165988"/>
                </a:lnTo>
                <a:close/>
              </a:path>
              <a:path w="332104" h="432435">
                <a:moveTo>
                  <a:pt x="165861" y="0"/>
                </a:moveTo>
                <a:lnTo>
                  <a:pt x="0" y="165988"/>
                </a:lnTo>
                <a:lnTo>
                  <a:pt x="331724" y="165988"/>
                </a:lnTo>
                <a:lnTo>
                  <a:pt x="165861" y="0"/>
                </a:lnTo>
                <a:close/>
              </a:path>
            </a:pathLst>
          </a:custGeom>
          <a:solidFill>
            <a:srgbClr val="051F79"/>
          </a:solidFill>
        </p:spPr>
        <p:txBody>
          <a:bodyPr wrap="square" lIns="0" tIns="0" rIns="0" bIns="0" rtlCol="0"/>
          <a:lstStyle/>
          <a:p>
            <a:endParaRPr/>
          </a:p>
        </p:txBody>
      </p:sp>
      <p:sp>
        <p:nvSpPr>
          <p:cNvPr id="40" name="object 40"/>
          <p:cNvSpPr txBox="1"/>
          <p:nvPr/>
        </p:nvSpPr>
        <p:spPr>
          <a:xfrm>
            <a:off x="4550409" y="1542821"/>
            <a:ext cx="1069975" cy="431165"/>
          </a:xfrm>
          <a:prstGeom prst="rect">
            <a:avLst/>
          </a:prstGeom>
          <a:solidFill>
            <a:srgbClr val="FFFFFF"/>
          </a:solidFill>
          <a:ln w="9525">
            <a:solidFill>
              <a:srgbClr val="051F79"/>
            </a:solidFill>
          </a:ln>
        </p:spPr>
        <p:txBody>
          <a:bodyPr vert="horz" wrap="square" lIns="0" tIns="3810" rIns="0" bIns="0" rtlCol="0">
            <a:spAutoFit/>
          </a:bodyPr>
          <a:lstStyle/>
          <a:p>
            <a:pPr marL="182880" marR="79375" indent="-182880">
              <a:lnSpc>
                <a:spcPts val="1680"/>
              </a:lnSpc>
              <a:spcBef>
                <a:spcPts val="30"/>
              </a:spcBef>
              <a:buChar char="•"/>
              <a:tabLst>
                <a:tab pos="183515" algn="l"/>
              </a:tabLst>
            </a:pPr>
            <a:r>
              <a:rPr sz="1400" spc="-5" dirty="0">
                <a:latin typeface="Arial"/>
                <a:cs typeface="Arial"/>
              </a:rPr>
              <a:t>Cash</a:t>
            </a:r>
            <a:r>
              <a:rPr sz="1400" spc="-90" dirty="0">
                <a:latin typeface="Arial"/>
                <a:cs typeface="Arial"/>
              </a:rPr>
              <a:t> </a:t>
            </a:r>
            <a:r>
              <a:rPr sz="1400" spc="-5" dirty="0">
                <a:latin typeface="Arial"/>
                <a:cs typeface="Arial"/>
              </a:rPr>
              <a:t>loan  for</a:t>
            </a:r>
            <a:r>
              <a:rPr sz="1400" spc="-35" dirty="0">
                <a:latin typeface="Arial"/>
                <a:cs typeface="Arial"/>
              </a:rPr>
              <a:t> </a:t>
            </a:r>
            <a:r>
              <a:rPr sz="1400" spc="-5" dirty="0">
                <a:latin typeface="Arial"/>
                <a:cs typeface="Arial"/>
              </a:rPr>
              <a:t>auto</a:t>
            </a:r>
            <a:endParaRPr sz="1400">
              <a:latin typeface="Arial"/>
              <a:cs typeface="Arial"/>
            </a:endParaRPr>
          </a:p>
        </p:txBody>
      </p:sp>
      <p:sp>
        <p:nvSpPr>
          <p:cNvPr id="41" name="object 41"/>
          <p:cNvSpPr txBox="1"/>
          <p:nvPr/>
        </p:nvSpPr>
        <p:spPr>
          <a:xfrm>
            <a:off x="4503546" y="983107"/>
            <a:ext cx="381635" cy="239395"/>
          </a:xfrm>
          <a:prstGeom prst="rect">
            <a:avLst/>
          </a:prstGeom>
        </p:spPr>
        <p:txBody>
          <a:bodyPr vert="horz" wrap="square" lIns="0" tIns="13335" rIns="0" bIns="0" rtlCol="0">
            <a:spAutoFit/>
          </a:bodyPr>
          <a:lstStyle/>
          <a:p>
            <a:pPr marL="12700">
              <a:lnSpc>
                <a:spcPct val="100000"/>
              </a:lnSpc>
              <a:spcBef>
                <a:spcPts val="105"/>
              </a:spcBef>
            </a:pPr>
            <a:r>
              <a:rPr sz="1400" b="1" spc="-10" dirty="0">
                <a:latin typeface="Arial"/>
                <a:cs typeface="Arial"/>
              </a:rPr>
              <a:t>D</a:t>
            </a:r>
            <a:r>
              <a:rPr sz="1400" b="1" spc="-5" dirty="0">
                <a:latin typeface="Arial"/>
                <a:cs typeface="Arial"/>
              </a:rPr>
              <a:t>2C</a:t>
            </a:r>
            <a:endParaRPr sz="1400">
              <a:latin typeface="Arial"/>
              <a:cs typeface="Arial"/>
            </a:endParaRPr>
          </a:p>
        </p:txBody>
      </p:sp>
      <p:sp>
        <p:nvSpPr>
          <p:cNvPr id="42" name="object 42"/>
          <p:cNvSpPr txBox="1"/>
          <p:nvPr/>
        </p:nvSpPr>
        <p:spPr>
          <a:xfrm>
            <a:off x="10196956" y="3202076"/>
            <a:ext cx="1402080" cy="431165"/>
          </a:xfrm>
          <a:prstGeom prst="rect">
            <a:avLst/>
          </a:prstGeom>
          <a:solidFill>
            <a:srgbClr val="FFFFFF"/>
          </a:solidFill>
          <a:ln w="9525">
            <a:solidFill>
              <a:srgbClr val="051F79"/>
            </a:solidFill>
          </a:ln>
        </p:spPr>
        <p:txBody>
          <a:bodyPr vert="horz" wrap="square" lIns="0" tIns="1905" rIns="0" bIns="0" rtlCol="0">
            <a:spAutoFit/>
          </a:bodyPr>
          <a:lstStyle/>
          <a:p>
            <a:pPr marL="182245" marR="155575" indent="-181610">
              <a:lnSpc>
                <a:spcPts val="1680"/>
              </a:lnSpc>
              <a:spcBef>
                <a:spcPts val="15"/>
              </a:spcBef>
              <a:buChar char="•"/>
              <a:tabLst>
                <a:tab pos="182880" algn="l"/>
              </a:tabLst>
            </a:pPr>
            <a:r>
              <a:rPr sz="1400" spc="-5" dirty="0">
                <a:latin typeface="Arial"/>
                <a:cs typeface="Arial"/>
              </a:rPr>
              <a:t>Cash loan</a:t>
            </a:r>
            <a:r>
              <a:rPr sz="1400" spc="-95" dirty="0">
                <a:latin typeface="Arial"/>
                <a:cs typeface="Arial"/>
              </a:rPr>
              <a:t> </a:t>
            </a:r>
            <a:r>
              <a:rPr sz="1400" spc="-5" dirty="0">
                <a:latin typeface="Arial"/>
                <a:cs typeface="Arial"/>
              </a:rPr>
              <a:t>for  auto</a:t>
            </a:r>
            <a:endParaRPr sz="1400">
              <a:latin typeface="Arial"/>
              <a:cs typeface="Arial"/>
            </a:endParaRPr>
          </a:p>
        </p:txBody>
      </p:sp>
      <p:sp>
        <p:nvSpPr>
          <p:cNvPr id="43" name="object 43"/>
          <p:cNvSpPr/>
          <p:nvPr/>
        </p:nvSpPr>
        <p:spPr>
          <a:xfrm>
            <a:off x="6791706" y="5487352"/>
            <a:ext cx="2193925" cy="271145"/>
          </a:xfrm>
          <a:custGeom>
            <a:avLst/>
            <a:gdLst/>
            <a:ahLst/>
            <a:cxnLst/>
            <a:rect l="l" t="t" r="r" b="b"/>
            <a:pathLst>
              <a:path w="2193925" h="271145">
                <a:moveTo>
                  <a:pt x="0" y="270840"/>
                </a:moveTo>
                <a:lnTo>
                  <a:pt x="2193544" y="270840"/>
                </a:lnTo>
                <a:lnTo>
                  <a:pt x="2193544" y="0"/>
                </a:lnTo>
                <a:lnTo>
                  <a:pt x="0" y="0"/>
                </a:lnTo>
                <a:lnTo>
                  <a:pt x="0" y="270840"/>
                </a:lnTo>
                <a:close/>
              </a:path>
            </a:pathLst>
          </a:custGeom>
          <a:solidFill>
            <a:srgbClr val="E2FBF9"/>
          </a:solidFill>
        </p:spPr>
        <p:txBody>
          <a:bodyPr wrap="square" lIns="0" tIns="0" rIns="0" bIns="0" rtlCol="0"/>
          <a:lstStyle/>
          <a:p>
            <a:endParaRPr/>
          </a:p>
        </p:txBody>
      </p:sp>
      <p:sp>
        <p:nvSpPr>
          <p:cNvPr id="44" name="object 44"/>
          <p:cNvSpPr/>
          <p:nvPr/>
        </p:nvSpPr>
        <p:spPr>
          <a:xfrm>
            <a:off x="6791706" y="5487352"/>
            <a:ext cx="2193925" cy="271145"/>
          </a:xfrm>
          <a:custGeom>
            <a:avLst/>
            <a:gdLst/>
            <a:ahLst/>
            <a:cxnLst/>
            <a:rect l="l" t="t" r="r" b="b"/>
            <a:pathLst>
              <a:path w="2193925" h="271145">
                <a:moveTo>
                  <a:pt x="0" y="270840"/>
                </a:moveTo>
                <a:lnTo>
                  <a:pt x="2193544" y="270840"/>
                </a:lnTo>
                <a:lnTo>
                  <a:pt x="2193544" y="0"/>
                </a:lnTo>
                <a:lnTo>
                  <a:pt x="0" y="0"/>
                </a:lnTo>
                <a:lnTo>
                  <a:pt x="0" y="270840"/>
                </a:lnTo>
                <a:close/>
              </a:path>
            </a:pathLst>
          </a:custGeom>
          <a:ln w="9524">
            <a:solidFill>
              <a:srgbClr val="051F79"/>
            </a:solidFill>
          </a:ln>
        </p:spPr>
        <p:txBody>
          <a:bodyPr wrap="square" lIns="0" tIns="0" rIns="0" bIns="0" rtlCol="0"/>
          <a:lstStyle/>
          <a:p>
            <a:endParaRPr/>
          </a:p>
        </p:txBody>
      </p:sp>
      <p:sp>
        <p:nvSpPr>
          <p:cNvPr id="45" name="object 45"/>
          <p:cNvSpPr txBox="1"/>
          <p:nvPr/>
        </p:nvSpPr>
        <p:spPr>
          <a:xfrm>
            <a:off x="6903084" y="5484672"/>
            <a:ext cx="1986280" cy="269240"/>
          </a:xfrm>
          <a:prstGeom prst="rect">
            <a:avLst/>
          </a:prstGeom>
        </p:spPr>
        <p:txBody>
          <a:bodyPr vert="horz" wrap="square" lIns="0" tIns="12065" rIns="0" bIns="0" rtlCol="0">
            <a:spAutoFit/>
          </a:bodyPr>
          <a:lstStyle/>
          <a:p>
            <a:pPr>
              <a:lnSpc>
                <a:spcPct val="100000"/>
              </a:lnSpc>
              <a:spcBef>
                <a:spcPts val="95"/>
              </a:spcBef>
            </a:pPr>
            <a:r>
              <a:rPr sz="1600" b="1" i="1" spc="-10" dirty="0">
                <a:latin typeface="Arial"/>
                <a:cs typeface="Arial"/>
              </a:rPr>
              <a:t>Independent</a:t>
            </a:r>
            <a:r>
              <a:rPr sz="1600" b="1" i="1" dirty="0">
                <a:latin typeface="Arial"/>
                <a:cs typeface="Arial"/>
              </a:rPr>
              <a:t> </a:t>
            </a:r>
            <a:r>
              <a:rPr sz="1600" b="1" i="1" spc="-5" dirty="0">
                <a:latin typeface="Arial"/>
                <a:cs typeface="Arial"/>
              </a:rPr>
              <a:t>dealers</a:t>
            </a:r>
            <a:endParaRPr sz="1600">
              <a:latin typeface="Arial"/>
              <a:cs typeface="Arial"/>
            </a:endParaRPr>
          </a:p>
        </p:txBody>
      </p:sp>
      <p:sp>
        <p:nvSpPr>
          <p:cNvPr id="46" name="object 46"/>
          <p:cNvSpPr/>
          <p:nvPr/>
        </p:nvSpPr>
        <p:spPr>
          <a:xfrm>
            <a:off x="10626709" y="1368383"/>
            <a:ext cx="700234" cy="365349"/>
          </a:xfrm>
          <a:prstGeom prst="rect">
            <a:avLst/>
          </a:prstGeom>
          <a:blipFill>
            <a:blip r:embed="rId3" cstate="print"/>
            <a:stretch>
              <a:fillRect/>
            </a:stretch>
          </a:blipFill>
        </p:spPr>
        <p:txBody>
          <a:bodyPr wrap="square" lIns="0" tIns="0" rIns="0" bIns="0" rtlCol="0"/>
          <a:lstStyle/>
          <a:p>
            <a:endParaRPr/>
          </a:p>
        </p:txBody>
      </p:sp>
      <p:sp>
        <p:nvSpPr>
          <p:cNvPr id="47" name="object 47"/>
          <p:cNvSpPr/>
          <p:nvPr/>
        </p:nvSpPr>
        <p:spPr>
          <a:xfrm>
            <a:off x="8648176" y="1368383"/>
            <a:ext cx="700234" cy="365349"/>
          </a:xfrm>
          <a:prstGeom prst="rect">
            <a:avLst/>
          </a:prstGeom>
          <a:blipFill>
            <a:blip r:embed="rId4" cstate="print"/>
            <a:stretch>
              <a:fillRect/>
            </a:stretch>
          </a:blipFill>
        </p:spPr>
        <p:txBody>
          <a:bodyPr wrap="square" lIns="0" tIns="0" rIns="0" bIns="0" rtlCol="0"/>
          <a:lstStyle/>
          <a:p>
            <a:endParaRPr/>
          </a:p>
        </p:txBody>
      </p:sp>
      <p:sp>
        <p:nvSpPr>
          <p:cNvPr id="48" name="object 48"/>
          <p:cNvSpPr/>
          <p:nvPr/>
        </p:nvSpPr>
        <p:spPr>
          <a:xfrm>
            <a:off x="6305280" y="1368383"/>
            <a:ext cx="700234" cy="365349"/>
          </a:xfrm>
          <a:prstGeom prst="rect">
            <a:avLst/>
          </a:prstGeom>
          <a:blipFill>
            <a:blip r:embed="rId5" cstate="print"/>
            <a:stretch>
              <a:fillRect/>
            </a:stretch>
          </a:blipFill>
        </p:spPr>
        <p:txBody>
          <a:bodyPr wrap="square" lIns="0" tIns="0" rIns="0" bIns="0" rtlCol="0"/>
          <a:lstStyle/>
          <a:p>
            <a:endParaRPr/>
          </a:p>
        </p:txBody>
      </p:sp>
      <p:sp>
        <p:nvSpPr>
          <p:cNvPr id="49" name="object 49"/>
          <p:cNvSpPr/>
          <p:nvPr/>
        </p:nvSpPr>
        <p:spPr>
          <a:xfrm>
            <a:off x="7950072" y="1086497"/>
            <a:ext cx="1439545" cy="208915"/>
          </a:xfrm>
          <a:custGeom>
            <a:avLst/>
            <a:gdLst/>
            <a:ahLst/>
            <a:cxnLst/>
            <a:rect l="l" t="t" r="r" b="b"/>
            <a:pathLst>
              <a:path w="1439545" h="208915">
                <a:moveTo>
                  <a:pt x="0" y="208775"/>
                </a:moveTo>
                <a:lnTo>
                  <a:pt x="1439291" y="208775"/>
                </a:lnTo>
                <a:lnTo>
                  <a:pt x="1439291" y="0"/>
                </a:lnTo>
                <a:lnTo>
                  <a:pt x="0" y="0"/>
                </a:lnTo>
                <a:lnTo>
                  <a:pt x="0" y="208775"/>
                </a:lnTo>
                <a:close/>
              </a:path>
            </a:pathLst>
          </a:custGeom>
          <a:solidFill>
            <a:srgbClr val="F1F1F1"/>
          </a:solidFill>
        </p:spPr>
        <p:txBody>
          <a:bodyPr wrap="square" lIns="0" tIns="0" rIns="0" bIns="0" rtlCol="0"/>
          <a:lstStyle/>
          <a:p>
            <a:endParaRPr/>
          </a:p>
        </p:txBody>
      </p:sp>
      <p:sp>
        <p:nvSpPr>
          <p:cNvPr id="50" name="object 50"/>
          <p:cNvSpPr txBox="1"/>
          <p:nvPr/>
        </p:nvSpPr>
        <p:spPr>
          <a:xfrm>
            <a:off x="8027796" y="1068070"/>
            <a:ext cx="1297940" cy="239395"/>
          </a:xfrm>
          <a:prstGeom prst="rect">
            <a:avLst/>
          </a:prstGeom>
        </p:spPr>
        <p:txBody>
          <a:bodyPr vert="horz" wrap="square" lIns="0" tIns="13335" rIns="0" bIns="0" rtlCol="0">
            <a:spAutoFit/>
          </a:bodyPr>
          <a:lstStyle/>
          <a:p>
            <a:pPr>
              <a:lnSpc>
                <a:spcPct val="100000"/>
              </a:lnSpc>
              <a:spcBef>
                <a:spcPts val="105"/>
              </a:spcBef>
            </a:pPr>
            <a:r>
              <a:rPr sz="1400" b="1" i="1" spc="-5" dirty="0">
                <a:latin typeface="Arial"/>
                <a:cs typeface="Arial"/>
              </a:rPr>
              <a:t>End</a:t>
            </a:r>
            <a:r>
              <a:rPr sz="1400" b="1" i="1" spc="-60" dirty="0">
                <a:latin typeface="Arial"/>
                <a:cs typeface="Arial"/>
              </a:rPr>
              <a:t> </a:t>
            </a:r>
            <a:r>
              <a:rPr sz="1400" b="1" i="1" spc="-5" dirty="0">
                <a:latin typeface="Arial"/>
                <a:cs typeface="Arial"/>
              </a:rPr>
              <a:t>customers</a:t>
            </a:r>
            <a:endParaRPr sz="1400">
              <a:latin typeface="Arial"/>
              <a:cs typeface="Arial"/>
            </a:endParaRPr>
          </a:p>
        </p:txBody>
      </p:sp>
      <p:sp>
        <p:nvSpPr>
          <p:cNvPr id="51" name="object 51"/>
          <p:cNvSpPr/>
          <p:nvPr/>
        </p:nvSpPr>
        <p:spPr>
          <a:xfrm>
            <a:off x="8018144" y="2568079"/>
            <a:ext cx="616280" cy="192138"/>
          </a:xfrm>
          <a:prstGeom prst="rect">
            <a:avLst/>
          </a:prstGeom>
          <a:blipFill>
            <a:blip r:embed="rId6" cstate="print"/>
            <a:stretch>
              <a:fillRect/>
            </a:stretch>
          </a:blipFill>
        </p:spPr>
        <p:txBody>
          <a:bodyPr wrap="square" lIns="0" tIns="0" rIns="0" bIns="0" rtlCol="0"/>
          <a:lstStyle/>
          <a:p>
            <a:endParaRPr/>
          </a:p>
        </p:txBody>
      </p:sp>
      <p:sp>
        <p:nvSpPr>
          <p:cNvPr id="52" name="object 52"/>
          <p:cNvSpPr/>
          <p:nvPr/>
        </p:nvSpPr>
        <p:spPr>
          <a:xfrm>
            <a:off x="7324217" y="4497273"/>
            <a:ext cx="1129030" cy="215900"/>
          </a:xfrm>
          <a:custGeom>
            <a:avLst/>
            <a:gdLst/>
            <a:ahLst/>
            <a:cxnLst/>
            <a:rect l="l" t="t" r="r" b="b"/>
            <a:pathLst>
              <a:path w="1129029" h="215900">
                <a:moveTo>
                  <a:pt x="0" y="215442"/>
                </a:moveTo>
                <a:lnTo>
                  <a:pt x="1128712" y="215442"/>
                </a:lnTo>
                <a:lnTo>
                  <a:pt x="1128712" y="0"/>
                </a:lnTo>
                <a:lnTo>
                  <a:pt x="0" y="0"/>
                </a:lnTo>
                <a:lnTo>
                  <a:pt x="0" y="215442"/>
                </a:lnTo>
                <a:close/>
              </a:path>
            </a:pathLst>
          </a:custGeom>
          <a:solidFill>
            <a:srgbClr val="C3E6FC"/>
          </a:solidFill>
        </p:spPr>
        <p:txBody>
          <a:bodyPr wrap="square" lIns="0" tIns="0" rIns="0" bIns="0" rtlCol="0"/>
          <a:lstStyle/>
          <a:p>
            <a:endParaRPr/>
          </a:p>
        </p:txBody>
      </p:sp>
      <p:sp>
        <p:nvSpPr>
          <p:cNvPr id="53" name="object 53"/>
          <p:cNvSpPr txBox="1"/>
          <p:nvPr/>
        </p:nvSpPr>
        <p:spPr>
          <a:xfrm>
            <a:off x="7325232" y="4479416"/>
            <a:ext cx="1134110" cy="239395"/>
          </a:xfrm>
          <a:prstGeom prst="rect">
            <a:avLst/>
          </a:prstGeom>
        </p:spPr>
        <p:txBody>
          <a:bodyPr vert="horz" wrap="square" lIns="0" tIns="12700" rIns="0" bIns="0" rtlCol="0">
            <a:spAutoFit/>
          </a:bodyPr>
          <a:lstStyle/>
          <a:p>
            <a:pPr>
              <a:lnSpc>
                <a:spcPct val="100000"/>
              </a:lnSpc>
              <a:spcBef>
                <a:spcPts val="100"/>
              </a:spcBef>
            </a:pPr>
            <a:r>
              <a:rPr sz="1400" i="1" spc="-5" dirty="0">
                <a:latin typeface="Arial"/>
                <a:cs typeface="Arial"/>
              </a:rPr>
              <a:t>Dealer’s</a:t>
            </a:r>
            <a:r>
              <a:rPr sz="1400" i="1" spc="-55" dirty="0">
                <a:latin typeface="Arial"/>
                <a:cs typeface="Arial"/>
              </a:rPr>
              <a:t> </a:t>
            </a:r>
            <a:r>
              <a:rPr sz="1400" i="1" dirty="0">
                <a:latin typeface="Arial"/>
                <a:cs typeface="Arial"/>
              </a:rPr>
              <a:t>stock</a:t>
            </a:r>
            <a:endParaRPr sz="1400">
              <a:latin typeface="Arial"/>
              <a:cs typeface="Arial"/>
            </a:endParaRPr>
          </a:p>
        </p:txBody>
      </p:sp>
      <p:sp>
        <p:nvSpPr>
          <p:cNvPr id="54" name="object 54"/>
          <p:cNvSpPr txBox="1"/>
          <p:nvPr/>
        </p:nvSpPr>
        <p:spPr>
          <a:xfrm>
            <a:off x="10735818" y="647827"/>
            <a:ext cx="73723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New</a:t>
            </a:r>
            <a:r>
              <a:rPr sz="1000" spc="-35" dirty="0">
                <a:latin typeface="Arial"/>
                <a:cs typeface="Arial"/>
              </a:rPr>
              <a:t> </a:t>
            </a:r>
            <a:r>
              <a:rPr sz="1000" spc="-10" dirty="0">
                <a:latin typeface="Arial"/>
                <a:cs typeface="Arial"/>
              </a:rPr>
              <a:t>product</a:t>
            </a:r>
            <a:endParaRPr sz="1000">
              <a:latin typeface="Arial"/>
              <a:cs typeface="Arial"/>
            </a:endParaRPr>
          </a:p>
        </p:txBody>
      </p:sp>
      <p:sp>
        <p:nvSpPr>
          <p:cNvPr id="55" name="object 55"/>
          <p:cNvSpPr/>
          <p:nvPr/>
        </p:nvSpPr>
        <p:spPr>
          <a:xfrm>
            <a:off x="10433557" y="594868"/>
            <a:ext cx="255904" cy="245745"/>
          </a:xfrm>
          <a:custGeom>
            <a:avLst/>
            <a:gdLst/>
            <a:ahLst/>
            <a:cxnLst/>
            <a:rect l="l" t="t" r="r" b="b"/>
            <a:pathLst>
              <a:path w="255904" h="245744">
                <a:moveTo>
                  <a:pt x="127889" y="0"/>
                </a:moveTo>
                <a:lnTo>
                  <a:pt x="92837" y="87122"/>
                </a:lnTo>
                <a:lnTo>
                  <a:pt x="0" y="93853"/>
                </a:lnTo>
                <a:lnTo>
                  <a:pt x="71247" y="154432"/>
                </a:lnTo>
                <a:lnTo>
                  <a:pt x="48895" y="245745"/>
                </a:lnTo>
                <a:lnTo>
                  <a:pt x="127889" y="195961"/>
                </a:lnTo>
                <a:lnTo>
                  <a:pt x="194823" y="195961"/>
                </a:lnTo>
                <a:lnTo>
                  <a:pt x="184658" y="154432"/>
                </a:lnTo>
                <a:lnTo>
                  <a:pt x="255905" y="93853"/>
                </a:lnTo>
                <a:lnTo>
                  <a:pt x="162941" y="87122"/>
                </a:lnTo>
                <a:lnTo>
                  <a:pt x="127889" y="0"/>
                </a:lnTo>
                <a:close/>
              </a:path>
              <a:path w="255904" h="245744">
                <a:moveTo>
                  <a:pt x="194823" y="195961"/>
                </a:moveTo>
                <a:lnTo>
                  <a:pt x="127889" y="195961"/>
                </a:lnTo>
                <a:lnTo>
                  <a:pt x="207010" y="245745"/>
                </a:lnTo>
                <a:lnTo>
                  <a:pt x="194823" y="195961"/>
                </a:lnTo>
                <a:close/>
              </a:path>
            </a:pathLst>
          </a:custGeom>
          <a:solidFill>
            <a:srgbClr val="FFA800"/>
          </a:solidFill>
        </p:spPr>
        <p:txBody>
          <a:bodyPr wrap="square" lIns="0" tIns="0" rIns="0" bIns="0" rtlCol="0"/>
          <a:lstStyle/>
          <a:p>
            <a:endParaRPr/>
          </a:p>
        </p:txBody>
      </p:sp>
      <p:sp>
        <p:nvSpPr>
          <p:cNvPr id="56" name="object 56"/>
          <p:cNvSpPr/>
          <p:nvPr/>
        </p:nvSpPr>
        <p:spPr>
          <a:xfrm>
            <a:off x="10433557" y="594868"/>
            <a:ext cx="255904" cy="245745"/>
          </a:xfrm>
          <a:custGeom>
            <a:avLst/>
            <a:gdLst/>
            <a:ahLst/>
            <a:cxnLst/>
            <a:rect l="l" t="t" r="r" b="b"/>
            <a:pathLst>
              <a:path w="255904" h="245744">
                <a:moveTo>
                  <a:pt x="0" y="93853"/>
                </a:moveTo>
                <a:lnTo>
                  <a:pt x="92837" y="87122"/>
                </a:lnTo>
                <a:lnTo>
                  <a:pt x="127889" y="0"/>
                </a:lnTo>
                <a:lnTo>
                  <a:pt x="162941" y="87122"/>
                </a:lnTo>
                <a:lnTo>
                  <a:pt x="255905" y="93853"/>
                </a:lnTo>
                <a:lnTo>
                  <a:pt x="184658" y="154432"/>
                </a:lnTo>
                <a:lnTo>
                  <a:pt x="207010" y="245745"/>
                </a:lnTo>
                <a:lnTo>
                  <a:pt x="127889" y="195961"/>
                </a:lnTo>
                <a:lnTo>
                  <a:pt x="48895" y="245745"/>
                </a:lnTo>
                <a:lnTo>
                  <a:pt x="71247" y="154432"/>
                </a:lnTo>
                <a:lnTo>
                  <a:pt x="0" y="93853"/>
                </a:lnTo>
                <a:close/>
              </a:path>
            </a:pathLst>
          </a:custGeom>
          <a:ln w="6350">
            <a:solidFill>
              <a:srgbClr val="E23A3A"/>
            </a:solidFill>
          </a:ln>
        </p:spPr>
        <p:txBody>
          <a:bodyPr wrap="square" lIns="0" tIns="0" rIns="0" bIns="0" rtlCol="0"/>
          <a:lstStyle/>
          <a:p>
            <a:endParaRPr/>
          </a:p>
        </p:txBody>
      </p:sp>
      <p:sp>
        <p:nvSpPr>
          <p:cNvPr id="57" name="object 57"/>
          <p:cNvSpPr/>
          <p:nvPr/>
        </p:nvSpPr>
        <p:spPr>
          <a:xfrm>
            <a:off x="7978775" y="3723513"/>
            <a:ext cx="198627" cy="209423"/>
          </a:xfrm>
          <a:prstGeom prst="rect">
            <a:avLst/>
          </a:prstGeom>
          <a:blipFill>
            <a:blip r:embed="rId7" cstate="print"/>
            <a:stretch>
              <a:fillRect/>
            </a:stretch>
          </a:blipFill>
        </p:spPr>
        <p:txBody>
          <a:bodyPr wrap="square" lIns="0" tIns="0" rIns="0" bIns="0" rtlCol="0"/>
          <a:lstStyle/>
          <a:p>
            <a:endParaRPr/>
          </a:p>
        </p:txBody>
      </p:sp>
      <p:sp>
        <p:nvSpPr>
          <p:cNvPr id="58" name="object 58"/>
          <p:cNvSpPr/>
          <p:nvPr/>
        </p:nvSpPr>
        <p:spPr>
          <a:xfrm>
            <a:off x="5765038" y="3771010"/>
            <a:ext cx="198500" cy="209422"/>
          </a:xfrm>
          <a:prstGeom prst="rect">
            <a:avLst/>
          </a:prstGeom>
          <a:blipFill>
            <a:blip r:embed="rId8" cstate="print"/>
            <a:stretch>
              <a:fillRect/>
            </a:stretch>
          </a:blipFill>
        </p:spPr>
        <p:txBody>
          <a:bodyPr wrap="square" lIns="0" tIns="0" rIns="0" bIns="0" rtlCol="0"/>
          <a:lstStyle/>
          <a:p>
            <a:endParaRPr/>
          </a:p>
        </p:txBody>
      </p:sp>
      <p:sp>
        <p:nvSpPr>
          <p:cNvPr id="59" name="object 59"/>
          <p:cNvSpPr/>
          <p:nvPr/>
        </p:nvSpPr>
        <p:spPr>
          <a:xfrm>
            <a:off x="5765038" y="3492372"/>
            <a:ext cx="198500" cy="209422"/>
          </a:xfrm>
          <a:prstGeom prst="rect">
            <a:avLst/>
          </a:prstGeom>
          <a:blipFill>
            <a:blip r:embed="rId8" cstate="print"/>
            <a:stretch>
              <a:fillRect/>
            </a:stretch>
          </a:blipFill>
        </p:spPr>
        <p:txBody>
          <a:bodyPr wrap="square" lIns="0" tIns="0" rIns="0" bIns="0" rtlCol="0"/>
          <a:lstStyle/>
          <a:p>
            <a:endParaRPr/>
          </a:p>
        </p:txBody>
      </p:sp>
      <p:sp>
        <p:nvSpPr>
          <p:cNvPr id="60" name="object 60"/>
          <p:cNvSpPr/>
          <p:nvPr/>
        </p:nvSpPr>
        <p:spPr>
          <a:xfrm>
            <a:off x="5765038" y="4072890"/>
            <a:ext cx="198500" cy="209423"/>
          </a:xfrm>
          <a:prstGeom prst="rect">
            <a:avLst/>
          </a:prstGeom>
          <a:blipFill>
            <a:blip r:embed="rId9" cstate="print"/>
            <a:stretch>
              <a:fillRect/>
            </a:stretch>
          </a:blipFill>
        </p:spPr>
        <p:txBody>
          <a:bodyPr wrap="square" lIns="0" tIns="0" rIns="0" bIns="0" rtlCol="0"/>
          <a:lstStyle/>
          <a:p>
            <a:endParaRPr/>
          </a:p>
        </p:txBody>
      </p:sp>
      <p:sp>
        <p:nvSpPr>
          <p:cNvPr id="61" name="object 61"/>
          <p:cNvSpPr/>
          <p:nvPr/>
        </p:nvSpPr>
        <p:spPr>
          <a:xfrm>
            <a:off x="7978775" y="3214877"/>
            <a:ext cx="198627" cy="209423"/>
          </a:xfrm>
          <a:prstGeom prst="rect">
            <a:avLst/>
          </a:prstGeom>
          <a:blipFill>
            <a:blip r:embed="rId10" cstate="print"/>
            <a:stretch>
              <a:fillRect/>
            </a:stretch>
          </a:blipFill>
        </p:spPr>
        <p:txBody>
          <a:bodyPr wrap="square" lIns="0" tIns="0" rIns="0" bIns="0" rtlCol="0"/>
          <a:lstStyle/>
          <a:p>
            <a:endParaRPr/>
          </a:p>
        </p:txBody>
      </p:sp>
      <p:sp>
        <p:nvSpPr>
          <p:cNvPr id="62" name="object 62"/>
          <p:cNvSpPr/>
          <p:nvPr/>
        </p:nvSpPr>
        <p:spPr>
          <a:xfrm>
            <a:off x="5765038" y="4704841"/>
            <a:ext cx="198500" cy="209422"/>
          </a:xfrm>
          <a:prstGeom prst="rect">
            <a:avLst/>
          </a:prstGeom>
          <a:blipFill>
            <a:blip r:embed="rId11" cstate="print"/>
            <a:stretch>
              <a:fillRect/>
            </a:stretch>
          </a:blipFill>
        </p:spPr>
        <p:txBody>
          <a:bodyPr wrap="square" lIns="0" tIns="0" rIns="0" bIns="0" rtlCol="0"/>
          <a:lstStyle/>
          <a:p>
            <a:endParaRPr/>
          </a:p>
        </p:txBody>
      </p:sp>
      <p:sp>
        <p:nvSpPr>
          <p:cNvPr id="63" name="object 63"/>
          <p:cNvSpPr/>
          <p:nvPr/>
        </p:nvSpPr>
        <p:spPr>
          <a:xfrm>
            <a:off x="5765038" y="4992751"/>
            <a:ext cx="198500" cy="209423"/>
          </a:xfrm>
          <a:prstGeom prst="rect">
            <a:avLst/>
          </a:prstGeom>
          <a:blipFill>
            <a:blip r:embed="rId8" cstate="print"/>
            <a:stretch>
              <a:fillRect/>
            </a:stretch>
          </a:blipFill>
        </p:spPr>
        <p:txBody>
          <a:bodyPr wrap="square" lIns="0" tIns="0" rIns="0" bIns="0" rtlCol="0"/>
          <a:lstStyle/>
          <a:p>
            <a:endParaRPr/>
          </a:p>
        </p:txBody>
      </p:sp>
      <p:sp>
        <p:nvSpPr>
          <p:cNvPr id="64" name="object 64"/>
          <p:cNvSpPr txBox="1"/>
          <p:nvPr/>
        </p:nvSpPr>
        <p:spPr>
          <a:xfrm>
            <a:off x="10134981" y="6497072"/>
            <a:ext cx="1151255" cy="153670"/>
          </a:xfrm>
          <a:prstGeom prst="rect">
            <a:avLst/>
          </a:prstGeom>
        </p:spPr>
        <p:txBody>
          <a:bodyPr vert="horz" wrap="square" lIns="0" tIns="1905" rIns="0" bIns="0" rtlCol="0">
            <a:spAutoFit/>
          </a:bodyPr>
          <a:lstStyle/>
          <a:p>
            <a:pPr marL="12700">
              <a:lnSpc>
                <a:spcPct val="100000"/>
              </a:lnSpc>
              <a:spcBef>
                <a:spcPts val="15"/>
              </a:spcBef>
            </a:pPr>
            <a:r>
              <a:rPr sz="900" spc="-5" dirty="0">
                <a:latin typeface="Arial"/>
                <a:cs typeface="Arial"/>
              </a:rPr>
              <a:t>McKinsey </a:t>
            </a:r>
            <a:r>
              <a:rPr sz="900" dirty="0">
                <a:latin typeface="Arial"/>
                <a:cs typeface="Arial"/>
              </a:rPr>
              <a:t>&amp;</a:t>
            </a:r>
            <a:r>
              <a:rPr sz="900" spc="-40" dirty="0">
                <a:latin typeface="Arial"/>
                <a:cs typeface="Arial"/>
              </a:rPr>
              <a:t> </a:t>
            </a:r>
            <a:r>
              <a:rPr sz="900" spc="-5" dirty="0">
                <a:latin typeface="Arial"/>
                <a:cs typeface="Arial"/>
              </a:rPr>
              <a:t>Company</a:t>
            </a:r>
            <a:endParaRPr sz="900">
              <a:latin typeface="Arial"/>
              <a:cs typeface="Arial"/>
            </a:endParaRPr>
          </a:p>
        </p:txBody>
      </p:sp>
      <p:sp>
        <p:nvSpPr>
          <p:cNvPr id="65" name="object 65"/>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dirty="0"/>
              <a:t>17</a:t>
            </a:fld>
            <a:endParaRPr dirty="0"/>
          </a:p>
        </p:txBody>
      </p:sp>
    </p:spTree>
    <p:extLst>
      <p:ext uri="{BB962C8B-B14F-4D97-AF65-F5344CB8AC3E}">
        <p14:creationId xmlns:p14="http://schemas.microsoft.com/office/powerpoint/2010/main" val="1749469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34981" y="6486245"/>
            <a:ext cx="1151255" cy="162560"/>
          </a:xfrm>
          <a:prstGeom prst="rect">
            <a:avLst/>
          </a:prstGeom>
        </p:spPr>
        <p:txBody>
          <a:bodyPr vert="horz" wrap="square" lIns="0" tIns="12700" rIns="0" bIns="0" rtlCol="0">
            <a:spAutoFit/>
          </a:bodyPr>
          <a:lstStyle/>
          <a:p>
            <a:pPr marL="12700">
              <a:lnSpc>
                <a:spcPct val="100000"/>
              </a:lnSpc>
              <a:spcBef>
                <a:spcPts val="100"/>
              </a:spcBef>
            </a:pPr>
            <a:r>
              <a:rPr sz="900" spc="-5" dirty="0">
                <a:latin typeface="Arial"/>
                <a:cs typeface="Arial"/>
              </a:rPr>
              <a:t>McKinsey </a:t>
            </a:r>
            <a:r>
              <a:rPr sz="900" dirty="0">
                <a:latin typeface="Arial"/>
                <a:cs typeface="Arial"/>
              </a:rPr>
              <a:t>&amp;</a:t>
            </a:r>
            <a:r>
              <a:rPr sz="900" spc="-40" dirty="0">
                <a:latin typeface="Arial"/>
                <a:cs typeface="Arial"/>
              </a:rPr>
              <a:t> </a:t>
            </a:r>
            <a:r>
              <a:rPr sz="900" spc="-5" dirty="0">
                <a:latin typeface="Arial"/>
                <a:cs typeface="Arial"/>
              </a:rPr>
              <a:t>Company</a:t>
            </a:r>
            <a:endParaRPr sz="900">
              <a:latin typeface="Arial"/>
              <a:cs typeface="Arial"/>
            </a:endParaRPr>
          </a:p>
        </p:txBody>
      </p:sp>
      <p:sp>
        <p:nvSpPr>
          <p:cNvPr id="3" name="object 3"/>
          <p:cNvSpPr txBox="1"/>
          <p:nvPr/>
        </p:nvSpPr>
        <p:spPr>
          <a:xfrm>
            <a:off x="11499342" y="6485635"/>
            <a:ext cx="153670"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Arial"/>
                <a:cs typeface="Arial"/>
              </a:rPr>
              <a:t>11</a:t>
            </a:r>
            <a:endParaRPr sz="900">
              <a:latin typeface="Arial"/>
              <a:cs typeface="Arial"/>
            </a:endParaRPr>
          </a:p>
        </p:txBody>
      </p:sp>
      <p:sp>
        <p:nvSpPr>
          <p:cNvPr id="4" name="object 4"/>
          <p:cNvSpPr txBox="1">
            <a:spLocks noGrp="1"/>
          </p:cNvSpPr>
          <p:nvPr>
            <p:ph type="title"/>
          </p:nvPr>
        </p:nvSpPr>
        <p:spPr>
          <a:xfrm>
            <a:off x="542036" y="350647"/>
            <a:ext cx="10530840" cy="406400"/>
          </a:xfrm>
          <a:prstGeom prst="rect">
            <a:avLst/>
          </a:prstGeom>
        </p:spPr>
        <p:txBody>
          <a:bodyPr vert="horz" wrap="square" lIns="0" tIns="12065" rIns="0" bIns="0" rtlCol="0">
            <a:spAutoFit/>
          </a:bodyPr>
          <a:lstStyle/>
          <a:p>
            <a:pPr marL="12700">
              <a:lnSpc>
                <a:spcPct val="100000"/>
              </a:lnSpc>
              <a:spcBef>
                <a:spcPts val="95"/>
              </a:spcBef>
            </a:pPr>
            <a:r>
              <a:rPr spc="-5" dirty="0"/>
              <a:t>| Overall program to generate additional 25-35M€ PBT in</a:t>
            </a:r>
            <a:r>
              <a:rPr spc="135" dirty="0"/>
              <a:t> </a:t>
            </a:r>
            <a:r>
              <a:rPr spc="-10" dirty="0"/>
              <a:t>2030</a:t>
            </a:r>
          </a:p>
        </p:txBody>
      </p:sp>
      <p:sp>
        <p:nvSpPr>
          <p:cNvPr id="5" name="object 5"/>
          <p:cNvSpPr txBox="1"/>
          <p:nvPr/>
        </p:nvSpPr>
        <p:spPr>
          <a:xfrm>
            <a:off x="542036" y="697382"/>
            <a:ext cx="3996690" cy="756920"/>
          </a:xfrm>
          <a:prstGeom prst="rect">
            <a:avLst/>
          </a:prstGeom>
        </p:spPr>
        <p:txBody>
          <a:bodyPr vert="horz" wrap="square" lIns="0" tIns="133985" rIns="0" bIns="0" rtlCol="0">
            <a:spAutoFit/>
          </a:bodyPr>
          <a:lstStyle/>
          <a:p>
            <a:pPr marL="12700">
              <a:lnSpc>
                <a:spcPct val="100000"/>
              </a:lnSpc>
              <a:spcBef>
                <a:spcPts val="1055"/>
              </a:spcBef>
            </a:pPr>
            <a:r>
              <a:rPr sz="1600" spc="-5" dirty="0">
                <a:latin typeface="Arial"/>
                <a:cs typeface="Arial"/>
              </a:rPr>
              <a:t>Eurobank financials evolution, 2024-30</a:t>
            </a:r>
            <a:r>
              <a:rPr sz="1600" spc="-35" dirty="0">
                <a:latin typeface="Arial"/>
                <a:cs typeface="Arial"/>
              </a:rPr>
              <a:t> </a:t>
            </a:r>
            <a:r>
              <a:rPr sz="1600" spc="-5" dirty="0">
                <a:latin typeface="Arial"/>
                <a:cs typeface="Arial"/>
              </a:rPr>
              <a:t>(€M)</a:t>
            </a:r>
            <a:endParaRPr sz="1600">
              <a:latin typeface="Arial"/>
              <a:cs typeface="Arial"/>
            </a:endParaRPr>
          </a:p>
          <a:p>
            <a:pPr marL="1087755">
              <a:lnSpc>
                <a:spcPct val="100000"/>
              </a:lnSpc>
              <a:spcBef>
                <a:spcPts val="960"/>
              </a:spcBef>
            </a:pPr>
            <a:r>
              <a:rPr sz="1600" b="1" spc="-10" dirty="0">
                <a:latin typeface="Arial"/>
                <a:cs typeface="Arial"/>
              </a:rPr>
              <a:t>Retail </a:t>
            </a:r>
            <a:r>
              <a:rPr sz="1600" b="1" spc="-5" dirty="0">
                <a:latin typeface="Arial"/>
                <a:cs typeface="Arial"/>
              </a:rPr>
              <a:t>loan</a:t>
            </a:r>
            <a:r>
              <a:rPr sz="1600" b="1" spc="25" dirty="0">
                <a:latin typeface="Arial"/>
                <a:cs typeface="Arial"/>
              </a:rPr>
              <a:t> </a:t>
            </a:r>
            <a:r>
              <a:rPr sz="1600" b="1" spc="-5" dirty="0">
                <a:latin typeface="Arial"/>
                <a:cs typeface="Arial"/>
              </a:rPr>
              <a:t>disbursements</a:t>
            </a:r>
            <a:endParaRPr sz="1600">
              <a:latin typeface="Arial"/>
              <a:cs typeface="Arial"/>
            </a:endParaRPr>
          </a:p>
        </p:txBody>
      </p:sp>
      <p:sp>
        <p:nvSpPr>
          <p:cNvPr id="6" name="object 6"/>
          <p:cNvSpPr/>
          <p:nvPr/>
        </p:nvSpPr>
        <p:spPr>
          <a:xfrm>
            <a:off x="1630172" y="1747901"/>
            <a:ext cx="2696210" cy="0"/>
          </a:xfrm>
          <a:custGeom>
            <a:avLst/>
            <a:gdLst/>
            <a:ahLst/>
            <a:cxnLst/>
            <a:rect l="l" t="t" r="r" b="b"/>
            <a:pathLst>
              <a:path w="2696210">
                <a:moveTo>
                  <a:pt x="0" y="0"/>
                </a:moveTo>
                <a:lnTo>
                  <a:pt x="2696210" y="0"/>
                </a:lnTo>
              </a:path>
            </a:pathLst>
          </a:custGeom>
          <a:ln w="12700">
            <a:solidFill>
              <a:srgbClr val="757575"/>
            </a:solidFill>
          </a:ln>
        </p:spPr>
        <p:txBody>
          <a:bodyPr wrap="square" lIns="0" tIns="0" rIns="0" bIns="0" rtlCol="0"/>
          <a:lstStyle/>
          <a:p>
            <a:endParaRPr/>
          </a:p>
        </p:txBody>
      </p:sp>
      <p:sp>
        <p:nvSpPr>
          <p:cNvPr id="7" name="object 7"/>
          <p:cNvSpPr/>
          <p:nvPr/>
        </p:nvSpPr>
        <p:spPr>
          <a:xfrm>
            <a:off x="4889500" y="1747901"/>
            <a:ext cx="2966720" cy="0"/>
          </a:xfrm>
          <a:custGeom>
            <a:avLst/>
            <a:gdLst/>
            <a:ahLst/>
            <a:cxnLst/>
            <a:rect l="l" t="t" r="r" b="b"/>
            <a:pathLst>
              <a:path w="2966720">
                <a:moveTo>
                  <a:pt x="0" y="0"/>
                </a:moveTo>
                <a:lnTo>
                  <a:pt x="2966593" y="0"/>
                </a:lnTo>
              </a:path>
            </a:pathLst>
          </a:custGeom>
          <a:ln w="12700">
            <a:solidFill>
              <a:srgbClr val="757575"/>
            </a:solidFill>
          </a:ln>
        </p:spPr>
        <p:txBody>
          <a:bodyPr wrap="square" lIns="0" tIns="0" rIns="0" bIns="0" rtlCol="0"/>
          <a:lstStyle/>
          <a:p>
            <a:endParaRPr/>
          </a:p>
        </p:txBody>
      </p:sp>
      <p:sp>
        <p:nvSpPr>
          <p:cNvPr id="8" name="object 8"/>
          <p:cNvSpPr/>
          <p:nvPr/>
        </p:nvSpPr>
        <p:spPr>
          <a:xfrm>
            <a:off x="8189976" y="1747901"/>
            <a:ext cx="3103880" cy="0"/>
          </a:xfrm>
          <a:custGeom>
            <a:avLst/>
            <a:gdLst/>
            <a:ahLst/>
            <a:cxnLst/>
            <a:rect l="l" t="t" r="r" b="b"/>
            <a:pathLst>
              <a:path w="3103879">
                <a:moveTo>
                  <a:pt x="0" y="0"/>
                </a:moveTo>
                <a:lnTo>
                  <a:pt x="3103499" y="0"/>
                </a:lnTo>
              </a:path>
            </a:pathLst>
          </a:custGeom>
          <a:ln w="12700">
            <a:solidFill>
              <a:srgbClr val="757575"/>
            </a:solidFill>
          </a:ln>
        </p:spPr>
        <p:txBody>
          <a:bodyPr wrap="square" lIns="0" tIns="0" rIns="0" bIns="0" rtlCol="0"/>
          <a:lstStyle/>
          <a:p>
            <a:endParaRPr/>
          </a:p>
        </p:txBody>
      </p:sp>
      <p:sp>
        <p:nvSpPr>
          <p:cNvPr id="9" name="object 9"/>
          <p:cNvSpPr/>
          <p:nvPr/>
        </p:nvSpPr>
        <p:spPr>
          <a:xfrm>
            <a:off x="4616450" y="1831975"/>
            <a:ext cx="0" cy="4421505"/>
          </a:xfrm>
          <a:custGeom>
            <a:avLst/>
            <a:gdLst/>
            <a:ahLst/>
            <a:cxnLst/>
            <a:rect l="l" t="t" r="r" b="b"/>
            <a:pathLst>
              <a:path h="4421505">
                <a:moveTo>
                  <a:pt x="0" y="0"/>
                </a:moveTo>
                <a:lnTo>
                  <a:pt x="0" y="4421187"/>
                </a:lnTo>
              </a:path>
            </a:pathLst>
          </a:custGeom>
          <a:ln w="6350">
            <a:solidFill>
              <a:srgbClr val="757575"/>
            </a:solidFill>
          </a:ln>
        </p:spPr>
        <p:txBody>
          <a:bodyPr wrap="square" lIns="0" tIns="0" rIns="0" bIns="0" rtlCol="0"/>
          <a:lstStyle/>
          <a:p>
            <a:endParaRPr/>
          </a:p>
        </p:txBody>
      </p:sp>
      <p:sp>
        <p:nvSpPr>
          <p:cNvPr id="10" name="object 10"/>
          <p:cNvSpPr/>
          <p:nvPr/>
        </p:nvSpPr>
        <p:spPr>
          <a:xfrm>
            <a:off x="8015351" y="1831975"/>
            <a:ext cx="0" cy="4421505"/>
          </a:xfrm>
          <a:custGeom>
            <a:avLst/>
            <a:gdLst/>
            <a:ahLst/>
            <a:cxnLst/>
            <a:rect l="l" t="t" r="r" b="b"/>
            <a:pathLst>
              <a:path h="4421505">
                <a:moveTo>
                  <a:pt x="0" y="0"/>
                </a:moveTo>
                <a:lnTo>
                  <a:pt x="0" y="4421187"/>
                </a:lnTo>
              </a:path>
            </a:pathLst>
          </a:custGeom>
          <a:ln w="6350">
            <a:solidFill>
              <a:srgbClr val="757575"/>
            </a:solidFill>
          </a:ln>
        </p:spPr>
        <p:txBody>
          <a:bodyPr wrap="square" lIns="0" tIns="0" rIns="0" bIns="0" rtlCol="0"/>
          <a:lstStyle/>
          <a:p>
            <a:endParaRPr/>
          </a:p>
        </p:txBody>
      </p:sp>
      <p:sp>
        <p:nvSpPr>
          <p:cNvPr id="11" name="object 11"/>
          <p:cNvSpPr/>
          <p:nvPr/>
        </p:nvSpPr>
        <p:spPr>
          <a:xfrm>
            <a:off x="8833104" y="4043171"/>
            <a:ext cx="909955" cy="635635"/>
          </a:xfrm>
          <a:custGeom>
            <a:avLst/>
            <a:gdLst/>
            <a:ahLst/>
            <a:cxnLst/>
            <a:rect l="l" t="t" r="r" b="b"/>
            <a:pathLst>
              <a:path w="909954" h="635635">
                <a:moveTo>
                  <a:pt x="909827" y="0"/>
                </a:moveTo>
                <a:lnTo>
                  <a:pt x="0" y="0"/>
                </a:lnTo>
                <a:lnTo>
                  <a:pt x="0" y="635126"/>
                </a:lnTo>
                <a:lnTo>
                  <a:pt x="909827" y="635126"/>
                </a:lnTo>
                <a:lnTo>
                  <a:pt x="909827" y="0"/>
                </a:lnTo>
                <a:close/>
              </a:path>
            </a:pathLst>
          </a:custGeom>
          <a:solidFill>
            <a:srgbClr val="051F79"/>
          </a:solidFill>
        </p:spPr>
        <p:txBody>
          <a:bodyPr wrap="square" lIns="0" tIns="0" rIns="0" bIns="0" rtlCol="0"/>
          <a:lstStyle/>
          <a:p>
            <a:endParaRPr/>
          </a:p>
        </p:txBody>
      </p:sp>
      <p:sp>
        <p:nvSpPr>
          <p:cNvPr id="12" name="object 12"/>
          <p:cNvSpPr/>
          <p:nvPr/>
        </p:nvSpPr>
        <p:spPr>
          <a:xfrm>
            <a:off x="10107168" y="3197351"/>
            <a:ext cx="909955" cy="1481455"/>
          </a:xfrm>
          <a:custGeom>
            <a:avLst/>
            <a:gdLst/>
            <a:ahLst/>
            <a:cxnLst/>
            <a:rect l="l" t="t" r="r" b="b"/>
            <a:pathLst>
              <a:path w="909954" h="1481454">
                <a:moveTo>
                  <a:pt x="909827" y="0"/>
                </a:moveTo>
                <a:lnTo>
                  <a:pt x="0" y="0"/>
                </a:lnTo>
                <a:lnTo>
                  <a:pt x="0" y="1480947"/>
                </a:lnTo>
                <a:lnTo>
                  <a:pt x="909827" y="1480947"/>
                </a:lnTo>
                <a:lnTo>
                  <a:pt x="909827" y="0"/>
                </a:lnTo>
                <a:close/>
              </a:path>
            </a:pathLst>
          </a:custGeom>
          <a:solidFill>
            <a:srgbClr val="051F79"/>
          </a:solidFill>
        </p:spPr>
        <p:txBody>
          <a:bodyPr wrap="square" lIns="0" tIns="0" rIns="0" bIns="0" rtlCol="0"/>
          <a:lstStyle/>
          <a:p>
            <a:endParaRPr/>
          </a:p>
        </p:txBody>
      </p:sp>
      <p:sp>
        <p:nvSpPr>
          <p:cNvPr id="13" name="object 13"/>
          <p:cNvSpPr/>
          <p:nvPr/>
        </p:nvSpPr>
        <p:spPr>
          <a:xfrm>
            <a:off x="10107168" y="2773362"/>
            <a:ext cx="909955" cy="424180"/>
          </a:xfrm>
          <a:custGeom>
            <a:avLst/>
            <a:gdLst/>
            <a:ahLst/>
            <a:cxnLst/>
            <a:rect l="l" t="t" r="r" b="b"/>
            <a:pathLst>
              <a:path w="909954" h="424180">
                <a:moveTo>
                  <a:pt x="0" y="423989"/>
                </a:moveTo>
                <a:lnTo>
                  <a:pt x="909827" y="423989"/>
                </a:lnTo>
                <a:lnTo>
                  <a:pt x="909827" y="0"/>
                </a:lnTo>
                <a:lnTo>
                  <a:pt x="0" y="0"/>
                </a:lnTo>
                <a:lnTo>
                  <a:pt x="0" y="423989"/>
                </a:lnTo>
                <a:close/>
              </a:path>
            </a:pathLst>
          </a:custGeom>
          <a:solidFill>
            <a:srgbClr val="2151FF"/>
          </a:solidFill>
        </p:spPr>
        <p:txBody>
          <a:bodyPr wrap="square" lIns="0" tIns="0" rIns="0" bIns="0" rtlCol="0"/>
          <a:lstStyle/>
          <a:p>
            <a:endParaRPr/>
          </a:p>
        </p:txBody>
      </p:sp>
      <p:sp>
        <p:nvSpPr>
          <p:cNvPr id="14" name="object 14"/>
          <p:cNvSpPr/>
          <p:nvPr/>
        </p:nvSpPr>
        <p:spPr>
          <a:xfrm>
            <a:off x="10107168" y="2773362"/>
            <a:ext cx="909955" cy="424180"/>
          </a:xfrm>
          <a:custGeom>
            <a:avLst/>
            <a:gdLst/>
            <a:ahLst/>
            <a:cxnLst/>
            <a:rect l="l" t="t" r="r" b="b"/>
            <a:pathLst>
              <a:path w="909954" h="424180">
                <a:moveTo>
                  <a:pt x="0" y="423989"/>
                </a:moveTo>
                <a:lnTo>
                  <a:pt x="909827" y="423989"/>
                </a:lnTo>
                <a:lnTo>
                  <a:pt x="909827" y="0"/>
                </a:lnTo>
                <a:lnTo>
                  <a:pt x="0" y="0"/>
                </a:lnTo>
                <a:lnTo>
                  <a:pt x="0" y="423989"/>
                </a:lnTo>
                <a:close/>
              </a:path>
            </a:pathLst>
          </a:custGeom>
          <a:ln w="9525">
            <a:solidFill>
              <a:srgbClr val="FFFFFF"/>
            </a:solidFill>
          </a:ln>
        </p:spPr>
        <p:txBody>
          <a:bodyPr wrap="square" lIns="0" tIns="0" rIns="0" bIns="0" rtlCol="0"/>
          <a:lstStyle/>
          <a:p>
            <a:endParaRPr/>
          </a:p>
        </p:txBody>
      </p:sp>
      <p:sp>
        <p:nvSpPr>
          <p:cNvPr id="15" name="object 15"/>
          <p:cNvSpPr/>
          <p:nvPr/>
        </p:nvSpPr>
        <p:spPr>
          <a:xfrm>
            <a:off x="8650351" y="4678426"/>
            <a:ext cx="2549525" cy="0"/>
          </a:xfrm>
          <a:custGeom>
            <a:avLst/>
            <a:gdLst/>
            <a:ahLst/>
            <a:cxnLst/>
            <a:rect l="l" t="t" r="r" b="b"/>
            <a:pathLst>
              <a:path w="2549525">
                <a:moveTo>
                  <a:pt x="0" y="0"/>
                </a:moveTo>
                <a:lnTo>
                  <a:pt x="2549525" y="0"/>
                </a:lnTo>
              </a:path>
            </a:pathLst>
          </a:custGeom>
          <a:ln w="9525">
            <a:solidFill>
              <a:srgbClr val="000000"/>
            </a:solidFill>
          </a:ln>
        </p:spPr>
        <p:txBody>
          <a:bodyPr wrap="square" lIns="0" tIns="0" rIns="0" bIns="0" rtlCol="0"/>
          <a:lstStyle/>
          <a:p>
            <a:endParaRPr/>
          </a:p>
        </p:txBody>
      </p:sp>
      <p:sp>
        <p:nvSpPr>
          <p:cNvPr id="16" name="object 16"/>
          <p:cNvSpPr/>
          <p:nvPr/>
        </p:nvSpPr>
        <p:spPr>
          <a:xfrm>
            <a:off x="9286875" y="2374900"/>
            <a:ext cx="0" cy="1422400"/>
          </a:xfrm>
          <a:custGeom>
            <a:avLst/>
            <a:gdLst/>
            <a:ahLst/>
            <a:cxnLst/>
            <a:rect l="l" t="t" r="r" b="b"/>
            <a:pathLst>
              <a:path h="1422400">
                <a:moveTo>
                  <a:pt x="0" y="1422400"/>
                </a:moveTo>
                <a:lnTo>
                  <a:pt x="0" y="0"/>
                </a:lnTo>
              </a:path>
            </a:pathLst>
          </a:custGeom>
          <a:ln w="19050">
            <a:solidFill>
              <a:srgbClr val="000000"/>
            </a:solidFill>
          </a:ln>
        </p:spPr>
        <p:txBody>
          <a:bodyPr wrap="square" lIns="0" tIns="0" rIns="0" bIns="0" rtlCol="0"/>
          <a:lstStyle/>
          <a:p>
            <a:endParaRPr/>
          </a:p>
        </p:txBody>
      </p:sp>
      <p:sp>
        <p:nvSpPr>
          <p:cNvPr id="17" name="object 17"/>
          <p:cNvSpPr/>
          <p:nvPr/>
        </p:nvSpPr>
        <p:spPr>
          <a:xfrm>
            <a:off x="9286875" y="2374900"/>
            <a:ext cx="1275080" cy="0"/>
          </a:xfrm>
          <a:custGeom>
            <a:avLst/>
            <a:gdLst/>
            <a:ahLst/>
            <a:cxnLst/>
            <a:rect l="l" t="t" r="r" b="b"/>
            <a:pathLst>
              <a:path w="1275079">
                <a:moveTo>
                  <a:pt x="0" y="0"/>
                </a:moveTo>
                <a:lnTo>
                  <a:pt x="1274826" y="0"/>
                </a:lnTo>
              </a:path>
            </a:pathLst>
          </a:custGeom>
          <a:ln w="19050">
            <a:solidFill>
              <a:srgbClr val="000000"/>
            </a:solidFill>
          </a:ln>
        </p:spPr>
        <p:txBody>
          <a:bodyPr wrap="square" lIns="0" tIns="0" rIns="0" bIns="0" rtlCol="0"/>
          <a:lstStyle/>
          <a:p>
            <a:endParaRPr/>
          </a:p>
        </p:txBody>
      </p:sp>
      <p:sp>
        <p:nvSpPr>
          <p:cNvPr id="18" name="object 18"/>
          <p:cNvSpPr/>
          <p:nvPr/>
        </p:nvSpPr>
        <p:spPr>
          <a:xfrm>
            <a:off x="10523473" y="2374900"/>
            <a:ext cx="76200" cy="152400"/>
          </a:xfrm>
          <a:prstGeom prst="rect">
            <a:avLst/>
          </a:prstGeom>
          <a:blipFill>
            <a:blip r:embed="rId2" cstate="print"/>
            <a:stretch>
              <a:fillRect/>
            </a:stretch>
          </a:blipFill>
        </p:spPr>
        <p:txBody>
          <a:bodyPr wrap="square" lIns="0" tIns="0" rIns="0" bIns="0" rtlCol="0"/>
          <a:lstStyle/>
          <a:p>
            <a:endParaRPr/>
          </a:p>
        </p:txBody>
      </p:sp>
      <p:sp>
        <p:nvSpPr>
          <p:cNvPr id="19" name="object 19"/>
          <p:cNvSpPr txBox="1"/>
          <p:nvPr/>
        </p:nvSpPr>
        <p:spPr>
          <a:xfrm>
            <a:off x="10355071" y="3829939"/>
            <a:ext cx="41719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Arial"/>
                <a:cs typeface="Arial"/>
              </a:rPr>
              <a:t>30-40</a:t>
            </a:r>
            <a:endParaRPr sz="1200">
              <a:latin typeface="Arial"/>
              <a:cs typeface="Arial"/>
            </a:endParaRPr>
          </a:p>
        </p:txBody>
      </p:sp>
      <p:sp>
        <p:nvSpPr>
          <p:cNvPr id="20" name="object 20"/>
          <p:cNvSpPr txBox="1"/>
          <p:nvPr/>
        </p:nvSpPr>
        <p:spPr>
          <a:xfrm>
            <a:off x="10378820" y="4712970"/>
            <a:ext cx="36703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2030</a:t>
            </a:r>
            <a:endParaRPr sz="1200">
              <a:latin typeface="Arial"/>
              <a:cs typeface="Arial"/>
            </a:endParaRPr>
          </a:p>
        </p:txBody>
      </p:sp>
      <p:sp>
        <p:nvSpPr>
          <p:cNvPr id="21" name="object 21"/>
          <p:cNvSpPr txBox="1"/>
          <p:nvPr/>
        </p:nvSpPr>
        <p:spPr>
          <a:xfrm>
            <a:off x="9189846" y="3818635"/>
            <a:ext cx="19621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Arial"/>
                <a:cs typeface="Arial"/>
              </a:rPr>
              <a:t>15</a:t>
            </a:r>
            <a:endParaRPr sz="1200">
              <a:latin typeface="Arial"/>
              <a:cs typeface="Arial"/>
            </a:endParaRPr>
          </a:p>
        </p:txBody>
      </p:sp>
      <p:sp>
        <p:nvSpPr>
          <p:cNvPr id="22" name="object 22"/>
          <p:cNvSpPr txBox="1"/>
          <p:nvPr/>
        </p:nvSpPr>
        <p:spPr>
          <a:xfrm>
            <a:off x="9103868" y="4712970"/>
            <a:ext cx="36703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2024</a:t>
            </a:r>
            <a:endParaRPr sz="1200">
              <a:latin typeface="Arial"/>
              <a:cs typeface="Arial"/>
            </a:endParaRPr>
          </a:p>
        </p:txBody>
      </p:sp>
      <p:sp>
        <p:nvSpPr>
          <p:cNvPr id="23" name="object 23"/>
          <p:cNvSpPr/>
          <p:nvPr/>
        </p:nvSpPr>
        <p:spPr>
          <a:xfrm>
            <a:off x="9799573" y="2251075"/>
            <a:ext cx="249300" cy="249300"/>
          </a:xfrm>
          <a:prstGeom prst="rect">
            <a:avLst/>
          </a:prstGeom>
          <a:blipFill>
            <a:blip r:embed="rId3" cstate="print"/>
            <a:stretch>
              <a:fillRect/>
            </a:stretch>
          </a:blipFill>
        </p:spPr>
        <p:txBody>
          <a:bodyPr wrap="square" lIns="0" tIns="0" rIns="0" bIns="0" rtlCol="0"/>
          <a:lstStyle/>
          <a:p>
            <a:endParaRPr/>
          </a:p>
        </p:txBody>
      </p:sp>
      <p:sp>
        <p:nvSpPr>
          <p:cNvPr id="24" name="object 24"/>
          <p:cNvSpPr/>
          <p:nvPr/>
        </p:nvSpPr>
        <p:spPr>
          <a:xfrm>
            <a:off x="6396101" y="3200400"/>
            <a:ext cx="346075" cy="821055"/>
          </a:xfrm>
          <a:custGeom>
            <a:avLst/>
            <a:gdLst/>
            <a:ahLst/>
            <a:cxnLst/>
            <a:rect l="l" t="t" r="r" b="b"/>
            <a:pathLst>
              <a:path w="346075" h="821054">
                <a:moveTo>
                  <a:pt x="0" y="820801"/>
                </a:moveTo>
                <a:lnTo>
                  <a:pt x="346075" y="0"/>
                </a:lnTo>
              </a:path>
            </a:pathLst>
          </a:custGeom>
          <a:ln w="9525">
            <a:solidFill>
              <a:srgbClr val="E6E6E6"/>
            </a:solidFill>
          </a:ln>
        </p:spPr>
        <p:txBody>
          <a:bodyPr wrap="square" lIns="0" tIns="0" rIns="0" bIns="0" rtlCol="0"/>
          <a:lstStyle/>
          <a:p>
            <a:endParaRPr/>
          </a:p>
        </p:txBody>
      </p:sp>
      <p:sp>
        <p:nvSpPr>
          <p:cNvPr id="25" name="object 25"/>
          <p:cNvSpPr/>
          <p:nvPr/>
        </p:nvSpPr>
        <p:spPr>
          <a:xfrm>
            <a:off x="6396101" y="2773426"/>
            <a:ext cx="346075" cy="1247775"/>
          </a:xfrm>
          <a:custGeom>
            <a:avLst/>
            <a:gdLst/>
            <a:ahLst/>
            <a:cxnLst/>
            <a:rect l="l" t="t" r="r" b="b"/>
            <a:pathLst>
              <a:path w="346075" h="1247775">
                <a:moveTo>
                  <a:pt x="0" y="1247775"/>
                </a:moveTo>
                <a:lnTo>
                  <a:pt x="346075" y="0"/>
                </a:lnTo>
              </a:path>
            </a:pathLst>
          </a:custGeom>
          <a:ln w="9525">
            <a:solidFill>
              <a:srgbClr val="E6E6E6"/>
            </a:solidFill>
          </a:ln>
        </p:spPr>
        <p:txBody>
          <a:bodyPr wrap="square" lIns="0" tIns="0" rIns="0" bIns="0" rtlCol="0"/>
          <a:lstStyle/>
          <a:p>
            <a:endParaRPr/>
          </a:p>
        </p:txBody>
      </p:sp>
      <p:sp>
        <p:nvSpPr>
          <p:cNvPr id="26" name="object 26"/>
          <p:cNvSpPr/>
          <p:nvPr/>
        </p:nvSpPr>
        <p:spPr>
          <a:xfrm>
            <a:off x="5527547" y="4021835"/>
            <a:ext cx="868680" cy="656590"/>
          </a:xfrm>
          <a:custGeom>
            <a:avLst/>
            <a:gdLst/>
            <a:ahLst/>
            <a:cxnLst/>
            <a:rect l="l" t="t" r="r" b="b"/>
            <a:pathLst>
              <a:path w="868679" h="656589">
                <a:moveTo>
                  <a:pt x="868679" y="0"/>
                </a:moveTo>
                <a:lnTo>
                  <a:pt x="0" y="0"/>
                </a:lnTo>
                <a:lnTo>
                  <a:pt x="0" y="656463"/>
                </a:lnTo>
                <a:lnTo>
                  <a:pt x="868679" y="656463"/>
                </a:lnTo>
                <a:lnTo>
                  <a:pt x="868679" y="0"/>
                </a:lnTo>
                <a:close/>
              </a:path>
            </a:pathLst>
          </a:custGeom>
          <a:solidFill>
            <a:srgbClr val="051F79"/>
          </a:solidFill>
        </p:spPr>
        <p:txBody>
          <a:bodyPr wrap="square" lIns="0" tIns="0" rIns="0" bIns="0" rtlCol="0"/>
          <a:lstStyle/>
          <a:p>
            <a:endParaRPr/>
          </a:p>
        </p:txBody>
      </p:sp>
      <p:sp>
        <p:nvSpPr>
          <p:cNvPr id="27" name="object 27"/>
          <p:cNvSpPr/>
          <p:nvPr/>
        </p:nvSpPr>
        <p:spPr>
          <a:xfrm>
            <a:off x="6742176" y="3200400"/>
            <a:ext cx="867410" cy="1478280"/>
          </a:xfrm>
          <a:custGeom>
            <a:avLst/>
            <a:gdLst/>
            <a:ahLst/>
            <a:cxnLst/>
            <a:rect l="l" t="t" r="r" b="b"/>
            <a:pathLst>
              <a:path w="867409" h="1478279">
                <a:moveTo>
                  <a:pt x="867155" y="0"/>
                </a:moveTo>
                <a:lnTo>
                  <a:pt x="0" y="0"/>
                </a:lnTo>
                <a:lnTo>
                  <a:pt x="0" y="1477899"/>
                </a:lnTo>
                <a:lnTo>
                  <a:pt x="867155" y="1477899"/>
                </a:lnTo>
                <a:lnTo>
                  <a:pt x="867155" y="0"/>
                </a:lnTo>
                <a:close/>
              </a:path>
            </a:pathLst>
          </a:custGeom>
          <a:solidFill>
            <a:srgbClr val="051F79"/>
          </a:solidFill>
        </p:spPr>
        <p:txBody>
          <a:bodyPr wrap="square" lIns="0" tIns="0" rIns="0" bIns="0" rtlCol="0"/>
          <a:lstStyle/>
          <a:p>
            <a:endParaRPr/>
          </a:p>
        </p:txBody>
      </p:sp>
      <p:sp>
        <p:nvSpPr>
          <p:cNvPr id="28" name="object 28"/>
          <p:cNvSpPr/>
          <p:nvPr/>
        </p:nvSpPr>
        <p:spPr>
          <a:xfrm>
            <a:off x="5527547" y="4021835"/>
            <a:ext cx="868680" cy="656590"/>
          </a:xfrm>
          <a:custGeom>
            <a:avLst/>
            <a:gdLst/>
            <a:ahLst/>
            <a:cxnLst/>
            <a:rect l="l" t="t" r="r" b="b"/>
            <a:pathLst>
              <a:path w="868679" h="656589">
                <a:moveTo>
                  <a:pt x="0" y="0"/>
                </a:moveTo>
                <a:lnTo>
                  <a:pt x="868679" y="0"/>
                </a:lnTo>
                <a:lnTo>
                  <a:pt x="868679" y="656463"/>
                </a:lnTo>
                <a:lnTo>
                  <a:pt x="0" y="656463"/>
                </a:lnTo>
                <a:lnTo>
                  <a:pt x="0" y="0"/>
                </a:lnTo>
                <a:close/>
              </a:path>
            </a:pathLst>
          </a:custGeom>
          <a:ln w="9525">
            <a:solidFill>
              <a:srgbClr val="FFFFFF"/>
            </a:solidFill>
          </a:ln>
        </p:spPr>
        <p:txBody>
          <a:bodyPr wrap="square" lIns="0" tIns="0" rIns="0" bIns="0" rtlCol="0"/>
          <a:lstStyle/>
          <a:p>
            <a:endParaRPr/>
          </a:p>
        </p:txBody>
      </p:sp>
      <p:sp>
        <p:nvSpPr>
          <p:cNvPr id="29" name="object 29"/>
          <p:cNvSpPr/>
          <p:nvPr/>
        </p:nvSpPr>
        <p:spPr>
          <a:xfrm>
            <a:off x="6742176" y="3200400"/>
            <a:ext cx="867410" cy="1478280"/>
          </a:xfrm>
          <a:custGeom>
            <a:avLst/>
            <a:gdLst/>
            <a:ahLst/>
            <a:cxnLst/>
            <a:rect l="l" t="t" r="r" b="b"/>
            <a:pathLst>
              <a:path w="867409" h="1478279">
                <a:moveTo>
                  <a:pt x="0" y="0"/>
                </a:moveTo>
                <a:lnTo>
                  <a:pt x="867155" y="0"/>
                </a:lnTo>
                <a:lnTo>
                  <a:pt x="867155" y="1477899"/>
                </a:lnTo>
                <a:lnTo>
                  <a:pt x="0" y="1477899"/>
                </a:lnTo>
                <a:lnTo>
                  <a:pt x="0" y="0"/>
                </a:lnTo>
                <a:close/>
              </a:path>
            </a:pathLst>
          </a:custGeom>
          <a:ln w="9525">
            <a:solidFill>
              <a:srgbClr val="FFFFFF"/>
            </a:solidFill>
          </a:ln>
        </p:spPr>
        <p:txBody>
          <a:bodyPr wrap="square" lIns="0" tIns="0" rIns="0" bIns="0" rtlCol="0"/>
          <a:lstStyle/>
          <a:p>
            <a:endParaRPr/>
          </a:p>
        </p:txBody>
      </p:sp>
      <p:sp>
        <p:nvSpPr>
          <p:cNvPr id="30" name="object 30"/>
          <p:cNvSpPr/>
          <p:nvPr/>
        </p:nvSpPr>
        <p:spPr>
          <a:xfrm>
            <a:off x="6742176" y="2773362"/>
            <a:ext cx="867410" cy="427355"/>
          </a:xfrm>
          <a:custGeom>
            <a:avLst/>
            <a:gdLst/>
            <a:ahLst/>
            <a:cxnLst/>
            <a:rect l="l" t="t" r="r" b="b"/>
            <a:pathLst>
              <a:path w="867409" h="427355">
                <a:moveTo>
                  <a:pt x="0" y="427037"/>
                </a:moveTo>
                <a:lnTo>
                  <a:pt x="867155" y="427037"/>
                </a:lnTo>
                <a:lnTo>
                  <a:pt x="867155" y="0"/>
                </a:lnTo>
                <a:lnTo>
                  <a:pt x="0" y="0"/>
                </a:lnTo>
                <a:lnTo>
                  <a:pt x="0" y="427037"/>
                </a:lnTo>
                <a:close/>
              </a:path>
            </a:pathLst>
          </a:custGeom>
          <a:solidFill>
            <a:srgbClr val="2151FF"/>
          </a:solidFill>
        </p:spPr>
        <p:txBody>
          <a:bodyPr wrap="square" lIns="0" tIns="0" rIns="0" bIns="0" rtlCol="0"/>
          <a:lstStyle/>
          <a:p>
            <a:endParaRPr/>
          </a:p>
        </p:txBody>
      </p:sp>
      <p:sp>
        <p:nvSpPr>
          <p:cNvPr id="31" name="object 31"/>
          <p:cNvSpPr/>
          <p:nvPr/>
        </p:nvSpPr>
        <p:spPr>
          <a:xfrm>
            <a:off x="6742176" y="2773362"/>
            <a:ext cx="867410" cy="427355"/>
          </a:xfrm>
          <a:custGeom>
            <a:avLst/>
            <a:gdLst/>
            <a:ahLst/>
            <a:cxnLst/>
            <a:rect l="l" t="t" r="r" b="b"/>
            <a:pathLst>
              <a:path w="867409" h="427355">
                <a:moveTo>
                  <a:pt x="0" y="427037"/>
                </a:moveTo>
                <a:lnTo>
                  <a:pt x="867155" y="427037"/>
                </a:lnTo>
                <a:lnTo>
                  <a:pt x="867155" y="0"/>
                </a:lnTo>
                <a:lnTo>
                  <a:pt x="0" y="0"/>
                </a:lnTo>
                <a:lnTo>
                  <a:pt x="0" y="427037"/>
                </a:lnTo>
                <a:close/>
              </a:path>
            </a:pathLst>
          </a:custGeom>
          <a:ln w="9525">
            <a:solidFill>
              <a:srgbClr val="FFFFFF"/>
            </a:solidFill>
          </a:ln>
        </p:spPr>
        <p:txBody>
          <a:bodyPr wrap="square" lIns="0" tIns="0" rIns="0" bIns="0" rtlCol="0"/>
          <a:lstStyle/>
          <a:p>
            <a:endParaRPr/>
          </a:p>
        </p:txBody>
      </p:sp>
      <p:sp>
        <p:nvSpPr>
          <p:cNvPr id="32" name="object 32"/>
          <p:cNvSpPr/>
          <p:nvPr/>
        </p:nvSpPr>
        <p:spPr>
          <a:xfrm>
            <a:off x="5354701" y="4678426"/>
            <a:ext cx="2428875" cy="0"/>
          </a:xfrm>
          <a:custGeom>
            <a:avLst/>
            <a:gdLst/>
            <a:ahLst/>
            <a:cxnLst/>
            <a:rect l="l" t="t" r="r" b="b"/>
            <a:pathLst>
              <a:path w="2428875">
                <a:moveTo>
                  <a:pt x="0" y="0"/>
                </a:moveTo>
                <a:lnTo>
                  <a:pt x="2428875" y="0"/>
                </a:lnTo>
              </a:path>
            </a:pathLst>
          </a:custGeom>
          <a:ln w="9525">
            <a:solidFill>
              <a:srgbClr val="000000"/>
            </a:solidFill>
          </a:ln>
        </p:spPr>
        <p:txBody>
          <a:bodyPr wrap="square" lIns="0" tIns="0" rIns="0" bIns="0" rtlCol="0"/>
          <a:lstStyle/>
          <a:p>
            <a:endParaRPr/>
          </a:p>
        </p:txBody>
      </p:sp>
      <p:sp>
        <p:nvSpPr>
          <p:cNvPr id="33" name="object 33"/>
          <p:cNvSpPr/>
          <p:nvPr/>
        </p:nvSpPr>
        <p:spPr>
          <a:xfrm>
            <a:off x="5961126" y="2374900"/>
            <a:ext cx="1214755" cy="0"/>
          </a:xfrm>
          <a:custGeom>
            <a:avLst/>
            <a:gdLst/>
            <a:ahLst/>
            <a:cxnLst/>
            <a:rect l="l" t="t" r="r" b="b"/>
            <a:pathLst>
              <a:path w="1214754">
                <a:moveTo>
                  <a:pt x="0" y="0"/>
                </a:moveTo>
                <a:lnTo>
                  <a:pt x="1214374" y="0"/>
                </a:lnTo>
              </a:path>
            </a:pathLst>
          </a:custGeom>
          <a:ln w="19050">
            <a:solidFill>
              <a:srgbClr val="000000"/>
            </a:solidFill>
          </a:ln>
        </p:spPr>
        <p:txBody>
          <a:bodyPr wrap="square" lIns="0" tIns="0" rIns="0" bIns="0" rtlCol="0"/>
          <a:lstStyle/>
          <a:p>
            <a:endParaRPr/>
          </a:p>
        </p:txBody>
      </p:sp>
      <p:sp>
        <p:nvSpPr>
          <p:cNvPr id="34" name="object 34"/>
          <p:cNvSpPr/>
          <p:nvPr/>
        </p:nvSpPr>
        <p:spPr>
          <a:xfrm>
            <a:off x="7137400" y="2374900"/>
            <a:ext cx="76200" cy="152400"/>
          </a:xfrm>
          <a:prstGeom prst="rect">
            <a:avLst/>
          </a:prstGeom>
          <a:blipFill>
            <a:blip r:embed="rId4" cstate="print"/>
            <a:stretch>
              <a:fillRect/>
            </a:stretch>
          </a:blipFill>
        </p:spPr>
        <p:txBody>
          <a:bodyPr wrap="square" lIns="0" tIns="0" rIns="0" bIns="0" rtlCol="0"/>
          <a:lstStyle/>
          <a:p>
            <a:endParaRPr/>
          </a:p>
        </p:txBody>
      </p:sp>
      <p:sp>
        <p:nvSpPr>
          <p:cNvPr id="35" name="object 35"/>
          <p:cNvSpPr/>
          <p:nvPr/>
        </p:nvSpPr>
        <p:spPr>
          <a:xfrm>
            <a:off x="5961126" y="2374900"/>
            <a:ext cx="0" cy="1400175"/>
          </a:xfrm>
          <a:custGeom>
            <a:avLst/>
            <a:gdLst/>
            <a:ahLst/>
            <a:cxnLst/>
            <a:rect l="l" t="t" r="r" b="b"/>
            <a:pathLst>
              <a:path h="1400175">
                <a:moveTo>
                  <a:pt x="0" y="1400175"/>
                </a:moveTo>
                <a:lnTo>
                  <a:pt x="0" y="0"/>
                </a:lnTo>
              </a:path>
            </a:pathLst>
          </a:custGeom>
          <a:ln w="19050">
            <a:solidFill>
              <a:srgbClr val="000000"/>
            </a:solidFill>
          </a:ln>
        </p:spPr>
        <p:txBody>
          <a:bodyPr wrap="square" lIns="0" tIns="0" rIns="0" bIns="0" rtlCol="0"/>
          <a:lstStyle/>
          <a:p>
            <a:endParaRPr/>
          </a:p>
        </p:txBody>
      </p:sp>
      <p:sp>
        <p:nvSpPr>
          <p:cNvPr id="36" name="object 36"/>
          <p:cNvSpPr txBox="1"/>
          <p:nvPr/>
        </p:nvSpPr>
        <p:spPr>
          <a:xfrm>
            <a:off x="6992239" y="4712970"/>
            <a:ext cx="36703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2030</a:t>
            </a:r>
            <a:endParaRPr sz="1200">
              <a:latin typeface="Arial"/>
              <a:cs typeface="Arial"/>
            </a:endParaRPr>
          </a:p>
        </p:txBody>
      </p:sp>
      <p:sp>
        <p:nvSpPr>
          <p:cNvPr id="37" name="object 37"/>
          <p:cNvSpPr txBox="1"/>
          <p:nvPr/>
        </p:nvSpPr>
        <p:spPr>
          <a:xfrm>
            <a:off x="6742176" y="3831463"/>
            <a:ext cx="867410" cy="208279"/>
          </a:xfrm>
          <a:prstGeom prst="rect">
            <a:avLst/>
          </a:prstGeom>
        </p:spPr>
        <p:txBody>
          <a:bodyPr vert="horz" wrap="square" lIns="0" tIns="12700" rIns="0" bIns="0" rtlCol="0">
            <a:spAutoFit/>
          </a:bodyPr>
          <a:lstStyle/>
          <a:p>
            <a:pPr marL="238760">
              <a:lnSpc>
                <a:spcPct val="100000"/>
              </a:lnSpc>
              <a:spcBef>
                <a:spcPts val="100"/>
              </a:spcBef>
            </a:pPr>
            <a:r>
              <a:rPr sz="1200" spc="-5" dirty="0">
                <a:solidFill>
                  <a:srgbClr val="FFFFFF"/>
                </a:solidFill>
                <a:latin typeface="Arial"/>
                <a:cs typeface="Arial"/>
              </a:rPr>
              <a:t>45-50</a:t>
            </a:r>
            <a:endParaRPr sz="1200">
              <a:latin typeface="Arial"/>
              <a:cs typeface="Arial"/>
            </a:endParaRPr>
          </a:p>
        </p:txBody>
      </p:sp>
      <p:sp>
        <p:nvSpPr>
          <p:cNvPr id="38" name="object 38"/>
          <p:cNvSpPr txBox="1"/>
          <p:nvPr/>
        </p:nvSpPr>
        <p:spPr>
          <a:xfrm>
            <a:off x="5777610" y="4712970"/>
            <a:ext cx="36703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2024</a:t>
            </a:r>
            <a:endParaRPr sz="1200">
              <a:latin typeface="Arial"/>
              <a:cs typeface="Arial"/>
            </a:endParaRPr>
          </a:p>
        </p:txBody>
      </p:sp>
      <p:sp>
        <p:nvSpPr>
          <p:cNvPr id="39" name="object 39"/>
          <p:cNvSpPr txBox="1"/>
          <p:nvPr/>
        </p:nvSpPr>
        <p:spPr>
          <a:xfrm>
            <a:off x="5820536" y="3796410"/>
            <a:ext cx="28448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a:cs typeface="Arial"/>
              </a:rPr>
              <a:t>~</a:t>
            </a:r>
            <a:r>
              <a:rPr sz="1200" b="1" dirty="0">
                <a:latin typeface="Arial"/>
                <a:cs typeface="Arial"/>
              </a:rPr>
              <a:t>20</a:t>
            </a:r>
            <a:endParaRPr sz="1200">
              <a:latin typeface="Arial"/>
              <a:cs typeface="Arial"/>
            </a:endParaRPr>
          </a:p>
        </p:txBody>
      </p:sp>
      <p:sp>
        <p:nvSpPr>
          <p:cNvPr id="40" name="object 40"/>
          <p:cNvSpPr/>
          <p:nvPr/>
        </p:nvSpPr>
        <p:spPr>
          <a:xfrm>
            <a:off x="6435725" y="2246248"/>
            <a:ext cx="263525" cy="259079"/>
          </a:xfrm>
          <a:custGeom>
            <a:avLst/>
            <a:gdLst/>
            <a:ahLst/>
            <a:cxnLst/>
            <a:rect l="l" t="t" r="r" b="b"/>
            <a:pathLst>
              <a:path w="263525" h="259080">
                <a:moveTo>
                  <a:pt x="131699" y="0"/>
                </a:moveTo>
                <a:lnTo>
                  <a:pt x="80420" y="10183"/>
                </a:lnTo>
                <a:lnTo>
                  <a:pt x="38560" y="37941"/>
                </a:lnTo>
                <a:lnTo>
                  <a:pt x="10344" y="79081"/>
                </a:lnTo>
                <a:lnTo>
                  <a:pt x="0" y="129412"/>
                </a:lnTo>
                <a:lnTo>
                  <a:pt x="10344" y="179798"/>
                </a:lnTo>
                <a:lnTo>
                  <a:pt x="38560" y="220932"/>
                </a:lnTo>
                <a:lnTo>
                  <a:pt x="80420" y="248660"/>
                </a:lnTo>
                <a:lnTo>
                  <a:pt x="131699" y="258825"/>
                </a:lnTo>
                <a:lnTo>
                  <a:pt x="182997" y="248660"/>
                </a:lnTo>
                <a:lnTo>
                  <a:pt x="224901" y="220932"/>
                </a:lnTo>
                <a:lnTo>
                  <a:pt x="253160" y="179798"/>
                </a:lnTo>
                <a:lnTo>
                  <a:pt x="263525" y="129412"/>
                </a:lnTo>
                <a:lnTo>
                  <a:pt x="253160" y="79081"/>
                </a:lnTo>
                <a:lnTo>
                  <a:pt x="224901" y="37941"/>
                </a:lnTo>
                <a:lnTo>
                  <a:pt x="182997" y="10183"/>
                </a:lnTo>
                <a:lnTo>
                  <a:pt x="131699" y="0"/>
                </a:lnTo>
                <a:close/>
              </a:path>
            </a:pathLst>
          </a:custGeom>
          <a:solidFill>
            <a:srgbClr val="FFFFFF"/>
          </a:solidFill>
        </p:spPr>
        <p:txBody>
          <a:bodyPr wrap="square" lIns="0" tIns="0" rIns="0" bIns="0" rtlCol="0"/>
          <a:lstStyle/>
          <a:p>
            <a:endParaRPr/>
          </a:p>
        </p:txBody>
      </p:sp>
      <p:sp>
        <p:nvSpPr>
          <p:cNvPr id="41" name="object 41"/>
          <p:cNvSpPr/>
          <p:nvPr/>
        </p:nvSpPr>
        <p:spPr>
          <a:xfrm>
            <a:off x="2938526" y="4422775"/>
            <a:ext cx="339725" cy="92075"/>
          </a:xfrm>
          <a:custGeom>
            <a:avLst/>
            <a:gdLst/>
            <a:ahLst/>
            <a:cxnLst/>
            <a:rect l="l" t="t" r="r" b="b"/>
            <a:pathLst>
              <a:path w="339725" h="92075">
                <a:moveTo>
                  <a:pt x="0" y="92075"/>
                </a:moveTo>
                <a:lnTo>
                  <a:pt x="339725" y="0"/>
                </a:lnTo>
              </a:path>
            </a:pathLst>
          </a:custGeom>
          <a:ln w="9525">
            <a:solidFill>
              <a:srgbClr val="E6E6E6"/>
            </a:solidFill>
          </a:ln>
        </p:spPr>
        <p:txBody>
          <a:bodyPr wrap="square" lIns="0" tIns="0" rIns="0" bIns="0" rtlCol="0"/>
          <a:lstStyle/>
          <a:p>
            <a:endParaRPr/>
          </a:p>
        </p:txBody>
      </p:sp>
      <p:sp>
        <p:nvSpPr>
          <p:cNvPr id="42" name="object 42"/>
          <p:cNvSpPr/>
          <p:nvPr/>
        </p:nvSpPr>
        <p:spPr>
          <a:xfrm>
            <a:off x="2938526" y="3776598"/>
            <a:ext cx="339725" cy="601980"/>
          </a:xfrm>
          <a:custGeom>
            <a:avLst/>
            <a:gdLst/>
            <a:ahLst/>
            <a:cxnLst/>
            <a:rect l="l" t="t" r="r" b="b"/>
            <a:pathLst>
              <a:path w="339725" h="601979">
                <a:moveTo>
                  <a:pt x="0" y="601726"/>
                </a:moveTo>
                <a:lnTo>
                  <a:pt x="339725" y="0"/>
                </a:lnTo>
              </a:path>
            </a:pathLst>
          </a:custGeom>
          <a:ln w="9525">
            <a:solidFill>
              <a:srgbClr val="E6E6E6"/>
            </a:solidFill>
          </a:ln>
        </p:spPr>
        <p:txBody>
          <a:bodyPr wrap="square" lIns="0" tIns="0" rIns="0" bIns="0" rtlCol="0"/>
          <a:lstStyle/>
          <a:p>
            <a:endParaRPr/>
          </a:p>
        </p:txBody>
      </p:sp>
      <p:sp>
        <p:nvSpPr>
          <p:cNvPr id="43" name="object 43"/>
          <p:cNvSpPr/>
          <p:nvPr/>
        </p:nvSpPr>
        <p:spPr>
          <a:xfrm>
            <a:off x="2938526" y="2773426"/>
            <a:ext cx="339725" cy="920750"/>
          </a:xfrm>
          <a:custGeom>
            <a:avLst/>
            <a:gdLst/>
            <a:ahLst/>
            <a:cxnLst/>
            <a:rect l="l" t="t" r="r" b="b"/>
            <a:pathLst>
              <a:path w="339725" h="920750">
                <a:moveTo>
                  <a:pt x="0" y="920750"/>
                </a:moveTo>
                <a:lnTo>
                  <a:pt x="339725" y="0"/>
                </a:lnTo>
              </a:path>
            </a:pathLst>
          </a:custGeom>
          <a:ln w="9525">
            <a:solidFill>
              <a:srgbClr val="E6E6E6"/>
            </a:solidFill>
          </a:ln>
        </p:spPr>
        <p:txBody>
          <a:bodyPr wrap="square" lIns="0" tIns="0" rIns="0" bIns="0" rtlCol="0"/>
          <a:lstStyle/>
          <a:p>
            <a:endParaRPr/>
          </a:p>
        </p:txBody>
      </p:sp>
      <p:sp>
        <p:nvSpPr>
          <p:cNvPr id="44" name="object 44"/>
          <p:cNvSpPr/>
          <p:nvPr/>
        </p:nvSpPr>
        <p:spPr>
          <a:xfrm>
            <a:off x="2084832" y="4514088"/>
            <a:ext cx="853440" cy="164465"/>
          </a:xfrm>
          <a:custGeom>
            <a:avLst/>
            <a:gdLst/>
            <a:ahLst/>
            <a:cxnLst/>
            <a:rect l="l" t="t" r="r" b="b"/>
            <a:pathLst>
              <a:path w="853439" h="164464">
                <a:moveTo>
                  <a:pt x="853440" y="0"/>
                </a:moveTo>
                <a:lnTo>
                  <a:pt x="0" y="0"/>
                </a:lnTo>
                <a:lnTo>
                  <a:pt x="0" y="164211"/>
                </a:lnTo>
                <a:lnTo>
                  <a:pt x="853440" y="164211"/>
                </a:lnTo>
                <a:lnTo>
                  <a:pt x="853440" y="0"/>
                </a:lnTo>
                <a:close/>
              </a:path>
            </a:pathLst>
          </a:custGeom>
          <a:solidFill>
            <a:srgbClr val="99E6FF"/>
          </a:solidFill>
        </p:spPr>
        <p:txBody>
          <a:bodyPr wrap="square" lIns="0" tIns="0" rIns="0" bIns="0" rtlCol="0"/>
          <a:lstStyle/>
          <a:p>
            <a:endParaRPr/>
          </a:p>
        </p:txBody>
      </p:sp>
      <p:sp>
        <p:nvSpPr>
          <p:cNvPr id="45" name="object 45"/>
          <p:cNvSpPr/>
          <p:nvPr/>
        </p:nvSpPr>
        <p:spPr>
          <a:xfrm>
            <a:off x="3278123" y="4422647"/>
            <a:ext cx="853440" cy="255904"/>
          </a:xfrm>
          <a:custGeom>
            <a:avLst/>
            <a:gdLst/>
            <a:ahLst/>
            <a:cxnLst/>
            <a:rect l="l" t="t" r="r" b="b"/>
            <a:pathLst>
              <a:path w="853439" h="255904">
                <a:moveTo>
                  <a:pt x="853439" y="0"/>
                </a:moveTo>
                <a:lnTo>
                  <a:pt x="0" y="0"/>
                </a:lnTo>
                <a:lnTo>
                  <a:pt x="0" y="255650"/>
                </a:lnTo>
                <a:lnTo>
                  <a:pt x="853439" y="255650"/>
                </a:lnTo>
                <a:lnTo>
                  <a:pt x="853439" y="0"/>
                </a:lnTo>
                <a:close/>
              </a:path>
            </a:pathLst>
          </a:custGeom>
          <a:solidFill>
            <a:srgbClr val="99E6FF"/>
          </a:solidFill>
        </p:spPr>
        <p:txBody>
          <a:bodyPr wrap="square" lIns="0" tIns="0" rIns="0" bIns="0" rtlCol="0"/>
          <a:lstStyle/>
          <a:p>
            <a:endParaRPr/>
          </a:p>
        </p:txBody>
      </p:sp>
      <p:sp>
        <p:nvSpPr>
          <p:cNvPr id="46" name="object 46"/>
          <p:cNvSpPr/>
          <p:nvPr/>
        </p:nvSpPr>
        <p:spPr>
          <a:xfrm>
            <a:off x="2084832" y="4514088"/>
            <a:ext cx="853440" cy="164465"/>
          </a:xfrm>
          <a:custGeom>
            <a:avLst/>
            <a:gdLst/>
            <a:ahLst/>
            <a:cxnLst/>
            <a:rect l="l" t="t" r="r" b="b"/>
            <a:pathLst>
              <a:path w="853439" h="164464">
                <a:moveTo>
                  <a:pt x="0" y="0"/>
                </a:moveTo>
                <a:lnTo>
                  <a:pt x="853440" y="0"/>
                </a:lnTo>
                <a:lnTo>
                  <a:pt x="853440" y="164211"/>
                </a:lnTo>
                <a:lnTo>
                  <a:pt x="0" y="164211"/>
                </a:lnTo>
                <a:lnTo>
                  <a:pt x="0" y="0"/>
                </a:lnTo>
                <a:close/>
              </a:path>
            </a:pathLst>
          </a:custGeom>
          <a:ln w="9525">
            <a:solidFill>
              <a:srgbClr val="FFFFFF"/>
            </a:solidFill>
          </a:ln>
        </p:spPr>
        <p:txBody>
          <a:bodyPr wrap="square" lIns="0" tIns="0" rIns="0" bIns="0" rtlCol="0"/>
          <a:lstStyle/>
          <a:p>
            <a:endParaRPr/>
          </a:p>
        </p:txBody>
      </p:sp>
      <p:sp>
        <p:nvSpPr>
          <p:cNvPr id="47" name="object 47"/>
          <p:cNvSpPr/>
          <p:nvPr/>
        </p:nvSpPr>
        <p:spPr>
          <a:xfrm>
            <a:off x="3278123" y="4422647"/>
            <a:ext cx="853440" cy="255904"/>
          </a:xfrm>
          <a:custGeom>
            <a:avLst/>
            <a:gdLst/>
            <a:ahLst/>
            <a:cxnLst/>
            <a:rect l="l" t="t" r="r" b="b"/>
            <a:pathLst>
              <a:path w="853439" h="255904">
                <a:moveTo>
                  <a:pt x="0" y="0"/>
                </a:moveTo>
                <a:lnTo>
                  <a:pt x="853439" y="0"/>
                </a:lnTo>
                <a:lnTo>
                  <a:pt x="853439" y="255650"/>
                </a:lnTo>
                <a:lnTo>
                  <a:pt x="0" y="255650"/>
                </a:lnTo>
                <a:lnTo>
                  <a:pt x="0" y="0"/>
                </a:lnTo>
                <a:close/>
              </a:path>
            </a:pathLst>
          </a:custGeom>
          <a:ln w="9525">
            <a:solidFill>
              <a:srgbClr val="FFFFFF"/>
            </a:solidFill>
          </a:ln>
        </p:spPr>
        <p:txBody>
          <a:bodyPr wrap="square" lIns="0" tIns="0" rIns="0" bIns="0" rtlCol="0"/>
          <a:lstStyle/>
          <a:p>
            <a:endParaRPr/>
          </a:p>
        </p:txBody>
      </p:sp>
      <p:sp>
        <p:nvSpPr>
          <p:cNvPr id="48" name="object 48"/>
          <p:cNvSpPr/>
          <p:nvPr/>
        </p:nvSpPr>
        <p:spPr>
          <a:xfrm>
            <a:off x="2876550" y="4376928"/>
            <a:ext cx="62230" cy="137160"/>
          </a:xfrm>
          <a:custGeom>
            <a:avLst/>
            <a:gdLst/>
            <a:ahLst/>
            <a:cxnLst/>
            <a:rect l="l" t="t" r="r" b="b"/>
            <a:pathLst>
              <a:path w="62230" h="137160">
                <a:moveTo>
                  <a:pt x="0" y="137160"/>
                </a:moveTo>
                <a:lnTo>
                  <a:pt x="61722" y="137160"/>
                </a:lnTo>
                <a:lnTo>
                  <a:pt x="61722" y="0"/>
                </a:lnTo>
                <a:lnTo>
                  <a:pt x="0" y="0"/>
                </a:lnTo>
                <a:lnTo>
                  <a:pt x="0" y="137160"/>
                </a:lnTo>
                <a:close/>
              </a:path>
            </a:pathLst>
          </a:custGeom>
          <a:solidFill>
            <a:srgbClr val="00A9F4"/>
          </a:solidFill>
        </p:spPr>
        <p:txBody>
          <a:bodyPr wrap="square" lIns="0" tIns="0" rIns="0" bIns="0" rtlCol="0"/>
          <a:lstStyle/>
          <a:p>
            <a:endParaRPr/>
          </a:p>
        </p:txBody>
      </p:sp>
      <p:sp>
        <p:nvSpPr>
          <p:cNvPr id="49" name="object 49"/>
          <p:cNvSpPr/>
          <p:nvPr/>
        </p:nvSpPr>
        <p:spPr>
          <a:xfrm>
            <a:off x="2084832" y="4376928"/>
            <a:ext cx="490220" cy="137160"/>
          </a:xfrm>
          <a:custGeom>
            <a:avLst/>
            <a:gdLst/>
            <a:ahLst/>
            <a:cxnLst/>
            <a:rect l="l" t="t" r="r" b="b"/>
            <a:pathLst>
              <a:path w="490219" h="137160">
                <a:moveTo>
                  <a:pt x="0" y="137160"/>
                </a:moveTo>
                <a:lnTo>
                  <a:pt x="490093" y="137160"/>
                </a:lnTo>
                <a:lnTo>
                  <a:pt x="490093" y="0"/>
                </a:lnTo>
                <a:lnTo>
                  <a:pt x="0" y="0"/>
                </a:lnTo>
                <a:lnTo>
                  <a:pt x="0" y="137160"/>
                </a:lnTo>
                <a:close/>
              </a:path>
            </a:pathLst>
          </a:custGeom>
          <a:solidFill>
            <a:srgbClr val="00A9F4"/>
          </a:solidFill>
        </p:spPr>
        <p:txBody>
          <a:bodyPr wrap="square" lIns="0" tIns="0" rIns="0" bIns="0" rtlCol="0"/>
          <a:lstStyle/>
          <a:p>
            <a:endParaRPr/>
          </a:p>
        </p:txBody>
      </p:sp>
      <p:sp>
        <p:nvSpPr>
          <p:cNvPr id="50" name="object 50"/>
          <p:cNvSpPr/>
          <p:nvPr/>
        </p:nvSpPr>
        <p:spPr>
          <a:xfrm>
            <a:off x="3278123" y="3776471"/>
            <a:ext cx="853440" cy="646430"/>
          </a:xfrm>
          <a:custGeom>
            <a:avLst/>
            <a:gdLst/>
            <a:ahLst/>
            <a:cxnLst/>
            <a:rect l="l" t="t" r="r" b="b"/>
            <a:pathLst>
              <a:path w="853439" h="646429">
                <a:moveTo>
                  <a:pt x="853439" y="0"/>
                </a:moveTo>
                <a:lnTo>
                  <a:pt x="0" y="0"/>
                </a:lnTo>
                <a:lnTo>
                  <a:pt x="0" y="646176"/>
                </a:lnTo>
                <a:lnTo>
                  <a:pt x="853439" y="646176"/>
                </a:lnTo>
                <a:lnTo>
                  <a:pt x="853439" y="0"/>
                </a:lnTo>
                <a:close/>
              </a:path>
            </a:pathLst>
          </a:custGeom>
          <a:solidFill>
            <a:srgbClr val="00A9F4"/>
          </a:solidFill>
        </p:spPr>
        <p:txBody>
          <a:bodyPr wrap="square" lIns="0" tIns="0" rIns="0" bIns="0" rtlCol="0"/>
          <a:lstStyle/>
          <a:p>
            <a:endParaRPr/>
          </a:p>
        </p:txBody>
      </p:sp>
      <p:sp>
        <p:nvSpPr>
          <p:cNvPr id="51" name="object 51"/>
          <p:cNvSpPr/>
          <p:nvPr/>
        </p:nvSpPr>
        <p:spPr>
          <a:xfrm>
            <a:off x="2084832" y="4376928"/>
            <a:ext cx="853440" cy="137160"/>
          </a:xfrm>
          <a:custGeom>
            <a:avLst/>
            <a:gdLst/>
            <a:ahLst/>
            <a:cxnLst/>
            <a:rect l="l" t="t" r="r" b="b"/>
            <a:pathLst>
              <a:path w="853439" h="137160">
                <a:moveTo>
                  <a:pt x="0" y="0"/>
                </a:moveTo>
                <a:lnTo>
                  <a:pt x="853440" y="0"/>
                </a:lnTo>
                <a:lnTo>
                  <a:pt x="853440" y="137160"/>
                </a:lnTo>
                <a:lnTo>
                  <a:pt x="0" y="137160"/>
                </a:lnTo>
                <a:lnTo>
                  <a:pt x="0" y="0"/>
                </a:lnTo>
                <a:close/>
              </a:path>
            </a:pathLst>
          </a:custGeom>
          <a:ln w="9525">
            <a:solidFill>
              <a:srgbClr val="FFFFFF"/>
            </a:solidFill>
          </a:ln>
        </p:spPr>
        <p:txBody>
          <a:bodyPr wrap="square" lIns="0" tIns="0" rIns="0" bIns="0" rtlCol="0"/>
          <a:lstStyle/>
          <a:p>
            <a:endParaRPr/>
          </a:p>
        </p:txBody>
      </p:sp>
      <p:sp>
        <p:nvSpPr>
          <p:cNvPr id="52" name="object 52"/>
          <p:cNvSpPr/>
          <p:nvPr/>
        </p:nvSpPr>
        <p:spPr>
          <a:xfrm>
            <a:off x="3278123" y="3776471"/>
            <a:ext cx="853440" cy="646430"/>
          </a:xfrm>
          <a:custGeom>
            <a:avLst/>
            <a:gdLst/>
            <a:ahLst/>
            <a:cxnLst/>
            <a:rect l="l" t="t" r="r" b="b"/>
            <a:pathLst>
              <a:path w="853439" h="646429">
                <a:moveTo>
                  <a:pt x="0" y="0"/>
                </a:moveTo>
                <a:lnTo>
                  <a:pt x="853439" y="0"/>
                </a:lnTo>
                <a:lnTo>
                  <a:pt x="853439" y="646176"/>
                </a:lnTo>
                <a:lnTo>
                  <a:pt x="0" y="646176"/>
                </a:lnTo>
                <a:lnTo>
                  <a:pt x="0" y="0"/>
                </a:lnTo>
                <a:close/>
              </a:path>
            </a:pathLst>
          </a:custGeom>
          <a:ln w="9525">
            <a:solidFill>
              <a:srgbClr val="FFFFFF"/>
            </a:solidFill>
          </a:ln>
        </p:spPr>
        <p:txBody>
          <a:bodyPr wrap="square" lIns="0" tIns="0" rIns="0" bIns="0" rtlCol="0"/>
          <a:lstStyle/>
          <a:p>
            <a:endParaRPr/>
          </a:p>
        </p:txBody>
      </p:sp>
      <p:sp>
        <p:nvSpPr>
          <p:cNvPr id="53" name="object 53"/>
          <p:cNvSpPr/>
          <p:nvPr/>
        </p:nvSpPr>
        <p:spPr>
          <a:xfrm>
            <a:off x="2084832" y="3694176"/>
            <a:ext cx="853440" cy="683260"/>
          </a:xfrm>
          <a:custGeom>
            <a:avLst/>
            <a:gdLst/>
            <a:ahLst/>
            <a:cxnLst/>
            <a:rect l="l" t="t" r="r" b="b"/>
            <a:pathLst>
              <a:path w="853439" h="683260">
                <a:moveTo>
                  <a:pt x="853440" y="0"/>
                </a:moveTo>
                <a:lnTo>
                  <a:pt x="0" y="0"/>
                </a:lnTo>
                <a:lnTo>
                  <a:pt x="0" y="682751"/>
                </a:lnTo>
                <a:lnTo>
                  <a:pt x="853440" y="682751"/>
                </a:lnTo>
                <a:lnTo>
                  <a:pt x="853440" y="0"/>
                </a:lnTo>
                <a:close/>
              </a:path>
            </a:pathLst>
          </a:custGeom>
          <a:solidFill>
            <a:srgbClr val="2151FF"/>
          </a:solidFill>
        </p:spPr>
        <p:txBody>
          <a:bodyPr wrap="square" lIns="0" tIns="0" rIns="0" bIns="0" rtlCol="0"/>
          <a:lstStyle/>
          <a:p>
            <a:endParaRPr/>
          </a:p>
        </p:txBody>
      </p:sp>
      <p:sp>
        <p:nvSpPr>
          <p:cNvPr id="54" name="object 54"/>
          <p:cNvSpPr/>
          <p:nvPr/>
        </p:nvSpPr>
        <p:spPr>
          <a:xfrm>
            <a:off x="3278123" y="2773426"/>
            <a:ext cx="853440" cy="1003300"/>
          </a:xfrm>
          <a:custGeom>
            <a:avLst/>
            <a:gdLst/>
            <a:ahLst/>
            <a:cxnLst/>
            <a:rect l="l" t="t" r="r" b="b"/>
            <a:pathLst>
              <a:path w="853439" h="1003300">
                <a:moveTo>
                  <a:pt x="853439" y="0"/>
                </a:moveTo>
                <a:lnTo>
                  <a:pt x="0" y="0"/>
                </a:lnTo>
                <a:lnTo>
                  <a:pt x="0" y="1003046"/>
                </a:lnTo>
                <a:lnTo>
                  <a:pt x="853439" y="1003046"/>
                </a:lnTo>
                <a:lnTo>
                  <a:pt x="853439" y="0"/>
                </a:lnTo>
                <a:close/>
              </a:path>
            </a:pathLst>
          </a:custGeom>
          <a:solidFill>
            <a:srgbClr val="2151FF"/>
          </a:solidFill>
        </p:spPr>
        <p:txBody>
          <a:bodyPr wrap="square" lIns="0" tIns="0" rIns="0" bIns="0" rtlCol="0"/>
          <a:lstStyle/>
          <a:p>
            <a:endParaRPr/>
          </a:p>
        </p:txBody>
      </p:sp>
      <p:sp>
        <p:nvSpPr>
          <p:cNvPr id="55" name="object 55"/>
          <p:cNvSpPr/>
          <p:nvPr/>
        </p:nvSpPr>
        <p:spPr>
          <a:xfrm>
            <a:off x="2084832" y="3694176"/>
            <a:ext cx="853440" cy="683260"/>
          </a:xfrm>
          <a:custGeom>
            <a:avLst/>
            <a:gdLst/>
            <a:ahLst/>
            <a:cxnLst/>
            <a:rect l="l" t="t" r="r" b="b"/>
            <a:pathLst>
              <a:path w="853439" h="683260">
                <a:moveTo>
                  <a:pt x="0" y="0"/>
                </a:moveTo>
                <a:lnTo>
                  <a:pt x="853440" y="0"/>
                </a:lnTo>
                <a:lnTo>
                  <a:pt x="853440" y="682751"/>
                </a:lnTo>
                <a:lnTo>
                  <a:pt x="0" y="682751"/>
                </a:lnTo>
                <a:lnTo>
                  <a:pt x="0" y="0"/>
                </a:lnTo>
                <a:close/>
              </a:path>
            </a:pathLst>
          </a:custGeom>
          <a:ln w="9525">
            <a:solidFill>
              <a:srgbClr val="FFFFFF"/>
            </a:solidFill>
          </a:ln>
        </p:spPr>
        <p:txBody>
          <a:bodyPr wrap="square" lIns="0" tIns="0" rIns="0" bIns="0" rtlCol="0"/>
          <a:lstStyle/>
          <a:p>
            <a:endParaRPr/>
          </a:p>
        </p:txBody>
      </p:sp>
      <p:sp>
        <p:nvSpPr>
          <p:cNvPr id="56" name="object 56"/>
          <p:cNvSpPr/>
          <p:nvPr/>
        </p:nvSpPr>
        <p:spPr>
          <a:xfrm>
            <a:off x="3278123" y="2773426"/>
            <a:ext cx="853440" cy="1003300"/>
          </a:xfrm>
          <a:custGeom>
            <a:avLst/>
            <a:gdLst/>
            <a:ahLst/>
            <a:cxnLst/>
            <a:rect l="l" t="t" r="r" b="b"/>
            <a:pathLst>
              <a:path w="853439" h="1003300">
                <a:moveTo>
                  <a:pt x="0" y="0"/>
                </a:moveTo>
                <a:lnTo>
                  <a:pt x="853439" y="0"/>
                </a:lnTo>
                <a:lnTo>
                  <a:pt x="853439" y="1003046"/>
                </a:lnTo>
                <a:lnTo>
                  <a:pt x="0" y="1003046"/>
                </a:lnTo>
                <a:lnTo>
                  <a:pt x="0" y="0"/>
                </a:lnTo>
                <a:close/>
              </a:path>
            </a:pathLst>
          </a:custGeom>
          <a:ln w="9525">
            <a:solidFill>
              <a:srgbClr val="FFFFFF"/>
            </a:solidFill>
          </a:ln>
        </p:spPr>
        <p:txBody>
          <a:bodyPr wrap="square" lIns="0" tIns="0" rIns="0" bIns="0" rtlCol="0"/>
          <a:lstStyle/>
          <a:p>
            <a:endParaRPr/>
          </a:p>
        </p:txBody>
      </p:sp>
      <p:sp>
        <p:nvSpPr>
          <p:cNvPr id="57" name="object 57"/>
          <p:cNvSpPr/>
          <p:nvPr/>
        </p:nvSpPr>
        <p:spPr>
          <a:xfrm>
            <a:off x="1914525" y="4678426"/>
            <a:ext cx="2387600" cy="0"/>
          </a:xfrm>
          <a:custGeom>
            <a:avLst/>
            <a:gdLst/>
            <a:ahLst/>
            <a:cxnLst/>
            <a:rect l="l" t="t" r="r" b="b"/>
            <a:pathLst>
              <a:path w="2387600">
                <a:moveTo>
                  <a:pt x="0" y="0"/>
                </a:moveTo>
                <a:lnTo>
                  <a:pt x="2387600" y="0"/>
                </a:lnTo>
              </a:path>
            </a:pathLst>
          </a:custGeom>
          <a:ln w="9525">
            <a:solidFill>
              <a:srgbClr val="000000"/>
            </a:solidFill>
          </a:ln>
        </p:spPr>
        <p:txBody>
          <a:bodyPr wrap="square" lIns="0" tIns="0" rIns="0" bIns="0" rtlCol="0"/>
          <a:lstStyle/>
          <a:p>
            <a:endParaRPr/>
          </a:p>
        </p:txBody>
      </p:sp>
      <p:sp>
        <p:nvSpPr>
          <p:cNvPr id="58" name="object 58"/>
          <p:cNvSpPr/>
          <p:nvPr/>
        </p:nvSpPr>
        <p:spPr>
          <a:xfrm>
            <a:off x="2511425" y="2374900"/>
            <a:ext cx="0" cy="1073150"/>
          </a:xfrm>
          <a:custGeom>
            <a:avLst/>
            <a:gdLst/>
            <a:ahLst/>
            <a:cxnLst/>
            <a:rect l="l" t="t" r="r" b="b"/>
            <a:pathLst>
              <a:path h="1073150">
                <a:moveTo>
                  <a:pt x="0" y="1073150"/>
                </a:moveTo>
                <a:lnTo>
                  <a:pt x="0" y="0"/>
                </a:lnTo>
              </a:path>
            </a:pathLst>
          </a:custGeom>
          <a:ln w="19050">
            <a:solidFill>
              <a:srgbClr val="000000"/>
            </a:solidFill>
          </a:ln>
        </p:spPr>
        <p:txBody>
          <a:bodyPr wrap="square" lIns="0" tIns="0" rIns="0" bIns="0" rtlCol="0"/>
          <a:lstStyle/>
          <a:p>
            <a:endParaRPr/>
          </a:p>
        </p:txBody>
      </p:sp>
      <p:sp>
        <p:nvSpPr>
          <p:cNvPr id="59" name="object 59"/>
          <p:cNvSpPr/>
          <p:nvPr/>
        </p:nvSpPr>
        <p:spPr>
          <a:xfrm>
            <a:off x="3667125" y="2374900"/>
            <a:ext cx="76200" cy="152400"/>
          </a:xfrm>
          <a:prstGeom prst="rect">
            <a:avLst/>
          </a:prstGeom>
          <a:blipFill>
            <a:blip r:embed="rId4" cstate="print"/>
            <a:stretch>
              <a:fillRect/>
            </a:stretch>
          </a:blipFill>
        </p:spPr>
        <p:txBody>
          <a:bodyPr wrap="square" lIns="0" tIns="0" rIns="0" bIns="0" rtlCol="0"/>
          <a:lstStyle/>
          <a:p>
            <a:endParaRPr/>
          </a:p>
        </p:txBody>
      </p:sp>
      <p:sp>
        <p:nvSpPr>
          <p:cNvPr id="60" name="object 60"/>
          <p:cNvSpPr/>
          <p:nvPr/>
        </p:nvSpPr>
        <p:spPr>
          <a:xfrm>
            <a:off x="2511425" y="2374900"/>
            <a:ext cx="1193800" cy="0"/>
          </a:xfrm>
          <a:custGeom>
            <a:avLst/>
            <a:gdLst/>
            <a:ahLst/>
            <a:cxnLst/>
            <a:rect l="l" t="t" r="r" b="b"/>
            <a:pathLst>
              <a:path w="1193800">
                <a:moveTo>
                  <a:pt x="0" y="0"/>
                </a:moveTo>
                <a:lnTo>
                  <a:pt x="1193800" y="0"/>
                </a:lnTo>
              </a:path>
            </a:pathLst>
          </a:custGeom>
          <a:ln w="19050">
            <a:solidFill>
              <a:srgbClr val="000000"/>
            </a:solidFill>
          </a:ln>
        </p:spPr>
        <p:txBody>
          <a:bodyPr wrap="square" lIns="0" tIns="0" rIns="0" bIns="0" rtlCol="0"/>
          <a:lstStyle/>
          <a:p>
            <a:endParaRPr/>
          </a:p>
        </p:txBody>
      </p:sp>
      <p:sp>
        <p:nvSpPr>
          <p:cNvPr id="61" name="object 61"/>
          <p:cNvSpPr txBox="1"/>
          <p:nvPr/>
        </p:nvSpPr>
        <p:spPr>
          <a:xfrm>
            <a:off x="3521455" y="4712970"/>
            <a:ext cx="36703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2030</a:t>
            </a:r>
            <a:endParaRPr sz="1200">
              <a:latin typeface="Arial"/>
              <a:cs typeface="Arial"/>
            </a:endParaRPr>
          </a:p>
        </p:txBody>
      </p:sp>
      <p:sp>
        <p:nvSpPr>
          <p:cNvPr id="62" name="object 62"/>
          <p:cNvSpPr txBox="1"/>
          <p:nvPr/>
        </p:nvSpPr>
        <p:spPr>
          <a:xfrm>
            <a:off x="2157729" y="4488942"/>
            <a:ext cx="28384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a:t>
            </a:r>
            <a:r>
              <a:rPr sz="1200" dirty="0">
                <a:latin typeface="Arial"/>
                <a:cs typeface="Arial"/>
              </a:rPr>
              <a:t>35</a:t>
            </a:r>
            <a:endParaRPr sz="1200">
              <a:latin typeface="Arial"/>
              <a:cs typeface="Arial"/>
            </a:endParaRPr>
          </a:p>
        </p:txBody>
      </p:sp>
      <p:sp>
        <p:nvSpPr>
          <p:cNvPr id="63" name="object 63"/>
          <p:cNvSpPr txBox="1"/>
          <p:nvPr/>
        </p:nvSpPr>
        <p:spPr>
          <a:xfrm>
            <a:off x="3413505" y="3167888"/>
            <a:ext cx="58610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Arial"/>
                <a:cs typeface="Arial"/>
              </a:rPr>
              <a:t>220-230</a:t>
            </a:r>
            <a:endParaRPr sz="1200">
              <a:latin typeface="Arial"/>
              <a:cs typeface="Arial"/>
            </a:endParaRPr>
          </a:p>
        </p:txBody>
      </p:sp>
      <p:sp>
        <p:nvSpPr>
          <p:cNvPr id="64" name="object 64"/>
          <p:cNvSpPr txBox="1"/>
          <p:nvPr/>
        </p:nvSpPr>
        <p:spPr>
          <a:xfrm>
            <a:off x="3497707" y="4442841"/>
            <a:ext cx="41719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50-60</a:t>
            </a:r>
            <a:endParaRPr sz="1200">
              <a:latin typeface="Arial"/>
              <a:cs typeface="Arial"/>
            </a:endParaRPr>
          </a:p>
        </p:txBody>
      </p:sp>
      <p:sp>
        <p:nvSpPr>
          <p:cNvPr id="65" name="object 65"/>
          <p:cNvSpPr txBox="1"/>
          <p:nvPr/>
        </p:nvSpPr>
        <p:spPr>
          <a:xfrm>
            <a:off x="3419983" y="3991736"/>
            <a:ext cx="575310" cy="208279"/>
          </a:xfrm>
          <a:prstGeom prst="rect">
            <a:avLst/>
          </a:prstGeom>
        </p:spPr>
        <p:txBody>
          <a:bodyPr vert="horz" wrap="square" lIns="0" tIns="12700" rIns="0" bIns="0" rtlCol="0">
            <a:spAutoFit/>
          </a:bodyPr>
          <a:lstStyle/>
          <a:p>
            <a:pPr marL="12700">
              <a:lnSpc>
                <a:spcPct val="100000"/>
              </a:lnSpc>
              <a:spcBef>
                <a:spcPts val="100"/>
              </a:spcBef>
            </a:pPr>
            <a:r>
              <a:rPr sz="1200" spc="-80" dirty="0">
                <a:latin typeface="Arial"/>
                <a:cs typeface="Arial"/>
              </a:rPr>
              <a:t>1</a:t>
            </a:r>
            <a:r>
              <a:rPr sz="1200" dirty="0">
                <a:latin typeface="Arial"/>
                <a:cs typeface="Arial"/>
              </a:rPr>
              <a:t>1</a:t>
            </a:r>
            <a:r>
              <a:rPr sz="1200" spc="5" dirty="0">
                <a:latin typeface="Arial"/>
                <a:cs typeface="Arial"/>
              </a:rPr>
              <a:t>5</a:t>
            </a:r>
            <a:r>
              <a:rPr sz="1200" spc="-5" dirty="0">
                <a:latin typeface="Arial"/>
                <a:cs typeface="Arial"/>
              </a:rPr>
              <a:t>-</a:t>
            </a:r>
            <a:r>
              <a:rPr sz="1200" dirty="0">
                <a:latin typeface="Arial"/>
                <a:cs typeface="Arial"/>
              </a:rPr>
              <a:t>1</a:t>
            </a:r>
            <a:r>
              <a:rPr sz="1200" spc="-10" dirty="0">
                <a:latin typeface="Arial"/>
                <a:cs typeface="Arial"/>
              </a:rPr>
              <a:t>2</a:t>
            </a:r>
            <a:r>
              <a:rPr sz="1200" dirty="0">
                <a:latin typeface="Arial"/>
                <a:cs typeface="Arial"/>
              </a:rPr>
              <a:t>5</a:t>
            </a:r>
            <a:endParaRPr sz="1200">
              <a:latin typeface="Arial"/>
              <a:cs typeface="Arial"/>
            </a:endParaRPr>
          </a:p>
        </p:txBody>
      </p:sp>
      <p:sp>
        <p:nvSpPr>
          <p:cNvPr id="66" name="object 66"/>
          <p:cNvSpPr txBox="1"/>
          <p:nvPr/>
        </p:nvSpPr>
        <p:spPr>
          <a:xfrm>
            <a:off x="2327529" y="4712970"/>
            <a:ext cx="36703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2024</a:t>
            </a:r>
            <a:endParaRPr sz="1200">
              <a:latin typeface="Arial"/>
              <a:cs typeface="Arial"/>
            </a:endParaRPr>
          </a:p>
        </p:txBody>
      </p:sp>
      <p:sp>
        <p:nvSpPr>
          <p:cNvPr id="67" name="object 67"/>
          <p:cNvSpPr txBox="1"/>
          <p:nvPr/>
        </p:nvSpPr>
        <p:spPr>
          <a:xfrm>
            <a:off x="2327529" y="3928364"/>
            <a:ext cx="370205" cy="208279"/>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Arial"/>
                <a:cs typeface="Arial"/>
              </a:rPr>
              <a:t>~</a:t>
            </a:r>
            <a:r>
              <a:rPr sz="1200" dirty="0">
                <a:solidFill>
                  <a:srgbClr val="FFFFFF"/>
                </a:solidFill>
                <a:latin typeface="Arial"/>
                <a:cs typeface="Arial"/>
              </a:rPr>
              <a:t>150</a:t>
            </a:r>
            <a:endParaRPr sz="1200">
              <a:latin typeface="Arial"/>
              <a:cs typeface="Arial"/>
            </a:endParaRPr>
          </a:p>
        </p:txBody>
      </p:sp>
      <p:sp>
        <p:nvSpPr>
          <p:cNvPr id="68" name="object 68"/>
          <p:cNvSpPr/>
          <p:nvPr/>
        </p:nvSpPr>
        <p:spPr>
          <a:xfrm>
            <a:off x="2574925" y="4356036"/>
            <a:ext cx="301625" cy="182880"/>
          </a:xfrm>
          <a:custGeom>
            <a:avLst/>
            <a:gdLst/>
            <a:ahLst/>
            <a:cxnLst/>
            <a:rect l="l" t="t" r="r" b="b"/>
            <a:pathLst>
              <a:path w="301625" h="182879">
                <a:moveTo>
                  <a:pt x="0" y="182562"/>
                </a:moveTo>
                <a:lnTo>
                  <a:pt x="301625" y="182562"/>
                </a:lnTo>
                <a:lnTo>
                  <a:pt x="301625" y="0"/>
                </a:lnTo>
                <a:lnTo>
                  <a:pt x="0" y="0"/>
                </a:lnTo>
                <a:lnTo>
                  <a:pt x="0" y="182562"/>
                </a:lnTo>
                <a:close/>
              </a:path>
            </a:pathLst>
          </a:custGeom>
          <a:solidFill>
            <a:srgbClr val="00A9F4"/>
          </a:solidFill>
        </p:spPr>
        <p:txBody>
          <a:bodyPr wrap="square" lIns="0" tIns="0" rIns="0" bIns="0" rtlCol="0"/>
          <a:lstStyle/>
          <a:p>
            <a:endParaRPr/>
          </a:p>
        </p:txBody>
      </p:sp>
      <p:sp>
        <p:nvSpPr>
          <p:cNvPr id="69" name="object 69"/>
          <p:cNvSpPr txBox="1"/>
          <p:nvPr/>
        </p:nvSpPr>
        <p:spPr>
          <a:xfrm>
            <a:off x="2584830" y="4339590"/>
            <a:ext cx="28448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a:t>
            </a:r>
            <a:r>
              <a:rPr sz="1200" dirty="0">
                <a:latin typeface="Arial"/>
                <a:cs typeface="Arial"/>
              </a:rPr>
              <a:t>30</a:t>
            </a:r>
            <a:endParaRPr sz="1200">
              <a:latin typeface="Arial"/>
              <a:cs typeface="Arial"/>
            </a:endParaRPr>
          </a:p>
        </p:txBody>
      </p:sp>
      <p:sp>
        <p:nvSpPr>
          <p:cNvPr id="70" name="object 70"/>
          <p:cNvSpPr txBox="1"/>
          <p:nvPr/>
        </p:nvSpPr>
        <p:spPr>
          <a:xfrm>
            <a:off x="2327529" y="3469385"/>
            <a:ext cx="36893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a:cs typeface="Arial"/>
              </a:rPr>
              <a:t>~</a:t>
            </a:r>
            <a:r>
              <a:rPr sz="1200" b="1" dirty="0">
                <a:latin typeface="Arial"/>
                <a:cs typeface="Arial"/>
              </a:rPr>
              <a:t>215</a:t>
            </a:r>
            <a:endParaRPr sz="1200">
              <a:latin typeface="Arial"/>
              <a:cs typeface="Arial"/>
            </a:endParaRPr>
          </a:p>
        </p:txBody>
      </p:sp>
      <p:sp>
        <p:nvSpPr>
          <p:cNvPr id="71" name="object 71"/>
          <p:cNvSpPr txBox="1"/>
          <p:nvPr/>
        </p:nvSpPr>
        <p:spPr>
          <a:xfrm>
            <a:off x="3413505" y="2547950"/>
            <a:ext cx="586105" cy="208915"/>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a:cs typeface="Arial"/>
              </a:rPr>
              <a:t>385-415</a:t>
            </a:r>
            <a:endParaRPr sz="1200">
              <a:latin typeface="Arial"/>
              <a:cs typeface="Arial"/>
            </a:endParaRPr>
          </a:p>
        </p:txBody>
      </p:sp>
      <p:sp>
        <p:nvSpPr>
          <p:cNvPr id="72" name="object 72"/>
          <p:cNvSpPr/>
          <p:nvPr/>
        </p:nvSpPr>
        <p:spPr>
          <a:xfrm>
            <a:off x="2984500" y="2251075"/>
            <a:ext cx="249300" cy="249300"/>
          </a:xfrm>
          <a:prstGeom prst="rect">
            <a:avLst/>
          </a:prstGeom>
          <a:blipFill>
            <a:blip r:embed="rId5" cstate="print"/>
            <a:stretch>
              <a:fillRect/>
            </a:stretch>
          </a:blipFill>
        </p:spPr>
        <p:txBody>
          <a:bodyPr wrap="square" lIns="0" tIns="0" rIns="0" bIns="0" rtlCol="0"/>
          <a:lstStyle/>
          <a:p>
            <a:endParaRPr/>
          </a:p>
        </p:txBody>
      </p:sp>
      <p:sp>
        <p:nvSpPr>
          <p:cNvPr id="73" name="object 73"/>
          <p:cNvSpPr txBox="1"/>
          <p:nvPr/>
        </p:nvSpPr>
        <p:spPr>
          <a:xfrm>
            <a:off x="3011804" y="2267458"/>
            <a:ext cx="19621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Arial"/>
                <a:cs typeface="Arial"/>
              </a:rPr>
              <a:t>x2</a:t>
            </a:r>
            <a:endParaRPr sz="1200">
              <a:latin typeface="Arial"/>
              <a:cs typeface="Arial"/>
            </a:endParaRPr>
          </a:p>
        </p:txBody>
      </p:sp>
      <p:sp>
        <p:nvSpPr>
          <p:cNvPr id="74" name="object 74"/>
          <p:cNvSpPr txBox="1"/>
          <p:nvPr/>
        </p:nvSpPr>
        <p:spPr>
          <a:xfrm>
            <a:off x="542036" y="5050612"/>
            <a:ext cx="1089025" cy="392430"/>
          </a:xfrm>
          <a:prstGeom prst="rect">
            <a:avLst/>
          </a:prstGeom>
        </p:spPr>
        <p:txBody>
          <a:bodyPr vert="horz" wrap="square" lIns="0" tIns="12700" rIns="0" bIns="0" rtlCol="0">
            <a:spAutoFit/>
          </a:bodyPr>
          <a:lstStyle/>
          <a:p>
            <a:pPr marL="12700">
              <a:lnSpc>
                <a:spcPct val="100000"/>
              </a:lnSpc>
              <a:spcBef>
                <a:spcPts val="100"/>
              </a:spcBef>
            </a:pPr>
            <a:r>
              <a:rPr sz="1200" b="1" spc="-15" dirty="0">
                <a:latin typeface="Arial"/>
                <a:cs typeface="Arial"/>
              </a:rPr>
              <a:t>Auto </a:t>
            </a:r>
            <a:r>
              <a:rPr sz="1200" b="1" dirty="0">
                <a:latin typeface="Arial"/>
                <a:cs typeface="Arial"/>
              </a:rPr>
              <a:t>loan</a:t>
            </a:r>
            <a:r>
              <a:rPr sz="1200" b="1" spc="15" dirty="0">
                <a:latin typeface="Arial"/>
                <a:cs typeface="Arial"/>
              </a:rPr>
              <a:t> </a:t>
            </a:r>
            <a:r>
              <a:rPr sz="1200" b="1" spc="-5" dirty="0">
                <a:latin typeface="Arial"/>
                <a:cs typeface="Arial"/>
              </a:rPr>
              <a:t>cars</a:t>
            </a:r>
            <a:endParaRPr sz="1200">
              <a:latin typeface="Arial"/>
              <a:cs typeface="Arial"/>
            </a:endParaRPr>
          </a:p>
          <a:p>
            <a:pPr marL="12700">
              <a:lnSpc>
                <a:spcPct val="100000"/>
              </a:lnSpc>
              <a:spcBef>
                <a:spcPts val="5"/>
              </a:spcBef>
            </a:pPr>
            <a:r>
              <a:rPr sz="1200" b="1" dirty="0">
                <a:latin typeface="Arial"/>
                <a:cs typeface="Arial"/>
              </a:rPr>
              <a:t>financed</a:t>
            </a:r>
            <a:r>
              <a:rPr sz="1200" b="1" spc="-20" dirty="0">
                <a:latin typeface="Arial"/>
                <a:cs typeface="Arial"/>
              </a:rPr>
              <a:t> </a:t>
            </a:r>
            <a:r>
              <a:rPr sz="1200" dirty="0">
                <a:latin typeface="Arial"/>
                <a:cs typeface="Arial"/>
              </a:rPr>
              <a:t>(k#)</a:t>
            </a:r>
            <a:endParaRPr sz="1200">
              <a:latin typeface="Arial"/>
              <a:cs typeface="Arial"/>
            </a:endParaRPr>
          </a:p>
        </p:txBody>
      </p:sp>
      <p:sp>
        <p:nvSpPr>
          <p:cNvPr id="75" name="object 75"/>
          <p:cNvSpPr/>
          <p:nvPr/>
        </p:nvSpPr>
        <p:spPr>
          <a:xfrm>
            <a:off x="4940300" y="1886013"/>
            <a:ext cx="138430" cy="138430"/>
          </a:xfrm>
          <a:custGeom>
            <a:avLst/>
            <a:gdLst/>
            <a:ahLst/>
            <a:cxnLst/>
            <a:rect l="l" t="t" r="r" b="b"/>
            <a:pathLst>
              <a:path w="138429" h="138430">
                <a:moveTo>
                  <a:pt x="0" y="138112"/>
                </a:moveTo>
                <a:lnTo>
                  <a:pt x="138112" y="138112"/>
                </a:lnTo>
                <a:lnTo>
                  <a:pt x="138112" y="0"/>
                </a:lnTo>
                <a:lnTo>
                  <a:pt x="0" y="0"/>
                </a:lnTo>
                <a:lnTo>
                  <a:pt x="0" y="138112"/>
                </a:lnTo>
                <a:close/>
              </a:path>
            </a:pathLst>
          </a:custGeom>
          <a:solidFill>
            <a:srgbClr val="2151FF"/>
          </a:solidFill>
        </p:spPr>
        <p:txBody>
          <a:bodyPr wrap="square" lIns="0" tIns="0" rIns="0" bIns="0" rtlCol="0"/>
          <a:lstStyle/>
          <a:p>
            <a:endParaRPr/>
          </a:p>
        </p:txBody>
      </p:sp>
      <p:sp>
        <p:nvSpPr>
          <p:cNvPr id="76" name="object 76"/>
          <p:cNvSpPr/>
          <p:nvPr/>
        </p:nvSpPr>
        <p:spPr>
          <a:xfrm>
            <a:off x="5672201" y="1886013"/>
            <a:ext cx="138430" cy="138430"/>
          </a:xfrm>
          <a:custGeom>
            <a:avLst/>
            <a:gdLst/>
            <a:ahLst/>
            <a:cxnLst/>
            <a:rect l="l" t="t" r="r" b="b"/>
            <a:pathLst>
              <a:path w="138429" h="138430">
                <a:moveTo>
                  <a:pt x="0" y="138112"/>
                </a:moveTo>
                <a:lnTo>
                  <a:pt x="138112" y="138112"/>
                </a:lnTo>
                <a:lnTo>
                  <a:pt x="138112" y="0"/>
                </a:lnTo>
                <a:lnTo>
                  <a:pt x="0" y="0"/>
                </a:lnTo>
                <a:lnTo>
                  <a:pt x="0" y="138112"/>
                </a:lnTo>
                <a:close/>
              </a:path>
            </a:pathLst>
          </a:custGeom>
          <a:solidFill>
            <a:srgbClr val="051F79"/>
          </a:solidFill>
        </p:spPr>
        <p:txBody>
          <a:bodyPr wrap="square" lIns="0" tIns="0" rIns="0" bIns="0" rtlCol="0"/>
          <a:lstStyle/>
          <a:p>
            <a:endParaRPr/>
          </a:p>
        </p:txBody>
      </p:sp>
      <p:sp>
        <p:nvSpPr>
          <p:cNvPr id="77" name="object 77"/>
          <p:cNvSpPr/>
          <p:nvPr/>
        </p:nvSpPr>
        <p:spPr>
          <a:xfrm>
            <a:off x="8277225" y="1886013"/>
            <a:ext cx="138430" cy="138430"/>
          </a:xfrm>
          <a:custGeom>
            <a:avLst/>
            <a:gdLst/>
            <a:ahLst/>
            <a:cxnLst/>
            <a:rect l="l" t="t" r="r" b="b"/>
            <a:pathLst>
              <a:path w="138429" h="138430">
                <a:moveTo>
                  <a:pt x="0" y="138112"/>
                </a:moveTo>
                <a:lnTo>
                  <a:pt x="138112" y="138112"/>
                </a:lnTo>
                <a:lnTo>
                  <a:pt x="138112" y="0"/>
                </a:lnTo>
                <a:lnTo>
                  <a:pt x="0" y="0"/>
                </a:lnTo>
                <a:lnTo>
                  <a:pt x="0" y="138112"/>
                </a:lnTo>
                <a:close/>
              </a:path>
            </a:pathLst>
          </a:custGeom>
          <a:solidFill>
            <a:srgbClr val="2151FF"/>
          </a:solidFill>
        </p:spPr>
        <p:txBody>
          <a:bodyPr wrap="square" lIns="0" tIns="0" rIns="0" bIns="0" rtlCol="0"/>
          <a:lstStyle/>
          <a:p>
            <a:endParaRPr/>
          </a:p>
        </p:txBody>
      </p:sp>
      <p:sp>
        <p:nvSpPr>
          <p:cNvPr id="78" name="object 78"/>
          <p:cNvSpPr/>
          <p:nvPr/>
        </p:nvSpPr>
        <p:spPr>
          <a:xfrm>
            <a:off x="9009126" y="1886013"/>
            <a:ext cx="138430" cy="138430"/>
          </a:xfrm>
          <a:custGeom>
            <a:avLst/>
            <a:gdLst/>
            <a:ahLst/>
            <a:cxnLst/>
            <a:rect l="l" t="t" r="r" b="b"/>
            <a:pathLst>
              <a:path w="138429" h="138430">
                <a:moveTo>
                  <a:pt x="0" y="138112"/>
                </a:moveTo>
                <a:lnTo>
                  <a:pt x="138112" y="138112"/>
                </a:lnTo>
                <a:lnTo>
                  <a:pt x="138112" y="0"/>
                </a:lnTo>
                <a:lnTo>
                  <a:pt x="0" y="0"/>
                </a:lnTo>
                <a:lnTo>
                  <a:pt x="0" y="138112"/>
                </a:lnTo>
                <a:close/>
              </a:path>
            </a:pathLst>
          </a:custGeom>
          <a:solidFill>
            <a:srgbClr val="051F79"/>
          </a:solidFill>
        </p:spPr>
        <p:txBody>
          <a:bodyPr wrap="square" lIns="0" tIns="0" rIns="0" bIns="0" rtlCol="0"/>
          <a:lstStyle/>
          <a:p>
            <a:endParaRPr/>
          </a:p>
        </p:txBody>
      </p:sp>
      <p:sp>
        <p:nvSpPr>
          <p:cNvPr id="79" name="object 79"/>
          <p:cNvSpPr txBox="1">
            <a:spLocks noGrp="1"/>
          </p:cNvSpPr>
          <p:nvPr>
            <p:ph type="body" idx="1"/>
          </p:nvPr>
        </p:nvSpPr>
        <p:spPr>
          <a:prstGeom prst="rect">
            <a:avLst/>
          </a:prstGeom>
        </p:spPr>
        <p:txBody>
          <a:bodyPr vert="horz" wrap="square" lIns="0" tIns="12065" rIns="0" bIns="0" rtlCol="0">
            <a:spAutoFit/>
          </a:bodyPr>
          <a:lstStyle/>
          <a:p>
            <a:pPr marL="3715385">
              <a:lnSpc>
                <a:spcPct val="100000"/>
              </a:lnSpc>
              <a:spcBef>
                <a:spcPts val="95"/>
              </a:spcBef>
              <a:tabLst>
                <a:tab pos="7015480" algn="l"/>
              </a:tabLst>
            </a:pPr>
            <a:r>
              <a:rPr spc="-25" dirty="0"/>
              <a:t>RAR</a:t>
            </a:r>
            <a:r>
              <a:rPr spc="50" dirty="0"/>
              <a:t> </a:t>
            </a:r>
            <a:r>
              <a:rPr spc="-5" dirty="0"/>
              <a:t>(including</a:t>
            </a:r>
            <a:r>
              <a:rPr spc="45" dirty="0"/>
              <a:t> </a:t>
            </a:r>
            <a:r>
              <a:rPr spc="-5" dirty="0"/>
              <a:t>leasing)	PBT (including</a:t>
            </a:r>
            <a:r>
              <a:rPr spc="25" dirty="0"/>
              <a:t> </a:t>
            </a:r>
            <a:r>
              <a:rPr spc="-5" dirty="0"/>
              <a:t>leasing)</a:t>
            </a:r>
          </a:p>
          <a:p>
            <a:pPr marL="3954779">
              <a:lnSpc>
                <a:spcPct val="100000"/>
              </a:lnSpc>
              <a:spcBef>
                <a:spcPts val="1365"/>
              </a:spcBef>
              <a:tabLst>
                <a:tab pos="4686935" algn="l"/>
                <a:tab pos="7292340" algn="l"/>
                <a:tab pos="8023859" algn="l"/>
              </a:tabLst>
            </a:pPr>
            <a:r>
              <a:rPr sz="1000" b="0" spc="-10" dirty="0">
                <a:latin typeface="Arial"/>
                <a:cs typeface="Arial"/>
              </a:rPr>
              <a:t>Leasing	Loan	Leasing	Loan</a:t>
            </a:r>
            <a:endParaRPr sz="1000" dirty="0">
              <a:latin typeface="Arial"/>
              <a:cs typeface="Arial"/>
            </a:endParaRPr>
          </a:p>
          <a:p>
            <a:pPr marL="3702685">
              <a:lnSpc>
                <a:spcPct val="100000"/>
              </a:lnSpc>
            </a:pPr>
            <a:endParaRPr sz="1100" dirty="0">
              <a:latin typeface="Arial"/>
              <a:cs typeface="Arial"/>
            </a:endParaRPr>
          </a:p>
          <a:p>
            <a:pPr marL="5300345">
              <a:lnSpc>
                <a:spcPct val="100000"/>
              </a:lnSpc>
              <a:spcBef>
                <a:spcPts val="690"/>
              </a:spcBef>
              <a:tabLst>
                <a:tab pos="8665210" algn="l"/>
              </a:tabLst>
            </a:pPr>
            <a:r>
              <a:rPr sz="1200" dirty="0"/>
              <a:t>X3	x3</a:t>
            </a:r>
          </a:p>
          <a:p>
            <a:pPr marL="5805805">
              <a:lnSpc>
                <a:spcPct val="100000"/>
              </a:lnSpc>
              <a:spcBef>
                <a:spcPts val="770"/>
              </a:spcBef>
              <a:tabLst>
                <a:tab pos="9192260" algn="l"/>
              </a:tabLst>
            </a:pPr>
            <a:r>
              <a:rPr sz="1200" dirty="0"/>
              <a:t>55-65	40-50</a:t>
            </a:r>
          </a:p>
          <a:p>
            <a:pPr marL="5805805">
              <a:lnSpc>
                <a:spcPct val="100000"/>
              </a:lnSpc>
              <a:spcBef>
                <a:spcPts val="1160"/>
              </a:spcBef>
              <a:tabLst>
                <a:tab pos="9259570" algn="l"/>
              </a:tabLst>
            </a:pPr>
            <a:r>
              <a:rPr sz="1200" b="0" dirty="0">
                <a:solidFill>
                  <a:srgbClr val="FFFFFF"/>
                </a:solidFill>
                <a:latin typeface="Arial"/>
                <a:cs typeface="Arial"/>
              </a:rPr>
              <a:t>12-15	</a:t>
            </a:r>
            <a:r>
              <a:rPr sz="1200" b="0" spc="-5" dirty="0">
                <a:solidFill>
                  <a:srgbClr val="FFFFFF"/>
                </a:solidFill>
                <a:latin typeface="Arial"/>
                <a:cs typeface="Arial"/>
              </a:rPr>
              <a:t>~10</a:t>
            </a:r>
            <a:endParaRPr sz="1200" dirty="0">
              <a:latin typeface="Arial"/>
              <a:cs typeface="Arial"/>
            </a:endParaRPr>
          </a:p>
        </p:txBody>
      </p:sp>
      <p:sp>
        <p:nvSpPr>
          <p:cNvPr id="80" name="object 80"/>
          <p:cNvSpPr/>
          <p:nvPr/>
        </p:nvSpPr>
        <p:spPr>
          <a:xfrm>
            <a:off x="554736" y="5035550"/>
            <a:ext cx="10461625" cy="0"/>
          </a:xfrm>
          <a:custGeom>
            <a:avLst/>
            <a:gdLst/>
            <a:ahLst/>
            <a:cxnLst/>
            <a:rect l="l" t="t" r="r" b="b"/>
            <a:pathLst>
              <a:path w="10461625">
                <a:moveTo>
                  <a:pt x="0" y="0"/>
                </a:moveTo>
                <a:lnTo>
                  <a:pt x="10461625" y="0"/>
                </a:lnTo>
              </a:path>
            </a:pathLst>
          </a:custGeom>
          <a:ln w="6350">
            <a:solidFill>
              <a:srgbClr val="757575"/>
            </a:solidFill>
          </a:ln>
        </p:spPr>
        <p:txBody>
          <a:bodyPr wrap="square" lIns="0" tIns="0" rIns="0" bIns="0" rtlCol="0"/>
          <a:lstStyle/>
          <a:p>
            <a:endParaRPr/>
          </a:p>
        </p:txBody>
      </p:sp>
      <p:sp>
        <p:nvSpPr>
          <p:cNvPr id="81" name="object 81"/>
          <p:cNvSpPr/>
          <p:nvPr/>
        </p:nvSpPr>
        <p:spPr>
          <a:xfrm>
            <a:off x="1292225" y="1855787"/>
            <a:ext cx="138430" cy="138430"/>
          </a:xfrm>
          <a:custGeom>
            <a:avLst/>
            <a:gdLst/>
            <a:ahLst/>
            <a:cxnLst/>
            <a:rect l="l" t="t" r="r" b="b"/>
            <a:pathLst>
              <a:path w="138430" h="138430">
                <a:moveTo>
                  <a:pt x="0" y="138112"/>
                </a:moveTo>
                <a:lnTo>
                  <a:pt x="138112" y="138112"/>
                </a:lnTo>
                <a:lnTo>
                  <a:pt x="138112" y="0"/>
                </a:lnTo>
                <a:lnTo>
                  <a:pt x="0" y="0"/>
                </a:lnTo>
                <a:lnTo>
                  <a:pt x="0" y="138112"/>
                </a:lnTo>
                <a:close/>
              </a:path>
            </a:pathLst>
          </a:custGeom>
          <a:solidFill>
            <a:srgbClr val="2151FF"/>
          </a:solidFill>
        </p:spPr>
        <p:txBody>
          <a:bodyPr wrap="square" lIns="0" tIns="0" rIns="0" bIns="0" rtlCol="0"/>
          <a:lstStyle/>
          <a:p>
            <a:endParaRPr/>
          </a:p>
        </p:txBody>
      </p:sp>
      <p:sp>
        <p:nvSpPr>
          <p:cNvPr id="82" name="object 82"/>
          <p:cNvSpPr/>
          <p:nvPr/>
        </p:nvSpPr>
        <p:spPr>
          <a:xfrm>
            <a:off x="2459101" y="1855787"/>
            <a:ext cx="138430" cy="138430"/>
          </a:xfrm>
          <a:custGeom>
            <a:avLst/>
            <a:gdLst/>
            <a:ahLst/>
            <a:cxnLst/>
            <a:rect l="l" t="t" r="r" b="b"/>
            <a:pathLst>
              <a:path w="138430" h="138430">
                <a:moveTo>
                  <a:pt x="0" y="138112"/>
                </a:moveTo>
                <a:lnTo>
                  <a:pt x="138112" y="138112"/>
                </a:lnTo>
                <a:lnTo>
                  <a:pt x="138112" y="0"/>
                </a:lnTo>
                <a:lnTo>
                  <a:pt x="0" y="0"/>
                </a:lnTo>
                <a:lnTo>
                  <a:pt x="0" y="138112"/>
                </a:lnTo>
                <a:close/>
              </a:path>
            </a:pathLst>
          </a:custGeom>
          <a:solidFill>
            <a:srgbClr val="00A9F4"/>
          </a:solidFill>
        </p:spPr>
        <p:txBody>
          <a:bodyPr wrap="square" lIns="0" tIns="0" rIns="0" bIns="0" rtlCol="0"/>
          <a:lstStyle/>
          <a:p>
            <a:endParaRPr/>
          </a:p>
        </p:txBody>
      </p:sp>
      <p:sp>
        <p:nvSpPr>
          <p:cNvPr id="83" name="object 83"/>
          <p:cNvSpPr/>
          <p:nvPr/>
        </p:nvSpPr>
        <p:spPr>
          <a:xfrm>
            <a:off x="3667125" y="1855787"/>
            <a:ext cx="138430" cy="138430"/>
          </a:xfrm>
          <a:custGeom>
            <a:avLst/>
            <a:gdLst/>
            <a:ahLst/>
            <a:cxnLst/>
            <a:rect l="l" t="t" r="r" b="b"/>
            <a:pathLst>
              <a:path w="138429" h="138430">
                <a:moveTo>
                  <a:pt x="0" y="138112"/>
                </a:moveTo>
                <a:lnTo>
                  <a:pt x="138112" y="138112"/>
                </a:lnTo>
                <a:lnTo>
                  <a:pt x="138112" y="0"/>
                </a:lnTo>
                <a:lnTo>
                  <a:pt x="0" y="0"/>
                </a:lnTo>
                <a:lnTo>
                  <a:pt x="0" y="138112"/>
                </a:lnTo>
                <a:close/>
              </a:path>
            </a:pathLst>
          </a:custGeom>
          <a:solidFill>
            <a:srgbClr val="99E6FF"/>
          </a:solidFill>
        </p:spPr>
        <p:txBody>
          <a:bodyPr wrap="square" lIns="0" tIns="0" rIns="0" bIns="0" rtlCol="0"/>
          <a:lstStyle/>
          <a:p>
            <a:endParaRPr/>
          </a:p>
        </p:txBody>
      </p:sp>
      <p:sp>
        <p:nvSpPr>
          <p:cNvPr id="84" name="object 84"/>
          <p:cNvSpPr txBox="1"/>
          <p:nvPr/>
        </p:nvSpPr>
        <p:spPr>
          <a:xfrm>
            <a:off x="1468627" y="1429004"/>
            <a:ext cx="2112010" cy="585470"/>
          </a:xfrm>
          <a:prstGeom prst="rect">
            <a:avLst/>
          </a:prstGeom>
        </p:spPr>
        <p:txBody>
          <a:bodyPr vert="horz" wrap="square" lIns="0" tIns="12065" rIns="0" bIns="0" rtlCol="0">
            <a:spAutoFit/>
          </a:bodyPr>
          <a:lstStyle/>
          <a:p>
            <a:pPr marL="161290">
              <a:lnSpc>
                <a:spcPct val="100000"/>
              </a:lnSpc>
              <a:spcBef>
                <a:spcPts val="95"/>
              </a:spcBef>
            </a:pPr>
            <a:r>
              <a:rPr sz="1600" b="1" spc="-5" dirty="0">
                <a:latin typeface="Arial"/>
                <a:cs typeface="Arial"/>
              </a:rPr>
              <a:t>(without leasing)</a:t>
            </a:r>
            <a:endParaRPr sz="1600">
              <a:latin typeface="Arial"/>
              <a:cs typeface="Arial"/>
            </a:endParaRPr>
          </a:p>
          <a:p>
            <a:pPr marL="12700">
              <a:lnSpc>
                <a:spcPct val="100000"/>
              </a:lnSpc>
              <a:spcBef>
                <a:spcPts val="1295"/>
              </a:spcBef>
              <a:tabLst>
                <a:tab pos="1179195" algn="l"/>
              </a:tabLst>
            </a:pPr>
            <a:r>
              <a:rPr sz="1000" spc="-10" dirty="0">
                <a:latin typeface="Arial"/>
                <a:cs typeface="Arial"/>
              </a:rPr>
              <a:t>Auto loan</a:t>
            </a:r>
            <a:r>
              <a:rPr sz="1000" spc="10" dirty="0">
                <a:latin typeface="Arial"/>
                <a:cs typeface="Arial"/>
              </a:rPr>
              <a:t> </a:t>
            </a:r>
            <a:r>
              <a:rPr sz="1000" spc="-5" dirty="0">
                <a:latin typeface="Arial"/>
                <a:cs typeface="Arial"/>
              </a:rPr>
              <a:t>-</a:t>
            </a:r>
            <a:r>
              <a:rPr sz="1000" spc="10" dirty="0">
                <a:latin typeface="Arial"/>
                <a:cs typeface="Arial"/>
              </a:rPr>
              <a:t> </a:t>
            </a:r>
            <a:r>
              <a:rPr sz="1000" spc="-10" dirty="0">
                <a:latin typeface="Arial"/>
                <a:cs typeface="Arial"/>
              </a:rPr>
              <a:t>new	Auto loan </a:t>
            </a:r>
            <a:r>
              <a:rPr sz="1000" spc="-5" dirty="0">
                <a:latin typeface="Arial"/>
                <a:cs typeface="Arial"/>
              </a:rPr>
              <a:t>-</a:t>
            </a:r>
            <a:r>
              <a:rPr sz="1000" spc="-40" dirty="0">
                <a:latin typeface="Arial"/>
                <a:cs typeface="Arial"/>
              </a:rPr>
              <a:t> </a:t>
            </a:r>
            <a:r>
              <a:rPr sz="1000" spc="-10" dirty="0">
                <a:latin typeface="Arial"/>
                <a:cs typeface="Arial"/>
              </a:rPr>
              <a:t>used</a:t>
            </a:r>
            <a:endParaRPr sz="1000">
              <a:latin typeface="Arial"/>
              <a:cs typeface="Arial"/>
            </a:endParaRPr>
          </a:p>
        </p:txBody>
      </p:sp>
      <p:sp>
        <p:nvSpPr>
          <p:cNvPr id="85" name="object 85"/>
          <p:cNvSpPr txBox="1"/>
          <p:nvPr/>
        </p:nvSpPr>
        <p:spPr>
          <a:xfrm>
            <a:off x="3843909" y="1837181"/>
            <a:ext cx="59436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Cash</a:t>
            </a:r>
            <a:r>
              <a:rPr sz="1000" spc="-65" dirty="0">
                <a:latin typeface="Arial"/>
                <a:cs typeface="Arial"/>
              </a:rPr>
              <a:t> </a:t>
            </a:r>
            <a:r>
              <a:rPr sz="1000" spc="-10" dirty="0">
                <a:latin typeface="Arial"/>
                <a:cs typeface="Arial"/>
              </a:rPr>
              <a:t>loan</a:t>
            </a:r>
            <a:endParaRPr sz="1000">
              <a:latin typeface="Arial"/>
              <a:cs typeface="Arial"/>
            </a:endParaRPr>
          </a:p>
        </p:txBody>
      </p:sp>
      <p:sp>
        <p:nvSpPr>
          <p:cNvPr id="86" name="object 86"/>
          <p:cNvSpPr/>
          <p:nvPr/>
        </p:nvSpPr>
        <p:spPr>
          <a:xfrm>
            <a:off x="2402839" y="5251450"/>
            <a:ext cx="485140" cy="263525"/>
          </a:xfrm>
          <a:custGeom>
            <a:avLst/>
            <a:gdLst/>
            <a:ahLst/>
            <a:cxnLst/>
            <a:rect l="l" t="t" r="r" b="b"/>
            <a:pathLst>
              <a:path w="485139" h="263525">
                <a:moveTo>
                  <a:pt x="242316" y="0"/>
                </a:moveTo>
                <a:lnTo>
                  <a:pt x="177888" y="4710"/>
                </a:lnTo>
                <a:lnTo>
                  <a:pt x="120000" y="18001"/>
                </a:lnTo>
                <a:lnTo>
                  <a:pt x="70961" y="38608"/>
                </a:lnTo>
                <a:lnTo>
                  <a:pt x="33076" y="65268"/>
                </a:lnTo>
                <a:lnTo>
                  <a:pt x="8653" y="96719"/>
                </a:lnTo>
                <a:lnTo>
                  <a:pt x="0" y="131699"/>
                </a:lnTo>
                <a:lnTo>
                  <a:pt x="8653" y="166731"/>
                </a:lnTo>
                <a:lnTo>
                  <a:pt x="33076" y="198218"/>
                </a:lnTo>
                <a:lnTo>
                  <a:pt x="70961" y="224901"/>
                </a:lnTo>
                <a:lnTo>
                  <a:pt x="120000" y="245519"/>
                </a:lnTo>
                <a:lnTo>
                  <a:pt x="177888" y="258813"/>
                </a:lnTo>
                <a:lnTo>
                  <a:pt x="242316" y="263525"/>
                </a:lnTo>
                <a:lnTo>
                  <a:pt x="306699" y="258813"/>
                </a:lnTo>
                <a:lnTo>
                  <a:pt x="364574" y="245519"/>
                </a:lnTo>
                <a:lnTo>
                  <a:pt x="413623" y="224901"/>
                </a:lnTo>
                <a:lnTo>
                  <a:pt x="451527" y="198218"/>
                </a:lnTo>
                <a:lnTo>
                  <a:pt x="475969" y="166731"/>
                </a:lnTo>
                <a:lnTo>
                  <a:pt x="484632" y="131699"/>
                </a:lnTo>
                <a:lnTo>
                  <a:pt x="475969" y="96719"/>
                </a:lnTo>
                <a:lnTo>
                  <a:pt x="451527" y="65268"/>
                </a:lnTo>
                <a:lnTo>
                  <a:pt x="413623" y="38608"/>
                </a:lnTo>
                <a:lnTo>
                  <a:pt x="364574" y="18001"/>
                </a:lnTo>
                <a:lnTo>
                  <a:pt x="306699" y="4710"/>
                </a:lnTo>
                <a:lnTo>
                  <a:pt x="242316" y="0"/>
                </a:lnTo>
                <a:close/>
              </a:path>
            </a:pathLst>
          </a:custGeom>
          <a:solidFill>
            <a:srgbClr val="00A9F4"/>
          </a:solidFill>
        </p:spPr>
        <p:txBody>
          <a:bodyPr wrap="square" lIns="0" tIns="0" rIns="0" bIns="0" rtlCol="0"/>
          <a:lstStyle/>
          <a:p>
            <a:endParaRPr/>
          </a:p>
        </p:txBody>
      </p:sp>
      <p:sp>
        <p:nvSpPr>
          <p:cNvPr id="87" name="object 87"/>
          <p:cNvSpPr txBox="1"/>
          <p:nvPr/>
        </p:nvSpPr>
        <p:spPr>
          <a:xfrm>
            <a:off x="2561082" y="5292344"/>
            <a:ext cx="168275" cy="177800"/>
          </a:xfrm>
          <a:prstGeom prst="rect">
            <a:avLst/>
          </a:prstGeom>
        </p:spPr>
        <p:txBody>
          <a:bodyPr vert="horz" wrap="square" lIns="0" tIns="12065" rIns="0" bIns="0" rtlCol="0">
            <a:spAutoFit/>
          </a:bodyPr>
          <a:lstStyle/>
          <a:p>
            <a:pPr marL="12700">
              <a:lnSpc>
                <a:spcPct val="100000"/>
              </a:lnSpc>
              <a:spcBef>
                <a:spcPts val="95"/>
              </a:spcBef>
            </a:pPr>
            <a:r>
              <a:rPr sz="1000" b="1" spc="-15" dirty="0">
                <a:solidFill>
                  <a:srgbClr val="FFFFFF"/>
                </a:solidFill>
                <a:latin typeface="Arial"/>
                <a:cs typeface="Arial"/>
              </a:rPr>
              <a:t>~3</a:t>
            </a:r>
            <a:endParaRPr sz="1000">
              <a:latin typeface="Arial"/>
              <a:cs typeface="Arial"/>
            </a:endParaRPr>
          </a:p>
        </p:txBody>
      </p:sp>
      <p:sp>
        <p:nvSpPr>
          <p:cNvPr id="88" name="object 88"/>
          <p:cNvSpPr/>
          <p:nvPr/>
        </p:nvSpPr>
        <p:spPr>
          <a:xfrm>
            <a:off x="2262632" y="5702300"/>
            <a:ext cx="485140" cy="263525"/>
          </a:xfrm>
          <a:custGeom>
            <a:avLst/>
            <a:gdLst/>
            <a:ahLst/>
            <a:cxnLst/>
            <a:rect l="l" t="t" r="r" b="b"/>
            <a:pathLst>
              <a:path w="485139" h="263525">
                <a:moveTo>
                  <a:pt x="242316" y="0"/>
                </a:moveTo>
                <a:lnTo>
                  <a:pt x="177932" y="4706"/>
                </a:lnTo>
                <a:lnTo>
                  <a:pt x="120057" y="17989"/>
                </a:lnTo>
                <a:lnTo>
                  <a:pt x="71008" y="38592"/>
                </a:lnTo>
                <a:lnTo>
                  <a:pt x="33104" y="65259"/>
                </a:lnTo>
                <a:lnTo>
                  <a:pt x="8662" y="96734"/>
                </a:lnTo>
                <a:lnTo>
                  <a:pt x="0" y="131762"/>
                </a:lnTo>
                <a:lnTo>
                  <a:pt x="8662" y="166790"/>
                </a:lnTo>
                <a:lnTo>
                  <a:pt x="33104" y="198265"/>
                </a:lnTo>
                <a:lnTo>
                  <a:pt x="71008" y="224932"/>
                </a:lnTo>
                <a:lnTo>
                  <a:pt x="120057" y="245535"/>
                </a:lnTo>
                <a:lnTo>
                  <a:pt x="177932" y="258818"/>
                </a:lnTo>
                <a:lnTo>
                  <a:pt x="242316" y="263525"/>
                </a:lnTo>
                <a:lnTo>
                  <a:pt x="306743" y="258818"/>
                </a:lnTo>
                <a:lnTo>
                  <a:pt x="364631" y="245535"/>
                </a:lnTo>
                <a:lnTo>
                  <a:pt x="413670" y="224932"/>
                </a:lnTo>
                <a:lnTo>
                  <a:pt x="451555" y="198265"/>
                </a:lnTo>
                <a:lnTo>
                  <a:pt x="475978" y="166790"/>
                </a:lnTo>
                <a:lnTo>
                  <a:pt x="484631" y="131762"/>
                </a:lnTo>
                <a:lnTo>
                  <a:pt x="475978" y="96734"/>
                </a:lnTo>
                <a:lnTo>
                  <a:pt x="451555" y="65259"/>
                </a:lnTo>
                <a:lnTo>
                  <a:pt x="413670" y="38592"/>
                </a:lnTo>
                <a:lnTo>
                  <a:pt x="364631" y="17989"/>
                </a:lnTo>
                <a:lnTo>
                  <a:pt x="306743" y="4706"/>
                </a:lnTo>
                <a:lnTo>
                  <a:pt x="242316" y="0"/>
                </a:lnTo>
                <a:close/>
              </a:path>
            </a:pathLst>
          </a:custGeom>
          <a:solidFill>
            <a:srgbClr val="99E6FF"/>
          </a:solidFill>
        </p:spPr>
        <p:txBody>
          <a:bodyPr wrap="square" lIns="0" tIns="0" rIns="0" bIns="0" rtlCol="0"/>
          <a:lstStyle/>
          <a:p>
            <a:endParaRPr/>
          </a:p>
        </p:txBody>
      </p:sp>
      <p:sp>
        <p:nvSpPr>
          <p:cNvPr id="89" name="object 89"/>
          <p:cNvSpPr txBox="1"/>
          <p:nvPr/>
        </p:nvSpPr>
        <p:spPr>
          <a:xfrm>
            <a:off x="2421127" y="5743143"/>
            <a:ext cx="168275" cy="177800"/>
          </a:xfrm>
          <a:prstGeom prst="rect">
            <a:avLst/>
          </a:prstGeom>
        </p:spPr>
        <p:txBody>
          <a:bodyPr vert="horz" wrap="square" lIns="0" tIns="12065" rIns="0" bIns="0" rtlCol="0">
            <a:spAutoFit/>
          </a:bodyPr>
          <a:lstStyle/>
          <a:p>
            <a:pPr marL="12700">
              <a:lnSpc>
                <a:spcPct val="100000"/>
              </a:lnSpc>
              <a:spcBef>
                <a:spcPts val="95"/>
              </a:spcBef>
            </a:pPr>
            <a:r>
              <a:rPr sz="1000" b="1" spc="-15" dirty="0">
                <a:latin typeface="Arial"/>
                <a:cs typeface="Arial"/>
              </a:rPr>
              <a:t>~7</a:t>
            </a:r>
            <a:endParaRPr sz="1000">
              <a:latin typeface="Arial"/>
              <a:cs typeface="Arial"/>
            </a:endParaRPr>
          </a:p>
        </p:txBody>
      </p:sp>
      <p:sp>
        <p:nvSpPr>
          <p:cNvPr id="90" name="object 90"/>
          <p:cNvSpPr txBox="1"/>
          <p:nvPr/>
        </p:nvSpPr>
        <p:spPr>
          <a:xfrm>
            <a:off x="4652771" y="5151246"/>
            <a:ext cx="1003300" cy="391160"/>
          </a:xfrm>
          <a:prstGeom prst="rect">
            <a:avLst/>
          </a:prstGeom>
        </p:spPr>
        <p:txBody>
          <a:bodyPr vert="horz" wrap="square" lIns="0" tIns="12700" rIns="0" bIns="0" rtlCol="0">
            <a:spAutoFit/>
          </a:bodyPr>
          <a:lstStyle/>
          <a:p>
            <a:pPr marL="38100" marR="30480">
              <a:lnSpc>
                <a:spcPct val="100000"/>
              </a:lnSpc>
              <a:spcBef>
                <a:spcPts val="100"/>
              </a:spcBef>
            </a:pPr>
            <a:r>
              <a:rPr sz="1200" b="1" dirty="0">
                <a:latin typeface="Arial"/>
                <a:cs typeface="Arial"/>
              </a:rPr>
              <a:t>Leasing  </a:t>
            </a:r>
            <a:r>
              <a:rPr sz="1200" b="1" spc="-15" dirty="0">
                <a:latin typeface="Arial"/>
                <a:cs typeface="Arial"/>
              </a:rPr>
              <a:t>RAR</a:t>
            </a:r>
            <a:r>
              <a:rPr sz="1200" b="1" spc="-22" baseline="24305" dirty="0">
                <a:latin typeface="Arial"/>
                <a:cs typeface="Arial"/>
              </a:rPr>
              <a:t>1</a:t>
            </a:r>
            <a:r>
              <a:rPr sz="1200" b="1" spc="-15" dirty="0">
                <a:latin typeface="Arial"/>
                <a:cs typeface="Arial"/>
              </a:rPr>
              <a:t>/ </a:t>
            </a:r>
            <a:r>
              <a:rPr sz="1200" b="1" dirty="0">
                <a:latin typeface="Arial"/>
                <a:cs typeface="Arial"/>
              </a:rPr>
              <a:t>car</a:t>
            </a:r>
            <a:r>
              <a:rPr sz="1200" b="1" spc="-45" dirty="0">
                <a:latin typeface="Arial"/>
                <a:cs typeface="Arial"/>
              </a:rPr>
              <a:t> </a:t>
            </a:r>
            <a:r>
              <a:rPr sz="1200" dirty="0">
                <a:latin typeface="Arial"/>
                <a:cs typeface="Arial"/>
              </a:rPr>
              <a:t>(€)</a:t>
            </a:r>
            <a:endParaRPr sz="1200">
              <a:latin typeface="Arial"/>
              <a:cs typeface="Arial"/>
            </a:endParaRPr>
          </a:p>
        </p:txBody>
      </p:sp>
      <p:sp>
        <p:nvSpPr>
          <p:cNvPr id="91" name="object 91"/>
          <p:cNvSpPr/>
          <p:nvPr/>
        </p:nvSpPr>
        <p:spPr>
          <a:xfrm>
            <a:off x="5711697" y="5184775"/>
            <a:ext cx="533400" cy="263525"/>
          </a:xfrm>
          <a:custGeom>
            <a:avLst/>
            <a:gdLst/>
            <a:ahLst/>
            <a:cxnLst/>
            <a:rect l="l" t="t" r="r" b="b"/>
            <a:pathLst>
              <a:path w="533400" h="263525">
                <a:moveTo>
                  <a:pt x="266573" y="0"/>
                </a:moveTo>
                <a:lnTo>
                  <a:pt x="205460" y="3483"/>
                </a:lnTo>
                <a:lnTo>
                  <a:pt x="149354" y="13402"/>
                </a:lnTo>
                <a:lnTo>
                  <a:pt x="99858" y="28961"/>
                </a:lnTo>
                <a:lnTo>
                  <a:pt x="58572" y="49366"/>
                </a:lnTo>
                <a:lnTo>
                  <a:pt x="27100" y="73821"/>
                </a:lnTo>
                <a:lnTo>
                  <a:pt x="0" y="131699"/>
                </a:lnTo>
                <a:lnTo>
                  <a:pt x="7042" y="161914"/>
                </a:lnTo>
                <a:lnTo>
                  <a:pt x="58572" y="214134"/>
                </a:lnTo>
                <a:lnTo>
                  <a:pt x="99858" y="234553"/>
                </a:lnTo>
                <a:lnTo>
                  <a:pt x="149354" y="250120"/>
                </a:lnTo>
                <a:lnTo>
                  <a:pt x="205460" y="260041"/>
                </a:lnTo>
                <a:lnTo>
                  <a:pt x="266573" y="263525"/>
                </a:lnTo>
                <a:lnTo>
                  <a:pt x="327685" y="260041"/>
                </a:lnTo>
                <a:lnTo>
                  <a:pt x="383791" y="250120"/>
                </a:lnTo>
                <a:lnTo>
                  <a:pt x="433287" y="234553"/>
                </a:lnTo>
                <a:lnTo>
                  <a:pt x="474573" y="214134"/>
                </a:lnTo>
                <a:lnTo>
                  <a:pt x="506045" y="189657"/>
                </a:lnTo>
                <a:lnTo>
                  <a:pt x="533146" y="131699"/>
                </a:lnTo>
                <a:lnTo>
                  <a:pt x="526103" y="101530"/>
                </a:lnTo>
                <a:lnTo>
                  <a:pt x="474573" y="49366"/>
                </a:lnTo>
                <a:lnTo>
                  <a:pt x="433287" y="28961"/>
                </a:lnTo>
                <a:lnTo>
                  <a:pt x="383791" y="13402"/>
                </a:lnTo>
                <a:lnTo>
                  <a:pt x="327685" y="3483"/>
                </a:lnTo>
                <a:lnTo>
                  <a:pt x="266573" y="0"/>
                </a:lnTo>
                <a:close/>
              </a:path>
            </a:pathLst>
          </a:custGeom>
          <a:solidFill>
            <a:srgbClr val="2151FF"/>
          </a:solidFill>
        </p:spPr>
        <p:txBody>
          <a:bodyPr wrap="square" lIns="0" tIns="0" rIns="0" bIns="0" rtlCol="0"/>
          <a:lstStyle/>
          <a:p>
            <a:endParaRPr/>
          </a:p>
        </p:txBody>
      </p:sp>
      <p:sp>
        <p:nvSpPr>
          <p:cNvPr id="92" name="object 92"/>
          <p:cNvSpPr txBox="1"/>
          <p:nvPr/>
        </p:nvSpPr>
        <p:spPr>
          <a:xfrm>
            <a:off x="5874258" y="5225541"/>
            <a:ext cx="208915"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FFFFFF"/>
                </a:solidFill>
                <a:latin typeface="Arial"/>
                <a:cs typeface="Arial"/>
              </a:rPr>
              <a:t>n.a</a:t>
            </a:r>
            <a:endParaRPr sz="1000">
              <a:latin typeface="Arial"/>
              <a:cs typeface="Arial"/>
            </a:endParaRPr>
          </a:p>
        </p:txBody>
      </p:sp>
      <p:sp>
        <p:nvSpPr>
          <p:cNvPr id="93" name="object 93"/>
          <p:cNvSpPr/>
          <p:nvPr/>
        </p:nvSpPr>
        <p:spPr>
          <a:xfrm>
            <a:off x="6913753" y="5184775"/>
            <a:ext cx="533400" cy="263525"/>
          </a:xfrm>
          <a:custGeom>
            <a:avLst/>
            <a:gdLst/>
            <a:ahLst/>
            <a:cxnLst/>
            <a:rect l="l" t="t" r="r" b="b"/>
            <a:pathLst>
              <a:path w="533400" h="263525">
                <a:moveTo>
                  <a:pt x="266573" y="0"/>
                </a:moveTo>
                <a:lnTo>
                  <a:pt x="205460" y="3483"/>
                </a:lnTo>
                <a:lnTo>
                  <a:pt x="149354" y="13402"/>
                </a:lnTo>
                <a:lnTo>
                  <a:pt x="99858" y="28961"/>
                </a:lnTo>
                <a:lnTo>
                  <a:pt x="58572" y="49366"/>
                </a:lnTo>
                <a:lnTo>
                  <a:pt x="27100" y="73821"/>
                </a:lnTo>
                <a:lnTo>
                  <a:pt x="0" y="131699"/>
                </a:lnTo>
                <a:lnTo>
                  <a:pt x="7042" y="161914"/>
                </a:lnTo>
                <a:lnTo>
                  <a:pt x="58572" y="214134"/>
                </a:lnTo>
                <a:lnTo>
                  <a:pt x="99858" y="234553"/>
                </a:lnTo>
                <a:lnTo>
                  <a:pt x="149354" y="250120"/>
                </a:lnTo>
                <a:lnTo>
                  <a:pt x="205460" y="260041"/>
                </a:lnTo>
                <a:lnTo>
                  <a:pt x="266573" y="263525"/>
                </a:lnTo>
                <a:lnTo>
                  <a:pt x="327685" y="260041"/>
                </a:lnTo>
                <a:lnTo>
                  <a:pt x="383791" y="250120"/>
                </a:lnTo>
                <a:lnTo>
                  <a:pt x="433287" y="234553"/>
                </a:lnTo>
                <a:lnTo>
                  <a:pt x="474573" y="214134"/>
                </a:lnTo>
                <a:lnTo>
                  <a:pt x="506045" y="189657"/>
                </a:lnTo>
                <a:lnTo>
                  <a:pt x="533146" y="131699"/>
                </a:lnTo>
                <a:lnTo>
                  <a:pt x="526103" y="101530"/>
                </a:lnTo>
                <a:lnTo>
                  <a:pt x="474573" y="49366"/>
                </a:lnTo>
                <a:lnTo>
                  <a:pt x="433287" y="28961"/>
                </a:lnTo>
                <a:lnTo>
                  <a:pt x="383791" y="13402"/>
                </a:lnTo>
                <a:lnTo>
                  <a:pt x="327685" y="3483"/>
                </a:lnTo>
                <a:lnTo>
                  <a:pt x="266573" y="0"/>
                </a:lnTo>
                <a:close/>
              </a:path>
            </a:pathLst>
          </a:custGeom>
          <a:solidFill>
            <a:srgbClr val="2151FF"/>
          </a:solidFill>
        </p:spPr>
        <p:txBody>
          <a:bodyPr wrap="square" lIns="0" tIns="0" rIns="0" bIns="0" rtlCol="0"/>
          <a:lstStyle/>
          <a:p>
            <a:endParaRPr/>
          </a:p>
        </p:txBody>
      </p:sp>
      <p:sp>
        <p:nvSpPr>
          <p:cNvPr id="94" name="object 94"/>
          <p:cNvSpPr txBox="1"/>
          <p:nvPr/>
        </p:nvSpPr>
        <p:spPr>
          <a:xfrm>
            <a:off x="7009256" y="5225541"/>
            <a:ext cx="344170" cy="177800"/>
          </a:xfrm>
          <a:prstGeom prst="rect">
            <a:avLst/>
          </a:prstGeom>
        </p:spPr>
        <p:txBody>
          <a:bodyPr vert="horz" wrap="square" lIns="0" tIns="12065" rIns="0" bIns="0" rtlCol="0">
            <a:spAutoFit/>
          </a:bodyPr>
          <a:lstStyle/>
          <a:p>
            <a:pPr marL="12700">
              <a:lnSpc>
                <a:spcPct val="100000"/>
              </a:lnSpc>
              <a:spcBef>
                <a:spcPts val="95"/>
              </a:spcBef>
            </a:pPr>
            <a:r>
              <a:rPr sz="1000" b="1" spc="-15" dirty="0">
                <a:solidFill>
                  <a:srgbClr val="FFFFFF"/>
                </a:solidFill>
                <a:latin typeface="Arial"/>
                <a:cs typeface="Arial"/>
              </a:rPr>
              <a:t>~</a:t>
            </a:r>
            <a:r>
              <a:rPr sz="1000" b="1" spc="-10" dirty="0">
                <a:solidFill>
                  <a:srgbClr val="FFFFFF"/>
                </a:solidFill>
                <a:latin typeface="Arial"/>
                <a:cs typeface="Arial"/>
              </a:rPr>
              <a:t>2.5</a:t>
            </a:r>
            <a:r>
              <a:rPr sz="1000" b="1" spc="-5" dirty="0">
                <a:solidFill>
                  <a:srgbClr val="FFFFFF"/>
                </a:solidFill>
                <a:latin typeface="Arial"/>
                <a:cs typeface="Arial"/>
              </a:rPr>
              <a:t>k</a:t>
            </a:r>
            <a:endParaRPr sz="1000">
              <a:latin typeface="Arial"/>
              <a:cs typeface="Arial"/>
            </a:endParaRPr>
          </a:p>
        </p:txBody>
      </p:sp>
      <p:sp>
        <p:nvSpPr>
          <p:cNvPr id="95" name="object 95"/>
          <p:cNvSpPr txBox="1"/>
          <p:nvPr/>
        </p:nvSpPr>
        <p:spPr>
          <a:xfrm>
            <a:off x="8092567" y="5649569"/>
            <a:ext cx="450850" cy="574675"/>
          </a:xfrm>
          <a:prstGeom prst="rect">
            <a:avLst/>
          </a:prstGeom>
        </p:spPr>
        <p:txBody>
          <a:bodyPr vert="horz" wrap="square" lIns="0" tIns="12700" rIns="0" bIns="0" rtlCol="0">
            <a:spAutoFit/>
          </a:bodyPr>
          <a:lstStyle/>
          <a:p>
            <a:pPr marL="12700" marR="5080">
              <a:lnSpc>
                <a:spcPct val="100000"/>
              </a:lnSpc>
              <a:spcBef>
                <a:spcPts val="100"/>
              </a:spcBef>
            </a:pPr>
            <a:r>
              <a:rPr sz="1200" b="1" dirty="0">
                <a:latin typeface="Arial"/>
                <a:cs typeface="Arial"/>
              </a:rPr>
              <a:t>Loan  Opex/  </a:t>
            </a:r>
            <a:r>
              <a:rPr sz="1200" b="1" spc="-20" dirty="0">
                <a:latin typeface="Arial"/>
                <a:cs typeface="Arial"/>
              </a:rPr>
              <a:t>RAR</a:t>
            </a:r>
            <a:endParaRPr sz="1200">
              <a:latin typeface="Arial"/>
              <a:cs typeface="Arial"/>
            </a:endParaRPr>
          </a:p>
        </p:txBody>
      </p:sp>
      <p:sp>
        <p:nvSpPr>
          <p:cNvPr id="96" name="object 96"/>
          <p:cNvSpPr/>
          <p:nvPr/>
        </p:nvSpPr>
        <p:spPr>
          <a:xfrm>
            <a:off x="9036684" y="5695315"/>
            <a:ext cx="517525" cy="318135"/>
          </a:xfrm>
          <a:custGeom>
            <a:avLst/>
            <a:gdLst/>
            <a:ahLst/>
            <a:cxnLst/>
            <a:rect l="l" t="t" r="r" b="b"/>
            <a:pathLst>
              <a:path w="517525" h="318135">
                <a:moveTo>
                  <a:pt x="258699" y="0"/>
                </a:moveTo>
                <a:lnTo>
                  <a:pt x="199381" y="4194"/>
                </a:lnTo>
                <a:lnTo>
                  <a:pt x="144929" y="16142"/>
                </a:lnTo>
                <a:lnTo>
                  <a:pt x="96896" y="34891"/>
                </a:lnTo>
                <a:lnTo>
                  <a:pt x="56833" y="59487"/>
                </a:lnTo>
                <a:lnTo>
                  <a:pt x="26294" y="88977"/>
                </a:lnTo>
                <a:lnTo>
                  <a:pt x="6832" y="122408"/>
                </a:lnTo>
                <a:lnTo>
                  <a:pt x="0" y="158826"/>
                </a:lnTo>
                <a:lnTo>
                  <a:pt x="6832" y="195244"/>
                </a:lnTo>
                <a:lnTo>
                  <a:pt x="26294" y="228677"/>
                </a:lnTo>
                <a:lnTo>
                  <a:pt x="56833" y="258169"/>
                </a:lnTo>
                <a:lnTo>
                  <a:pt x="96896" y="282768"/>
                </a:lnTo>
                <a:lnTo>
                  <a:pt x="144929" y="301519"/>
                </a:lnTo>
                <a:lnTo>
                  <a:pt x="199381" y="313469"/>
                </a:lnTo>
                <a:lnTo>
                  <a:pt x="258699" y="317665"/>
                </a:lnTo>
                <a:lnTo>
                  <a:pt x="318016" y="313469"/>
                </a:lnTo>
                <a:lnTo>
                  <a:pt x="372468" y="301519"/>
                </a:lnTo>
                <a:lnTo>
                  <a:pt x="420501" y="282768"/>
                </a:lnTo>
                <a:lnTo>
                  <a:pt x="460564" y="258169"/>
                </a:lnTo>
                <a:lnTo>
                  <a:pt x="491103" y="228677"/>
                </a:lnTo>
                <a:lnTo>
                  <a:pt x="510565" y="195244"/>
                </a:lnTo>
                <a:lnTo>
                  <a:pt x="517398" y="158826"/>
                </a:lnTo>
                <a:lnTo>
                  <a:pt x="510565" y="122408"/>
                </a:lnTo>
                <a:lnTo>
                  <a:pt x="491103" y="88977"/>
                </a:lnTo>
                <a:lnTo>
                  <a:pt x="460564" y="59487"/>
                </a:lnTo>
                <a:lnTo>
                  <a:pt x="420501" y="34891"/>
                </a:lnTo>
                <a:lnTo>
                  <a:pt x="372468" y="16142"/>
                </a:lnTo>
                <a:lnTo>
                  <a:pt x="318016" y="4194"/>
                </a:lnTo>
                <a:lnTo>
                  <a:pt x="258699" y="0"/>
                </a:lnTo>
                <a:close/>
              </a:path>
            </a:pathLst>
          </a:custGeom>
          <a:solidFill>
            <a:srgbClr val="051F79"/>
          </a:solidFill>
        </p:spPr>
        <p:txBody>
          <a:bodyPr wrap="square" lIns="0" tIns="0" rIns="0" bIns="0" rtlCol="0"/>
          <a:lstStyle/>
          <a:p>
            <a:endParaRPr/>
          </a:p>
        </p:txBody>
      </p:sp>
      <p:sp>
        <p:nvSpPr>
          <p:cNvPr id="97" name="object 97"/>
          <p:cNvSpPr txBox="1"/>
          <p:nvPr/>
        </p:nvSpPr>
        <p:spPr>
          <a:xfrm>
            <a:off x="9120885" y="5763259"/>
            <a:ext cx="351155" cy="177800"/>
          </a:xfrm>
          <a:prstGeom prst="rect">
            <a:avLst/>
          </a:prstGeom>
        </p:spPr>
        <p:txBody>
          <a:bodyPr vert="horz" wrap="square" lIns="0" tIns="12065" rIns="0" bIns="0" rtlCol="0">
            <a:spAutoFit/>
          </a:bodyPr>
          <a:lstStyle/>
          <a:p>
            <a:pPr marL="12700">
              <a:lnSpc>
                <a:spcPct val="100000"/>
              </a:lnSpc>
              <a:spcBef>
                <a:spcPts val="95"/>
              </a:spcBef>
            </a:pPr>
            <a:r>
              <a:rPr sz="1000" b="1" spc="-15" dirty="0">
                <a:solidFill>
                  <a:srgbClr val="FFFFFF"/>
                </a:solidFill>
                <a:latin typeface="Arial"/>
                <a:cs typeface="Arial"/>
              </a:rPr>
              <a:t>~</a:t>
            </a:r>
            <a:r>
              <a:rPr sz="1000" b="1" spc="-10" dirty="0">
                <a:solidFill>
                  <a:srgbClr val="FFFFFF"/>
                </a:solidFill>
                <a:latin typeface="Arial"/>
                <a:cs typeface="Arial"/>
              </a:rPr>
              <a:t>25</a:t>
            </a:r>
            <a:r>
              <a:rPr sz="1000" b="1" spc="-5" dirty="0">
                <a:solidFill>
                  <a:srgbClr val="FFFFFF"/>
                </a:solidFill>
                <a:latin typeface="Arial"/>
                <a:cs typeface="Arial"/>
              </a:rPr>
              <a:t>%</a:t>
            </a:r>
            <a:endParaRPr sz="1000">
              <a:latin typeface="Arial"/>
              <a:cs typeface="Arial"/>
            </a:endParaRPr>
          </a:p>
        </p:txBody>
      </p:sp>
      <p:sp>
        <p:nvSpPr>
          <p:cNvPr id="98" name="object 98"/>
          <p:cNvSpPr/>
          <p:nvPr/>
        </p:nvSpPr>
        <p:spPr>
          <a:xfrm>
            <a:off x="10311383" y="5695315"/>
            <a:ext cx="517525" cy="318135"/>
          </a:xfrm>
          <a:custGeom>
            <a:avLst/>
            <a:gdLst/>
            <a:ahLst/>
            <a:cxnLst/>
            <a:rect l="l" t="t" r="r" b="b"/>
            <a:pathLst>
              <a:path w="517525" h="318135">
                <a:moveTo>
                  <a:pt x="258699" y="0"/>
                </a:moveTo>
                <a:lnTo>
                  <a:pt x="199381" y="4194"/>
                </a:lnTo>
                <a:lnTo>
                  <a:pt x="144929" y="16142"/>
                </a:lnTo>
                <a:lnTo>
                  <a:pt x="96896" y="34891"/>
                </a:lnTo>
                <a:lnTo>
                  <a:pt x="56833" y="59487"/>
                </a:lnTo>
                <a:lnTo>
                  <a:pt x="26294" y="88977"/>
                </a:lnTo>
                <a:lnTo>
                  <a:pt x="6832" y="122408"/>
                </a:lnTo>
                <a:lnTo>
                  <a:pt x="0" y="158826"/>
                </a:lnTo>
                <a:lnTo>
                  <a:pt x="6832" y="195244"/>
                </a:lnTo>
                <a:lnTo>
                  <a:pt x="26294" y="228677"/>
                </a:lnTo>
                <a:lnTo>
                  <a:pt x="56833" y="258169"/>
                </a:lnTo>
                <a:lnTo>
                  <a:pt x="96896" y="282768"/>
                </a:lnTo>
                <a:lnTo>
                  <a:pt x="144929" y="301519"/>
                </a:lnTo>
                <a:lnTo>
                  <a:pt x="199381" y="313469"/>
                </a:lnTo>
                <a:lnTo>
                  <a:pt x="258699" y="317665"/>
                </a:lnTo>
                <a:lnTo>
                  <a:pt x="318016" y="313469"/>
                </a:lnTo>
                <a:lnTo>
                  <a:pt x="372468" y="301519"/>
                </a:lnTo>
                <a:lnTo>
                  <a:pt x="420501" y="282768"/>
                </a:lnTo>
                <a:lnTo>
                  <a:pt x="460564" y="258169"/>
                </a:lnTo>
                <a:lnTo>
                  <a:pt x="491103" y="228677"/>
                </a:lnTo>
                <a:lnTo>
                  <a:pt x="510565" y="195244"/>
                </a:lnTo>
                <a:lnTo>
                  <a:pt x="517398" y="158826"/>
                </a:lnTo>
                <a:lnTo>
                  <a:pt x="510565" y="122408"/>
                </a:lnTo>
                <a:lnTo>
                  <a:pt x="491103" y="88977"/>
                </a:lnTo>
                <a:lnTo>
                  <a:pt x="460564" y="59487"/>
                </a:lnTo>
                <a:lnTo>
                  <a:pt x="420501" y="34891"/>
                </a:lnTo>
                <a:lnTo>
                  <a:pt x="372468" y="16142"/>
                </a:lnTo>
                <a:lnTo>
                  <a:pt x="318016" y="4194"/>
                </a:lnTo>
                <a:lnTo>
                  <a:pt x="258699" y="0"/>
                </a:lnTo>
                <a:close/>
              </a:path>
            </a:pathLst>
          </a:custGeom>
          <a:solidFill>
            <a:srgbClr val="051F79"/>
          </a:solidFill>
        </p:spPr>
        <p:txBody>
          <a:bodyPr wrap="square" lIns="0" tIns="0" rIns="0" bIns="0" rtlCol="0"/>
          <a:lstStyle/>
          <a:p>
            <a:endParaRPr/>
          </a:p>
        </p:txBody>
      </p:sp>
      <p:sp>
        <p:nvSpPr>
          <p:cNvPr id="99" name="object 99"/>
          <p:cNvSpPr txBox="1"/>
          <p:nvPr/>
        </p:nvSpPr>
        <p:spPr>
          <a:xfrm>
            <a:off x="10274554" y="5763259"/>
            <a:ext cx="559435" cy="177800"/>
          </a:xfrm>
          <a:prstGeom prst="rect">
            <a:avLst/>
          </a:prstGeom>
        </p:spPr>
        <p:txBody>
          <a:bodyPr vert="horz" wrap="square" lIns="0" tIns="12065" rIns="0" bIns="0" rtlCol="0">
            <a:spAutoFit/>
          </a:bodyPr>
          <a:lstStyle/>
          <a:p>
            <a:pPr marL="38100">
              <a:lnSpc>
                <a:spcPct val="100000"/>
              </a:lnSpc>
              <a:spcBef>
                <a:spcPts val="95"/>
              </a:spcBef>
            </a:pPr>
            <a:r>
              <a:rPr sz="1000" b="1" spc="-5" dirty="0">
                <a:solidFill>
                  <a:srgbClr val="FFFFFF"/>
                </a:solidFill>
                <a:latin typeface="Arial"/>
                <a:cs typeface="Arial"/>
              </a:rPr>
              <a:t>20-25</a:t>
            </a:r>
            <a:r>
              <a:rPr sz="975" b="1" spc="-7" baseline="25641" dirty="0">
                <a:solidFill>
                  <a:srgbClr val="FFFFFF"/>
                </a:solidFill>
                <a:latin typeface="Arial"/>
                <a:cs typeface="Arial"/>
              </a:rPr>
              <a:t>3</a:t>
            </a:r>
            <a:r>
              <a:rPr sz="1000" b="1" spc="-5" dirty="0">
                <a:solidFill>
                  <a:srgbClr val="FFFFFF"/>
                </a:solidFill>
                <a:latin typeface="Arial"/>
                <a:cs typeface="Arial"/>
              </a:rPr>
              <a:t>%</a:t>
            </a:r>
            <a:endParaRPr sz="1000">
              <a:latin typeface="Arial"/>
              <a:cs typeface="Arial"/>
            </a:endParaRPr>
          </a:p>
        </p:txBody>
      </p:sp>
      <p:sp>
        <p:nvSpPr>
          <p:cNvPr id="100" name="object 100"/>
          <p:cNvSpPr txBox="1"/>
          <p:nvPr/>
        </p:nvSpPr>
        <p:spPr>
          <a:xfrm>
            <a:off x="8092567" y="5106670"/>
            <a:ext cx="817244" cy="391160"/>
          </a:xfrm>
          <a:prstGeom prst="rect">
            <a:avLst/>
          </a:prstGeom>
        </p:spPr>
        <p:txBody>
          <a:bodyPr vert="horz" wrap="square" lIns="0" tIns="12700" rIns="0" bIns="0" rtlCol="0">
            <a:spAutoFit/>
          </a:bodyPr>
          <a:lstStyle/>
          <a:p>
            <a:pPr marL="12700" marR="5080">
              <a:lnSpc>
                <a:spcPct val="100000"/>
              </a:lnSpc>
              <a:spcBef>
                <a:spcPts val="100"/>
              </a:spcBef>
            </a:pPr>
            <a:r>
              <a:rPr sz="1200" b="1" dirty="0">
                <a:latin typeface="Arial"/>
                <a:cs typeface="Arial"/>
              </a:rPr>
              <a:t>Leasing  Opex/</a:t>
            </a:r>
            <a:r>
              <a:rPr sz="1200" b="1" spc="-85" dirty="0">
                <a:latin typeface="Arial"/>
                <a:cs typeface="Arial"/>
              </a:rPr>
              <a:t> </a:t>
            </a:r>
            <a:r>
              <a:rPr sz="1200" b="1" spc="-20" dirty="0">
                <a:latin typeface="Arial"/>
                <a:cs typeface="Arial"/>
              </a:rPr>
              <a:t>RAR</a:t>
            </a:r>
            <a:endParaRPr sz="1200">
              <a:latin typeface="Arial"/>
              <a:cs typeface="Arial"/>
            </a:endParaRPr>
          </a:p>
        </p:txBody>
      </p:sp>
      <p:sp>
        <p:nvSpPr>
          <p:cNvPr id="101" name="object 101"/>
          <p:cNvSpPr/>
          <p:nvPr/>
        </p:nvSpPr>
        <p:spPr>
          <a:xfrm>
            <a:off x="10311383" y="5156453"/>
            <a:ext cx="517525" cy="318135"/>
          </a:xfrm>
          <a:custGeom>
            <a:avLst/>
            <a:gdLst/>
            <a:ahLst/>
            <a:cxnLst/>
            <a:rect l="l" t="t" r="r" b="b"/>
            <a:pathLst>
              <a:path w="517525" h="318135">
                <a:moveTo>
                  <a:pt x="258699" y="0"/>
                </a:moveTo>
                <a:lnTo>
                  <a:pt x="199381" y="4202"/>
                </a:lnTo>
                <a:lnTo>
                  <a:pt x="144929" y="16171"/>
                </a:lnTo>
                <a:lnTo>
                  <a:pt x="96896" y="34949"/>
                </a:lnTo>
                <a:lnTo>
                  <a:pt x="56833" y="59579"/>
                </a:lnTo>
                <a:lnTo>
                  <a:pt x="26294" y="89103"/>
                </a:lnTo>
                <a:lnTo>
                  <a:pt x="6832" y="122564"/>
                </a:lnTo>
                <a:lnTo>
                  <a:pt x="0" y="159004"/>
                </a:lnTo>
                <a:lnTo>
                  <a:pt x="6832" y="195490"/>
                </a:lnTo>
                <a:lnTo>
                  <a:pt x="26294" y="228985"/>
                </a:lnTo>
                <a:lnTo>
                  <a:pt x="56833" y="258531"/>
                </a:lnTo>
                <a:lnTo>
                  <a:pt x="96896" y="283175"/>
                </a:lnTo>
                <a:lnTo>
                  <a:pt x="144929" y="301960"/>
                </a:lnTo>
                <a:lnTo>
                  <a:pt x="199381" y="313932"/>
                </a:lnTo>
                <a:lnTo>
                  <a:pt x="258699" y="318135"/>
                </a:lnTo>
                <a:lnTo>
                  <a:pt x="318016" y="313932"/>
                </a:lnTo>
                <a:lnTo>
                  <a:pt x="372468" y="301960"/>
                </a:lnTo>
                <a:lnTo>
                  <a:pt x="420501" y="283175"/>
                </a:lnTo>
                <a:lnTo>
                  <a:pt x="460564" y="258531"/>
                </a:lnTo>
                <a:lnTo>
                  <a:pt x="491103" y="228985"/>
                </a:lnTo>
                <a:lnTo>
                  <a:pt x="510565" y="195490"/>
                </a:lnTo>
                <a:lnTo>
                  <a:pt x="517398" y="159004"/>
                </a:lnTo>
                <a:lnTo>
                  <a:pt x="510565" y="122564"/>
                </a:lnTo>
                <a:lnTo>
                  <a:pt x="491103" y="89103"/>
                </a:lnTo>
                <a:lnTo>
                  <a:pt x="460564" y="59579"/>
                </a:lnTo>
                <a:lnTo>
                  <a:pt x="420501" y="34949"/>
                </a:lnTo>
                <a:lnTo>
                  <a:pt x="372468" y="16171"/>
                </a:lnTo>
                <a:lnTo>
                  <a:pt x="318016" y="4202"/>
                </a:lnTo>
                <a:lnTo>
                  <a:pt x="258699" y="0"/>
                </a:lnTo>
                <a:close/>
              </a:path>
            </a:pathLst>
          </a:custGeom>
          <a:solidFill>
            <a:srgbClr val="2151FF"/>
          </a:solidFill>
        </p:spPr>
        <p:txBody>
          <a:bodyPr wrap="square" lIns="0" tIns="0" rIns="0" bIns="0" rtlCol="0"/>
          <a:lstStyle/>
          <a:p>
            <a:endParaRPr/>
          </a:p>
        </p:txBody>
      </p:sp>
      <p:sp>
        <p:nvSpPr>
          <p:cNvPr id="102" name="object 102"/>
          <p:cNvSpPr txBox="1"/>
          <p:nvPr/>
        </p:nvSpPr>
        <p:spPr>
          <a:xfrm>
            <a:off x="10432542" y="5224652"/>
            <a:ext cx="278130" cy="177800"/>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FFFFFF"/>
                </a:solidFill>
                <a:latin typeface="Arial"/>
                <a:cs typeface="Arial"/>
              </a:rPr>
              <a:t>25%</a:t>
            </a:r>
            <a:endParaRPr sz="1000">
              <a:latin typeface="Arial"/>
              <a:cs typeface="Arial"/>
            </a:endParaRPr>
          </a:p>
        </p:txBody>
      </p:sp>
      <p:sp>
        <p:nvSpPr>
          <p:cNvPr id="103" name="object 103"/>
          <p:cNvSpPr/>
          <p:nvPr/>
        </p:nvSpPr>
        <p:spPr>
          <a:xfrm>
            <a:off x="9036684" y="5156453"/>
            <a:ext cx="517525" cy="318135"/>
          </a:xfrm>
          <a:custGeom>
            <a:avLst/>
            <a:gdLst/>
            <a:ahLst/>
            <a:cxnLst/>
            <a:rect l="l" t="t" r="r" b="b"/>
            <a:pathLst>
              <a:path w="517525" h="318135">
                <a:moveTo>
                  <a:pt x="258699" y="0"/>
                </a:moveTo>
                <a:lnTo>
                  <a:pt x="199381" y="4202"/>
                </a:lnTo>
                <a:lnTo>
                  <a:pt x="144929" y="16171"/>
                </a:lnTo>
                <a:lnTo>
                  <a:pt x="96896" y="34949"/>
                </a:lnTo>
                <a:lnTo>
                  <a:pt x="56833" y="59579"/>
                </a:lnTo>
                <a:lnTo>
                  <a:pt x="26294" y="89103"/>
                </a:lnTo>
                <a:lnTo>
                  <a:pt x="6832" y="122564"/>
                </a:lnTo>
                <a:lnTo>
                  <a:pt x="0" y="159004"/>
                </a:lnTo>
                <a:lnTo>
                  <a:pt x="6832" y="195490"/>
                </a:lnTo>
                <a:lnTo>
                  <a:pt x="26294" y="228985"/>
                </a:lnTo>
                <a:lnTo>
                  <a:pt x="56833" y="258531"/>
                </a:lnTo>
                <a:lnTo>
                  <a:pt x="96896" y="283175"/>
                </a:lnTo>
                <a:lnTo>
                  <a:pt x="144929" y="301960"/>
                </a:lnTo>
                <a:lnTo>
                  <a:pt x="199381" y="313932"/>
                </a:lnTo>
                <a:lnTo>
                  <a:pt x="258699" y="318135"/>
                </a:lnTo>
                <a:lnTo>
                  <a:pt x="318016" y="313932"/>
                </a:lnTo>
                <a:lnTo>
                  <a:pt x="372468" y="301960"/>
                </a:lnTo>
                <a:lnTo>
                  <a:pt x="420501" y="283175"/>
                </a:lnTo>
                <a:lnTo>
                  <a:pt x="460564" y="258531"/>
                </a:lnTo>
                <a:lnTo>
                  <a:pt x="491103" y="228985"/>
                </a:lnTo>
                <a:lnTo>
                  <a:pt x="510565" y="195490"/>
                </a:lnTo>
                <a:lnTo>
                  <a:pt x="517398" y="159004"/>
                </a:lnTo>
                <a:lnTo>
                  <a:pt x="510565" y="122564"/>
                </a:lnTo>
                <a:lnTo>
                  <a:pt x="491103" y="89103"/>
                </a:lnTo>
                <a:lnTo>
                  <a:pt x="460564" y="59579"/>
                </a:lnTo>
                <a:lnTo>
                  <a:pt x="420501" y="34949"/>
                </a:lnTo>
                <a:lnTo>
                  <a:pt x="372468" y="16171"/>
                </a:lnTo>
                <a:lnTo>
                  <a:pt x="318016" y="4202"/>
                </a:lnTo>
                <a:lnTo>
                  <a:pt x="258699" y="0"/>
                </a:lnTo>
                <a:close/>
              </a:path>
            </a:pathLst>
          </a:custGeom>
          <a:solidFill>
            <a:srgbClr val="2151FF"/>
          </a:solidFill>
        </p:spPr>
        <p:txBody>
          <a:bodyPr wrap="square" lIns="0" tIns="0" rIns="0" bIns="0" rtlCol="0"/>
          <a:lstStyle/>
          <a:p>
            <a:endParaRPr/>
          </a:p>
        </p:txBody>
      </p:sp>
      <p:sp>
        <p:nvSpPr>
          <p:cNvPr id="104" name="object 104"/>
          <p:cNvSpPr txBox="1"/>
          <p:nvPr/>
        </p:nvSpPr>
        <p:spPr>
          <a:xfrm>
            <a:off x="9192894" y="5224652"/>
            <a:ext cx="208915"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FFFFFF"/>
                </a:solidFill>
                <a:latin typeface="Arial"/>
                <a:cs typeface="Arial"/>
              </a:rPr>
              <a:t>n.a</a:t>
            </a:r>
            <a:endParaRPr sz="1000">
              <a:latin typeface="Arial"/>
              <a:cs typeface="Arial"/>
            </a:endParaRPr>
          </a:p>
        </p:txBody>
      </p:sp>
      <p:sp>
        <p:nvSpPr>
          <p:cNvPr id="105" name="object 105"/>
          <p:cNvSpPr txBox="1"/>
          <p:nvPr/>
        </p:nvSpPr>
        <p:spPr>
          <a:xfrm>
            <a:off x="541426" y="6417970"/>
            <a:ext cx="3244215" cy="391795"/>
          </a:xfrm>
          <a:prstGeom prst="rect">
            <a:avLst/>
          </a:prstGeom>
        </p:spPr>
        <p:txBody>
          <a:bodyPr vert="horz" wrap="square" lIns="0" tIns="12700" rIns="0" bIns="0" rtlCol="0">
            <a:spAutoFit/>
          </a:bodyPr>
          <a:lstStyle/>
          <a:p>
            <a:pPr marL="226060" indent="-213360">
              <a:lnSpc>
                <a:spcPct val="100000"/>
              </a:lnSpc>
              <a:spcBef>
                <a:spcPts val="100"/>
              </a:spcBef>
              <a:buAutoNum type="arabicPeriod"/>
              <a:tabLst>
                <a:tab pos="225425" algn="l"/>
                <a:tab pos="226060" algn="l"/>
              </a:tabLst>
            </a:pPr>
            <a:r>
              <a:rPr sz="800" dirty="0">
                <a:latin typeface="Arial"/>
                <a:cs typeface="Arial"/>
              </a:rPr>
              <a:t>Weighted </a:t>
            </a:r>
            <a:r>
              <a:rPr sz="800" spc="-5" dirty="0">
                <a:latin typeface="Arial"/>
                <a:cs typeface="Arial"/>
              </a:rPr>
              <a:t>average of financial and operating</a:t>
            </a:r>
            <a:r>
              <a:rPr sz="800" spc="70" dirty="0">
                <a:latin typeface="Arial"/>
                <a:cs typeface="Arial"/>
              </a:rPr>
              <a:t> </a:t>
            </a:r>
            <a:r>
              <a:rPr sz="800" spc="-5" dirty="0">
                <a:latin typeface="Arial"/>
                <a:cs typeface="Arial"/>
              </a:rPr>
              <a:t>leasing</a:t>
            </a:r>
            <a:endParaRPr sz="800">
              <a:latin typeface="Arial"/>
              <a:cs typeface="Arial"/>
            </a:endParaRPr>
          </a:p>
          <a:p>
            <a:pPr marL="226060" indent="-213360">
              <a:lnSpc>
                <a:spcPct val="100000"/>
              </a:lnSpc>
              <a:spcBef>
                <a:spcPts val="5"/>
              </a:spcBef>
              <a:buAutoNum type="arabicPeriod"/>
              <a:tabLst>
                <a:tab pos="225425" algn="l"/>
                <a:tab pos="226060" algn="l"/>
              </a:tabLst>
            </a:pPr>
            <a:r>
              <a:rPr sz="800" dirty="0">
                <a:latin typeface="Arial"/>
                <a:cs typeface="Arial"/>
              </a:rPr>
              <a:t>Weighted </a:t>
            </a:r>
            <a:r>
              <a:rPr sz="800" spc="-5" dirty="0">
                <a:latin typeface="Arial"/>
                <a:cs typeface="Arial"/>
              </a:rPr>
              <a:t>average of new auto loan, used auto loan and </a:t>
            </a:r>
            <a:r>
              <a:rPr sz="800" dirty="0">
                <a:latin typeface="Arial"/>
                <a:cs typeface="Arial"/>
              </a:rPr>
              <a:t>cash</a:t>
            </a:r>
            <a:r>
              <a:rPr sz="800" spc="185" dirty="0">
                <a:latin typeface="Arial"/>
                <a:cs typeface="Arial"/>
              </a:rPr>
              <a:t> </a:t>
            </a:r>
            <a:r>
              <a:rPr sz="800" spc="-5" dirty="0">
                <a:latin typeface="Arial"/>
                <a:cs typeface="Arial"/>
              </a:rPr>
              <a:t>loan</a:t>
            </a:r>
            <a:endParaRPr sz="800">
              <a:latin typeface="Arial"/>
              <a:cs typeface="Arial"/>
            </a:endParaRPr>
          </a:p>
          <a:p>
            <a:pPr marL="226060" indent="-213360">
              <a:lnSpc>
                <a:spcPct val="100000"/>
              </a:lnSpc>
              <a:buAutoNum type="arabicPeriod"/>
              <a:tabLst>
                <a:tab pos="225425" algn="l"/>
                <a:tab pos="226060" algn="l"/>
              </a:tabLst>
            </a:pPr>
            <a:r>
              <a:rPr sz="800" spc="-5" dirty="0">
                <a:latin typeface="Arial"/>
                <a:cs typeface="Arial"/>
              </a:rPr>
              <a:t>Not including </a:t>
            </a:r>
            <a:r>
              <a:rPr sz="800" dirty="0">
                <a:latin typeface="Arial"/>
                <a:cs typeface="Arial"/>
              </a:rPr>
              <a:t>B2B</a:t>
            </a:r>
            <a:r>
              <a:rPr sz="800" spc="15" dirty="0">
                <a:latin typeface="Arial"/>
                <a:cs typeface="Arial"/>
              </a:rPr>
              <a:t> </a:t>
            </a:r>
            <a:r>
              <a:rPr sz="800" spc="-5" dirty="0">
                <a:latin typeface="Arial"/>
                <a:cs typeface="Arial"/>
              </a:rPr>
              <a:t>financing</a:t>
            </a:r>
            <a:endParaRPr sz="800">
              <a:latin typeface="Arial"/>
              <a:cs typeface="Arial"/>
            </a:endParaRPr>
          </a:p>
        </p:txBody>
      </p:sp>
      <p:sp>
        <p:nvSpPr>
          <p:cNvPr id="106" name="object 106"/>
          <p:cNvSpPr txBox="1"/>
          <p:nvPr/>
        </p:nvSpPr>
        <p:spPr>
          <a:xfrm>
            <a:off x="542036" y="5633720"/>
            <a:ext cx="1111250" cy="391160"/>
          </a:xfrm>
          <a:prstGeom prst="rect">
            <a:avLst/>
          </a:prstGeom>
        </p:spPr>
        <p:txBody>
          <a:bodyPr vert="horz" wrap="square" lIns="0" tIns="12700" rIns="0" bIns="0" rtlCol="0">
            <a:spAutoFit/>
          </a:bodyPr>
          <a:lstStyle/>
          <a:p>
            <a:pPr marL="12700" marR="5080">
              <a:lnSpc>
                <a:spcPct val="100000"/>
              </a:lnSpc>
              <a:spcBef>
                <a:spcPts val="100"/>
              </a:spcBef>
            </a:pPr>
            <a:r>
              <a:rPr sz="1200" b="1" spc="-5" dirty="0">
                <a:latin typeface="Arial"/>
                <a:cs typeface="Arial"/>
              </a:rPr>
              <a:t>Cash </a:t>
            </a:r>
            <a:r>
              <a:rPr sz="1200" b="1" dirty="0">
                <a:latin typeface="Arial"/>
                <a:cs typeface="Arial"/>
              </a:rPr>
              <a:t>loan</a:t>
            </a:r>
            <a:r>
              <a:rPr sz="1200" b="1" spc="-80" dirty="0">
                <a:latin typeface="Arial"/>
                <a:cs typeface="Arial"/>
              </a:rPr>
              <a:t> </a:t>
            </a:r>
            <a:r>
              <a:rPr sz="1200" b="1" spc="-5" dirty="0">
                <a:latin typeface="Arial"/>
                <a:cs typeface="Arial"/>
              </a:rPr>
              <a:t>cars  </a:t>
            </a:r>
            <a:r>
              <a:rPr sz="1200" b="1" dirty="0">
                <a:latin typeface="Arial"/>
                <a:cs typeface="Arial"/>
              </a:rPr>
              <a:t>financed</a:t>
            </a:r>
            <a:r>
              <a:rPr sz="1200" b="1" spc="-20" dirty="0">
                <a:latin typeface="Arial"/>
                <a:cs typeface="Arial"/>
              </a:rPr>
              <a:t> </a:t>
            </a:r>
            <a:r>
              <a:rPr sz="1200" dirty="0">
                <a:latin typeface="Arial"/>
                <a:cs typeface="Arial"/>
              </a:rPr>
              <a:t>(k#)</a:t>
            </a:r>
            <a:endParaRPr sz="1200">
              <a:latin typeface="Arial"/>
              <a:cs typeface="Arial"/>
            </a:endParaRPr>
          </a:p>
        </p:txBody>
      </p:sp>
      <p:sp>
        <p:nvSpPr>
          <p:cNvPr id="107" name="object 107"/>
          <p:cNvSpPr/>
          <p:nvPr/>
        </p:nvSpPr>
        <p:spPr>
          <a:xfrm>
            <a:off x="554736" y="5578475"/>
            <a:ext cx="10461625" cy="0"/>
          </a:xfrm>
          <a:custGeom>
            <a:avLst/>
            <a:gdLst/>
            <a:ahLst/>
            <a:cxnLst/>
            <a:rect l="l" t="t" r="r" b="b"/>
            <a:pathLst>
              <a:path w="10461625">
                <a:moveTo>
                  <a:pt x="0" y="0"/>
                </a:moveTo>
                <a:lnTo>
                  <a:pt x="10461625" y="0"/>
                </a:lnTo>
              </a:path>
            </a:pathLst>
          </a:custGeom>
          <a:ln w="6350">
            <a:solidFill>
              <a:srgbClr val="757575"/>
            </a:solidFill>
          </a:ln>
        </p:spPr>
        <p:txBody>
          <a:bodyPr wrap="square" lIns="0" tIns="0" rIns="0" bIns="0" rtlCol="0"/>
          <a:lstStyle/>
          <a:p>
            <a:endParaRPr/>
          </a:p>
        </p:txBody>
      </p:sp>
      <p:sp>
        <p:nvSpPr>
          <p:cNvPr id="108" name="object 108"/>
          <p:cNvSpPr/>
          <p:nvPr/>
        </p:nvSpPr>
        <p:spPr>
          <a:xfrm>
            <a:off x="2085213" y="5146675"/>
            <a:ext cx="485140" cy="263525"/>
          </a:xfrm>
          <a:custGeom>
            <a:avLst/>
            <a:gdLst/>
            <a:ahLst/>
            <a:cxnLst/>
            <a:rect l="l" t="t" r="r" b="b"/>
            <a:pathLst>
              <a:path w="485139" h="263525">
                <a:moveTo>
                  <a:pt x="242316" y="0"/>
                </a:moveTo>
                <a:lnTo>
                  <a:pt x="177888" y="4710"/>
                </a:lnTo>
                <a:lnTo>
                  <a:pt x="120000" y="18001"/>
                </a:lnTo>
                <a:lnTo>
                  <a:pt x="70961" y="38607"/>
                </a:lnTo>
                <a:lnTo>
                  <a:pt x="33076" y="65268"/>
                </a:lnTo>
                <a:lnTo>
                  <a:pt x="8653" y="96719"/>
                </a:lnTo>
                <a:lnTo>
                  <a:pt x="0" y="131699"/>
                </a:lnTo>
                <a:lnTo>
                  <a:pt x="8653" y="166731"/>
                </a:lnTo>
                <a:lnTo>
                  <a:pt x="33076" y="198218"/>
                </a:lnTo>
                <a:lnTo>
                  <a:pt x="70961" y="224901"/>
                </a:lnTo>
                <a:lnTo>
                  <a:pt x="120000" y="245519"/>
                </a:lnTo>
                <a:lnTo>
                  <a:pt x="177888" y="258813"/>
                </a:lnTo>
                <a:lnTo>
                  <a:pt x="242316" y="263525"/>
                </a:lnTo>
                <a:lnTo>
                  <a:pt x="306743" y="258813"/>
                </a:lnTo>
                <a:lnTo>
                  <a:pt x="364631" y="245519"/>
                </a:lnTo>
                <a:lnTo>
                  <a:pt x="413670" y="224901"/>
                </a:lnTo>
                <a:lnTo>
                  <a:pt x="451555" y="198218"/>
                </a:lnTo>
                <a:lnTo>
                  <a:pt x="475978" y="166731"/>
                </a:lnTo>
                <a:lnTo>
                  <a:pt x="484631" y="131699"/>
                </a:lnTo>
                <a:lnTo>
                  <a:pt x="475978" y="96719"/>
                </a:lnTo>
                <a:lnTo>
                  <a:pt x="451555" y="65268"/>
                </a:lnTo>
                <a:lnTo>
                  <a:pt x="413670" y="38607"/>
                </a:lnTo>
                <a:lnTo>
                  <a:pt x="364631" y="18001"/>
                </a:lnTo>
                <a:lnTo>
                  <a:pt x="306743" y="4710"/>
                </a:lnTo>
                <a:lnTo>
                  <a:pt x="242316" y="0"/>
                </a:lnTo>
                <a:close/>
              </a:path>
            </a:pathLst>
          </a:custGeom>
          <a:solidFill>
            <a:srgbClr val="2151FF"/>
          </a:solidFill>
        </p:spPr>
        <p:txBody>
          <a:bodyPr wrap="square" lIns="0" tIns="0" rIns="0" bIns="0" rtlCol="0"/>
          <a:lstStyle/>
          <a:p>
            <a:endParaRPr/>
          </a:p>
        </p:txBody>
      </p:sp>
      <p:sp>
        <p:nvSpPr>
          <p:cNvPr id="109" name="object 109"/>
          <p:cNvSpPr txBox="1"/>
          <p:nvPr/>
        </p:nvSpPr>
        <p:spPr>
          <a:xfrm>
            <a:off x="2208402" y="5187441"/>
            <a:ext cx="239395" cy="177800"/>
          </a:xfrm>
          <a:prstGeom prst="rect">
            <a:avLst/>
          </a:prstGeom>
        </p:spPr>
        <p:txBody>
          <a:bodyPr vert="horz" wrap="square" lIns="0" tIns="12065" rIns="0" bIns="0" rtlCol="0">
            <a:spAutoFit/>
          </a:bodyPr>
          <a:lstStyle/>
          <a:p>
            <a:pPr marL="12700">
              <a:lnSpc>
                <a:spcPct val="100000"/>
              </a:lnSpc>
              <a:spcBef>
                <a:spcPts val="95"/>
              </a:spcBef>
            </a:pPr>
            <a:r>
              <a:rPr sz="1000" b="1" spc="-15" dirty="0">
                <a:solidFill>
                  <a:srgbClr val="FFFFFF"/>
                </a:solidFill>
                <a:latin typeface="Arial"/>
                <a:cs typeface="Arial"/>
              </a:rPr>
              <a:t>~</a:t>
            </a:r>
            <a:r>
              <a:rPr sz="1000" b="1" spc="-10" dirty="0">
                <a:solidFill>
                  <a:srgbClr val="FFFFFF"/>
                </a:solidFill>
                <a:latin typeface="Arial"/>
                <a:cs typeface="Arial"/>
              </a:rPr>
              <a:t>10</a:t>
            </a:r>
            <a:endParaRPr sz="1000">
              <a:latin typeface="Arial"/>
              <a:cs typeface="Arial"/>
            </a:endParaRPr>
          </a:p>
        </p:txBody>
      </p:sp>
      <p:sp>
        <p:nvSpPr>
          <p:cNvPr id="110" name="object 110"/>
          <p:cNvSpPr/>
          <p:nvPr/>
        </p:nvSpPr>
        <p:spPr>
          <a:xfrm>
            <a:off x="3588258" y="5251450"/>
            <a:ext cx="485140" cy="263525"/>
          </a:xfrm>
          <a:custGeom>
            <a:avLst/>
            <a:gdLst/>
            <a:ahLst/>
            <a:cxnLst/>
            <a:rect l="l" t="t" r="r" b="b"/>
            <a:pathLst>
              <a:path w="485139" h="263525">
                <a:moveTo>
                  <a:pt x="242315" y="0"/>
                </a:moveTo>
                <a:lnTo>
                  <a:pt x="177888" y="4710"/>
                </a:lnTo>
                <a:lnTo>
                  <a:pt x="120000" y="18001"/>
                </a:lnTo>
                <a:lnTo>
                  <a:pt x="70961" y="38608"/>
                </a:lnTo>
                <a:lnTo>
                  <a:pt x="33076" y="65268"/>
                </a:lnTo>
                <a:lnTo>
                  <a:pt x="8653" y="96719"/>
                </a:lnTo>
                <a:lnTo>
                  <a:pt x="0" y="131699"/>
                </a:lnTo>
                <a:lnTo>
                  <a:pt x="8653" y="166731"/>
                </a:lnTo>
                <a:lnTo>
                  <a:pt x="33076" y="198218"/>
                </a:lnTo>
                <a:lnTo>
                  <a:pt x="70961" y="224901"/>
                </a:lnTo>
                <a:lnTo>
                  <a:pt x="120000" y="245519"/>
                </a:lnTo>
                <a:lnTo>
                  <a:pt x="177888" y="258813"/>
                </a:lnTo>
                <a:lnTo>
                  <a:pt x="242315" y="263525"/>
                </a:lnTo>
                <a:lnTo>
                  <a:pt x="306699" y="258813"/>
                </a:lnTo>
                <a:lnTo>
                  <a:pt x="364574" y="245519"/>
                </a:lnTo>
                <a:lnTo>
                  <a:pt x="413623" y="224901"/>
                </a:lnTo>
                <a:lnTo>
                  <a:pt x="451527" y="198218"/>
                </a:lnTo>
                <a:lnTo>
                  <a:pt x="475969" y="166731"/>
                </a:lnTo>
                <a:lnTo>
                  <a:pt x="484631" y="131699"/>
                </a:lnTo>
                <a:lnTo>
                  <a:pt x="475969" y="96719"/>
                </a:lnTo>
                <a:lnTo>
                  <a:pt x="451527" y="65268"/>
                </a:lnTo>
                <a:lnTo>
                  <a:pt x="413623" y="38608"/>
                </a:lnTo>
                <a:lnTo>
                  <a:pt x="364574" y="18001"/>
                </a:lnTo>
                <a:lnTo>
                  <a:pt x="306699" y="4710"/>
                </a:lnTo>
                <a:lnTo>
                  <a:pt x="242315" y="0"/>
                </a:lnTo>
                <a:close/>
              </a:path>
            </a:pathLst>
          </a:custGeom>
          <a:solidFill>
            <a:srgbClr val="00A9F4"/>
          </a:solidFill>
        </p:spPr>
        <p:txBody>
          <a:bodyPr wrap="square" lIns="0" tIns="0" rIns="0" bIns="0" rtlCol="0"/>
          <a:lstStyle/>
          <a:p>
            <a:endParaRPr/>
          </a:p>
        </p:txBody>
      </p:sp>
      <p:sp>
        <p:nvSpPr>
          <p:cNvPr id="111" name="object 111"/>
          <p:cNvSpPr txBox="1"/>
          <p:nvPr/>
        </p:nvSpPr>
        <p:spPr>
          <a:xfrm>
            <a:off x="3711702" y="5292344"/>
            <a:ext cx="238760" cy="177800"/>
          </a:xfrm>
          <a:prstGeom prst="rect">
            <a:avLst/>
          </a:prstGeom>
        </p:spPr>
        <p:txBody>
          <a:bodyPr vert="horz" wrap="square" lIns="0" tIns="12065" rIns="0" bIns="0" rtlCol="0">
            <a:spAutoFit/>
          </a:bodyPr>
          <a:lstStyle/>
          <a:p>
            <a:pPr marL="12700">
              <a:lnSpc>
                <a:spcPct val="100000"/>
              </a:lnSpc>
              <a:spcBef>
                <a:spcPts val="95"/>
              </a:spcBef>
            </a:pPr>
            <a:r>
              <a:rPr sz="1000" b="1" spc="-15" dirty="0">
                <a:solidFill>
                  <a:srgbClr val="FFFFFF"/>
                </a:solidFill>
                <a:latin typeface="Arial"/>
                <a:cs typeface="Arial"/>
              </a:rPr>
              <a:t>~</a:t>
            </a:r>
            <a:r>
              <a:rPr sz="1000" b="1" spc="-10" dirty="0">
                <a:solidFill>
                  <a:srgbClr val="FFFFFF"/>
                </a:solidFill>
                <a:latin typeface="Arial"/>
                <a:cs typeface="Arial"/>
              </a:rPr>
              <a:t>10</a:t>
            </a:r>
            <a:endParaRPr sz="1000">
              <a:latin typeface="Arial"/>
              <a:cs typeface="Arial"/>
            </a:endParaRPr>
          </a:p>
        </p:txBody>
      </p:sp>
      <p:sp>
        <p:nvSpPr>
          <p:cNvPr id="112" name="object 112"/>
          <p:cNvSpPr/>
          <p:nvPr/>
        </p:nvSpPr>
        <p:spPr>
          <a:xfrm>
            <a:off x="3495040" y="5702300"/>
            <a:ext cx="485140" cy="263525"/>
          </a:xfrm>
          <a:custGeom>
            <a:avLst/>
            <a:gdLst/>
            <a:ahLst/>
            <a:cxnLst/>
            <a:rect l="l" t="t" r="r" b="b"/>
            <a:pathLst>
              <a:path w="485139" h="263525">
                <a:moveTo>
                  <a:pt x="242315" y="0"/>
                </a:moveTo>
                <a:lnTo>
                  <a:pt x="177888" y="4706"/>
                </a:lnTo>
                <a:lnTo>
                  <a:pt x="120000" y="17989"/>
                </a:lnTo>
                <a:lnTo>
                  <a:pt x="70961" y="38592"/>
                </a:lnTo>
                <a:lnTo>
                  <a:pt x="33076" y="65259"/>
                </a:lnTo>
                <a:lnTo>
                  <a:pt x="8653" y="96734"/>
                </a:lnTo>
                <a:lnTo>
                  <a:pt x="0" y="131762"/>
                </a:lnTo>
                <a:lnTo>
                  <a:pt x="8653" y="166790"/>
                </a:lnTo>
                <a:lnTo>
                  <a:pt x="33076" y="198265"/>
                </a:lnTo>
                <a:lnTo>
                  <a:pt x="70961" y="224932"/>
                </a:lnTo>
                <a:lnTo>
                  <a:pt x="120000" y="245535"/>
                </a:lnTo>
                <a:lnTo>
                  <a:pt x="177888" y="258818"/>
                </a:lnTo>
                <a:lnTo>
                  <a:pt x="242315" y="263525"/>
                </a:lnTo>
                <a:lnTo>
                  <a:pt x="306743" y="258818"/>
                </a:lnTo>
                <a:lnTo>
                  <a:pt x="364631" y="245535"/>
                </a:lnTo>
                <a:lnTo>
                  <a:pt x="413670" y="224932"/>
                </a:lnTo>
                <a:lnTo>
                  <a:pt x="451555" y="198265"/>
                </a:lnTo>
                <a:lnTo>
                  <a:pt x="475978" y="166790"/>
                </a:lnTo>
                <a:lnTo>
                  <a:pt x="484632" y="131762"/>
                </a:lnTo>
                <a:lnTo>
                  <a:pt x="475978" y="96734"/>
                </a:lnTo>
                <a:lnTo>
                  <a:pt x="451555" y="65259"/>
                </a:lnTo>
                <a:lnTo>
                  <a:pt x="413670" y="38592"/>
                </a:lnTo>
                <a:lnTo>
                  <a:pt x="364631" y="17989"/>
                </a:lnTo>
                <a:lnTo>
                  <a:pt x="306743" y="4706"/>
                </a:lnTo>
                <a:lnTo>
                  <a:pt x="242315" y="0"/>
                </a:lnTo>
                <a:close/>
              </a:path>
            </a:pathLst>
          </a:custGeom>
          <a:solidFill>
            <a:srgbClr val="99E6FF"/>
          </a:solidFill>
        </p:spPr>
        <p:txBody>
          <a:bodyPr wrap="square" lIns="0" tIns="0" rIns="0" bIns="0" rtlCol="0"/>
          <a:lstStyle/>
          <a:p>
            <a:endParaRPr/>
          </a:p>
        </p:txBody>
      </p:sp>
      <p:sp>
        <p:nvSpPr>
          <p:cNvPr id="113" name="object 113"/>
          <p:cNvSpPr txBox="1"/>
          <p:nvPr/>
        </p:nvSpPr>
        <p:spPr>
          <a:xfrm>
            <a:off x="3618357" y="5743143"/>
            <a:ext cx="239395" cy="177800"/>
          </a:xfrm>
          <a:prstGeom prst="rect">
            <a:avLst/>
          </a:prstGeom>
        </p:spPr>
        <p:txBody>
          <a:bodyPr vert="horz" wrap="square" lIns="0" tIns="12065" rIns="0" bIns="0" rtlCol="0">
            <a:spAutoFit/>
          </a:bodyPr>
          <a:lstStyle/>
          <a:p>
            <a:pPr marL="12700">
              <a:lnSpc>
                <a:spcPct val="100000"/>
              </a:lnSpc>
              <a:spcBef>
                <a:spcPts val="95"/>
              </a:spcBef>
            </a:pPr>
            <a:r>
              <a:rPr sz="1000" b="1" spc="-15" dirty="0">
                <a:latin typeface="Arial"/>
                <a:cs typeface="Arial"/>
              </a:rPr>
              <a:t>~</a:t>
            </a:r>
            <a:r>
              <a:rPr sz="1000" b="1" spc="-10" dirty="0">
                <a:latin typeface="Arial"/>
                <a:cs typeface="Arial"/>
              </a:rPr>
              <a:t>10</a:t>
            </a:r>
            <a:endParaRPr sz="1000">
              <a:latin typeface="Arial"/>
              <a:cs typeface="Arial"/>
            </a:endParaRPr>
          </a:p>
        </p:txBody>
      </p:sp>
      <p:sp>
        <p:nvSpPr>
          <p:cNvPr id="114" name="object 114"/>
          <p:cNvSpPr/>
          <p:nvPr/>
        </p:nvSpPr>
        <p:spPr>
          <a:xfrm>
            <a:off x="3307207" y="5146675"/>
            <a:ext cx="485140" cy="263525"/>
          </a:xfrm>
          <a:custGeom>
            <a:avLst/>
            <a:gdLst/>
            <a:ahLst/>
            <a:cxnLst/>
            <a:rect l="l" t="t" r="r" b="b"/>
            <a:pathLst>
              <a:path w="485139" h="263525">
                <a:moveTo>
                  <a:pt x="242315" y="0"/>
                </a:moveTo>
                <a:lnTo>
                  <a:pt x="177888" y="4710"/>
                </a:lnTo>
                <a:lnTo>
                  <a:pt x="120000" y="18001"/>
                </a:lnTo>
                <a:lnTo>
                  <a:pt x="70961" y="38607"/>
                </a:lnTo>
                <a:lnTo>
                  <a:pt x="33076" y="65268"/>
                </a:lnTo>
                <a:lnTo>
                  <a:pt x="8653" y="96719"/>
                </a:lnTo>
                <a:lnTo>
                  <a:pt x="0" y="131699"/>
                </a:lnTo>
                <a:lnTo>
                  <a:pt x="8653" y="166731"/>
                </a:lnTo>
                <a:lnTo>
                  <a:pt x="33076" y="198218"/>
                </a:lnTo>
                <a:lnTo>
                  <a:pt x="70961" y="224901"/>
                </a:lnTo>
                <a:lnTo>
                  <a:pt x="120000" y="245519"/>
                </a:lnTo>
                <a:lnTo>
                  <a:pt x="177888" y="258813"/>
                </a:lnTo>
                <a:lnTo>
                  <a:pt x="242315" y="263525"/>
                </a:lnTo>
                <a:lnTo>
                  <a:pt x="306699" y="258813"/>
                </a:lnTo>
                <a:lnTo>
                  <a:pt x="364574" y="245519"/>
                </a:lnTo>
                <a:lnTo>
                  <a:pt x="413623" y="224901"/>
                </a:lnTo>
                <a:lnTo>
                  <a:pt x="451527" y="198218"/>
                </a:lnTo>
                <a:lnTo>
                  <a:pt x="475969" y="166731"/>
                </a:lnTo>
                <a:lnTo>
                  <a:pt x="484631" y="131699"/>
                </a:lnTo>
                <a:lnTo>
                  <a:pt x="475969" y="96719"/>
                </a:lnTo>
                <a:lnTo>
                  <a:pt x="451527" y="65268"/>
                </a:lnTo>
                <a:lnTo>
                  <a:pt x="413623" y="38607"/>
                </a:lnTo>
                <a:lnTo>
                  <a:pt x="364574" y="18001"/>
                </a:lnTo>
                <a:lnTo>
                  <a:pt x="306699" y="4710"/>
                </a:lnTo>
                <a:lnTo>
                  <a:pt x="242315" y="0"/>
                </a:lnTo>
                <a:close/>
              </a:path>
            </a:pathLst>
          </a:custGeom>
          <a:solidFill>
            <a:srgbClr val="2151FF"/>
          </a:solidFill>
        </p:spPr>
        <p:txBody>
          <a:bodyPr wrap="square" lIns="0" tIns="0" rIns="0" bIns="0" rtlCol="0"/>
          <a:lstStyle/>
          <a:p>
            <a:endParaRPr/>
          </a:p>
        </p:txBody>
      </p:sp>
      <p:sp>
        <p:nvSpPr>
          <p:cNvPr id="115" name="object 115"/>
          <p:cNvSpPr txBox="1"/>
          <p:nvPr/>
        </p:nvSpPr>
        <p:spPr>
          <a:xfrm>
            <a:off x="3430651" y="5187441"/>
            <a:ext cx="239395" cy="177800"/>
          </a:xfrm>
          <a:prstGeom prst="rect">
            <a:avLst/>
          </a:prstGeom>
        </p:spPr>
        <p:txBody>
          <a:bodyPr vert="horz" wrap="square" lIns="0" tIns="12065" rIns="0" bIns="0" rtlCol="0">
            <a:spAutoFit/>
          </a:bodyPr>
          <a:lstStyle/>
          <a:p>
            <a:pPr marL="12700">
              <a:lnSpc>
                <a:spcPct val="100000"/>
              </a:lnSpc>
              <a:spcBef>
                <a:spcPts val="95"/>
              </a:spcBef>
            </a:pPr>
            <a:r>
              <a:rPr sz="1000" b="1" spc="-15" dirty="0">
                <a:solidFill>
                  <a:srgbClr val="FFFFFF"/>
                </a:solidFill>
                <a:latin typeface="Arial"/>
                <a:cs typeface="Arial"/>
              </a:rPr>
              <a:t>~</a:t>
            </a:r>
            <a:r>
              <a:rPr sz="1000" b="1" spc="-10" dirty="0">
                <a:solidFill>
                  <a:srgbClr val="FFFFFF"/>
                </a:solidFill>
                <a:latin typeface="Arial"/>
                <a:cs typeface="Arial"/>
              </a:rPr>
              <a:t>15</a:t>
            </a:r>
            <a:endParaRPr sz="1000">
              <a:latin typeface="Arial"/>
              <a:cs typeface="Arial"/>
            </a:endParaRPr>
          </a:p>
        </p:txBody>
      </p:sp>
      <p:sp>
        <p:nvSpPr>
          <p:cNvPr id="116" name="object 116"/>
          <p:cNvSpPr txBox="1"/>
          <p:nvPr/>
        </p:nvSpPr>
        <p:spPr>
          <a:xfrm>
            <a:off x="4652771" y="5652922"/>
            <a:ext cx="908050" cy="391160"/>
          </a:xfrm>
          <a:prstGeom prst="rect">
            <a:avLst/>
          </a:prstGeom>
        </p:spPr>
        <p:txBody>
          <a:bodyPr vert="horz" wrap="square" lIns="0" tIns="12700" rIns="0" bIns="0" rtlCol="0">
            <a:spAutoFit/>
          </a:bodyPr>
          <a:lstStyle/>
          <a:p>
            <a:pPr marL="38100" marR="30480">
              <a:lnSpc>
                <a:spcPct val="100000"/>
              </a:lnSpc>
              <a:spcBef>
                <a:spcPts val="100"/>
              </a:spcBef>
            </a:pPr>
            <a:r>
              <a:rPr sz="1200" b="1" dirty="0">
                <a:latin typeface="Arial"/>
                <a:cs typeface="Arial"/>
              </a:rPr>
              <a:t>Loan</a:t>
            </a:r>
            <a:r>
              <a:rPr sz="1200" b="1" spc="-65" dirty="0">
                <a:latin typeface="Arial"/>
                <a:cs typeface="Arial"/>
              </a:rPr>
              <a:t> </a:t>
            </a:r>
            <a:r>
              <a:rPr sz="1200" b="1" spc="-15" dirty="0">
                <a:latin typeface="Arial"/>
                <a:cs typeface="Arial"/>
              </a:rPr>
              <a:t>RAR</a:t>
            </a:r>
            <a:r>
              <a:rPr sz="1200" b="1" spc="-22" baseline="24305" dirty="0">
                <a:latin typeface="Arial"/>
                <a:cs typeface="Arial"/>
              </a:rPr>
              <a:t>2</a:t>
            </a:r>
            <a:r>
              <a:rPr sz="1200" b="1" spc="-15" dirty="0">
                <a:latin typeface="Arial"/>
                <a:cs typeface="Arial"/>
              </a:rPr>
              <a:t>/  </a:t>
            </a:r>
            <a:r>
              <a:rPr sz="1200" b="1" dirty="0">
                <a:latin typeface="Arial"/>
                <a:cs typeface="Arial"/>
              </a:rPr>
              <a:t>car</a:t>
            </a:r>
            <a:r>
              <a:rPr sz="1200" b="1" spc="-30" dirty="0">
                <a:latin typeface="Arial"/>
                <a:cs typeface="Arial"/>
              </a:rPr>
              <a:t> </a:t>
            </a:r>
            <a:r>
              <a:rPr sz="1200" dirty="0">
                <a:latin typeface="Arial"/>
                <a:cs typeface="Arial"/>
              </a:rPr>
              <a:t>(€)</a:t>
            </a:r>
            <a:endParaRPr sz="1200">
              <a:latin typeface="Arial"/>
              <a:cs typeface="Arial"/>
            </a:endParaRPr>
          </a:p>
        </p:txBody>
      </p:sp>
      <p:sp>
        <p:nvSpPr>
          <p:cNvPr id="117" name="object 117"/>
          <p:cNvSpPr/>
          <p:nvPr/>
        </p:nvSpPr>
        <p:spPr>
          <a:xfrm>
            <a:off x="5711697" y="5710237"/>
            <a:ext cx="533400" cy="263525"/>
          </a:xfrm>
          <a:custGeom>
            <a:avLst/>
            <a:gdLst/>
            <a:ahLst/>
            <a:cxnLst/>
            <a:rect l="l" t="t" r="r" b="b"/>
            <a:pathLst>
              <a:path w="533400" h="263525">
                <a:moveTo>
                  <a:pt x="266573" y="0"/>
                </a:moveTo>
                <a:lnTo>
                  <a:pt x="205460" y="3479"/>
                </a:lnTo>
                <a:lnTo>
                  <a:pt x="149354" y="13392"/>
                </a:lnTo>
                <a:lnTo>
                  <a:pt x="99858" y="28946"/>
                </a:lnTo>
                <a:lnTo>
                  <a:pt x="58572" y="49351"/>
                </a:lnTo>
                <a:lnTo>
                  <a:pt x="27100" y="73816"/>
                </a:lnTo>
                <a:lnTo>
                  <a:pt x="0" y="131762"/>
                </a:lnTo>
                <a:lnTo>
                  <a:pt x="7042" y="161974"/>
                </a:lnTo>
                <a:lnTo>
                  <a:pt x="58572" y="214173"/>
                </a:lnTo>
                <a:lnTo>
                  <a:pt x="99858" y="234578"/>
                </a:lnTo>
                <a:lnTo>
                  <a:pt x="149354" y="250132"/>
                </a:lnTo>
                <a:lnTo>
                  <a:pt x="205460" y="260045"/>
                </a:lnTo>
                <a:lnTo>
                  <a:pt x="266573" y="263525"/>
                </a:lnTo>
                <a:lnTo>
                  <a:pt x="327685" y="260045"/>
                </a:lnTo>
                <a:lnTo>
                  <a:pt x="383791" y="250132"/>
                </a:lnTo>
                <a:lnTo>
                  <a:pt x="433287" y="234578"/>
                </a:lnTo>
                <a:lnTo>
                  <a:pt x="474573" y="214173"/>
                </a:lnTo>
                <a:lnTo>
                  <a:pt x="506045" y="189708"/>
                </a:lnTo>
                <a:lnTo>
                  <a:pt x="533146" y="131762"/>
                </a:lnTo>
                <a:lnTo>
                  <a:pt x="526103" y="101550"/>
                </a:lnTo>
                <a:lnTo>
                  <a:pt x="474573" y="49351"/>
                </a:lnTo>
                <a:lnTo>
                  <a:pt x="433287" y="28946"/>
                </a:lnTo>
                <a:lnTo>
                  <a:pt x="383791" y="13392"/>
                </a:lnTo>
                <a:lnTo>
                  <a:pt x="327685" y="3479"/>
                </a:lnTo>
                <a:lnTo>
                  <a:pt x="266573" y="0"/>
                </a:lnTo>
                <a:close/>
              </a:path>
            </a:pathLst>
          </a:custGeom>
          <a:solidFill>
            <a:srgbClr val="051F79"/>
          </a:solidFill>
        </p:spPr>
        <p:txBody>
          <a:bodyPr wrap="square" lIns="0" tIns="0" rIns="0" bIns="0" rtlCol="0"/>
          <a:lstStyle/>
          <a:p>
            <a:endParaRPr/>
          </a:p>
        </p:txBody>
      </p:sp>
      <p:sp>
        <p:nvSpPr>
          <p:cNvPr id="118" name="object 118"/>
          <p:cNvSpPr txBox="1"/>
          <p:nvPr/>
        </p:nvSpPr>
        <p:spPr>
          <a:xfrm>
            <a:off x="5859017" y="5750763"/>
            <a:ext cx="239395" cy="177800"/>
          </a:xfrm>
          <a:prstGeom prst="rect">
            <a:avLst/>
          </a:prstGeom>
        </p:spPr>
        <p:txBody>
          <a:bodyPr vert="horz" wrap="square" lIns="0" tIns="12065" rIns="0" bIns="0" rtlCol="0">
            <a:spAutoFit/>
          </a:bodyPr>
          <a:lstStyle/>
          <a:p>
            <a:pPr marL="12700">
              <a:lnSpc>
                <a:spcPct val="100000"/>
              </a:lnSpc>
              <a:spcBef>
                <a:spcPts val="95"/>
              </a:spcBef>
            </a:pPr>
            <a:r>
              <a:rPr sz="1000" b="1" spc="-15" dirty="0">
                <a:solidFill>
                  <a:srgbClr val="FFFFFF"/>
                </a:solidFill>
                <a:latin typeface="Arial"/>
                <a:cs typeface="Arial"/>
              </a:rPr>
              <a:t>~</a:t>
            </a:r>
            <a:r>
              <a:rPr sz="1000" b="1" spc="-10" dirty="0">
                <a:solidFill>
                  <a:srgbClr val="FFFFFF"/>
                </a:solidFill>
                <a:latin typeface="Arial"/>
                <a:cs typeface="Arial"/>
              </a:rPr>
              <a:t>1</a:t>
            </a:r>
            <a:r>
              <a:rPr sz="1000" b="1" spc="-5" dirty="0">
                <a:solidFill>
                  <a:srgbClr val="FFFFFF"/>
                </a:solidFill>
                <a:latin typeface="Arial"/>
                <a:cs typeface="Arial"/>
              </a:rPr>
              <a:t>k</a:t>
            </a:r>
            <a:endParaRPr sz="1000">
              <a:latin typeface="Arial"/>
              <a:cs typeface="Arial"/>
            </a:endParaRPr>
          </a:p>
        </p:txBody>
      </p:sp>
      <p:sp>
        <p:nvSpPr>
          <p:cNvPr id="119" name="object 119"/>
          <p:cNvSpPr/>
          <p:nvPr/>
        </p:nvSpPr>
        <p:spPr>
          <a:xfrm>
            <a:off x="6913753" y="5710237"/>
            <a:ext cx="533400" cy="263525"/>
          </a:xfrm>
          <a:custGeom>
            <a:avLst/>
            <a:gdLst/>
            <a:ahLst/>
            <a:cxnLst/>
            <a:rect l="l" t="t" r="r" b="b"/>
            <a:pathLst>
              <a:path w="533400" h="263525">
                <a:moveTo>
                  <a:pt x="266573" y="0"/>
                </a:moveTo>
                <a:lnTo>
                  <a:pt x="205460" y="3479"/>
                </a:lnTo>
                <a:lnTo>
                  <a:pt x="149354" y="13392"/>
                </a:lnTo>
                <a:lnTo>
                  <a:pt x="99858" y="28946"/>
                </a:lnTo>
                <a:lnTo>
                  <a:pt x="58572" y="49351"/>
                </a:lnTo>
                <a:lnTo>
                  <a:pt x="27100" y="73816"/>
                </a:lnTo>
                <a:lnTo>
                  <a:pt x="0" y="131762"/>
                </a:lnTo>
                <a:lnTo>
                  <a:pt x="7042" y="161974"/>
                </a:lnTo>
                <a:lnTo>
                  <a:pt x="58572" y="214173"/>
                </a:lnTo>
                <a:lnTo>
                  <a:pt x="99858" y="234578"/>
                </a:lnTo>
                <a:lnTo>
                  <a:pt x="149354" y="250132"/>
                </a:lnTo>
                <a:lnTo>
                  <a:pt x="205460" y="260045"/>
                </a:lnTo>
                <a:lnTo>
                  <a:pt x="266573" y="263525"/>
                </a:lnTo>
                <a:lnTo>
                  <a:pt x="327685" y="260045"/>
                </a:lnTo>
                <a:lnTo>
                  <a:pt x="383791" y="250132"/>
                </a:lnTo>
                <a:lnTo>
                  <a:pt x="433287" y="234578"/>
                </a:lnTo>
                <a:lnTo>
                  <a:pt x="474573" y="214173"/>
                </a:lnTo>
                <a:lnTo>
                  <a:pt x="506045" y="189708"/>
                </a:lnTo>
                <a:lnTo>
                  <a:pt x="533146" y="131762"/>
                </a:lnTo>
                <a:lnTo>
                  <a:pt x="526103" y="101550"/>
                </a:lnTo>
                <a:lnTo>
                  <a:pt x="474573" y="49351"/>
                </a:lnTo>
                <a:lnTo>
                  <a:pt x="433287" y="28946"/>
                </a:lnTo>
                <a:lnTo>
                  <a:pt x="383791" y="13392"/>
                </a:lnTo>
                <a:lnTo>
                  <a:pt x="327685" y="3479"/>
                </a:lnTo>
                <a:lnTo>
                  <a:pt x="266573" y="0"/>
                </a:lnTo>
                <a:close/>
              </a:path>
            </a:pathLst>
          </a:custGeom>
          <a:solidFill>
            <a:srgbClr val="051F79"/>
          </a:solidFill>
        </p:spPr>
        <p:txBody>
          <a:bodyPr wrap="square" lIns="0" tIns="0" rIns="0" bIns="0" rtlCol="0"/>
          <a:lstStyle/>
          <a:p>
            <a:endParaRPr/>
          </a:p>
        </p:txBody>
      </p:sp>
      <p:sp>
        <p:nvSpPr>
          <p:cNvPr id="120" name="object 120"/>
          <p:cNvSpPr txBox="1"/>
          <p:nvPr/>
        </p:nvSpPr>
        <p:spPr>
          <a:xfrm>
            <a:off x="7009256" y="5750763"/>
            <a:ext cx="344805" cy="177800"/>
          </a:xfrm>
          <a:prstGeom prst="rect">
            <a:avLst/>
          </a:prstGeom>
        </p:spPr>
        <p:txBody>
          <a:bodyPr vert="horz" wrap="square" lIns="0" tIns="12065" rIns="0" bIns="0" rtlCol="0">
            <a:spAutoFit/>
          </a:bodyPr>
          <a:lstStyle/>
          <a:p>
            <a:pPr marL="12700">
              <a:lnSpc>
                <a:spcPct val="100000"/>
              </a:lnSpc>
              <a:spcBef>
                <a:spcPts val="95"/>
              </a:spcBef>
            </a:pPr>
            <a:r>
              <a:rPr sz="1000" b="1" spc="-15" dirty="0">
                <a:solidFill>
                  <a:srgbClr val="FFFFFF"/>
                </a:solidFill>
                <a:latin typeface="Arial"/>
                <a:cs typeface="Arial"/>
              </a:rPr>
              <a:t>~</a:t>
            </a:r>
            <a:r>
              <a:rPr sz="1000" b="1" spc="-10" dirty="0">
                <a:solidFill>
                  <a:srgbClr val="FFFFFF"/>
                </a:solidFill>
                <a:latin typeface="Arial"/>
                <a:cs typeface="Arial"/>
              </a:rPr>
              <a:t>1</a:t>
            </a:r>
            <a:r>
              <a:rPr sz="1000" b="1" spc="-5" dirty="0">
                <a:solidFill>
                  <a:srgbClr val="FFFFFF"/>
                </a:solidFill>
                <a:latin typeface="Arial"/>
                <a:cs typeface="Arial"/>
              </a:rPr>
              <a:t>.</a:t>
            </a:r>
            <a:r>
              <a:rPr sz="1000" b="1" spc="-10" dirty="0">
                <a:solidFill>
                  <a:srgbClr val="FFFFFF"/>
                </a:solidFill>
                <a:latin typeface="Arial"/>
                <a:cs typeface="Arial"/>
              </a:rPr>
              <a:t>2</a:t>
            </a:r>
            <a:r>
              <a:rPr sz="1000" b="1" spc="-5" dirty="0">
                <a:solidFill>
                  <a:srgbClr val="FFFFFF"/>
                </a:solidFill>
                <a:latin typeface="Arial"/>
                <a:cs typeface="Arial"/>
              </a:rPr>
              <a:t>k</a:t>
            </a:r>
            <a:endParaRPr sz="1000">
              <a:latin typeface="Arial"/>
              <a:cs typeface="Arial"/>
            </a:endParaRPr>
          </a:p>
        </p:txBody>
      </p:sp>
      <p:sp>
        <p:nvSpPr>
          <p:cNvPr id="121" name="object 121"/>
          <p:cNvSpPr/>
          <p:nvPr/>
        </p:nvSpPr>
        <p:spPr>
          <a:xfrm>
            <a:off x="2244725" y="2089150"/>
            <a:ext cx="1560830" cy="222250"/>
          </a:xfrm>
          <a:custGeom>
            <a:avLst/>
            <a:gdLst/>
            <a:ahLst/>
            <a:cxnLst/>
            <a:rect l="l" t="t" r="r" b="b"/>
            <a:pathLst>
              <a:path w="1560829" h="222250">
                <a:moveTo>
                  <a:pt x="650239" y="182625"/>
                </a:moveTo>
                <a:lnTo>
                  <a:pt x="260095" y="182625"/>
                </a:lnTo>
                <a:lnTo>
                  <a:pt x="682117" y="222123"/>
                </a:lnTo>
                <a:lnTo>
                  <a:pt x="650239" y="182625"/>
                </a:lnTo>
                <a:close/>
              </a:path>
              <a:path w="1560829" h="222250">
                <a:moveTo>
                  <a:pt x="1560576" y="0"/>
                </a:moveTo>
                <a:lnTo>
                  <a:pt x="0" y="0"/>
                </a:lnTo>
                <a:lnTo>
                  <a:pt x="0" y="182625"/>
                </a:lnTo>
                <a:lnTo>
                  <a:pt x="1560576" y="182625"/>
                </a:lnTo>
                <a:lnTo>
                  <a:pt x="1560576" y="0"/>
                </a:lnTo>
                <a:close/>
              </a:path>
            </a:pathLst>
          </a:custGeom>
          <a:solidFill>
            <a:srgbClr val="FFFFFF"/>
          </a:solidFill>
        </p:spPr>
        <p:txBody>
          <a:bodyPr wrap="square" lIns="0" tIns="0" rIns="0" bIns="0" rtlCol="0"/>
          <a:lstStyle/>
          <a:p>
            <a:endParaRPr/>
          </a:p>
        </p:txBody>
      </p:sp>
      <p:sp>
        <p:nvSpPr>
          <p:cNvPr id="122" name="object 122"/>
          <p:cNvSpPr txBox="1"/>
          <p:nvPr/>
        </p:nvSpPr>
        <p:spPr>
          <a:xfrm>
            <a:off x="2244725" y="2089150"/>
            <a:ext cx="1560830" cy="182880"/>
          </a:xfrm>
          <a:prstGeom prst="rect">
            <a:avLst/>
          </a:prstGeom>
          <a:ln w="6350">
            <a:solidFill>
              <a:srgbClr val="051F79"/>
            </a:solidFill>
          </a:ln>
        </p:spPr>
        <p:txBody>
          <a:bodyPr vert="horz" wrap="square" lIns="0" tIns="12065" rIns="0" bIns="0" rtlCol="0">
            <a:spAutoFit/>
          </a:bodyPr>
          <a:lstStyle/>
          <a:p>
            <a:pPr marL="160655">
              <a:lnSpc>
                <a:spcPct val="100000"/>
              </a:lnSpc>
              <a:spcBef>
                <a:spcPts val="95"/>
              </a:spcBef>
            </a:pPr>
            <a:r>
              <a:rPr sz="1000" spc="-10" dirty="0">
                <a:latin typeface="Arial"/>
                <a:cs typeface="Arial"/>
              </a:rPr>
              <a:t>~+65% </a:t>
            </a:r>
            <a:r>
              <a:rPr sz="1000" dirty="0">
                <a:latin typeface="Arial"/>
                <a:cs typeface="Arial"/>
              </a:rPr>
              <a:t>market</a:t>
            </a:r>
            <a:r>
              <a:rPr sz="1000" spc="-30" dirty="0">
                <a:latin typeface="Arial"/>
                <a:cs typeface="Arial"/>
              </a:rPr>
              <a:t> </a:t>
            </a:r>
            <a:r>
              <a:rPr sz="1000" spc="-10" dirty="0">
                <a:latin typeface="Arial"/>
                <a:cs typeface="Arial"/>
              </a:rPr>
              <a:t>growth</a:t>
            </a:r>
            <a:endParaRPr sz="1000">
              <a:latin typeface="Arial"/>
              <a:cs typeface="Arial"/>
            </a:endParaRPr>
          </a:p>
        </p:txBody>
      </p:sp>
      <p:sp>
        <p:nvSpPr>
          <p:cNvPr id="123" name="object 123"/>
          <p:cNvSpPr/>
          <p:nvPr/>
        </p:nvSpPr>
        <p:spPr>
          <a:xfrm>
            <a:off x="3983863" y="3827526"/>
            <a:ext cx="1160145" cy="381000"/>
          </a:xfrm>
          <a:custGeom>
            <a:avLst/>
            <a:gdLst/>
            <a:ahLst/>
            <a:cxnLst/>
            <a:rect l="l" t="t" r="r" b="b"/>
            <a:pathLst>
              <a:path w="1160145" h="381000">
                <a:moveTo>
                  <a:pt x="1160145" y="0"/>
                </a:moveTo>
                <a:lnTo>
                  <a:pt x="139319" y="0"/>
                </a:lnTo>
                <a:lnTo>
                  <a:pt x="139319" y="63373"/>
                </a:lnTo>
                <a:lnTo>
                  <a:pt x="0" y="121031"/>
                </a:lnTo>
                <a:lnTo>
                  <a:pt x="139319" y="158623"/>
                </a:lnTo>
                <a:lnTo>
                  <a:pt x="139319" y="381000"/>
                </a:lnTo>
                <a:lnTo>
                  <a:pt x="1160145" y="381000"/>
                </a:lnTo>
                <a:lnTo>
                  <a:pt x="1160145" y="0"/>
                </a:lnTo>
                <a:close/>
              </a:path>
            </a:pathLst>
          </a:custGeom>
          <a:solidFill>
            <a:srgbClr val="FFFFFF"/>
          </a:solidFill>
        </p:spPr>
        <p:txBody>
          <a:bodyPr wrap="square" lIns="0" tIns="0" rIns="0" bIns="0" rtlCol="0"/>
          <a:lstStyle/>
          <a:p>
            <a:endParaRPr/>
          </a:p>
        </p:txBody>
      </p:sp>
      <p:sp>
        <p:nvSpPr>
          <p:cNvPr id="124" name="object 124"/>
          <p:cNvSpPr/>
          <p:nvPr/>
        </p:nvSpPr>
        <p:spPr>
          <a:xfrm>
            <a:off x="3983863" y="3827526"/>
            <a:ext cx="1160145" cy="381000"/>
          </a:xfrm>
          <a:custGeom>
            <a:avLst/>
            <a:gdLst/>
            <a:ahLst/>
            <a:cxnLst/>
            <a:rect l="l" t="t" r="r" b="b"/>
            <a:pathLst>
              <a:path w="1160145" h="381000">
                <a:moveTo>
                  <a:pt x="139319" y="0"/>
                </a:moveTo>
                <a:lnTo>
                  <a:pt x="309499" y="0"/>
                </a:lnTo>
                <a:lnTo>
                  <a:pt x="564641" y="0"/>
                </a:lnTo>
                <a:lnTo>
                  <a:pt x="1160145" y="0"/>
                </a:lnTo>
                <a:lnTo>
                  <a:pt x="1160145" y="63373"/>
                </a:lnTo>
                <a:lnTo>
                  <a:pt x="1160145" y="158623"/>
                </a:lnTo>
                <a:lnTo>
                  <a:pt x="1160145" y="381000"/>
                </a:lnTo>
                <a:lnTo>
                  <a:pt x="564641" y="381000"/>
                </a:lnTo>
                <a:lnTo>
                  <a:pt x="309499" y="381000"/>
                </a:lnTo>
                <a:lnTo>
                  <a:pt x="139319" y="381000"/>
                </a:lnTo>
                <a:lnTo>
                  <a:pt x="139319" y="158623"/>
                </a:lnTo>
                <a:lnTo>
                  <a:pt x="0" y="121031"/>
                </a:lnTo>
                <a:lnTo>
                  <a:pt x="139319" y="63373"/>
                </a:lnTo>
                <a:lnTo>
                  <a:pt x="139319" y="0"/>
                </a:lnTo>
                <a:close/>
              </a:path>
            </a:pathLst>
          </a:custGeom>
          <a:ln w="6350">
            <a:solidFill>
              <a:srgbClr val="051F79"/>
            </a:solidFill>
          </a:ln>
        </p:spPr>
        <p:txBody>
          <a:bodyPr wrap="square" lIns="0" tIns="0" rIns="0" bIns="0" rtlCol="0"/>
          <a:lstStyle/>
          <a:p>
            <a:endParaRPr/>
          </a:p>
        </p:txBody>
      </p:sp>
      <p:sp>
        <p:nvSpPr>
          <p:cNvPr id="125" name="object 125"/>
          <p:cNvSpPr txBox="1"/>
          <p:nvPr/>
        </p:nvSpPr>
        <p:spPr>
          <a:xfrm>
            <a:off x="4222750" y="3850640"/>
            <a:ext cx="822960" cy="330200"/>
          </a:xfrm>
          <a:prstGeom prst="rect">
            <a:avLst/>
          </a:prstGeom>
        </p:spPr>
        <p:txBody>
          <a:bodyPr vert="horz" wrap="square" lIns="0" tIns="12065" rIns="0" bIns="0" rtlCol="0">
            <a:spAutoFit/>
          </a:bodyPr>
          <a:lstStyle/>
          <a:p>
            <a:pPr marL="172720" marR="5080" indent="-160655">
              <a:lnSpc>
                <a:spcPct val="100000"/>
              </a:lnSpc>
              <a:spcBef>
                <a:spcPts val="95"/>
              </a:spcBef>
            </a:pPr>
            <a:r>
              <a:rPr sz="1000" spc="-5" dirty="0">
                <a:latin typeface="Arial"/>
                <a:cs typeface="Arial"/>
              </a:rPr>
              <a:t>Market</a:t>
            </a:r>
            <a:r>
              <a:rPr sz="1000" spc="-70" dirty="0">
                <a:latin typeface="Arial"/>
                <a:cs typeface="Arial"/>
              </a:rPr>
              <a:t> </a:t>
            </a:r>
            <a:r>
              <a:rPr sz="1000" spc="-5" dirty="0">
                <a:latin typeface="Arial"/>
                <a:cs typeface="Arial"/>
              </a:rPr>
              <a:t>almost  </a:t>
            </a:r>
            <a:r>
              <a:rPr sz="1000" spc="-10" dirty="0">
                <a:latin typeface="Arial"/>
                <a:cs typeface="Arial"/>
              </a:rPr>
              <a:t>doubling</a:t>
            </a:r>
            <a:endParaRPr sz="1000">
              <a:latin typeface="Arial"/>
              <a:cs typeface="Arial"/>
            </a:endParaRPr>
          </a:p>
        </p:txBody>
      </p:sp>
      <p:sp>
        <p:nvSpPr>
          <p:cNvPr id="126" name="object 126"/>
          <p:cNvSpPr/>
          <p:nvPr/>
        </p:nvSpPr>
        <p:spPr>
          <a:xfrm>
            <a:off x="7442581" y="3333750"/>
            <a:ext cx="1536700" cy="482600"/>
          </a:xfrm>
          <a:custGeom>
            <a:avLst/>
            <a:gdLst/>
            <a:ahLst/>
            <a:cxnLst/>
            <a:rect l="l" t="t" r="r" b="b"/>
            <a:pathLst>
              <a:path w="1536700" h="482600">
                <a:moveTo>
                  <a:pt x="1536446" y="201040"/>
                </a:moveTo>
                <a:lnTo>
                  <a:pt x="117221" y="201040"/>
                </a:lnTo>
                <a:lnTo>
                  <a:pt x="117221" y="482600"/>
                </a:lnTo>
                <a:lnTo>
                  <a:pt x="1536446" y="482600"/>
                </a:lnTo>
                <a:lnTo>
                  <a:pt x="1536446" y="201040"/>
                </a:lnTo>
                <a:close/>
              </a:path>
              <a:path w="1536700" h="482600">
                <a:moveTo>
                  <a:pt x="1536446" y="0"/>
                </a:moveTo>
                <a:lnTo>
                  <a:pt x="117221" y="0"/>
                </a:lnTo>
                <a:lnTo>
                  <a:pt x="117221" y="80390"/>
                </a:lnTo>
                <a:lnTo>
                  <a:pt x="0" y="215900"/>
                </a:lnTo>
                <a:lnTo>
                  <a:pt x="117221" y="201040"/>
                </a:lnTo>
                <a:lnTo>
                  <a:pt x="1536446" y="201040"/>
                </a:lnTo>
                <a:lnTo>
                  <a:pt x="1536446" y="0"/>
                </a:lnTo>
                <a:close/>
              </a:path>
            </a:pathLst>
          </a:custGeom>
          <a:solidFill>
            <a:srgbClr val="FFFFFF"/>
          </a:solidFill>
        </p:spPr>
        <p:txBody>
          <a:bodyPr wrap="square" lIns="0" tIns="0" rIns="0" bIns="0" rtlCol="0"/>
          <a:lstStyle/>
          <a:p>
            <a:endParaRPr/>
          </a:p>
        </p:txBody>
      </p:sp>
      <p:sp>
        <p:nvSpPr>
          <p:cNvPr id="127" name="object 127"/>
          <p:cNvSpPr/>
          <p:nvPr/>
        </p:nvSpPr>
        <p:spPr>
          <a:xfrm>
            <a:off x="7442581" y="3333750"/>
            <a:ext cx="1536700" cy="482600"/>
          </a:xfrm>
          <a:custGeom>
            <a:avLst/>
            <a:gdLst/>
            <a:ahLst/>
            <a:cxnLst/>
            <a:rect l="l" t="t" r="r" b="b"/>
            <a:pathLst>
              <a:path w="1536700" h="482600">
                <a:moveTo>
                  <a:pt x="117221" y="0"/>
                </a:moveTo>
                <a:lnTo>
                  <a:pt x="353695" y="0"/>
                </a:lnTo>
                <a:lnTo>
                  <a:pt x="708533" y="0"/>
                </a:lnTo>
                <a:lnTo>
                  <a:pt x="1536446" y="0"/>
                </a:lnTo>
                <a:lnTo>
                  <a:pt x="1536446" y="80390"/>
                </a:lnTo>
                <a:lnTo>
                  <a:pt x="1536446" y="201040"/>
                </a:lnTo>
                <a:lnTo>
                  <a:pt x="1536446" y="482600"/>
                </a:lnTo>
                <a:lnTo>
                  <a:pt x="708533" y="482600"/>
                </a:lnTo>
                <a:lnTo>
                  <a:pt x="353695" y="482600"/>
                </a:lnTo>
                <a:lnTo>
                  <a:pt x="117221" y="482600"/>
                </a:lnTo>
                <a:lnTo>
                  <a:pt x="117221" y="201040"/>
                </a:lnTo>
                <a:lnTo>
                  <a:pt x="0" y="215900"/>
                </a:lnTo>
                <a:lnTo>
                  <a:pt x="117221" y="80390"/>
                </a:lnTo>
                <a:lnTo>
                  <a:pt x="117221" y="0"/>
                </a:lnTo>
                <a:close/>
              </a:path>
            </a:pathLst>
          </a:custGeom>
          <a:ln w="6350">
            <a:solidFill>
              <a:srgbClr val="051F79"/>
            </a:solidFill>
          </a:ln>
        </p:spPr>
        <p:txBody>
          <a:bodyPr wrap="square" lIns="0" tIns="0" rIns="0" bIns="0" rtlCol="0"/>
          <a:lstStyle/>
          <a:p>
            <a:endParaRPr/>
          </a:p>
        </p:txBody>
      </p:sp>
      <p:sp>
        <p:nvSpPr>
          <p:cNvPr id="128" name="object 128"/>
          <p:cNvSpPr txBox="1"/>
          <p:nvPr/>
        </p:nvSpPr>
        <p:spPr>
          <a:xfrm>
            <a:off x="7710296" y="3331210"/>
            <a:ext cx="1116330" cy="482600"/>
          </a:xfrm>
          <a:prstGeom prst="rect">
            <a:avLst/>
          </a:prstGeom>
        </p:spPr>
        <p:txBody>
          <a:bodyPr vert="horz" wrap="square" lIns="0" tIns="12065" rIns="0" bIns="0" rtlCol="0">
            <a:spAutoFit/>
          </a:bodyPr>
          <a:lstStyle/>
          <a:p>
            <a:pPr marL="12700" marR="5080" algn="ctr">
              <a:lnSpc>
                <a:spcPct val="100000"/>
              </a:lnSpc>
              <a:spcBef>
                <a:spcPts val="95"/>
              </a:spcBef>
            </a:pPr>
            <a:r>
              <a:rPr sz="1000" spc="-10" dirty="0">
                <a:latin typeface="Arial"/>
                <a:cs typeface="Arial"/>
              </a:rPr>
              <a:t>5-6€M </a:t>
            </a:r>
            <a:r>
              <a:rPr sz="1000" spc="-5" dirty="0">
                <a:latin typeface="Arial"/>
                <a:cs typeface="Arial"/>
              </a:rPr>
              <a:t>coming</a:t>
            </a:r>
            <a:r>
              <a:rPr sz="1000" spc="-65" dirty="0">
                <a:latin typeface="Arial"/>
                <a:cs typeface="Arial"/>
              </a:rPr>
              <a:t> </a:t>
            </a:r>
            <a:r>
              <a:rPr sz="1000" spc="-5" dirty="0">
                <a:latin typeface="Arial"/>
                <a:cs typeface="Arial"/>
              </a:rPr>
              <a:t>from  </a:t>
            </a:r>
            <a:r>
              <a:rPr sz="1000" spc="-10" dirty="0">
                <a:latin typeface="Arial"/>
                <a:cs typeface="Arial"/>
              </a:rPr>
              <a:t>B2B (dealer and  RAC)</a:t>
            </a:r>
            <a:r>
              <a:rPr sz="1000" spc="-5" dirty="0">
                <a:latin typeface="Arial"/>
                <a:cs typeface="Arial"/>
              </a:rPr>
              <a:t> </a:t>
            </a:r>
            <a:r>
              <a:rPr sz="1000" spc="-10" dirty="0">
                <a:latin typeface="Arial"/>
                <a:cs typeface="Arial"/>
              </a:rPr>
              <a:t>financing</a:t>
            </a:r>
            <a:endParaRPr sz="1000">
              <a:latin typeface="Arial"/>
              <a:cs typeface="Arial"/>
            </a:endParaRPr>
          </a:p>
        </p:txBody>
      </p:sp>
      <p:sp>
        <p:nvSpPr>
          <p:cNvPr id="129" name="object 129"/>
          <p:cNvSpPr/>
          <p:nvPr/>
        </p:nvSpPr>
        <p:spPr>
          <a:xfrm>
            <a:off x="10783823" y="3333750"/>
            <a:ext cx="1342390" cy="482600"/>
          </a:xfrm>
          <a:custGeom>
            <a:avLst/>
            <a:gdLst/>
            <a:ahLst/>
            <a:cxnLst/>
            <a:rect l="l" t="t" r="r" b="b"/>
            <a:pathLst>
              <a:path w="1342390" h="482600">
                <a:moveTo>
                  <a:pt x="1342135" y="201040"/>
                </a:moveTo>
                <a:lnTo>
                  <a:pt x="102361" y="201040"/>
                </a:lnTo>
                <a:lnTo>
                  <a:pt x="102361" y="482600"/>
                </a:lnTo>
                <a:lnTo>
                  <a:pt x="1342135" y="482600"/>
                </a:lnTo>
                <a:lnTo>
                  <a:pt x="1342135" y="201040"/>
                </a:lnTo>
                <a:close/>
              </a:path>
              <a:path w="1342390" h="482600">
                <a:moveTo>
                  <a:pt x="1342135" y="0"/>
                </a:moveTo>
                <a:lnTo>
                  <a:pt x="102361" y="0"/>
                </a:lnTo>
                <a:lnTo>
                  <a:pt x="102361" y="80390"/>
                </a:lnTo>
                <a:lnTo>
                  <a:pt x="0" y="215900"/>
                </a:lnTo>
                <a:lnTo>
                  <a:pt x="102361" y="201040"/>
                </a:lnTo>
                <a:lnTo>
                  <a:pt x="1342135" y="201040"/>
                </a:lnTo>
                <a:lnTo>
                  <a:pt x="1342135" y="0"/>
                </a:lnTo>
                <a:close/>
              </a:path>
            </a:pathLst>
          </a:custGeom>
          <a:solidFill>
            <a:srgbClr val="FFFFFF"/>
          </a:solidFill>
        </p:spPr>
        <p:txBody>
          <a:bodyPr wrap="square" lIns="0" tIns="0" rIns="0" bIns="0" rtlCol="0"/>
          <a:lstStyle/>
          <a:p>
            <a:endParaRPr/>
          </a:p>
        </p:txBody>
      </p:sp>
      <p:sp>
        <p:nvSpPr>
          <p:cNvPr id="130" name="object 130"/>
          <p:cNvSpPr/>
          <p:nvPr/>
        </p:nvSpPr>
        <p:spPr>
          <a:xfrm>
            <a:off x="10783823" y="3333750"/>
            <a:ext cx="1342390" cy="482600"/>
          </a:xfrm>
          <a:custGeom>
            <a:avLst/>
            <a:gdLst/>
            <a:ahLst/>
            <a:cxnLst/>
            <a:rect l="l" t="t" r="r" b="b"/>
            <a:pathLst>
              <a:path w="1342390" h="482600">
                <a:moveTo>
                  <a:pt x="102361" y="0"/>
                </a:moveTo>
                <a:lnTo>
                  <a:pt x="308991" y="0"/>
                </a:lnTo>
                <a:lnTo>
                  <a:pt x="618871" y="0"/>
                </a:lnTo>
                <a:lnTo>
                  <a:pt x="1342135" y="0"/>
                </a:lnTo>
                <a:lnTo>
                  <a:pt x="1342135" y="80390"/>
                </a:lnTo>
                <a:lnTo>
                  <a:pt x="1342135" y="201040"/>
                </a:lnTo>
                <a:lnTo>
                  <a:pt x="1342135" y="482600"/>
                </a:lnTo>
                <a:lnTo>
                  <a:pt x="618871" y="482600"/>
                </a:lnTo>
                <a:lnTo>
                  <a:pt x="308991" y="482600"/>
                </a:lnTo>
                <a:lnTo>
                  <a:pt x="102361" y="482600"/>
                </a:lnTo>
                <a:lnTo>
                  <a:pt x="102361" y="201040"/>
                </a:lnTo>
                <a:lnTo>
                  <a:pt x="0" y="215900"/>
                </a:lnTo>
                <a:lnTo>
                  <a:pt x="102361" y="80390"/>
                </a:lnTo>
                <a:lnTo>
                  <a:pt x="102361" y="0"/>
                </a:lnTo>
                <a:close/>
              </a:path>
            </a:pathLst>
          </a:custGeom>
          <a:ln w="6350">
            <a:solidFill>
              <a:srgbClr val="051F79"/>
            </a:solidFill>
          </a:ln>
        </p:spPr>
        <p:txBody>
          <a:bodyPr wrap="square" lIns="0" tIns="0" rIns="0" bIns="0" rtlCol="0"/>
          <a:lstStyle/>
          <a:p>
            <a:endParaRPr/>
          </a:p>
        </p:txBody>
      </p:sp>
      <p:sp>
        <p:nvSpPr>
          <p:cNvPr id="131" name="object 131"/>
          <p:cNvSpPr txBox="1"/>
          <p:nvPr/>
        </p:nvSpPr>
        <p:spPr>
          <a:xfrm>
            <a:off x="11016106" y="3331210"/>
            <a:ext cx="1109980" cy="482600"/>
          </a:xfrm>
          <a:prstGeom prst="rect">
            <a:avLst/>
          </a:prstGeom>
        </p:spPr>
        <p:txBody>
          <a:bodyPr vert="horz" wrap="square" lIns="0" tIns="12065" rIns="0" bIns="0" rtlCol="0">
            <a:spAutoFit/>
          </a:bodyPr>
          <a:lstStyle/>
          <a:p>
            <a:pPr marL="34925" marR="123825" indent="-35560" algn="just">
              <a:lnSpc>
                <a:spcPct val="100000"/>
              </a:lnSpc>
              <a:spcBef>
                <a:spcPts val="95"/>
              </a:spcBef>
            </a:pPr>
            <a:r>
              <a:rPr sz="1000" spc="-10" dirty="0">
                <a:latin typeface="Arial"/>
                <a:cs typeface="Arial"/>
              </a:rPr>
              <a:t>3€M </a:t>
            </a:r>
            <a:r>
              <a:rPr sz="1000" spc="-5" dirty="0">
                <a:latin typeface="Arial"/>
                <a:cs typeface="Arial"/>
              </a:rPr>
              <a:t>coming</a:t>
            </a:r>
            <a:r>
              <a:rPr sz="1000" spc="-75" dirty="0">
                <a:latin typeface="Arial"/>
                <a:cs typeface="Arial"/>
              </a:rPr>
              <a:t> </a:t>
            </a:r>
            <a:r>
              <a:rPr sz="1000" spc="-5" dirty="0">
                <a:latin typeface="Arial"/>
                <a:cs typeface="Arial"/>
              </a:rPr>
              <a:t>from  </a:t>
            </a:r>
            <a:r>
              <a:rPr sz="1000" spc="-10" dirty="0">
                <a:latin typeface="Arial"/>
                <a:cs typeface="Arial"/>
              </a:rPr>
              <a:t>B2B (dealer and  </a:t>
            </a:r>
            <a:r>
              <a:rPr sz="1000" spc="-5" dirty="0">
                <a:latin typeface="Arial"/>
                <a:cs typeface="Arial"/>
              </a:rPr>
              <a:t>RAC) </a:t>
            </a:r>
            <a:r>
              <a:rPr sz="1000" spc="-10" dirty="0">
                <a:latin typeface="Arial"/>
                <a:cs typeface="Arial"/>
              </a:rPr>
              <a:t>financing</a:t>
            </a:r>
            <a:endParaRPr sz="1000">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ACB6A-4011-2250-7F62-AC0C7771EAB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61F1584-CAEF-F9BD-2D77-75CCC535DE59}"/>
              </a:ext>
            </a:extLst>
          </p:cNvPr>
          <p:cNvSpPr txBox="1"/>
          <p:nvPr/>
        </p:nvSpPr>
        <p:spPr>
          <a:xfrm>
            <a:off x="10134981" y="6486245"/>
            <a:ext cx="1151255" cy="162560"/>
          </a:xfrm>
          <a:prstGeom prst="rect">
            <a:avLst/>
          </a:prstGeom>
        </p:spPr>
        <p:txBody>
          <a:bodyPr vert="horz" wrap="square" lIns="0" tIns="12700" rIns="0" bIns="0" rtlCol="0">
            <a:spAutoFit/>
          </a:bodyPr>
          <a:lstStyle/>
          <a:p>
            <a:pPr marL="12700">
              <a:lnSpc>
                <a:spcPct val="100000"/>
              </a:lnSpc>
              <a:spcBef>
                <a:spcPts val="100"/>
              </a:spcBef>
            </a:pPr>
            <a:r>
              <a:rPr sz="900" spc="-5" dirty="0">
                <a:latin typeface="Arial"/>
                <a:cs typeface="Arial"/>
              </a:rPr>
              <a:t>McKinsey </a:t>
            </a:r>
            <a:r>
              <a:rPr sz="900" dirty="0">
                <a:latin typeface="Arial"/>
                <a:cs typeface="Arial"/>
              </a:rPr>
              <a:t>&amp;</a:t>
            </a:r>
            <a:r>
              <a:rPr sz="900" spc="-40" dirty="0">
                <a:latin typeface="Arial"/>
                <a:cs typeface="Arial"/>
              </a:rPr>
              <a:t> </a:t>
            </a:r>
            <a:r>
              <a:rPr sz="900" spc="-5" dirty="0">
                <a:latin typeface="Arial"/>
                <a:cs typeface="Arial"/>
              </a:rPr>
              <a:t>Company</a:t>
            </a:r>
            <a:endParaRPr sz="900">
              <a:latin typeface="Arial"/>
              <a:cs typeface="Arial"/>
            </a:endParaRPr>
          </a:p>
        </p:txBody>
      </p:sp>
      <p:sp>
        <p:nvSpPr>
          <p:cNvPr id="3" name="object 3">
            <a:extLst>
              <a:ext uri="{FF2B5EF4-FFF2-40B4-BE49-F238E27FC236}">
                <a16:creationId xmlns:a16="http://schemas.microsoft.com/office/drawing/2014/main" id="{160F0070-64FC-4EF7-B56B-5F632F211EEB}"/>
              </a:ext>
            </a:extLst>
          </p:cNvPr>
          <p:cNvSpPr txBox="1"/>
          <p:nvPr/>
        </p:nvSpPr>
        <p:spPr>
          <a:xfrm>
            <a:off x="11499342" y="6485635"/>
            <a:ext cx="153670"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Arial"/>
                <a:cs typeface="Arial"/>
              </a:rPr>
              <a:t>12</a:t>
            </a:r>
            <a:endParaRPr sz="900">
              <a:latin typeface="Arial"/>
              <a:cs typeface="Arial"/>
            </a:endParaRPr>
          </a:p>
        </p:txBody>
      </p:sp>
      <p:sp>
        <p:nvSpPr>
          <p:cNvPr id="4" name="object 4">
            <a:extLst>
              <a:ext uri="{FF2B5EF4-FFF2-40B4-BE49-F238E27FC236}">
                <a16:creationId xmlns:a16="http://schemas.microsoft.com/office/drawing/2014/main" id="{B108ACF4-A0E7-9AEF-7C09-6B17CD6756D3}"/>
              </a:ext>
            </a:extLst>
          </p:cNvPr>
          <p:cNvSpPr/>
          <p:nvPr/>
        </p:nvSpPr>
        <p:spPr>
          <a:xfrm>
            <a:off x="3881628" y="2263647"/>
            <a:ext cx="6231255" cy="3417570"/>
          </a:xfrm>
          <a:custGeom>
            <a:avLst/>
            <a:gdLst/>
            <a:ahLst/>
            <a:cxnLst/>
            <a:rect l="l" t="t" r="r" b="b"/>
            <a:pathLst>
              <a:path w="6231255" h="3417570">
                <a:moveTo>
                  <a:pt x="0" y="3417316"/>
                </a:moveTo>
                <a:lnTo>
                  <a:pt x="6231001" y="3417316"/>
                </a:lnTo>
                <a:lnTo>
                  <a:pt x="6231001" y="0"/>
                </a:lnTo>
                <a:lnTo>
                  <a:pt x="0" y="0"/>
                </a:lnTo>
                <a:lnTo>
                  <a:pt x="0" y="3417316"/>
                </a:lnTo>
                <a:close/>
              </a:path>
            </a:pathLst>
          </a:custGeom>
          <a:solidFill>
            <a:srgbClr val="F1F1F1"/>
          </a:solidFill>
        </p:spPr>
        <p:txBody>
          <a:bodyPr wrap="square" lIns="0" tIns="0" rIns="0" bIns="0" rtlCol="0"/>
          <a:lstStyle/>
          <a:p>
            <a:pPr algn="ctr"/>
            <a:endParaRPr dirty="0"/>
          </a:p>
        </p:txBody>
      </p:sp>
      <p:sp>
        <p:nvSpPr>
          <p:cNvPr id="5" name="object 5">
            <a:extLst>
              <a:ext uri="{FF2B5EF4-FFF2-40B4-BE49-F238E27FC236}">
                <a16:creationId xmlns:a16="http://schemas.microsoft.com/office/drawing/2014/main" id="{CE9A1A31-8C9E-BCD7-A563-D609E19A2D5E}"/>
              </a:ext>
            </a:extLst>
          </p:cNvPr>
          <p:cNvSpPr/>
          <p:nvPr/>
        </p:nvSpPr>
        <p:spPr>
          <a:xfrm>
            <a:off x="3881628" y="2263647"/>
            <a:ext cx="6231255" cy="3417570"/>
          </a:xfrm>
          <a:custGeom>
            <a:avLst/>
            <a:gdLst/>
            <a:ahLst/>
            <a:cxnLst/>
            <a:rect l="l" t="t" r="r" b="b"/>
            <a:pathLst>
              <a:path w="6231255" h="3417570">
                <a:moveTo>
                  <a:pt x="0" y="3417316"/>
                </a:moveTo>
                <a:lnTo>
                  <a:pt x="6231001" y="3417316"/>
                </a:lnTo>
                <a:lnTo>
                  <a:pt x="6231001" y="0"/>
                </a:lnTo>
                <a:lnTo>
                  <a:pt x="0" y="0"/>
                </a:lnTo>
                <a:lnTo>
                  <a:pt x="0" y="3417316"/>
                </a:lnTo>
                <a:close/>
              </a:path>
            </a:pathLst>
          </a:custGeom>
          <a:ln w="28575">
            <a:solidFill>
              <a:srgbClr val="051F79"/>
            </a:solidFill>
            <a:prstDash val="lgDash"/>
          </a:ln>
        </p:spPr>
        <p:txBody>
          <a:bodyPr wrap="square" lIns="0" tIns="0" rIns="0" bIns="0" rtlCol="0"/>
          <a:lstStyle/>
          <a:p>
            <a:endParaRPr/>
          </a:p>
        </p:txBody>
      </p:sp>
      <p:sp>
        <p:nvSpPr>
          <p:cNvPr id="6" name="object 6">
            <a:extLst>
              <a:ext uri="{FF2B5EF4-FFF2-40B4-BE49-F238E27FC236}">
                <a16:creationId xmlns:a16="http://schemas.microsoft.com/office/drawing/2014/main" id="{6C804A62-CDEB-1520-C5D4-6733B78C9119}"/>
              </a:ext>
            </a:extLst>
          </p:cNvPr>
          <p:cNvSpPr txBox="1">
            <a:spLocks noGrp="1"/>
          </p:cNvSpPr>
          <p:nvPr>
            <p:ph type="title"/>
          </p:nvPr>
        </p:nvSpPr>
        <p:spPr>
          <a:xfrm>
            <a:off x="542036" y="147066"/>
            <a:ext cx="10979150" cy="755976"/>
          </a:xfrm>
          <a:prstGeom prst="rect">
            <a:avLst/>
          </a:prstGeom>
        </p:spPr>
        <p:txBody>
          <a:bodyPr vert="horz" wrap="square" lIns="0" tIns="12065" rIns="0" bIns="0" rtlCol="0">
            <a:spAutoFit/>
          </a:bodyPr>
          <a:lstStyle/>
          <a:p>
            <a:pPr marL="12700">
              <a:lnSpc>
                <a:spcPts val="2935"/>
              </a:lnSpc>
              <a:spcBef>
                <a:spcPts val="95"/>
              </a:spcBef>
            </a:pPr>
            <a:r>
              <a:rPr spc="-5" dirty="0"/>
              <a:t>| Initiatives to deliver </a:t>
            </a:r>
            <a:r>
              <a:rPr lang="en-US" spc="-5" dirty="0"/>
              <a:t>170</a:t>
            </a:r>
            <a:r>
              <a:rPr spc="-5" dirty="0"/>
              <a:t>-</a:t>
            </a:r>
            <a:r>
              <a:rPr lang="en-US" spc="-5" dirty="0"/>
              <a:t>200</a:t>
            </a:r>
            <a:r>
              <a:rPr spc="-5" dirty="0"/>
              <a:t>M€ of </a:t>
            </a:r>
            <a:r>
              <a:rPr lang="en-US" spc="-5" dirty="0"/>
              <a:t>additional disbursements by 2030</a:t>
            </a:r>
            <a:endParaRPr spc="-5" dirty="0"/>
          </a:p>
        </p:txBody>
      </p:sp>
      <p:sp>
        <p:nvSpPr>
          <p:cNvPr id="7" name="object 7">
            <a:extLst>
              <a:ext uri="{FF2B5EF4-FFF2-40B4-BE49-F238E27FC236}">
                <a16:creationId xmlns:a16="http://schemas.microsoft.com/office/drawing/2014/main" id="{2D027FAC-3D6E-C8DC-1C96-D3C1F4379E73}"/>
              </a:ext>
            </a:extLst>
          </p:cNvPr>
          <p:cNvSpPr txBox="1"/>
          <p:nvPr/>
        </p:nvSpPr>
        <p:spPr>
          <a:xfrm>
            <a:off x="541426" y="6442354"/>
            <a:ext cx="9504045" cy="135935"/>
          </a:xfrm>
          <a:prstGeom prst="rect">
            <a:avLst/>
          </a:prstGeom>
        </p:spPr>
        <p:txBody>
          <a:bodyPr vert="horz" wrap="square" lIns="0" tIns="12700" rIns="0" bIns="0" rtlCol="0">
            <a:spAutoFit/>
          </a:bodyPr>
          <a:lstStyle/>
          <a:p>
            <a:pPr marL="12700">
              <a:lnSpc>
                <a:spcPct val="100000"/>
              </a:lnSpc>
              <a:spcBef>
                <a:spcPts val="100"/>
              </a:spcBef>
              <a:tabLst>
                <a:tab pos="240665" algn="l"/>
              </a:tabLst>
            </a:pPr>
            <a:r>
              <a:rPr lang="en-US" sz="800" spc="-5" dirty="0">
                <a:latin typeface="Arial"/>
                <a:cs typeface="Arial"/>
              </a:rPr>
              <a:t>1</a:t>
            </a:r>
            <a:r>
              <a:rPr sz="800" spc="-5" dirty="0">
                <a:latin typeface="Arial"/>
                <a:cs typeface="Arial"/>
              </a:rPr>
              <a:t>.	</a:t>
            </a:r>
            <a:r>
              <a:rPr lang="en-US" sz="800" dirty="0">
                <a:latin typeface="Arial"/>
                <a:cs typeface="Arial"/>
              </a:rPr>
              <a:t>Price increase + loan penetration increase + car sales volumes increase.</a:t>
            </a:r>
            <a:endParaRPr sz="800" dirty="0">
              <a:latin typeface="Arial"/>
              <a:cs typeface="Arial"/>
            </a:endParaRPr>
          </a:p>
        </p:txBody>
      </p:sp>
      <p:sp>
        <p:nvSpPr>
          <p:cNvPr id="8" name="object 8">
            <a:extLst>
              <a:ext uri="{FF2B5EF4-FFF2-40B4-BE49-F238E27FC236}">
                <a16:creationId xmlns:a16="http://schemas.microsoft.com/office/drawing/2014/main" id="{8F5BDB0E-4E2C-6171-FD52-9D83BBEBF147}"/>
              </a:ext>
            </a:extLst>
          </p:cNvPr>
          <p:cNvSpPr/>
          <p:nvPr/>
        </p:nvSpPr>
        <p:spPr>
          <a:xfrm>
            <a:off x="1998726" y="4065524"/>
            <a:ext cx="447675" cy="0"/>
          </a:xfrm>
          <a:custGeom>
            <a:avLst/>
            <a:gdLst/>
            <a:ahLst/>
            <a:cxnLst/>
            <a:rect l="l" t="t" r="r" b="b"/>
            <a:pathLst>
              <a:path w="447675">
                <a:moveTo>
                  <a:pt x="0" y="0"/>
                </a:moveTo>
                <a:lnTo>
                  <a:pt x="447675" y="0"/>
                </a:lnTo>
              </a:path>
            </a:pathLst>
          </a:custGeom>
          <a:ln w="9525">
            <a:solidFill>
              <a:srgbClr val="E6E6E6"/>
            </a:solidFill>
          </a:ln>
        </p:spPr>
        <p:txBody>
          <a:bodyPr wrap="square" lIns="0" tIns="0" rIns="0" bIns="0" rtlCol="0"/>
          <a:lstStyle/>
          <a:p>
            <a:endParaRPr/>
          </a:p>
        </p:txBody>
      </p:sp>
      <p:sp>
        <p:nvSpPr>
          <p:cNvPr id="9" name="object 9">
            <a:extLst>
              <a:ext uri="{FF2B5EF4-FFF2-40B4-BE49-F238E27FC236}">
                <a16:creationId xmlns:a16="http://schemas.microsoft.com/office/drawing/2014/main" id="{CC689AFB-B2A5-4721-F16C-6A2C22D67524}"/>
              </a:ext>
            </a:extLst>
          </p:cNvPr>
          <p:cNvSpPr/>
          <p:nvPr/>
        </p:nvSpPr>
        <p:spPr>
          <a:xfrm>
            <a:off x="3037713" y="3881374"/>
            <a:ext cx="447675" cy="0"/>
          </a:xfrm>
          <a:custGeom>
            <a:avLst/>
            <a:gdLst/>
            <a:ahLst/>
            <a:cxnLst/>
            <a:rect l="l" t="t" r="r" b="b"/>
            <a:pathLst>
              <a:path w="447675">
                <a:moveTo>
                  <a:pt x="0" y="0"/>
                </a:moveTo>
                <a:lnTo>
                  <a:pt x="447675" y="0"/>
                </a:lnTo>
              </a:path>
            </a:pathLst>
          </a:custGeom>
          <a:ln w="9525">
            <a:solidFill>
              <a:srgbClr val="E6E6E6"/>
            </a:solidFill>
          </a:ln>
        </p:spPr>
        <p:txBody>
          <a:bodyPr wrap="square" lIns="0" tIns="0" rIns="0" bIns="0" rtlCol="0"/>
          <a:lstStyle/>
          <a:p>
            <a:endParaRPr/>
          </a:p>
        </p:txBody>
      </p:sp>
      <p:sp>
        <p:nvSpPr>
          <p:cNvPr id="10" name="object 10">
            <a:extLst>
              <a:ext uri="{FF2B5EF4-FFF2-40B4-BE49-F238E27FC236}">
                <a16:creationId xmlns:a16="http://schemas.microsoft.com/office/drawing/2014/main" id="{52200E10-4E35-C58B-92FE-EF141461EEAC}"/>
              </a:ext>
            </a:extLst>
          </p:cNvPr>
          <p:cNvSpPr/>
          <p:nvPr/>
        </p:nvSpPr>
        <p:spPr>
          <a:xfrm>
            <a:off x="4606163" y="3509899"/>
            <a:ext cx="447675" cy="0"/>
          </a:xfrm>
          <a:custGeom>
            <a:avLst/>
            <a:gdLst/>
            <a:ahLst/>
            <a:cxnLst/>
            <a:rect l="l" t="t" r="r" b="b"/>
            <a:pathLst>
              <a:path w="447675">
                <a:moveTo>
                  <a:pt x="0" y="0"/>
                </a:moveTo>
                <a:lnTo>
                  <a:pt x="447675" y="0"/>
                </a:lnTo>
              </a:path>
            </a:pathLst>
          </a:custGeom>
          <a:ln w="9525">
            <a:solidFill>
              <a:srgbClr val="E6E6E6"/>
            </a:solidFill>
          </a:ln>
        </p:spPr>
        <p:txBody>
          <a:bodyPr wrap="square" lIns="0" tIns="0" rIns="0" bIns="0" rtlCol="0"/>
          <a:lstStyle/>
          <a:p>
            <a:endParaRPr/>
          </a:p>
        </p:txBody>
      </p:sp>
      <p:sp>
        <p:nvSpPr>
          <p:cNvPr id="11" name="object 11">
            <a:extLst>
              <a:ext uri="{FF2B5EF4-FFF2-40B4-BE49-F238E27FC236}">
                <a16:creationId xmlns:a16="http://schemas.microsoft.com/office/drawing/2014/main" id="{B9AA13EC-2C94-1784-9EA0-01D9F3DEEE8F}"/>
              </a:ext>
            </a:extLst>
          </p:cNvPr>
          <p:cNvSpPr/>
          <p:nvPr/>
        </p:nvSpPr>
        <p:spPr>
          <a:xfrm>
            <a:off x="6176264" y="3140075"/>
            <a:ext cx="447675" cy="0"/>
          </a:xfrm>
          <a:custGeom>
            <a:avLst/>
            <a:gdLst/>
            <a:ahLst/>
            <a:cxnLst/>
            <a:rect l="l" t="t" r="r" b="b"/>
            <a:pathLst>
              <a:path w="447675">
                <a:moveTo>
                  <a:pt x="0" y="0"/>
                </a:moveTo>
                <a:lnTo>
                  <a:pt x="447675" y="0"/>
                </a:lnTo>
              </a:path>
            </a:pathLst>
          </a:custGeom>
          <a:ln w="9525">
            <a:solidFill>
              <a:srgbClr val="E6E6E6"/>
            </a:solidFill>
          </a:ln>
        </p:spPr>
        <p:txBody>
          <a:bodyPr wrap="square" lIns="0" tIns="0" rIns="0" bIns="0" rtlCol="0"/>
          <a:lstStyle/>
          <a:p>
            <a:endParaRPr/>
          </a:p>
        </p:txBody>
      </p:sp>
      <p:sp>
        <p:nvSpPr>
          <p:cNvPr id="12" name="object 12">
            <a:extLst>
              <a:ext uri="{FF2B5EF4-FFF2-40B4-BE49-F238E27FC236}">
                <a16:creationId xmlns:a16="http://schemas.microsoft.com/office/drawing/2014/main" id="{CFC068A3-81C9-BCD0-1AAA-4403817A7CAC}"/>
              </a:ext>
            </a:extLst>
          </p:cNvPr>
          <p:cNvSpPr/>
          <p:nvPr/>
        </p:nvSpPr>
        <p:spPr>
          <a:xfrm>
            <a:off x="7744714" y="2584322"/>
            <a:ext cx="447675" cy="635"/>
          </a:xfrm>
          <a:custGeom>
            <a:avLst/>
            <a:gdLst/>
            <a:ahLst/>
            <a:cxnLst/>
            <a:rect l="l" t="t" r="r" b="b"/>
            <a:pathLst>
              <a:path w="447675" h="635">
                <a:moveTo>
                  <a:pt x="0" y="0"/>
                </a:moveTo>
                <a:lnTo>
                  <a:pt x="447675" y="126"/>
                </a:lnTo>
              </a:path>
            </a:pathLst>
          </a:custGeom>
          <a:ln w="9525">
            <a:solidFill>
              <a:srgbClr val="E6E6E6"/>
            </a:solidFill>
          </a:ln>
        </p:spPr>
        <p:txBody>
          <a:bodyPr wrap="square" lIns="0" tIns="0" rIns="0" bIns="0" rtlCol="0"/>
          <a:lstStyle/>
          <a:p>
            <a:endParaRPr/>
          </a:p>
        </p:txBody>
      </p:sp>
      <p:sp>
        <p:nvSpPr>
          <p:cNvPr id="13" name="object 13">
            <a:extLst>
              <a:ext uri="{FF2B5EF4-FFF2-40B4-BE49-F238E27FC236}">
                <a16:creationId xmlns:a16="http://schemas.microsoft.com/office/drawing/2014/main" id="{E694D159-3ECC-53C2-777E-AD3EA93CF962}"/>
              </a:ext>
            </a:extLst>
          </p:cNvPr>
          <p:cNvSpPr/>
          <p:nvPr/>
        </p:nvSpPr>
        <p:spPr>
          <a:xfrm>
            <a:off x="9845675" y="2398649"/>
            <a:ext cx="447675" cy="0"/>
          </a:xfrm>
          <a:custGeom>
            <a:avLst/>
            <a:gdLst/>
            <a:ahLst/>
            <a:cxnLst/>
            <a:rect l="l" t="t" r="r" b="b"/>
            <a:pathLst>
              <a:path w="447675">
                <a:moveTo>
                  <a:pt x="0" y="0"/>
                </a:moveTo>
                <a:lnTo>
                  <a:pt x="447675" y="0"/>
                </a:lnTo>
              </a:path>
            </a:pathLst>
          </a:custGeom>
          <a:ln w="9525">
            <a:solidFill>
              <a:srgbClr val="E6E6E6"/>
            </a:solidFill>
          </a:ln>
        </p:spPr>
        <p:txBody>
          <a:bodyPr wrap="square" lIns="0" tIns="0" rIns="0" bIns="0" rtlCol="0"/>
          <a:lstStyle/>
          <a:p>
            <a:endParaRPr/>
          </a:p>
        </p:txBody>
      </p:sp>
      <p:sp>
        <p:nvSpPr>
          <p:cNvPr id="14" name="object 14">
            <a:extLst>
              <a:ext uri="{FF2B5EF4-FFF2-40B4-BE49-F238E27FC236}">
                <a16:creationId xmlns:a16="http://schemas.microsoft.com/office/drawing/2014/main" id="{1360EE08-8ABB-CC0B-4B7C-CE32D765A6BD}"/>
              </a:ext>
            </a:extLst>
          </p:cNvPr>
          <p:cNvSpPr/>
          <p:nvPr/>
        </p:nvSpPr>
        <p:spPr>
          <a:xfrm>
            <a:off x="878205" y="4065828"/>
            <a:ext cx="1121410" cy="741045"/>
          </a:xfrm>
          <a:custGeom>
            <a:avLst/>
            <a:gdLst/>
            <a:ahLst/>
            <a:cxnLst/>
            <a:rect l="l" t="t" r="r" b="b"/>
            <a:pathLst>
              <a:path w="1121410" h="741045">
                <a:moveTo>
                  <a:pt x="0" y="740994"/>
                </a:moveTo>
                <a:lnTo>
                  <a:pt x="1120813" y="740994"/>
                </a:lnTo>
                <a:lnTo>
                  <a:pt x="1120813" y="0"/>
                </a:lnTo>
                <a:lnTo>
                  <a:pt x="0" y="0"/>
                </a:lnTo>
                <a:lnTo>
                  <a:pt x="0" y="740994"/>
                </a:lnTo>
                <a:close/>
              </a:path>
            </a:pathLst>
          </a:custGeom>
          <a:solidFill>
            <a:srgbClr val="051F79"/>
          </a:solidFill>
        </p:spPr>
        <p:txBody>
          <a:bodyPr wrap="square" lIns="0" tIns="0" rIns="0" bIns="0" rtlCol="0"/>
          <a:lstStyle/>
          <a:p>
            <a:endParaRPr/>
          </a:p>
        </p:txBody>
      </p:sp>
      <p:sp>
        <p:nvSpPr>
          <p:cNvPr id="15" name="object 15">
            <a:extLst>
              <a:ext uri="{FF2B5EF4-FFF2-40B4-BE49-F238E27FC236}">
                <a16:creationId xmlns:a16="http://schemas.microsoft.com/office/drawing/2014/main" id="{60E5BF2E-ED6A-13F9-E5A3-B3DED998B728}"/>
              </a:ext>
            </a:extLst>
          </p:cNvPr>
          <p:cNvSpPr/>
          <p:nvPr/>
        </p:nvSpPr>
        <p:spPr>
          <a:xfrm>
            <a:off x="878205" y="4065828"/>
            <a:ext cx="1121410" cy="741045"/>
          </a:xfrm>
          <a:custGeom>
            <a:avLst/>
            <a:gdLst/>
            <a:ahLst/>
            <a:cxnLst/>
            <a:rect l="l" t="t" r="r" b="b"/>
            <a:pathLst>
              <a:path w="1121410" h="741045">
                <a:moveTo>
                  <a:pt x="0" y="740994"/>
                </a:moveTo>
                <a:lnTo>
                  <a:pt x="1120813" y="740994"/>
                </a:lnTo>
                <a:lnTo>
                  <a:pt x="1120813" y="0"/>
                </a:lnTo>
                <a:lnTo>
                  <a:pt x="0" y="0"/>
                </a:lnTo>
                <a:lnTo>
                  <a:pt x="0" y="740994"/>
                </a:lnTo>
                <a:close/>
              </a:path>
            </a:pathLst>
          </a:custGeom>
          <a:ln w="9525">
            <a:solidFill>
              <a:srgbClr val="FFFFFF"/>
            </a:solidFill>
          </a:ln>
        </p:spPr>
        <p:txBody>
          <a:bodyPr wrap="square" lIns="0" tIns="0" rIns="0" bIns="0" rtlCol="0"/>
          <a:lstStyle/>
          <a:p>
            <a:endParaRPr/>
          </a:p>
        </p:txBody>
      </p:sp>
      <p:sp>
        <p:nvSpPr>
          <p:cNvPr id="16" name="object 16">
            <a:extLst>
              <a:ext uri="{FF2B5EF4-FFF2-40B4-BE49-F238E27FC236}">
                <a16:creationId xmlns:a16="http://schemas.microsoft.com/office/drawing/2014/main" id="{68E24CE7-2363-AC51-DA5A-62824D6F194D}"/>
              </a:ext>
            </a:extLst>
          </p:cNvPr>
          <p:cNvSpPr/>
          <p:nvPr/>
        </p:nvSpPr>
        <p:spPr>
          <a:xfrm>
            <a:off x="10292968" y="2398649"/>
            <a:ext cx="1121410" cy="2408555"/>
          </a:xfrm>
          <a:custGeom>
            <a:avLst/>
            <a:gdLst/>
            <a:ahLst/>
            <a:cxnLst/>
            <a:rect l="l" t="t" r="r" b="b"/>
            <a:pathLst>
              <a:path w="1121409" h="2408554">
                <a:moveTo>
                  <a:pt x="0" y="2408301"/>
                </a:moveTo>
                <a:lnTo>
                  <a:pt x="1120813" y="2408301"/>
                </a:lnTo>
                <a:lnTo>
                  <a:pt x="1120813" y="0"/>
                </a:lnTo>
                <a:lnTo>
                  <a:pt x="0" y="0"/>
                </a:lnTo>
                <a:lnTo>
                  <a:pt x="0" y="2408301"/>
                </a:lnTo>
                <a:close/>
              </a:path>
            </a:pathLst>
          </a:custGeom>
          <a:solidFill>
            <a:srgbClr val="051F79"/>
          </a:solidFill>
        </p:spPr>
        <p:txBody>
          <a:bodyPr wrap="square" lIns="0" tIns="0" rIns="0" bIns="0" rtlCol="0"/>
          <a:lstStyle/>
          <a:p>
            <a:endParaRPr/>
          </a:p>
        </p:txBody>
      </p:sp>
      <p:sp>
        <p:nvSpPr>
          <p:cNvPr id="17" name="object 17">
            <a:extLst>
              <a:ext uri="{FF2B5EF4-FFF2-40B4-BE49-F238E27FC236}">
                <a16:creationId xmlns:a16="http://schemas.microsoft.com/office/drawing/2014/main" id="{D511D74D-4EF5-92CC-B411-F17C5B15C81D}"/>
              </a:ext>
            </a:extLst>
          </p:cNvPr>
          <p:cNvSpPr/>
          <p:nvPr/>
        </p:nvSpPr>
        <p:spPr>
          <a:xfrm>
            <a:off x="10292968" y="2398649"/>
            <a:ext cx="1121410" cy="2408555"/>
          </a:xfrm>
          <a:custGeom>
            <a:avLst/>
            <a:gdLst/>
            <a:ahLst/>
            <a:cxnLst/>
            <a:rect l="l" t="t" r="r" b="b"/>
            <a:pathLst>
              <a:path w="1121409" h="2408554">
                <a:moveTo>
                  <a:pt x="0" y="2408301"/>
                </a:moveTo>
                <a:lnTo>
                  <a:pt x="1120813" y="2408301"/>
                </a:lnTo>
                <a:lnTo>
                  <a:pt x="1120813" y="0"/>
                </a:lnTo>
                <a:lnTo>
                  <a:pt x="0" y="0"/>
                </a:lnTo>
                <a:lnTo>
                  <a:pt x="0" y="2408301"/>
                </a:lnTo>
                <a:close/>
              </a:path>
            </a:pathLst>
          </a:custGeom>
          <a:ln w="9525">
            <a:solidFill>
              <a:srgbClr val="FFFFFF"/>
            </a:solidFill>
          </a:ln>
        </p:spPr>
        <p:txBody>
          <a:bodyPr wrap="square" lIns="0" tIns="0" rIns="0" bIns="0" rtlCol="0"/>
          <a:lstStyle/>
          <a:p>
            <a:endParaRPr/>
          </a:p>
        </p:txBody>
      </p:sp>
      <p:sp>
        <p:nvSpPr>
          <p:cNvPr id="20" name="object 20">
            <a:extLst>
              <a:ext uri="{FF2B5EF4-FFF2-40B4-BE49-F238E27FC236}">
                <a16:creationId xmlns:a16="http://schemas.microsoft.com/office/drawing/2014/main" id="{B84F148B-EA11-B8FD-A09B-81FD5742D730}"/>
              </a:ext>
            </a:extLst>
          </p:cNvPr>
          <p:cNvSpPr/>
          <p:nvPr/>
        </p:nvSpPr>
        <p:spPr>
          <a:xfrm>
            <a:off x="5039232" y="3276600"/>
            <a:ext cx="1121410" cy="556260"/>
          </a:xfrm>
          <a:custGeom>
            <a:avLst/>
            <a:gdLst/>
            <a:ahLst/>
            <a:cxnLst/>
            <a:rect l="l" t="t" r="r" b="b"/>
            <a:pathLst>
              <a:path w="1121409" h="556260">
                <a:moveTo>
                  <a:pt x="0" y="555751"/>
                </a:moveTo>
                <a:lnTo>
                  <a:pt x="1120813" y="555751"/>
                </a:lnTo>
                <a:lnTo>
                  <a:pt x="1120813" y="0"/>
                </a:lnTo>
                <a:lnTo>
                  <a:pt x="0" y="0"/>
                </a:lnTo>
                <a:lnTo>
                  <a:pt x="0" y="555751"/>
                </a:lnTo>
                <a:close/>
              </a:path>
            </a:pathLst>
          </a:custGeom>
          <a:solidFill>
            <a:srgbClr val="0579C3"/>
          </a:solidFill>
        </p:spPr>
        <p:txBody>
          <a:bodyPr wrap="square" lIns="0" tIns="0" rIns="0" bIns="0" rtlCol="0"/>
          <a:lstStyle/>
          <a:p>
            <a:endParaRPr/>
          </a:p>
        </p:txBody>
      </p:sp>
      <p:sp>
        <p:nvSpPr>
          <p:cNvPr id="21" name="object 21">
            <a:extLst>
              <a:ext uri="{FF2B5EF4-FFF2-40B4-BE49-F238E27FC236}">
                <a16:creationId xmlns:a16="http://schemas.microsoft.com/office/drawing/2014/main" id="{94F0D92B-8512-6C62-3D53-460A52E8649E}"/>
              </a:ext>
            </a:extLst>
          </p:cNvPr>
          <p:cNvSpPr/>
          <p:nvPr/>
        </p:nvSpPr>
        <p:spPr>
          <a:xfrm>
            <a:off x="5029200" y="3281299"/>
            <a:ext cx="1121410" cy="556260"/>
          </a:xfrm>
          <a:custGeom>
            <a:avLst/>
            <a:gdLst/>
            <a:ahLst/>
            <a:cxnLst/>
            <a:rect l="l" t="t" r="r" b="b"/>
            <a:pathLst>
              <a:path w="1121409" h="556260">
                <a:moveTo>
                  <a:pt x="0" y="555751"/>
                </a:moveTo>
                <a:lnTo>
                  <a:pt x="1120813" y="555751"/>
                </a:lnTo>
                <a:lnTo>
                  <a:pt x="1120813" y="0"/>
                </a:lnTo>
                <a:lnTo>
                  <a:pt x="0" y="0"/>
                </a:lnTo>
                <a:lnTo>
                  <a:pt x="0" y="555751"/>
                </a:lnTo>
                <a:close/>
              </a:path>
            </a:pathLst>
          </a:custGeom>
          <a:ln w="19050">
            <a:solidFill>
              <a:srgbClr val="051F79"/>
            </a:solidFill>
          </a:ln>
        </p:spPr>
        <p:txBody>
          <a:bodyPr wrap="square" lIns="0" tIns="0" rIns="0" bIns="0" rtlCol="0"/>
          <a:lstStyle/>
          <a:p>
            <a:endParaRPr/>
          </a:p>
        </p:txBody>
      </p:sp>
      <p:sp>
        <p:nvSpPr>
          <p:cNvPr id="22" name="object 22">
            <a:extLst>
              <a:ext uri="{FF2B5EF4-FFF2-40B4-BE49-F238E27FC236}">
                <a16:creationId xmlns:a16="http://schemas.microsoft.com/office/drawing/2014/main" id="{F146F6BC-A525-99BD-5765-3E6AEED142AE}"/>
              </a:ext>
            </a:extLst>
          </p:cNvPr>
          <p:cNvSpPr/>
          <p:nvPr/>
        </p:nvSpPr>
        <p:spPr>
          <a:xfrm>
            <a:off x="6498590" y="3450855"/>
            <a:ext cx="1121410" cy="363844"/>
          </a:xfrm>
          <a:custGeom>
            <a:avLst/>
            <a:gdLst/>
            <a:ahLst/>
            <a:cxnLst/>
            <a:rect l="l" t="t" r="r" b="b"/>
            <a:pathLst>
              <a:path w="1121409" h="185419">
                <a:moveTo>
                  <a:pt x="0" y="185254"/>
                </a:moveTo>
                <a:lnTo>
                  <a:pt x="1120813" y="185254"/>
                </a:lnTo>
                <a:lnTo>
                  <a:pt x="1120813" y="0"/>
                </a:lnTo>
                <a:lnTo>
                  <a:pt x="0" y="0"/>
                </a:lnTo>
                <a:lnTo>
                  <a:pt x="0" y="185254"/>
                </a:lnTo>
                <a:close/>
              </a:path>
            </a:pathLst>
          </a:custGeom>
          <a:solidFill>
            <a:srgbClr val="C3E6FC"/>
          </a:solidFill>
        </p:spPr>
        <p:txBody>
          <a:bodyPr wrap="square" lIns="0" tIns="0" rIns="0" bIns="0" rtlCol="0"/>
          <a:lstStyle/>
          <a:p>
            <a:endParaRPr/>
          </a:p>
        </p:txBody>
      </p:sp>
      <p:sp>
        <p:nvSpPr>
          <p:cNvPr id="23" name="object 23">
            <a:extLst>
              <a:ext uri="{FF2B5EF4-FFF2-40B4-BE49-F238E27FC236}">
                <a16:creationId xmlns:a16="http://schemas.microsoft.com/office/drawing/2014/main" id="{161F3A77-0BFC-92AD-0BD6-CED6A9D921F6}"/>
              </a:ext>
            </a:extLst>
          </p:cNvPr>
          <p:cNvSpPr/>
          <p:nvPr/>
        </p:nvSpPr>
        <p:spPr>
          <a:xfrm>
            <a:off x="6515535" y="3440688"/>
            <a:ext cx="1121410" cy="395186"/>
          </a:xfrm>
          <a:custGeom>
            <a:avLst/>
            <a:gdLst/>
            <a:ahLst/>
            <a:cxnLst/>
            <a:rect l="l" t="t" r="r" b="b"/>
            <a:pathLst>
              <a:path w="1121409" h="185419">
                <a:moveTo>
                  <a:pt x="0" y="185254"/>
                </a:moveTo>
                <a:lnTo>
                  <a:pt x="1120813" y="185254"/>
                </a:lnTo>
                <a:lnTo>
                  <a:pt x="1120813" y="0"/>
                </a:lnTo>
                <a:lnTo>
                  <a:pt x="0" y="0"/>
                </a:lnTo>
                <a:lnTo>
                  <a:pt x="0" y="185254"/>
                </a:lnTo>
                <a:close/>
              </a:path>
            </a:pathLst>
          </a:custGeom>
          <a:ln w="19050">
            <a:solidFill>
              <a:srgbClr val="051F79"/>
            </a:solidFill>
          </a:ln>
        </p:spPr>
        <p:txBody>
          <a:bodyPr wrap="square" lIns="0" tIns="0" rIns="0" bIns="0" rtlCol="0"/>
          <a:lstStyle/>
          <a:p>
            <a:endParaRPr/>
          </a:p>
        </p:txBody>
      </p:sp>
      <p:sp>
        <p:nvSpPr>
          <p:cNvPr id="24" name="object 24">
            <a:extLst>
              <a:ext uri="{FF2B5EF4-FFF2-40B4-BE49-F238E27FC236}">
                <a16:creationId xmlns:a16="http://schemas.microsoft.com/office/drawing/2014/main" id="{DF19A181-0DE1-B79C-FA59-63682700F9AA}"/>
              </a:ext>
            </a:extLst>
          </p:cNvPr>
          <p:cNvSpPr/>
          <p:nvPr/>
        </p:nvSpPr>
        <p:spPr>
          <a:xfrm>
            <a:off x="8021955" y="3443859"/>
            <a:ext cx="1122045" cy="370840"/>
          </a:xfrm>
          <a:custGeom>
            <a:avLst/>
            <a:gdLst/>
            <a:ahLst/>
            <a:cxnLst/>
            <a:rect l="l" t="t" r="r" b="b"/>
            <a:pathLst>
              <a:path w="1122045" h="370839">
                <a:moveTo>
                  <a:pt x="0" y="370332"/>
                </a:moveTo>
                <a:lnTo>
                  <a:pt x="1121664" y="370332"/>
                </a:lnTo>
                <a:lnTo>
                  <a:pt x="1121664" y="0"/>
                </a:lnTo>
                <a:lnTo>
                  <a:pt x="0" y="0"/>
                </a:lnTo>
                <a:lnTo>
                  <a:pt x="0" y="370332"/>
                </a:lnTo>
                <a:close/>
              </a:path>
            </a:pathLst>
          </a:custGeom>
          <a:solidFill>
            <a:srgbClr val="E2FBF9"/>
          </a:solidFill>
        </p:spPr>
        <p:txBody>
          <a:bodyPr wrap="square" lIns="0" tIns="0" rIns="0" bIns="0" rtlCol="0"/>
          <a:lstStyle/>
          <a:p>
            <a:endParaRPr/>
          </a:p>
        </p:txBody>
      </p:sp>
      <p:sp>
        <p:nvSpPr>
          <p:cNvPr id="25" name="object 25">
            <a:extLst>
              <a:ext uri="{FF2B5EF4-FFF2-40B4-BE49-F238E27FC236}">
                <a16:creationId xmlns:a16="http://schemas.microsoft.com/office/drawing/2014/main" id="{4D57D1B7-FA24-4569-A480-3CD46BECF1B0}"/>
              </a:ext>
            </a:extLst>
          </p:cNvPr>
          <p:cNvSpPr/>
          <p:nvPr/>
        </p:nvSpPr>
        <p:spPr>
          <a:xfrm>
            <a:off x="8021955" y="3358334"/>
            <a:ext cx="1122045" cy="477540"/>
          </a:xfrm>
          <a:custGeom>
            <a:avLst/>
            <a:gdLst/>
            <a:ahLst/>
            <a:cxnLst/>
            <a:rect l="l" t="t" r="r" b="b"/>
            <a:pathLst>
              <a:path w="1122045" h="370839">
                <a:moveTo>
                  <a:pt x="0" y="370332"/>
                </a:moveTo>
                <a:lnTo>
                  <a:pt x="1121664" y="370332"/>
                </a:lnTo>
                <a:lnTo>
                  <a:pt x="1121664" y="0"/>
                </a:lnTo>
                <a:lnTo>
                  <a:pt x="0" y="0"/>
                </a:lnTo>
                <a:lnTo>
                  <a:pt x="0" y="370332"/>
                </a:lnTo>
                <a:close/>
              </a:path>
            </a:pathLst>
          </a:custGeom>
          <a:ln w="19050">
            <a:solidFill>
              <a:srgbClr val="051F79"/>
            </a:solidFill>
          </a:ln>
        </p:spPr>
        <p:txBody>
          <a:bodyPr wrap="square" lIns="0" tIns="0" rIns="0" bIns="0" rtlCol="0"/>
          <a:lstStyle/>
          <a:p>
            <a:endParaRPr/>
          </a:p>
        </p:txBody>
      </p:sp>
      <p:sp>
        <p:nvSpPr>
          <p:cNvPr id="26" name="object 26">
            <a:extLst>
              <a:ext uri="{FF2B5EF4-FFF2-40B4-BE49-F238E27FC236}">
                <a16:creationId xmlns:a16="http://schemas.microsoft.com/office/drawing/2014/main" id="{C0EF53C2-EC27-310B-CB1C-92B83A6345E2}"/>
              </a:ext>
            </a:extLst>
          </p:cNvPr>
          <p:cNvSpPr/>
          <p:nvPr/>
        </p:nvSpPr>
        <p:spPr>
          <a:xfrm>
            <a:off x="654050" y="4806950"/>
            <a:ext cx="10984230" cy="0"/>
          </a:xfrm>
          <a:custGeom>
            <a:avLst/>
            <a:gdLst/>
            <a:ahLst/>
            <a:cxnLst/>
            <a:rect l="l" t="t" r="r" b="b"/>
            <a:pathLst>
              <a:path w="10984230">
                <a:moveTo>
                  <a:pt x="0" y="0"/>
                </a:moveTo>
                <a:lnTo>
                  <a:pt x="10983976" y="0"/>
                </a:lnTo>
              </a:path>
            </a:pathLst>
          </a:custGeom>
          <a:ln w="9525">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FF3EA595-F224-AB18-966D-BA1045E2C7D4}"/>
              </a:ext>
            </a:extLst>
          </p:cNvPr>
          <p:cNvSpPr/>
          <p:nvPr/>
        </p:nvSpPr>
        <p:spPr>
          <a:xfrm>
            <a:off x="2446401" y="3881374"/>
            <a:ext cx="1122680" cy="184150"/>
          </a:xfrm>
          <a:custGeom>
            <a:avLst/>
            <a:gdLst/>
            <a:ahLst/>
            <a:cxnLst/>
            <a:rect l="l" t="t" r="r" b="b"/>
            <a:pathLst>
              <a:path w="1122679" h="184150">
                <a:moveTo>
                  <a:pt x="0" y="184150"/>
                </a:moveTo>
                <a:lnTo>
                  <a:pt x="1122362" y="184150"/>
                </a:lnTo>
                <a:lnTo>
                  <a:pt x="1122362" y="0"/>
                </a:lnTo>
                <a:lnTo>
                  <a:pt x="0" y="0"/>
                </a:lnTo>
                <a:lnTo>
                  <a:pt x="0" y="184150"/>
                </a:lnTo>
                <a:close/>
              </a:path>
            </a:pathLst>
          </a:custGeom>
          <a:ln w="19050">
            <a:solidFill>
              <a:schemeClr val="tx1">
                <a:lumMod val="65000"/>
                <a:lumOff val="35000"/>
              </a:schemeClr>
            </a:solidFill>
            <a:prstDash val="sysDash"/>
          </a:ln>
        </p:spPr>
        <p:txBody>
          <a:bodyPr wrap="square" lIns="0" tIns="0" rIns="0" bIns="0" rtlCol="0"/>
          <a:lstStyle/>
          <a:p>
            <a:endParaRPr/>
          </a:p>
        </p:txBody>
      </p:sp>
      <p:sp>
        <p:nvSpPr>
          <p:cNvPr id="28" name="object 28">
            <a:extLst>
              <a:ext uri="{FF2B5EF4-FFF2-40B4-BE49-F238E27FC236}">
                <a16:creationId xmlns:a16="http://schemas.microsoft.com/office/drawing/2014/main" id="{A9A567F9-CA07-62A9-587D-D1546E4F97E2}"/>
              </a:ext>
            </a:extLst>
          </p:cNvPr>
          <p:cNvSpPr txBox="1"/>
          <p:nvPr/>
        </p:nvSpPr>
        <p:spPr>
          <a:xfrm>
            <a:off x="2894457" y="3848608"/>
            <a:ext cx="361696" cy="228268"/>
          </a:xfrm>
          <a:prstGeom prst="rect">
            <a:avLst/>
          </a:prstGeom>
        </p:spPr>
        <p:txBody>
          <a:bodyPr vert="horz" wrap="square" lIns="0" tIns="12700" rIns="0" bIns="0" rtlCol="0">
            <a:spAutoFit/>
          </a:bodyPr>
          <a:lstStyle/>
          <a:p>
            <a:pPr marL="12700">
              <a:lnSpc>
                <a:spcPct val="100000"/>
              </a:lnSpc>
              <a:spcBef>
                <a:spcPts val="100"/>
              </a:spcBef>
            </a:pPr>
            <a:r>
              <a:rPr lang="en-US" sz="1400" b="1" spc="-5" dirty="0">
                <a:latin typeface="Arial"/>
                <a:cs typeface="Arial"/>
              </a:rPr>
              <a:t>45</a:t>
            </a:r>
            <a:endParaRPr sz="1400" dirty="0">
              <a:latin typeface="Arial"/>
              <a:cs typeface="Arial"/>
            </a:endParaRPr>
          </a:p>
        </p:txBody>
      </p:sp>
      <p:sp>
        <p:nvSpPr>
          <p:cNvPr id="29" name="object 29">
            <a:extLst>
              <a:ext uri="{FF2B5EF4-FFF2-40B4-BE49-F238E27FC236}">
                <a16:creationId xmlns:a16="http://schemas.microsoft.com/office/drawing/2014/main" id="{51CF8936-1848-A63E-8CBC-326A3886E018}"/>
              </a:ext>
            </a:extLst>
          </p:cNvPr>
          <p:cNvSpPr txBox="1"/>
          <p:nvPr/>
        </p:nvSpPr>
        <p:spPr>
          <a:xfrm>
            <a:off x="2433573" y="4847716"/>
            <a:ext cx="1148715" cy="452755"/>
          </a:xfrm>
          <a:prstGeom prst="rect">
            <a:avLst/>
          </a:prstGeom>
        </p:spPr>
        <p:txBody>
          <a:bodyPr vert="horz" wrap="square" lIns="0" tIns="12700" rIns="0" bIns="0" rtlCol="0">
            <a:spAutoFit/>
          </a:bodyPr>
          <a:lstStyle/>
          <a:p>
            <a:pPr marL="635" algn="ctr">
              <a:lnSpc>
                <a:spcPct val="100000"/>
              </a:lnSpc>
              <a:spcBef>
                <a:spcPts val="100"/>
              </a:spcBef>
            </a:pPr>
            <a:r>
              <a:rPr sz="1400" spc="-5" dirty="0">
                <a:latin typeface="Arial"/>
                <a:cs typeface="Arial"/>
              </a:rPr>
              <a:t>2030</a:t>
            </a:r>
            <a:endParaRPr sz="1400" dirty="0">
              <a:latin typeface="Arial"/>
              <a:cs typeface="Arial"/>
            </a:endParaRPr>
          </a:p>
          <a:p>
            <a:pPr algn="ctr">
              <a:lnSpc>
                <a:spcPct val="100000"/>
              </a:lnSpc>
            </a:pPr>
            <a:r>
              <a:rPr sz="1400" spc="-5" dirty="0">
                <a:latin typeface="Arial"/>
                <a:cs typeface="Arial"/>
              </a:rPr>
              <a:t>Market</a:t>
            </a:r>
            <a:r>
              <a:rPr sz="1400" spc="-100" dirty="0">
                <a:latin typeface="Arial"/>
                <a:cs typeface="Arial"/>
              </a:rPr>
              <a:t> </a:t>
            </a:r>
            <a:r>
              <a:rPr sz="1400" spc="-5" dirty="0">
                <a:latin typeface="Arial"/>
                <a:cs typeface="Arial"/>
              </a:rPr>
              <a:t>growth</a:t>
            </a:r>
            <a:endParaRPr sz="1400" dirty="0">
              <a:latin typeface="Arial"/>
              <a:cs typeface="Arial"/>
            </a:endParaRPr>
          </a:p>
        </p:txBody>
      </p:sp>
      <p:sp>
        <p:nvSpPr>
          <p:cNvPr id="32" name="object 32">
            <a:extLst>
              <a:ext uri="{FF2B5EF4-FFF2-40B4-BE49-F238E27FC236}">
                <a16:creationId xmlns:a16="http://schemas.microsoft.com/office/drawing/2014/main" id="{69544B5F-22C1-475A-99DD-4FF2279F52BB}"/>
              </a:ext>
            </a:extLst>
          </p:cNvPr>
          <p:cNvSpPr txBox="1"/>
          <p:nvPr/>
        </p:nvSpPr>
        <p:spPr>
          <a:xfrm>
            <a:off x="8303896" y="3509899"/>
            <a:ext cx="587377" cy="228909"/>
          </a:xfrm>
          <a:prstGeom prst="rect">
            <a:avLst/>
          </a:prstGeom>
        </p:spPr>
        <p:txBody>
          <a:bodyPr vert="horz" wrap="square" lIns="0" tIns="13335" rIns="0" bIns="0" rtlCol="0">
            <a:spAutoFit/>
          </a:bodyPr>
          <a:lstStyle/>
          <a:p>
            <a:pPr marL="12700">
              <a:lnSpc>
                <a:spcPct val="100000"/>
              </a:lnSpc>
              <a:spcBef>
                <a:spcPts val="105"/>
              </a:spcBef>
            </a:pPr>
            <a:r>
              <a:rPr lang="en-US" sz="1400" b="1" spc="-5" dirty="0">
                <a:latin typeface="Arial"/>
                <a:cs typeface="Arial"/>
              </a:rPr>
              <a:t>40-50</a:t>
            </a:r>
            <a:endParaRPr sz="1400" dirty="0">
              <a:latin typeface="Arial"/>
              <a:cs typeface="Arial"/>
            </a:endParaRPr>
          </a:p>
        </p:txBody>
      </p:sp>
      <p:sp>
        <p:nvSpPr>
          <p:cNvPr id="33" name="object 33">
            <a:extLst>
              <a:ext uri="{FF2B5EF4-FFF2-40B4-BE49-F238E27FC236}">
                <a16:creationId xmlns:a16="http://schemas.microsoft.com/office/drawing/2014/main" id="{3C9AA424-F9CC-A563-D75B-A9A52FDA8E4D}"/>
              </a:ext>
            </a:extLst>
          </p:cNvPr>
          <p:cNvSpPr txBox="1"/>
          <p:nvPr/>
        </p:nvSpPr>
        <p:spPr>
          <a:xfrm>
            <a:off x="7850184" y="4921404"/>
            <a:ext cx="1487805" cy="452755"/>
          </a:xfrm>
          <a:prstGeom prst="rect">
            <a:avLst/>
          </a:prstGeom>
        </p:spPr>
        <p:txBody>
          <a:bodyPr vert="horz" wrap="square" lIns="0" tIns="12700" rIns="0" bIns="0" rtlCol="0">
            <a:spAutoFit/>
          </a:bodyPr>
          <a:lstStyle/>
          <a:p>
            <a:pPr marL="12700" marR="5080" indent="13335" algn="ctr">
              <a:lnSpc>
                <a:spcPct val="100000"/>
              </a:lnSpc>
              <a:spcBef>
                <a:spcPts val="100"/>
              </a:spcBef>
            </a:pPr>
            <a:r>
              <a:rPr lang="en-US" sz="1400" b="1" spc="-5" dirty="0">
                <a:latin typeface="Arial"/>
                <a:cs typeface="Arial"/>
              </a:rPr>
              <a:t>Expand digital presence </a:t>
            </a:r>
          </a:p>
        </p:txBody>
      </p:sp>
      <p:sp>
        <p:nvSpPr>
          <p:cNvPr id="34" name="object 34">
            <a:extLst>
              <a:ext uri="{FF2B5EF4-FFF2-40B4-BE49-F238E27FC236}">
                <a16:creationId xmlns:a16="http://schemas.microsoft.com/office/drawing/2014/main" id="{87B41CCC-3F93-39B4-6178-6B5E6BF84B7A}"/>
              </a:ext>
            </a:extLst>
          </p:cNvPr>
          <p:cNvSpPr txBox="1"/>
          <p:nvPr/>
        </p:nvSpPr>
        <p:spPr>
          <a:xfrm>
            <a:off x="5395604" y="3455615"/>
            <a:ext cx="481330" cy="228909"/>
          </a:xfrm>
          <a:prstGeom prst="rect">
            <a:avLst/>
          </a:prstGeom>
        </p:spPr>
        <p:txBody>
          <a:bodyPr vert="horz" wrap="square" lIns="0" tIns="13335" rIns="0" bIns="0" rtlCol="0">
            <a:spAutoFit/>
          </a:bodyPr>
          <a:lstStyle/>
          <a:p>
            <a:pPr marL="12700">
              <a:lnSpc>
                <a:spcPct val="100000"/>
              </a:lnSpc>
              <a:spcBef>
                <a:spcPts val="105"/>
              </a:spcBef>
            </a:pPr>
            <a:r>
              <a:rPr lang="en-US" sz="1400" b="1" spc="-5" dirty="0">
                <a:solidFill>
                  <a:srgbClr val="FFFFFF"/>
                </a:solidFill>
                <a:latin typeface="Arial"/>
                <a:cs typeface="Arial"/>
              </a:rPr>
              <a:t>50-60</a:t>
            </a:r>
            <a:endParaRPr sz="1400" dirty="0">
              <a:latin typeface="Arial"/>
              <a:cs typeface="Arial"/>
            </a:endParaRPr>
          </a:p>
        </p:txBody>
      </p:sp>
      <p:sp>
        <p:nvSpPr>
          <p:cNvPr id="35" name="object 35">
            <a:extLst>
              <a:ext uri="{FF2B5EF4-FFF2-40B4-BE49-F238E27FC236}">
                <a16:creationId xmlns:a16="http://schemas.microsoft.com/office/drawing/2014/main" id="{29BE8A05-2F11-4933-2447-65F355EE2E44}"/>
              </a:ext>
            </a:extLst>
          </p:cNvPr>
          <p:cNvSpPr txBox="1"/>
          <p:nvPr/>
        </p:nvSpPr>
        <p:spPr>
          <a:xfrm>
            <a:off x="4950713" y="4916297"/>
            <a:ext cx="1373887" cy="671979"/>
          </a:xfrm>
          <a:prstGeom prst="rect">
            <a:avLst/>
          </a:prstGeom>
        </p:spPr>
        <p:txBody>
          <a:bodyPr vert="horz" wrap="square" lIns="0" tIns="12700" rIns="0" bIns="0" rtlCol="0">
            <a:spAutoFit/>
          </a:bodyPr>
          <a:lstStyle/>
          <a:p>
            <a:pPr marL="12700" marR="5080" indent="156845" algn="ctr">
              <a:lnSpc>
                <a:spcPct val="100000"/>
              </a:lnSpc>
              <a:spcBef>
                <a:spcPts val="100"/>
              </a:spcBef>
            </a:pPr>
            <a:r>
              <a:rPr lang="en-US" sz="1400" b="1" dirty="0">
                <a:latin typeface="Arial"/>
                <a:cs typeface="Arial"/>
              </a:rPr>
              <a:t>Increase used cars financing</a:t>
            </a:r>
          </a:p>
          <a:p>
            <a:pPr marL="12700" marR="5080" indent="156845" algn="ctr">
              <a:lnSpc>
                <a:spcPct val="100000"/>
              </a:lnSpc>
              <a:spcBef>
                <a:spcPts val="100"/>
              </a:spcBef>
            </a:pPr>
            <a:endParaRPr lang="en-US" sz="1400" b="1" dirty="0">
              <a:latin typeface="Arial"/>
              <a:cs typeface="Arial"/>
            </a:endParaRPr>
          </a:p>
        </p:txBody>
      </p:sp>
      <p:sp>
        <p:nvSpPr>
          <p:cNvPr id="36" name="object 36">
            <a:extLst>
              <a:ext uri="{FF2B5EF4-FFF2-40B4-BE49-F238E27FC236}">
                <a16:creationId xmlns:a16="http://schemas.microsoft.com/office/drawing/2014/main" id="{FC2FCEC6-3F29-2DBF-4ED1-2AD08AD3CD3A}"/>
              </a:ext>
            </a:extLst>
          </p:cNvPr>
          <p:cNvSpPr txBox="1"/>
          <p:nvPr/>
        </p:nvSpPr>
        <p:spPr>
          <a:xfrm>
            <a:off x="6852033" y="3509590"/>
            <a:ext cx="583435" cy="228909"/>
          </a:xfrm>
          <a:prstGeom prst="rect">
            <a:avLst/>
          </a:prstGeom>
        </p:spPr>
        <p:txBody>
          <a:bodyPr vert="horz" wrap="square" lIns="0" tIns="13335" rIns="0" bIns="0" rtlCol="0">
            <a:spAutoFit/>
          </a:bodyPr>
          <a:lstStyle/>
          <a:p>
            <a:pPr marL="12700">
              <a:lnSpc>
                <a:spcPct val="100000"/>
              </a:lnSpc>
              <a:spcBef>
                <a:spcPts val="105"/>
              </a:spcBef>
            </a:pPr>
            <a:r>
              <a:rPr lang="en-US" sz="1400" b="1" spc="-5" dirty="0">
                <a:latin typeface="Arial"/>
                <a:cs typeface="Arial"/>
              </a:rPr>
              <a:t>35-</a:t>
            </a:r>
            <a:r>
              <a:rPr sz="1400" b="1" spc="-5" dirty="0">
                <a:latin typeface="Arial"/>
                <a:cs typeface="Arial"/>
              </a:rPr>
              <a:t>4</a:t>
            </a:r>
            <a:r>
              <a:rPr lang="en-US" sz="1400" b="1" spc="-5" dirty="0">
                <a:latin typeface="Arial"/>
                <a:cs typeface="Arial"/>
              </a:rPr>
              <a:t>5</a:t>
            </a:r>
            <a:endParaRPr sz="1400" dirty="0">
              <a:latin typeface="Arial"/>
              <a:cs typeface="Arial"/>
            </a:endParaRPr>
          </a:p>
        </p:txBody>
      </p:sp>
      <p:sp>
        <p:nvSpPr>
          <p:cNvPr id="37" name="object 37">
            <a:extLst>
              <a:ext uri="{FF2B5EF4-FFF2-40B4-BE49-F238E27FC236}">
                <a16:creationId xmlns:a16="http://schemas.microsoft.com/office/drawing/2014/main" id="{9B65B343-5F6A-EEEF-DBB2-544BD13DBED7}"/>
              </a:ext>
            </a:extLst>
          </p:cNvPr>
          <p:cNvSpPr txBox="1"/>
          <p:nvPr/>
        </p:nvSpPr>
        <p:spPr>
          <a:xfrm>
            <a:off x="6543296" y="4921404"/>
            <a:ext cx="1239520" cy="452755"/>
          </a:xfrm>
          <a:prstGeom prst="rect">
            <a:avLst/>
          </a:prstGeom>
        </p:spPr>
        <p:txBody>
          <a:bodyPr vert="horz" wrap="square" lIns="0" tIns="12700" rIns="0" bIns="0" rtlCol="0">
            <a:spAutoFit/>
          </a:bodyPr>
          <a:lstStyle/>
          <a:p>
            <a:pPr marL="228600" marR="5080" indent="-216535">
              <a:lnSpc>
                <a:spcPct val="100000"/>
              </a:lnSpc>
              <a:spcBef>
                <a:spcPts val="100"/>
              </a:spcBef>
            </a:pPr>
            <a:r>
              <a:rPr lang="en-US" sz="1400" b="1" spc="-5" dirty="0">
                <a:latin typeface="Arial"/>
                <a:cs typeface="Arial"/>
              </a:rPr>
              <a:t>Redesign B2B Lending</a:t>
            </a:r>
          </a:p>
        </p:txBody>
      </p:sp>
      <p:sp>
        <p:nvSpPr>
          <p:cNvPr id="38" name="object 38">
            <a:extLst>
              <a:ext uri="{FF2B5EF4-FFF2-40B4-BE49-F238E27FC236}">
                <a16:creationId xmlns:a16="http://schemas.microsoft.com/office/drawing/2014/main" id="{5DDC43F9-2B25-58EC-4907-E1FC87F942ED}"/>
              </a:ext>
            </a:extLst>
          </p:cNvPr>
          <p:cNvSpPr txBox="1"/>
          <p:nvPr/>
        </p:nvSpPr>
        <p:spPr>
          <a:xfrm>
            <a:off x="1273898" y="4367333"/>
            <a:ext cx="327660" cy="228909"/>
          </a:xfrm>
          <a:prstGeom prst="rect">
            <a:avLst/>
          </a:prstGeom>
        </p:spPr>
        <p:txBody>
          <a:bodyPr vert="horz" wrap="square" lIns="0" tIns="13335" rIns="0" bIns="0" rtlCol="0">
            <a:spAutoFit/>
          </a:bodyPr>
          <a:lstStyle/>
          <a:p>
            <a:pPr marL="12700">
              <a:lnSpc>
                <a:spcPct val="100000"/>
              </a:lnSpc>
              <a:spcBef>
                <a:spcPts val="105"/>
              </a:spcBef>
            </a:pPr>
            <a:r>
              <a:rPr lang="en-US" sz="1400" b="1" spc="-5" dirty="0">
                <a:solidFill>
                  <a:schemeClr val="bg1"/>
                </a:solidFill>
                <a:latin typeface="Arial"/>
                <a:cs typeface="Arial"/>
              </a:rPr>
              <a:t>215</a:t>
            </a:r>
            <a:endParaRPr sz="1400" dirty="0">
              <a:solidFill>
                <a:schemeClr val="bg1"/>
              </a:solidFill>
              <a:latin typeface="Arial"/>
              <a:cs typeface="Arial"/>
            </a:endParaRPr>
          </a:p>
        </p:txBody>
      </p:sp>
      <p:sp>
        <p:nvSpPr>
          <p:cNvPr id="39" name="object 39">
            <a:extLst>
              <a:ext uri="{FF2B5EF4-FFF2-40B4-BE49-F238E27FC236}">
                <a16:creationId xmlns:a16="http://schemas.microsoft.com/office/drawing/2014/main" id="{DB2C936D-2C35-11B4-9885-F0F26F4C886F}"/>
              </a:ext>
            </a:extLst>
          </p:cNvPr>
          <p:cNvSpPr txBox="1"/>
          <p:nvPr/>
        </p:nvSpPr>
        <p:spPr>
          <a:xfrm>
            <a:off x="10485945" y="2976499"/>
            <a:ext cx="779272" cy="228909"/>
          </a:xfrm>
          <a:prstGeom prst="rect">
            <a:avLst/>
          </a:prstGeom>
        </p:spPr>
        <p:txBody>
          <a:bodyPr vert="horz" wrap="square" lIns="0" tIns="13335" rIns="0" bIns="0" rtlCol="0">
            <a:spAutoFit/>
          </a:bodyPr>
          <a:lstStyle/>
          <a:p>
            <a:pPr marL="12700">
              <a:lnSpc>
                <a:spcPct val="100000"/>
              </a:lnSpc>
              <a:spcBef>
                <a:spcPts val="105"/>
              </a:spcBef>
            </a:pPr>
            <a:r>
              <a:rPr lang="en-US" sz="1400" b="1" spc="-5" dirty="0">
                <a:solidFill>
                  <a:schemeClr val="bg1"/>
                </a:solidFill>
                <a:latin typeface="Arial"/>
                <a:cs typeface="Arial"/>
              </a:rPr>
              <a:t>385-415</a:t>
            </a:r>
            <a:endParaRPr sz="1400" dirty="0">
              <a:solidFill>
                <a:schemeClr val="bg1"/>
              </a:solidFill>
              <a:latin typeface="Arial"/>
              <a:cs typeface="Arial"/>
            </a:endParaRPr>
          </a:p>
        </p:txBody>
      </p:sp>
      <p:sp>
        <p:nvSpPr>
          <p:cNvPr id="40" name="object 40">
            <a:extLst>
              <a:ext uri="{FF2B5EF4-FFF2-40B4-BE49-F238E27FC236}">
                <a16:creationId xmlns:a16="http://schemas.microsoft.com/office/drawing/2014/main" id="{64B3C38A-33E2-1820-D6FA-EA3AD5C721C2}"/>
              </a:ext>
            </a:extLst>
          </p:cNvPr>
          <p:cNvSpPr/>
          <p:nvPr/>
        </p:nvSpPr>
        <p:spPr>
          <a:xfrm>
            <a:off x="8530590" y="4673776"/>
            <a:ext cx="232410" cy="233425"/>
          </a:xfrm>
          <a:prstGeom prst="rect">
            <a:avLst/>
          </a:prstGeom>
          <a:blipFill>
            <a:blip r:embed="rId2" cstate="print"/>
            <a:stretch>
              <a:fillRect/>
            </a:stretch>
          </a:blipFill>
        </p:spPr>
        <p:txBody>
          <a:bodyPr wrap="square" lIns="0" tIns="0" rIns="0" bIns="0" rtlCol="0"/>
          <a:lstStyle/>
          <a:p>
            <a:endParaRPr/>
          </a:p>
        </p:txBody>
      </p:sp>
      <p:sp>
        <p:nvSpPr>
          <p:cNvPr id="41" name="object 41">
            <a:extLst>
              <a:ext uri="{FF2B5EF4-FFF2-40B4-BE49-F238E27FC236}">
                <a16:creationId xmlns:a16="http://schemas.microsoft.com/office/drawing/2014/main" id="{D1A0E2F7-5155-BF92-C130-CC1D71049481}"/>
              </a:ext>
            </a:extLst>
          </p:cNvPr>
          <p:cNvSpPr txBox="1"/>
          <p:nvPr/>
        </p:nvSpPr>
        <p:spPr>
          <a:xfrm>
            <a:off x="8575166" y="4675124"/>
            <a:ext cx="125095" cy="228268"/>
          </a:xfrm>
          <a:prstGeom prst="rect">
            <a:avLst/>
          </a:prstGeom>
        </p:spPr>
        <p:txBody>
          <a:bodyPr vert="horz" wrap="square" lIns="0" tIns="12700" rIns="0" bIns="0" rtlCol="0">
            <a:spAutoFit/>
          </a:bodyPr>
          <a:lstStyle/>
          <a:p>
            <a:pPr marL="12700">
              <a:lnSpc>
                <a:spcPct val="100000"/>
              </a:lnSpc>
              <a:spcBef>
                <a:spcPts val="100"/>
              </a:spcBef>
            </a:pPr>
            <a:r>
              <a:rPr lang="en-US" sz="1400" b="1" dirty="0">
                <a:solidFill>
                  <a:srgbClr val="051F79"/>
                </a:solidFill>
                <a:latin typeface="Arial"/>
                <a:cs typeface="Arial"/>
              </a:rPr>
              <a:t>3</a:t>
            </a:r>
            <a:endParaRPr sz="1400" dirty="0">
              <a:latin typeface="Arial"/>
              <a:cs typeface="Arial"/>
            </a:endParaRPr>
          </a:p>
        </p:txBody>
      </p:sp>
      <p:sp>
        <p:nvSpPr>
          <p:cNvPr id="42" name="object 42">
            <a:extLst>
              <a:ext uri="{FF2B5EF4-FFF2-40B4-BE49-F238E27FC236}">
                <a16:creationId xmlns:a16="http://schemas.microsoft.com/office/drawing/2014/main" id="{2B3FC20F-0562-4A29-1926-5AC77CA6B53C}"/>
              </a:ext>
            </a:extLst>
          </p:cNvPr>
          <p:cNvSpPr/>
          <p:nvPr/>
        </p:nvSpPr>
        <p:spPr>
          <a:xfrm>
            <a:off x="5492749" y="4675124"/>
            <a:ext cx="232283" cy="233425"/>
          </a:xfrm>
          <a:prstGeom prst="rect">
            <a:avLst/>
          </a:prstGeom>
          <a:blipFill>
            <a:blip r:embed="rId3" cstate="print"/>
            <a:stretch>
              <a:fillRect/>
            </a:stretch>
          </a:blipFill>
        </p:spPr>
        <p:txBody>
          <a:bodyPr wrap="square" lIns="0" tIns="0" rIns="0" bIns="0" rtlCol="0"/>
          <a:lstStyle/>
          <a:p>
            <a:endParaRPr/>
          </a:p>
        </p:txBody>
      </p:sp>
      <p:sp>
        <p:nvSpPr>
          <p:cNvPr id="43" name="object 43">
            <a:extLst>
              <a:ext uri="{FF2B5EF4-FFF2-40B4-BE49-F238E27FC236}">
                <a16:creationId xmlns:a16="http://schemas.microsoft.com/office/drawing/2014/main" id="{AE0F06F8-694A-9DCC-BE4C-F91DD5D61B93}"/>
              </a:ext>
            </a:extLst>
          </p:cNvPr>
          <p:cNvSpPr txBox="1"/>
          <p:nvPr/>
        </p:nvSpPr>
        <p:spPr>
          <a:xfrm>
            <a:off x="5546471" y="4667376"/>
            <a:ext cx="125095" cy="228268"/>
          </a:xfrm>
          <a:prstGeom prst="rect">
            <a:avLst/>
          </a:prstGeom>
        </p:spPr>
        <p:txBody>
          <a:bodyPr vert="horz" wrap="square" lIns="0" tIns="12700" rIns="0" bIns="0" rtlCol="0">
            <a:spAutoFit/>
          </a:bodyPr>
          <a:lstStyle/>
          <a:p>
            <a:pPr marL="12700">
              <a:lnSpc>
                <a:spcPct val="100000"/>
              </a:lnSpc>
              <a:spcBef>
                <a:spcPts val="100"/>
              </a:spcBef>
            </a:pPr>
            <a:r>
              <a:rPr lang="en-US" sz="1400" b="1" dirty="0">
                <a:solidFill>
                  <a:srgbClr val="051F79"/>
                </a:solidFill>
                <a:latin typeface="Arial"/>
                <a:cs typeface="Arial"/>
              </a:rPr>
              <a:t>1</a:t>
            </a:r>
            <a:endParaRPr sz="1400" dirty="0">
              <a:latin typeface="Arial"/>
              <a:cs typeface="Arial"/>
            </a:endParaRPr>
          </a:p>
        </p:txBody>
      </p:sp>
      <p:sp>
        <p:nvSpPr>
          <p:cNvPr id="44" name="object 44">
            <a:extLst>
              <a:ext uri="{FF2B5EF4-FFF2-40B4-BE49-F238E27FC236}">
                <a16:creationId xmlns:a16="http://schemas.microsoft.com/office/drawing/2014/main" id="{967F603C-5B5B-B738-87A9-3CF22A5D6933}"/>
              </a:ext>
            </a:extLst>
          </p:cNvPr>
          <p:cNvSpPr/>
          <p:nvPr/>
        </p:nvSpPr>
        <p:spPr>
          <a:xfrm>
            <a:off x="7052309" y="4675124"/>
            <a:ext cx="232282" cy="233425"/>
          </a:xfrm>
          <a:prstGeom prst="rect">
            <a:avLst/>
          </a:prstGeom>
          <a:blipFill>
            <a:blip r:embed="rId4" cstate="print"/>
            <a:stretch>
              <a:fillRect/>
            </a:stretch>
          </a:blipFill>
        </p:spPr>
        <p:txBody>
          <a:bodyPr wrap="square" lIns="0" tIns="0" rIns="0" bIns="0" rtlCol="0"/>
          <a:lstStyle/>
          <a:p>
            <a:endParaRPr/>
          </a:p>
        </p:txBody>
      </p:sp>
      <p:sp>
        <p:nvSpPr>
          <p:cNvPr id="45" name="object 45">
            <a:extLst>
              <a:ext uri="{FF2B5EF4-FFF2-40B4-BE49-F238E27FC236}">
                <a16:creationId xmlns:a16="http://schemas.microsoft.com/office/drawing/2014/main" id="{9F272F43-C149-DEA0-25EB-ED6882D3255F}"/>
              </a:ext>
            </a:extLst>
          </p:cNvPr>
          <p:cNvSpPr txBox="1"/>
          <p:nvPr/>
        </p:nvSpPr>
        <p:spPr>
          <a:xfrm>
            <a:off x="7106157" y="4667376"/>
            <a:ext cx="125095" cy="228268"/>
          </a:xfrm>
          <a:prstGeom prst="rect">
            <a:avLst/>
          </a:prstGeom>
        </p:spPr>
        <p:txBody>
          <a:bodyPr vert="horz" wrap="square" lIns="0" tIns="12700" rIns="0" bIns="0" rtlCol="0">
            <a:spAutoFit/>
          </a:bodyPr>
          <a:lstStyle/>
          <a:p>
            <a:pPr marL="12700">
              <a:lnSpc>
                <a:spcPct val="100000"/>
              </a:lnSpc>
              <a:spcBef>
                <a:spcPts val="100"/>
              </a:spcBef>
            </a:pPr>
            <a:r>
              <a:rPr lang="en-US" sz="1400" b="1" dirty="0">
                <a:solidFill>
                  <a:srgbClr val="051F79"/>
                </a:solidFill>
                <a:latin typeface="Arial"/>
                <a:cs typeface="Arial"/>
              </a:rPr>
              <a:t>2</a:t>
            </a:r>
            <a:endParaRPr sz="1400" dirty="0">
              <a:latin typeface="Arial"/>
              <a:cs typeface="Arial"/>
            </a:endParaRPr>
          </a:p>
        </p:txBody>
      </p:sp>
      <p:sp>
        <p:nvSpPr>
          <p:cNvPr id="49" name="object 49">
            <a:extLst>
              <a:ext uri="{FF2B5EF4-FFF2-40B4-BE49-F238E27FC236}">
                <a16:creationId xmlns:a16="http://schemas.microsoft.com/office/drawing/2014/main" id="{390516F8-8431-93F4-90D2-D2B1F6180C67}"/>
              </a:ext>
            </a:extLst>
          </p:cNvPr>
          <p:cNvSpPr txBox="1"/>
          <p:nvPr/>
        </p:nvSpPr>
        <p:spPr>
          <a:xfrm>
            <a:off x="891946" y="4847716"/>
            <a:ext cx="1091565" cy="443711"/>
          </a:xfrm>
          <a:prstGeom prst="rect">
            <a:avLst/>
          </a:prstGeom>
        </p:spPr>
        <p:txBody>
          <a:bodyPr vert="horz" wrap="square" lIns="0" tIns="12700" rIns="0" bIns="0" rtlCol="0">
            <a:spAutoFit/>
          </a:bodyPr>
          <a:lstStyle/>
          <a:p>
            <a:pPr marL="12700" marR="5080" algn="ctr">
              <a:lnSpc>
                <a:spcPct val="100000"/>
              </a:lnSpc>
              <a:spcBef>
                <a:spcPts val="100"/>
              </a:spcBef>
            </a:pPr>
            <a:r>
              <a:rPr sz="1400" b="1" spc="-5" dirty="0">
                <a:latin typeface="Arial"/>
                <a:cs typeface="Arial"/>
              </a:rPr>
              <a:t>2024</a:t>
            </a:r>
            <a:endParaRPr sz="1400" dirty="0">
              <a:latin typeface="Arial"/>
              <a:cs typeface="Arial"/>
            </a:endParaRPr>
          </a:p>
          <a:p>
            <a:pPr algn="ctr">
              <a:lnSpc>
                <a:spcPct val="100000"/>
              </a:lnSpc>
            </a:pPr>
            <a:r>
              <a:rPr sz="1400" b="1" spc="-5" dirty="0">
                <a:latin typeface="Arial"/>
                <a:cs typeface="Arial"/>
              </a:rPr>
              <a:t>(Retail)</a:t>
            </a:r>
            <a:endParaRPr sz="1400" dirty="0">
              <a:latin typeface="Arial"/>
              <a:cs typeface="Arial"/>
            </a:endParaRPr>
          </a:p>
        </p:txBody>
      </p:sp>
      <p:sp>
        <p:nvSpPr>
          <p:cNvPr id="63" name="object 63">
            <a:extLst>
              <a:ext uri="{FF2B5EF4-FFF2-40B4-BE49-F238E27FC236}">
                <a16:creationId xmlns:a16="http://schemas.microsoft.com/office/drawing/2014/main" id="{6E711F0C-2894-9C37-1ABC-3EADDFF8263C}"/>
              </a:ext>
            </a:extLst>
          </p:cNvPr>
          <p:cNvSpPr/>
          <p:nvPr/>
        </p:nvSpPr>
        <p:spPr>
          <a:xfrm>
            <a:off x="554736" y="2062099"/>
            <a:ext cx="11082655" cy="0"/>
          </a:xfrm>
          <a:custGeom>
            <a:avLst/>
            <a:gdLst/>
            <a:ahLst/>
            <a:cxnLst/>
            <a:rect l="l" t="t" r="r" b="b"/>
            <a:pathLst>
              <a:path w="11082655">
                <a:moveTo>
                  <a:pt x="0" y="0"/>
                </a:moveTo>
                <a:lnTo>
                  <a:pt x="11082528" y="0"/>
                </a:lnTo>
              </a:path>
            </a:pathLst>
          </a:custGeom>
          <a:ln w="12700">
            <a:solidFill>
              <a:srgbClr val="757575"/>
            </a:solidFill>
          </a:ln>
        </p:spPr>
        <p:txBody>
          <a:bodyPr wrap="square" lIns="0" tIns="0" rIns="0" bIns="0" rtlCol="0"/>
          <a:lstStyle/>
          <a:p>
            <a:endParaRPr/>
          </a:p>
        </p:txBody>
      </p:sp>
      <p:sp>
        <p:nvSpPr>
          <p:cNvPr id="64" name="object 64">
            <a:extLst>
              <a:ext uri="{FF2B5EF4-FFF2-40B4-BE49-F238E27FC236}">
                <a16:creationId xmlns:a16="http://schemas.microsoft.com/office/drawing/2014/main" id="{2199CFD1-946E-0B4C-29F7-5CA1D92D5454}"/>
              </a:ext>
            </a:extLst>
          </p:cNvPr>
          <p:cNvSpPr/>
          <p:nvPr/>
        </p:nvSpPr>
        <p:spPr>
          <a:xfrm>
            <a:off x="6409816" y="2124075"/>
            <a:ext cx="1174750" cy="274955"/>
          </a:xfrm>
          <a:custGeom>
            <a:avLst/>
            <a:gdLst/>
            <a:ahLst/>
            <a:cxnLst/>
            <a:rect l="l" t="t" r="r" b="b"/>
            <a:pathLst>
              <a:path w="1174750" h="274955">
                <a:moveTo>
                  <a:pt x="1128776" y="0"/>
                </a:moveTo>
                <a:lnTo>
                  <a:pt x="45847" y="0"/>
                </a:lnTo>
                <a:lnTo>
                  <a:pt x="28021" y="3589"/>
                </a:lnTo>
                <a:lnTo>
                  <a:pt x="13446" y="13382"/>
                </a:lnTo>
                <a:lnTo>
                  <a:pt x="3609" y="27914"/>
                </a:lnTo>
                <a:lnTo>
                  <a:pt x="0" y="45720"/>
                </a:lnTo>
                <a:lnTo>
                  <a:pt x="0" y="228853"/>
                </a:lnTo>
                <a:lnTo>
                  <a:pt x="3609" y="246659"/>
                </a:lnTo>
                <a:lnTo>
                  <a:pt x="13446" y="261191"/>
                </a:lnTo>
                <a:lnTo>
                  <a:pt x="28021" y="270984"/>
                </a:lnTo>
                <a:lnTo>
                  <a:pt x="45847" y="274574"/>
                </a:lnTo>
                <a:lnTo>
                  <a:pt x="1128776" y="274574"/>
                </a:lnTo>
                <a:lnTo>
                  <a:pt x="1146581" y="270984"/>
                </a:lnTo>
                <a:lnTo>
                  <a:pt x="1161113" y="261191"/>
                </a:lnTo>
                <a:lnTo>
                  <a:pt x="1170906" y="246659"/>
                </a:lnTo>
                <a:lnTo>
                  <a:pt x="1174496" y="228853"/>
                </a:lnTo>
                <a:lnTo>
                  <a:pt x="1174496" y="45720"/>
                </a:lnTo>
                <a:lnTo>
                  <a:pt x="1170906" y="27914"/>
                </a:lnTo>
                <a:lnTo>
                  <a:pt x="1161113" y="13382"/>
                </a:lnTo>
                <a:lnTo>
                  <a:pt x="1146581" y="3589"/>
                </a:lnTo>
                <a:lnTo>
                  <a:pt x="1128776" y="0"/>
                </a:lnTo>
                <a:close/>
              </a:path>
            </a:pathLst>
          </a:custGeom>
          <a:solidFill>
            <a:srgbClr val="F1F1F1"/>
          </a:solidFill>
        </p:spPr>
        <p:txBody>
          <a:bodyPr wrap="square" lIns="0" tIns="0" rIns="0" bIns="0" rtlCol="0"/>
          <a:lstStyle/>
          <a:p>
            <a:endParaRPr/>
          </a:p>
        </p:txBody>
      </p:sp>
      <p:sp>
        <p:nvSpPr>
          <p:cNvPr id="65" name="object 65">
            <a:extLst>
              <a:ext uri="{FF2B5EF4-FFF2-40B4-BE49-F238E27FC236}">
                <a16:creationId xmlns:a16="http://schemas.microsoft.com/office/drawing/2014/main" id="{B808D3E8-5382-AECD-F6C1-B913F9654C5D}"/>
              </a:ext>
            </a:extLst>
          </p:cNvPr>
          <p:cNvSpPr/>
          <p:nvPr/>
        </p:nvSpPr>
        <p:spPr>
          <a:xfrm>
            <a:off x="6409816" y="2124075"/>
            <a:ext cx="1174750" cy="274955"/>
          </a:xfrm>
          <a:custGeom>
            <a:avLst/>
            <a:gdLst/>
            <a:ahLst/>
            <a:cxnLst/>
            <a:rect l="l" t="t" r="r" b="b"/>
            <a:pathLst>
              <a:path w="1174750" h="274955">
                <a:moveTo>
                  <a:pt x="0" y="45720"/>
                </a:moveTo>
                <a:lnTo>
                  <a:pt x="3609" y="27914"/>
                </a:lnTo>
                <a:lnTo>
                  <a:pt x="13446" y="13382"/>
                </a:lnTo>
                <a:lnTo>
                  <a:pt x="28021" y="3589"/>
                </a:lnTo>
                <a:lnTo>
                  <a:pt x="45847" y="0"/>
                </a:lnTo>
                <a:lnTo>
                  <a:pt x="1128776" y="0"/>
                </a:lnTo>
                <a:lnTo>
                  <a:pt x="1146581" y="3589"/>
                </a:lnTo>
                <a:lnTo>
                  <a:pt x="1161113" y="13382"/>
                </a:lnTo>
                <a:lnTo>
                  <a:pt x="1170906" y="27914"/>
                </a:lnTo>
                <a:lnTo>
                  <a:pt x="1174496" y="45720"/>
                </a:lnTo>
                <a:lnTo>
                  <a:pt x="1174496" y="228853"/>
                </a:lnTo>
                <a:lnTo>
                  <a:pt x="1170906" y="246659"/>
                </a:lnTo>
                <a:lnTo>
                  <a:pt x="1161113" y="261191"/>
                </a:lnTo>
                <a:lnTo>
                  <a:pt x="1146581" y="270984"/>
                </a:lnTo>
                <a:lnTo>
                  <a:pt x="1128776" y="274574"/>
                </a:lnTo>
                <a:lnTo>
                  <a:pt x="45847" y="274574"/>
                </a:lnTo>
                <a:lnTo>
                  <a:pt x="28021" y="270984"/>
                </a:lnTo>
                <a:lnTo>
                  <a:pt x="13446" y="261191"/>
                </a:lnTo>
                <a:lnTo>
                  <a:pt x="3609" y="246659"/>
                </a:lnTo>
                <a:lnTo>
                  <a:pt x="0" y="228853"/>
                </a:lnTo>
                <a:lnTo>
                  <a:pt x="0" y="45720"/>
                </a:lnTo>
                <a:close/>
              </a:path>
            </a:pathLst>
          </a:custGeom>
          <a:ln w="19050">
            <a:solidFill>
              <a:srgbClr val="051F79"/>
            </a:solidFill>
          </a:ln>
        </p:spPr>
        <p:txBody>
          <a:bodyPr wrap="square" lIns="0" tIns="0" rIns="0" bIns="0" rtlCol="0"/>
          <a:lstStyle/>
          <a:p>
            <a:endParaRPr/>
          </a:p>
        </p:txBody>
      </p:sp>
      <p:sp>
        <p:nvSpPr>
          <p:cNvPr id="66" name="object 66">
            <a:extLst>
              <a:ext uri="{FF2B5EF4-FFF2-40B4-BE49-F238E27FC236}">
                <a16:creationId xmlns:a16="http://schemas.microsoft.com/office/drawing/2014/main" id="{F832F47D-7B68-9850-C8FA-C4D942B731E5}"/>
              </a:ext>
            </a:extLst>
          </p:cNvPr>
          <p:cNvSpPr txBox="1"/>
          <p:nvPr/>
        </p:nvSpPr>
        <p:spPr>
          <a:xfrm>
            <a:off x="6467165" y="2149192"/>
            <a:ext cx="1045846" cy="228909"/>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a:t>
            </a:r>
            <a:r>
              <a:rPr lang="en-US" sz="1400" b="1" spc="-5" dirty="0">
                <a:latin typeface="Arial"/>
                <a:cs typeface="Arial"/>
              </a:rPr>
              <a:t>170</a:t>
            </a:r>
            <a:r>
              <a:rPr sz="1400" b="1" spc="-5" dirty="0">
                <a:latin typeface="Arial"/>
                <a:cs typeface="Arial"/>
              </a:rPr>
              <a:t>-</a:t>
            </a:r>
            <a:r>
              <a:rPr lang="en-US" sz="1400" b="1" spc="-5" dirty="0">
                <a:latin typeface="Arial"/>
                <a:cs typeface="Arial"/>
              </a:rPr>
              <a:t>200</a:t>
            </a:r>
            <a:r>
              <a:rPr sz="1400" b="1" spc="10" dirty="0">
                <a:latin typeface="Arial"/>
                <a:cs typeface="Arial"/>
              </a:rPr>
              <a:t>M€</a:t>
            </a:r>
            <a:endParaRPr sz="1400" dirty="0">
              <a:latin typeface="Arial"/>
              <a:cs typeface="Arial"/>
            </a:endParaRPr>
          </a:p>
        </p:txBody>
      </p:sp>
      <p:sp>
        <p:nvSpPr>
          <p:cNvPr id="67" name="object 67">
            <a:extLst>
              <a:ext uri="{FF2B5EF4-FFF2-40B4-BE49-F238E27FC236}">
                <a16:creationId xmlns:a16="http://schemas.microsoft.com/office/drawing/2014/main" id="{6AEA457B-6F77-A656-795B-4C156F8E5D8A}"/>
              </a:ext>
            </a:extLst>
          </p:cNvPr>
          <p:cNvSpPr/>
          <p:nvPr/>
        </p:nvSpPr>
        <p:spPr>
          <a:xfrm>
            <a:off x="598260" y="1633116"/>
            <a:ext cx="173355" cy="173355"/>
          </a:xfrm>
          <a:custGeom>
            <a:avLst/>
            <a:gdLst/>
            <a:ahLst/>
            <a:cxnLst/>
            <a:rect l="l" t="t" r="r" b="b"/>
            <a:pathLst>
              <a:path w="173355" h="173355">
                <a:moveTo>
                  <a:pt x="0" y="172732"/>
                </a:moveTo>
                <a:lnTo>
                  <a:pt x="172732" y="172732"/>
                </a:lnTo>
                <a:lnTo>
                  <a:pt x="172732" y="0"/>
                </a:lnTo>
                <a:lnTo>
                  <a:pt x="0" y="0"/>
                </a:lnTo>
                <a:lnTo>
                  <a:pt x="0" y="172732"/>
                </a:lnTo>
                <a:close/>
              </a:path>
            </a:pathLst>
          </a:custGeom>
          <a:solidFill>
            <a:srgbClr val="E2FBF9"/>
          </a:solidFill>
        </p:spPr>
        <p:txBody>
          <a:bodyPr wrap="square" lIns="0" tIns="0" rIns="0" bIns="0" rtlCol="0"/>
          <a:lstStyle/>
          <a:p>
            <a:endParaRPr/>
          </a:p>
        </p:txBody>
      </p:sp>
      <p:sp>
        <p:nvSpPr>
          <p:cNvPr id="68" name="object 68">
            <a:extLst>
              <a:ext uri="{FF2B5EF4-FFF2-40B4-BE49-F238E27FC236}">
                <a16:creationId xmlns:a16="http://schemas.microsoft.com/office/drawing/2014/main" id="{F76569E2-57B0-2D8E-896B-384D3C2B921D}"/>
              </a:ext>
            </a:extLst>
          </p:cNvPr>
          <p:cNvSpPr/>
          <p:nvPr/>
        </p:nvSpPr>
        <p:spPr>
          <a:xfrm>
            <a:off x="608741" y="1655445"/>
            <a:ext cx="173355" cy="173355"/>
          </a:xfrm>
          <a:custGeom>
            <a:avLst/>
            <a:gdLst/>
            <a:ahLst/>
            <a:cxnLst/>
            <a:rect l="l" t="t" r="r" b="b"/>
            <a:pathLst>
              <a:path w="173355" h="173355">
                <a:moveTo>
                  <a:pt x="0" y="172732"/>
                </a:moveTo>
                <a:lnTo>
                  <a:pt x="172732" y="172732"/>
                </a:lnTo>
                <a:lnTo>
                  <a:pt x="172732" y="0"/>
                </a:lnTo>
                <a:lnTo>
                  <a:pt x="0" y="0"/>
                </a:lnTo>
                <a:lnTo>
                  <a:pt x="0" y="172732"/>
                </a:lnTo>
                <a:close/>
              </a:path>
            </a:pathLst>
          </a:custGeom>
          <a:ln w="6350">
            <a:solidFill>
              <a:srgbClr val="051F79"/>
            </a:solidFill>
          </a:ln>
        </p:spPr>
        <p:txBody>
          <a:bodyPr wrap="square" lIns="0" tIns="0" rIns="0" bIns="0" rtlCol="0"/>
          <a:lstStyle/>
          <a:p>
            <a:endParaRPr/>
          </a:p>
        </p:txBody>
      </p:sp>
      <p:sp>
        <p:nvSpPr>
          <p:cNvPr id="69" name="object 69">
            <a:extLst>
              <a:ext uri="{FF2B5EF4-FFF2-40B4-BE49-F238E27FC236}">
                <a16:creationId xmlns:a16="http://schemas.microsoft.com/office/drawing/2014/main" id="{721171E9-318A-4A04-ADF6-96F6894C5B55}"/>
              </a:ext>
            </a:extLst>
          </p:cNvPr>
          <p:cNvSpPr/>
          <p:nvPr/>
        </p:nvSpPr>
        <p:spPr>
          <a:xfrm>
            <a:off x="616545" y="1350645"/>
            <a:ext cx="173355" cy="173355"/>
          </a:xfrm>
          <a:custGeom>
            <a:avLst/>
            <a:gdLst/>
            <a:ahLst/>
            <a:cxnLst/>
            <a:rect l="l" t="t" r="r" b="b"/>
            <a:pathLst>
              <a:path w="173354" h="173355">
                <a:moveTo>
                  <a:pt x="0" y="172732"/>
                </a:moveTo>
                <a:lnTo>
                  <a:pt x="172732" y="172732"/>
                </a:lnTo>
                <a:lnTo>
                  <a:pt x="172732" y="0"/>
                </a:lnTo>
                <a:lnTo>
                  <a:pt x="0" y="0"/>
                </a:lnTo>
                <a:lnTo>
                  <a:pt x="0" y="172732"/>
                </a:lnTo>
                <a:close/>
              </a:path>
            </a:pathLst>
          </a:custGeom>
          <a:solidFill>
            <a:srgbClr val="C3E6FC"/>
          </a:solidFill>
        </p:spPr>
        <p:txBody>
          <a:bodyPr wrap="square" lIns="0" tIns="0" rIns="0" bIns="0" rtlCol="0"/>
          <a:lstStyle/>
          <a:p>
            <a:endParaRPr/>
          </a:p>
        </p:txBody>
      </p:sp>
      <p:sp>
        <p:nvSpPr>
          <p:cNvPr id="70" name="object 70">
            <a:extLst>
              <a:ext uri="{FF2B5EF4-FFF2-40B4-BE49-F238E27FC236}">
                <a16:creationId xmlns:a16="http://schemas.microsoft.com/office/drawing/2014/main" id="{389D3544-CC0E-3DEB-D022-158D3B8F9E37}"/>
              </a:ext>
            </a:extLst>
          </p:cNvPr>
          <p:cNvSpPr/>
          <p:nvPr/>
        </p:nvSpPr>
        <p:spPr>
          <a:xfrm>
            <a:off x="607834" y="1355098"/>
            <a:ext cx="173355" cy="173355"/>
          </a:xfrm>
          <a:custGeom>
            <a:avLst/>
            <a:gdLst/>
            <a:ahLst/>
            <a:cxnLst/>
            <a:rect l="l" t="t" r="r" b="b"/>
            <a:pathLst>
              <a:path w="173354" h="173355">
                <a:moveTo>
                  <a:pt x="0" y="172732"/>
                </a:moveTo>
                <a:lnTo>
                  <a:pt x="172732" y="172732"/>
                </a:lnTo>
                <a:lnTo>
                  <a:pt x="172732" y="0"/>
                </a:lnTo>
                <a:lnTo>
                  <a:pt x="0" y="0"/>
                </a:lnTo>
                <a:lnTo>
                  <a:pt x="0" y="172732"/>
                </a:lnTo>
                <a:close/>
              </a:path>
            </a:pathLst>
          </a:custGeom>
          <a:ln w="6350">
            <a:solidFill>
              <a:srgbClr val="051F79"/>
            </a:solidFill>
          </a:ln>
        </p:spPr>
        <p:txBody>
          <a:bodyPr wrap="square" lIns="0" tIns="0" rIns="0" bIns="0" rtlCol="0"/>
          <a:lstStyle/>
          <a:p>
            <a:endParaRPr/>
          </a:p>
        </p:txBody>
      </p:sp>
      <p:sp>
        <p:nvSpPr>
          <p:cNvPr id="71" name="object 71">
            <a:extLst>
              <a:ext uri="{FF2B5EF4-FFF2-40B4-BE49-F238E27FC236}">
                <a16:creationId xmlns:a16="http://schemas.microsoft.com/office/drawing/2014/main" id="{ACEB725D-6052-D0AF-4613-14144E42991E}"/>
              </a:ext>
            </a:extLst>
          </p:cNvPr>
          <p:cNvSpPr/>
          <p:nvPr/>
        </p:nvSpPr>
        <p:spPr>
          <a:xfrm>
            <a:off x="616545" y="1052181"/>
            <a:ext cx="173355" cy="173355"/>
          </a:xfrm>
          <a:custGeom>
            <a:avLst/>
            <a:gdLst/>
            <a:ahLst/>
            <a:cxnLst/>
            <a:rect l="l" t="t" r="r" b="b"/>
            <a:pathLst>
              <a:path w="173354" h="173355">
                <a:moveTo>
                  <a:pt x="0" y="172732"/>
                </a:moveTo>
                <a:lnTo>
                  <a:pt x="172732" y="172732"/>
                </a:lnTo>
                <a:lnTo>
                  <a:pt x="172732" y="0"/>
                </a:lnTo>
                <a:lnTo>
                  <a:pt x="0" y="0"/>
                </a:lnTo>
                <a:lnTo>
                  <a:pt x="0" y="172732"/>
                </a:lnTo>
                <a:close/>
              </a:path>
            </a:pathLst>
          </a:custGeom>
          <a:solidFill>
            <a:srgbClr val="0579C3"/>
          </a:solidFill>
        </p:spPr>
        <p:txBody>
          <a:bodyPr wrap="square" lIns="0" tIns="0" rIns="0" bIns="0" rtlCol="0"/>
          <a:lstStyle/>
          <a:p>
            <a:endParaRPr/>
          </a:p>
        </p:txBody>
      </p:sp>
      <p:sp>
        <p:nvSpPr>
          <p:cNvPr id="72" name="object 72">
            <a:extLst>
              <a:ext uri="{FF2B5EF4-FFF2-40B4-BE49-F238E27FC236}">
                <a16:creationId xmlns:a16="http://schemas.microsoft.com/office/drawing/2014/main" id="{AB436AD2-F00E-C8C3-192E-9A8550AFB056}"/>
              </a:ext>
            </a:extLst>
          </p:cNvPr>
          <p:cNvSpPr/>
          <p:nvPr/>
        </p:nvSpPr>
        <p:spPr>
          <a:xfrm>
            <a:off x="616545" y="1052181"/>
            <a:ext cx="173355" cy="173355"/>
          </a:xfrm>
          <a:custGeom>
            <a:avLst/>
            <a:gdLst/>
            <a:ahLst/>
            <a:cxnLst/>
            <a:rect l="l" t="t" r="r" b="b"/>
            <a:pathLst>
              <a:path w="173354" h="173355">
                <a:moveTo>
                  <a:pt x="0" y="172732"/>
                </a:moveTo>
                <a:lnTo>
                  <a:pt x="172732" y="172732"/>
                </a:lnTo>
                <a:lnTo>
                  <a:pt x="172732" y="0"/>
                </a:lnTo>
                <a:lnTo>
                  <a:pt x="0" y="0"/>
                </a:lnTo>
                <a:lnTo>
                  <a:pt x="0" y="172732"/>
                </a:lnTo>
                <a:close/>
              </a:path>
            </a:pathLst>
          </a:custGeom>
          <a:ln w="6350">
            <a:solidFill>
              <a:srgbClr val="051F79"/>
            </a:solidFill>
          </a:ln>
        </p:spPr>
        <p:txBody>
          <a:bodyPr wrap="square" lIns="0" tIns="0" rIns="0" bIns="0" rtlCol="0"/>
          <a:lstStyle/>
          <a:p>
            <a:endParaRPr/>
          </a:p>
        </p:txBody>
      </p:sp>
      <p:sp>
        <p:nvSpPr>
          <p:cNvPr id="75" name="object 75">
            <a:extLst>
              <a:ext uri="{FF2B5EF4-FFF2-40B4-BE49-F238E27FC236}">
                <a16:creationId xmlns:a16="http://schemas.microsoft.com/office/drawing/2014/main" id="{11736E69-574A-972A-CE1F-AD55CFE0D0C6}"/>
              </a:ext>
            </a:extLst>
          </p:cNvPr>
          <p:cNvSpPr txBox="1"/>
          <p:nvPr/>
        </p:nvSpPr>
        <p:spPr>
          <a:xfrm>
            <a:off x="10015207" y="1166336"/>
            <a:ext cx="1634757" cy="738664"/>
          </a:xfrm>
          <a:prstGeom prst="rect">
            <a:avLst/>
          </a:prstGeom>
          <a:noFill/>
        </p:spPr>
        <p:txBody>
          <a:bodyPr wrap="square">
            <a:spAutoFit/>
          </a:bodyPr>
          <a:lstStyle>
            <a:defPPr>
              <a:defRPr lang="el-GR"/>
            </a:defPPr>
            <a:lvl1pPr algn="ctr">
              <a:defRPr b="1" i="0" u="none" strike="noStrike" baseline="0">
                <a:solidFill>
                  <a:srgbClr val="000000"/>
                </a:solidFill>
                <a:latin typeface="Eurobank Sans" panose="02000503000000020004" pitchFamily="2" charset="0"/>
              </a:defRPr>
            </a:lvl1pPr>
          </a:lstStyle>
          <a:p>
            <a:r>
              <a:rPr sz="1400" b="0" dirty="0">
                <a:latin typeface="Arial" panose="020B0604020202020204" pitchFamily="34" charset="0"/>
                <a:cs typeface="Arial" panose="020B0604020202020204" pitchFamily="34" charset="0"/>
              </a:rPr>
              <a:t>ERB </a:t>
            </a:r>
            <a:r>
              <a:rPr lang="en-US" sz="1400" b="0" dirty="0">
                <a:latin typeface="Arial" panose="020B0604020202020204" pitchFamily="34" charset="0"/>
                <a:cs typeface="Arial" panose="020B0604020202020204" pitchFamily="34" charset="0"/>
              </a:rPr>
              <a:t>Disbursements </a:t>
            </a:r>
            <a:r>
              <a:rPr sz="1400" b="0" dirty="0">
                <a:latin typeface="Arial" panose="020B0604020202020204" pitchFamily="34" charset="0"/>
                <a:cs typeface="Arial" panose="020B0604020202020204" pitchFamily="34" charset="0"/>
              </a:rPr>
              <a:t>2030,M€</a:t>
            </a:r>
          </a:p>
        </p:txBody>
      </p:sp>
      <p:sp>
        <p:nvSpPr>
          <p:cNvPr id="76" name="object 76">
            <a:extLst>
              <a:ext uri="{FF2B5EF4-FFF2-40B4-BE49-F238E27FC236}">
                <a16:creationId xmlns:a16="http://schemas.microsoft.com/office/drawing/2014/main" id="{59189E6A-5246-8174-B773-61A55A11FD78}"/>
              </a:ext>
            </a:extLst>
          </p:cNvPr>
          <p:cNvSpPr/>
          <p:nvPr/>
        </p:nvSpPr>
        <p:spPr>
          <a:xfrm>
            <a:off x="2158364" y="2987166"/>
            <a:ext cx="1559560" cy="790575"/>
          </a:xfrm>
          <a:custGeom>
            <a:avLst/>
            <a:gdLst/>
            <a:ahLst/>
            <a:cxnLst/>
            <a:rect l="l" t="t" r="r" b="b"/>
            <a:pathLst>
              <a:path w="1559560" h="790575">
                <a:moveTo>
                  <a:pt x="0" y="0"/>
                </a:moveTo>
                <a:lnTo>
                  <a:pt x="259842" y="0"/>
                </a:lnTo>
                <a:lnTo>
                  <a:pt x="649605" y="0"/>
                </a:lnTo>
                <a:lnTo>
                  <a:pt x="1559052" y="0"/>
                </a:lnTo>
                <a:lnTo>
                  <a:pt x="1559052" y="377063"/>
                </a:lnTo>
                <a:lnTo>
                  <a:pt x="1559052" y="538607"/>
                </a:lnTo>
                <a:lnTo>
                  <a:pt x="1559052" y="646303"/>
                </a:lnTo>
                <a:lnTo>
                  <a:pt x="649605" y="646303"/>
                </a:lnTo>
                <a:lnTo>
                  <a:pt x="620014" y="790321"/>
                </a:lnTo>
                <a:lnTo>
                  <a:pt x="259842" y="646303"/>
                </a:lnTo>
                <a:lnTo>
                  <a:pt x="0" y="646303"/>
                </a:lnTo>
                <a:lnTo>
                  <a:pt x="0" y="538607"/>
                </a:lnTo>
                <a:lnTo>
                  <a:pt x="0" y="377063"/>
                </a:lnTo>
                <a:lnTo>
                  <a:pt x="0" y="0"/>
                </a:lnTo>
                <a:close/>
              </a:path>
            </a:pathLst>
          </a:custGeom>
          <a:ln w="6350">
            <a:solidFill>
              <a:srgbClr val="051F79"/>
            </a:solidFill>
          </a:ln>
        </p:spPr>
        <p:txBody>
          <a:bodyPr wrap="square" lIns="0" tIns="0" rIns="0" bIns="0" rtlCol="0"/>
          <a:lstStyle/>
          <a:p>
            <a:endParaRPr/>
          </a:p>
        </p:txBody>
      </p:sp>
      <p:sp>
        <p:nvSpPr>
          <p:cNvPr id="77" name="object 77">
            <a:extLst>
              <a:ext uri="{FF2B5EF4-FFF2-40B4-BE49-F238E27FC236}">
                <a16:creationId xmlns:a16="http://schemas.microsoft.com/office/drawing/2014/main" id="{496717CC-0607-104E-7B59-63C5E362800C}"/>
              </a:ext>
            </a:extLst>
          </p:cNvPr>
          <p:cNvSpPr txBox="1"/>
          <p:nvPr/>
        </p:nvSpPr>
        <p:spPr>
          <a:xfrm>
            <a:off x="2158364" y="2987166"/>
            <a:ext cx="1559560" cy="465512"/>
          </a:xfrm>
          <a:prstGeom prst="rect">
            <a:avLst/>
          </a:prstGeom>
          <a:ln w="6350">
            <a:solidFill>
              <a:srgbClr val="051F79"/>
            </a:solidFill>
          </a:ln>
        </p:spPr>
        <p:txBody>
          <a:bodyPr vert="horz" wrap="square" lIns="0" tIns="44450" rIns="0" bIns="0" rtlCol="0">
            <a:spAutoFit/>
          </a:bodyPr>
          <a:lstStyle/>
          <a:p>
            <a:pPr marL="92075" marR="85090" algn="ctr">
              <a:lnSpc>
                <a:spcPct val="100000"/>
              </a:lnSpc>
              <a:spcBef>
                <a:spcPts val="350"/>
              </a:spcBef>
            </a:pPr>
            <a:r>
              <a:rPr lang="en-US" sz="1200" spc="-5" dirty="0">
                <a:latin typeface="Arial"/>
                <a:cs typeface="Arial"/>
              </a:rPr>
              <a:t>Baseline market </a:t>
            </a:r>
          </a:p>
          <a:p>
            <a:pPr marL="92075" marR="85090" algn="ctr">
              <a:lnSpc>
                <a:spcPct val="100000"/>
              </a:lnSpc>
              <a:spcBef>
                <a:spcPts val="350"/>
              </a:spcBef>
            </a:pPr>
            <a:r>
              <a:rPr lang="en-US" sz="1200" spc="-5" dirty="0">
                <a:latin typeface="Arial"/>
                <a:cs typeface="Arial"/>
              </a:rPr>
              <a:t>&amp; pricing growth(1)</a:t>
            </a:r>
          </a:p>
        </p:txBody>
      </p:sp>
      <p:sp>
        <p:nvSpPr>
          <p:cNvPr id="80" name="object 80">
            <a:extLst>
              <a:ext uri="{FF2B5EF4-FFF2-40B4-BE49-F238E27FC236}">
                <a16:creationId xmlns:a16="http://schemas.microsoft.com/office/drawing/2014/main" id="{24A9C319-8ECD-E1A3-9B21-530A4BFC2D2E}"/>
              </a:ext>
            </a:extLst>
          </p:cNvPr>
          <p:cNvSpPr/>
          <p:nvPr/>
        </p:nvSpPr>
        <p:spPr>
          <a:xfrm>
            <a:off x="694512" y="2987166"/>
            <a:ext cx="1289050" cy="790575"/>
          </a:xfrm>
          <a:custGeom>
            <a:avLst/>
            <a:gdLst/>
            <a:ahLst/>
            <a:cxnLst/>
            <a:rect l="l" t="t" r="r" b="b"/>
            <a:pathLst>
              <a:path w="1289050" h="790575">
                <a:moveTo>
                  <a:pt x="0" y="0"/>
                </a:moveTo>
                <a:lnTo>
                  <a:pt x="214757" y="0"/>
                </a:lnTo>
                <a:lnTo>
                  <a:pt x="536879" y="0"/>
                </a:lnTo>
                <a:lnTo>
                  <a:pt x="1288465" y="0"/>
                </a:lnTo>
                <a:lnTo>
                  <a:pt x="1288465" y="377063"/>
                </a:lnTo>
                <a:lnTo>
                  <a:pt x="1288465" y="538607"/>
                </a:lnTo>
                <a:lnTo>
                  <a:pt x="1288465" y="646303"/>
                </a:lnTo>
                <a:lnTo>
                  <a:pt x="536879" y="646303"/>
                </a:lnTo>
                <a:lnTo>
                  <a:pt x="512394" y="790321"/>
                </a:lnTo>
                <a:lnTo>
                  <a:pt x="214757" y="646303"/>
                </a:lnTo>
                <a:lnTo>
                  <a:pt x="0" y="646303"/>
                </a:lnTo>
                <a:lnTo>
                  <a:pt x="0" y="538607"/>
                </a:lnTo>
                <a:lnTo>
                  <a:pt x="0" y="377063"/>
                </a:lnTo>
                <a:lnTo>
                  <a:pt x="0" y="0"/>
                </a:lnTo>
                <a:close/>
              </a:path>
            </a:pathLst>
          </a:custGeom>
          <a:ln w="6350">
            <a:solidFill>
              <a:srgbClr val="051F79"/>
            </a:solidFill>
          </a:ln>
        </p:spPr>
        <p:txBody>
          <a:bodyPr wrap="square" lIns="0" tIns="0" rIns="0" bIns="0" rtlCol="0"/>
          <a:lstStyle/>
          <a:p>
            <a:endParaRPr/>
          </a:p>
        </p:txBody>
      </p:sp>
      <p:sp>
        <p:nvSpPr>
          <p:cNvPr id="81" name="object 81">
            <a:extLst>
              <a:ext uri="{FF2B5EF4-FFF2-40B4-BE49-F238E27FC236}">
                <a16:creationId xmlns:a16="http://schemas.microsoft.com/office/drawing/2014/main" id="{4B636647-A29E-9B01-41AD-8A77BC29A756}"/>
              </a:ext>
            </a:extLst>
          </p:cNvPr>
          <p:cNvSpPr txBox="1"/>
          <p:nvPr/>
        </p:nvSpPr>
        <p:spPr>
          <a:xfrm>
            <a:off x="694512" y="2987166"/>
            <a:ext cx="1289050" cy="598882"/>
          </a:xfrm>
          <a:prstGeom prst="rect">
            <a:avLst/>
          </a:prstGeom>
          <a:ln w="6350">
            <a:solidFill>
              <a:srgbClr val="051F79"/>
            </a:solidFill>
          </a:ln>
        </p:spPr>
        <p:txBody>
          <a:bodyPr vert="horz" wrap="square" lIns="0" tIns="44450" rIns="0" bIns="0" rtlCol="0">
            <a:spAutoFit/>
          </a:bodyPr>
          <a:lstStyle/>
          <a:p>
            <a:pPr marL="91440" marR="86995" indent="635" algn="ctr">
              <a:lnSpc>
                <a:spcPct val="100000"/>
              </a:lnSpc>
              <a:spcBef>
                <a:spcPts val="350"/>
              </a:spcBef>
            </a:pPr>
            <a:r>
              <a:rPr sz="1200" dirty="0">
                <a:latin typeface="Arial"/>
                <a:cs typeface="Arial"/>
              </a:rPr>
              <a:t>Includes €</a:t>
            </a:r>
            <a:r>
              <a:rPr lang="en-US" sz="1200" dirty="0">
                <a:latin typeface="Arial"/>
                <a:cs typeface="Arial"/>
              </a:rPr>
              <a:t>7</a:t>
            </a:r>
            <a:r>
              <a:rPr sz="1200" dirty="0">
                <a:latin typeface="Arial"/>
                <a:cs typeface="Arial"/>
              </a:rPr>
              <a:t>M  cash </a:t>
            </a:r>
            <a:r>
              <a:rPr sz="1200" spc="-5" dirty="0">
                <a:latin typeface="Arial"/>
                <a:cs typeface="Arial"/>
              </a:rPr>
              <a:t>loan used  </a:t>
            </a:r>
            <a:r>
              <a:rPr sz="1200" dirty="0">
                <a:latin typeface="Arial"/>
                <a:cs typeface="Arial"/>
              </a:rPr>
              <a:t>for car</a:t>
            </a:r>
            <a:r>
              <a:rPr sz="1200" spc="-120" dirty="0">
                <a:latin typeface="Arial"/>
                <a:cs typeface="Arial"/>
              </a:rPr>
              <a:t> </a:t>
            </a:r>
            <a:r>
              <a:rPr sz="1200" dirty="0">
                <a:latin typeface="Arial"/>
                <a:cs typeface="Arial"/>
              </a:rPr>
              <a:t>purchase</a:t>
            </a:r>
          </a:p>
        </p:txBody>
      </p:sp>
      <p:sp>
        <p:nvSpPr>
          <p:cNvPr id="19" name="TextBox 18">
            <a:extLst>
              <a:ext uri="{FF2B5EF4-FFF2-40B4-BE49-F238E27FC236}">
                <a16:creationId xmlns:a16="http://schemas.microsoft.com/office/drawing/2014/main" id="{D90FCD57-36AD-CA39-FD1E-117FE23654A6}"/>
              </a:ext>
            </a:extLst>
          </p:cNvPr>
          <p:cNvSpPr txBox="1"/>
          <p:nvPr/>
        </p:nvSpPr>
        <p:spPr>
          <a:xfrm>
            <a:off x="475487" y="1563582"/>
            <a:ext cx="1970914" cy="303866"/>
          </a:xfrm>
          <a:prstGeom prst="rect">
            <a:avLst/>
          </a:prstGeom>
          <a:noFill/>
        </p:spPr>
        <p:txBody>
          <a:bodyPr wrap="square">
            <a:spAutoFit/>
          </a:bodyPr>
          <a:lstStyle/>
          <a:p>
            <a:pPr marL="338455" marR="5080">
              <a:lnSpc>
                <a:spcPct val="158000"/>
              </a:lnSpc>
              <a:spcBef>
                <a:spcPts val="100"/>
              </a:spcBef>
              <a:tabLst>
                <a:tab pos="2358390" algn="l"/>
                <a:tab pos="4806950" algn="l"/>
              </a:tabLst>
            </a:pPr>
            <a:r>
              <a:rPr lang="en-US" sz="1000" spc="-5" dirty="0">
                <a:latin typeface="Arial"/>
                <a:cs typeface="Arial"/>
              </a:rPr>
              <a:t>Expand </a:t>
            </a:r>
            <a:r>
              <a:rPr lang="en-US" sz="1000" spc="-10" dirty="0">
                <a:latin typeface="Arial"/>
                <a:cs typeface="Arial"/>
              </a:rPr>
              <a:t>digital </a:t>
            </a:r>
            <a:r>
              <a:rPr lang="en-US" sz="1000" spc="-5" dirty="0">
                <a:latin typeface="Arial"/>
                <a:cs typeface="Arial"/>
              </a:rPr>
              <a:t>presence</a:t>
            </a:r>
            <a:endParaRPr lang="en-US" sz="1000" dirty="0">
              <a:latin typeface="Arial"/>
              <a:cs typeface="Arial"/>
            </a:endParaRPr>
          </a:p>
        </p:txBody>
      </p:sp>
      <p:sp>
        <p:nvSpPr>
          <p:cNvPr id="31" name="TextBox 30">
            <a:extLst>
              <a:ext uri="{FF2B5EF4-FFF2-40B4-BE49-F238E27FC236}">
                <a16:creationId xmlns:a16="http://schemas.microsoft.com/office/drawing/2014/main" id="{92441C03-6D6E-01F9-4571-1108CE05E174}"/>
              </a:ext>
            </a:extLst>
          </p:cNvPr>
          <p:cNvSpPr txBox="1"/>
          <p:nvPr/>
        </p:nvSpPr>
        <p:spPr>
          <a:xfrm>
            <a:off x="470265" y="957318"/>
            <a:ext cx="2993352" cy="303866"/>
          </a:xfrm>
          <a:prstGeom prst="rect">
            <a:avLst/>
          </a:prstGeom>
          <a:noFill/>
        </p:spPr>
        <p:txBody>
          <a:bodyPr wrap="square">
            <a:spAutoFit/>
          </a:bodyPr>
          <a:lstStyle>
            <a:defPPr>
              <a:defRPr lang="el-GR"/>
            </a:defPPr>
            <a:lvl1pPr marL="338455" marR="5080">
              <a:lnSpc>
                <a:spcPct val="158000"/>
              </a:lnSpc>
              <a:spcBef>
                <a:spcPts val="100"/>
              </a:spcBef>
              <a:tabLst>
                <a:tab pos="2358390" algn="l"/>
                <a:tab pos="4806950" algn="l"/>
              </a:tabLst>
              <a:defRPr sz="1000" spc="-5">
                <a:latin typeface="Arial"/>
                <a:cs typeface="Arial"/>
              </a:defRPr>
            </a:lvl1pPr>
          </a:lstStyle>
          <a:p>
            <a:r>
              <a:rPr lang="en-US" dirty="0"/>
              <a:t>Increase used car financing</a:t>
            </a:r>
            <a:endParaRPr lang="el-GR" dirty="0"/>
          </a:p>
        </p:txBody>
      </p:sp>
      <p:sp>
        <p:nvSpPr>
          <p:cNvPr id="47" name="TextBox 46">
            <a:extLst>
              <a:ext uri="{FF2B5EF4-FFF2-40B4-BE49-F238E27FC236}">
                <a16:creationId xmlns:a16="http://schemas.microsoft.com/office/drawing/2014/main" id="{98002221-FD32-5FFE-C2F1-BD73E742920B}"/>
              </a:ext>
            </a:extLst>
          </p:cNvPr>
          <p:cNvSpPr txBox="1"/>
          <p:nvPr/>
        </p:nvSpPr>
        <p:spPr>
          <a:xfrm>
            <a:off x="458685" y="1283513"/>
            <a:ext cx="1958086" cy="303866"/>
          </a:xfrm>
          <a:prstGeom prst="rect">
            <a:avLst/>
          </a:prstGeom>
          <a:noFill/>
        </p:spPr>
        <p:txBody>
          <a:bodyPr wrap="square">
            <a:spAutoFit/>
          </a:bodyPr>
          <a:lstStyle>
            <a:defPPr>
              <a:defRPr lang="el-GR"/>
            </a:defPPr>
            <a:lvl1pPr marL="338455" marR="5080">
              <a:lnSpc>
                <a:spcPct val="158000"/>
              </a:lnSpc>
              <a:spcBef>
                <a:spcPts val="100"/>
              </a:spcBef>
              <a:tabLst>
                <a:tab pos="2358390" algn="l"/>
                <a:tab pos="4806950" algn="l"/>
              </a:tabLst>
              <a:defRPr sz="1000" spc="-5">
                <a:latin typeface="Arial"/>
                <a:cs typeface="Arial"/>
              </a:defRPr>
            </a:lvl1pPr>
          </a:lstStyle>
          <a:p>
            <a:r>
              <a:rPr lang="en-US" dirty="0"/>
              <a:t>Redesign B2B offering</a:t>
            </a:r>
            <a:endParaRPr lang="el-GR" dirty="0"/>
          </a:p>
        </p:txBody>
      </p:sp>
      <p:sp>
        <p:nvSpPr>
          <p:cNvPr id="51" name="TextBox 50">
            <a:extLst>
              <a:ext uri="{FF2B5EF4-FFF2-40B4-BE49-F238E27FC236}">
                <a16:creationId xmlns:a16="http://schemas.microsoft.com/office/drawing/2014/main" id="{92E71428-C008-6492-F403-1BF3A65DCDE1}"/>
              </a:ext>
            </a:extLst>
          </p:cNvPr>
          <p:cNvSpPr txBox="1"/>
          <p:nvPr/>
        </p:nvSpPr>
        <p:spPr>
          <a:xfrm>
            <a:off x="3863098" y="1459468"/>
            <a:ext cx="6096000" cy="369332"/>
          </a:xfrm>
          <a:prstGeom prst="rect">
            <a:avLst/>
          </a:prstGeom>
          <a:noFill/>
        </p:spPr>
        <p:txBody>
          <a:bodyPr wrap="square">
            <a:spAutoFit/>
          </a:bodyPr>
          <a:lstStyle>
            <a:defPPr>
              <a:defRPr lang="el-GR"/>
            </a:defPPr>
            <a:lvl1pPr algn="ctr">
              <a:defRPr sz="1400" b="0" i="0" u="none" strike="noStrike" baseline="0">
                <a:solidFill>
                  <a:srgbClr val="000000"/>
                </a:solidFill>
                <a:latin typeface="Arial" panose="020B0604020202020204" pitchFamily="34" charset="0"/>
                <a:cs typeface="Arial" panose="020B0604020202020204" pitchFamily="34" charset="0"/>
              </a:defRPr>
            </a:lvl1pPr>
          </a:lstStyle>
          <a:p>
            <a:r>
              <a:rPr lang="en-US" dirty="0"/>
              <a:t>Overall program to generate additional disbursements of:</a:t>
            </a:r>
          </a:p>
        </p:txBody>
      </p:sp>
    </p:spTree>
    <p:extLst>
      <p:ext uri="{BB962C8B-B14F-4D97-AF65-F5344CB8AC3E}">
        <p14:creationId xmlns:p14="http://schemas.microsoft.com/office/powerpoint/2010/main" val="2965656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988185" y="5116791"/>
            <a:ext cx="9954895" cy="1226185"/>
          </a:xfrm>
          <a:custGeom>
            <a:avLst/>
            <a:gdLst/>
            <a:ahLst/>
            <a:cxnLst/>
            <a:rect l="l" t="t" r="r" b="b"/>
            <a:pathLst>
              <a:path w="9954895" h="1226185">
                <a:moveTo>
                  <a:pt x="0" y="1225969"/>
                </a:moveTo>
                <a:lnTo>
                  <a:pt x="9954768" y="1225969"/>
                </a:lnTo>
                <a:lnTo>
                  <a:pt x="9954768" y="0"/>
                </a:lnTo>
                <a:lnTo>
                  <a:pt x="0" y="0"/>
                </a:lnTo>
                <a:lnTo>
                  <a:pt x="0" y="1225969"/>
                </a:lnTo>
                <a:close/>
              </a:path>
            </a:pathLst>
          </a:custGeom>
          <a:solidFill>
            <a:srgbClr val="C9EEFF"/>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45085" rIns="0" bIns="0" rtlCol="0">
            <a:spAutoFit/>
          </a:bodyPr>
          <a:lstStyle/>
          <a:p>
            <a:pPr marL="12700" marR="5080">
              <a:lnSpc>
                <a:spcPts val="2800"/>
              </a:lnSpc>
              <a:spcBef>
                <a:spcPts val="355"/>
              </a:spcBef>
            </a:pPr>
            <a:r>
              <a:rPr spc="-5" dirty="0"/>
              <a:t>| Large </a:t>
            </a:r>
            <a:r>
              <a:rPr spc="-10" dirty="0"/>
              <a:t>European </a:t>
            </a:r>
            <a:r>
              <a:rPr spc="-5" dirty="0"/>
              <a:t>banks have already established successful  repossession </a:t>
            </a:r>
            <a:r>
              <a:rPr spc="-10" dirty="0"/>
              <a:t>through</a:t>
            </a:r>
            <a:r>
              <a:rPr spc="25" dirty="0"/>
              <a:t> </a:t>
            </a:r>
            <a:r>
              <a:rPr spc="-5" dirty="0"/>
              <a:t>partnership</a:t>
            </a:r>
          </a:p>
        </p:txBody>
      </p:sp>
      <p:sp>
        <p:nvSpPr>
          <p:cNvPr id="4" name="object 4"/>
          <p:cNvSpPr/>
          <p:nvPr/>
        </p:nvSpPr>
        <p:spPr>
          <a:xfrm>
            <a:off x="554736" y="1721611"/>
            <a:ext cx="2867025" cy="0"/>
          </a:xfrm>
          <a:custGeom>
            <a:avLst/>
            <a:gdLst/>
            <a:ahLst/>
            <a:cxnLst/>
            <a:rect l="l" t="t" r="r" b="b"/>
            <a:pathLst>
              <a:path w="2867025">
                <a:moveTo>
                  <a:pt x="0" y="0"/>
                </a:moveTo>
                <a:lnTo>
                  <a:pt x="2866771" y="0"/>
                </a:lnTo>
              </a:path>
            </a:pathLst>
          </a:custGeom>
          <a:ln w="12700">
            <a:solidFill>
              <a:srgbClr val="757575"/>
            </a:solidFill>
          </a:ln>
        </p:spPr>
        <p:txBody>
          <a:bodyPr wrap="square" lIns="0" tIns="0" rIns="0" bIns="0" rtlCol="0"/>
          <a:lstStyle/>
          <a:p>
            <a:endParaRPr/>
          </a:p>
        </p:txBody>
      </p:sp>
      <p:sp>
        <p:nvSpPr>
          <p:cNvPr id="5" name="object 5"/>
          <p:cNvSpPr txBox="1"/>
          <p:nvPr/>
        </p:nvSpPr>
        <p:spPr>
          <a:xfrm>
            <a:off x="554736" y="5116791"/>
            <a:ext cx="1299210" cy="1226185"/>
          </a:xfrm>
          <a:prstGeom prst="rect">
            <a:avLst/>
          </a:prstGeom>
          <a:solidFill>
            <a:srgbClr val="051F79"/>
          </a:solidFill>
        </p:spPr>
        <p:txBody>
          <a:bodyPr vert="horz" wrap="square" lIns="0" tIns="0" rIns="0" bIns="0" rtlCol="0">
            <a:spAutoFit/>
          </a:bodyPr>
          <a:lstStyle/>
          <a:p>
            <a:pPr>
              <a:lnSpc>
                <a:spcPct val="100000"/>
              </a:lnSpc>
            </a:pPr>
            <a:endParaRPr sz="1500">
              <a:latin typeface="Times New Roman"/>
              <a:cs typeface="Times New Roman"/>
            </a:endParaRPr>
          </a:p>
          <a:p>
            <a:pPr>
              <a:lnSpc>
                <a:spcPct val="100000"/>
              </a:lnSpc>
              <a:spcBef>
                <a:spcPts val="40"/>
              </a:spcBef>
            </a:pPr>
            <a:endParaRPr sz="1900">
              <a:latin typeface="Times New Roman"/>
              <a:cs typeface="Times New Roman"/>
            </a:endParaRPr>
          </a:p>
          <a:p>
            <a:pPr marL="71755">
              <a:lnSpc>
                <a:spcPct val="100000"/>
              </a:lnSpc>
            </a:pPr>
            <a:r>
              <a:rPr sz="1400" b="1" spc="-5" dirty="0">
                <a:solidFill>
                  <a:srgbClr val="FFFFFF"/>
                </a:solidFill>
                <a:latin typeface="Arial"/>
                <a:cs typeface="Arial"/>
              </a:rPr>
              <a:t>New</a:t>
            </a:r>
            <a:r>
              <a:rPr sz="1400" b="1" spc="-30" dirty="0">
                <a:solidFill>
                  <a:srgbClr val="FFFFFF"/>
                </a:solidFill>
                <a:latin typeface="Arial"/>
                <a:cs typeface="Arial"/>
              </a:rPr>
              <a:t> </a:t>
            </a:r>
            <a:r>
              <a:rPr sz="1400" b="1" spc="-5" dirty="0">
                <a:solidFill>
                  <a:srgbClr val="FFFFFF"/>
                </a:solidFill>
                <a:latin typeface="Arial"/>
                <a:cs typeface="Arial"/>
              </a:rPr>
              <a:t>entrants</a:t>
            </a:r>
            <a:endParaRPr sz="1400">
              <a:latin typeface="Arial"/>
              <a:cs typeface="Arial"/>
            </a:endParaRPr>
          </a:p>
        </p:txBody>
      </p:sp>
      <p:sp>
        <p:nvSpPr>
          <p:cNvPr id="6" name="object 6"/>
          <p:cNvSpPr/>
          <p:nvPr/>
        </p:nvSpPr>
        <p:spPr>
          <a:xfrm>
            <a:off x="2092579" y="2118995"/>
            <a:ext cx="1534785" cy="305435"/>
          </a:xfrm>
          <a:prstGeom prst="rect">
            <a:avLst/>
          </a:prstGeom>
          <a:blipFill>
            <a:blip r:embed="rId2" cstate="print"/>
            <a:stretch>
              <a:fillRect/>
            </a:stretch>
          </a:blipFill>
        </p:spPr>
        <p:txBody>
          <a:bodyPr wrap="square" lIns="0" tIns="0" rIns="0" bIns="0" rtlCol="0"/>
          <a:lstStyle/>
          <a:p>
            <a:endParaRPr/>
          </a:p>
        </p:txBody>
      </p:sp>
      <p:sp>
        <p:nvSpPr>
          <p:cNvPr id="7" name="object 7"/>
          <p:cNvSpPr txBox="1"/>
          <p:nvPr/>
        </p:nvSpPr>
        <p:spPr>
          <a:xfrm>
            <a:off x="554736" y="1813179"/>
            <a:ext cx="1299210" cy="3063240"/>
          </a:xfrm>
          <a:prstGeom prst="rect">
            <a:avLst/>
          </a:prstGeom>
          <a:solidFill>
            <a:srgbClr val="051F79"/>
          </a:solidFill>
        </p:spPr>
        <p:txBody>
          <a:bodyPr vert="horz" wrap="square" lIns="0" tIns="0" rIns="0" bIns="0" rtlCol="0">
            <a:spAutoFit/>
          </a:bodyPr>
          <a:lstStyle/>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a:lnSpc>
                <a:spcPct val="100000"/>
              </a:lnSpc>
            </a:pPr>
            <a:endParaRPr sz="1500">
              <a:latin typeface="Times New Roman"/>
              <a:cs typeface="Times New Roman"/>
            </a:endParaRPr>
          </a:p>
          <a:p>
            <a:pPr>
              <a:lnSpc>
                <a:spcPct val="100000"/>
              </a:lnSpc>
              <a:spcBef>
                <a:spcPts val="45"/>
              </a:spcBef>
            </a:pPr>
            <a:endParaRPr sz="1450">
              <a:latin typeface="Times New Roman"/>
              <a:cs typeface="Times New Roman"/>
            </a:endParaRPr>
          </a:p>
          <a:p>
            <a:pPr marL="71755" marR="319405">
              <a:lnSpc>
                <a:spcPct val="100000"/>
              </a:lnSpc>
            </a:pPr>
            <a:r>
              <a:rPr sz="1400" b="1" spc="-80" dirty="0">
                <a:solidFill>
                  <a:srgbClr val="FFFFFF"/>
                </a:solidFill>
                <a:latin typeface="Arial"/>
                <a:cs typeface="Arial"/>
              </a:rPr>
              <a:t>T</a:t>
            </a:r>
            <a:r>
              <a:rPr sz="1400" b="1" dirty="0">
                <a:solidFill>
                  <a:srgbClr val="FFFFFF"/>
                </a:solidFill>
                <a:latin typeface="Arial"/>
                <a:cs typeface="Arial"/>
              </a:rPr>
              <a:t>r</a:t>
            </a:r>
            <a:r>
              <a:rPr sz="1400" b="1" spc="-5" dirty="0">
                <a:solidFill>
                  <a:srgbClr val="FFFFFF"/>
                </a:solidFill>
                <a:latin typeface="Arial"/>
                <a:cs typeface="Arial"/>
              </a:rPr>
              <a:t>a</a:t>
            </a:r>
            <a:r>
              <a:rPr sz="1400" b="1" spc="-10" dirty="0">
                <a:solidFill>
                  <a:srgbClr val="FFFFFF"/>
                </a:solidFill>
                <a:latin typeface="Arial"/>
                <a:cs typeface="Arial"/>
              </a:rPr>
              <a:t>d</a:t>
            </a:r>
            <a:r>
              <a:rPr sz="1400" b="1" dirty="0">
                <a:solidFill>
                  <a:srgbClr val="FFFFFF"/>
                </a:solidFill>
                <a:latin typeface="Arial"/>
                <a:cs typeface="Arial"/>
              </a:rPr>
              <a:t>iti</a:t>
            </a:r>
            <a:r>
              <a:rPr sz="1400" b="1" spc="-10" dirty="0">
                <a:solidFill>
                  <a:srgbClr val="FFFFFF"/>
                </a:solidFill>
                <a:latin typeface="Arial"/>
                <a:cs typeface="Arial"/>
              </a:rPr>
              <a:t>o</a:t>
            </a:r>
            <a:r>
              <a:rPr sz="1400" b="1" spc="-20" dirty="0">
                <a:solidFill>
                  <a:srgbClr val="FFFFFF"/>
                </a:solidFill>
                <a:latin typeface="Arial"/>
                <a:cs typeface="Arial"/>
              </a:rPr>
              <a:t>n</a:t>
            </a:r>
            <a:r>
              <a:rPr sz="1400" b="1" spc="-5" dirty="0">
                <a:solidFill>
                  <a:srgbClr val="FFFFFF"/>
                </a:solidFill>
                <a:latin typeface="Arial"/>
                <a:cs typeface="Arial"/>
              </a:rPr>
              <a:t>al  banks</a:t>
            </a:r>
            <a:endParaRPr sz="1400">
              <a:latin typeface="Arial"/>
              <a:cs typeface="Arial"/>
            </a:endParaRPr>
          </a:p>
        </p:txBody>
      </p:sp>
      <p:sp>
        <p:nvSpPr>
          <p:cNvPr id="8" name="object 8"/>
          <p:cNvSpPr/>
          <p:nvPr/>
        </p:nvSpPr>
        <p:spPr>
          <a:xfrm>
            <a:off x="2454401" y="1721611"/>
            <a:ext cx="9404350" cy="0"/>
          </a:xfrm>
          <a:custGeom>
            <a:avLst/>
            <a:gdLst/>
            <a:ahLst/>
            <a:cxnLst/>
            <a:rect l="l" t="t" r="r" b="b"/>
            <a:pathLst>
              <a:path w="9404350">
                <a:moveTo>
                  <a:pt x="0" y="0"/>
                </a:moveTo>
                <a:lnTo>
                  <a:pt x="9403969" y="0"/>
                </a:lnTo>
              </a:path>
            </a:pathLst>
          </a:custGeom>
          <a:ln w="12700">
            <a:solidFill>
              <a:srgbClr val="757575"/>
            </a:solidFill>
          </a:ln>
        </p:spPr>
        <p:txBody>
          <a:bodyPr wrap="square" lIns="0" tIns="0" rIns="0" bIns="0" rtlCol="0"/>
          <a:lstStyle/>
          <a:p>
            <a:endParaRPr/>
          </a:p>
        </p:txBody>
      </p:sp>
      <p:sp>
        <p:nvSpPr>
          <p:cNvPr id="9" name="object 9"/>
          <p:cNvSpPr txBox="1"/>
          <p:nvPr/>
        </p:nvSpPr>
        <p:spPr>
          <a:xfrm>
            <a:off x="542036" y="1400683"/>
            <a:ext cx="7364730" cy="269240"/>
          </a:xfrm>
          <a:prstGeom prst="rect">
            <a:avLst/>
          </a:prstGeom>
        </p:spPr>
        <p:txBody>
          <a:bodyPr vert="horz" wrap="square" lIns="0" tIns="12065" rIns="0" bIns="0" rtlCol="0">
            <a:spAutoFit/>
          </a:bodyPr>
          <a:lstStyle/>
          <a:p>
            <a:pPr marL="12700">
              <a:lnSpc>
                <a:spcPct val="100000"/>
              </a:lnSpc>
              <a:spcBef>
                <a:spcPts val="95"/>
              </a:spcBef>
              <a:tabLst>
                <a:tab pos="3775710" algn="l"/>
              </a:tabLst>
            </a:pPr>
            <a:r>
              <a:rPr sz="1600" b="1" spc="-5" dirty="0">
                <a:latin typeface="Arial"/>
                <a:cs typeface="Arial"/>
              </a:rPr>
              <a:t>Example</a:t>
            </a:r>
            <a:r>
              <a:rPr sz="1600" b="1" spc="10" dirty="0">
                <a:latin typeface="Arial"/>
                <a:cs typeface="Arial"/>
              </a:rPr>
              <a:t> </a:t>
            </a:r>
            <a:r>
              <a:rPr sz="1600" b="1" spc="-5" dirty="0">
                <a:latin typeface="Arial"/>
                <a:cs typeface="Arial"/>
              </a:rPr>
              <a:t>of</a:t>
            </a:r>
            <a:r>
              <a:rPr sz="1600" b="1" spc="20" dirty="0">
                <a:latin typeface="Arial"/>
                <a:cs typeface="Arial"/>
              </a:rPr>
              <a:t> </a:t>
            </a:r>
            <a:r>
              <a:rPr sz="1600" b="1" spc="-10" dirty="0">
                <a:latin typeface="Arial"/>
                <a:cs typeface="Arial"/>
              </a:rPr>
              <a:t>players	</a:t>
            </a:r>
            <a:r>
              <a:rPr sz="2400" b="1" spc="-15" baseline="3472" dirty="0">
                <a:latin typeface="Arial"/>
                <a:cs typeface="Arial"/>
              </a:rPr>
              <a:t>Description </a:t>
            </a:r>
            <a:r>
              <a:rPr sz="2400" b="1" spc="-7" baseline="3472" dirty="0">
                <a:latin typeface="Arial"/>
                <a:cs typeface="Arial"/>
              </a:rPr>
              <a:t>of </a:t>
            </a:r>
            <a:r>
              <a:rPr sz="2400" b="1" spc="-15" baseline="3472" dirty="0">
                <a:latin typeface="Arial"/>
                <a:cs typeface="Arial"/>
              </a:rPr>
              <a:t>repossession</a:t>
            </a:r>
            <a:r>
              <a:rPr sz="2400" b="1" spc="120" baseline="3472" dirty="0">
                <a:latin typeface="Arial"/>
                <a:cs typeface="Arial"/>
              </a:rPr>
              <a:t> </a:t>
            </a:r>
            <a:r>
              <a:rPr sz="2400" b="1" spc="-15" baseline="3472" dirty="0">
                <a:latin typeface="Arial"/>
                <a:cs typeface="Arial"/>
              </a:rPr>
              <a:t>strategy</a:t>
            </a:r>
            <a:endParaRPr sz="2400" baseline="3472">
              <a:latin typeface="Arial"/>
              <a:cs typeface="Arial"/>
            </a:endParaRPr>
          </a:p>
        </p:txBody>
      </p:sp>
      <p:sp>
        <p:nvSpPr>
          <p:cNvPr id="10" name="object 10"/>
          <p:cNvSpPr/>
          <p:nvPr/>
        </p:nvSpPr>
        <p:spPr>
          <a:xfrm>
            <a:off x="554736" y="4979796"/>
            <a:ext cx="11303635" cy="0"/>
          </a:xfrm>
          <a:custGeom>
            <a:avLst/>
            <a:gdLst/>
            <a:ahLst/>
            <a:cxnLst/>
            <a:rect l="l" t="t" r="r" b="b"/>
            <a:pathLst>
              <a:path w="11303635">
                <a:moveTo>
                  <a:pt x="0" y="0"/>
                </a:moveTo>
                <a:lnTo>
                  <a:pt x="11303635" y="0"/>
                </a:lnTo>
              </a:path>
            </a:pathLst>
          </a:custGeom>
          <a:ln w="12700">
            <a:solidFill>
              <a:srgbClr val="757575"/>
            </a:solidFill>
          </a:ln>
        </p:spPr>
        <p:txBody>
          <a:bodyPr wrap="square" lIns="0" tIns="0" rIns="0" bIns="0" rtlCol="0"/>
          <a:lstStyle/>
          <a:p>
            <a:endParaRPr/>
          </a:p>
        </p:txBody>
      </p:sp>
      <p:sp>
        <p:nvSpPr>
          <p:cNvPr id="11" name="object 11"/>
          <p:cNvSpPr/>
          <p:nvPr/>
        </p:nvSpPr>
        <p:spPr>
          <a:xfrm>
            <a:off x="2052954" y="5270665"/>
            <a:ext cx="967130" cy="330796"/>
          </a:xfrm>
          <a:prstGeom prst="rect">
            <a:avLst/>
          </a:prstGeom>
          <a:blipFill>
            <a:blip r:embed="rId3" cstate="print"/>
            <a:stretch>
              <a:fillRect/>
            </a:stretch>
          </a:blipFill>
        </p:spPr>
        <p:txBody>
          <a:bodyPr wrap="square" lIns="0" tIns="0" rIns="0" bIns="0" rtlCol="0"/>
          <a:lstStyle/>
          <a:p>
            <a:endParaRPr/>
          </a:p>
        </p:txBody>
      </p:sp>
      <p:sp>
        <p:nvSpPr>
          <p:cNvPr id="12" name="object 12"/>
          <p:cNvSpPr txBox="1"/>
          <p:nvPr/>
        </p:nvSpPr>
        <p:spPr>
          <a:xfrm>
            <a:off x="4305680" y="5193919"/>
            <a:ext cx="7399655" cy="1092835"/>
          </a:xfrm>
          <a:prstGeom prst="rect">
            <a:avLst/>
          </a:prstGeom>
        </p:spPr>
        <p:txBody>
          <a:bodyPr vert="horz" wrap="square" lIns="0" tIns="12700" rIns="0" bIns="0" rtlCol="0">
            <a:spAutoFit/>
          </a:bodyPr>
          <a:lstStyle/>
          <a:p>
            <a:pPr marL="299085" marR="5080" indent="-287020">
              <a:lnSpc>
                <a:spcPct val="100000"/>
              </a:lnSpc>
              <a:spcBef>
                <a:spcPts val="100"/>
              </a:spcBef>
              <a:buChar char="•"/>
              <a:tabLst>
                <a:tab pos="299085" algn="l"/>
                <a:tab pos="299720" algn="l"/>
              </a:tabLst>
            </a:pPr>
            <a:r>
              <a:rPr sz="1400" spc="-5" dirty="0">
                <a:latin typeface="Arial"/>
                <a:cs typeface="Arial"/>
              </a:rPr>
              <a:t>FINN manages </a:t>
            </a:r>
            <a:r>
              <a:rPr sz="1400" b="1" spc="-5" dirty="0">
                <a:latin typeface="Arial"/>
                <a:cs typeface="Arial"/>
              </a:rPr>
              <a:t>repossession in-house</a:t>
            </a:r>
            <a:r>
              <a:rPr sz="1400" spc="-5" dirty="0">
                <a:latin typeface="Arial"/>
                <a:cs typeface="Arial"/>
              </a:rPr>
              <a:t>, integrating </a:t>
            </a:r>
            <a:r>
              <a:rPr sz="1400" dirty="0">
                <a:latin typeface="Arial"/>
                <a:cs typeface="Arial"/>
              </a:rPr>
              <a:t>a </a:t>
            </a:r>
            <a:r>
              <a:rPr sz="1400" b="1" spc="-5" dirty="0">
                <a:latin typeface="Arial"/>
                <a:cs typeface="Arial"/>
              </a:rPr>
              <a:t>best-in-class, tech-enabled  remarketing process. </a:t>
            </a:r>
            <a:r>
              <a:rPr sz="1400" spc="-5" dirty="0">
                <a:latin typeface="Arial"/>
                <a:cs typeface="Arial"/>
              </a:rPr>
              <a:t>The company has developed </a:t>
            </a:r>
            <a:r>
              <a:rPr sz="1400" dirty="0">
                <a:latin typeface="Arial"/>
                <a:cs typeface="Arial"/>
              </a:rPr>
              <a:t>a </a:t>
            </a:r>
            <a:r>
              <a:rPr sz="1400" b="1" spc="-5" dirty="0">
                <a:latin typeface="Arial"/>
                <a:cs typeface="Arial"/>
              </a:rPr>
              <a:t>digital partner portal </a:t>
            </a:r>
            <a:r>
              <a:rPr sz="1400" spc="-5" dirty="0">
                <a:latin typeface="Arial"/>
                <a:cs typeface="Arial"/>
              </a:rPr>
              <a:t>for </a:t>
            </a:r>
            <a:r>
              <a:rPr sz="1400" b="1" dirty="0">
                <a:latin typeface="Arial"/>
                <a:cs typeface="Arial"/>
              </a:rPr>
              <a:t>real-time  </a:t>
            </a:r>
            <a:r>
              <a:rPr sz="1400" b="1" spc="-5" dirty="0">
                <a:latin typeface="Arial"/>
                <a:cs typeface="Arial"/>
              </a:rPr>
              <a:t>access </a:t>
            </a:r>
            <a:r>
              <a:rPr sz="1400" b="1" dirty="0">
                <a:latin typeface="Arial"/>
                <a:cs typeface="Arial"/>
              </a:rPr>
              <a:t>to </a:t>
            </a:r>
            <a:r>
              <a:rPr sz="1400" b="1" spc="-5" dirty="0">
                <a:latin typeface="Arial"/>
                <a:cs typeface="Arial"/>
              </a:rPr>
              <a:t>vehicles</a:t>
            </a:r>
            <a:r>
              <a:rPr sz="1400" spc="-5" dirty="0">
                <a:latin typeface="Arial"/>
                <a:cs typeface="Arial"/>
              </a:rPr>
              <a:t>, leveraging </a:t>
            </a:r>
            <a:r>
              <a:rPr sz="1400" dirty="0">
                <a:latin typeface="Arial"/>
                <a:cs typeface="Arial"/>
              </a:rPr>
              <a:t>AI </a:t>
            </a:r>
            <a:r>
              <a:rPr sz="1400" spc="-5" dirty="0">
                <a:latin typeface="Arial"/>
                <a:cs typeface="Arial"/>
              </a:rPr>
              <a:t>and machine learning </a:t>
            </a:r>
            <a:r>
              <a:rPr sz="1400" dirty="0">
                <a:latin typeface="Arial"/>
                <a:cs typeface="Arial"/>
              </a:rPr>
              <a:t>to </a:t>
            </a:r>
            <a:r>
              <a:rPr sz="1400" spc="-5" dirty="0">
                <a:latin typeface="Arial"/>
                <a:cs typeface="Arial"/>
              </a:rPr>
              <a:t>automate invoices and is  deploying </a:t>
            </a:r>
            <a:r>
              <a:rPr sz="1400" b="1" spc="-25" dirty="0">
                <a:latin typeface="Arial"/>
                <a:cs typeface="Arial"/>
              </a:rPr>
              <a:t>AI </a:t>
            </a:r>
            <a:r>
              <a:rPr sz="1400" b="1" spc="-5" dirty="0">
                <a:latin typeface="Arial"/>
                <a:cs typeface="Arial"/>
              </a:rPr>
              <a:t>agents </a:t>
            </a:r>
            <a:r>
              <a:rPr sz="1400" dirty="0">
                <a:latin typeface="Arial"/>
                <a:cs typeface="Arial"/>
              </a:rPr>
              <a:t>to </a:t>
            </a:r>
            <a:r>
              <a:rPr sz="1400" spc="-5" dirty="0">
                <a:latin typeface="Arial"/>
                <a:cs typeface="Arial"/>
              </a:rPr>
              <a:t>identify </a:t>
            </a:r>
            <a:r>
              <a:rPr sz="1400" b="1" spc="-5" dirty="0">
                <a:latin typeface="Arial"/>
                <a:cs typeface="Arial"/>
              </a:rPr>
              <a:t>high-potential B2B partners</a:t>
            </a:r>
            <a:r>
              <a:rPr sz="1400" spc="-5" dirty="0">
                <a:latin typeface="Arial"/>
                <a:cs typeface="Arial"/>
              </a:rPr>
              <a:t>, enabling scalable and  targeted </a:t>
            </a:r>
            <a:r>
              <a:rPr sz="1400" dirty="0">
                <a:latin typeface="Arial"/>
                <a:cs typeface="Arial"/>
              </a:rPr>
              <a:t>outreach </a:t>
            </a:r>
            <a:r>
              <a:rPr sz="1400" spc="-5" dirty="0">
                <a:latin typeface="Arial"/>
                <a:cs typeface="Arial"/>
              </a:rPr>
              <a:t>for remarketing</a:t>
            </a:r>
            <a:r>
              <a:rPr sz="1400" spc="-160" dirty="0">
                <a:latin typeface="Arial"/>
                <a:cs typeface="Arial"/>
              </a:rPr>
              <a:t> </a:t>
            </a:r>
            <a:r>
              <a:rPr sz="1400" spc="-5" dirty="0">
                <a:latin typeface="Arial"/>
                <a:cs typeface="Arial"/>
              </a:rPr>
              <a:t>vehicles</a:t>
            </a:r>
            <a:endParaRPr sz="1400">
              <a:latin typeface="Arial"/>
              <a:cs typeface="Arial"/>
            </a:endParaRPr>
          </a:p>
        </p:txBody>
      </p:sp>
      <p:sp>
        <p:nvSpPr>
          <p:cNvPr id="13" name="object 13"/>
          <p:cNvSpPr txBox="1"/>
          <p:nvPr/>
        </p:nvSpPr>
        <p:spPr>
          <a:xfrm>
            <a:off x="4305680" y="1779524"/>
            <a:ext cx="7193915" cy="1245870"/>
          </a:xfrm>
          <a:prstGeom prst="rect">
            <a:avLst/>
          </a:prstGeom>
        </p:spPr>
        <p:txBody>
          <a:bodyPr vert="horz" wrap="square" lIns="0" tIns="13335" rIns="0" bIns="0" rtlCol="0">
            <a:spAutoFit/>
          </a:bodyPr>
          <a:lstStyle/>
          <a:p>
            <a:pPr marL="299085" marR="108585" indent="-287020">
              <a:lnSpc>
                <a:spcPct val="100000"/>
              </a:lnSpc>
              <a:spcBef>
                <a:spcPts val="105"/>
              </a:spcBef>
              <a:buChar char="•"/>
              <a:tabLst>
                <a:tab pos="299085" algn="l"/>
                <a:tab pos="299720" algn="l"/>
              </a:tabLst>
            </a:pPr>
            <a:r>
              <a:rPr sz="1400" dirty="0">
                <a:latin typeface="Arial"/>
                <a:cs typeface="Arial"/>
              </a:rPr>
              <a:t>Société Générale </a:t>
            </a:r>
            <a:r>
              <a:rPr sz="1400" spc="-5" dirty="0">
                <a:latin typeface="Arial"/>
                <a:cs typeface="Arial"/>
              </a:rPr>
              <a:t>handles </a:t>
            </a:r>
            <a:r>
              <a:rPr sz="1400" b="1" spc="-5" dirty="0">
                <a:latin typeface="Arial"/>
                <a:cs typeface="Arial"/>
              </a:rPr>
              <a:t>vehicle repossession </a:t>
            </a:r>
            <a:r>
              <a:rPr sz="1400" spc="-5" dirty="0">
                <a:latin typeface="Arial"/>
                <a:cs typeface="Arial"/>
              </a:rPr>
              <a:t>through its </a:t>
            </a:r>
            <a:r>
              <a:rPr sz="1400" b="1" dirty="0">
                <a:latin typeface="Arial"/>
                <a:cs typeface="Arial"/>
              </a:rPr>
              <a:t>(100% </a:t>
            </a:r>
            <a:r>
              <a:rPr sz="1400" b="1" spc="-5" dirty="0">
                <a:latin typeface="Arial"/>
                <a:cs typeface="Arial"/>
              </a:rPr>
              <a:t>owned) recovery  subsidiary</a:t>
            </a:r>
            <a:r>
              <a:rPr sz="1400" b="1" spc="-45" dirty="0">
                <a:latin typeface="Arial"/>
                <a:cs typeface="Arial"/>
              </a:rPr>
              <a:t> </a:t>
            </a:r>
            <a:r>
              <a:rPr sz="1400" b="1" spc="-5" dirty="0">
                <a:latin typeface="Arial"/>
                <a:cs typeface="Arial"/>
              </a:rPr>
              <a:t>Concilian</a:t>
            </a:r>
            <a:endParaRPr sz="1400">
              <a:latin typeface="Arial"/>
              <a:cs typeface="Arial"/>
            </a:endParaRPr>
          </a:p>
          <a:p>
            <a:pPr marL="299085" marR="5080" indent="-287020">
              <a:lnSpc>
                <a:spcPct val="100000"/>
              </a:lnSpc>
              <a:spcBef>
                <a:spcPts val="600"/>
              </a:spcBef>
              <a:buFont typeface="Arial"/>
              <a:buChar char="•"/>
              <a:tabLst>
                <a:tab pos="299085" algn="l"/>
                <a:tab pos="299720" algn="l"/>
              </a:tabLst>
            </a:pPr>
            <a:r>
              <a:rPr sz="1400" b="1" spc="-5" dirty="0">
                <a:latin typeface="Arial"/>
                <a:cs typeface="Arial"/>
              </a:rPr>
              <a:t>Concilian </a:t>
            </a:r>
            <a:r>
              <a:rPr sz="1400" spc="-5" dirty="0">
                <a:latin typeface="Arial"/>
                <a:cs typeface="Arial"/>
              </a:rPr>
              <a:t>oversees </a:t>
            </a:r>
            <a:r>
              <a:rPr sz="1400" dirty="0">
                <a:latin typeface="Arial"/>
                <a:cs typeface="Arial"/>
              </a:rPr>
              <a:t>the </a:t>
            </a:r>
            <a:r>
              <a:rPr sz="1400" b="1" spc="-5" dirty="0">
                <a:latin typeface="Arial"/>
                <a:cs typeface="Arial"/>
              </a:rPr>
              <a:t>entire repossession lifecycle</a:t>
            </a:r>
            <a:r>
              <a:rPr sz="1400" spc="-5" dirty="0">
                <a:latin typeface="Arial"/>
                <a:cs typeface="Arial"/>
              </a:rPr>
              <a:t>, leveraging external partners for  selected activities </a:t>
            </a:r>
            <a:r>
              <a:rPr sz="1400" dirty="0">
                <a:latin typeface="Arial"/>
                <a:cs typeface="Arial"/>
              </a:rPr>
              <a:t>(e.g.,</a:t>
            </a:r>
            <a:r>
              <a:rPr sz="1400" spc="-105" dirty="0">
                <a:latin typeface="Arial"/>
                <a:cs typeface="Arial"/>
              </a:rPr>
              <a:t> </a:t>
            </a:r>
            <a:r>
              <a:rPr sz="1400" spc="-5" dirty="0">
                <a:latin typeface="Arial"/>
                <a:cs typeface="Arial"/>
              </a:rPr>
              <a:t>remarketing)</a:t>
            </a:r>
            <a:endParaRPr sz="1400">
              <a:latin typeface="Arial"/>
              <a:cs typeface="Arial"/>
            </a:endParaRPr>
          </a:p>
          <a:p>
            <a:pPr marL="299085" indent="-287020">
              <a:lnSpc>
                <a:spcPct val="100000"/>
              </a:lnSpc>
              <a:spcBef>
                <a:spcPts val="600"/>
              </a:spcBef>
              <a:buChar char="•"/>
              <a:tabLst>
                <a:tab pos="299085" algn="l"/>
                <a:tab pos="299720" algn="l"/>
              </a:tabLst>
            </a:pPr>
            <a:r>
              <a:rPr sz="1400" spc="-5" dirty="0">
                <a:latin typeface="Arial"/>
                <a:cs typeface="Arial"/>
              </a:rPr>
              <a:t>Concialian provides collection services </a:t>
            </a:r>
            <a:r>
              <a:rPr sz="1400" dirty="0">
                <a:latin typeface="Arial"/>
                <a:cs typeface="Arial"/>
              </a:rPr>
              <a:t>(incl. </a:t>
            </a:r>
            <a:r>
              <a:rPr sz="1400" spc="-5" dirty="0">
                <a:latin typeface="Arial"/>
                <a:cs typeface="Arial"/>
              </a:rPr>
              <a:t>repossession) also </a:t>
            </a:r>
            <a:r>
              <a:rPr sz="1400" dirty="0">
                <a:latin typeface="Arial"/>
                <a:cs typeface="Arial"/>
              </a:rPr>
              <a:t>to </a:t>
            </a:r>
            <a:r>
              <a:rPr sz="1400" spc="-5" dirty="0">
                <a:latin typeface="Arial"/>
                <a:cs typeface="Arial"/>
              </a:rPr>
              <a:t>other</a:t>
            </a:r>
            <a:r>
              <a:rPr sz="1400" spc="-204" dirty="0">
                <a:latin typeface="Arial"/>
                <a:cs typeface="Arial"/>
              </a:rPr>
              <a:t> </a:t>
            </a:r>
            <a:r>
              <a:rPr sz="1400" spc="-5" dirty="0">
                <a:latin typeface="Arial"/>
                <a:cs typeface="Arial"/>
              </a:rPr>
              <a:t>financial</a:t>
            </a:r>
            <a:endParaRPr sz="1400">
              <a:latin typeface="Arial"/>
              <a:cs typeface="Arial"/>
            </a:endParaRPr>
          </a:p>
        </p:txBody>
      </p:sp>
      <p:sp>
        <p:nvSpPr>
          <p:cNvPr id="14" name="object 14"/>
          <p:cNvSpPr/>
          <p:nvPr/>
        </p:nvSpPr>
        <p:spPr>
          <a:xfrm>
            <a:off x="2101747" y="3388236"/>
            <a:ext cx="967234" cy="536053"/>
          </a:xfrm>
          <a:prstGeom prst="rect">
            <a:avLst/>
          </a:prstGeom>
          <a:blipFill>
            <a:blip r:embed="rId4" cstate="print"/>
            <a:stretch>
              <a:fillRect/>
            </a:stretch>
          </a:blipFill>
        </p:spPr>
        <p:txBody>
          <a:bodyPr wrap="square" lIns="0" tIns="0" rIns="0" bIns="0" rtlCol="0"/>
          <a:lstStyle/>
          <a:p>
            <a:endParaRPr/>
          </a:p>
        </p:txBody>
      </p:sp>
      <p:sp>
        <p:nvSpPr>
          <p:cNvPr id="15" name="object 15"/>
          <p:cNvSpPr txBox="1"/>
          <p:nvPr/>
        </p:nvSpPr>
        <p:spPr>
          <a:xfrm>
            <a:off x="2043810" y="2998977"/>
            <a:ext cx="9791700" cy="239395"/>
          </a:xfrm>
          <a:prstGeom prst="rect">
            <a:avLst/>
          </a:prstGeom>
        </p:spPr>
        <p:txBody>
          <a:bodyPr vert="horz" wrap="square" lIns="0" tIns="13335" rIns="0" bIns="0" rtlCol="0">
            <a:spAutoFit/>
          </a:bodyPr>
          <a:lstStyle/>
          <a:p>
            <a:pPr marL="12700">
              <a:lnSpc>
                <a:spcPct val="100000"/>
              </a:lnSpc>
              <a:spcBef>
                <a:spcPts val="105"/>
              </a:spcBef>
              <a:tabLst>
                <a:tab pos="2560955" algn="l"/>
                <a:tab pos="9778365" algn="l"/>
              </a:tabLst>
            </a:pPr>
            <a:r>
              <a:rPr sz="1400" u="sng" dirty="0">
                <a:uFill>
                  <a:solidFill>
                    <a:srgbClr val="757575"/>
                  </a:solidFill>
                </a:uFill>
                <a:latin typeface="Arial"/>
                <a:cs typeface="Arial"/>
              </a:rPr>
              <a:t> 	</a:t>
            </a:r>
            <a:r>
              <a:rPr sz="1400" u="sng" spc="-5" dirty="0">
                <a:uFill>
                  <a:solidFill>
                    <a:srgbClr val="757575"/>
                  </a:solidFill>
                </a:uFill>
                <a:latin typeface="Arial"/>
                <a:cs typeface="Arial"/>
              </a:rPr>
              <a:t>institutions	</a:t>
            </a:r>
            <a:endParaRPr sz="1400">
              <a:latin typeface="Arial"/>
              <a:cs typeface="Arial"/>
            </a:endParaRPr>
          </a:p>
        </p:txBody>
      </p:sp>
      <p:sp>
        <p:nvSpPr>
          <p:cNvPr id="16" name="object 16"/>
          <p:cNvSpPr/>
          <p:nvPr/>
        </p:nvSpPr>
        <p:spPr>
          <a:xfrm>
            <a:off x="2052954" y="4446206"/>
            <a:ext cx="1695322" cy="234886"/>
          </a:xfrm>
          <a:prstGeom prst="rect">
            <a:avLst/>
          </a:prstGeom>
          <a:blipFill>
            <a:blip r:embed="rId5" cstate="print"/>
            <a:stretch>
              <a:fillRect/>
            </a:stretch>
          </a:blipFill>
        </p:spPr>
        <p:txBody>
          <a:bodyPr wrap="square" lIns="0" tIns="0" rIns="0" bIns="0" rtlCol="0"/>
          <a:lstStyle/>
          <a:p>
            <a:endParaRPr/>
          </a:p>
        </p:txBody>
      </p:sp>
      <p:sp>
        <p:nvSpPr>
          <p:cNvPr id="17" name="object 17"/>
          <p:cNvSpPr txBox="1"/>
          <p:nvPr/>
        </p:nvSpPr>
        <p:spPr>
          <a:xfrm>
            <a:off x="4305680" y="3422396"/>
            <a:ext cx="7006590" cy="452755"/>
          </a:xfrm>
          <a:prstGeom prst="rect">
            <a:avLst/>
          </a:prstGeom>
        </p:spPr>
        <p:txBody>
          <a:bodyPr vert="horz" wrap="square" lIns="0" tIns="13335" rIns="0" bIns="0" rtlCol="0">
            <a:spAutoFit/>
          </a:bodyPr>
          <a:lstStyle/>
          <a:p>
            <a:pPr marL="299085" marR="5080" indent="-287020">
              <a:lnSpc>
                <a:spcPct val="100000"/>
              </a:lnSpc>
              <a:spcBef>
                <a:spcPts val="105"/>
              </a:spcBef>
              <a:buChar char="•"/>
              <a:tabLst>
                <a:tab pos="299085" algn="l"/>
                <a:tab pos="299720" algn="l"/>
              </a:tabLst>
            </a:pPr>
            <a:r>
              <a:rPr sz="1400" dirty="0">
                <a:latin typeface="Arial"/>
                <a:cs typeface="Arial"/>
              </a:rPr>
              <a:t>Crédit</a:t>
            </a:r>
            <a:r>
              <a:rPr sz="1400" spc="-290" dirty="0">
                <a:latin typeface="Arial"/>
                <a:cs typeface="Arial"/>
              </a:rPr>
              <a:t> </a:t>
            </a:r>
            <a:r>
              <a:rPr sz="1400" dirty="0">
                <a:latin typeface="Arial"/>
                <a:cs typeface="Arial"/>
              </a:rPr>
              <a:t>Agricole </a:t>
            </a:r>
            <a:r>
              <a:rPr sz="1400" spc="-5" dirty="0">
                <a:latin typeface="Arial"/>
                <a:cs typeface="Arial"/>
              </a:rPr>
              <a:t>manages </a:t>
            </a:r>
            <a:r>
              <a:rPr sz="1400" b="1" spc="-5" dirty="0">
                <a:latin typeface="Arial"/>
                <a:cs typeface="Arial"/>
              </a:rPr>
              <a:t>internally vehicle repossession </a:t>
            </a:r>
            <a:r>
              <a:rPr sz="1400" spc="-5" dirty="0">
                <a:latin typeface="Arial"/>
                <a:cs typeface="Arial"/>
              </a:rPr>
              <a:t>within </a:t>
            </a:r>
            <a:r>
              <a:rPr sz="1400" dirty="0">
                <a:latin typeface="Arial"/>
                <a:cs typeface="Arial"/>
              </a:rPr>
              <a:t>the collection </a:t>
            </a:r>
            <a:r>
              <a:rPr sz="1400" spc="-5" dirty="0">
                <a:latin typeface="Arial"/>
                <a:cs typeface="Arial"/>
              </a:rPr>
              <a:t>team,  leveraging external partners for selected activities </a:t>
            </a:r>
            <a:r>
              <a:rPr sz="1400" dirty="0">
                <a:latin typeface="Arial"/>
                <a:cs typeface="Arial"/>
              </a:rPr>
              <a:t>(e.g., </a:t>
            </a:r>
            <a:r>
              <a:rPr sz="1400" spc="-5" dirty="0">
                <a:latin typeface="Arial"/>
                <a:cs typeface="Arial"/>
              </a:rPr>
              <a:t>remarketing, asset</a:t>
            </a:r>
            <a:r>
              <a:rPr sz="1400" spc="-220" dirty="0">
                <a:latin typeface="Arial"/>
                <a:cs typeface="Arial"/>
              </a:rPr>
              <a:t> </a:t>
            </a:r>
            <a:r>
              <a:rPr sz="1400" spc="-5" dirty="0">
                <a:latin typeface="Arial"/>
                <a:cs typeface="Arial"/>
              </a:rPr>
              <a:t>recovery)</a:t>
            </a:r>
            <a:endParaRPr sz="1400">
              <a:latin typeface="Arial"/>
              <a:cs typeface="Arial"/>
            </a:endParaRPr>
          </a:p>
        </p:txBody>
      </p:sp>
      <p:sp>
        <p:nvSpPr>
          <p:cNvPr id="18" name="object 18"/>
          <p:cNvSpPr txBox="1"/>
          <p:nvPr/>
        </p:nvSpPr>
        <p:spPr>
          <a:xfrm>
            <a:off x="2040382" y="5760516"/>
            <a:ext cx="1550670" cy="391160"/>
          </a:xfrm>
          <a:prstGeom prst="rect">
            <a:avLst/>
          </a:prstGeom>
        </p:spPr>
        <p:txBody>
          <a:bodyPr vert="horz" wrap="square" lIns="0" tIns="12700" rIns="0" bIns="0" rtlCol="0">
            <a:spAutoFit/>
          </a:bodyPr>
          <a:lstStyle/>
          <a:p>
            <a:pPr marL="12700" marR="5080">
              <a:lnSpc>
                <a:spcPct val="100000"/>
              </a:lnSpc>
              <a:spcBef>
                <a:spcPts val="100"/>
              </a:spcBef>
            </a:pPr>
            <a:r>
              <a:rPr sz="1200" i="1" spc="-5" dirty="0">
                <a:latin typeface="Arial"/>
                <a:cs typeface="Arial"/>
              </a:rPr>
              <a:t>German market leader  </a:t>
            </a:r>
            <a:r>
              <a:rPr sz="1200" i="1" dirty="0">
                <a:latin typeface="Arial"/>
                <a:cs typeface="Arial"/>
              </a:rPr>
              <a:t>for car</a:t>
            </a:r>
            <a:r>
              <a:rPr sz="1200" i="1" spc="-30" dirty="0">
                <a:latin typeface="Arial"/>
                <a:cs typeface="Arial"/>
              </a:rPr>
              <a:t> </a:t>
            </a:r>
            <a:r>
              <a:rPr sz="1200" i="1" spc="-5" dirty="0">
                <a:latin typeface="Arial"/>
                <a:cs typeface="Arial"/>
              </a:rPr>
              <a:t>subscription</a:t>
            </a:r>
            <a:endParaRPr sz="1200">
              <a:latin typeface="Arial"/>
              <a:cs typeface="Arial"/>
            </a:endParaRPr>
          </a:p>
        </p:txBody>
      </p:sp>
      <p:sp>
        <p:nvSpPr>
          <p:cNvPr id="19" name="object 19"/>
          <p:cNvSpPr/>
          <p:nvPr/>
        </p:nvSpPr>
        <p:spPr>
          <a:xfrm>
            <a:off x="2056510" y="4083177"/>
            <a:ext cx="9766300" cy="0"/>
          </a:xfrm>
          <a:custGeom>
            <a:avLst/>
            <a:gdLst/>
            <a:ahLst/>
            <a:cxnLst/>
            <a:rect l="l" t="t" r="r" b="b"/>
            <a:pathLst>
              <a:path w="9766300">
                <a:moveTo>
                  <a:pt x="0" y="0"/>
                </a:moveTo>
                <a:lnTo>
                  <a:pt x="9765792" y="0"/>
                </a:lnTo>
              </a:path>
            </a:pathLst>
          </a:custGeom>
          <a:ln w="12700">
            <a:solidFill>
              <a:srgbClr val="757575"/>
            </a:solidFill>
          </a:ln>
        </p:spPr>
        <p:txBody>
          <a:bodyPr wrap="square" lIns="0" tIns="0" rIns="0" bIns="0" rtlCol="0"/>
          <a:lstStyle/>
          <a:p>
            <a:endParaRPr/>
          </a:p>
        </p:txBody>
      </p:sp>
      <p:sp>
        <p:nvSpPr>
          <p:cNvPr id="20" name="object 20"/>
          <p:cNvSpPr/>
          <p:nvPr/>
        </p:nvSpPr>
        <p:spPr>
          <a:xfrm>
            <a:off x="3834129" y="1531874"/>
            <a:ext cx="360680" cy="360680"/>
          </a:xfrm>
          <a:custGeom>
            <a:avLst/>
            <a:gdLst/>
            <a:ahLst/>
            <a:cxnLst/>
            <a:rect l="l" t="t" r="r" b="b"/>
            <a:pathLst>
              <a:path w="360679" h="360680">
                <a:moveTo>
                  <a:pt x="180086" y="0"/>
                </a:moveTo>
                <a:lnTo>
                  <a:pt x="132174" y="6434"/>
                </a:lnTo>
                <a:lnTo>
                  <a:pt x="89144" y="24590"/>
                </a:lnTo>
                <a:lnTo>
                  <a:pt x="52704" y="52752"/>
                </a:lnTo>
                <a:lnTo>
                  <a:pt x="24562" y="89201"/>
                </a:lnTo>
                <a:lnTo>
                  <a:pt x="6425" y="132218"/>
                </a:lnTo>
                <a:lnTo>
                  <a:pt x="0" y="180086"/>
                </a:lnTo>
                <a:lnTo>
                  <a:pt x="6425" y="227953"/>
                </a:lnTo>
                <a:lnTo>
                  <a:pt x="24562" y="270970"/>
                </a:lnTo>
                <a:lnTo>
                  <a:pt x="52705" y="307419"/>
                </a:lnTo>
                <a:lnTo>
                  <a:pt x="89144" y="335581"/>
                </a:lnTo>
                <a:lnTo>
                  <a:pt x="132174" y="353737"/>
                </a:lnTo>
                <a:lnTo>
                  <a:pt x="180086" y="360172"/>
                </a:lnTo>
                <a:lnTo>
                  <a:pt x="227953" y="353737"/>
                </a:lnTo>
                <a:lnTo>
                  <a:pt x="270970" y="335581"/>
                </a:lnTo>
                <a:lnTo>
                  <a:pt x="307419" y="307419"/>
                </a:lnTo>
                <a:lnTo>
                  <a:pt x="335581" y="270970"/>
                </a:lnTo>
                <a:lnTo>
                  <a:pt x="353737" y="227953"/>
                </a:lnTo>
                <a:lnTo>
                  <a:pt x="360172" y="180086"/>
                </a:lnTo>
                <a:lnTo>
                  <a:pt x="353737" y="132218"/>
                </a:lnTo>
                <a:lnTo>
                  <a:pt x="335581" y="89201"/>
                </a:lnTo>
                <a:lnTo>
                  <a:pt x="307419" y="52752"/>
                </a:lnTo>
                <a:lnTo>
                  <a:pt x="270970" y="24590"/>
                </a:lnTo>
                <a:lnTo>
                  <a:pt x="227953" y="6434"/>
                </a:lnTo>
                <a:lnTo>
                  <a:pt x="180086" y="0"/>
                </a:lnTo>
                <a:close/>
              </a:path>
            </a:pathLst>
          </a:custGeom>
          <a:solidFill>
            <a:srgbClr val="051F79"/>
          </a:solidFill>
        </p:spPr>
        <p:txBody>
          <a:bodyPr wrap="square" lIns="0" tIns="0" rIns="0" bIns="0" rtlCol="0"/>
          <a:lstStyle/>
          <a:p>
            <a:endParaRPr/>
          </a:p>
        </p:txBody>
      </p:sp>
      <p:sp>
        <p:nvSpPr>
          <p:cNvPr id="21" name="object 21"/>
          <p:cNvSpPr/>
          <p:nvPr/>
        </p:nvSpPr>
        <p:spPr>
          <a:xfrm>
            <a:off x="3982586" y="1646590"/>
            <a:ext cx="48895" cy="48895"/>
          </a:xfrm>
          <a:custGeom>
            <a:avLst/>
            <a:gdLst/>
            <a:ahLst/>
            <a:cxnLst/>
            <a:rect l="l" t="t" r="r" b="b"/>
            <a:pathLst>
              <a:path w="48895" h="48894">
                <a:moveTo>
                  <a:pt x="0" y="0"/>
                </a:moveTo>
                <a:lnTo>
                  <a:pt x="48547" y="48457"/>
                </a:lnTo>
              </a:path>
            </a:pathLst>
          </a:custGeom>
          <a:ln w="11534">
            <a:solidFill>
              <a:srgbClr val="FFFFFF"/>
            </a:solidFill>
          </a:ln>
        </p:spPr>
        <p:txBody>
          <a:bodyPr wrap="square" lIns="0" tIns="0" rIns="0" bIns="0" rtlCol="0"/>
          <a:lstStyle/>
          <a:p>
            <a:endParaRPr/>
          </a:p>
        </p:txBody>
      </p:sp>
      <p:sp>
        <p:nvSpPr>
          <p:cNvPr id="22" name="object 22"/>
          <p:cNvSpPr/>
          <p:nvPr/>
        </p:nvSpPr>
        <p:spPr>
          <a:xfrm>
            <a:off x="4027119" y="1646590"/>
            <a:ext cx="26670" cy="26670"/>
          </a:xfrm>
          <a:custGeom>
            <a:avLst/>
            <a:gdLst/>
            <a:ahLst/>
            <a:cxnLst/>
            <a:rect l="l" t="t" r="r" b="b"/>
            <a:pathLst>
              <a:path w="26670" h="26669">
                <a:moveTo>
                  <a:pt x="0" y="0"/>
                </a:moveTo>
                <a:lnTo>
                  <a:pt x="26260" y="26211"/>
                </a:lnTo>
              </a:path>
            </a:pathLst>
          </a:custGeom>
          <a:ln w="11534">
            <a:solidFill>
              <a:srgbClr val="FFFFFF"/>
            </a:solidFill>
          </a:ln>
        </p:spPr>
        <p:txBody>
          <a:bodyPr wrap="square" lIns="0" tIns="0" rIns="0" bIns="0" rtlCol="0"/>
          <a:lstStyle/>
          <a:p>
            <a:endParaRPr/>
          </a:p>
        </p:txBody>
      </p:sp>
      <p:sp>
        <p:nvSpPr>
          <p:cNvPr id="23" name="object 23"/>
          <p:cNvSpPr/>
          <p:nvPr/>
        </p:nvSpPr>
        <p:spPr>
          <a:xfrm>
            <a:off x="3938053" y="1646590"/>
            <a:ext cx="67310" cy="134620"/>
          </a:xfrm>
          <a:custGeom>
            <a:avLst/>
            <a:gdLst/>
            <a:ahLst/>
            <a:cxnLst/>
            <a:rect l="l" t="t" r="r" b="b"/>
            <a:pathLst>
              <a:path w="67310" h="134619">
                <a:moveTo>
                  <a:pt x="0" y="0"/>
                </a:moveTo>
                <a:lnTo>
                  <a:pt x="67294" y="67168"/>
                </a:lnTo>
                <a:lnTo>
                  <a:pt x="0" y="134337"/>
                </a:lnTo>
              </a:path>
            </a:pathLst>
          </a:custGeom>
          <a:ln w="11541">
            <a:solidFill>
              <a:srgbClr val="FFFFFF"/>
            </a:solidFill>
          </a:ln>
        </p:spPr>
        <p:txBody>
          <a:bodyPr wrap="square" lIns="0" tIns="0" rIns="0" bIns="0" rtlCol="0"/>
          <a:lstStyle/>
          <a:p>
            <a:endParaRPr/>
          </a:p>
        </p:txBody>
      </p:sp>
      <p:sp>
        <p:nvSpPr>
          <p:cNvPr id="24" name="object 24"/>
          <p:cNvSpPr/>
          <p:nvPr/>
        </p:nvSpPr>
        <p:spPr>
          <a:xfrm>
            <a:off x="10083292" y="1162456"/>
            <a:ext cx="216535" cy="216535"/>
          </a:xfrm>
          <a:custGeom>
            <a:avLst/>
            <a:gdLst/>
            <a:ahLst/>
            <a:cxnLst/>
            <a:rect l="l" t="t" r="r" b="b"/>
            <a:pathLst>
              <a:path w="216534" h="216534">
                <a:moveTo>
                  <a:pt x="0" y="216001"/>
                </a:moveTo>
                <a:lnTo>
                  <a:pt x="216001" y="216001"/>
                </a:lnTo>
                <a:lnTo>
                  <a:pt x="216001" y="0"/>
                </a:lnTo>
                <a:lnTo>
                  <a:pt x="0" y="0"/>
                </a:lnTo>
                <a:lnTo>
                  <a:pt x="0" y="216001"/>
                </a:lnTo>
                <a:close/>
              </a:path>
            </a:pathLst>
          </a:custGeom>
          <a:solidFill>
            <a:srgbClr val="C9EEFF"/>
          </a:solidFill>
        </p:spPr>
        <p:txBody>
          <a:bodyPr wrap="square" lIns="0" tIns="0" rIns="0" bIns="0" rtlCol="0"/>
          <a:lstStyle/>
          <a:p>
            <a:endParaRPr/>
          </a:p>
        </p:txBody>
      </p:sp>
      <p:sp>
        <p:nvSpPr>
          <p:cNvPr id="25" name="object 25"/>
          <p:cNvSpPr txBox="1"/>
          <p:nvPr/>
        </p:nvSpPr>
        <p:spPr>
          <a:xfrm>
            <a:off x="10378820" y="1156461"/>
            <a:ext cx="127698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Detailed in</a:t>
            </a:r>
            <a:r>
              <a:rPr sz="1200" spc="-100" dirty="0">
                <a:latin typeface="Arial"/>
                <a:cs typeface="Arial"/>
              </a:rPr>
              <a:t> </a:t>
            </a:r>
            <a:r>
              <a:rPr sz="1200" dirty="0">
                <a:latin typeface="Arial"/>
                <a:cs typeface="Arial"/>
              </a:rPr>
              <a:t>backup</a:t>
            </a:r>
            <a:endParaRPr sz="1200">
              <a:latin typeface="Arial"/>
              <a:cs typeface="Arial"/>
            </a:endParaRPr>
          </a:p>
        </p:txBody>
      </p:sp>
      <p:sp>
        <p:nvSpPr>
          <p:cNvPr id="26" name="object 26"/>
          <p:cNvSpPr txBox="1"/>
          <p:nvPr/>
        </p:nvSpPr>
        <p:spPr>
          <a:xfrm>
            <a:off x="4305680" y="4228846"/>
            <a:ext cx="7336790" cy="666115"/>
          </a:xfrm>
          <a:prstGeom prst="rect">
            <a:avLst/>
          </a:prstGeom>
        </p:spPr>
        <p:txBody>
          <a:bodyPr vert="horz" wrap="square" lIns="0" tIns="12700" rIns="0" bIns="0" rtlCol="0">
            <a:spAutoFit/>
          </a:bodyPr>
          <a:lstStyle/>
          <a:p>
            <a:pPr marL="299085" marR="5080" indent="-287020">
              <a:lnSpc>
                <a:spcPct val="100000"/>
              </a:lnSpc>
              <a:spcBef>
                <a:spcPts val="100"/>
              </a:spcBef>
              <a:buChar char="•"/>
              <a:tabLst>
                <a:tab pos="299085" algn="l"/>
                <a:tab pos="299720" algn="l"/>
              </a:tabLst>
            </a:pPr>
            <a:r>
              <a:rPr sz="1400" dirty="0">
                <a:latin typeface="Arial"/>
                <a:cs typeface="Arial"/>
              </a:rPr>
              <a:t>Santander </a:t>
            </a:r>
            <a:r>
              <a:rPr sz="1400" spc="-5" dirty="0">
                <a:latin typeface="Arial"/>
                <a:cs typeface="Arial"/>
              </a:rPr>
              <a:t>implements </a:t>
            </a:r>
            <a:r>
              <a:rPr sz="1400" dirty="0">
                <a:latin typeface="Arial"/>
                <a:cs typeface="Arial"/>
              </a:rPr>
              <a:t>a </a:t>
            </a:r>
            <a:r>
              <a:rPr sz="1400" spc="-5" dirty="0">
                <a:latin typeface="Arial"/>
                <a:cs typeface="Arial"/>
              </a:rPr>
              <a:t>standard </a:t>
            </a:r>
            <a:r>
              <a:rPr sz="1400" b="1" spc="-5" dirty="0">
                <a:latin typeface="Arial"/>
                <a:cs typeface="Arial"/>
              </a:rPr>
              <a:t>repossession process </a:t>
            </a:r>
            <a:r>
              <a:rPr sz="1400" spc="-5" dirty="0">
                <a:latin typeface="Arial"/>
                <a:cs typeface="Arial"/>
              </a:rPr>
              <a:t>through its </a:t>
            </a:r>
            <a:r>
              <a:rPr sz="1400" b="1" spc="-5" dirty="0">
                <a:latin typeface="Arial"/>
                <a:cs typeface="Arial"/>
              </a:rPr>
              <a:t>consumer finance  </a:t>
            </a:r>
            <a:r>
              <a:rPr sz="1400" b="1" dirty="0">
                <a:latin typeface="Arial"/>
                <a:cs typeface="Arial"/>
              </a:rPr>
              <a:t>arm </a:t>
            </a:r>
            <a:r>
              <a:rPr sz="1400" spc="-5" dirty="0">
                <a:latin typeface="Arial"/>
                <a:cs typeface="Arial"/>
              </a:rPr>
              <a:t>(SCF). The bank manages legal notifications </a:t>
            </a:r>
            <a:r>
              <a:rPr sz="1400" dirty="0">
                <a:latin typeface="Arial"/>
                <a:cs typeface="Arial"/>
              </a:rPr>
              <a:t>in-house, </a:t>
            </a:r>
            <a:r>
              <a:rPr sz="1400" spc="-10" dirty="0">
                <a:latin typeface="Arial"/>
                <a:cs typeface="Arial"/>
              </a:rPr>
              <a:t>while </a:t>
            </a:r>
            <a:r>
              <a:rPr sz="1400" spc="-5" dirty="0">
                <a:latin typeface="Arial"/>
                <a:cs typeface="Arial"/>
              </a:rPr>
              <a:t>outsources </a:t>
            </a:r>
            <a:r>
              <a:rPr sz="1400" b="1" spc="-10" dirty="0">
                <a:latin typeface="Arial"/>
                <a:cs typeface="Arial"/>
              </a:rPr>
              <a:t>physical  </a:t>
            </a:r>
            <a:r>
              <a:rPr sz="1400" b="1" spc="-5" dirty="0">
                <a:latin typeface="Arial"/>
                <a:cs typeface="Arial"/>
              </a:rPr>
              <a:t>asset recovery </a:t>
            </a:r>
            <a:r>
              <a:rPr sz="1400" b="1" dirty="0">
                <a:latin typeface="Arial"/>
                <a:cs typeface="Arial"/>
              </a:rPr>
              <a:t>to </a:t>
            </a:r>
            <a:r>
              <a:rPr sz="1400" b="1" spc="-5" dirty="0">
                <a:latin typeface="Arial"/>
                <a:cs typeface="Arial"/>
              </a:rPr>
              <a:t>third-party</a:t>
            </a:r>
            <a:r>
              <a:rPr sz="1400" b="1" spc="-105" dirty="0">
                <a:latin typeface="Arial"/>
                <a:cs typeface="Arial"/>
              </a:rPr>
              <a:t> </a:t>
            </a:r>
            <a:r>
              <a:rPr sz="1400" b="1" spc="-5" dirty="0">
                <a:latin typeface="Arial"/>
                <a:cs typeface="Arial"/>
              </a:rPr>
              <a:t>agents</a:t>
            </a:r>
            <a:endParaRPr sz="1400">
              <a:latin typeface="Arial"/>
              <a:cs typeface="Arial"/>
            </a:endParaRPr>
          </a:p>
        </p:txBody>
      </p:sp>
      <p:sp>
        <p:nvSpPr>
          <p:cNvPr id="28" name="object 28"/>
          <p:cNvSpPr txBox="1"/>
          <p:nvPr/>
        </p:nvSpPr>
        <p:spPr>
          <a:xfrm>
            <a:off x="5786373" y="0"/>
            <a:ext cx="619125" cy="208279"/>
          </a:xfrm>
          <a:prstGeom prst="rect">
            <a:avLst/>
          </a:prstGeom>
        </p:spPr>
        <p:txBody>
          <a:bodyPr vert="horz" wrap="square" lIns="0" tIns="12700" rIns="0" bIns="0" rtlCol="0">
            <a:spAutoFit/>
          </a:bodyPr>
          <a:lstStyle/>
          <a:p>
            <a:pPr marL="12700">
              <a:lnSpc>
                <a:spcPct val="100000"/>
              </a:lnSpc>
              <a:spcBef>
                <a:spcPts val="100"/>
              </a:spcBef>
            </a:pPr>
            <a:r>
              <a:rPr sz="1200" i="1" spc="-5" dirty="0">
                <a:solidFill>
                  <a:srgbClr val="FFFFFF"/>
                </a:solidFill>
                <a:latin typeface="Arial"/>
                <a:cs typeface="Arial"/>
              </a:rPr>
              <a:t>Pre-read</a:t>
            </a:r>
            <a:endParaRPr sz="1200" dirty="0">
              <a:latin typeface="Arial"/>
              <a:cs typeface="Arial"/>
            </a:endParaRPr>
          </a:p>
        </p:txBody>
      </p:sp>
      <p:sp>
        <p:nvSpPr>
          <p:cNvPr id="29" name="object 29"/>
          <p:cNvSpPr txBox="1"/>
          <p:nvPr/>
        </p:nvSpPr>
        <p:spPr>
          <a:xfrm>
            <a:off x="10134981" y="6497072"/>
            <a:ext cx="1151255" cy="153670"/>
          </a:xfrm>
          <a:prstGeom prst="rect">
            <a:avLst/>
          </a:prstGeom>
        </p:spPr>
        <p:txBody>
          <a:bodyPr vert="horz" wrap="square" lIns="0" tIns="1905" rIns="0" bIns="0" rtlCol="0">
            <a:spAutoFit/>
          </a:bodyPr>
          <a:lstStyle/>
          <a:p>
            <a:pPr marL="12700">
              <a:lnSpc>
                <a:spcPct val="100000"/>
              </a:lnSpc>
              <a:spcBef>
                <a:spcPts val="15"/>
              </a:spcBef>
            </a:pPr>
            <a:r>
              <a:rPr sz="900" spc="-5" dirty="0">
                <a:latin typeface="Arial"/>
                <a:cs typeface="Arial"/>
              </a:rPr>
              <a:t>McKinsey </a:t>
            </a:r>
            <a:r>
              <a:rPr sz="900" dirty="0">
                <a:latin typeface="Arial"/>
                <a:cs typeface="Arial"/>
              </a:rPr>
              <a:t>&amp;</a:t>
            </a:r>
            <a:r>
              <a:rPr sz="900" spc="-40" dirty="0">
                <a:latin typeface="Arial"/>
                <a:cs typeface="Arial"/>
              </a:rPr>
              <a:t> </a:t>
            </a:r>
            <a:r>
              <a:rPr sz="900" spc="-5" dirty="0">
                <a:latin typeface="Arial"/>
                <a:cs typeface="Arial"/>
              </a:rPr>
              <a:t>Company</a:t>
            </a:r>
            <a:endParaRPr sz="900">
              <a:latin typeface="Arial"/>
              <a:cs typeface="Arial"/>
            </a:endParaRPr>
          </a:p>
        </p:txBody>
      </p:sp>
      <p:sp>
        <p:nvSpPr>
          <p:cNvPr id="30" name="object 30"/>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dirty="0"/>
              <a:t>20</a:t>
            </a:fld>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2036" y="509981"/>
            <a:ext cx="11139170" cy="406400"/>
          </a:xfrm>
          <a:prstGeom prst="rect">
            <a:avLst/>
          </a:prstGeom>
        </p:spPr>
        <p:txBody>
          <a:bodyPr vert="horz" wrap="square" lIns="0" tIns="12065" rIns="0" bIns="0" rtlCol="0">
            <a:spAutoFit/>
          </a:bodyPr>
          <a:lstStyle/>
          <a:p>
            <a:pPr marL="12700">
              <a:lnSpc>
                <a:spcPct val="100000"/>
              </a:lnSpc>
              <a:spcBef>
                <a:spcPts val="95"/>
              </a:spcBef>
            </a:pPr>
            <a:r>
              <a:rPr spc="-5" dirty="0"/>
              <a:t>| Repossession: diversified remarketing engine to maximize</a:t>
            </a:r>
            <a:r>
              <a:rPr spc="75" dirty="0"/>
              <a:t> </a:t>
            </a:r>
            <a:r>
              <a:rPr spc="-5" dirty="0"/>
              <a:t>value</a:t>
            </a:r>
          </a:p>
        </p:txBody>
      </p:sp>
      <p:sp>
        <p:nvSpPr>
          <p:cNvPr id="3" name="object 3"/>
          <p:cNvSpPr/>
          <p:nvPr/>
        </p:nvSpPr>
        <p:spPr>
          <a:xfrm>
            <a:off x="554736" y="1644650"/>
            <a:ext cx="3192145" cy="0"/>
          </a:xfrm>
          <a:custGeom>
            <a:avLst/>
            <a:gdLst/>
            <a:ahLst/>
            <a:cxnLst/>
            <a:rect l="l" t="t" r="r" b="b"/>
            <a:pathLst>
              <a:path w="3192145">
                <a:moveTo>
                  <a:pt x="0" y="0"/>
                </a:moveTo>
                <a:lnTo>
                  <a:pt x="3191764" y="0"/>
                </a:lnTo>
              </a:path>
            </a:pathLst>
          </a:custGeom>
          <a:ln w="12700">
            <a:solidFill>
              <a:srgbClr val="757575"/>
            </a:solidFill>
          </a:ln>
        </p:spPr>
        <p:txBody>
          <a:bodyPr wrap="square" lIns="0" tIns="0" rIns="0" bIns="0" rtlCol="0"/>
          <a:lstStyle/>
          <a:p>
            <a:endParaRPr/>
          </a:p>
        </p:txBody>
      </p:sp>
      <p:sp>
        <p:nvSpPr>
          <p:cNvPr id="4" name="object 4"/>
          <p:cNvSpPr/>
          <p:nvPr/>
        </p:nvSpPr>
        <p:spPr>
          <a:xfrm>
            <a:off x="1609089" y="5384800"/>
            <a:ext cx="676275" cy="316230"/>
          </a:xfrm>
          <a:custGeom>
            <a:avLst/>
            <a:gdLst/>
            <a:ahLst/>
            <a:cxnLst/>
            <a:rect l="l" t="t" r="r" b="b"/>
            <a:pathLst>
              <a:path w="676275" h="316229">
                <a:moveTo>
                  <a:pt x="337947" y="0"/>
                </a:moveTo>
                <a:lnTo>
                  <a:pt x="277188" y="2545"/>
                </a:lnTo>
                <a:lnTo>
                  <a:pt x="220007" y="9884"/>
                </a:lnTo>
                <a:lnTo>
                  <a:pt x="167357" y="21571"/>
                </a:lnTo>
                <a:lnTo>
                  <a:pt x="120192" y="37158"/>
                </a:lnTo>
                <a:lnTo>
                  <a:pt x="79465" y="56200"/>
                </a:lnTo>
                <a:lnTo>
                  <a:pt x="46129" y="78250"/>
                </a:lnTo>
                <a:lnTo>
                  <a:pt x="5443" y="129590"/>
                </a:lnTo>
                <a:lnTo>
                  <a:pt x="0" y="157987"/>
                </a:lnTo>
                <a:lnTo>
                  <a:pt x="5443" y="186372"/>
                </a:lnTo>
                <a:lnTo>
                  <a:pt x="46129" y="237691"/>
                </a:lnTo>
                <a:lnTo>
                  <a:pt x="79465" y="259733"/>
                </a:lnTo>
                <a:lnTo>
                  <a:pt x="120192" y="278767"/>
                </a:lnTo>
                <a:lnTo>
                  <a:pt x="167357" y="294349"/>
                </a:lnTo>
                <a:lnTo>
                  <a:pt x="220007" y="306031"/>
                </a:lnTo>
                <a:lnTo>
                  <a:pt x="277188" y="313367"/>
                </a:lnTo>
                <a:lnTo>
                  <a:pt x="337947" y="315912"/>
                </a:lnTo>
                <a:lnTo>
                  <a:pt x="398672" y="313367"/>
                </a:lnTo>
                <a:lnTo>
                  <a:pt x="455835" y="306031"/>
                </a:lnTo>
                <a:lnTo>
                  <a:pt x="508479" y="294349"/>
                </a:lnTo>
                <a:lnTo>
                  <a:pt x="555649" y="278767"/>
                </a:lnTo>
                <a:lnTo>
                  <a:pt x="596386" y="259733"/>
                </a:lnTo>
                <a:lnTo>
                  <a:pt x="629736" y="237691"/>
                </a:lnTo>
                <a:lnTo>
                  <a:pt x="670446" y="186372"/>
                </a:lnTo>
                <a:lnTo>
                  <a:pt x="675893" y="157987"/>
                </a:lnTo>
                <a:lnTo>
                  <a:pt x="670446" y="129590"/>
                </a:lnTo>
                <a:lnTo>
                  <a:pt x="629736" y="78250"/>
                </a:lnTo>
                <a:lnTo>
                  <a:pt x="596386" y="56200"/>
                </a:lnTo>
                <a:lnTo>
                  <a:pt x="555649" y="37158"/>
                </a:lnTo>
                <a:lnTo>
                  <a:pt x="508479" y="21571"/>
                </a:lnTo>
                <a:lnTo>
                  <a:pt x="455835" y="9884"/>
                </a:lnTo>
                <a:lnTo>
                  <a:pt x="398672" y="2545"/>
                </a:lnTo>
                <a:lnTo>
                  <a:pt x="337947" y="0"/>
                </a:lnTo>
                <a:close/>
              </a:path>
            </a:pathLst>
          </a:custGeom>
          <a:solidFill>
            <a:srgbClr val="00A9F4"/>
          </a:solidFill>
        </p:spPr>
        <p:txBody>
          <a:bodyPr wrap="square" lIns="0" tIns="0" rIns="0" bIns="0" rtlCol="0"/>
          <a:lstStyle/>
          <a:p>
            <a:endParaRPr/>
          </a:p>
        </p:txBody>
      </p:sp>
      <p:sp>
        <p:nvSpPr>
          <p:cNvPr id="5" name="object 5"/>
          <p:cNvSpPr txBox="1"/>
          <p:nvPr/>
        </p:nvSpPr>
        <p:spPr>
          <a:xfrm>
            <a:off x="1815210" y="5442915"/>
            <a:ext cx="263525" cy="193675"/>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FFFFFF"/>
                </a:solidFill>
                <a:latin typeface="Arial"/>
                <a:cs typeface="Arial"/>
              </a:rPr>
              <a:t>~20</a:t>
            </a:r>
            <a:endParaRPr sz="1100">
              <a:latin typeface="Arial"/>
              <a:cs typeface="Arial"/>
            </a:endParaRPr>
          </a:p>
        </p:txBody>
      </p:sp>
      <p:sp>
        <p:nvSpPr>
          <p:cNvPr id="6" name="object 6"/>
          <p:cNvSpPr txBox="1"/>
          <p:nvPr/>
        </p:nvSpPr>
        <p:spPr>
          <a:xfrm>
            <a:off x="542036" y="5555691"/>
            <a:ext cx="606425" cy="361315"/>
          </a:xfrm>
          <a:prstGeom prst="rect">
            <a:avLst/>
          </a:prstGeom>
        </p:spPr>
        <p:txBody>
          <a:bodyPr vert="horz" wrap="square" lIns="0" tIns="12700" rIns="0" bIns="0" rtlCol="0">
            <a:spAutoFit/>
          </a:bodyPr>
          <a:lstStyle/>
          <a:p>
            <a:pPr marL="12700" marR="5080">
              <a:lnSpc>
                <a:spcPct val="100000"/>
              </a:lnSpc>
              <a:spcBef>
                <a:spcPts val="100"/>
              </a:spcBef>
            </a:pPr>
            <a:r>
              <a:rPr sz="1100" b="1" spc="-5" dirty="0">
                <a:latin typeface="Arial"/>
                <a:cs typeface="Arial"/>
              </a:rPr>
              <a:t>Cars </a:t>
            </a:r>
            <a:r>
              <a:rPr sz="1100" b="1" dirty="0">
                <a:latin typeface="Arial"/>
                <a:cs typeface="Arial"/>
              </a:rPr>
              <a:t>per  </a:t>
            </a:r>
            <a:r>
              <a:rPr sz="1100" b="1" spc="-5" dirty="0">
                <a:latin typeface="Arial"/>
                <a:cs typeface="Arial"/>
              </a:rPr>
              <a:t>month,</a:t>
            </a:r>
            <a:r>
              <a:rPr sz="1100" b="1" spc="-100" dirty="0">
                <a:latin typeface="Arial"/>
                <a:cs typeface="Arial"/>
              </a:rPr>
              <a:t> </a:t>
            </a:r>
            <a:r>
              <a:rPr sz="1100" b="1" dirty="0">
                <a:latin typeface="Arial"/>
                <a:cs typeface="Arial"/>
              </a:rPr>
              <a:t>#</a:t>
            </a:r>
            <a:endParaRPr sz="1100">
              <a:latin typeface="Arial"/>
              <a:cs typeface="Arial"/>
            </a:endParaRPr>
          </a:p>
        </p:txBody>
      </p:sp>
      <p:sp>
        <p:nvSpPr>
          <p:cNvPr id="7" name="object 7"/>
          <p:cNvSpPr/>
          <p:nvPr/>
        </p:nvSpPr>
        <p:spPr>
          <a:xfrm>
            <a:off x="1609089" y="5815012"/>
            <a:ext cx="676275" cy="316230"/>
          </a:xfrm>
          <a:custGeom>
            <a:avLst/>
            <a:gdLst/>
            <a:ahLst/>
            <a:cxnLst/>
            <a:rect l="l" t="t" r="r" b="b"/>
            <a:pathLst>
              <a:path w="676275" h="316229">
                <a:moveTo>
                  <a:pt x="337947" y="0"/>
                </a:moveTo>
                <a:lnTo>
                  <a:pt x="277188" y="2544"/>
                </a:lnTo>
                <a:lnTo>
                  <a:pt x="220007" y="9881"/>
                </a:lnTo>
                <a:lnTo>
                  <a:pt x="167357" y="21564"/>
                </a:lnTo>
                <a:lnTo>
                  <a:pt x="120192" y="37147"/>
                </a:lnTo>
                <a:lnTo>
                  <a:pt x="79465" y="56185"/>
                </a:lnTo>
                <a:lnTo>
                  <a:pt x="46129" y="78231"/>
                </a:lnTo>
                <a:lnTo>
                  <a:pt x="5443" y="129566"/>
                </a:lnTo>
                <a:lnTo>
                  <a:pt x="0" y="157962"/>
                </a:lnTo>
                <a:lnTo>
                  <a:pt x="5443" y="186355"/>
                </a:lnTo>
                <a:lnTo>
                  <a:pt x="46129" y="237684"/>
                </a:lnTo>
                <a:lnTo>
                  <a:pt x="79465" y="259728"/>
                </a:lnTo>
                <a:lnTo>
                  <a:pt x="120192" y="278765"/>
                </a:lnTo>
                <a:lnTo>
                  <a:pt x="167357" y="294348"/>
                </a:lnTo>
                <a:lnTo>
                  <a:pt x="220007" y="306031"/>
                </a:lnTo>
                <a:lnTo>
                  <a:pt x="277188" y="313367"/>
                </a:lnTo>
                <a:lnTo>
                  <a:pt x="337947" y="315912"/>
                </a:lnTo>
                <a:lnTo>
                  <a:pt x="398672" y="313367"/>
                </a:lnTo>
                <a:lnTo>
                  <a:pt x="455835" y="306031"/>
                </a:lnTo>
                <a:lnTo>
                  <a:pt x="508479" y="294348"/>
                </a:lnTo>
                <a:lnTo>
                  <a:pt x="555649" y="278765"/>
                </a:lnTo>
                <a:lnTo>
                  <a:pt x="596386" y="259728"/>
                </a:lnTo>
                <a:lnTo>
                  <a:pt x="629736" y="237684"/>
                </a:lnTo>
                <a:lnTo>
                  <a:pt x="670446" y="186355"/>
                </a:lnTo>
                <a:lnTo>
                  <a:pt x="675893" y="157962"/>
                </a:lnTo>
                <a:lnTo>
                  <a:pt x="670446" y="129566"/>
                </a:lnTo>
                <a:lnTo>
                  <a:pt x="629736" y="78231"/>
                </a:lnTo>
                <a:lnTo>
                  <a:pt x="596386" y="56185"/>
                </a:lnTo>
                <a:lnTo>
                  <a:pt x="555649" y="37147"/>
                </a:lnTo>
                <a:lnTo>
                  <a:pt x="508479" y="21564"/>
                </a:lnTo>
                <a:lnTo>
                  <a:pt x="455835" y="9881"/>
                </a:lnTo>
                <a:lnTo>
                  <a:pt x="398672" y="2544"/>
                </a:lnTo>
                <a:lnTo>
                  <a:pt x="337947" y="0"/>
                </a:lnTo>
                <a:close/>
              </a:path>
            </a:pathLst>
          </a:custGeom>
          <a:solidFill>
            <a:srgbClr val="051F79"/>
          </a:solidFill>
        </p:spPr>
        <p:txBody>
          <a:bodyPr wrap="square" lIns="0" tIns="0" rIns="0" bIns="0" rtlCol="0"/>
          <a:lstStyle/>
          <a:p>
            <a:endParaRPr/>
          </a:p>
        </p:txBody>
      </p:sp>
      <p:sp>
        <p:nvSpPr>
          <p:cNvPr id="8" name="object 8"/>
          <p:cNvSpPr txBox="1"/>
          <p:nvPr/>
        </p:nvSpPr>
        <p:spPr>
          <a:xfrm>
            <a:off x="1815210" y="5872988"/>
            <a:ext cx="263525" cy="193675"/>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FFFFFF"/>
                </a:solidFill>
                <a:latin typeface="Arial"/>
                <a:cs typeface="Arial"/>
              </a:rPr>
              <a:t>~10</a:t>
            </a:r>
            <a:endParaRPr sz="1100">
              <a:latin typeface="Arial"/>
              <a:cs typeface="Arial"/>
            </a:endParaRPr>
          </a:p>
        </p:txBody>
      </p:sp>
      <p:sp>
        <p:nvSpPr>
          <p:cNvPr id="9" name="object 9"/>
          <p:cNvSpPr/>
          <p:nvPr/>
        </p:nvSpPr>
        <p:spPr>
          <a:xfrm>
            <a:off x="2774060" y="5384800"/>
            <a:ext cx="676275" cy="316230"/>
          </a:xfrm>
          <a:custGeom>
            <a:avLst/>
            <a:gdLst/>
            <a:ahLst/>
            <a:cxnLst/>
            <a:rect l="l" t="t" r="r" b="b"/>
            <a:pathLst>
              <a:path w="676275" h="316229">
                <a:moveTo>
                  <a:pt x="337946" y="0"/>
                </a:moveTo>
                <a:lnTo>
                  <a:pt x="277188" y="2545"/>
                </a:lnTo>
                <a:lnTo>
                  <a:pt x="220007" y="9884"/>
                </a:lnTo>
                <a:lnTo>
                  <a:pt x="167357" y="21571"/>
                </a:lnTo>
                <a:lnTo>
                  <a:pt x="120192" y="37158"/>
                </a:lnTo>
                <a:lnTo>
                  <a:pt x="79465" y="56200"/>
                </a:lnTo>
                <a:lnTo>
                  <a:pt x="46129" y="78250"/>
                </a:lnTo>
                <a:lnTo>
                  <a:pt x="5443" y="129590"/>
                </a:lnTo>
                <a:lnTo>
                  <a:pt x="0" y="157987"/>
                </a:lnTo>
                <a:lnTo>
                  <a:pt x="5443" y="186372"/>
                </a:lnTo>
                <a:lnTo>
                  <a:pt x="46129" y="237691"/>
                </a:lnTo>
                <a:lnTo>
                  <a:pt x="79465" y="259733"/>
                </a:lnTo>
                <a:lnTo>
                  <a:pt x="120192" y="278767"/>
                </a:lnTo>
                <a:lnTo>
                  <a:pt x="167357" y="294349"/>
                </a:lnTo>
                <a:lnTo>
                  <a:pt x="220007" y="306031"/>
                </a:lnTo>
                <a:lnTo>
                  <a:pt x="277188" y="313367"/>
                </a:lnTo>
                <a:lnTo>
                  <a:pt x="337946" y="315912"/>
                </a:lnTo>
                <a:lnTo>
                  <a:pt x="398672" y="313367"/>
                </a:lnTo>
                <a:lnTo>
                  <a:pt x="455835" y="306031"/>
                </a:lnTo>
                <a:lnTo>
                  <a:pt x="508479" y="294349"/>
                </a:lnTo>
                <a:lnTo>
                  <a:pt x="555649" y="278767"/>
                </a:lnTo>
                <a:lnTo>
                  <a:pt x="596386" y="259733"/>
                </a:lnTo>
                <a:lnTo>
                  <a:pt x="629736" y="237691"/>
                </a:lnTo>
                <a:lnTo>
                  <a:pt x="670446" y="186372"/>
                </a:lnTo>
                <a:lnTo>
                  <a:pt x="675893" y="157987"/>
                </a:lnTo>
                <a:lnTo>
                  <a:pt x="670446" y="129590"/>
                </a:lnTo>
                <a:lnTo>
                  <a:pt x="629736" y="78250"/>
                </a:lnTo>
                <a:lnTo>
                  <a:pt x="596386" y="56200"/>
                </a:lnTo>
                <a:lnTo>
                  <a:pt x="555649" y="37158"/>
                </a:lnTo>
                <a:lnTo>
                  <a:pt x="508479" y="21571"/>
                </a:lnTo>
                <a:lnTo>
                  <a:pt x="455835" y="9884"/>
                </a:lnTo>
                <a:lnTo>
                  <a:pt x="398672" y="2545"/>
                </a:lnTo>
                <a:lnTo>
                  <a:pt x="337946" y="0"/>
                </a:lnTo>
                <a:close/>
              </a:path>
            </a:pathLst>
          </a:custGeom>
          <a:solidFill>
            <a:srgbClr val="00A9F4"/>
          </a:solidFill>
        </p:spPr>
        <p:txBody>
          <a:bodyPr wrap="square" lIns="0" tIns="0" rIns="0" bIns="0" rtlCol="0"/>
          <a:lstStyle/>
          <a:p>
            <a:endParaRPr/>
          </a:p>
        </p:txBody>
      </p:sp>
      <p:sp>
        <p:nvSpPr>
          <p:cNvPr id="10" name="object 10"/>
          <p:cNvSpPr txBox="1"/>
          <p:nvPr/>
        </p:nvSpPr>
        <p:spPr>
          <a:xfrm>
            <a:off x="2980182" y="5442915"/>
            <a:ext cx="263525" cy="193675"/>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FFFFFF"/>
                </a:solidFill>
                <a:latin typeface="Arial"/>
                <a:cs typeface="Arial"/>
              </a:rPr>
              <a:t>~40</a:t>
            </a:r>
            <a:endParaRPr sz="1100">
              <a:latin typeface="Arial"/>
              <a:cs typeface="Arial"/>
            </a:endParaRPr>
          </a:p>
        </p:txBody>
      </p:sp>
      <p:sp>
        <p:nvSpPr>
          <p:cNvPr id="11" name="object 11"/>
          <p:cNvSpPr/>
          <p:nvPr/>
        </p:nvSpPr>
        <p:spPr>
          <a:xfrm>
            <a:off x="2774060" y="5815012"/>
            <a:ext cx="676275" cy="316230"/>
          </a:xfrm>
          <a:custGeom>
            <a:avLst/>
            <a:gdLst/>
            <a:ahLst/>
            <a:cxnLst/>
            <a:rect l="l" t="t" r="r" b="b"/>
            <a:pathLst>
              <a:path w="676275" h="316229">
                <a:moveTo>
                  <a:pt x="337946" y="0"/>
                </a:moveTo>
                <a:lnTo>
                  <a:pt x="277188" y="2544"/>
                </a:lnTo>
                <a:lnTo>
                  <a:pt x="220007" y="9881"/>
                </a:lnTo>
                <a:lnTo>
                  <a:pt x="167357" y="21564"/>
                </a:lnTo>
                <a:lnTo>
                  <a:pt x="120192" y="37147"/>
                </a:lnTo>
                <a:lnTo>
                  <a:pt x="79465" y="56185"/>
                </a:lnTo>
                <a:lnTo>
                  <a:pt x="46129" y="78231"/>
                </a:lnTo>
                <a:lnTo>
                  <a:pt x="5443" y="129566"/>
                </a:lnTo>
                <a:lnTo>
                  <a:pt x="0" y="157962"/>
                </a:lnTo>
                <a:lnTo>
                  <a:pt x="5443" y="186355"/>
                </a:lnTo>
                <a:lnTo>
                  <a:pt x="46129" y="237684"/>
                </a:lnTo>
                <a:lnTo>
                  <a:pt x="79465" y="259728"/>
                </a:lnTo>
                <a:lnTo>
                  <a:pt x="120192" y="278765"/>
                </a:lnTo>
                <a:lnTo>
                  <a:pt x="167357" y="294348"/>
                </a:lnTo>
                <a:lnTo>
                  <a:pt x="220007" y="306031"/>
                </a:lnTo>
                <a:lnTo>
                  <a:pt x="277188" y="313367"/>
                </a:lnTo>
                <a:lnTo>
                  <a:pt x="337946" y="315912"/>
                </a:lnTo>
                <a:lnTo>
                  <a:pt x="398672" y="313367"/>
                </a:lnTo>
                <a:lnTo>
                  <a:pt x="455835" y="306031"/>
                </a:lnTo>
                <a:lnTo>
                  <a:pt x="508479" y="294348"/>
                </a:lnTo>
                <a:lnTo>
                  <a:pt x="555649" y="278765"/>
                </a:lnTo>
                <a:lnTo>
                  <a:pt x="596386" y="259728"/>
                </a:lnTo>
                <a:lnTo>
                  <a:pt x="629736" y="237684"/>
                </a:lnTo>
                <a:lnTo>
                  <a:pt x="670446" y="186355"/>
                </a:lnTo>
                <a:lnTo>
                  <a:pt x="675893" y="157962"/>
                </a:lnTo>
                <a:lnTo>
                  <a:pt x="670446" y="129566"/>
                </a:lnTo>
                <a:lnTo>
                  <a:pt x="629736" y="78231"/>
                </a:lnTo>
                <a:lnTo>
                  <a:pt x="596386" y="56185"/>
                </a:lnTo>
                <a:lnTo>
                  <a:pt x="555649" y="37147"/>
                </a:lnTo>
                <a:lnTo>
                  <a:pt x="508479" y="21564"/>
                </a:lnTo>
                <a:lnTo>
                  <a:pt x="455835" y="9881"/>
                </a:lnTo>
                <a:lnTo>
                  <a:pt x="398672" y="2544"/>
                </a:lnTo>
                <a:lnTo>
                  <a:pt x="337946" y="0"/>
                </a:lnTo>
                <a:close/>
              </a:path>
            </a:pathLst>
          </a:custGeom>
          <a:solidFill>
            <a:srgbClr val="051F79"/>
          </a:solidFill>
        </p:spPr>
        <p:txBody>
          <a:bodyPr wrap="square" lIns="0" tIns="0" rIns="0" bIns="0" rtlCol="0"/>
          <a:lstStyle/>
          <a:p>
            <a:endParaRPr/>
          </a:p>
        </p:txBody>
      </p:sp>
      <p:sp>
        <p:nvSpPr>
          <p:cNvPr id="12" name="object 12"/>
          <p:cNvSpPr txBox="1"/>
          <p:nvPr/>
        </p:nvSpPr>
        <p:spPr>
          <a:xfrm>
            <a:off x="2980182" y="5872988"/>
            <a:ext cx="263525" cy="193675"/>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FFFFFF"/>
                </a:solidFill>
                <a:latin typeface="Arial"/>
                <a:cs typeface="Arial"/>
              </a:rPr>
              <a:t>~70</a:t>
            </a:r>
            <a:endParaRPr sz="1100">
              <a:latin typeface="Arial"/>
              <a:cs typeface="Arial"/>
            </a:endParaRPr>
          </a:p>
        </p:txBody>
      </p:sp>
      <p:sp>
        <p:nvSpPr>
          <p:cNvPr id="13" name="object 13"/>
          <p:cNvSpPr/>
          <p:nvPr/>
        </p:nvSpPr>
        <p:spPr>
          <a:xfrm>
            <a:off x="2705100" y="3688079"/>
            <a:ext cx="835660" cy="1339850"/>
          </a:xfrm>
          <a:custGeom>
            <a:avLst/>
            <a:gdLst/>
            <a:ahLst/>
            <a:cxnLst/>
            <a:rect l="l" t="t" r="r" b="b"/>
            <a:pathLst>
              <a:path w="835660" h="1339850">
                <a:moveTo>
                  <a:pt x="835151" y="0"/>
                </a:moveTo>
                <a:lnTo>
                  <a:pt x="0" y="0"/>
                </a:lnTo>
                <a:lnTo>
                  <a:pt x="0" y="1339469"/>
                </a:lnTo>
                <a:lnTo>
                  <a:pt x="835151" y="1339469"/>
                </a:lnTo>
                <a:lnTo>
                  <a:pt x="835151" y="0"/>
                </a:lnTo>
                <a:close/>
              </a:path>
            </a:pathLst>
          </a:custGeom>
          <a:solidFill>
            <a:srgbClr val="051F79"/>
          </a:solidFill>
        </p:spPr>
        <p:txBody>
          <a:bodyPr wrap="square" lIns="0" tIns="0" rIns="0" bIns="0" rtlCol="0"/>
          <a:lstStyle/>
          <a:p>
            <a:endParaRPr/>
          </a:p>
        </p:txBody>
      </p:sp>
      <p:sp>
        <p:nvSpPr>
          <p:cNvPr id="14" name="object 14"/>
          <p:cNvSpPr/>
          <p:nvPr/>
        </p:nvSpPr>
        <p:spPr>
          <a:xfrm>
            <a:off x="1536191" y="4046220"/>
            <a:ext cx="835660" cy="609600"/>
          </a:xfrm>
          <a:custGeom>
            <a:avLst/>
            <a:gdLst/>
            <a:ahLst/>
            <a:cxnLst/>
            <a:rect l="l" t="t" r="r" b="b"/>
            <a:pathLst>
              <a:path w="835660" h="609600">
                <a:moveTo>
                  <a:pt x="835152" y="0"/>
                </a:moveTo>
                <a:lnTo>
                  <a:pt x="0" y="0"/>
                </a:lnTo>
                <a:lnTo>
                  <a:pt x="0" y="609599"/>
                </a:lnTo>
                <a:lnTo>
                  <a:pt x="835152" y="609599"/>
                </a:lnTo>
                <a:lnTo>
                  <a:pt x="835152" y="0"/>
                </a:lnTo>
                <a:close/>
              </a:path>
            </a:pathLst>
          </a:custGeom>
          <a:solidFill>
            <a:srgbClr val="00A9F4"/>
          </a:solidFill>
        </p:spPr>
        <p:txBody>
          <a:bodyPr wrap="square" lIns="0" tIns="0" rIns="0" bIns="0" rtlCol="0"/>
          <a:lstStyle/>
          <a:p>
            <a:endParaRPr/>
          </a:p>
        </p:txBody>
      </p:sp>
      <p:sp>
        <p:nvSpPr>
          <p:cNvPr id="15" name="object 15"/>
          <p:cNvSpPr/>
          <p:nvPr/>
        </p:nvSpPr>
        <p:spPr>
          <a:xfrm>
            <a:off x="2705100" y="2379598"/>
            <a:ext cx="835660" cy="1308735"/>
          </a:xfrm>
          <a:custGeom>
            <a:avLst/>
            <a:gdLst/>
            <a:ahLst/>
            <a:cxnLst/>
            <a:rect l="l" t="t" r="r" b="b"/>
            <a:pathLst>
              <a:path w="835660" h="1308735">
                <a:moveTo>
                  <a:pt x="835151" y="0"/>
                </a:moveTo>
                <a:lnTo>
                  <a:pt x="0" y="0"/>
                </a:lnTo>
                <a:lnTo>
                  <a:pt x="0" y="1308481"/>
                </a:lnTo>
                <a:lnTo>
                  <a:pt x="835151" y="1308481"/>
                </a:lnTo>
                <a:lnTo>
                  <a:pt x="835151" y="0"/>
                </a:lnTo>
                <a:close/>
              </a:path>
            </a:pathLst>
          </a:custGeom>
          <a:solidFill>
            <a:srgbClr val="00A9F4"/>
          </a:solidFill>
        </p:spPr>
        <p:txBody>
          <a:bodyPr wrap="square" lIns="0" tIns="0" rIns="0" bIns="0" rtlCol="0"/>
          <a:lstStyle/>
          <a:p>
            <a:endParaRPr/>
          </a:p>
        </p:txBody>
      </p:sp>
      <p:sp>
        <p:nvSpPr>
          <p:cNvPr id="16" name="object 16"/>
          <p:cNvSpPr/>
          <p:nvPr/>
        </p:nvSpPr>
        <p:spPr>
          <a:xfrm>
            <a:off x="1536191" y="4046220"/>
            <a:ext cx="835660" cy="609600"/>
          </a:xfrm>
          <a:custGeom>
            <a:avLst/>
            <a:gdLst/>
            <a:ahLst/>
            <a:cxnLst/>
            <a:rect l="l" t="t" r="r" b="b"/>
            <a:pathLst>
              <a:path w="835660" h="609600">
                <a:moveTo>
                  <a:pt x="0" y="0"/>
                </a:moveTo>
                <a:lnTo>
                  <a:pt x="835152" y="0"/>
                </a:lnTo>
                <a:lnTo>
                  <a:pt x="835152" y="609599"/>
                </a:lnTo>
                <a:lnTo>
                  <a:pt x="0" y="609599"/>
                </a:lnTo>
                <a:lnTo>
                  <a:pt x="0" y="0"/>
                </a:lnTo>
                <a:close/>
              </a:path>
            </a:pathLst>
          </a:custGeom>
          <a:ln w="9525">
            <a:solidFill>
              <a:srgbClr val="FFFFFF"/>
            </a:solidFill>
          </a:ln>
        </p:spPr>
        <p:txBody>
          <a:bodyPr wrap="square" lIns="0" tIns="0" rIns="0" bIns="0" rtlCol="0"/>
          <a:lstStyle/>
          <a:p>
            <a:endParaRPr/>
          </a:p>
        </p:txBody>
      </p:sp>
      <p:sp>
        <p:nvSpPr>
          <p:cNvPr id="17" name="object 17"/>
          <p:cNvSpPr/>
          <p:nvPr/>
        </p:nvSpPr>
        <p:spPr>
          <a:xfrm>
            <a:off x="2705100" y="2379598"/>
            <a:ext cx="835660" cy="1308735"/>
          </a:xfrm>
          <a:custGeom>
            <a:avLst/>
            <a:gdLst/>
            <a:ahLst/>
            <a:cxnLst/>
            <a:rect l="l" t="t" r="r" b="b"/>
            <a:pathLst>
              <a:path w="835660" h="1308735">
                <a:moveTo>
                  <a:pt x="0" y="0"/>
                </a:moveTo>
                <a:lnTo>
                  <a:pt x="835151" y="0"/>
                </a:lnTo>
                <a:lnTo>
                  <a:pt x="835151" y="1308481"/>
                </a:lnTo>
                <a:lnTo>
                  <a:pt x="0" y="1308481"/>
                </a:lnTo>
                <a:lnTo>
                  <a:pt x="0" y="0"/>
                </a:lnTo>
                <a:close/>
              </a:path>
            </a:pathLst>
          </a:custGeom>
          <a:ln w="9525">
            <a:solidFill>
              <a:srgbClr val="FFFFFF"/>
            </a:solidFill>
          </a:ln>
        </p:spPr>
        <p:txBody>
          <a:bodyPr wrap="square" lIns="0" tIns="0" rIns="0" bIns="0" rtlCol="0"/>
          <a:lstStyle/>
          <a:p>
            <a:endParaRPr/>
          </a:p>
        </p:txBody>
      </p:sp>
      <p:sp>
        <p:nvSpPr>
          <p:cNvPr id="18" name="object 18"/>
          <p:cNvSpPr/>
          <p:nvPr/>
        </p:nvSpPr>
        <p:spPr>
          <a:xfrm>
            <a:off x="1368425" y="5027676"/>
            <a:ext cx="2338705" cy="0"/>
          </a:xfrm>
          <a:custGeom>
            <a:avLst/>
            <a:gdLst/>
            <a:ahLst/>
            <a:cxnLst/>
            <a:rect l="l" t="t" r="r" b="b"/>
            <a:pathLst>
              <a:path w="2338704">
                <a:moveTo>
                  <a:pt x="0" y="0"/>
                </a:moveTo>
                <a:lnTo>
                  <a:pt x="2338451" y="0"/>
                </a:lnTo>
              </a:path>
            </a:pathLst>
          </a:custGeom>
          <a:ln w="9525">
            <a:solidFill>
              <a:srgbClr val="000000"/>
            </a:solidFill>
          </a:ln>
        </p:spPr>
        <p:txBody>
          <a:bodyPr wrap="square" lIns="0" tIns="0" rIns="0" bIns="0" rtlCol="0"/>
          <a:lstStyle/>
          <a:p>
            <a:endParaRPr/>
          </a:p>
        </p:txBody>
      </p:sp>
      <p:sp>
        <p:nvSpPr>
          <p:cNvPr id="19" name="object 19"/>
          <p:cNvSpPr/>
          <p:nvPr/>
        </p:nvSpPr>
        <p:spPr>
          <a:xfrm>
            <a:off x="2659126" y="3714750"/>
            <a:ext cx="927100" cy="306705"/>
          </a:xfrm>
          <a:custGeom>
            <a:avLst/>
            <a:gdLst/>
            <a:ahLst/>
            <a:cxnLst/>
            <a:rect l="l" t="t" r="r" b="b"/>
            <a:pathLst>
              <a:path w="927100" h="306704">
                <a:moveTo>
                  <a:pt x="927100" y="0"/>
                </a:moveTo>
                <a:lnTo>
                  <a:pt x="0" y="249174"/>
                </a:lnTo>
                <a:lnTo>
                  <a:pt x="0" y="306324"/>
                </a:lnTo>
                <a:lnTo>
                  <a:pt x="927100" y="57150"/>
                </a:lnTo>
                <a:lnTo>
                  <a:pt x="927100" y="0"/>
                </a:lnTo>
                <a:close/>
              </a:path>
            </a:pathLst>
          </a:custGeom>
          <a:solidFill>
            <a:srgbClr val="FFFFFF"/>
          </a:solidFill>
        </p:spPr>
        <p:txBody>
          <a:bodyPr wrap="square" lIns="0" tIns="0" rIns="0" bIns="0" rtlCol="0"/>
          <a:lstStyle/>
          <a:p>
            <a:endParaRPr/>
          </a:p>
        </p:txBody>
      </p:sp>
      <p:sp>
        <p:nvSpPr>
          <p:cNvPr id="20" name="object 20"/>
          <p:cNvSpPr/>
          <p:nvPr/>
        </p:nvSpPr>
        <p:spPr>
          <a:xfrm>
            <a:off x="2659126" y="3714750"/>
            <a:ext cx="927100" cy="249554"/>
          </a:xfrm>
          <a:custGeom>
            <a:avLst/>
            <a:gdLst/>
            <a:ahLst/>
            <a:cxnLst/>
            <a:rect l="l" t="t" r="r" b="b"/>
            <a:pathLst>
              <a:path w="927100" h="249554">
                <a:moveTo>
                  <a:pt x="0" y="249174"/>
                </a:moveTo>
                <a:lnTo>
                  <a:pt x="927100" y="0"/>
                </a:lnTo>
              </a:path>
            </a:pathLst>
          </a:custGeom>
          <a:ln w="9525">
            <a:solidFill>
              <a:srgbClr val="000000"/>
            </a:solidFill>
          </a:ln>
        </p:spPr>
        <p:txBody>
          <a:bodyPr wrap="square" lIns="0" tIns="0" rIns="0" bIns="0" rtlCol="0"/>
          <a:lstStyle/>
          <a:p>
            <a:endParaRPr/>
          </a:p>
        </p:txBody>
      </p:sp>
      <p:sp>
        <p:nvSpPr>
          <p:cNvPr id="21" name="object 21"/>
          <p:cNvSpPr/>
          <p:nvPr/>
        </p:nvSpPr>
        <p:spPr>
          <a:xfrm>
            <a:off x="2659126" y="3771900"/>
            <a:ext cx="927100" cy="249554"/>
          </a:xfrm>
          <a:custGeom>
            <a:avLst/>
            <a:gdLst/>
            <a:ahLst/>
            <a:cxnLst/>
            <a:rect l="l" t="t" r="r" b="b"/>
            <a:pathLst>
              <a:path w="927100" h="249554">
                <a:moveTo>
                  <a:pt x="0" y="249174"/>
                </a:moveTo>
                <a:lnTo>
                  <a:pt x="927100" y="0"/>
                </a:lnTo>
              </a:path>
            </a:pathLst>
          </a:custGeom>
          <a:ln w="9525">
            <a:solidFill>
              <a:srgbClr val="000000"/>
            </a:solidFill>
          </a:ln>
        </p:spPr>
        <p:txBody>
          <a:bodyPr wrap="square" lIns="0" tIns="0" rIns="0" bIns="0" rtlCol="0"/>
          <a:lstStyle/>
          <a:p>
            <a:endParaRPr/>
          </a:p>
        </p:txBody>
      </p:sp>
      <p:sp>
        <p:nvSpPr>
          <p:cNvPr id="22" name="object 22"/>
          <p:cNvSpPr txBox="1"/>
          <p:nvPr/>
        </p:nvSpPr>
        <p:spPr>
          <a:xfrm>
            <a:off x="1536191" y="4251197"/>
            <a:ext cx="835660" cy="182101"/>
          </a:xfrm>
          <a:prstGeom prst="rect">
            <a:avLst/>
          </a:prstGeom>
        </p:spPr>
        <p:txBody>
          <a:bodyPr vert="horz" wrap="square" lIns="0" tIns="12700" rIns="0" bIns="0" rtlCol="0">
            <a:spAutoFit/>
          </a:bodyPr>
          <a:lstStyle/>
          <a:p>
            <a:pPr marL="223520">
              <a:lnSpc>
                <a:spcPct val="100000"/>
              </a:lnSpc>
              <a:spcBef>
                <a:spcPts val="100"/>
              </a:spcBef>
            </a:pPr>
            <a:r>
              <a:rPr sz="1100" spc="-5" dirty="0">
                <a:latin typeface="Arial"/>
                <a:cs typeface="Arial"/>
              </a:rPr>
              <a:t>~205</a:t>
            </a:r>
            <a:endParaRPr sz="1100" dirty="0">
              <a:latin typeface="Arial"/>
              <a:cs typeface="Arial"/>
            </a:endParaRPr>
          </a:p>
        </p:txBody>
      </p:sp>
      <p:sp>
        <p:nvSpPr>
          <p:cNvPr id="23" name="object 23"/>
          <p:cNvSpPr txBox="1"/>
          <p:nvPr/>
        </p:nvSpPr>
        <p:spPr>
          <a:xfrm>
            <a:off x="1536191" y="4655820"/>
            <a:ext cx="835660" cy="269304"/>
          </a:xfrm>
          <a:prstGeom prst="rect">
            <a:avLst/>
          </a:prstGeom>
          <a:solidFill>
            <a:srgbClr val="051F79"/>
          </a:solidFill>
        </p:spPr>
        <p:txBody>
          <a:bodyPr vert="horz" wrap="square" lIns="0" tIns="99060" rIns="0" bIns="0" rtlCol="0">
            <a:spAutoFit/>
          </a:bodyPr>
          <a:lstStyle/>
          <a:p>
            <a:pPr marL="223520">
              <a:lnSpc>
                <a:spcPct val="100000"/>
              </a:lnSpc>
              <a:spcBef>
                <a:spcPts val="780"/>
              </a:spcBef>
            </a:pPr>
            <a:r>
              <a:rPr sz="1100" spc="-5" dirty="0">
                <a:solidFill>
                  <a:srgbClr val="FFFFFF"/>
                </a:solidFill>
                <a:latin typeface="Arial"/>
                <a:cs typeface="Arial"/>
              </a:rPr>
              <a:t>~125</a:t>
            </a:r>
            <a:endParaRPr sz="1100" dirty="0">
              <a:latin typeface="Arial"/>
              <a:cs typeface="Arial"/>
            </a:endParaRPr>
          </a:p>
        </p:txBody>
      </p:sp>
      <p:sp>
        <p:nvSpPr>
          <p:cNvPr id="24" name="object 24"/>
          <p:cNvSpPr txBox="1"/>
          <p:nvPr/>
        </p:nvSpPr>
        <p:spPr>
          <a:xfrm>
            <a:off x="1784350" y="5057394"/>
            <a:ext cx="336550" cy="193675"/>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2024</a:t>
            </a:r>
            <a:endParaRPr sz="1100">
              <a:latin typeface="Arial"/>
              <a:cs typeface="Arial"/>
            </a:endParaRPr>
          </a:p>
        </p:txBody>
      </p:sp>
      <p:sp>
        <p:nvSpPr>
          <p:cNvPr id="25" name="object 25"/>
          <p:cNvSpPr txBox="1"/>
          <p:nvPr/>
        </p:nvSpPr>
        <p:spPr>
          <a:xfrm>
            <a:off x="2965069" y="2933192"/>
            <a:ext cx="328295" cy="193675"/>
          </a:xfrm>
          <a:prstGeom prst="rect">
            <a:avLst/>
          </a:prstGeom>
        </p:spPr>
        <p:txBody>
          <a:bodyPr vert="horz" wrap="square" lIns="0" tIns="13335" rIns="0" bIns="0" rtlCol="0">
            <a:spAutoFit/>
          </a:bodyPr>
          <a:lstStyle/>
          <a:p>
            <a:pPr>
              <a:lnSpc>
                <a:spcPct val="100000"/>
              </a:lnSpc>
              <a:spcBef>
                <a:spcPts val="105"/>
              </a:spcBef>
            </a:pPr>
            <a:r>
              <a:rPr sz="1100" dirty="0">
                <a:latin typeface="Arial"/>
                <a:cs typeface="Arial"/>
              </a:rPr>
              <a:t>~</a:t>
            </a:r>
            <a:r>
              <a:rPr sz="1100" spc="-5" dirty="0">
                <a:latin typeface="Arial"/>
                <a:cs typeface="Arial"/>
              </a:rPr>
              <a:t>440</a:t>
            </a:r>
            <a:endParaRPr sz="1100">
              <a:latin typeface="Arial"/>
              <a:cs typeface="Arial"/>
            </a:endParaRPr>
          </a:p>
        </p:txBody>
      </p:sp>
      <p:sp>
        <p:nvSpPr>
          <p:cNvPr id="26" name="object 26"/>
          <p:cNvSpPr txBox="1"/>
          <p:nvPr/>
        </p:nvSpPr>
        <p:spPr>
          <a:xfrm>
            <a:off x="2965069" y="4257547"/>
            <a:ext cx="328295" cy="193675"/>
          </a:xfrm>
          <a:prstGeom prst="rect">
            <a:avLst/>
          </a:prstGeom>
        </p:spPr>
        <p:txBody>
          <a:bodyPr vert="horz" wrap="square" lIns="0" tIns="12700" rIns="0" bIns="0" rtlCol="0">
            <a:spAutoFit/>
          </a:bodyPr>
          <a:lstStyle/>
          <a:p>
            <a:pPr>
              <a:lnSpc>
                <a:spcPct val="100000"/>
              </a:lnSpc>
              <a:spcBef>
                <a:spcPts val="100"/>
              </a:spcBef>
            </a:pPr>
            <a:r>
              <a:rPr sz="1100" dirty="0">
                <a:solidFill>
                  <a:srgbClr val="FFFFFF"/>
                </a:solidFill>
                <a:latin typeface="Arial"/>
                <a:cs typeface="Arial"/>
              </a:rPr>
              <a:t>~</a:t>
            </a:r>
            <a:r>
              <a:rPr sz="1100" spc="-5" dirty="0">
                <a:solidFill>
                  <a:srgbClr val="FFFFFF"/>
                </a:solidFill>
                <a:latin typeface="Arial"/>
                <a:cs typeface="Arial"/>
              </a:rPr>
              <a:t>820</a:t>
            </a:r>
            <a:endParaRPr sz="1100">
              <a:latin typeface="Arial"/>
              <a:cs typeface="Arial"/>
            </a:endParaRPr>
          </a:p>
        </p:txBody>
      </p:sp>
      <p:sp>
        <p:nvSpPr>
          <p:cNvPr id="27" name="object 27"/>
          <p:cNvSpPr txBox="1"/>
          <p:nvPr/>
        </p:nvSpPr>
        <p:spPr>
          <a:xfrm>
            <a:off x="2954527" y="5057394"/>
            <a:ext cx="336550" cy="193675"/>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2030</a:t>
            </a:r>
            <a:endParaRPr sz="1100">
              <a:latin typeface="Arial"/>
              <a:cs typeface="Arial"/>
            </a:endParaRPr>
          </a:p>
        </p:txBody>
      </p:sp>
      <p:sp>
        <p:nvSpPr>
          <p:cNvPr id="28" name="object 28"/>
          <p:cNvSpPr txBox="1"/>
          <p:nvPr/>
        </p:nvSpPr>
        <p:spPr>
          <a:xfrm>
            <a:off x="1824989" y="3836923"/>
            <a:ext cx="259079" cy="193675"/>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330</a:t>
            </a:r>
            <a:endParaRPr sz="1100">
              <a:latin typeface="Arial"/>
              <a:cs typeface="Arial"/>
            </a:endParaRPr>
          </a:p>
        </p:txBody>
      </p:sp>
      <p:sp>
        <p:nvSpPr>
          <p:cNvPr id="29" name="object 29"/>
          <p:cNvSpPr txBox="1"/>
          <p:nvPr/>
        </p:nvSpPr>
        <p:spPr>
          <a:xfrm>
            <a:off x="2895092" y="2169363"/>
            <a:ext cx="459740" cy="194310"/>
          </a:xfrm>
          <a:prstGeom prst="rect">
            <a:avLst/>
          </a:prstGeom>
        </p:spPr>
        <p:txBody>
          <a:bodyPr vert="horz" wrap="square" lIns="0" tIns="13335" rIns="0" bIns="0" rtlCol="0">
            <a:spAutoFit/>
          </a:bodyPr>
          <a:lstStyle/>
          <a:p>
            <a:pPr marL="12700">
              <a:lnSpc>
                <a:spcPct val="100000"/>
              </a:lnSpc>
              <a:spcBef>
                <a:spcPts val="105"/>
              </a:spcBef>
            </a:pPr>
            <a:r>
              <a:rPr sz="1100" dirty="0">
                <a:latin typeface="Arial"/>
                <a:cs typeface="Arial"/>
              </a:rPr>
              <a:t>~</a:t>
            </a:r>
            <a:r>
              <a:rPr sz="1100" spc="-5" dirty="0">
                <a:latin typeface="Arial"/>
                <a:cs typeface="Arial"/>
              </a:rPr>
              <a:t>1</a:t>
            </a:r>
            <a:r>
              <a:rPr sz="1100" dirty="0">
                <a:latin typeface="Arial"/>
                <a:cs typeface="Arial"/>
              </a:rPr>
              <a:t>,</a:t>
            </a:r>
            <a:r>
              <a:rPr sz="1100" spc="-5" dirty="0">
                <a:latin typeface="Arial"/>
                <a:cs typeface="Arial"/>
              </a:rPr>
              <a:t>260</a:t>
            </a:r>
            <a:endParaRPr sz="1100">
              <a:latin typeface="Arial"/>
              <a:cs typeface="Arial"/>
            </a:endParaRPr>
          </a:p>
        </p:txBody>
      </p:sp>
      <p:sp>
        <p:nvSpPr>
          <p:cNvPr id="30" name="object 30"/>
          <p:cNvSpPr/>
          <p:nvPr/>
        </p:nvSpPr>
        <p:spPr>
          <a:xfrm>
            <a:off x="1879600" y="1793875"/>
            <a:ext cx="165100" cy="165100"/>
          </a:xfrm>
          <a:custGeom>
            <a:avLst/>
            <a:gdLst/>
            <a:ahLst/>
            <a:cxnLst/>
            <a:rect l="l" t="t" r="r" b="b"/>
            <a:pathLst>
              <a:path w="165100" h="165100">
                <a:moveTo>
                  <a:pt x="0" y="165100"/>
                </a:moveTo>
                <a:lnTo>
                  <a:pt x="165100" y="165100"/>
                </a:lnTo>
                <a:lnTo>
                  <a:pt x="165100" y="0"/>
                </a:lnTo>
                <a:lnTo>
                  <a:pt x="0" y="0"/>
                </a:lnTo>
                <a:lnTo>
                  <a:pt x="0" y="165100"/>
                </a:lnTo>
                <a:close/>
              </a:path>
            </a:pathLst>
          </a:custGeom>
          <a:solidFill>
            <a:srgbClr val="00A9F4"/>
          </a:solidFill>
        </p:spPr>
        <p:txBody>
          <a:bodyPr wrap="square" lIns="0" tIns="0" rIns="0" bIns="0" rtlCol="0"/>
          <a:lstStyle/>
          <a:p>
            <a:endParaRPr/>
          </a:p>
        </p:txBody>
      </p:sp>
      <p:sp>
        <p:nvSpPr>
          <p:cNvPr id="31" name="object 31"/>
          <p:cNvSpPr/>
          <p:nvPr/>
        </p:nvSpPr>
        <p:spPr>
          <a:xfrm>
            <a:off x="2916301" y="1793875"/>
            <a:ext cx="165100" cy="165100"/>
          </a:xfrm>
          <a:custGeom>
            <a:avLst/>
            <a:gdLst/>
            <a:ahLst/>
            <a:cxnLst/>
            <a:rect l="l" t="t" r="r" b="b"/>
            <a:pathLst>
              <a:path w="165100" h="165100">
                <a:moveTo>
                  <a:pt x="0" y="165100"/>
                </a:moveTo>
                <a:lnTo>
                  <a:pt x="165100" y="165100"/>
                </a:lnTo>
                <a:lnTo>
                  <a:pt x="165100" y="0"/>
                </a:lnTo>
                <a:lnTo>
                  <a:pt x="0" y="0"/>
                </a:lnTo>
                <a:lnTo>
                  <a:pt x="0" y="165100"/>
                </a:lnTo>
                <a:close/>
              </a:path>
            </a:pathLst>
          </a:custGeom>
          <a:solidFill>
            <a:srgbClr val="051F79"/>
          </a:solidFill>
        </p:spPr>
        <p:txBody>
          <a:bodyPr wrap="square" lIns="0" tIns="0" rIns="0" bIns="0" rtlCol="0"/>
          <a:lstStyle/>
          <a:p>
            <a:endParaRPr/>
          </a:p>
        </p:txBody>
      </p:sp>
      <p:sp>
        <p:nvSpPr>
          <p:cNvPr id="32" name="object 32"/>
          <p:cNvSpPr txBox="1"/>
          <p:nvPr/>
        </p:nvSpPr>
        <p:spPr>
          <a:xfrm>
            <a:off x="542036" y="1129029"/>
            <a:ext cx="3191510" cy="854710"/>
          </a:xfrm>
          <a:prstGeom prst="rect">
            <a:avLst/>
          </a:prstGeom>
        </p:spPr>
        <p:txBody>
          <a:bodyPr vert="horz" wrap="square" lIns="0" tIns="12700" rIns="0" bIns="0" rtlCol="0">
            <a:spAutoFit/>
          </a:bodyPr>
          <a:lstStyle/>
          <a:p>
            <a:pPr marL="12700">
              <a:lnSpc>
                <a:spcPct val="100000"/>
              </a:lnSpc>
              <a:spcBef>
                <a:spcPts val="100"/>
              </a:spcBef>
            </a:pPr>
            <a:r>
              <a:rPr sz="1500" b="1" spc="-5" dirty="0">
                <a:latin typeface="Arial"/>
                <a:cs typeface="Arial"/>
              </a:rPr>
              <a:t>Expected number of </a:t>
            </a:r>
            <a:r>
              <a:rPr sz="1500" b="1" dirty="0">
                <a:latin typeface="Arial"/>
                <a:cs typeface="Arial"/>
              </a:rPr>
              <a:t>retail</a:t>
            </a:r>
            <a:r>
              <a:rPr sz="1500" b="1" spc="-45" dirty="0">
                <a:latin typeface="Arial"/>
                <a:cs typeface="Arial"/>
              </a:rPr>
              <a:t> </a:t>
            </a:r>
            <a:r>
              <a:rPr sz="1500" b="1" spc="-5" dirty="0">
                <a:latin typeface="Arial"/>
                <a:cs typeface="Arial"/>
              </a:rPr>
              <a:t>cars</a:t>
            </a:r>
            <a:endParaRPr sz="1500">
              <a:latin typeface="Arial"/>
              <a:cs typeface="Arial"/>
            </a:endParaRPr>
          </a:p>
          <a:p>
            <a:pPr marL="12700">
              <a:lnSpc>
                <a:spcPct val="100000"/>
              </a:lnSpc>
            </a:pPr>
            <a:r>
              <a:rPr sz="1500" b="1" spc="-5" dirty="0">
                <a:latin typeface="Arial"/>
                <a:cs typeface="Arial"/>
              </a:rPr>
              <a:t>repossessed,</a:t>
            </a:r>
            <a:r>
              <a:rPr sz="1500" b="1" spc="-40" dirty="0">
                <a:latin typeface="Arial"/>
                <a:cs typeface="Arial"/>
              </a:rPr>
              <a:t> </a:t>
            </a:r>
            <a:r>
              <a:rPr sz="1500" b="1" dirty="0">
                <a:latin typeface="Arial"/>
                <a:cs typeface="Arial"/>
              </a:rPr>
              <a:t>#</a:t>
            </a:r>
            <a:endParaRPr sz="1500">
              <a:latin typeface="Arial"/>
              <a:cs typeface="Arial"/>
            </a:endParaRPr>
          </a:p>
          <a:p>
            <a:pPr marL="1553210">
              <a:lnSpc>
                <a:spcPct val="100000"/>
              </a:lnSpc>
              <a:spcBef>
                <a:spcPts val="1485"/>
              </a:spcBef>
              <a:tabLst>
                <a:tab pos="2590165" algn="l"/>
              </a:tabLst>
            </a:pPr>
            <a:r>
              <a:rPr sz="1200" spc="-5" dirty="0">
                <a:latin typeface="Arial"/>
                <a:cs typeface="Arial"/>
              </a:rPr>
              <a:t>&lt;=</a:t>
            </a:r>
            <a:r>
              <a:rPr sz="1200" spc="5" dirty="0">
                <a:latin typeface="Arial"/>
                <a:cs typeface="Arial"/>
              </a:rPr>
              <a:t> </a:t>
            </a:r>
            <a:r>
              <a:rPr sz="1200" dirty="0">
                <a:latin typeface="Arial"/>
                <a:cs typeface="Arial"/>
              </a:rPr>
              <a:t>3</a:t>
            </a:r>
            <a:r>
              <a:rPr sz="1200" spc="-5" dirty="0">
                <a:latin typeface="Arial"/>
                <a:cs typeface="Arial"/>
              </a:rPr>
              <a:t> years	&gt;3</a:t>
            </a:r>
            <a:r>
              <a:rPr sz="1200" spc="-60" dirty="0">
                <a:latin typeface="Arial"/>
                <a:cs typeface="Arial"/>
              </a:rPr>
              <a:t> </a:t>
            </a:r>
            <a:r>
              <a:rPr sz="1200" spc="-5" dirty="0">
                <a:latin typeface="Arial"/>
                <a:cs typeface="Arial"/>
              </a:rPr>
              <a:t>years</a:t>
            </a:r>
            <a:endParaRPr sz="1200">
              <a:latin typeface="Arial"/>
              <a:cs typeface="Arial"/>
            </a:endParaRPr>
          </a:p>
        </p:txBody>
      </p:sp>
      <p:sp>
        <p:nvSpPr>
          <p:cNvPr id="33" name="object 33"/>
          <p:cNvSpPr/>
          <p:nvPr/>
        </p:nvSpPr>
        <p:spPr>
          <a:xfrm>
            <a:off x="4014851" y="1154175"/>
            <a:ext cx="0" cy="5005705"/>
          </a:xfrm>
          <a:custGeom>
            <a:avLst/>
            <a:gdLst/>
            <a:ahLst/>
            <a:cxnLst/>
            <a:rect l="l" t="t" r="r" b="b"/>
            <a:pathLst>
              <a:path h="5005705">
                <a:moveTo>
                  <a:pt x="0" y="0"/>
                </a:moveTo>
                <a:lnTo>
                  <a:pt x="0" y="5005324"/>
                </a:lnTo>
              </a:path>
            </a:pathLst>
          </a:custGeom>
          <a:ln w="6350">
            <a:solidFill>
              <a:srgbClr val="757575"/>
            </a:solidFill>
          </a:ln>
        </p:spPr>
        <p:txBody>
          <a:bodyPr wrap="square" lIns="0" tIns="0" rIns="0" bIns="0" rtlCol="0"/>
          <a:lstStyle/>
          <a:p>
            <a:endParaRPr/>
          </a:p>
        </p:txBody>
      </p:sp>
      <p:sp>
        <p:nvSpPr>
          <p:cNvPr id="34" name="object 34"/>
          <p:cNvSpPr/>
          <p:nvPr/>
        </p:nvSpPr>
        <p:spPr>
          <a:xfrm>
            <a:off x="3816477" y="3569461"/>
            <a:ext cx="396875" cy="396875"/>
          </a:xfrm>
          <a:custGeom>
            <a:avLst/>
            <a:gdLst/>
            <a:ahLst/>
            <a:cxnLst/>
            <a:rect l="l" t="t" r="r" b="b"/>
            <a:pathLst>
              <a:path w="396875" h="396875">
                <a:moveTo>
                  <a:pt x="198374" y="0"/>
                </a:moveTo>
                <a:lnTo>
                  <a:pt x="152875" y="5244"/>
                </a:lnTo>
                <a:lnTo>
                  <a:pt x="111115" y="20180"/>
                </a:lnTo>
                <a:lnTo>
                  <a:pt x="74283" y="43617"/>
                </a:lnTo>
                <a:lnTo>
                  <a:pt x="43567" y="74360"/>
                </a:lnTo>
                <a:lnTo>
                  <a:pt x="20155" y="111217"/>
                </a:lnTo>
                <a:lnTo>
                  <a:pt x="5236" y="152995"/>
                </a:lnTo>
                <a:lnTo>
                  <a:pt x="0" y="198500"/>
                </a:lnTo>
                <a:lnTo>
                  <a:pt x="5236" y="243999"/>
                </a:lnTo>
                <a:lnTo>
                  <a:pt x="20155" y="285759"/>
                </a:lnTo>
                <a:lnTo>
                  <a:pt x="43567" y="322591"/>
                </a:lnTo>
                <a:lnTo>
                  <a:pt x="74283" y="353307"/>
                </a:lnTo>
                <a:lnTo>
                  <a:pt x="111115" y="376719"/>
                </a:lnTo>
                <a:lnTo>
                  <a:pt x="152875" y="391638"/>
                </a:lnTo>
                <a:lnTo>
                  <a:pt x="198374" y="396875"/>
                </a:lnTo>
                <a:lnTo>
                  <a:pt x="243879" y="391638"/>
                </a:lnTo>
                <a:lnTo>
                  <a:pt x="285657" y="376719"/>
                </a:lnTo>
                <a:lnTo>
                  <a:pt x="322514" y="353307"/>
                </a:lnTo>
                <a:lnTo>
                  <a:pt x="353257" y="322591"/>
                </a:lnTo>
                <a:lnTo>
                  <a:pt x="376694" y="285759"/>
                </a:lnTo>
                <a:lnTo>
                  <a:pt x="391630" y="243999"/>
                </a:lnTo>
                <a:lnTo>
                  <a:pt x="396875" y="198500"/>
                </a:lnTo>
                <a:lnTo>
                  <a:pt x="391630" y="152995"/>
                </a:lnTo>
                <a:lnTo>
                  <a:pt x="376694" y="111217"/>
                </a:lnTo>
                <a:lnTo>
                  <a:pt x="353257" y="74360"/>
                </a:lnTo>
                <a:lnTo>
                  <a:pt x="322514" y="43617"/>
                </a:lnTo>
                <a:lnTo>
                  <a:pt x="285657" y="20180"/>
                </a:lnTo>
                <a:lnTo>
                  <a:pt x="243879" y="5244"/>
                </a:lnTo>
                <a:lnTo>
                  <a:pt x="198374" y="0"/>
                </a:lnTo>
                <a:close/>
              </a:path>
            </a:pathLst>
          </a:custGeom>
          <a:solidFill>
            <a:srgbClr val="051F79"/>
          </a:solidFill>
        </p:spPr>
        <p:txBody>
          <a:bodyPr wrap="square" lIns="0" tIns="0" rIns="0" bIns="0" rtlCol="0"/>
          <a:lstStyle/>
          <a:p>
            <a:endParaRPr/>
          </a:p>
        </p:txBody>
      </p:sp>
      <p:sp>
        <p:nvSpPr>
          <p:cNvPr id="35" name="object 35"/>
          <p:cNvSpPr/>
          <p:nvPr/>
        </p:nvSpPr>
        <p:spPr>
          <a:xfrm>
            <a:off x="3980109" y="3695843"/>
            <a:ext cx="53975" cy="53975"/>
          </a:xfrm>
          <a:custGeom>
            <a:avLst/>
            <a:gdLst/>
            <a:ahLst/>
            <a:cxnLst/>
            <a:rect l="l" t="t" r="r" b="b"/>
            <a:pathLst>
              <a:path w="53975" h="53975">
                <a:moveTo>
                  <a:pt x="0" y="0"/>
                </a:moveTo>
                <a:lnTo>
                  <a:pt x="53489" y="53386"/>
                </a:lnTo>
              </a:path>
            </a:pathLst>
          </a:custGeom>
          <a:ln w="12708">
            <a:solidFill>
              <a:srgbClr val="FFFFFF"/>
            </a:solidFill>
          </a:ln>
        </p:spPr>
        <p:txBody>
          <a:bodyPr wrap="square" lIns="0" tIns="0" rIns="0" bIns="0" rtlCol="0"/>
          <a:lstStyle/>
          <a:p>
            <a:endParaRPr/>
          </a:p>
        </p:txBody>
      </p:sp>
      <p:sp>
        <p:nvSpPr>
          <p:cNvPr id="36" name="object 36"/>
          <p:cNvSpPr/>
          <p:nvPr/>
        </p:nvSpPr>
        <p:spPr>
          <a:xfrm>
            <a:off x="4029176" y="3695843"/>
            <a:ext cx="29209" cy="29209"/>
          </a:xfrm>
          <a:custGeom>
            <a:avLst/>
            <a:gdLst/>
            <a:ahLst/>
            <a:cxnLst/>
            <a:rect l="l" t="t" r="r" b="b"/>
            <a:pathLst>
              <a:path w="29210" h="29210">
                <a:moveTo>
                  <a:pt x="0" y="0"/>
                </a:moveTo>
                <a:lnTo>
                  <a:pt x="28933" y="28877"/>
                </a:lnTo>
              </a:path>
            </a:pathLst>
          </a:custGeom>
          <a:ln w="12708">
            <a:solidFill>
              <a:srgbClr val="FFFFFF"/>
            </a:solidFill>
          </a:ln>
        </p:spPr>
        <p:txBody>
          <a:bodyPr wrap="square" lIns="0" tIns="0" rIns="0" bIns="0" rtlCol="0"/>
          <a:lstStyle/>
          <a:p>
            <a:endParaRPr/>
          </a:p>
        </p:txBody>
      </p:sp>
      <p:sp>
        <p:nvSpPr>
          <p:cNvPr id="37" name="object 37"/>
          <p:cNvSpPr/>
          <p:nvPr/>
        </p:nvSpPr>
        <p:spPr>
          <a:xfrm>
            <a:off x="3931043" y="3695843"/>
            <a:ext cx="74295" cy="148590"/>
          </a:xfrm>
          <a:custGeom>
            <a:avLst/>
            <a:gdLst/>
            <a:ahLst/>
            <a:cxnLst/>
            <a:rect l="l" t="t" r="r" b="b"/>
            <a:pathLst>
              <a:path w="74295" h="148589">
                <a:moveTo>
                  <a:pt x="0" y="0"/>
                </a:moveTo>
                <a:lnTo>
                  <a:pt x="74144" y="74002"/>
                </a:lnTo>
                <a:lnTo>
                  <a:pt x="0" y="148005"/>
                </a:lnTo>
              </a:path>
            </a:pathLst>
          </a:custGeom>
          <a:ln w="12716">
            <a:solidFill>
              <a:srgbClr val="FFFFFF"/>
            </a:solidFill>
          </a:ln>
        </p:spPr>
        <p:txBody>
          <a:bodyPr wrap="square" lIns="0" tIns="0" rIns="0" bIns="0" rtlCol="0"/>
          <a:lstStyle/>
          <a:p>
            <a:endParaRPr/>
          </a:p>
        </p:txBody>
      </p:sp>
      <p:sp>
        <p:nvSpPr>
          <p:cNvPr id="38" name="object 38"/>
          <p:cNvSpPr/>
          <p:nvPr/>
        </p:nvSpPr>
        <p:spPr>
          <a:xfrm>
            <a:off x="4283328" y="1943100"/>
            <a:ext cx="7353934" cy="0"/>
          </a:xfrm>
          <a:custGeom>
            <a:avLst/>
            <a:gdLst/>
            <a:ahLst/>
            <a:cxnLst/>
            <a:rect l="l" t="t" r="r" b="b"/>
            <a:pathLst>
              <a:path w="7353934">
                <a:moveTo>
                  <a:pt x="0" y="0"/>
                </a:moveTo>
                <a:lnTo>
                  <a:pt x="7353935" y="0"/>
                </a:lnTo>
              </a:path>
            </a:pathLst>
          </a:custGeom>
          <a:ln w="12700">
            <a:solidFill>
              <a:srgbClr val="757575"/>
            </a:solidFill>
          </a:ln>
        </p:spPr>
        <p:txBody>
          <a:bodyPr wrap="square" lIns="0" tIns="0" rIns="0" bIns="0" rtlCol="0"/>
          <a:lstStyle/>
          <a:p>
            <a:endParaRPr/>
          </a:p>
        </p:txBody>
      </p:sp>
      <p:sp>
        <p:nvSpPr>
          <p:cNvPr id="39" name="object 39"/>
          <p:cNvSpPr txBox="1"/>
          <p:nvPr/>
        </p:nvSpPr>
        <p:spPr>
          <a:xfrm>
            <a:off x="6747129" y="1686813"/>
            <a:ext cx="1838960" cy="223520"/>
          </a:xfrm>
          <a:prstGeom prst="rect">
            <a:avLst/>
          </a:prstGeom>
        </p:spPr>
        <p:txBody>
          <a:bodyPr vert="horz" wrap="square" lIns="0" tIns="12065" rIns="0" bIns="0" rtlCol="0">
            <a:spAutoFit/>
          </a:bodyPr>
          <a:lstStyle/>
          <a:p>
            <a:pPr marL="12700">
              <a:lnSpc>
                <a:spcPct val="100000"/>
              </a:lnSpc>
              <a:spcBef>
                <a:spcPts val="95"/>
              </a:spcBef>
            </a:pPr>
            <a:r>
              <a:rPr sz="1300" b="1" spc="-5" dirty="0">
                <a:latin typeface="Arial"/>
                <a:cs typeface="Arial"/>
              </a:rPr>
              <a:t>Description/ best fit</a:t>
            </a:r>
            <a:r>
              <a:rPr sz="1300" b="1" spc="60" dirty="0">
                <a:latin typeface="Arial"/>
                <a:cs typeface="Arial"/>
              </a:rPr>
              <a:t> </a:t>
            </a:r>
            <a:r>
              <a:rPr sz="1300" b="1" spc="-5" dirty="0">
                <a:latin typeface="Arial"/>
                <a:cs typeface="Arial"/>
              </a:rPr>
              <a:t>for</a:t>
            </a:r>
            <a:endParaRPr sz="1300">
              <a:latin typeface="Arial"/>
              <a:cs typeface="Arial"/>
            </a:endParaRPr>
          </a:p>
        </p:txBody>
      </p:sp>
      <p:sp>
        <p:nvSpPr>
          <p:cNvPr id="40" name="object 40"/>
          <p:cNvSpPr/>
          <p:nvPr/>
        </p:nvSpPr>
        <p:spPr>
          <a:xfrm>
            <a:off x="4283328" y="1644650"/>
            <a:ext cx="7353934" cy="0"/>
          </a:xfrm>
          <a:custGeom>
            <a:avLst/>
            <a:gdLst/>
            <a:ahLst/>
            <a:cxnLst/>
            <a:rect l="l" t="t" r="r" b="b"/>
            <a:pathLst>
              <a:path w="7353934">
                <a:moveTo>
                  <a:pt x="0" y="0"/>
                </a:moveTo>
                <a:lnTo>
                  <a:pt x="7353935" y="0"/>
                </a:lnTo>
              </a:path>
            </a:pathLst>
          </a:custGeom>
          <a:ln w="12700">
            <a:solidFill>
              <a:srgbClr val="757575"/>
            </a:solidFill>
          </a:ln>
        </p:spPr>
        <p:txBody>
          <a:bodyPr wrap="square" lIns="0" tIns="0" rIns="0" bIns="0" rtlCol="0"/>
          <a:lstStyle/>
          <a:p>
            <a:endParaRPr/>
          </a:p>
        </p:txBody>
      </p:sp>
      <p:sp>
        <p:nvSpPr>
          <p:cNvPr id="41" name="object 41"/>
          <p:cNvSpPr/>
          <p:nvPr/>
        </p:nvSpPr>
        <p:spPr>
          <a:xfrm>
            <a:off x="5576189" y="4262373"/>
            <a:ext cx="6061075" cy="422275"/>
          </a:xfrm>
          <a:custGeom>
            <a:avLst/>
            <a:gdLst/>
            <a:ahLst/>
            <a:cxnLst/>
            <a:rect l="l" t="t" r="r" b="b"/>
            <a:pathLst>
              <a:path w="6061075" h="422275">
                <a:moveTo>
                  <a:pt x="0" y="422275"/>
                </a:moveTo>
                <a:lnTo>
                  <a:pt x="6061074" y="422275"/>
                </a:lnTo>
                <a:lnTo>
                  <a:pt x="6061074" y="0"/>
                </a:lnTo>
                <a:lnTo>
                  <a:pt x="0" y="0"/>
                </a:lnTo>
                <a:lnTo>
                  <a:pt x="0" y="422275"/>
                </a:lnTo>
                <a:close/>
              </a:path>
            </a:pathLst>
          </a:custGeom>
          <a:solidFill>
            <a:srgbClr val="C9EEFF"/>
          </a:solidFill>
        </p:spPr>
        <p:txBody>
          <a:bodyPr wrap="square" lIns="0" tIns="0" rIns="0" bIns="0" rtlCol="0"/>
          <a:lstStyle/>
          <a:p>
            <a:endParaRPr/>
          </a:p>
        </p:txBody>
      </p:sp>
      <p:sp>
        <p:nvSpPr>
          <p:cNvPr id="42" name="object 42"/>
          <p:cNvSpPr/>
          <p:nvPr/>
        </p:nvSpPr>
        <p:spPr>
          <a:xfrm>
            <a:off x="10291571" y="4549775"/>
            <a:ext cx="245236" cy="76200"/>
          </a:xfrm>
          <a:prstGeom prst="rect">
            <a:avLst/>
          </a:prstGeom>
          <a:blipFill>
            <a:blip r:embed="rId2" cstate="print"/>
            <a:stretch>
              <a:fillRect/>
            </a:stretch>
          </a:blipFill>
        </p:spPr>
        <p:txBody>
          <a:bodyPr wrap="square" lIns="0" tIns="0" rIns="0" bIns="0" rtlCol="0"/>
          <a:lstStyle/>
          <a:p>
            <a:endParaRPr/>
          </a:p>
        </p:txBody>
      </p:sp>
      <p:sp>
        <p:nvSpPr>
          <p:cNvPr id="43" name="object 43"/>
          <p:cNvSpPr txBox="1"/>
          <p:nvPr/>
        </p:nvSpPr>
        <p:spPr>
          <a:xfrm>
            <a:off x="6747129" y="1973961"/>
            <a:ext cx="4453255" cy="361315"/>
          </a:xfrm>
          <a:prstGeom prst="rect">
            <a:avLst/>
          </a:prstGeom>
        </p:spPr>
        <p:txBody>
          <a:bodyPr vert="horz" wrap="square" lIns="0" tIns="13335" rIns="0" bIns="0" rtlCol="0">
            <a:spAutoFit/>
          </a:bodyPr>
          <a:lstStyle/>
          <a:p>
            <a:pPr marL="12700" marR="5080">
              <a:lnSpc>
                <a:spcPct val="100000"/>
              </a:lnSpc>
              <a:spcBef>
                <a:spcPts val="105"/>
              </a:spcBef>
            </a:pPr>
            <a:r>
              <a:rPr sz="1100" b="1" spc="-5" dirty="0">
                <a:latin typeface="Arial"/>
                <a:cs typeface="Arial"/>
              </a:rPr>
              <a:t>Standard cleaning </a:t>
            </a:r>
            <a:r>
              <a:rPr sz="1100" spc="-5" dirty="0">
                <a:latin typeface="Arial"/>
                <a:cs typeface="Arial"/>
              </a:rPr>
              <a:t>and light </a:t>
            </a:r>
            <a:r>
              <a:rPr sz="1100" dirty="0">
                <a:latin typeface="Arial"/>
                <a:cs typeface="Arial"/>
              </a:rPr>
              <a:t>cosmetic </a:t>
            </a:r>
            <a:r>
              <a:rPr sz="1100" spc="-5" dirty="0">
                <a:latin typeface="Arial"/>
                <a:cs typeface="Arial"/>
              </a:rPr>
              <a:t>fixes </a:t>
            </a:r>
            <a:r>
              <a:rPr sz="1100" dirty="0">
                <a:latin typeface="Arial"/>
                <a:cs typeface="Arial"/>
              </a:rPr>
              <a:t>to </a:t>
            </a:r>
            <a:r>
              <a:rPr sz="1100" spc="-5" dirty="0">
                <a:latin typeface="Arial"/>
                <a:cs typeface="Arial"/>
              </a:rPr>
              <a:t>improve appearance and  perceived </a:t>
            </a:r>
            <a:r>
              <a:rPr sz="1100" spc="-10" dirty="0">
                <a:latin typeface="Arial"/>
                <a:cs typeface="Arial"/>
              </a:rPr>
              <a:t>value</a:t>
            </a:r>
            <a:endParaRPr sz="1100">
              <a:latin typeface="Arial"/>
              <a:cs typeface="Arial"/>
            </a:endParaRPr>
          </a:p>
        </p:txBody>
      </p:sp>
      <p:sp>
        <p:nvSpPr>
          <p:cNvPr id="44" name="object 44"/>
          <p:cNvSpPr txBox="1"/>
          <p:nvPr/>
        </p:nvSpPr>
        <p:spPr>
          <a:xfrm>
            <a:off x="5564251" y="2829255"/>
            <a:ext cx="802005" cy="361950"/>
          </a:xfrm>
          <a:prstGeom prst="rect">
            <a:avLst/>
          </a:prstGeom>
        </p:spPr>
        <p:txBody>
          <a:bodyPr vert="horz" wrap="square" lIns="0" tIns="13335" rIns="0" bIns="0" rtlCol="0">
            <a:spAutoFit/>
          </a:bodyPr>
          <a:lstStyle/>
          <a:p>
            <a:pPr marL="12700">
              <a:lnSpc>
                <a:spcPct val="100000"/>
              </a:lnSpc>
              <a:spcBef>
                <a:spcPts val="105"/>
              </a:spcBef>
            </a:pPr>
            <a:r>
              <a:rPr sz="1100" spc="-5" dirty="0">
                <a:latin typeface="Arial"/>
                <a:cs typeface="Arial"/>
              </a:rPr>
              <a:t>Value</a:t>
            </a:r>
            <a:r>
              <a:rPr sz="1100" spc="-65" dirty="0">
                <a:latin typeface="Arial"/>
                <a:cs typeface="Arial"/>
              </a:rPr>
              <a:t> </a:t>
            </a:r>
            <a:r>
              <a:rPr sz="1100" spc="-5" dirty="0">
                <a:latin typeface="Arial"/>
                <a:cs typeface="Arial"/>
              </a:rPr>
              <a:t>driven</a:t>
            </a:r>
            <a:endParaRPr sz="1100">
              <a:latin typeface="Arial"/>
              <a:cs typeface="Arial"/>
            </a:endParaRPr>
          </a:p>
          <a:p>
            <a:pPr marL="12700">
              <a:lnSpc>
                <a:spcPct val="100000"/>
              </a:lnSpc>
            </a:pPr>
            <a:r>
              <a:rPr sz="1100" spc="-5" dirty="0">
                <a:latin typeface="Arial"/>
                <a:cs typeface="Arial"/>
              </a:rPr>
              <a:t>repairs</a:t>
            </a:r>
            <a:endParaRPr sz="1100">
              <a:latin typeface="Arial"/>
              <a:cs typeface="Arial"/>
            </a:endParaRPr>
          </a:p>
        </p:txBody>
      </p:sp>
      <p:sp>
        <p:nvSpPr>
          <p:cNvPr id="45" name="object 45"/>
          <p:cNvSpPr txBox="1"/>
          <p:nvPr/>
        </p:nvSpPr>
        <p:spPr>
          <a:xfrm>
            <a:off x="6747129" y="2829255"/>
            <a:ext cx="4888865" cy="361950"/>
          </a:xfrm>
          <a:prstGeom prst="rect">
            <a:avLst/>
          </a:prstGeom>
        </p:spPr>
        <p:txBody>
          <a:bodyPr vert="horz" wrap="square" lIns="0" tIns="13335" rIns="0" bIns="0" rtlCol="0">
            <a:spAutoFit/>
          </a:bodyPr>
          <a:lstStyle/>
          <a:p>
            <a:pPr marL="12700">
              <a:lnSpc>
                <a:spcPct val="100000"/>
              </a:lnSpc>
              <a:spcBef>
                <a:spcPts val="105"/>
              </a:spcBef>
            </a:pPr>
            <a:r>
              <a:rPr sz="1100" b="1" spc="-5" dirty="0">
                <a:latin typeface="Arial"/>
                <a:cs typeface="Arial"/>
              </a:rPr>
              <a:t>Selective refurbishment </a:t>
            </a:r>
            <a:r>
              <a:rPr sz="1100" spc="-5" dirty="0">
                <a:latin typeface="Arial"/>
                <a:cs typeface="Arial"/>
              </a:rPr>
              <a:t>only </a:t>
            </a:r>
            <a:r>
              <a:rPr sz="1100" spc="5" dirty="0">
                <a:latin typeface="Arial"/>
                <a:cs typeface="Arial"/>
              </a:rPr>
              <a:t>for </a:t>
            </a:r>
            <a:r>
              <a:rPr sz="1100" dirty="0">
                <a:latin typeface="Arial"/>
                <a:cs typeface="Arial"/>
              </a:rPr>
              <a:t>cars </a:t>
            </a:r>
            <a:r>
              <a:rPr sz="1100" spc="-5" dirty="0">
                <a:latin typeface="Arial"/>
                <a:cs typeface="Arial"/>
              </a:rPr>
              <a:t>with possibility </a:t>
            </a:r>
            <a:r>
              <a:rPr sz="1100" dirty="0">
                <a:latin typeface="Arial"/>
                <a:cs typeface="Arial"/>
              </a:rPr>
              <a:t>to </a:t>
            </a:r>
            <a:r>
              <a:rPr sz="1100" spc="-5" dirty="0">
                <a:latin typeface="Arial"/>
                <a:cs typeface="Arial"/>
              </a:rPr>
              <a:t>significantly</a:t>
            </a:r>
            <a:r>
              <a:rPr sz="1100" spc="-40" dirty="0">
                <a:latin typeface="Arial"/>
                <a:cs typeface="Arial"/>
              </a:rPr>
              <a:t> </a:t>
            </a:r>
            <a:r>
              <a:rPr sz="1100" spc="-5" dirty="0">
                <a:latin typeface="Arial"/>
                <a:cs typeface="Arial"/>
              </a:rPr>
              <a:t>increases</a:t>
            </a:r>
            <a:endParaRPr sz="1100">
              <a:latin typeface="Arial"/>
              <a:cs typeface="Arial"/>
            </a:endParaRPr>
          </a:p>
          <a:p>
            <a:pPr marL="12700">
              <a:lnSpc>
                <a:spcPct val="100000"/>
              </a:lnSpc>
            </a:pPr>
            <a:r>
              <a:rPr sz="1100" spc="-5" dirty="0">
                <a:latin typeface="Arial"/>
                <a:cs typeface="Arial"/>
              </a:rPr>
              <a:t>resale</a:t>
            </a:r>
            <a:r>
              <a:rPr sz="1100" spc="-15" dirty="0">
                <a:latin typeface="Arial"/>
                <a:cs typeface="Arial"/>
              </a:rPr>
              <a:t> </a:t>
            </a:r>
            <a:r>
              <a:rPr sz="1100" spc="-10" dirty="0">
                <a:latin typeface="Arial"/>
                <a:cs typeface="Arial"/>
              </a:rPr>
              <a:t>value</a:t>
            </a:r>
            <a:endParaRPr sz="1100">
              <a:latin typeface="Arial"/>
              <a:cs typeface="Arial"/>
            </a:endParaRPr>
          </a:p>
        </p:txBody>
      </p:sp>
      <p:sp>
        <p:nvSpPr>
          <p:cNvPr id="46" name="object 46"/>
          <p:cNvSpPr txBox="1"/>
          <p:nvPr/>
        </p:nvSpPr>
        <p:spPr>
          <a:xfrm>
            <a:off x="6747129" y="2401062"/>
            <a:ext cx="4768850" cy="361315"/>
          </a:xfrm>
          <a:prstGeom prst="rect">
            <a:avLst/>
          </a:prstGeom>
        </p:spPr>
        <p:txBody>
          <a:bodyPr vert="horz" wrap="square" lIns="0" tIns="13335" rIns="0" bIns="0" rtlCol="0">
            <a:spAutoFit/>
          </a:bodyPr>
          <a:lstStyle/>
          <a:p>
            <a:pPr marL="12700" marR="5080">
              <a:lnSpc>
                <a:spcPct val="100000"/>
              </a:lnSpc>
              <a:spcBef>
                <a:spcPts val="105"/>
              </a:spcBef>
            </a:pPr>
            <a:r>
              <a:rPr sz="1100" b="1" spc="-5" dirty="0">
                <a:latin typeface="Arial"/>
                <a:cs typeface="Arial"/>
              </a:rPr>
              <a:t>Tiered reconditioning packages </a:t>
            </a:r>
            <a:r>
              <a:rPr sz="1100" spc="-5" dirty="0">
                <a:latin typeface="Arial"/>
                <a:cs typeface="Arial"/>
              </a:rPr>
              <a:t>aligned </a:t>
            </a:r>
            <a:r>
              <a:rPr sz="1100" dirty="0">
                <a:latin typeface="Arial"/>
                <a:cs typeface="Arial"/>
              </a:rPr>
              <a:t>to </a:t>
            </a:r>
            <a:r>
              <a:rPr sz="1100" spc="-5" dirty="0">
                <a:latin typeface="Arial"/>
                <a:cs typeface="Arial"/>
              </a:rPr>
              <a:t>vehicle type and resale channel  (e.g., auction vs.</a:t>
            </a:r>
            <a:r>
              <a:rPr sz="1100" spc="-60" dirty="0">
                <a:latin typeface="Arial"/>
                <a:cs typeface="Arial"/>
              </a:rPr>
              <a:t> </a:t>
            </a:r>
            <a:r>
              <a:rPr sz="1100" dirty="0">
                <a:latin typeface="Arial"/>
                <a:cs typeface="Arial"/>
              </a:rPr>
              <a:t>Car.gr)</a:t>
            </a:r>
            <a:endParaRPr sz="1100">
              <a:latin typeface="Arial"/>
              <a:cs typeface="Arial"/>
            </a:endParaRPr>
          </a:p>
        </p:txBody>
      </p:sp>
      <p:sp>
        <p:nvSpPr>
          <p:cNvPr id="47" name="object 47"/>
          <p:cNvSpPr txBox="1"/>
          <p:nvPr/>
        </p:nvSpPr>
        <p:spPr>
          <a:xfrm>
            <a:off x="5564251" y="5149341"/>
            <a:ext cx="681355" cy="361950"/>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Wholesale</a:t>
            </a:r>
            <a:endParaRPr sz="1100">
              <a:latin typeface="Arial"/>
              <a:cs typeface="Arial"/>
            </a:endParaRPr>
          </a:p>
          <a:p>
            <a:pPr marL="12700">
              <a:lnSpc>
                <a:spcPct val="100000"/>
              </a:lnSpc>
            </a:pPr>
            <a:r>
              <a:rPr sz="1100" spc="-5" dirty="0">
                <a:latin typeface="Arial"/>
                <a:cs typeface="Arial"/>
              </a:rPr>
              <a:t>auctions</a:t>
            </a:r>
            <a:endParaRPr sz="1100">
              <a:latin typeface="Arial"/>
              <a:cs typeface="Arial"/>
            </a:endParaRPr>
          </a:p>
        </p:txBody>
      </p:sp>
      <p:sp>
        <p:nvSpPr>
          <p:cNvPr id="48" name="object 48"/>
          <p:cNvSpPr txBox="1"/>
          <p:nvPr/>
        </p:nvSpPr>
        <p:spPr>
          <a:xfrm>
            <a:off x="6747129" y="5149341"/>
            <a:ext cx="4707255" cy="361950"/>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Arial"/>
                <a:cs typeface="Arial"/>
              </a:rPr>
              <a:t>Rapid liquidation </a:t>
            </a:r>
            <a:r>
              <a:rPr sz="1100" spc="-5" dirty="0">
                <a:latin typeface="Arial"/>
                <a:cs typeface="Arial"/>
              </a:rPr>
              <a:t>of </a:t>
            </a:r>
            <a:r>
              <a:rPr sz="1100" b="1" dirty="0">
                <a:latin typeface="Arial"/>
                <a:cs typeface="Arial"/>
              </a:rPr>
              <a:t>low-demand </a:t>
            </a:r>
            <a:r>
              <a:rPr sz="1100" spc="-5" dirty="0">
                <a:latin typeface="Arial"/>
                <a:cs typeface="Arial"/>
              </a:rPr>
              <a:t>or </a:t>
            </a:r>
            <a:r>
              <a:rPr sz="1100" b="1" spc="-5" dirty="0">
                <a:latin typeface="Arial"/>
                <a:cs typeface="Arial"/>
              </a:rPr>
              <a:t>unsold aged vehicles </a:t>
            </a:r>
            <a:r>
              <a:rPr sz="1100" dirty="0">
                <a:latin typeface="Arial"/>
                <a:cs typeface="Arial"/>
              </a:rPr>
              <a:t>from </a:t>
            </a:r>
            <a:r>
              <a:rPr sz="1100" spc="-5" dirty="0">
                <a:latin typeface="Arial"/>
                <a:cs typeface="Arial"/>
              </a:rPr>
              <a:t>retail</a:t>
            </a:r>
            <a:r>
              <a:rPr sz="1100" spc="-85" dirty="0">
                <a:latin typeface="Arial"/>
                <a:cs typeface="Arial"/>
              </a:rPr>
              <a:t> </a:t>
            </a:r>
            <a:r>
              <a:rPr sz="1100" spc="-5" dirty="0">
                <a:latin typeface="Arial"/>
                <a:cs typeface="Arial"/>
              </a:rPr>
              <a:t>and</a:t>
            </a:r>
            <a:endParaRPr sz="1100">
              <a:latin typeface="Arial"/>
              <a:cs typeface="Arial"/>
            </a:endParaRPr>
          </a:p>
          <a:p>
            <a:pPr marL="12700">
              <a:lnSpc>
                <a:spcPct val="100000"/>
              </a:lnSpc>
            </a:pPr>
            <a:r>
              <a:rPr sz="1100" spc="-5" dirty="0">
                <a:latin typeface="Arial"/>
                <a:cs typeface="Arial"/>
              </a:rPr>
              <a:t>dealer</a:t>
            </a:r>
            <a:r>
              <a:rPr sz="1100" spc="-10" dirty="0">
                <a:latin typeface="Arial"/>
                <a:cs typeface="Arial"/>
              </a:rPr>
              <a:t> </a:t>
            </a:r>
            <a:r>
              <a:rPr sz="1100" spc="-5" dirty="0">
                <a:latin typeface="Arial"/>
                <a:cs typeface="Arial"/>
              </a:rPr>
              <a:t>channels</a:t>
            </a:r>
            <a:endParaRPr sz="1100">
              <a:latin typeface="Arial"/>
              <a:cs typeface="Arial"/>
            </a:endParaRPr>
          </a:p>
        </p:txBody>
      </p:sp>
      <p:sp>
        <p:nvSpPr>
          <p:cNvPr id="49" name="object 49"/>
          <p:cNvSpPr txBox="1"/>
          <p:nvPr/>
        </p:nvSpPr>
        <p:spPr>
          <a:xfrm>
            <a:off x="5564251" y="4720844"/>
            <a:ext cx="859155" cy="361315"/>
          </a:xfrm>
          <a:prstGeom prst="rect">
            <a:avLst/>
          </a:prstGeom>
        </p:spPr>
        <p:txBody>
          <a:bodyPr vert="horz" wrap="square" lIns="0" tIns="12700" rIns="0" bIns="0" rtlCol="0">
            <a:spAutoFit/>
          </a:bodyPr>
          <a:lstStyle/>
          <a:p>
            <a:pPr marL="12700" marR="5080">
              <a:lnSpc>
                <a:spcPct val="100000"/>
              </a:lnSpc>
              <a:spcBef>
                <a:spcPts val="100"/>
              </a:spcBef>
            </a:pPr>
            <a:r>
              <a:rPr sz="1100" spc="-5" dirty="0">
                <a:latin typeface="Arial"/>
                <a:cs typeface="Arial"/>
              </a:rPr>
              <a:t>Digital  </a:t>
            </a:r>
            <a:r>
              <a:rPr sz="1100" dirty="0">
                <a:latin typeface="Arial"/>
                <a:cs typeface="Arial"/>
              </a:rPr>
              <a:t>m</a:t>
            </a:r>
            <a:r>
              <a:rPr sz="1100" spc="-5" dirty="0">
                <a:latin typeface="Arial"/>
                <a:cs typeface="Arial"/>
              </a:rPr>
              <a:t>ar</a:t>
            </a:r>
            <a:r>
              <a:rPr sz="1100" spc="10" dirty="0">
                <a:latin typeface="Arial"/>
                <a:cs typeface="Arial"/>
              </a:rPr>
              <a:t>k</a:t>
            </a:r>
            <a:r>
              <a:rPr sz="1100" spc="-5" dirty="0">
                <a:latin typeface="Arial"/>
                <a:cs typeface="Arial"/>
              </a:rPr>
              <a:t>e</a:t>
            </a:r>
            <a:r>
              <a:rPr sz="1100" spc="-10" dirty="0">
                <a:latin typeface="Arial"/>
                <a:cs typeface="Arial"/>
              </a:rPr>
              <a:t>t</a:t>
            </a:r>
            <a:r>
              <a:rPr sz="1100" spc="-5" dirty="0">
                <a:latin typeface="Arial"/>
                <a:cs typeface="Arial"/>
              </a:rPr>
              <a:t>p</a:t>
            </a:r>
            <a:r>
              <a:rPr sz="1100" spc="-10" dirty="0">
                <a:latin typeface="Arial"/>
                <a:cs typeface="Arial"/>
              </a:rPr>
              <a:t>l</a:t>
            </a:r>
            <a:r>
              <a:rPr sz="1100" spc="-5" dirty="0">
                <a:latin typeface="Arial"/>
                <a:cs typeface="Arial"/>
              </a:rPr>
              <a:t>ace</a:t>
            </a:r>
            <a:r>
              <a:rPr sz="1100" dirty="0">
                <a:latin typeface="Arial"/>
                <a:cs typeface="Arial"/>
              </a:rPr>
              <a:t>s</a:t>
            </a:r>
            <a:endParaRPr sz="1100">
              <a:latin typeface="Arial"/>
              <a:cs typeface="Arial"/>
            </a:endParaRPr>
          </a:p>
        </p:txBody>
      </p:sp>
      <p:sp>
        <p:nvSpPr>
          <p:cNvPr id="50" name="object 50"/>
          <p:cNvSpPr txBox="1"/>
          <p:nvPr/>
        </p:nvSpPr>
        <p:spPr>
          <a:xfrm>
            <a:off x="6747129" y="4720844"/>
            <a:ext cx="4662170" cy="361315"/>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Online platforms (e.g., </a:t>
            </a:r>
            <a:r>
              <a:rPr sz="1100" dirty="0">
                <a:latin typeface="Arial"/>
                <a:cs typeface="Arial"/>
              </a:rPr>
              <a:t>Car.gr) for </a:t>
            </a:r>
            <a:r>
              <a:rPr sz="1100" b="1" dirty="0">
                <a:latin typeface="Arial"/>
                <a:cs typeface="Arial"/>
              </a:rPr>
              <a:t>direct </a:t>
            </a:r>
            <a:r>
              <a:rPr sz="1100" b="1" spc="-5" dirty="0">
                <a:latin typeface="Arial"/>
                <a:cs typeface="Arial"/>
              </a:rPr>
              <a:t>retail reach </a:t>
            </a:r>
            <a:r>
              <a:rPr sz="1100" dirty="0">
                <a:latin typeface="Arial"/>
                <a:cs typeface="Arial"/>
              </a:rPr>
              <a:t>for </a:t>
            </a:r>
            <a:r>
              <a:rPr sz="1100" spc="-5" dirty="0">
                <a:latin typeface="Arial"/>
                <a:cs typeface="Arial"/>
              </a:rPr>
              <a:t>newer vehicles</a:t>
            </a:r>
            <a:r>
              <a:rPr sz="1100" spc="-180" dirty="0">
                <a:latin typeface="Arial"/>
                <a:cs typeface="Arial"/>
              </a:rPr>
              <a:t> </a:t>
            </a:r>
            <a:r>
              <a:rPr sz="1100" spc="-5" dirty="0">
                <a:latin typeface="Arial"/>
                <a:cs typeface="Arial"/>
              </a:rPr>
              <a:t>not</a:t>
            </a:r>
            <a:endParaRPr sz="1100">
              <a:latin typeface="Arial"/>
              <a:cs typeface="Arial"/>
            </a:endParaRPr>
          </a:p>
          <a:p>
            <a:pPr marL="12700">
              <a:lnSpc>
                <a:spcPct val="100000"/>
              </a:lnSpc>
              <a:spcBef>
                <a:spcPts val="5"/>
              </a:spcBef>
            </a:pPr>
            <a:r>
              <a:rPr sz="1100" spc="-5" dirty="0">
                <a:latin typeface="Arial"/>
                <a:cs typeface="Arial"/>
              </a:rPr>
              <a:t>requiring dealers’</a:t>
            </a:r>
            <a:r>
              <a:rPr sz="1100" spc="-25" dirty="0">
                <a:latin typeface="Arial"/>
                <a:cs typeface="Arial"/>
              </a:rPr>
              <a:t> </a:t>
            </a:r>
            <a:r>
              <a:rPr sz="1100" spc="-5" dirty="0">
                <a:latin typeface="Arial"/>
                <a:cs typeface="Arial"/>
              </a:rPr>
              <a:t>repairs</a:t>
            </a:r>
            <a:endParaRPr sz="1100">
              <a:latin typeface="Arial"/>
              <a:cs typeface="Arial"/>
            </a:endParaRPr>
          </a:p>
        </p:txBody>
      </p:sp>
      <p:sp>
        <p:nvSpPr>
          <p:cNvPr id="51" name="object 51"/>
          <p:cNvSpPr txBox="1"/>
          <p:nvPr/>
        </p:nvSpPr>
        <p:spPr>
          <a:xfrm>
            <a:off x="5564251" y="5582513"/>
            <a:ext cx="897890" cy="193675"/>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Export</a:t>
            </a:r>
            <a:r>
              <a:rPr sz="1100" spc="-65" dirty="0">
                <a:latin typeface="Arial"/>
                <a:cs typeface="Arial"/>
              </a:rPr>
              <a:t> </a:t>
            </a:r>
            <a:r>
              <a:rPr sz="1100" dirty="0">
                <a:latin typeface="Arial"/>
                <a:cs typeface="Arial"/>
              </a:rPr>
              <a:t>market</a:t>
            </a:r>
            <a:endParaRPr sz="1100">
              <a:latin typeface="Arial"/>
              <a:cs typeface="Arial"/>
            </a:endParaRPr>
          </a:p>
        </p:txBody>
      </p:sp>
      <p:sp>
        <p:nvSpPr>
          <p:cNvPr id="52" name="object 52"/>
          <p:cNvSpPr txBox="1"/>
          <p:nvPr/>
        </p:nvSpPr>
        <p:spPr>
          <a:xfrm>
            <a:off x="6747129" y="5578246"/>
            <a:ext cx="4768850" cy="361315"/>
          </a:xfrm>
          <a:prstGeom prst="rect">
            <a:avLst/>
          </a:prstGeom>
        </p:spPr>
        <p:txBody>
          <a:bodyPr vert="horz" wrap="square" lIns="0" tIns="12700" rIns="0" bIns="0" rtlCol="0">
            <a:spAutoFit/>
          </a:bodyPr>
          <a:lstStyle/>
          <a:p>
            <a:pPr marL="12700" marR="5080">
              <a:lnSpc>
                <a:spcPct val="100000"/>
              </a:lnSpc>
              <a:spcBef>
                <a:spcPts val="100"/>
              </a:spcBef>
            </a:pPr>
            <a:r>
              <a:rPr sz="1100" b="1" spc="-5" dirty="0">
                <a:latin typeface="Arial"/>
                <a:cs typeface="Arial"/>
              </a:rPr>
              <a:t>Cross-border </a:t>
            </a:r>
            <a:r>
              <a:rPr sz="1100" b="1" dirty="0">
                <a:latin typeface="Arial"/>
                <a:cs typeface="Arial"/>
              </a:rPr>
              <a:t>marketplaces </a:t>
            </a:r>
            <a:r>
              <a:rPr sz="1100" spc="-5" dirty="0">
                <a:latin typeface="Arial"/>
                <a:cs typeface="Arial"/>
              </a:rPr>
              <a:t>or </a:t>
            </a:r>
            <a:r>
              <a:rPr sz="1100" b="1" dirty="0">
                <a:latin typeface="Arial"/>
                <a:cs typeface="Arial"/>
              </a:rPr>
              <a:t>international </a:t>
            </a:r>
            <a:r>
              <a:rPr sz="1100" b="1" spc="-5" dirty="0">
                <a:latin typeface="Arial"/>
                <a:cs typeface="Arial"/>
              </a:rPr>
              <a:t>wholesale </a:t>
            </a:r>
            <a:r>
              <a:rPr sz="1100" b="1" spc="-10" dirty="0">
                <a:latin typeface="Arial"/>
                <a:cs typeface="Arial"/>
              </a:rPr>
              <a:t>buyers</a:t>
            </a:r>
            <a:r>
              <a:rPr sz="1100" spc="-10" dirty="0">
                <a:latin typeface="Arial"/>
                <a:cs typeface="Arial"/>
              </a:rPr>
              <a:t>, </a:t>
            </a:r>
            <a:r>
              <a:rPr sz="1100" spc="-5" dirty="0">
                <a:latin typeface="Arial"/>
                <a:cs typeface="Arial"/>
              </a:rPr>
              <a:t>especially  </a:t>
            </a:r>
            <a:r>
              <a:rPr sz="1100" dirty="0">
                <a:latin typeface="Arial"/>
                <a:cs typeface="Arial"/>
              </a:rPr>
              <a:t>for </a:t>
            </a:r>
            <a:r>
              <a:rPr sz="1100" spc="-5" dirty="0">
                <a:latin typeface="Arial"/>
                <a:cs typeface="Arial"/>
              </a:rPr>
              <a:t>EVs or vehicles unsuitable </a:t>
            </a:r>
            <a:r>
              <a:rPr sz="1100" dirty="0">
                <a:latin typeface="Arial"/>
                <a:cs typeface="Arial"/>
              </a:rPr>
              <a:t>for </a:t>
            </a:r>
            <a:r>
              <a:rPr sz="1100" spc="-5" dirty="0">
                <a:latin typeface="Arial"/>
                <a:cs typeface="Arial"/>
              </a:rPr>
              <a:t>domestic</a:t>
            </a:r>
            <a:r>
              <a:rPr sz="1100" spc="-85" dirty="0">
                <a:latin typeface="Arial"/>
                <a:cs typeface="Arial"/>
              </a:rPr>
              <a:t> </a:t>
            </a:r>
            <a:r>
              <a:rPr sz="1100" spc="-5" dirty="0">
                <a:latin typeface="Arial"/>
                <a:cs typeface="Arial"/>
              </a:rPr>
              <a:t>resale</a:t>
            </a:r>
            <a:endParaRPr sz="1100">
              <a:latin typeface="Arial"/>
              <a:cs typeface="Arial"/>
            </a:endParaRPr>
          </a:p>
        </p:txBody>
      </p:sp>
      <p:sp>
        <p:nvSpPr>
          <p:cNvPr id="53" name="object 53"/>
          <p:cNvSpPr txBox="1"/>
          <p:nvPr/>
        </p:nvSpPr>
        <p:spPr>
          <a:xfrm>
            <a:off x="5576189" y="4291965"/>
            <a:ext cx="6061075" cy="361315"/>
          </a:xfrm>
          <a:prstGeom prst="rect">
            <a:avLst/>
          </a:prstGeom>
        </p:spPr>
        <p:txBody>
          <a:bodyPr vert="horz" wrap="square" lIns="0" tIns="12700" rIns="0" bIns="0" rtlCol="0">
            <a:spAutoFit/>
          </a:bodyPr>
          <a:lstStyle/>
          <a:p>
            <a:pPr marL="1183005" marR="190500" indent="-1183005">
              <a:lnSpc>
                <a:spcPct val="100000"/>
              </a:lnSpc>
              <a:spcBef>
                <a:spcPts val="100"/>
              </a:spcBef>
              <a:tabLst>
                <a:tab pos="1183005" algn="l"/>
              </a:tabLst>
            </a:pPr>
            <a:r>
              <a:rPr sz="1100" spc="-5" dirty="0">
                <a:latin typeface="Arial"/>
                <a:cs typeface="Arial"/>
              </a:rPr>
              <a:t>Dealers’</a:t>
            </a:r>
            <a:r>
              <a:rPr sz="1100" spc="5" dirty="0">
                <a:latin typeface="Arial"/>
                <a:cs typeface="Arial"/>
              </a:rPr>
              <a:t> </a:t>
            </a:r>
            <a:r>
              <a:rPr sz="1100" spc="-5" dirty="0">
                <a:latin typeface="Arial"/>
                <a:cs typeface="Arial"/>
              </a:rPr>
              <a:t>network	</a:t>
            </a:r>
            <a:r>
              <a:rPr sz="1100" b="1" spc="-5" dirty="0">
                <a:latin typeface="Arial"/>
                <a:cs typeface="Arial"/>
              </a:rPr>
              <a:t>Pre-arranged resale </a:t>
            </a:r>
            <a:r>
              <a:rPr sz="1100" dirty="0">
                <a:latin typeface="Arial"/>
                <a:cs typeface="Arial"/>
              </a:rPr>
              <a:t>to </a:t>
            </a:r>
            <a:r>
              <a:rPr sz="1100" b="1" dirty="0">
                <a:latin typeface="Arial"/>
                <a:cs typeface="Arial"/>
              </a:rPr>
              <a:t>preferred partners </a:t>
            </a:r>
            <a:r>
              <a:rPr sz="1100" dirty="0">
                <a:latin typeface="Arial"/>
                <a:cs typeface="Arial"/>
              </a:rPr>
              <a:t>(e.g., </a:t>
            </a:r>
            <a:r>
              <a:rPr sz="1100" spc="-5" dirty="0">
                <a:latin typeface="Arial"/>
                <a:cs typeface="Arial"/>
              </a:rPr>
              <a:t>dealers network) </a:t>
            </a:r>
            <a:r>
              <a:rPr sz="1100" dirty="0">
                <a:latin typeface="Arial"/>
                <a:cs typeface="Arial"/>
              </a:rPr>
              <a:t>for </a:t>
            </a:r>
            <a:r>
              <a:rPr sz="1100" spc="-5" dirty="0">
                <a:latin typeface="Arial"/>
                <a:cs typeface="Arial"/>
              </a:rPr>
              <a:t>most  vehicles in </a:t>
            </a:r>
            <a:r>
              <a:rPr sz="1100" dirty="0">
                <a:latin typeface="Arial"/>
                <a:cs typeface="Arial"/>
              </a:rPr>
              <a:t>good </a:t>
            </a:r>
            <a:r>
              <a:rPr sz="1100" spc="-5" dirty="0">
                <a:latin typeface="Arial"/>
                <a:cs typeface="Arial"/>
              </a:rPr>
              <a:t>conditions</a:t>
            </a:r>
            <a:endParaRPr sz="1100">
              <a:latin typeface="Arial"/>
              <a:cs typeface="Arial"/>
            </a:endParaRPr>
          </a:p>
        </p:txBody>
      </p:sp>
      <p:sp>
        <p:nvSpPr>
          <p:cNvPr id="54" name="object 54"/>
          <p:cNvSpPr txBox="1"/>
          <p:nvPr/>
        </p:nvSpPr>
        <p:spPr>
          <a:xfrm>
            <a:off x="5564251" y="3265423"/>
            <a:ext cx="1092835" cy="361315"/>
          </a:xfrm>
          <a:prstGeom prst="rect">
            <a:avLst/>
          </a:prstGeom>
        </p:spPr>
        <p:txBody>
          <a:bodyPr vert="horz" wrap="square" lIns="0" tIns="13335" rIns="0" bIns="0" rtlCol="0">
            <a:spAutoFit/>
          </a:bodyPr>
          <a:lstStyle/>
          <a:p>
            <a:pPr marL="12700" marR="5080">
              <a:lnSpc>
                <a:spcPct val="100000"/>
              </a:lnSpc>
              <a:spcBef>
                <a:spcPts val="105"/>
              </a:spcBef>
            </a:pPr>
            <a:r>
              <a:rPr sz="1100" dirty="0">
                <a:latin typeface="Arial"/>
                <a:cs typeface="Arial"/>
              </a:rPr>
              <a:t>I</a:t>
            </a:r>
            <a:r>
              <a:rPr sz="1100" spc="-5" dirty="0">
                <a:latin typeface="Arial"/>
                <a:cs typeface="Arial"/>
              </a:rPr>
              <a:t>nspection</a:t>
            </a:r>
            <a:r>
              <a:rPr sz="1100" dirty="0">
                <a:latin typeface="Arial"/>
                <a:cs typeface="Arial"/>
              </a:rPr>
              <a:t>-</a:t>
            </a:r>
            <a:r>
              <a:rPr sz="1100" spc="-5" dirty="0">
                <a:latin typeface="Arial"/>
                <a:cs typeface="Arial"/>
              </a:rPr>
              <a:t>ba</a:t>
            </a:r>
            <a:r>
              <a:rPr sz="1100" dirty="0">
                <a:latin typeface="Arial"/>
                <a:cs typeface="Arial"/>
              </a:rPr>
              <a:t>sed  </a:t>
            </a:r>
            <a:r>
              <a:rPr sz="1100" spc="-5" dirty="0">
                <a:latin typeface="Arial"/>
                <a:cs typeface="Arial"/>
              </a:rPr>
              <a:t>pricing</a:t>
            </a:r>
            <a:endParaRPr sz="1100">
              <a:latin typeface="Arial"/>
              <a:cs typeface="Arial"/>
            </a:endParaRPr>
          </a:p>
        </p:txBody>
      </p:sp>
      <p:sp>
        <p:nvSpPr>
          <p:cNvPr id="55" name="object 55"/>
          <p:cNvSpPr txBox="1"/>
          <p:nvPr/>
        </p:nvSpPr>
        <p:spPr>
          <a:xfrm>
            <a:off x="6747129" y="3258438"/>
            <a:ext cx="4519295" cy="528955"/>
          </a:xfrm>
          <a:prstGeom prst="rect">
            <a:avLst/>
          </a:prstGeom>
        </p:spPr>
        <p:txBody>
          <a:bodyPr vert="horz" wrap="square" lIns="0" tIns="13335" rIns="0" bIns="0" rtlCol="0">
            <a:spAutoFit/>
          </a:bodyPr>
          <a:lstStyle/>
          <a:p>
            <a:pPr marL="12700" marR="5080" algn="just">
              <a:lnSpc>
                <a:spcPct val="100000"/>
              </a:lnSpc>
              <a:spcBef>
                <a:spcPts val="105"/>
              </a:spcBef>
            </a:pPr>
            <a:r>
              <a:rPr sz="1100" spc="-5" dirty="0">
                <a:latin typeface="Arial"/>
                <a:cs typeface="Arial"/>
              </a:rPr>
              <a:t>Pricing </a:t>
            </a:r>
            <a:r>
              <a:rPr sz="1100" dirty="0">
                <a:latin typeface="Arial"/>
                <a:cs typeface="Arial"/>
              </a:rPr>
              <a:t>based </a:t>
            </a:r>
            <a:r>
              <a:rPr sz="1100" spc="-5" dirty="0">
                <a:latin typeface="Arial"/>
                <a:cs typeface="Arial"/>
              </a:rPr>
              <a:t>on </a:t>
            </a:r>
            <a:r>
              <a:rPr sz="1100" b="1" spc="-5" dirty="0">
                <a:latin typeface="Arial"/>
                <a:cs typeface="Arial"/>
              </a:rPr>
              <a:t>independent </a:t>
            </a:r>
            <a:r>
              <a:rPr sz="1100" b="1" dirty="0">
                <a:latin typeface="Arial"/>
                <a:cs typeface="Arial"/>
              </a:rPr>
              <a:t>inspection by third-party </a:t>
            </a:r>
            <a:r>
              <a:rPr sz="1100" spc="-5" dirty="0">
                <a:latin typeface="Arial"/>
                <a:cs typeface="Arial"/>
              </a:rPr>
              <a:t>or </a:t>
            </a:r>
            <a:r>
              <a:rPr sz="1100" b="1" spc="-5" dirty="0">
                <a:latin typeface="Arial"/>
                <a:cs typeface="Arial"/>
              </a:rPr>
              <a:t>de-fleeting  </a:t>
            </a:r>
            <a:r>
              <a:rPr sz="1100" b="1" spc="-10" dirty="0">
                <a:latin typeface="Arial"/>
                <a:cs typeface="Arial"/>
              </a:rPr>
              <a:t>company, </a:t>
            </a:r>
            <a:r>
              <a:rPr sz="1100" spc="-5" dirty="0">
                <a:latin typeface="Arial"/>
                <a:cs typeface="Arial"/>
              </a:rPr>
              <a:t>adjusted </a:t>
            </a:r>
            <a:r>
              <a:rPr sz="1100" dirty="0">
                <a:latin typeface="Arial"/>
                <a:cs typeface="Arial"/>
              </a:rPr>
              <a:t>to </a:t>
            </a:r>
            <a:r>
              <a:rPr sz="1100" spc="-5" dirty="0">
                <a:latin typeface="Arial"/>
                <a:cs typeface="Arial"/>
              </a:rPr>
              <a:t>remarketing channel </a:t>
            </a:r>
            <a:r>
              <a:rPr sz="1100" dirty="0">
                <a:latin typeface="Arial"/>
                <a:cs typeface="Arial"/>
              </a:rPr>
              <a:t>(e.g., </a:t>
            </a:r>
            <a:r>
              <a:rPr sz="1100" spc="-5" dirty="0">
                <a:latin typeface="Arial"/>
                <a:cs typeface="Arial"/>
              </a:rPr>
              <a:t>preferential discount </a:t>
            </a:r>
            <a:r>
              <a:rPr sz="1100" dirty="0">
                <a:latin typeface="Arial"/>
                <a:cs typeface="Arial"/>
              </a:rPr>
              <a:t>to  </a:t>
            </a:r>
            <a:r>
              <a:rPr sz="1100" spc="-5" dirty="0">
                <a:latin typeface="Arial"/>
                <a:cs typeface="Arial"/>
              </a:rPr>
              <a:t>selected</a:t>
            </a:r>
            <a:r>
              <a:rPr sz="1100" spc="-15" dirty="0">
                <a:latin typeface="Arial"/>
                <a:cs typeface="Arial"/>
              </a:rPr>
              <a:t> </a:t>
            </a:r>
            <a:r>
              <a:rPr sz="1100" spc="-5" dirty="0">
                <a:latin typeface="Arial"/>
                <a:cs typeface="Arial"/>
              </a:rPr>
              <a:t>dealers)</a:t>
            </a:r>
            <a:endParaRPr sz="1100">
              <a:latin typeface="Arial"/>
              <a:cs typeface="Arial"/>
            </a:endParaRPr>
          </a:p>
        </p:txBody>
      </p:sp>
      <p:sp>
        <p:nvSpPr>
          <p:cNvPr id="56" name="object 56"/>
          <p:cNvSpPr txBox="1"/>
          <p:nvPr/>
        </p:nvSpPr>
        <p:spPr>
          <a:xfrm>
            <a:off x="5564251" y="3864609"/>
            <a:ext cx="1084580" cy="361315"/>
          </a:xfrm>
          <a:prstGeom prst="rect">
            <a:avLst/>
          </a:prstGeom>
        </p:spPr>
        <p:txBody>
          <a:bodyPr vert="horz" wrap="square" lIns="0" tIns="12700" rIns="0" bIns="0" rtlCol="0">
            <a:spAutoFit/>
          </a:bodyPr>
          <a:lstStyle/>
          <a:p>
            <a:pPr marL="12700" marR="5080">
              <a:lnSpc>
                <a:spcPct val="100000"/>
              </a:lnSpc>
              <a:spcBef>
                <a:spcPts val="100"/>
              </a:spcBef>
            </a:pPr>
            <a:r>
              <a:rPr sz="1100" spc="-5" dirty="0">
                <a:latin typeface="Arial"/>
                <a:cs typeface="Arial"/>
              </a:rPr>
              <a:t>Dynamic</a:t>
            </a:r>
            <a:r>
              <a:rPr sz="1100" spc="-75" dirty="0">
                <a:latin typeface="Arial"/>
                <a:cs typeface="Arial"/>
              </a:rPr>
              <a:t> </a:t>
            </a:r>
            <a:r>
              <a:rPr sz="1100" dirty="0">
                <a:latin typeface="Arial"/>
                <a:cs typeface="Arial"/>
              </a:rPr>
              <a:t>market-  based</a:t>
            </a:r>
            <a:r>
              <a:rPr sz="1100" spc="-25" dirty="0">
                <a:latin typeface="Arial"/>
                <a:cs typeface="Arial"/>
              </a:rPr>
              <a:t> </a:t>
            </a:r>
            <a:r>
              <a:rPr sz="1100" spc="-5" dirty="0">
                <a:latin typeface="Arial"/>
                <a:cs typeface="Arial"/>
              </a:rPr>
              <a:t>pricing</a:t>
            </a:r>
            <a:endParaRPr sz="1100">
              <a:latin typeface="Arial"/>
              <a:cs typeface="Arial"/>
            </a:endParaRPr>
          </a:p>
        </p:txBody>
      </p:sp>
      <p:sp>
        <p:nvSpPr>
          <p:cNvPr id="57" name="object 57"/>
          <p:cNvSpPr txBox="1"/>
          <p:nvPr/>
        </p:nvSpPr>
        <p:spPr>
          <a:xfrm>
            <a:off x="6747129" y="3856990"/>
            <a:ext cx="4870450" cy="361315"/>
          </a:xfrm>
          <a:prstGeom prst="rect">
            <a:avLst/>
          </a:prstGeom>
        </p:spPr>
        <p:txBody>
          <a:bodyPr vert="horz" wrap="square" lIns="0" tIns="12700" rIns="0" bIns="0" rtlCol="0">
            <a:spAutoFit/>
          </a:bodyPr>
          <a:lstStyle/>
          <a:p>
            <a:pPr marL="12700" marR="5080">
              <a:lnSpc>
                <a:spcPct val="100000"/>
              </a:lnSpc>
              <a:spcBef>
                <a:spcPts val="100"/>
              </a:spcBef>
            </a:pPr>
            <a:r>
              <a:rPr sz="1100" b="1" spc="-5" dirty="0">
                <a:latin typeface="Arial"/>
                <a:cs typeface="Arial"/>
              </a:rPr>
              <a:t>Real-time dynamic </a:t>
            </a:r>
            <a:r>
              <a:rPr sz="1100" b="1" dirty="0">
                <a:latin typeface="Arial"/>
                <a:cs typeface="Arial"/>
              </a:rPr>
              <a:t>pricing </a:t>
            </a:r>
            <a:r>
              <a:rPr sz="1100" spc="-5" dirty="0">
                <a:latin typeface="Arial"/>
                <a:cs typeface="Arial"/>
              </a:rPr>
              <a:t>powered by automated tools (e.g., </a:t>
            </a:r>
            <a:r>
              <a:rPr sz="1100" dirty="0">
                <a:latin typeface="Arial"/>
                <a:cs typeface="Arial"/>
              </a:rPr>
              <a:t>based </a:t>
            </a:r>
            <a:r>
              <a:rPr sz="1100" spc="-5" dirty="0">
                <a:latin typeface="Arial"/>
                <a:cs typeface="Arial"/>
              </a:rPr>
              <a:t>on  demand trends, vehicle condition, remarketing channel historical</a:t>
            </a:r>
            <a:r>
              <a:rPr sz="1100" spc="50" dirty="0">
                <a:latin typeface="Arial"/>
                <a:cs typeface="Arial"/>
              </a:rPr>
              <a:t> </a:t>
            </a:r>
            <a:r>
              <a:rPr sz="1100" spc="-5" dirty="0">
                <a:latin typeface="Arial"/>
                <a:cs typeface="Arial"/>
              </a:rPr>
              <a:t>performance)</a:t>
            </a:r>
            <a:endParaRPr sz="1100">
              <a:latin typeface="Arial"/>
              <a:cs typeface="Arial"/>
            </a:endParaRPr>
          </a:p>
        </p:txBody>
      </p:sp>
      <p:sp>
        <p:nvSpPr>
          <p:cNvPr id="58" name="object 58"/>
          <p:cNvSpPr txBox="1"/>
          <p:nvPr/>
        </p:nvSpPr>
        <p:spPr>
          <a:xfrm>
            <a:off x="4271264" y="1240792"/>
            <a:ext cx="2408555" cy="1522095"/>
          </a:xfrm>
          <a:prstGeom prst="rect">
            <a:avLst/>
          </a:prstGeom>
        </p:spPr>
        <p:txBody>
          <a:bodyPr vert="horz" wrap="square" lIns="0" tIns="129540" rIns="0" bIns="0" rtlCol="0">
            <a:spAutoFit/>
          </a:bodyPr>
          <a:lstStyle/>
          <a:p>
            <a:pPr marL="12700">
              <a:lnSpc>
                <a:spcPct val="100000"/>
              </a:lnSpc>
              <a:spcBef>
                <a:spcPts val="1020"/>
              </a:spcBef>
            </a:pPr>
            <a:r>
              <a:rPr sz="1500" b="1" spc="-5" dirty="0">
                <a:latin typeface="Arial"/>
                <a:cs typeface="Arial"/>
              </a:rPr>
              <a:t>Remarketing</a:t>
            </a:r>
            <a:r>
              <a:rPr sz="1500" b="1" spc="-20" dirty="0">
                <a:latin typeface="Arial"/>
                <a:cs typeface="Arial"/>
              </a:rPr>
              <a:t> </a:t>
            </a:r>
            <a:r>
              <a:rPr sz="1500" b="1" dirty="0">
                <a:latin typeface="Arial"/>
                <a:cs typeface="Arial"/>
              </a:rPr>
              <a:t>strategy</a:t>
            </a:r>
            <a:endParaRPr sz="1500">
              <a:latin typeface="Arial"/>
              <a:cs typeface="Arial"/>
            </a:endParaRPr>
          </a:p>
          <a:p>
            <a:pPr marL="12700">
              <a:lnSpc>
                <a:spcPct val="100000"/>
              </a:lnSpc>
              <a:spcBef>
                <a:spcPts val="785"/>
              </a:spcBef>
              <a:tabLst>
                <a:tab pos="1305560" algn="l"/>
              </a:tabLst>
            </a:pPr>
            <a:r>
              <a:rPr sz="1300" b="1" spc="-10" dirty="0">
                <a:latin typeface="Arial"/>
                <a:cs typeface="Arial"/>
              </a:rPr>
              <a:t>Pillar	Option</a:t>
            </a:r>
            <a:endParaRPr sz="1300">
              <a:latin typeface="Arial"/>
              <a:cs typeface="Arial"/>
            </a:endParaRPr>
          </a:p>
          <a:p>
            <a:pPr marL="12700">
              <a:lnSpc>
                <a:spcPct val="100000"/>
              </a:lnSpc>
              <a:spcBef>
                <a:spcPts val="730"/>
              </a:spcBef>
              <a:tabLst>
                <a:tab pos="1305560" algn="l"/>
              </a:tabLst>
            </a:pPr>
            <a:r>
              <a:rPr sz="1100" b="1" spc="-5" dirty="0">
                <a:latin typeface="Arial"/>
                <a:cs typeface="Arial"/>
              </a:rPr>
              <a:t>1. Refurbishment	</a:t>
            </a:r>
            <a:r>
              <a:rPr sz="1100" spc="-5" dirty="0">
                <a:latin typeface="Arial"/>
                <a:cs typeface="Arial"/>
              </a:rPr>
              <a:t>Basic</a:t>
            </a:r>
            <a:r>
              <a:rPr sz="1100" spc="-40" dirty="0">
                <a:latin typeface="Arial"/>
                <a:cs typeface="Arial"/>
              </a:rPr>
              <a:t> </a:t>
            </a:r>
            <a:r>
              <a:rPr sz="1100" spc="-5" dirty="0">
                <a:latin typeface="Arial"/>
                <a:cs typeface="Arial"/>
              </a:rPr>
              <a:t>preparation</a:t>
            </a:r>
            <a:endParaRPr sz="1100">
              <a:latin typeface="Arial"/>
              <a:cs typeface="Arial"/>
            </a:endParaRPr>
          </a:p>
          <a:p>
            <a:pPr marL="12700">
              <a:lnSpc>
                <a:spcPct val="100000"/>
              </a:lnSpc>
            </a:pPr>
            <a:r>
              <a:rPr sz="1100" b="1" dirty="0">
                <a:latin typeface="Arial"/>
                <a:cs typeface="Arial"/>
              </a:rPr>
              <a:t>&amp;</a:t>
            </a:r>
            <a:r>
              <a:rPr sz="1100" b="1" spc="-5" dirty="0">
                <a:latin typeface="Arial"/>
                <a:cs typeface="Arial"/>
              </a:rPr>
              <a:t> reconditioning</a:t>
            </a:r>
            <a:endParaRPr sz="1100">
              <a:latin typeface="Arial"/>
              <a:cs typeface="Arial"/>
            </a:endParaRPr>
          </a:p>
          <a:p>
            <a:pPr marL="1305560" marR="492759">
              <a:lnSpc>
                <a:spcPct val="100000"/>
              </a:lnSpc>
              <a:spcBef>
                <a:spcPts val="705"/>
              </a:spcBef>
            </a:pPr>
            <a:r>
              <a:rPr sz="1100" spc="-5" dirty="0">
                <a:latin typeface="Arial"/>
                <a:cs typeface="Arial"/>
              </a:rPr>
              <a:t>Standard  pa</a:t>
            </a:r>
            <a:r>
              <a:rPr sz="1100" dirty="0">
                <a:latin typeface="Arial"/>
                <a:cs typeface="Arial"/>
              </a:rPr>
              <a:t>c</a:t>
            </a:r>
            <a:r>
              <a:rPr sz="1100" spc="10" dirty="0">
                <a:latin typeface="Arial"/>
                <a:cs typeface="Arial"/>
              </a:rPr>
              <a:t>k</a:t>
            </a:r>
            <a:r>
              <a:rPr sz="1100" spc="-5" dirty="0">
                <a:latin typeface="Arial"/>
                <a:cs typeface="Arial"/>
              </a:rPr>
              <a:t>a</a:t>
            </a:r>
            <a:r>
              <a:rPr sz="1100" spc="5" dirty="0">
                <a:latin typeface="Arial"/>
                <a:cs typeface="Arial"/>
              </a:rPr>
              <a:t>g</a:t>
            </a:r>
            <a:r>
              <a:rPr sz="1100" spc="-5" dirty="0">
                <a:latin typeface="Arial"/>
                <a:cs typeface="Arial"/>
              </a:rPr>
              <a:t>es</a:t>
            </a:r>
            <a:endParaRPr sz="1100">
              <a:latin typeface="Arial"/>
              <a:cs typeface="Arial"/>
            </a:endParaRPr>
          </a:p>
        </p:txBody>
      </p:sp>
      <p:sp>
        <p:nvSpPr>
          <p:cNvPr id="59" name="object 59"/>
          <p:cNvSpPr txBox="1"/>
          <p:nvPr/>
        </p:nvSpPr>
        <p:spPr>
          <a:xfrm>
            <a:off x="4271264" y="4315459"/>
            <a:ext cx="730885" cy="361950"/>
          </a:xfrm>
          <a:prstGeom prst="rect">
            <a:avLst/>
          </a:prstGeom>
        </p:spPr>
        <p:txBody>
          <a:bodyPr vert="horz" wrap="square" lIns="0" tIns="12700" rIns="0" bIns="0" rtlCol="0">
            <a:spAutoFit/>
          </a:bodyPr>
          <a:lstStyle/>
          <a:p>
            <a:pPr marL="12700" marR="5080">
              <a:lnSpc>
                <a:spcPct val="100000"/>
              </a:lnSpc>
              <a:spcBef>
                <a:spcPts val="100"/>
              </a:spcBef>
            </a:pPr>
            <a:r>
              <a:rPr sz="1100" b="1" spc="-5" dirty="0">
                <a:latin typeface="Arial"/>
                <a:cs typeface="Arial"/>
              </a:rPr>
              <a:t>3.</a:t>
            </a:r>
            <a:r>
              <a:rPr sz="1100" b="1" spc="-85" dirty="0">
                <a:latin typeface="Arial"/>
                <a:cs typeface="Arial"/>
              </a:rPr>
              <a:t> </a:t>
            </a:r>
            <a:r>
              <a:rPr sz="1100" b="1" spc="-5" dirty="0">
                <a:latin typeface="Arial"/>
                <a:cs typeface="Arial"/>
              </a:rPr>
              <a:t>Channel  strategy</a:t>
            </a:r>
            <a:endParaRPr sz="1100">
              <a:latin typeface="Arial"/>
              <a:cs typeface="Arial"/>
            </a:endParaRPr>
          </a:p>
        </p:txBody>
      </p:sp>
      <p:sp>
        <p:nvSpPr>
          <p:cNvPr id="60" name="object 60"/>
          <p:cNvSpPr txBox="1"/>
          <p:nvPr/>
        </p:nvSpPr>
        <p:spPr>
          <a:xfrm>
            <a:off x="4271264" y="3249549"/>
            <a:ext cx="654685" cy="193675"/>
          </a:xfrm>
          <a:prstGeom prst="rect">
            <a:avLst/>
          </a:prstGeom>
        </p:spPr>
        <p:txBody>
          <a:bodyPr vert="horz" wrap="square" lIns="0" tIns="13335" rIns="0" bIns="0" rtlCol="0">
            <a:spAutoFit/>
          </a:bodyPr>
          <a:lstStyle/>
          <a:p>
            <a:pPr marL="12700">
              <a:lnSpc>
                <a:spcPct val="100000"/>
              </a:lnSpc>
              <a:spcBef>
                <a:spcPts val="105"/>
              </a:spcBef>
            </a:pPr>
            <a:r>
              <a:rPr sz="1100" b="1" spc="-5" dirty="0">
                <a:latin typeface="Arial"/>
                <a:cs typeface="Arial"/>
              </a:rPr>
              <a:t>2.</a:t>
            </a:r>
            <a:r>
              <a:rPr sz="1100" b="1" spc="-65" dirty="0">
                <a:latin typeface="Arial"/>
                <a:cs typeface="Arial"/>
              </a:rPr>
              <a:t> </a:t>
            </a:r>
            <a:r>
              <a:rPr sz="1100" b="1" spc="-5" dirty="0">
                <a:latin typeface="Arial"/>
                <a:cs typeface="Arial"/>
              </a:rPr>
              <a:t>Pricing</a:t>
            </a:r>
            <a:endParaRPr sz="1100">
              <a:latin typeface="Arial"/>
              <a:cs typeface="Arial"/>
            </a:endParaRPr>
          </a:p>
        </p:txBody>
      </p:sp>
      <p:sp>
        <p:nvSpPr>
          <p:cNvPr id="61" name="object 61"/>
          <p:cNvSpPr txBox="1"/>
          <p:nvPr/>
        </p:nvSpPr>
        <p:spPr>
          <a:xfrm>
            <a:off x="4271264" y="6007404"/>
            <a:ext cx="894080" cy="193675"/>
          </a:xfrm>
          <a:prstGeom prst="rect">
            <a:avLst/>
          </a:prstGeom>
        </p:spPr>
        <p:txBody>
          <a:bodyPr vert="horz" wrap="square" lIns="0" tIns="12700" rIns="0" bIns="0" rtlCol="0">
            <a:spAutoFit/>
          </a:bodyPr>
          <a:lstStyle/>
          <a:p>
            <a:pPr marL="12700">
              <a:lnSpc>
                <a:spcPct val="100000"/>
              </a:lnSpc>
              <a:spcBef>
                <a:spcPts val="100"/>
              </a:spcBef>
            </a:pPr>
            <a:r>
              <a:rPr sz="1100" b="1" spc="-5" dirty="0">
                <a:latin typeface="Arial"/>
                <a:cs typeface="Arial"/>
              </a:rPr>
              <a:t>4. </a:t>
            </a:r>
            <a:r>
              <a:rPr sz="1100" b="1" spc="-10" dirty="0">
                <a:latin typeface="Arial"/>
                <a:cs typeface="Arial"/>
              </a:rPr>
              <a:t>After</a:t>
            </a:r>
            <a:r>
              <a:rPr sz="1100" b="1" spc="-50" dirty="0">
                <a:latin typeface="Arial"/>
                <a:cs typeface="Arial"/>
              </a:rPr>
              <a:t> </a:t>
            </a:r>
            <a:r>
              <a:rPr sz="1100" b="1" spc="-5" dirty="0">
                <a:latin typeface="Arial"/>
                <a:cs typeface="Arial"/>
              </a:rPr>
              <a:t>sales</a:t>
            </a:r>
            <a:endParaRPr sz="1100">
              <a:latin typeface="Arial"/>
              <a:cs typeface="Arial"/>
            </a:endParaRPr>
          </a:p>
        </p:txBody>
      </p:sp>
      <p:sp>
        <p:nvSpPr>
          <p:cNvPr id="62" name="object 62"/>
          <p:cNvSpPr txBox="1"/>
          <p:nvPr/>
        </p:nvSpPr>
        <p:spPr>
          <a:xfrm>
            <a:off x="5564251" y="6011976"/>
            <a:ext cx="683895" cy="361315"/>
          </a:xfrm>
          <a:prstGeom prst="rect">
            <a:avLst/>
          </a:prstGeom>
        </p:spPr>
        <p:txBody>
          <a:bodyPr vert="horz" wrap="square" lIns="0" tIns="12700" rIns="0" bIns="0" rtlCol="0">
            <a:spAutoFit/>
          </a:bodyPr>
          <a:lstStyle/>
          <a:p>
            <a:pPr marL="12700" marR="5080">
              <a:lnSpc>
                <a:spcPct val="100000"/>
              </a:lnSpc>
              <a:spcBef>
                <a:spcPts val="100"/>
              </a:spcBef>
            </a:pPr>
            <a:r>
              <a:rPr sz="1100" dirty="0">
                <a:latin typeface="Arial"/>
                <a:cs typeface="Arial"/>
              </a:rPr>
              <a:t>After</a:t>
            </a:r>
            <a:r>
              <a:rPr sz="1100" spc="-105" dirty="0">
                <a:latin typeface="Arial"/>
                <a:cs typeface="Arial"/>
              </a:rPr>
              <a:t> </a:t>
            </a:r>
            <a:r>
              <a:rPr sz="1100" spc="-5" dirty="0">
                <a:latin typeface="Arial"/>
                <a:cs typeface="Arial"/>
              </a:rPr>
              <a:t>sales  support</a:t>
            </a:r>
            <a:endParaRPr sz="1100">
              <a:latin typeface="Arial"/>
              <a:cs typeface="Arial"/>
            </a:endParaRPr>
          </a:p>
        </p:txBody>
      </p:sp>
      <p:sp>
        <p:nvSpPr>
          <p:cNvPr id="63" name="object 63"/>
          <p:cNvSpPr txBox="1"/>
          <p:nvPr/>
        </p:nvSpPr>
        <p:spPr>
          <a:xfrm>
            <a:off x="6747129" y="6011976"/>
            <a:ext cx="4442460" cy="361315"/>
          </a:xfrm>
          <a:prstGeom prst="rect">
            <a:avLst/>
          </a:prstGeom>
        </p:spPr>
        <p:txBody>
          <a:bodyPr vert="horz" wrap="square" lIns="0" tIns="12700" rIns="0" bIns="0" rtlCol="0">
            <a:spAutoFit/>
          </a:bodyPr>
          <a:lstStyle/>
          <a:p>
            <a:pPr marL="12700" marR="5080">
              <a:lnSpc>
                <a:spcPct val="100000"/>
              </a:lnSpc>
              <a:spcBef>
                <a:spcPts val="100"/>
              </a:spcBef>
            </a:pPr>
            <a:r>
              <a:rPr sz="1100" dirty="0">
                <a:latin typeface="Arial"/>
                <a:cs typeface="Arial"/>
              </a:rPr>
              <a:t>After </a:t>
            </a:r>
            <a:r>
              <a:rPr sz="1100" spc="-5" dirty="0">
                <a:latin typeface="Arial"/>
                <a:cs typeface="Arial"/>
              </a:rPr>
              <a:t>sales support </a:t>
            </a:r>
            <a:r>
              <a:rPr sz="1100" dirty="0">
                <a:latin typeface="Arial"/>
                <a:cs typeface="Arial"/>
              </a:rPr>
              <a:t>for </a:t>
            </a:r>
            <a:r>
              <a:rPr sz="1100" b="1" dirty="0">
                <a:latin typeface="Arial"/>
                <a:cs typeface="Arial"/>
              </a:rPr>
              <a:t>claims </a:t>
            </a:r>
            <a:r>
              <a:rPr sz="1100" b="1" spc="-5" dirty="0">
                <a:latin typeface="Arial"/>
                <a:cs typeface="Arial"/>
              </a:rPr>
              <a:t>management </a:t>
            </a:r>
            <a:r>
              <a:rPr sz="1100" spc="-5" dirty="0">
                <a:latin typeface="Arial"/>
                <a:cs typeface="Arial"/>
              </a:rPr>
              <a:t>(B2C and B2B), potentially  supported by digital portals and </a:t>
            </a:r>
            <a:r>
              <a:rPr sz="1100" dirty="0">
                <a:latin typeface="Arial"/>
                <a:cs typeface="Arial"/>
              </a:rPr>
              <a:t>self-service </a:t>
            </a:r>
            <a:r>
              <a:rPr sz="1100" spc="-5" dirty="0">
                <a:latin typeface="Arial"/>
                <a:cs typeface="Arial"/>
              </a:rPr>
              <a:t>tools</a:t>
            </a:r>
            <a:r>
              <a:rPr sz="1100" spc="-95" dirty="0">
                <a:latin typeface="Arial"/>
                <a:cs typeface="Arial"/>
              </a:rPr>
              <a:t> </a:t>
            </a:r>
            <a:r>
              <a:rPr sz="1100" spc="-5" dirty="0">
                <a:latin typeface="Arial"/>
                <a:cs typeface="Arial"/>
              </a:rPr>
              <a:t>(B2B)</a:t>
            </a:r>
            <a:endParaRPr sz="1100">
              <a:latin typeface="Arial"/>
              <a:cs typeface="Arial"/>
            </a:endParaRPr>
          </a:p>
        </p:txBody>
      </p:sp>
      <p:sp>
        <p:nvSpPr>
          <p:cNvPr id="64" name="object 64"/>
          <p:cNvSpPr txBox="1"/>
          <p:nvPr/>
        </p:nvSpPr>
        <p:spPr>
          <a:xfrm>
            <a:off x="10555858" y="4503737"/>
            <a:ext cx="1035050" cy="154305"/>
          </a:xfrm>
          <a:prstGeom prst="rect">
            <a:avLst/>
          </a:prstGeom>
          <a:solidFill>
            <a:srgbClr val="FFFFFF"/>
          </a:solidFill>
          <a:ln w="9525">
            <a:solidFill>
              <a:srgbClr val="051F79"/>
            </a:solidFill>
          </a:ln>
        </p:spPr>
        <p:txBody>
          <a:bodyPr vert="horz" wrap="square" lIns="0" tIns="0" rIns="0" bIns="0" rtlCol="0">
            <a:spAutoFit/>
          </a:bodyPr>
          <a:lstStyle/>
          <a:p>
            <a:pPr marL="65405">
              <a:lnSpc>
                <a:spcPts val="1185"/>
              </a:lnSpc>
            </a:pPr>
            <a:r>
              <a:rPr sz="1000" spc="-5" dirty="0">
                <a:latin typeface="Arial"/>
                <a:cs typeface="Arial"/>
              </a:rPr>
              <a:t>Preferred</a:t>
            </a:r>
            <a:r>
              <a:rPr sz="1000" spc="-40" dirty="0">
                <a:latin typeface="Arial"/>
                <a:cs typeface="Arial"/>
              </a:rPr>
              <a:t> </a:t>
            </a:r>
            <a:r>
              <a:rPr sz="1000" spc="-10" dirty="0">
                <a:latin typeface="Arial"/>
                <a:cs typeface="Arial"/>
              </a:rPr>
              <a:t>option</a:t>
            </a:r>
            <a:endParaRPr sz="1000">
              <a:latin typeface="Arial"/>
              <a:cs typeface="Arial"/>
            </a:endParaRPr>
          </a:p>
        </p:txBody>
      </p:sp>
      <p:sp>
        <p:nvSpPr>
          <p:cNvPr id="65" name="object 65"/>
          <p:cNvSpPr/>
          <p:nvPr/>
        </p:nvSpPr>
        <p:spPr>
          <a:xfrm>
            <a:off x="4283328" y="4264025"/>
            <a:ext cx="7353934" cy="0"/>
          </a:xfrm>
          <a:custGeom>
            <a:avLst/>
            <a:gdLst/>
            <a:ahLst/>
            <a:cxnLst/>
            <a:rect l="l" t="t" r="r" b="b"/>
            <a:pathLst>
              <a:path w="7353934">
                <a:moveTo>
                  <a:pt x="0" y="0"/>
                </a:moveTo>
                <a:lnTo>
                  <a:pt x="7353935" y="0"/>
                </a:lnTo>
              </a:path>
            </a:pathLst>
          </a:custGeom>
          <a:ln w="6350">
            <a:solidFill>
              <a:srgbClr val="757575"/>
            </a:solidFill>
          </a:ln>
        </p:spPr>
        <p:txBody>
          <a:bodyPr wrap="square" lIns="0" tIns="0" rIns="0" bIns="0" rtlCol="0"/>
          <a:lstStyle/>
          <a:p>
            <a:endParaRPr/>
          </a:p>
        </p:txBody>
      </p:sp>
      <p:sp>
        <p:nvSpPr>
          <p:cNvPr id="66" name="object 66"/>
          <p:cNvSpPr/>
          <p:nvPr/>
        </p:nvSpPr>
        <p:spPr>
          <a:xfrm>
            <a:off x="5576189" y="2373376"/>
            <a:ext cx="6061075" cy="0"/>
          </a:xfrm>
          <a:custGeom>
            <a:avLst/>
            <a:gdLst/>
            <a:ahLst/>
            <a:cxnLst/>
            <a:rect l="l" t="t" r="r" b="b"/>
            <a:pathLst>
              <a:path w="6061075">
                <a:moveTo>
                  <a:pt x="0" y="0"/>
                </a:moveTo>
                <a:lnTo>
                  <a:pt x="6061075" y="0"/>
                </a:lnTo>
              </a:path>
            </a:pathLst>
          </a:custGeom>
          <a:ln w="6350">
            <a:solidFill>
              <a:srgbClr val="757575"/>
            </a:solidFill>
          </a:ln>
        </p:spPr>
        <p:txBody>
          <a:bodyPr wrap="square" lIns="0" tIns="0" rIns="0" bIns="0" rtlCol="0"/>
          <a:lstStyle/>
          <a:p>
            <a:endParaRPr/>
          </a:p>
        </p:txBody>
      </p:sp>
      <p:sp>
        <p:nvSpPr>
          <p:cNvPr id="67" name="object 67"/>
          <p:cNvSpPr/>
          <p:nvPr/>
        </p:nvSpPr>
        <p:spPr>
          <a:xfrm>
            <a:off x="5576189" y="2802001"/>
            <a:ext cx="6061075" cy="0"/>
          </a:xfrm>
          <a:custGeom>
            <a:avLst/>
            <a:gdLst/>
            <a:ahLst/>
            <a:cxnLst/>
            <a:rect l="l" t="t" r="r" b="b"/>
            <a:pathLst>
              <a:path w="6061075">
                <a:moveTo>
                  <a:pt x="0" y="0"/>
                </a:moveTo>
                <a:lnTo>
                  <a:pt x="6061075" y="0"/>
                </a:lnTo>
              </a:path>
            </a:pathLst>
          </a:custGeom>
          <a:ln w="6350">
            <a:solidFill>
              <a:srgbClr val="757575"/>
            </a:solidFill>
          </a:ln>
        </p:spPr>
        <p:txBody>
          <a:bodyPr wrap="square" lIns="0" tIns="0" rIns="0" bIns="0" rtlCol="0"/>
          <a:lstStyle/>
          <a:p>
            <a:endParaRPr/>
          </a:p>
        </p:txBody>
      </p:sp>
      <p:sp>
        <p:nvSpPr>
          <p:cNvPr id="68" name="object 68"/>
          <p:cNvSpPr/>
          <p:nvPr/>
        </p:nvSpPr>
        <p:spPr>
          <a:xfrm>
            <a:off x="5576189" y="5119623"/>
            <a:ext cx="6061075" cy="635"/>
          </a:xfrm>
          <a:custGeom>
            <a:avLst/>
            <a:gdLst/>
            <a:ahLst/>
            <a:cxnLst/>
            <a:rect l="l" t="t" r="r" b="b"/>
            <a:pathLst>
              <a:path w="6061075" h="635">
                <a:moveTo>
                  <a:pt x="0" y="0"/>
                </a:moveTo>
                <a:lnTo>
                  <a:pt x="6061075" y="126"/>
                </a:lnTo>
              </a:path>
            </a:pathLst>
          </a:custGeom>
          <a:ln w="6350">
            <a:solidFill>
              <a:srgbClr val="757575"/>
            </a:solidFill>
          </a:ln>
        </p:spPr>
        <p:txBody>
          <a:bodyPr wrap="square" lIns="0" tIns="0" rIns="0" bIns="0" rtlCol="0"/>
          <a:lstStyle/>
          <a:p>
            <a:endParaRPr/>
          </a:p>
        </p:txBody>
      </p:sp>
      <p:sp>
        <p:nvSpPr>
          <p:cNvPr id="69" name="object 69"/>
          <p:cNvSpPr/>
          <p:nvPr/>
        </p:nvSpPr>
        <p:spPr>
          <a:xfrm>
            <a:off x="5576189" y="5548376"/>
            <a:ext cx="6061075" cy="0"/>
          </a:xfrm>
          <a:custGeom>
            <a:avLst/>
            <a:gdLst/>
            <a:ahLst/>
            <a:cxnLst/>
            <a:rect l="l" t="t" r="r" b="b"/>
            <a:pathLst>
              <a:path w="6061075">
                <a:moveTo>
                  <a:pt x="0" y="0"/>
                </a:moveTo>
                <a:lnTo>
                  <a:pt x="6061075" y="0"/>
                </a:lnTo>
              </a:path>
            </a:pathLst>
          </a:custGeom>
          <a:ln w="6350">
            <a:solidFill>
              <a:srgbClr val="757575"/>
            </a:solidFill>
          </a:ln>
        </p:spPr>
        <p:txBody>
          <a:bodyPr wrap="square" lIns="0" tIns="0" rIns="0" bIns="0" rtlCol="0"/>
          <a:lstStyle/>
          <a:p>
            <a:endParaRPr/>
          </a:p>
        </p:txBody>
      </p:sp>
      <p:sp>
        <p:nvSpPr>
          <p:cNvPr id="70" name="object 70"/>
          <p:cNvSpPr/>
          <p:nvPr/>
        </p:nvSpPr>
        <p:spPr>
          <a:xfrm>
            <a:off x="5576189" y="4692650"/>
            <a:ext cx="6061075" cy="0"/>
          </a:xfrm>
          <a:custGeom>
            <a:avLst/>
            <a:gdLst/>
            <a:ahLst/>
            <a:cxnLst/>
            <a:rect l="l" t="t" r="r" b="b"/>
            <a:pathLst>
              <a:path w="6061075">
                <a:moveTo>
                  <a:pt x="0" y="0"/>
                </a:moveTo>
                <a:lnTo>
                  <a:pt x="6061075" y="0"/>
                </a:lnTo>
              </a:path>
            </a:pathLst>
          </a:custGeom>
          <a:ln w="6350">
            <a:solidFill>
              <a:srgbClr val="757575"/>
            </a:solidFill>
          </a:ln>
        </p:spPr>
        <p:txBody>
          <a:bodyPr wrap="square" lIns="0" tIns="0" rIns="0" bIns="0" rtlCol="0"/>
          <a:lstStyle/>
          <a:p>
            <a:endParaRPr/>
          </a:p>
        </p:txBody>
      </p:sp>
      <p:sp>
        <p:nvSpPr>
          <p:cNvPr id="71" name="object 71"/>
          <p:cNvSpPr/>
          <p:nvPr/>
        </p:nvSpPr>
        <p:spPr>
          <a:xfrm>
            <a:off x="4283328" y="3230626"/>
            <a:ext cx="7353934" cy="0"/>
          </a:xfrm>
          <a:custGeom>
            <a:avLst/>
            <a:gdLst/>
            <a:ahLst/>
            <a:cxnLst/>
            <a:rect l="l" t="t" r="r" b="b"/>
            <a:pathLst>
              <a:path w="7353934">
                <a:moveTo>
                  <a:pt x="0" y="0"/>
                </a:moveTo>
                <a:lnTo>
                  <a:pt x="7353935" y="0"/>
                </a:lnTo>
              </a:path>
            </a:pathLst>
          </a:custGeom>
          <a:ln w="6350">
            <a:solidFill>
              <a:srgbClr val="757575"/>
            </a:solidFill>
          </a:ln>
        </p:spPr>
        <p:txBody>
          <a:bodyPr wrap="square" lIns="0" tIns="0" rIns="0" bIns="0" rtlCol="0"/>
          <a:lstStyle/>
          <a:p>
            <a:endParaRPr/>
          </a:p>
        </p:txBody>
      </p:sp>
      <p:sp>
        <p:nvSpPr>
          <p:cNvPr id="72" name="object 72"/>
          <p:cNvSpPr/>
          <p:nvPr/>
        </p:nvSpPr>
        <p:spPr>
          <a:xfrm>
            <a:off x="4283328" y="5976937"/>
            <a:ext cx="7353934" cy="0"/>
          </a:xfrm>
          <a:custGeom>
            <a:avLst/>
            <a:gdLst/>
            <a:ahLst/>
            <a:cxnLst/>
            <a:rect l="l" t="t" r="r" b="b"/>
            <a:pathLst>
              <a:path w="7353934">
                <a:moveTo>
                  <a:pt x="0" y="0"/>
                </a:moveTo>
                <a:lnTo>
                  <a:pt x="7353935" y="0"/>
                </a:lnTo>
              </a:path>
            </a:pathLst>
          </a:custGeom>
          <a:ln w="6350">
            <a:solidFill>
              <a:srgbClr val="757575"/>
            </a:solidFill>
          </a:ln>
        </p:spPr>
        <p:txBody>
          <a:bodyPr wrap="square" lIns="0" tIns="0" rIns="0" bIns="0" rtlCol="0"/>
          <a:lstStyle/>
          <a:p>
            <a:endParaRPr/>
          </a:p>
        </p:txBody>
      </p:sp>
      <p:sp>
        <p:nvSpPr>
          <p:cNvPr id="73" name="object 73"/>
          <p:cNvSpPr/>
          <p:nvPr/>
        </p:nvSpPr>
        <p:spPr>
          <a:xfrm>
            <a:off x="5576189" y="3827526"/>
            <a:ext cx="6061075" cy="0"/>
          </a:xfrm>
          <a:custGeom>
            <a:avLst/>
            <a:gdLst/>
            <a:ahLst/>
            <a:cxnLst/>
            <a:rect l="l" t="t" r="r" b="b"/>
            <a:pathLst>
              <a:path w="6061075">
                <a:moveTo>
                  <a:pt x="0" y="0"/>
                </a:moveTo>
                <a:lnTo>
                  <a:pt x="6061075" y="0"/>
                </a:lnTo>
              </a:path>
            </a:pathLst>
          </a:custGeom>
          <a:ln w="6350">
            <a:solidFill>
              <a:srgbClr val="757575"/>
            </a:solidFill>
          </a:ln>
        </p:spPr>
        <p:txBody>
          <a:bodyPr wrap="square" lIns="0" tIns="0" rIns="0" bIns="0" rtlCol="0"/>
          <a:lstStyle/>
          <a:p>
            <a:endParaRPr/>
          </a:p>
        </p:txBody>
      </p:sp>
      <p:sp>
        <p:nvSpPr>
          <p:cNvPr id="74" name="object 74"/>
          <p:cNvSpPr/>
          <p:nvPr/>
        </p:nvSpPr>
        <p:spPr>
          <a:xfrm>
            <a:off x="5347080" y="0"/>
            <a:ext cx="1497965" cy="208915"/>
          </a:xfrm>
          <a:custGeom>
            <a:avLst/>
            <a:gdLst/>
            <a:ahLst/>
            <a:cxnLst/>
            <a:rect l="l" t="t" r="r" b="b"/>
            <a:pathLst>
              <a:path w="1497965" h="208915">
                <a:moveTo>
                  <a:pt x="0" y="208788"/>
                </a:moveTo>
                <a:lnTo>
                  <a:pt x="1497711" y="208788"/>
                </a:lnTo>
                <a:lnTo>
                  <a:pt x="1497711" y="0"/>
                </a:lnTo>
                <a:lnTo>
                  <a:pt x="0" y="0"/>
                </a:lnTo>
                <a:lnTo>
                  <a:pt x="0" y="208788"/>
                </a:lnTo>
                <a:close/>
              </a:path>
            </a:pathLst>
          </a:custGeom>
          <a:solidFill>
            <a:srgbClr val="BEBEBE"/>
          </a:solidFill>
        </p:spPr>
        <p:txBody>
          <a:bodyPr wrap="square" lIns="0" tIns="0" rIns="0" bIns="0" rtlCol="0"/>
          <a:lstStyle/>
          <a:p>
            <a:endParaRPr/>
          </a:p>
        </p:txBody>
      </p:sp>
      <p:sp>
        <p:nvSpPr>
          <p:cNvPr id="75" name="object 75"/>
          <p:cNvSpPr txBox="1"/>
          <p:nvPr/>
        </p:nvSpPr>
        <p:spPr>
          <a:xfrm>
            <a:off x="5786373" y="0"/>
            <a:ext cx="619125" cy="208279"/>
          </a:xfrm>
          <a:prstGeom prst="rect">
            <a:avLst/>
          </a:prstGeom>
        </p:spPr>
        <p:txBody>
          <a:bodyPr vert="horz" wrap="square" lIns="0" tIns="12700" rIns="0" bIns="0" rtlCol="0">
            <a:spAutoFit/>
          </a:bodyPr>
          <a:lstStyle/>
          <a:p>
            <a:pPr marL="12700">
              <a:lnSpc>
                <a:spcPct val="100000"/>
              </a:lnSpc>
              <a:spcBef>
                <a:spcPts val="100"/>
              </a:spcBef>
            </a:pPr>
            <a:r>
              <a:rPr sz="1200" i="1" spc="-5" dirty="0">
                <a:solidFill>
                  <a:srgbClr val="FFFFFF"/>
                </a:solidFill>
                <a:latin typeface="Arial"/>
                <a:cs typeface="Arial"/>
              </a:rPr>
              <a:t>Pre-read</a:t>
            </a:r>
            <a:endParaRPr sz="1200">
              <a:latin typeface="Arial"/>
              <a:cs typeface="Arial"/>
            </a:endParaRPr>
          </a:p>
        </p:txBody>
      </p:sp>
      <p:sp>
        <p:nvSpPr>
          <p:cNvPr id="76" name="object 76"/>
          <p:cNvSpPr txBox="1"/>
          <p:nvPr/>
        </p:nvSpPr>
        <p:spPr>
          <a:xfrm>
            <a:off x="10134981" y="6497072"/>
            <a:ext cx="1151255" cy="153670"/>
          </a:xfrm>
          <a:prstGeom prst="rect">
            <a:avLst/>
          </a:prstGeom>
        </p:spPr>
        <p:txBody>
          <a:bodyPr vert="horz" wrap="square" lIns="0" tIns="1905" rIns="0" bIns="0" rtlCol="0">
            <a:spAutoFit/>
          </a:bodyPr>
          <a:lstStyle/>
          <a:p>
            <a:pPr marL="12700">
              <a:lnSpc>
                <a:spcPct val="100000"/>
              </a:lnSpc>
              <a:spcBef>
                <a:spcPts val="15"/>
              </a:spcBef>
            </a:pPr>
            <a:r>
              <a:rPr sz="900" spc="-5" dirty="0">
                <a:latin typeface="Arial"/>
                <a:cs typeface="Arial"/>
              </a:rPr>
              <a:t>McKinsey </a:t>
            </a:r>
            <a:r>
              <a:rPr sz="900" dirty="0">
                <a:latin typeface="Arial"/>
                <a:cs typeface="Arial"/>
              </a:rPr>
              <a:t>&amp;</a:t>
            </a:r>
            <a:r>
              <a:rPr sz="900" spc="-40" dirty="0">
                <a:latin typeface="Arial"/>
                <a:cs typeface="Arial"/>
              </a:rPr>
              <a:t> </a:t>
            </a:r>
            <a:r>
              <a:rPr sz="900" spc="-5" dirty="0">
                <a:latin typeface="Arial"/>
                <a:cs typeface="Arial"/>
              </a:rPr>
              <a:t>Company</a:t>
            </a:r>
            <a:endParaRPr sz="900">
              <a:latin typeface="Arial"/>
              <a:cs typeface="Arial"/>
            </a:endParaRPr>
          </a:p>
        </p:txBody>
      </p:sp>
      <p:sp>
        <p:nvSpPr>
          <p:cNvPr id="77" name="object 77"/>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dirty="0"/>
              <a:t>21</a:t>
            </a:fld>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830311" y="0"/>
            <a:ext cx="4361815" cy="6858000"/>
          </a:xfrm>
          <a:custGeom>
            <a:avLst/>
            <a:gdLst/>
            <a:ahLst/>
            <a:cxnLst/>
            <a:rect l="l" t="t" r="r" b="b"/>
            <a:pathLst>
              <a:path w="4361815" h="6858000">
                <a:moveTo>
                  <a:pt x="0" y="6858000"/>
                </a:moveTo>
                <a:lnTo>
                  <a:pt x="4361688" y="6858000"/>
                </a:lnTo>
                <a:lnTo>
                  <a:pt x="4361688" y="0"/>
                </a:lnTo>
                <a:lnTo>
                  <a:pt x="0" y="0"/>
                </a:lnTo>
                <a:lnTo>
                  <a:pt x="0" y="6858000"/>
                </a:lnTo>
                <a:close/>
              </a:path>
            </a:pathLst>
          </a:custGeom>
          <a:solidFill>
            <a:srgbClr val="E6E6E6"/>
          </a:solidFill>
        </p:spPr>
        <p:txBody>
          <a:bodyPr wrap="square" lIns="0" tIns="0" rIns="0" bIns="0" rtlCol="0"/>
          <a:lstStyle/>
          <a:p>
            <a:endParaRPr/>
          </a:p>
        </p:txBody>
      </p:sp>
      <p:sp>
        <p:nvSpPr>
          <p:cNvPr id="3" name="object 3"/>
          <p:cNvSpPr txBox="1">
            <a:spLocks noGrp="1"/>
          </p:cNvSpPr>
          <p:nvPr>
            <p:ph type="title"/>
          </p:nvPr>
        </p:nvSpPr>
        <p:spPr>
          <a:xfrm>
            <a:off x="542036" y="156210"/>
            <a:ext cx="10300970" cy="406400"/>
          </a:xfrm>
          <a:prstGeom prst="rect">
            <a:avLst/>
          </a:prstGeom>
        </p:spPr>
        <p:txBody>
          <a:bodyPr vert="horz" wrap="square" lIns="0" tIns="12065" rIns="0" bIns="0" rtlCol="0">
            <a:spAutoFit/>
          </a:bodyPr>
          <a:lstStyle/>
          <a:p>
            <a:pPr marL="12700">
              <a:lnSpc>
                <a:spcPct val="100000"/>
              </a:lnSpc>
              <a:spcBef>
                <a:spcPts val="95"/>
              </a:spcBef>
            </a:pPr>
            <a:r>
              <a:rPr spc="-5" dirty="0"/>
              <a:t>| Unlocking repossession value </a:t>
            </a:r>
            <a:r>
              <a:rPr spc="-10" dirty="0"/>
              <a:t>through fast recovery,</a:t>
            </a:r>
            <a:r>
              <a:rPr spc="130" dirty="0"/>
              <a:t> </a:t>
            </a:r>
            <a:r>
              <a:rPr spc="-5" dirty="0"/>
              <a:t>strong</a:t>
            </a:r>
          </a:p>
        </p:txBody>
      </p:sp>
      <p:sp>
        <p:nvSpPr>
          <p:cNvPr id="4" name="object 4"/>
          <p:cNvSpPr txBox="1"/>
          <p:nvPr/>
        </p:nvSpPr>
        <p:spPr>
          <a:xfrm>
            <a:off x="542036" y="511302"/>
            <a:ext cx="6910070" cy="406400"/>
          </a:xfrm>
          <a:prstGeom prst="rect">
            <a:avLst/>
          </a:prstGeom>
        </p:spPr>
        <p:txBody>
          <a:bodyPr vert="horz" wrap="square" lIns="0" tIns="12065" rIns="0" bIns="0" rtlCol="0">
            <a:spAutoFit/>
          </a:bodyPr>
          <a:lstStyle/>
          <a:p>
            <a:pPr marL="12700">
              <a:lnSpc>
                <a:spcPct val="100000"/>
              </a:lnSpc>
              <a:spcBef>
                <a:spcPts val="95"/>
              </a:spcBef>
            </a:pPr>
            <a:r>
              <a:rPr sz="2500" b="1" spc="-5" dirty="0">
                <a:latin typeface="Georgia"/>
                <a:cs typeface="Georgia"/>
              </a:rPr>
              <a:t>partnerships, and diversified</a:t>
            </a:r>
            <a:r>
              <a:rPr sz="2500" b="1" spc="50" dirty="0">
                <a:latin typeface="Georgia"/>
                <a:cs typeface="Georgia"/>
              </a:rPr>
              <a:t> </a:t>
            </a:r>
            <a:r>
              <a:rPr sz="2500" b="1" spc="-5" dirty="0">
                <a:latin typeface="Georgia"/>
                <a:cs typeface="Georgia"/>
              </a:rPr>
              <a:t>remarketing</a:t>
            </a:r>
            <a:endParaRPr sz="2500" dirty="0">
              <a:latin typeface="Georgia"/>
              <a:cs typeface="Georgia"/>
            </a:endParaRPr>
          </a:p>
        </p:txBody>
      </p:sp>
      <p:sp>
        <p:nvSpPr>
          <p:cNvPr id="5" name="object 5"/>
          <p:cNvSpPr txBox="1"/>
          <p:nvPr/>
        </p:nvSpPr>
        <p:spPr>
          <a:xfrm>
            <a:off x="558800" y="1347342"/>
            <a:ext cx="1760220" cy="513080"/>
          </a:xfrm>
          <a:prstGeom prst="rect">
            <a:avLst/>
          </a:prstGeom>
        </p:spPr>
        <p:txBody>
          <a:bodyPr vert="horz" wrap="square" lIns="0" tIns="12065" rIns="0" bIns="0" rtlCol="0">
            <a:spAutoFit/>
          </a:bodyPr>
          <a:lstStyle/>
          <a:p>
            <a:pPr marL="12700" marR="5080">
              <a:lnSpc>
                <a:spcPct val="100000"/>
              </a:lnSpc>
              <a:spcBef>
                <a:spcPts val="95"/>
              </a:spcBef>
            </a:pPr>
            <a:r>
              <a:rPr sz="1600" b="1" spc="-10" dirty="0">
                <a:latin typeface="Arial"/>
                <a:cs typeface="Arial"/>
              </a:rPr>
              <a:t>Key repossession  success</a:t>
            </a:r>
            <a:r>
              <a:rPr sz="1600" b="1" spc="-25" dirty="0">
                <a:latin typeface="Arial"/>
                <a:cs typeface="Arial"/>
              </a:rPr>
              <a:t> </a:t>
            </a:r>
            <a:r>
              <a:rPr sz="1600" b="1" spc="-5" dirty="0">
                <a:latin typeface="Arial"/>
                <a:cs typeface="Arial"/>
              </a:rPr>
              <a:t>factors</a:t>
            </a:r>
            <a:endParaRPr sz="1600">
              <a:latin typeface="Arial"/>
              <a:cs typeface="Arial"/>
            </a:endParaRPr>
          </a:p>
        </p:txBody>
      </p:sp>
      <p:sp>
        <p:nvSpPr>
          <p:cNvPr id="6" name="object 6"/>
          <p:cNvSpPr txBox="1"/>
          <p:nvPr/>
        </p:nvSpPr>
        <p:spPr>
          <a:xfrm>
            <a:off x="1125727" y="1976119"/>
            <a:ext cx="1229360" cy="513080"/>
          </a:xfrm>
          <a:prstGeom prst="rect">
            <a:avLst/>
          </a:prstGeom>
        </p:spPr>
        <p:txBody>
          <a:bodyPr vert="horz" wrap="square" lIns="0" tIns="12065" rIns="0" bIns="0" rtlCol="0">
            <a:spAutoFit/>
          </a:bodyPr>
          <a:lstStyle/>
          <a:p>
            <a:pPr marL="12700" marR="5080">
              <a:lnSpc>
                <a:spcPct val="100000"/>
              </a:lnSpc>
              <a:spcBef>
                <a:spcPts val="95"/>
              </a:spcBef>
            </a:pPr>
            <a:r>
              <a:rPr sz="1600" b="1" spc="-15" dirty="0">
                <a:latin typeface="Arial"/>
                <a:cs typeface="Arial"/>
              </a:rPr>
              <a:t>Accelerated  </a:t>
            </a:r>
            <a:r>
              <a:rPr sz="1600" b="1" spc="-10" dirty="0">
                <a:latin typeface="Arial"/>
                <a:cs typeface="Arial"/>
              </a:rPr>
              <a:t>car</a:t>
            </a:r>
            <a:r>
              <a:rPr sz="1600" b="1" spc="-70" dirty="0">
                <a:latin typeface="Arial"/>
                <a:cs typeface="Arial"/>
              </a:rPr>
              <a:t> </a:t>
            </a:r>
            <a:r>
              <a:rPr sz="1600" b="1" spc="-10" dirty="0">
                <a:latin typeface="Arial"/>
                <a:cs typeface="Arial"/>
              </a:rPr>
              <a:t>recovery</a:t>
            </a:r>
            <a:endParaRPr sz="1600">
              <a:latin typeface="Arial"/>
              <a:cs typeface="Arial"/>
            </a:endParaRPr>
          </a:p>
        </p:txBody>
      </p:sp>
      <p:sp>
        <p:nvSpPr>
          <p:cNvPr id="7" name="object 7"/>
          <p:cNvSpPr txBox="1"/>
          <p:nvPr/>
        </p:nvSpPr>
        <p:spPr>
          <a:xfrm>
            <a:off x="1125727" y="3631438"/>
            <a:ext cx="1054100" cy="1000760"/>
          </a:xfrm>
          <a:prstGeom prst="rect">
            <a:avLst/>
          </a:prstGeom>
        </p:spPr>
        <p:txBody>
          <a:bodyPr vert="horz" wrap="square" lIns="0" tIns="12065" rIns="0" bIns="0" rtlCol="0">
            <a:spAutoFit/>
          </a:bodyPr>
          <a:lstStyle/>
          <a:p>
            <a:pPr marL="12700" marR="5080">
              <a:lnSpc>
                <a:spcPct val="100000"/>
              </a:lnSpc>
              <a:spcBef>
                <a:spcPts val="95"/>
              </a:spcBef>
            </a:pPr>
            <a:r>
              <a:rPr sz="1600" b="1" spc="-5" dirty="0">
                <a:latin typeface="Arial"/>
                <a:cs typeface="Arial"/>
              </a:rPr>
              <a:t>Strategic  </a:t>
            </a:r>
            <a:r>
              <a:rPr sz="1600" b="1" dirty="0">
                <a:latin typeface="Arial"/>
                <a:cs typeface="Arial"/>
              </a:rPr>
              <a:t>network</a:t>
            </a:r>
            <a:r>
              <a:rPr sz="1600" b="1" spc="-85" dirty="0">
                <a:latin typeface="Arial"/>
                <a:cs typeface="Arial"/>
              </a:rPr>
              <a:t> </a:t>
            </a:r>
            <a:r>
              <a:rPr sz="1600" b="1" spc="-5" dirty="0">
                <a:latin typeface="Arial"/>
                <a:cs typeface="Arial"/>
              </a:rPr>
              <a:t>of  preferred  </a:t>
            </a:r>
            <a:r>
              <a:rPr sz="1600" b="1" spc="-10" dirty="0">
                <a:latin typeface="Arial"/>
                <a:cs typeface="Arial"/>
              </a:rPr>
              <a:t>partners</a:t>
            </a:r>
            <a:endParaRPr sz="1600">
              <a:latin typeface="Arial"/>
              <a:cs typeface="Arial"/>
            </a:endParaRPr>
          </a:p>
        </p:txBody>
      </p:sp>
      <p:sp>
        <p:nvSpPr>
          <p:cNvPr id="8" name="object 8"/>
          <p:cNvSpPr txBox="1"/>
          <p:nvPr/>
        </p:nvSpPr>
        <p:spPr>
          <a:xfrm>
            <a:off x="1125727" y="5035041"/>
            <a:ext cx="1186180" cy="756920"/>
          </a:xfrm>
          <a:prstGeom prst="rect">
            <a:avLst/>
          </a:prstGeom>
        </p:spPr>
        <p:txBody>
          <a:bodyPr vert="horz" wrap="square" lIns="0" tIns="12065" rIns="0" bIns="0" rtlCol="0">
            <a:spAutoFit/>
          </a:bodyPr>
          <a:lstStyle/>
          <a:p>
            <a:pPr marL="12700" marR="5080">
              <a:lnSpc>
                <a:spcPct val="100000"/>
              </a:lnSpc>
              <a:spcBef>
                <a:spcPts val="95"/>
              </a:spcBef>
            </a:pPr>
            <a:r>
              <a:rPr sz="1600" b="1" spc="-10" dirty="0">
                <a:latin typeface="Arial"/>
                <a:cs typeface="Arial"/>
              </a:rPr>
              <a:t>Diversified  remarke</a:t>
            </a:r>
            <a:r>
              <a:rPr sz="1600" b="1" spc="-15" dirty="0">
                <a:latin typeface="Arial"/>
                <a:cs typeface="Arial"/>
              </a:rPr>
              <a:t>t</a:t>
            </a:r>
            <a:r>
              <a:rPr sz="1600" b="1" spc="-5" dirty="0">
                <a:latin typeface="Arial"/>
                <a:cs typeface="Arial"/>
              </a:rPr>
              <a:t>i</a:t>
            </a:r>
            <a:r>
              <a:rPr sz="1600" b="1" spc="-10" dirty="0">
                <a:latin typeface="Arial"/>
                <a:cs typeface="Arial"/>
              </a:rPr>
              <a:t>n</a:t>
            </a:r>
            <a:r>
              <a:rPr sz="1600" b="1" spc="-5" dirty="0">
                <a:latin typeface="Arial"/>
                <a:cs typeface="Arial"/>
              </a:rPr>
              <a:t>g  </a:t>
            </a:r>
            <a:r>
              <a:rPr sz="1600" b="1" spc="-10" dirty="0">
                <a:latin typeface="Arial"/>
                <a:cs typeface="Arial"/>
              </a:rPr>
              <a:t>strategy</a:t>
            </a:r>
            <a:endParaRPr sz="1600">
              <a:latin typeface="Arial"/>
              <a:cs typeface="Arial"/>
            </a:endParaRPr>
          </a:p>
        </p:txBody>
      </p:sp>
      <p:sp>
        <p:nvSpPr>
          <p:cNvPr id="9" name="object 9"/>
          <p:cNvSpPr/>
          <p:nvPr/>
        </p:nvSpPr>
        <p:spPr>
          <a:xfrm>
            <a:off x="609498" y="1929510"/>
            <a:ext cx="6236970" cy="0"/>
          </a:xfrm>
          <a:custGeom>
            <a:avLst/>
            <a:gdLst/>
            <a:ahLst/>
            <a:cxnLst/>
            <a:rect l="l" t="t" r="r" b="b"/>
            <a:pathLst>
              <a:path w="6236970">
                <a:moveTo>
                  <a:pt x="0" y="0"/>
                </a:moveTo>
                <a:lnTo>
                  <a:pt x="6236817" y="0"/>
                </a:lnTo>
              </a:path>
            </a:pathLst>
          </a:custGeom>
          <a:ln w="12700">
            <a:solidFill>
              <a:srgbClr val="7E7E7E"/>
            </a:solidFill>
          </a:ln>
        </p:spPr>
        <p:txBody>
          <a:bodyPr wrap="square" lIns="0" tIns="0" rIns="0" bIns="0" rtlCol="0"/>
          <a:lstStyle/>
          <a:p>
            <a:endParaRPr/>
          </a:p>
        </p:txBody>
      </p:sp>
      <p:sp>
        <p:nvSpPr>
          <p:cNvPr id="10" name="object 10"/>
          <p:cNvSpPr/>
          <p:nvPr/>
        </p:nvSpPr>
        <p:spPr>
          <a:xfrm>
            <a:off x="609498" y="3584575"/>
            <a:ext cx="6236970" cy="0"/>
          </a:xfrm>
          <a:custGeom>
            <a:avLst/>
            <a:gdLst/>
            <a:ahLst/>
            <a:cxnLst/>
            <a:rect l="l" t="t" r="r" b="b"/>
            <a:pathLst>
              <a:path w="6236970">
                <a:moveTo>
                  <a:pt x="0" y="0"/>
                </a:moveTo>
                <a:lnTo>
                  <a:pt x="6236817" y="0"/>
                </a:lnTo>
              </a:path>
            </a:pathLst>
          </a:custGeom>
          <a:ln w="6350">
            <a:solidFill>
              <a:srgbClr val="7E7E7E"/>
            </a:solidFill>
          </a:ln>
        </p:spPr>
        <p:txBody>
          <a:bodyPr wrap="square" lIns="0" tIns="0" rIns="0" bIns="0" rtlCol="0"/>
          <a:lstStyle/>
          <a:p>
            <a:endParaRPr/>
          </a:p>
        </p:txBody>
      </p:sp>
      <p:sp>
        <p:nvSpPr>
          <p:cNvPr id="11" name="object 11"/>
          <p:cNvSpPr/>
          <p:nvPr/>
        </p:nvSpPr>
        <p:spPr>
          <a:xfrm>
            <a:off x="609498" y="4987925"/>
            <a:ext cx="6236970" cy="0"/>
          </a:xfrm>
          <a:custGeom>
            <a:avLst/>
            <a:gdLst/>
            <a:ahLst/>
            <a:cxnLst/>
            <a:rect l="l" t="t" r="r" b="b"/>
            <a:pathLst>
              <a:path w="6236970">
                <a:moveTo>
                  <a:pt x="0" y="0"/>
                </a:moveTo>
                <a:lnTo>
                  <a:pt x="6236817" y="0"/>
                </a:lnTo>
              </a:path>
            </a:pathLst>
          </a:custGeom>
          <a:ln w="6350">
            <a:solidFill>
              <a:srgbClr val="7E7E7E"/>
            </a:solidFill>
          </a:ln>
        </p:spPr>
        <p:txBody>
          <a:bodyPr wrap="square" lIns="0" tIns="0" rIns="0" bIns="0" rtlCol="0"/>
          <a:lstStyle/>
          <a:p>
            <a:endParaRPr/>
          </a:p>
        </p:txBody>
      </p:sp>
      <p:sp>
        <p:nvSpPr>
          <p:cNvPr id="12" name="object 12"/>
          <p:cNvSpPr/>
          <p:nvPr/>
        </p:nvSpPr>
        <p:spPr>
          <a:xfrm>
            <a:off x="7655814" y="1764157"/>
            <a:ext cx="360680" cy="360680"/>
          </a:xfrm>
          <a:custGeom>
            <a:avLst/>
            <a:gdLst/>
            <a:ahLst/>
            <a:cxnLst/>
            <a:rect l="l" t="t" r="r" b="b"/>
            <a:pathLst>
              <a:path w="360679" h="360680">
                <a:moveTo>
                  <a:pt x="180085" y="0"/>
                </a:moveTo>
                <a:lnTo>
                  <a:pt x="132218" y="6425"/>
                </a:lnTo>
                <a:lnTo>
                  <a:pt x="89201" y="24562"/>
                </a:lnTo>
                <a:lnTo>
                  <a:pt x="52752" y="52704"/>
                </a:lnTo>
                <a:lnTo>
                  <a:pt x="24590" y="89144"/>
                </a:lnTo>
                <a:lnTo>
                  <a:pt x="6434" y="132174"/>
                </a:lnTo>
                <a:lnTo>
                  <a:pt x="0" y="180085"/>
                </a:lnTo>
                <a:lnTo>
                  <a:pt x="6434" y="227953"/>
                </a:lnTo>
                <a:lnTo>
                  <a:pt x="24590" y="270970"/>
                </a:lnTo>
                <a:lnTo>
                  <a:pt x="52752" y="307419"/>
                </a:lnTo>
                <a:lnTo>
                  <a:pt x="89201" y="335581"/>
                </a:lnTo>
                <a:lnTo>
                  <a:pt x="132218" y="353737"/>
                </a:lnTo>
                <a:lnTo>
                  <a:pt x="180085" y="360171"/>
                </a:lnTo>
                <a:lnTo>
                  <a:pt x="227953" y="353737"/>
                </a:lnTo>
                <a:lnTo>
                  <a:pt x="270970" y="335581"/>
                </a:lnTo>
                <a:lnTo>
                  <a:pt x="307419" y="307419"/>
                </a:lnTo>
                <a:lnTo>
                  <a:pt x="335581" y="270970"/>
                </a:lnTo>
                <a:lnTo>
                  <a:pt x="353737" y="227953"/>
                </a:lnTo>
                <a:lnTo>
                  <a:pt x="360171" y="180085"/>
                </a:lnTo>
                <a:lnTo>
                  <a:pt x="353737" y="132174"/>
                </a:lnTo>
                <a:lnTo>
                  <a:pt x="335581" y="89144"/>
                </a:lnTo>
                <a:lnTo>
                  <a:pt x="307419" y="52704"/>
                </a:lnTo>
                <a:lnTo>
                  <a:pt x="270970" y="24562"/>
                </a:lnTo>
                <a:lnTo>
                  <a:pt x="227953" y="6425"/>
                </a:lnTo>
                <a:lnTo>
                  <a:pt x="180085" y="0"/>
                </a:lnTo>
                <a:close/>
              </a:path>
            </a:pathLst>
          </a:custGeom>
          <a:solidFill>
            <a:srgbClr val="051F79"/>
          </a:solidFill>
        </p:spPr>
        <p:txBody>
          <a:bodyPr wrap="square" lIns="0" tIns="0" rIns="0" bIns="0" rtlCol="0"/>
          <a:lstStyle/>
          <a:p>
            <a:endParaRPr/>
          </a:p>
        </p:txBody>
      </p:sp>
      <p:sp>
        <p:nvSpPr>
          <p:cNvPr id="13" name="object 13"/>
          <p:cNvSpPr/>
          <p:nvPr/>
        </p:nvSpPr>
        <p:spPr>
          <a:xfrm>
            <a:off x="7753966" y="1872975"/>
            <a:ext cx="167902" cy="145878"/>
          </a:xfrm>
          <a:prstGeom prst="rect">
            <a:avLst/>
          </a:prstGeom>
          <a:blipFill>
            <a:blip r:embed="rId2" cstate="print"/>
            <a:stretch>
              <a:fillRect/>
            </a:stretch>
          </a:blipFill>
        </p:spPr>
        <p:txBody>
          <a:bodyPr wrap="square" lIns="0" tIns="0" rIns="0" bIns="0" rtlCol="0"/>
          <a:lstStyle/>
          <a:p>
            <a:endParaRPr/>
          </a:p>
        </p:txBody>
      </p:sp>
      <p:sp>
        <p:nvSpPr>
          <p:cNvPr id="14" name="object 14"/>
          <p:cNvSpPr txBox="1"/>
          <p:nvPr/>
        </p:nvSpPr>
        <p:spPr>
          <a:xfrm>
            <a:off x="8279130" y="1617091"/>
            <a:ext cx="3105785"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Arial"/>
                <a:cs typeface="Arial"/>
              </a:rPr>
              <a:t>KPIs </a:t>
            </a:r>
            <a:r>
              <a:rPr sz="1600" b="1" spc="-5" dirty="0">
                <a:latin typeface="Arial"/>
                <a:cs typeface="Arial"/>
              </a:rPr>
              <a:t>for </a:t>
            </a:r>
            <a:r>
              <a:rPr sz="1600" b="1" spc="-10" dirty="0">
                <a:latin typeface="Arial"/>
                <a:cs typeface="Arial"/>
              </a:rPr>
              <a:t>business case</a:t>
            </a:r>
            <a:r>
              <a:rPr sz="1600" b="1" spc="40" dirty="0">
                <a:latin typeface="Arial"/>
                <a:cs typeface="Arial"/>
              </a:rPr>
              <a:t> </a:t>
            </a:r>
            <a:r>
              <a:rPr sz="1600" b="1" spc="-10" dirty="0">
                <a:latin typeface="Arial"/>
                <a:cs typeface="Arial"/>
              </a:rPr>
              <a:t>success</a:t>
            </a:r>
            <a:endParaRPr sz="1600">
              <a:latin typeface="Arial"/>
              <a:cs typeface="Arial"/>
            </a:endParaRPr>
          </a:p>
        </p:txBody>
      </p:sp>
      <p:sp>
        <p:nvSpPr>
          <p:cNvPr id="15" name="object 15"/>
          <p:cNvSpPr txBox="1"/>
          <p:nvPr/>
        </p:nvSpPr>
        <p:spPr>
          <a:xfrm>
            <a:off x="9603485" y="2512263"/>
            <a:ext cx="2192655" cy="1000760"/>
          </a:xfrm>
          <a:prstGeom prst="rect">
            <a:avLst/>
          </a:prstGeom>
        </p:spPr>
        <p:txBody>
          <a:bodyPr vert="horz" wrap="square" lIns="0" tIns="12065" rIns="0" bIns="0" rtlCol="0">
            <a:spAutoFit/>
          </a:bodyPr>
          <a:lstStyle/>
          <a:p>
            <a:pPr marL="12700" marR="5080">
              <a:lnSpc>
                <a:spcPct val="100000"/>
              </a:lnSpc>
              <a:spcBef>
                <a:spcPts val="95"/>
              </a:spcBef>
            </a:pPr>
            <a:r>
              <a:rPr sz="1600" b="1" spc="-35" dirty="0">
                <a:latin typeface="Arial"/>
                <a:cs typeface="Arial"/>
              </a:rPr>
              <a:t>Avg. </a:t>
            </a:r>
            <a:r>
              <a:rPr sz="1600" b="1" spc="-5" dirty="0">
                <a:latin typeface="Arial"/>
                <a:cs typeface="Arial"/>
              </a:rPr>
              <a:t>time to  </a:t>
            </a:r>
            <a:r>
              <a:rPr sz="1600" b="1" spc="-10" dirty="0">
                <a:latin typeface="Arial"/>
                <a:cs typeface="Arial"/>
              </a:rPr>
              <a:t>repossess car </a:t>
            </a:r>
            <a:r>
              <a:rPr sz="1600" b="1" spc="-5" dirty="0">
                <a:latin typeface="Arial"/>
                <a:cs typeface="Arial"/>
              </a:rPr>
              <a:t>for loan  contracts </a:t>
            </a:r>
            <a:r>
              <a:rPr sz="1600" spc="-5" dirty="0">
                <a:latin typeface="Arial"/>
                <a:cs typeface="Arial"/>
              </a:rPr>
              <a:t>(~3 months  for</a:t>
            </a:r>
            <a:r>
              <a:rPr sz="1600" spc="15" dirty="0">
                <a:latin typeface="Arial"/>
                <a:cs typeface="Arial"/>
              </a:rPr>
              <a:t> </a:t>
            </a:r>
            <a:r>
              <a:rPr sz="1600" spc="-5" dirty="0">
                <a:latin typeface="Arial"/>
                <a:cs typeface="Arial"/>
              </a:rPr>
              <a:t>leasing)</a:t>
            </a:r>
            <a:endParaRPr sz="1600">
              <a:latin typeface="Arial"/>
              <a:cs typeface="Arial"/>
            </a:endParaRPr>
          </a:p>
        </p:txBody>
      </p:sp>
      <p:sp>
        <p:nvSpPr>
          <p:cNvPr id="16" name="object 16"/>
          <p:cNvSpPr txBox="1"/>
          <p:nvPr/>
        </p:nvSpPr>
        <p:spPr>
          <a:xfrm>
            <a:off x="8279130" y="2508250"/>
            <a:ext cx="1026794" cy="635635"/>
          </a:xfrm>
          <a:prstGeom prst="rect">
            <a:avLst/>
          </a:prstGeom>
        </p:spPr>
        <p:txBody>
          <a:bodyPr vert="horz" wrap="square" lIns="0" tIns="13335" rIns="0" bIns="0" rtlCol="0">
            <a:spAutoFit/>
          </a:bodyPr>
          <a:lstStyle/>
          <a:p>
            <a:pPr marL="12700" marR="5080">
              <a:lnSpc>
                <a:spcPct val="100000"/>
              </a:lnSpc>
              <a:spcBef>
                <a:spcPts val="105"/>
              </a:spcBef>
            </a:pPr>
            <a:r>
              <a:rPr sz="2000" b="1" spc="-5" dirty="0">
                <a:solidFill>
                  <a:srgbClr val="2151FF"/>
                </a:solidFill>
                <a:latin typeface="Georgia"/>
                <a:cs typeface="Georgia"/>
              </a:rPr>
              <a:t>~10  </a:t>
            </a:r>
            <a:r>
              <a:rPr sz="2000" b="1" dirty="0">
                <a:solidFill>
                  <a:srgbClr val="2151FF"/>
                </a:solidFill>
                <a:latin typeface="Georgia"/>
                <a:cs typeface="Georgia"/>
              </a:rPr>
              <a:t>months</a:t>
            </a:r>
            <a:endParaRPr sz="2000">
              <a:latin typeface="Georgia"/>
              <a:cs typeface="Georgia"/>
            </a:endParaRPr>
          </a:p>
        </p:txBody>
      </p:sp>
      <p:sp>
        <p:nvSpPr>
          <p:cNvPr id="17" name="object 17"/>
          <p:cNvSpPr txBox="1"/>
          <p:nvPr/>
        </p:nvSpPr>
        <p:spPr>
          <a:xfrm>
            <a:off x="8279130" y="1959356"/>
            <a:ext cx="723265" cy="330835"/>
          </a:xfrm>
          <a:prstGeom prst="rect">
            <a:avLst/>
          </a:prstGeom>
        </p:spPr>
        <p:txBody>
          <a:bodyPr vert="horz" wrap="square" lIns="0" tIns="13335" rIns="0" bIns="0" rtlCol="0">
            <a:spAutoFit/>
          </a:bodyPr>
          <a:lstStyle/>
          <a:p>
            <a:pPr marL="12700">
              <a:lnSpc>
                <a:spcPct val="100000"/>
              </a:lnSpc>
              <a:spcBef>
                <a:spcPts val="105"/>
              </a:spcBef>
            </a:pPr>
            <a:r>
              <a:rPr sz="2000" spc="5" dirty="0">
                <a:solidFill>
                  <a:srgbClr val="2151FF"/>
                </a:solidFill>
                <a:latin typeface="Arial"/>
                <a:cs typeface="Arial"/>
              </a:rPr>
              <a:t>~</a:t>
            </a:r>
            <a:r>
              <a:rPr sz="2000" b="1" spc="-5" dirty="0">
                <a:solidFill>
                  <a:srgbClr val="2151FF"/>
                </a:solidFill>
                <a:latin typeface="Georgia"/>
                <a:cs typeface="Georgia"/>
              </a:rPr>
              <a:t>85%</a:t>
            </a:r>
            <a:endParaRPr sz="2000">
              <a:latin typeface="Georgia"/>
              <a:cs typeface="Georgia"/>
            </a:endParaRPr>
          </a:p>
        </p:txBody>
      </p:sp>
      <p:sp>
        <p:nvSpPr>
          <p:cNvPr id="18" name="object 18"/>
          <p:cNvSpPr txBox="1"/>
          <p:nvPr/>
        </p:nvSpPr>
        <p:spPr>
          <a:xfrm>
            <a:off x="9603485" y="1993137"/>
            <a:ext cx="1789430" cy="269240"/>
          </a:xfrm>
          <a:prstGeom prst="rect">
            <a:avLst/>
          </a:prstGeom>
        </p:spPr>
        <p:txBody>
          <a:bodyPr vert="horz" wrap="square" lIns="0" tIns="12065" rIns="0" bIns="0" rtlCol="0">
            <a:spAutoFit/>
          </a:bodyPr>
          <a:lstStyle/>
          <a:p>
            <a:pPr marL="12700">
              <a:lnSpc>
                <a:spcPct val="100000"/>
              </a:lnSpc>
              <a:spcBef>
                <a:spcPts val="95"/>
              </a:spcBef>
            </a:pPr>
            <a:r>
              <a:rPr sz="1600" b="1" spc="-35" dirty="0">
                <a:latin typeface="Arial"/>
                <a:cs typeface="Arial"/>
              </a:rPr>
              <a:t>Avg. </a:t>
            </a:r>
            <a:r>
              <a:rPr sz="1600" b="1" spc="-10" dirty="0">
                <a:latin typeface="Arial"/>
                <a:cs typeface="Arial"/>
              </a:rPr>
              <a:t>recovery</a:t>
            </a:r>
            <a:r>
              <a:rPr sz="1600" b="1" spc="65" dirty="0">
                <a:latin typeface="Arial"/>
                <a:cs typeface="Arial"/>
              </a:rPr>
              <a:t> </a:t>
            </a:r>
            <a:r>
              <a:rPr sz="1600" b="1" spc="-10" dirty="0">
                <a:latin typeface="Arial"/>
                <a:cs typeface="Arial"/>
              </a:rPr>
              <a:t>rate</a:t>
            </a:r>
            <a:endParaRPr sz="1600">
              <a:latin typeface="Arial"/>
              <a:cs typeface="Arial"/>
            </a:endParaRPr>
          </a:p>
        </p:txBody>
      </p:sp>
      <p:sp>
        <p:nvSpPr>
          <p:cNvPr id="19" name="object 19"/>
          <p:cNvSpPr txBox="1"/>
          <p:nvPr/>
        </p:nvSpPr>
        <p:spPr>
          <a:xfrm>
            <a:off x="9603485" y="3939921"/>
            <a:ext cx="1939925" cy="1244600"/>
          </a:xfrm>
          <a:prstGeom prst="rect">
            <a:avLst/>
          </a:prstGeom>
        </p:spPr>
        <p:txBody>
          <a:bodyPr vert="horz" wrap="square" lIns="0" tIns="12065" rIns="0" bIns="0" rtlCol="0">
            <a:spAutoFit/>
          </a:bodyPr>
          <a:lstStyle/>
          <a:p>
            <a:pPr marL="12700" marR="5080">
              <a:lnSpc>
                <a:spcPct val="100000"/>
              </a:lnSpc>
              <a:spcBef>
                <a:spcPts val="95"/>
              </a:spcBef>
            </a:pPr>
            <a:r>
              <a:rPr sz="1600" b="1" spc="-35" dirty="0">
                <a:latin typeface="Arial"/>
                <a:cs typeface="Arial"/>
              </a:rPr>
              <a:t>Avg. </a:t>
            </a:r>
            <a:r>
              <a:rPr sz="1600" b="1" spc="-5" dirty="0">
                <a:latin typeface="Arial"/>
                <a:cs typeface="Arial"/>
              </a:rPr>
              <a:t>time to </a:t>
            </a:r>
            <a:r>
              <a:rPr sz="1600" b="1" spc="-10" dirty="0">
                <a:latin typeface="Arial"/>
                <a:cs typeface="Arial"/>
              </a:rPr>
              <a:t>sell the  </a:t>
            </a:r>
            <a:r>
              <a:rPr sz="1600" b="1" spc="-5" dirty="0">
                <a:latin typeface="Arial"/>
                <a:cs typeface="Arial"/>
              </a:rPr>
              <a:t>car</a:t>
            </a:r>
            <a:r>
              <a:rPr sz="1600" spc="-5" dirty="0">
                <a:latin typeface="Arial"/>
                <a:cs typeface="Arial"/>
              </a:rPr>
              <a:t>, </a:t>
            </a:r>
            <a:r>
              <a:rPr sz="1600" spc="-10" dirty="0">
                <a:latin typeface="Arial"/>
                <a:cs typeface="Arial"/>
              </a:rPr>
              <a:t>after </a:t>
            </a:r>
            <a:r>
              <a:rPr sz="1600" spc="-5" dirty="0">
                <a:latin typeface="Arial"/>
                <a:cs typeface="Arial"/>
              </a:rPr>
              <a:t>recovery  (considering storage,  inspection </a:t>
            </a:r>
            <a:r>
              <a:rPr sz="1600" spc="-10" dirty="0">
                <a:latin typeface="Arial"/>
                <a:cs typeface="Arial"/>
              </a:rPr>
              <a:t>and  </a:t>
            </a:r>
            <a:r>
              <a:rPr sz="1600" spc="-5" dirty="0">
                <a:latin typeface="Arial"/>
                <a:cs typeface="Arial"/>
              </a:rPr>
              <a:t>remarketing)</a:t>
            </a:r>
            <a:endParaRPr sz="1600">
              <a:latin typeface="Arial"/>
              <a:cs typeface="Arial"/>
            </a:endParaRPr>
          </a:p>
        </p:txBody>
      </p:sp>
      <p:sp>
        <p:nvSpPr>
          <p:cNvPr id="20" name="object 20"/>
          <p:cNvSpPr txBox="1"/>
          <p:nvPr/>
        </p:nvSpPr>
        <p:spPr>
          <a:xfrm>
            <a:off x="8279130" y="3858259"/>
            <a:ext cx="1026794" cy="636270"/>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2151FF"/>
                </a:solidFill>
                <a:latin typeface="Georgia"/>
                <a:cs typeface="Georgia"/>
              </a:rPr>
              <a:t>2-3</a:t>
            </a:r>
            <a:endParaRPr sz="2000">
              <a:latin typeface="Georgia"/>
              <a:cs typeface="Georgia"/>
            </a:endParaRPr>
          </a:p>
          <a:p>
            <a:pPr marL="12700">
              <a:lnSpc>
                <a:spcPct val="100000"/>
              </a:lnSpc>
            </a:pPr>
            <a:r>
              <a:rPr sz="2000" b="1" spc="5" dirty="0">
                <a:solidFill>
                  <a:srgbClr val="2151FF"/>
                </a:solidFill>
                <a:latin typeface="Georgia"/>
                <a:cs typeface="Georgia"/>
              </a:rPr>
              <a:t>mo</a:t>
            </a:r>
            <a:r>
              <a:rPr sz="2000" b="1" spc="-10" dirty="0">
                <a:solidFill>
                  <a:srgbClr val="2151FF"/>
                </a:solidFill>
                <a:latin typeface="Georgia"/>
                <a:cs typeface="Georgia"/>
              </a:rPr>
              <a:t>n</a:t>
            </a:r>
            <a:r>
              <a:rPr sz="2000" b="1" spc="-5" dirty="0">
                <a:solidFill>
                  <a:srgbClr val="2151FF"/>
                </a:solidFill>
                <a:latin typeface="Georgia"/>
                <a:cs typeface="Georgia"/>
              </a:rPr>
              <a:t>ths</a:t>
            </a:r>
            <a:endParaRPr sz="2000">
              <a:latin typeface="Georgia"/>
              <a:cs typeface="Georgia"/>
            </a:endParaRPr>
          </a:p>
        </p:txBody>
      </p:sp>
      <p:sp>
        <p:nvSpPr>
          <p:cNvPr id="21" name="object 21"/>
          <p:cNvSpPr txBox="1"/>
          <p:nvPr/>
        </p:nvSpPr>
        <p:spPr>
          <a:xfrm>
            <a:off x="9603485" y="5432856"/>
            <a:ext cx="1991360" cy="1000760"/>
          </a:xfrm>
          <a:prstGeom prst="rect">
            <a:avLst/>
          </a:prstGeom>
        </p:spPr>
        <p:txBody>
          <a:bodyPr vert="horz" wrap="square" lIns="0" tIns="12065" rIns="0" bIns="0" rtlCol="0">
            <a:spAutoFit/>
          </a:bodyPr>
          <a:lstStyle/>
          <a:p>
            <a:pPr marL="12700" marR="5080">
              <a:lnSpc>
                <a:spcPct val="100000"/>
              </a:lnSpc>
              <a:spcBef>
                <a:spcPts val="95"/>
              </a:spcBef>
            </a:pPr>
            <a:r>
              <a:rPr sz="1600" b="1" spc="-35" dirty="0">
                <a:latin typeface="Arial"/>
                <a:cs typeface="Arial"/>
              </a:rPr>
              <a:t>Avg. </a:t>
            </a:r>
            <a:r>
              <a:rPr sz="1600" b="1" spc="-10" dirty="0">
                <a:latin typeface="Arial"/>
                <a:cs typeface="Arial"/>
              </a:rPr>
              <a:t>remarketing  costs </a:t>
            </a:r>
            <a:r>
              <a:rPr sz="1600" spc="-5" dirty="0">
                <a:latin typeface="Arial"/>
                <a:cs typeface="Arial"/>
              </a:rPr>
              <a:t>(e.g., </a:t>
            </a:r>
            <a:r>
              <a:rPr sz="1600" spc="-10" dirty="0">
                <a:latin typeface="Arial"/>
                <a:cs typeface="Arial"/>
              </a:rPr>
              <a:t>dealer  </a:t>
            </a:r>
            <a:r>
              <a:rPr sz="1600" spc="-5" dirty="0">
                <a:latin typeface="Arial"/>
                <a:cs typeface="Arial"/>
              </a:rPr>
              <a:t>discount) over vehicle  </a:t>
            </a:r>
            <a:r>
              <a:rPr sz="1600" spc="-30" dirty="0">
                <a:latin typeface="Arial"/>
                <a:cs typeface="Arial"/>
              </a:rPr>
              <a:t>RV</a:t>
            </a:r>
            <a:endParaRPr sz="1600">
              <a:latin typeface="Arial"/>
              <a:cs typeface="Arial"/>
            </a:endParaRPr>
          </a:p>
        </p:txBody>
      </p:sp>
      <p:sp>
        <p:nvSpPr>
          <p:cNvPr id="22" name="object 22"/>
          <p:cNvSpPr txBox="1"/>
          <p:nvPr/>
        </p:nvSpPr>
        <p:spPr>
          <a:xfrm>
            <a:off x="8279130" y="5428284"/>
            <a:ext cx="581025" cy="330835"/>
          </a:xfrm>
          <a:prstGeom prst="rect">
            <a:avLst/>
          </a:prstGeom>
        </p:spPr>
        <p:txBody>
          <a:bodyPr vert="horz" wrap="square" lIns="0" tIns="12700" rIns="0" bIns="0" rtlCol="0">
            <a:spAutoFit/>
          </a:bodyPr>
          <a:lstStyle/>
          <a:p>
            <a:pPr marL="12700">
              <a:lnSpc>
                <a:spcPct val="100000"/>
              </a:lnSpc>
              <a:spcBef>
                <a:spcPts val="100"/>
              </a:spcBef>
            </a:pPr>
            <a:r>
              <a:rPr sz="2000" b="1" spc="-5" dirty="0">
                <a:solidFill>
                  <a:srgbClr val="2151FF"/>
                </a:solidFill>
                <a:latin typeface="Georgia"/>
                <a:cs typeface="Georgia"/>
              </a:rPr>
              <a:t>~5%</a:t>
            </a:r>
            <a:endParaRPr sz="2000">
              <a:latin typeface="Georgia"/>
              <a:cs typeface="Georgia"/>
            </a:endParaRPr>
          </a:p>
        </p:txBody>
      </p:sp>
      <p:sp>
        <p:nvSpPr>
          <p:cNvPr id="23" name="object 23"/>
          <p:cNvSpPr txBox="1"/>
          <p:nvPr/>
        </p:nvSpPr>
        <p:spPr>
          <a:xfrm>
            <a:off x="2655823" y="1617091"/>
            <a:ext cx="2282825"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Arial"/>
                <a:cs typeface="Arial"/>
              </a:rPr>
              <a:t>Best </a:t>
            </a:r>
            <a:r>
              <a:rPr sz="1600" b="1" spc="-5" dirty="0">
                <a:latin typeface="Arial"/>
                <a:cs typeface="Arial"/>
              </a:rPr>
              <a:t>practice</a:t>
            </a:r>
            <a:r>
              <a:rPr sz="1600" b="1" dirty="0">
                <a:latin typeface="Arial"/>
                <a:cs typeface="Arial"/>
              </a:rPr>
              <a:t> </a:t>
            </a:r>
            <a:r>
              <a:rPr sz="1600" b="1" spc="-10" dirty="0">
                <a:latin typeface="Arial"/>
                <a:cs typeface="Arial"/>
              </a:rPr>
              <a:t>examples</a:t>
            </a:r>
            <a:endParaRPr sz="1600">
              <a:latin typeface="Arial"/>
              <a:cs typeface="Arial"/>
            </a:endParaRPr>
          </a:p>
        </p:txBody>
      </p:sp>
      <p:sp>
        <p:nvSpPr>
          <p:cNvPr id="24" name="object 24"/>
          <p:cNvSpPr txBox="1"/>
          <p:nvPr/>
        </p:nvSpPr>
        <p:spPr>
          <a:xfrm>
            <a:off x="2589402" y="1956054"/>
            <a:ext cx="4521835" cy="1344930"/>
          </a:xfrm>
          <a:prstGeom prst="rect">
            <a:avLst/>
          </a:prstGeom>
        </p:spPr>
        <p:txBody>
          <a:bodyPr vert="horz" wrap="square" lIns="0" tIns="13335" rIns="0" bIns="0" rtlCol="0">
            <a:spAutoFit/>
          </a:bodyPr>
          <a:lstStyle/>
          <a:p>
            <a:pPr marL="238125" marR="72390" indent="-226060">
              <a:lnSpc>
                <a:spcPct val="100000"/>
              </a:lnSpc>
              <a:spcBef>
                <a:spcPts val="105"/>
              </a:spcBef>
              <a:buFont typeface="Wingdings"/>
              <a:buChar char=""/>
              <a:tabLst>
                <a:tab pos="238125" algn="l"/>
                <a:tab pos="238760" algn="l"/>
              </a:tabLst>
            </a:pPr>
            <a:r>
              <a:rPr sz="1400" b="1" spc="-10" dirty="0">
                <a:latin typeface="Arial"/>
                <a:cs typeface="Arial"/>
              </a:rPr>
              <a:t>Robust </a:t>
            </a:r>
            <a:r>
              <a:rPr sz="1400" b="1" spc="-5" dirty="0">
                <a:latin typeface="Arial"/>
                <a:cs typeface="Arial"/>
              </a:rPr>
              <a:t>legal </a:t>
            </a:r>
            <a:r>
              <a:rPr sz="1400" b="1" dirty="0">
                <a:latin typeface="Arial"/>
                <a:cs typeface="Arial"/>
              </a:rPr>
              <a:t>&amp; </a:t>
            </a:r>
            <a:r>
              <a:rPr sz="1400" b="1" spc="-5" dirty="0">
                <a:latin typeface="Arial"/>
                <a:cs typeface="Arial"/>
              </a:rPr>
              <a:t>contractual </a:t>
            </a:r>
            <a:r>
              <a:rPr sz="1400" b="1" dirty="0">
                <a:latin typeface="Arial"/>
                <a:cs typeface="Arial"/>
              </a:rPr>
              <a:t>framework: </a:t>
            </a:r>
            <a:r>
              <a:rPr sz="1400" spc="-5" dirty="0">
                <a:latin typeface="Arial"/>
                <a:cs typeface="Arial"/>
              </a:rPr>
              <a:t>clear  repossession </a:t>
            </a:r>
            <a:r>
              <a:rPr sz="1400" dirty="0">
                <a:latin typeface="Arial"/>
                <a:cs typeface="Arial"/>
              </a:rPr>
              <a:t>rights, </a:t>
            </a:r>
            <a:r>
              <a:rPr sz="1400" spc="-5" dirty="0">
                <a:latin typeface="Arial"/>
                <a:cs typeface="Arial"/>
              </a:rPr>
              <a:t>customer consent, </a:t>
            </a:r>
            <a:r>
              <a:rPr sz="1400" spc="-15" dirty="0">
                <a:latin typeface="Arial"/>
                <a:cs typeface="Arial"/>
              </a:rPr>
              <a:t>enforceability,  </a:t>
            </a:r>
            <a:r>
              <a:rPr sz="1400" spc="-5" dirty="0">
                <a:latin typeface="Arial"/>
                <a:cs typeface="Arial"/>
              </a:rPr>
              <a:t>aligned with Greek</a:t>
            </a:r>
            <a:r>
              <a:rPr sz="1400" spc="-50" dirty="0">
                <a:latin typeface="Arial"/>
                <a:cs typeface="Arial"/>
              </a:rPr>
              <a:t> </a:t>
            </a:r>
            <a:r>
              <a:rPr sz="1400" spc="-5" dirty="0">
                <a:latin typeface="Arial"/>
                <a:cs typeface="Arial"/>
              </a:rPr>
              <a:t>regulations</a:t>
            </a:r>
            <a:endParaRPr sz="1400">
              <a:latin typeface="Arial"/>
              <a:cs typeface="Arial"/>
            </a:endParaRPr>
          </a:p>
          <a:p>
            <a:pPr marL="238125" marR="5080" indent="-226060">
              <a:lnSpc>
                <a:spcPct val="100000"/>
              </a:lnSpc>
              <a:spcBef>
                <a:spcPts val="295"/>
              </a:spcBef>
              <a:buFont typeface="Wingdings"/>
              <a:buChar char=""/>
              <a:tabLst>
                <a:tab pos="238125" algn="l"/>
                <a:tab pos="238760" algn="l"/>
              </a:tabLst>
            </a:pPr>
            <a:r>
              <a:rPr sz="1400" b="1" dirty="0">
                <a:latin typeface="Arial"/>
                <a:cs typeface="Arial"/>
              </a:rPr>
              <a:t>Efficient </a:t>
            </a:r>
            <a:r>
              <a:rPr sz="1400" b="1" spc="-5" dirty="0">
                <a:latin typeface="Arial"/>
                <a:cs typeface="Arial"/>
              </a:rPr>
              <a:t>operations </a:t>
            </a:r>
            <a:r>
              <a:rPr sz="1400" b="1" dirty="0">
                <a:latin typeface="Arial"/>
                <a:cs typeface="Arial"/>
              </a:rPr>
              <a:t>&amp; </a:t>
            </a:r>
            <a:r>
              <a:rPr sz="1400" b="1" spc="-5" dirty="0">
                <a:latin typeface="Arial"/>
                <a:cs typeface="Arial"/>
              </a:rPr>
              <a:t>execution: </a:t>
            </a:r>
            <a:r>
              <a:rPr sz="1400" spc="-5" dirty="0">
                <a:latin typeface="Arial"/>
                <a:cs typeface="Arial"/>
              </a:rPr>
              <a:t>SLA-driven  processes, </a:t>
            </a:r>
            <a:r>
              <a:rPr sz="1400" dirty="0">
                <a:latin typeface="Arial"/>
                <a:cs typeface="Arial"/>
              </a:rPr>
              <a:t>GPS </a:t>
            </a:r>
            <a:r>
              <a:rPr sz="1400" spc="-5" dirty="0">
                <a:latin typeface="Arial"/>
                <a:cs typeface="Arial"/>
              </a:rPr>
              <a:t>tracking, digital </a:t>
            </a:r>
            <a:r>
              <a:rPr sz="1400" dirty="0">
                <a:latin typeface="Arial"/>
                <a:cs typeface="Arial"/>
              </a:rPr>
              <a:t>task </a:t>
            </a:r>
            <a:r>
              <a:rPr sz="1400" spc="-5" dirty="0">
                <a:latin typeface="Arial"/>
                <a:cs typeface="Arial"/>
              </a:rPr>
              <a:t>tools, centralized  PMO</a:t>
            </a:r>
            <a:r>
              <a:rPr sz="1400" spc="-15" dirty="0">
                <a:latin typeface="Arial"/>
                <a:cs typeface="Arial"/>
              </a:rPr>
              <a:t> </a:t>
            </a:r>
            <a:r>
              <a:rPr sz="1400" spc="-5" dirty="0">
                <a:latin typeface="Arial"/>
                <a:cs typeface="Arial"/>
              </a:rPr>
              <a:t>oversight</a:t>
            </a:r>
            <a:endParaRPr sz="1400">
              <a:latin typeface="Arial"/>
              <a:cs typeface="Arial"/>
            </a:endParaRPr>
          </a:p>
        </p:txBody>
      </p:sp>
      <p:sp>
        <p:nvSpPr>
          <p:cNvPr id="25" name="object 25"/>
          <p:cNvSpPr txBox="1"/>
          <p:nvPr/>
        </p:nvSpPr>
        <p:spPr>
          <a:xfrm>
            <a:off x="2600705" y="5017134"/>
            <a:ext cx="4359910" cy="880110"/>
          </a:xfrm>
          <a:prstGeom prst="rect">
            <a:avLst/>
          </a:prstGeom>
        </p:spPr>
        <p:txBody>
          <a:bodyPr vert="horz" wrap="square" lIns="0" tIns="12700" rIns="0" bIns="0" rtlCol="0">
            <a:spAutoFit/>
          </a:bodyPr>
          <a:lstStyle/>
          <a:p>
            <a:pPr marL="238125" marR="5080" indent="-226060">
              <a:lnSpc>
                <a:spcPct val="100000"/>
              </a:lnSpc>
              <a:spcBef>
                <a:spcPts val="100"/>
              </a:spcBef>
              <a:buFont typeface="Wingdings"/>
              <a:buChar char=""/>
              <a:tabLst>
                <a:tab pos="238125" algn="l"/>
                <a:tab pos="238760" algn="l"/>
              </a:tabLst>
            </a:pPr>
            <a:r>
              <a:rPr sz="1400" b="1" spc="-5" dirty="0">
                <a:latin typeface="Arial"/>
                <a:cs typeface="Arial"/>
              </a:rPr>
              <a:t>Diversified multichannel remarketing strategy  </a:t>
            </a:r>
            <a:r>
              <a:rPr sz="1400" dirty="0">
                <a:latin typeface="Arial"/>
                <a:cs typeface="Arial"/>
              </a:rPr>
              <a:t>(dealer </a:t>
            </a:r>
            <a:r>
              <a:rPr sz="1400" spc="-5" dirty="0">
                <a:latin typeface="Arial"/>
                <a:cs typeface="Arial"/>
              </a:rPr>
              <a:t>networks, digital auctions, direct </a:t>
            </a:r>
            <a:r>
              <a:rPr sz="1400" dirty="0">
                <a:latin typeface="Arial"/>
                <a:cs typeface="Arial"/>
              </a:rPr>
              <a:t>car </a:t>
            </a:r>
            <a:r>
              <a:rPr sz="1400" spc="-5" dirty="0">
                <a:latin typeface="Arial"/>
                <a:cs typeface="Arial"/>
              </a:rPr>
              <a:t>sales),  including cross-border sales options </a:t>
            </a:r>
            <a:r>
              <a:rPr sz="1400" dirty="0">
                <a:latin typeface="Arial"/>
                <a:cs typeface="Arial"/>
              </a:rPr>
              <a:t>to </a:t>
            </a:r>
            <a:r>
              <a:rPr sz="1400" spc="-5" dirty="0">
                <a:latin typeface="Arial"/>
                <a:cs typeface="Arial"/>
              </a:rPr>
              <a:t>mitigate local  market saturation </a:t>
            </a:r>
            <a:r>
              <a:rPr sz="1400" dirty="0">
                <a:latin typeface="Arial"/>
                <a:cs typeface="Arial"/>
              </a:rPr>
              <a:t>and </a:t>
            </a:r>
            <a:r>
              <a:rPr sz="1400" spc="-5" dirty="0">
                <a:latin typeface="Arial"/>
                <a:cs typeface="Arial"/>
              </a:rPr>
              <a:t>maximize recovery</a:t>
            </a:r>
            <a:r>
              <a:rPr sz="1400" spc="-140" dirty="0">
                <a:latin typeface="Arial"/>
                <a:cs typeface="Arial"/>
              </a:rPr>
              <a:t> </a:t>
            </a:r>
            <a:r>
              <a:rPr sz="1400" spc="-5" dirty="0">
                <a:latin typeface="Arial"/>
                <a:cs typeface="Arial"/>
              </a:rPr>
              <a:t>value</a:t>
            </a:r>
            <a:endParaRPr sz="1400">
              <a:latin typeface="Arial"/>
              <a:cs typeface="Arial"/>
            </a:endParaRPr>
          </a:p>
        </p:txBody>
      </p:sp>
      <p:sp>
        <p:nvSpPr>
          <p:cNvPr id="26" name="object 26"/>
          <p:cNvSpPr/>
          <p:nvPr/>
        </p:nvSpPr>
        <p:spPr>
          <a:xfrm>
            <a:off x="532142" y="1965832"/>
            <a:ext cx="465455" cy="465455"/>
          </a:xfrm>
          <a:custGeom>
            <a:avLst/>
            <a:gdLst/>
            <a:ahLst/>
            <a:cxnLst/>
            <a:rect l="l" t="t" r="r" b="b"/>
            <a:pathLst>
              <a:path w="465455" h="465455">
                <a:moveTo>
                  <a:pt x="232524" y="0"/>
                </a:moveTo>
                <a:lnTo>
                  <a:pt x="185661" y="4720"/>
                </a:lnTo>
                <a:lnTo>
                  <a:pt x="142014" y="18260"/>
                </a:lnTo>
                <a:lnTo>
                  <a:pt x="102516" y="39687"/>
                </a:lnTo>
                <a:lnTo>
                  <a:pt x="68103" y="68072"/>
                </a:lnTo>
                <a:lnTo>
                  <a:pt x="39710" y="102480"/>
                </a:lnTo>
                <a:lnTo>
                  <a:pt x="18272" y="141982"/>
                </a:lnTo>
                <a:lnTo>
                  <a:pt x="4723" y="185644"/>
                </a:lnTo>
                <a:lnTo>
                  <a:pt x="0" y="232537"/>
                </a:lnTo>
                <a:lnTo>
                  <a:pt x="4723" y="279392"/>
                </a:lnTo>
                <a:lnTo>
                  <a:pt x="18272" y="323038"/>
                </a:lnTo>
                <a:lnTo>
                  <a:pt x="39710" y="362537"/>
                </a:lnTo>
                <a:lnTo>
                  <a:pt x="68103" y="396954"/>
                </a:lnTo>
                <a:lnTo>
                  <a:pt x="102516" y="425352"/>
                </a:lnTo>
                <a:lnTo>
                  <a:pt x="142014" y="446795"/>
                </a:lnTo>
                <a:lnTo>
                  <a:pt x="185661" y="460348"/>
                </a:lnTo>
                <a:lnTo>
                  <a:pt x="232524" y="465074"/>
                </a:lnTo>
                <a:lnTo>
                  <a:pt x="279391" y="460348"/>
                </a:lnTo>
                <a:lnTo>
                  <a:pt x="323041" y="446795"/>
                </a:lnTo>
                <a:lnTo>
                  <a:pt x="362541" y="425352"/>
                </a:lnTo>
                <a:lnTo>
                  <a:pt x="396955" y="396954"/>
                </a:lnTo>
                <a:lnTo>
                  <a:pt x="425349" y="362537"/>
                </a:lnTo>
                <a:lnTo>
                  <a:pt x="446788" y="323038"/>
                </a:lnTo>
                <a:lnTo>
                  <a:pt x="460337" y="279392"/>
                </a:lnTo>
                <a:lnTo>
                  <a:pt x="465061" y="232537"/>
                </a:lnTo>
                <a:lnTo>
                  <a:pt x="460337" y="185644"/>
                </a:lnTo>
                <a:lnTo>
                  <a:pt x="446788" y="141982"/>
                </a:lnTo>
                <a:lnTo>
                  <a:pt x="425349" y="102480"/>
                </a:lnTo>
                <a:lnTo>
                  <a:pt x="396955" y="68072"/>
                </a:lnTo>
                <a:lnTo>
                  <a:pt x="362541" y="39687"/>
                </a:lnTo>
                <a:lnTo>
                  <a:pt x="323041" y="18260"/>
                </a:lnTo>
                <a:lnTo>
                  <a:pt x="279391" y="4720"/>
                </a:lnTo>
                <a:lnTo>
                  <a:pt x="232524" y="0"/>
                </a:lnTo>
                <a:close/>
              </a:path>
            </a:pathLst>
          </a:custGeom>
          <a:solidFill>
            <a:srgbClr val="051F79"/>
          </a:solidFill>
        </p:spPr>
        <p:txBody>
          <a:bodyPr wrap="square" lIns="0" tIns="0" rIns="0" bIns="0" rtlCol="0"/>
          <a:lstStyle/>
          <a:p>
            <a:endParaRPr/>
          </a:p>
        </p:txBody>
      </p:sp>
      <p:sp>
        <p:nvSpPr>
          <p:cNvPr id="27" name="object 27"/>
          <p:cNvSpPr/>
          <p:nvPr/>
        </p:nvSpPr>
        <p:spPr>
          <a:xfrm>
            <a:off x="670774" y="2063764"/>
            <a:ext cx="190069" cy="271277"/>
          </a:xfrm>
          <a:prstGeom prst="rect">
            <a:avLst/>
          </a:prstGeom>
          <a:blipFill>
            <a:blip r:embed="rId3" cstate="print"/>
            <a:stretch>
              <a:fillRect/>
            </a:stretch>
          </a:blipFill>
        </p:spPr>
        <p:txBody>
          <a:bodyPr wrap="square" lIns="0" tIns="0" rIns="0" bIns="0" rtlCol="0"/>
          <a:lstStyle/>
          <a:p>
            <a:endParaRPr/>
          </a:p>
        </p:txBody>
      </p:sp>
      <p:sp>
        <p:nvSpPr>
          <p:cNvPr id="28" name="object 28"/>
          <p:cNvSpPr/>
          <p:nvPr/>
        </p:nvSpPr>
        <p:spPr>
          <a:xfrm>
            <a:off x="532142" y="3648075"/>
            <a:ext cx="465455" cy="465455"/>
          </a:xfrm>
          <a:custGeom>
            <a:avLst/>
            <a:gdLst/>
            <a:ahLst/>
            <a:cxnLst/>
            <a:rect l="l" t="t" r="r" b="b"/>
            <a:pathLst>
              <a:path w="465455" h="465454">
                <a:moveTo>
                  <a:pt x="232524" y="0"/>
                </a:moveTo>
                <a:lnTo>
                  <a:pt x="185661" y="4725"/>
                </a:lnTo>
                <a:lnTo>
                  <a:pt x="142014" y="18278"/>
                </a:lnTo>
                <a:lnTo>
                  <a:pt x="102516" y="39721"/>
                </a:lnTo>
                <a:lnTo>
                  <a:pt x="68103" y="68119"/>
                </a:lnTo>
                <a:lnTo>
                  <a:pt x="39710" y="102536"/>
                </a:lnTo>
                <a:lnTo>
                  <a:pt x="18272" y="142035"/>
                </a:lnTo>
                <a:lnTo>
                  <a:pt x="4723" y="185681"/>
                </a:lnTo>
                <a:lnTo>
                  <a:pt x="0" y="232537"/>
                </a:lnTo>
                <a:lnTo>
                  <a:pt x="4723" y="279392"/>
                </a:lnTo>
                <a:lnTo>
                  <a:pt x="18272" y="323038"/>
                </a:lnTo>
                <a:lnTo>
                  <a:pt x="39710" y="362537"/>
                </a:lnTo>
                <a:lnTo>
                  <a:pt x="68103" y="396954"/>
                </a:lnTo>
                <a:lnTo>
                  <a:pt x="102516" y="425352"/>
                </a:lnTo>
                <a:lnTo>
                  <a:pt x="142014" y="446795"/>
                </a:lnTo>
                <a:lnTo>
                  <a:pt x="185661" y="460348"/>
                </a:lnTo>
                <a:lnTo>
                  <a:pt x="232524" y="465074"/>
                </a:lnTo>
                <a:lnTo>
                  <a:pt x="279391" y="460348"/>
                </a:lnTo>
                <a:lnTo>
                  <a:pt x="323041" y="446795"/>
                </a:lnTo>
                <a:lnTo>
                  <a:pt x="362541" y="425352"/>
                </a:lnTo>
                <a:lnTo>
                  <a:pt x="396955" y="396954"/>
                </a:lnTo>
                <a:lnTo>
                  <a:pt x="425349" y="362537"/>
                </a:lnTo>
                <a:lnTo>
                  <a:pt x="446788" y="323038"/>
                </a:lnTo>
                <a:lnTo>
                  <a:pt x="460337" y="279392"/>
                </a:lnTo>
                <a:lnTo>
                  <a:pt x="465061" y="232537"/>
                </a:lnTo>
                <a:lnTo>
                  <a:pt x="460337" y="185681"/>
                </a:lnTo>
                <a:lnTo>
                  <a:pt x="446788" y="142035"/>
                </a:lnTo>
                <a:lnTo>
                  <a:pt x="425349" y="102536"/>
                </a:lnTo>
                <a:lnTo>
                  <a:pt x="396955" y="68119"/>
                </a:lnTo>
                <a:lnTo>
                  <a:pt x="362541" y="39721"/>
                </a:lnTo>
                <a:lnTo>
                  <a:pt x="323041" y="18278"/>
                </a:lnTo>
                <a:lnTo>
                  <a:pt x="279391" y="4725"/>
                </a:lnTo>
                <a:lnTo>
                  <a:pt x="232524" y="0"/>
                </a:lnTo>
                <a:close/>
              </a:path>
            </a:pathLst>
          </a:custGeom>
          <a:solidFill>
            <a:srgbClr val="051F79"/>
          </a:solidFill>
        </p:spPr>
        <p:txBody>
          <a:bodyPr wrap="square" lIns="0" tIns="0" rIns="0" bIns="0" rtlCol="0"/>
          <a:lstStyle/>
          <a:p>
            <a:endParaRPr/>
          </a:p>
        </p:txBody>
      </p:sp>
      <p:sp>
        <p:nvSpPr>
          <p:cNvPr id="29" name="object 29"/>
          <p:cNvSpPr/>
          <p:nvPr/>
        </p:nvSpPr>
        <p:spPr>
          <a:xfrm>
            <a:off x="683608" y="3746133"/>
            <a:ext cx="164400" cy="270421"/>
          </a:xfrm>
          <a:prstGeom prst="rect">
            <a:avLst/>
          </a:prstGeom>
          <a:blipFill>
            <a:blip r:embed="rId4" cstate="print"/>
            <a:stretch>
              <a:fillRect/>
            </a:stretch>
          </a:blipFill>
        </p:spPr>
        <p:txBody>
          <a:bodyPr wrap="square" lIns="0" tIns="0" rIns="0" bIns="0" rtlCol="0"/>
          <a:lstStyle/>
          <a:p>
            <a:endParaRPr/>
          </a:p>
        </p:txBody>
      </p:sp>
      <p:sp>
        <p:nvSpPr>
          <p:cNvPr id="30" name="object 30"/>
          <p:cNvSpPr/>
          <p:nvPr/>
        </p:nvSpPr>
        <p:spPr>
          <a:xfrm>
            <a:off x="532142" y="5051425"/>
            <a:ext cx="465455" cy="465455"/>
          </a:xfrm>
          <a:custGeom>
            <a:avLst/>
            <a:gdLst/>
            <a:ahLst/>
            <a:cxnLst/>
            <a:rect l="l" t="t" r="r" b="b"/>
            <a:pathLst>
              <a:path w="465455" h="465454">
                <a:moveTo>
                  <a:pt x="232524" y="0"/>
                </a:moveTo>
                <a:lnTo>
                  <a:pt x="185661" y="4725"/>
                </a:lnTo>
                <a:lnTo>
                  <a:pt x="142014" y="18278"/>
                </a:lnTo>
                <a:lnTo>
                  <a:pt x="102516" y="39721"/>
                </a:lnTo>
                <a:lnTo>
                  <a:pt x="68103" y="68119"/>
                </a:lnTo>
                <a:lnTo>
                  <a:pt x="39710" y="102536"/>
                </a:lnTo>
                <a:lnTo>
                  <a:pt x="18272" y="142035"/>
                </a:lnTo>
                <a:lnTo>
                  <a:pt x="4723" y="185681"/>
                </a:lnTo>
                <a:lnTo>
                  <a:pt x="0" y="232537"/>
                </a:lnTo>
                <a:lnTo>
                  <a:pt x="4723" y="279392"/>
                </a:lnTo>
                <a:lnTo>
                  <a:pt x="18272" y="323038"/>
                </a:lnTo>
                <a:lnTo>
                  <a:pt x="39710" y="362537"/>
                </a:lnTo>
                <a:lnTo>
                  <a:pt x="68103" y="396954"/>
                </a:lnTo>
                <a:lnTo>
                  <a:pt x="102516" y="425352"/>
                </a:lnTo>
                <a:lnTo>
                  <a:pt x="142014" y="446795"/>
                </a:lnTo>
                <a:lnTo>
                  <a:pt x="185661" y="460348"/>
                </a:lnTo>
                <a:lnTo>
                  <a:pt x="232524" y="465074"/>
                </a:lnTo>
                <a:lnTo>
                  <a:pt x="279391" y="460348"/>
                </a:lnTo>
                <a:lnTo>
                  <a:pt x="323041" y="446795"/>
                </a:lnTo>
                <a:lnTo>
                  <a:pt x="362541" y="425352"/>
                </a:lnTo>
                <a:lnTo>
                  <a:pt x="396955" y="396954"/>
                </a:lnTo>
                <a:lnTo>
                  <a:pt x="425349" y="362537"/>
                </a:lnTo>
                <a:lnTo>
                  <a:pt x="446788" y="323038"/>
                </a:lnTo>
                <a:lnTo>
                  <a:pt x="460337" y="279392"/>
                </a:lnTo>
                <a:lnTo>
                  <a:pt x="465061" y="232537"/>
                </a:lnTo>
                <a:lnTo>
                  <a:pt x="460337" y="185681"/>
                </a:lnTo>
                <a:lnTo>
                  <a:pt x="446788" y="142035"/>
                </a:lnTo>
                <a:lnTo>
                  <a:pt x="425349" y="102536"/>
                </a:lnTo>
                <a:lnTo>
                  <a:pt x="396955" y="68119"/>
                </a:lnTo>
                <a:lnTo>
                  <a:pt x="362541" y="39721"/>
                </a:lnTo>
                <a:lnTo>
                  <a:pt x="323041" y="18278"/>
                </a:lnTo>
                <a:lnTo>
                  <a:pt x="279391" y="4725"/>
                </a:lnTo>
                <a:lnTo>
                  <a:pt x="232524" y="0"/>
                </a:lnTo>
                <a:close/>
              </a:path>
            </a:pathLst>
          </a:custGeom>
          <a:solidFill>
            <a:srgbClr val="051F79"/>
          </a:solidFill>
        </p:spPr>
        <p:txBody>
          <a:bodyPr wrap="square" lIns="0" tIns="0" rIns="0" bIns="0" rtlCol="0"/>
          <a:lstStyle/>
          <a:p>
            <a:endParaRPr/>
          </a:p>
        </p:txBody>
      </p:sp>
      <p:sp>
        <p:nvSpPr>
          <p:cNvPr id="31" name="object 31"/>
          <p:cNvSpPr/>
          <p:nvPr/>
        </p:nvSpPr>
        <p:spPr>
          <a:xfrm>
            <a:off x="630136" y="5149357"/>
            <a:ext cx="270919" cy="270423"/>
          </a:xfrm>
          <a:prstGeom prst="rect">
            <a:avLst/>
          </a:prstGeom>
          <a:blipFill>
            <a:blip r:embed="rId5" cstate="print"/>
            <a:stretch>
              <a:fillRect/>
            </a:stretch>
          </a:blipFill>
        </p:spPr>
        <p:txBody>
          <a:bodyPr wrap="square" lIns="0" tIns="0" rIns="0" bIns="0" rtlCol="0"/>
          <a:lstStyle/>
          <a:p>
            <a:endParaRPr/>
          </a:p>
        </p:txBody>
      </p:sp>
      <p:sp>
        <p:nvSpPr>
          <p:cNvPr id="32" name="object 32"/>
          <p:cNvSpPr txBox="1"/>
          <p:nvPr/>
        </p:nvSpPr>
        <p:spPr>
          <a:xfrm>
            <a:off x="2589402" y="3621785"/>
            <a:ext cx="4679315" cy="879475"/>
          </a:xfrm>
          <a:prstGeom prst="rect">
            <a:avLst/>
          </a:prstGeom>
        </p:spPr>
        <p:txBody>
          <a:bodyPr vert="horz" wrap="square" lIns="0" tIns="12700" rIns="0" bIns="0" rtlCol="0">
            <a:spAutoFit/>
          </a:bodyPr>
          <a:lstStyle/>
          <a:p>
            <a:pPr marL="238125" marR="5080" indent="-226060">
              <a:lnSpc>
                <a:spcPct val="100000"/>
              </a:lnSpc>
              <a:spcBef>
                <a:spcPts val="100"/>
              </a:spcBef>
              <a:buFont typeface="Wingdings"/>
              <a:buChar char=""/>
              <a:tabLst>
                <a:tab pos="238125" algn="l"/>
                <a:tab pos="238760" algn="l"/>
              </a:tabLst>
            </a:pPr>
            <a:r>
              <a:rPr sz="1400" b="1" spc="-5" dirty="0">
                <a:latin typeface="Arial"/>
                <a:cs typeface="Arial"/>
              </a:rPr>
              <a:t>Strategic network of preferred partners </a:t>
            </a:r>
            <a:r>
              <a:rPr sz="1400" dirty="0">
                <a:latin typeface="Arial"/>
                <a:cs typeface="Arial"/>
              </a:rPr>
              <a:t>(e.g., </a:t>
            </a:r>
            <a:r>
              <a:rPr sz="1400" spc="-5" dirty="0">
                <a:latin typeface="Arial"/>
                <a:cs typeface="Arial"/>
              </a:rPr>
              <a:t>dealers,  </a:t>
            </a:r>
            <a:r>
              <a:rPr sz="1400" dirty="0">
                <a:latin typeface="Arial"/>
                <a:cs typeface="Arial"/>
              </a:rPr>
              <a:t>SLAs, </a:t>
            </a:r>
            <a:r>
              <a:rPr sz="1400" spc="-5" dirty="0">
                <a:latin typeface="Arial"/>
                <a:cs typeface="Arial"/>
              </a:rPr>
              <a:t>remarketing channels) enabling </a:t>
            </a:r>
            <a:r>
              <a:rPr sz="1400" b="1" spc="-5" dirty="0">
                <a:latin typeface="Arial"/>
                <a:cs typeface="Arial"/>
              </a:rPr>
              <a:t>end-to-end  repossession management</a:t>
            </a:r>
            <a:r>
              <a:rPr sz="1400" spc="-5" dirty="0">
                <a:latin typeface="Arial"/>
                <a:cs typeface="Arial"/>
              </a:rPr>
              <a:t>, </a:t>
            </a:r>
            <a:r>
              <a:rPr sz="1400" dirty="0">
                <a:latin typeface="Arial"/>
                <a:cs typeface="Arial"/>
              </a:rPr>
              <a:t>from </a:t>
            </a:r>
            <a:r>
              <a:rPr sz="1400" spc="-5" dirty="0">
                <a:latin typeface="Arial"/>
                <a:cs typeface="Arial"/>
              </a:rPr>
              <a:t>asset recovery </a:t>
            </a:r>
            <a:r>
              <a:rPr sz="1400" dirty="0">
                <a:latin typeface="Arial"/>
                <a:cs typeface="Arial"/>
              </a:rPr>
              <a:t>to  </a:t>
            </a:r>
            <a:r>
              <a:rPr sz="1400" spc="-5" dirty="0">
                <a:latin typeface="Arial"/>
                <a:cs typeface="Arial"/>
              </a:rPr>
              <a:t>resale, </a:t>
            </a:r>
            <a:r>
              <a:rPr sz="1400" b="1" spc="-5" dirty="0">
                <a:latin typeface="Arial"/>
                <a:cs typeface="Arial"/>
              </a:rPr>
              <a:t>reducing time-to-market and value</a:t>
            </a:r>
            <a:r>
              <a:rPr sz="1400" b="1" spc="-114" dirty="0">
                <a:latin typeface="Arial"/>
                <a:cs typeface="Arial"/>
              </a:rPr>
              <a:t> </a:t>
            </a:r>
            <a:r>
              <a:rPr sz="1400" b="1" spc="-5" dirty="0">
                <a:latin typeface="Arial"/>
                <a:cs typeface="Arial"/>
              </a:rPr>
              <a:t>leakage</a:t>
            </a:r>
            <a:endParaRPr sz="1400">
              <a:latin typeface="Arial"/>
              <a:cs typeface="Arial"/>
            </a:endParaRPr>
          </a:p>
        </p:txBody>
      </p:sp>
      <p:sp>
        <p:nvSpPr>
          <p:cNvPr id="33" name="object 33"/>
          <p:cNvSpPr/>
          <p:nvPr/>
        </p:nvSpPr>
        <p:spPr>
          <a:xfrm>
            <a:off x="8350122" y="1929510"/>
            <a:ext cx="3462654" cy="0"/>
          </a:xfrm>
          <a:custGeom>
            <a:avLst/>
            <a:gdLst/>
            <a:ahLst/>
            <a:cxnLst/>
            <a:rect l="l" t="t" r="r" b="b"/>
            <a:pathLst>
              <a:path w="3462654">
                <a:moveTo>
                  <a:pt x="0" y="0"/>
                </a:moveTo>
                <a:lnTo>
                  <a:pt x="3462401" y="0"/>
                </a:lnTo>
              </a:path>
            </a:pathLst>
          </a:custGeom>
          <a:ln w="12700">
            <a:solidFill>
              <a:srgbClr val="7E7E7E"/>
            </a:solidFill>
          </a:ln>
        </p:spPr>
        <p:txBody>
          <a:bodyPr wrap="square" lIns="0" tIns="0" rIns="0" bIns="0" rtlCol="0"/>
          <a:lstStyle/>
          <a:p>
            <a:endParaRPr/>
          </a:p>
        </p:txBody>
      </p:sp>
      <p:sp>
        <p:nvSpPr>
          <p:cNvPr id="34" name="object 34"/>
          <p:cNvSpPr/>
          <p:nvPr/>
        </p:nvSpPr>
        <p:spPr>
          <a:xfrm>
            <a:off x="7926323" y="3339972"/>
            <a:ext cx="4163060" cy="627380"/>
          </a:xfrm>
          <a:custGeom>
            <a:avLst/>
            <a:gdLst/>
            <a:ahLst/>
            <a:cxnLst/>
            <a:rect l="l" t="t" r="r" b="b"/>
            <a:pathLst>
              <a:path w="4163059" h="627379">
                <a:moveTo>
                  <a:pt x="4162932" y="176529"/>
                </a:moveTo>
                <a:lnTo>
                  <a:pt x="0" y="176529"/>
                </a:lnTo>
                <a:lnTo>
                  <a:pt x="0" y="626871"/>
                </a:lnTo>
                <a:lnTo>
                  <a:pt x="4162932" y="626871"/>
                </a:lnTo>
                <a:lnTo>
                  <a:pt x="4162932" y="176529"/>
                </a:lnTo>
                <a:close/>
              </a:path>
              <a:path w="4163059" h="627379">
                <a:moveTo>
                  <a:pt x="900556" y="0"/>
                </a:moveTo>
                <a:lnTo>
                  <a:pt x="693801" y="176529"/>
                </a:lnTo>
                <a:lnTo>
                  <a:pt x="1734566" y="176529"/>
                </a:lnTo>
                <a:lnTo>
                  <a:pt x="900556" y="0"/>
                </a:lnTo>
                <a:close/>
              </a:path>
            </a:pathLst>
          </a:custGeom>
          <a:solidFill>
            <a:srgbClr val="FFFFFF"/>
          </a:solidFill>
        </p:spPr>
        <p:txBody>
          <a:bodyPr wrap="square" lIns="0" tIns="0" rIns="0" bIns="0" rtlCol="0"/>
          <a:lstStyle/>
          <a:p>
            <a:endParaRPr/>
          </a:p>
        </p:txBody>
      </p:sp>
      <p:sp>
        <p:nvSpPr>
          <p:cNvPr id="35" name="object 35"/>
          <p:cNvSpPr/>
          <p:nvPr/>
        </p:nvSpPr>
        <p:spPr>
          <a:xfrm>
            <a:off x="7926323" y="3339972"/>
            <a:ext cx="4163060" cy="627380"/>
          </a:xfrm>
          <a:custGeom>
            <a:avLst/>
            <a:gdLst/>
            <a:ahLst/>
            <a:cxnLst/>
            <a:rect l="l" t="t" r="r" b="b"/>
            <a:pathLst>
              <a:path w="4163059" h="627379">
                <a:moveTo>
                  <a:pt x="0" y="176529"/>
                </a:moveTo>
                <a:lnTo>
                  <a:pt x="693801" y="176529"/>
                </a:lnTo>
                <a:lnTo>
                  <a:pt x="900556" y="0"/>
                </a:lnTo>
                <a:lnTo>
                  <a:pt x="1734566" y="176529"/>
                </a:lnTo>
                <a:lnTo>
                  <a:pt x="4162932" y="176529"/>
                </a:lnTo>
                <a:lnTo>
                  <a:pt x="4162932" y="251587"/>
                </a:lnTo>
                <a:lnTo>
                  <a:pt x="4162932" y="364108"/>
                </a:lnTo>
                <a:lnTo>
                  <a:pt x="4162932" y="626871"/>
                </a:lnTo>
                <a:lnTo>
                  <a:pt x="1734566" y="626871"/>
                </a:lnTo>
                <a:lnTo>
                  <a:pt x="693801" y="626871"/>
                </a:lnTo>
                <a:lnTo>
                  <a:pt x="0" y="626871"/>
                </a:lnTo>
                <a:lnTo>
                  <a:pt x="0" y="364108"/>
                </a:lnTo>
                <a:lnTo>
                  <a:pt x="0" y="251587"/>
                </a:lnTo>
                <a:lnTo>
                  <a:pt x="0" y="176529"/>
                </a:lnTo>
                <a:close/>
              </a:path>
            </a:pathLst>
          </a:custGeom>
          <a:ln w="6350">
            <a:solidFill>
              <a:srgbClr val="051F79"/>
            </a:solidFill>
          </a:ln>
        </p:spPr>
        <p:txBody>
          <a:bodyPr wrap="square" lIns="0" tIns="0" rIns="0" bIns="0" rtlCol="0"/>
          <a:lstStyle/>
          <a:p>
            <a:endParaRPr/>
          </a:p>
        </p:txBody>
      </p:sp>
      <p:sp>
        <p:nvSpPr>
          <p:cNvPr id="36" name="object 36"/>
          <p:cNvSpPr txBox="1"/>
          <p:nvPr/>
        </p:nvSpPr>
        <p:spPr>
          <a:xfrm>
            <a:off x="8038338" y="3542157"/>
            <a:ext cx="3939540" cy="391160"/>
          </a:xfrm>
          <a:prstGeom prst="rect">
            <a:avLst/>
          </a:prstGeom>
        </p:spPr>
        <p:txBody>
          <a:bodyPr vert="horz" wrap="square" lIns="0" tIns="12700" rIns="0" bIns="0" rtlCol="0">
            <a:spAutoFit/>
          </a:bodyPr>
          <a:lstStyle/>
          <a:p>
            <a:pPr marL="641985" marR="5080" indent="-629920">
              <a:lnSpc>
                <a:spcPct val="100000"/>
              </a:lnSpc>
              <a:spcBef>
                <a:spcPts val="100"/>
              </a:spcBef>
            </a:pPr>
            <a:r>
              <a:rPr sz="1200" spc="-15" dirty="0">
                <a:latin typeface="Arial"/>
                <a:cs typeface="Arial"/>
              </a:rPr>
              <a:t>DoValue </a:t>
            </a:r>
            <a:r>
              <a:rPr sz="1200" spc="-5" dirty="0">
                <a:latin typeface="Arial"/>
                <a:cs typeface="Arial"/>
              </a:rPr>
              <a:t>input: </a:t>
            </a:r>
            <a:r>
              <a:rPr sz="1200" dirty="0">
                <a:latin typeface="Arial"/>
                <a:cs typeface="Arial"/>
              </a:rPr>
              <a:t>3 to 6 months </a:t>
            </a:r>
            <a:r>
              <a:rPr sz="1200" spc="-5" dirty="0">
                <a:latin typeface="Arial"/>
                <a:cs typeface="Arial"/>
              </a:rPr>
              <a:t>in </a:t>
            </a:r>
            <a:r>
              <a:rPr sz="1200" dirty="0">
                <a:latin typeface="Arial"/>
                <a:cs typeface="Arial"/>
              </a:rPr>
              <a:t>normal cases; up to</a:t>
            </a:r>
            <a:r>
              <a:rPr sz="1200" spc="-204" dirty="0">
                <a:latin typeface="Arial"/>
                <a:cs typeface="Arial"/>
              </a:rPr>
              <a:t> </a:t>
            </a:r>
            <a:r>
              <a:rPr sz="1200" spc="5" dirty="0">
                <a:latin typeface="Arial"/>
                <a:cs typeface="Arial"/>
              </a:rPr>
              <a:t>12-18  </a:t>
            </a:r>
            <a:r>
              <a:rPr sz="1200" dirty="0">
                <a:latin typeface="Arial"/>
                <a:cs typeface="Arial"/>
              </a:rPr>
              <a:t>months </a:t>
            </a:r>
            <a:r>
              <a:rPr sz="1200" spc="-5" dirty="0">
                <a:latin typeface="Arial"/>
                <a:cs typeface="Arial"/>
              </a:rPr>
              <a:t>incase </a:t>
            </a:r>
            <a:r>
              <a:rPr sz="1200" dirty="0">
                <a:latin typeface="Arial"/>
                <a:cs typeface="Arial"/>
              </a:rPr>
              <a:t>the </a:t>
            </a:r>
            <a:r>
              <a:rPr sz="1200" spc="-5" dirty="0">
                <a:latin typeface="Arial"/>
                <a:cs typeface="Arial"/>
              </a:rPr>
              <a:t>client </a:t>
            </a:r>
            <a:r>
              <a:rPr sz="1200" dirty="0">
                <a:latin typeface="Arial"/>
                <a:cs typeface="Arial"/>
              </a:rPr>
              <a:t>files an</a:t>
            </a:r>
            <a:r>
              <a:rPr sz="1200" spc="-120" dirty="0">
                <a:latin typeface="Arial"/>
                <a:cs typeface="Arial"/>
              </a:rPr>
              <a:t> </a:t>
            </a:r>
            <a:r>
              <a:rPr sz="1200" spc="-5" dirty="0">
                <a:latin typeface="Arial"/>
                <a:cs typeface="Arial"/>
              </a:rPr>
              <a:t>appeal</a:t>
            </a:r>
            <a:endParaRPr sz="1200">
              <a:latin typeface="Arial"/>
              <a:cs typeface="Arial"/>
            </a:endParaRPr>
          </a:p>
        </p:txBody>
      </p:sp>
      <p:sp>
        <p:nvSpPr>
          <p:cNvPr id="37" name="object 37"/>
          <p:cNvSpPr txBox="1"/>
          <p:nvPr/>
        </p:nvSpPr>
        <p:spPr>
          <a:xfrm>
            <a:off x="10134981" y="6497072"/>
            <a:ext cx="1151255" cy="153670"/>
          </a:xfrm>
          <a:prstGeom prst="rect">
            <a:avLst/>
          </a:prstGeom>
        </p:spPr>
        <p:txBody>
          <a:bodyPr vert="horz" wrap="square" lIns="0" tIns="1905" rIns="0" bIns="0" rtlCol="0">
            <a:spAutoFit/>
          </a:bodyPr>
          <a:lstStyle/>
          <a:p>
            <a:pPr marL="12700">
              <a:lnSpc>
                <a:spcPct val="100000"/>
              </a:lnSpc>
              <a:spcBef>
                <a:spcPts val="15"/>
              </a:spcBef>
            </a:pPr>
            <a:r>
              <a:rPr sz="900" spc="-5" dirty="0">
                <a:latin typeface="Arial"/>
                <a:cs typeface="Arial"/>
              </a:rPr>
              <a:t>McKinsey </a:t>
            </a:r>
            <a:r>
              <a:rPr sz="900" dirty="0">
                <a:latin typeface="Arial"/>
                <a:cs typeface="Arial"/>
              </a:rPr>
              <a:t>&amp;</a:t>
            </a:r>
            <a:r>
              <a:rPr sz="900" spc="-40" dirty="0">
                <a:latin typeface="Arial"/>
                <a:cs typeface="Arial"/>
              </a:rPr>
              <a:t> </a:t>
            </a:r>
            <a:r>
              <a:rPr sz="900" spc="-5" dirty="0">
                <a:latin typeface="Arial"/>
                <a:cs typeface="Arial"/>
              </a:rPr>
              <a:t>Company</a:t>
            </a:r>
            <a:endParaRPr sz="900">
              <a:latin typeface="Arial"/>
              <a:cs typeface="Arial"/>
            </a:endParaRPr>
          </a:p>
        </p:txBody>
      </p:sp>
      <p:sp>
        <p:nvSpPr>
          <p:cNvPr id="38" name="object 38"/>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dirty="0"/>
              <a:t>22</a:t>
            </a:fld>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34981" y="6486245"/>
            <a:ext cx="1151255" cy="162560"/>
          </a:xfrm>
          <a:prstGeom prst="rect">
            <a:avLst/>
          </a:prstGeom>
        </p:spPr>
        <p:txBody>
          <a:bodyPr vert="horz" wrap="square" lIns="0" tIns="12700" rIns="0" bIns="0" rtlCol="0">
            <a:spAutoFit/>
          </a:bodyPr>
          <a:lstStyle/>
          <a:p>
            <a:pPr marL="12700">
              <a:lnSpc>
                <a:spcPct val="100000"/>
              </a:lnSpc>
              <a:spcBef>
                <a:spcPts val="100"/>
              </a:spcBef>
            </a:pPr>
            <a:r>
              <a:rPr sz="900" spc="-5" dirty="0">
                <a:latin typeface="Arial"/>
                <a:cs typeface="Arial"/>
              </a:rPr>
              <a:t>McKinsey </a:t>
            </a:r>
            <a:r>
              <a:rPr sz="900" dirty="0">
                <a:latin typeface="Arial"/>
                <a:cs typeface="Arial"/>
              </a:rPr>
              <a:t>&amp;</a:t>
            </a:r>
            <a:r>
              <a:rPr sz="900" spc="-40" dirty="0">
                <a:latin typeface="Arial"/>
                <a:cs typeface="Arial"/>
              </a:rPr>
              <a:t> </a:t>
            </a:r>
            <a:r>
              <a:rPr sz="900" spc="-5" dirty="0">
                <a:latin typeface="Arial"/>
                <a:cs typeface="Arial"/>
              </a:rPr>
              <a:t>Company</a:t>
            </a:r>
            <a:endParaRPr sz="900">
              <a:latin typeface="Arial"/>
              <a:cs typeface="Arial"/>
            </a:endParaRPr>
          </a:p>
        </p:txBody>
      </p:sp>
      <p:sp>
        <p:nvSpPr>
          <p:cNvPr id="3" name="object 3"/>
          <p:cNvSpPr txBox="1"/>
          <p:nvPr/>
        </p:nvSpPr>
        <p:spPr>
          <a:xfrm>
            <a:off x="11499342" y="6485635"/>
            <a:ext cx="153670"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Arial"/>
                <a:cs typeface="Arial"/>
              </a:rPr>
              <a:t>17</a:t>
            </a:r>
            <a:endParaRPr sz="900">
              <a:latin typeface="Arial"/>
              <a:cs typeface="Arial"/>
            </a:endParaRPr>
          </a:p>
        </p:txBody>
      </p:sp>
      <p:sp>
        <p:nvSpPr>
          <p:cNvPr id="4" name="object 4"/>
          <p:cNvSpPr/>
          <p:nvPr/>
        </p:nvSpPr>
        <p:spPr>
          <a:xfrm>
            <a:off x="10915268" y="4345838"/>
            <a:ext cx="568325" cy="2031364"/>
          </a:xfrm>
          <a:custGeom>
            <a:avLst/>
            <a:gdLst/>
            <a:ahLst/>
            <a:cxnLst/>
            <a:rect l="l" t="t" r="r" b="b"/>
            <a:pathLst>
              <a:path w="568325" h="2031364">
                <a:moveTo>
                  <a:pt x="0" y="2031111"/>
                </a:moveTo>
                <a:lnTo>
                  <a:pt x="567829" y="2031111"/>
                </a:lnTo>
                <a:lnTo>
                  <a:pt x="567829" y="0"/>
                </a:lnTo>
                <a:lnTo>
                  <a:pt x="0" y="0"/>
                </a:lnTo>
                <a:lnTo>
                  <a:pt x="0" y="2031111"/>
                </a:lnTo>
                <a:close/>
              </a:path>
            </a:pathLst>
          </a:custGeom>
          <a:solidFill>
            <a:srgbClr val="F1F1F1"/>
          </a:solidFill>
        </p:spPr>
        <p:txBody>
          <a:bodyPr wrap="square" lIns="0" tIns="0" rIns="0" bIns="0" rtlCol="0"/>
          <a:lstStyle/>
          <a:p>
            <a:endParaRPr/>
          </a:p>
        </p:txBody>
      </p:sp>
      <p:sp>
        <p:nvSpPr>
          <p:cNvPr id="5" name="object 5"/>
          <p:cNvSpPr txBox="1">
            <a:spLocks noGrp="1"/>
          </p:cNvSpPr>
          <p:nvPr>
            <p:ph type="title"/>
          </p:nvPr>
        </p:nvSpPr>
        <p:spPr>
          <a:xfrm>
            <a:off x="541426" y="156159"/>
            <a:ext cx="10121265" cy="406400"/>
          </a:xfrm>
          <a:prstGeom prst="rect">
            <a:avLst/>
          </a:prstGeom>
        </p:spPr>
        <p:txBody>
          <a:bodyPr vert="horz" wrap="square" lIns="0" tIns="12065" rIns="0" bIns="0" rtlCol="0">
            <a:spAutoFit/>
          </a:bodyPr>
          <a:lstStyle/>
          <a:p>
            <a:pPr marL="12700">
              <a:lnSpc>
                <a:spcPct val="100000"/>
              </a:lnSpc>
              <a:spcBef>
                <a:spcPts val="95"/>
              </a:spcBef>
            </a:pPr>
            <a:r>
              <a:rPr spc="-5" dirty="0"/>
              <a:t>| Deep dive on potential </a:t>
            </a:r>
            <a:r>
              <a:rPr spc="-10" dirty="0"/>
              <a:t>Partners </a:t>
            </a:r>
            <a:r>
              <a:rPr spc="-5" dirty="0"/>
              <a:t>– </a:t>
            </a:r>
            <a:r>
              <a:rPr spc="-10" dirty="0"/>
              <a:t>Preliminary</a:t>
            </a:r>
            <a:r>
              <a:rPr spc="165" dirty="0"/>
              <a:t> </a:t>
            </a:r>
            <a:r>
              <a:rPr spc="-5" dirty="0"/>
              <a:t>assessment</a:t>
            </a:r>
          </a:p>
        </p:txBody>
      </p:sp>
      <p:sp>
        <p:nvSpPr>
          <p:cNvPr id="6" name="object 6"/>
          <p:cNvSpPr txBox="1"/>
          <p:nvPr/>
        </p:nvSpPr>
        <p:spPr>
          <a:xfrm>
            <a:off x="541426" y="511810"/>
            <a:ext cx="8315959" cy="406400"/>
          </a:xfrm>
          <a:prstGeom prst="rect">
            <a:avLst/>
          </a:prstGeom>
        </p:spPr>
        <p:txBody>
          <a:bodyPr vert="horz" wrap="square" lIns="0" tIns="12065" rIns="0" bIns="0" rtlCol="0">
            <a:spAutoFit/>
          </a:bodyPr>
          <a:lstStyle/>
          <a:p>
            <a:pPr marL="12700">
              <a:lnSpc>
                <a:spcPct val="100000"/>
              </a:lnSpc>
              <a:spcBef>
                <a:spcPts val="95"/>
              </a:spcBef>
            </a:pPr>
            <a:r>
              <a:rPr sz="2500" b="1" spc="-5" dirty="0">
                <a:latin typeface="Georgia"/>
                <a:cs typeface="Georgia"/>
              </a:rPr>
              <a:t>based on partner interview and public</a:t>
            </a:r>
            <a:r>
              <a:rPr sz="2500" b="1" spc="75" dirty="0">
                <a:latin typeface="Georgia"/>
                <a:cs typeface="Georgia"/>
              </a:rPr>
              <a:t> </a:t>
            </a:r>
            <a:r>
              <a:rPr sz="2500" b="1" spc="-10" dirty="0">
                <a:latin typeface="Georgia"/>
                <a:cs typeface="Georgia"/>
              </a:rPr>
              <a:t>information</a:t>
            </a:r>
            <a:endParaRPr sz="2500" dirty="0">
              <a:latin typeface="Georgia"/>
              <a:cs typeface="Georgia"/>
            </a:endParaRPr>
          </a:p>
        </p:txBody>
      </p:sp>
      <p:sp>
        <p:nvSpPr>
          <p:cNvPr id="7" name="object 7"/>
          <p:cNvSpPr/>
          <p:nvPr/>
        </p:nvSpPr>
        <p:spPr>
          <a:xfrm>
            <a:off x="554736" y="1380871"/>
            <a:ext cx="11078845" cy="0"/>
          </a:xfrm>
          <a:custGeom>
            <a:avLst/>
            <a:gdLst/>
            <a:ahLst/>
            <a:cxnLst/>
            <a:rect l="l" t="t" r="r" b="b"/>
            <a:pathLst>
              <a:path w="11078845">
                <a:moveTo>
                  <a:pt x="0" y="0"/>
                </a:moveTo>
                <a:lnTo>
                  <a:pt x="11078464" y="0"/>
                </a:lnTo>
              </a:path>
            </a:pathLst>
          </a:custGeom>
          <a:ln w="12700">
            <a:solidFill>
              <a:srgbClr val="4D4D4D"/>
            </a:solidFill>
          </a:ln>
        </p:spPr>
        <p:txBody>
          <a:bodyPr wrap="square" lIns="0" tIns="0" rIns="0" bIns="0" rtlCol="0"/>
          <a:lstStyle/>
          <a:p>
            <a:endParaRPr/>
          </a:p>
        </p:txBody>
      </p:sp>
      <p:sp>
        <p:nvSpPr>
          <p:cNvPr id="8" name="object 8"/>
          <p:cNvSpPr txBox="1"/>
          <p:nvPr/>
        </p:nvSpPr>
        <p:spPr>
          <a:xfrm>
            <a:off x="7359142" y="945007"/>
            <a:ext cx="924560" cy="391160"/>
          </a:xfrm>
          <a:prstGeom prst="rect">
            <a:avLst/>
          </a:prstGeom>
        </p:spPr>
        <p:txBody>
          <a:bodyPr vert="horz" wrap="square" lIns="0" tIns="12700" rIns="0" bIns="0" rtlCol="0">
            <a:spAutoFit/>
          </a:bodyPr>
          <a:lstStyle/>
          <a:p>
            <a:pPr marL="12700" marR="5080">
              <a:lnSpc>
                <a:spcPct val="100000"/>
              </a:lnSpc>
              <a:spcBef>
                <a:spcPts val="100"/>
              </a:spcBef>
            </a:pPr>
            <a:r>
              <a:rPr sz="1200" b="1" dirty="0">
                <a:latin typeface="Arial"/>
                <a:cs typeface="Arial"/>
              </a:rPr>
              <a:t>Legal  </a:t>
            </a:r>
            <a:r>
              <a:rPr sz="1200" b="1" spc="-5" dirty="0">
                <a:latin typeface="Arial"/>
                <a:cs typeface="Arial"/>
              </a:rPr>
              <a:t>r</a:t>
            </a:r>
            <a:r>
              <a:rPr sz="1200" b="1" dirty="0">
                <a:latin typeface="Arial"/>
                <a:cs typeface="Arial"/>
              </a:rPr>
              <a:t>epos</a:t>
            </a:r>
            <a:r>
              <a:rPr sz="1200" b="1" spc="5" dirty="0">
                <a:latin typeface="Arial"/>
                <a:cs typeface="Arial"/>
              </a:rPr>
              <a:t>s</a:t>
            </a:r>
            <a:r>
              <a:rPr sz="1200" b="1" dirty="0">
                <a:latin typeface="Arial"/>
                <a:cs typeface="Arial"/>
              </a:rPr>
              <a:t>e</a:t>
            </a:r>
            <a:r>
              <a:rPr sz="1200" b="1" spc="-10" dirty="0">
                <a:latin typeface="Arial"/>
                <a:cs typeface="Arial"/>
              </a:rPr>
              <a:t>s</a:t>
            </a:r>
            <a:r>
              <a:rPr sz="1200" b="1" dirty="0">
                <a:latin typeface="Arial"/>
                <a:cs typeface="Arial"/>
              </a:rPr>
              <a:t>ion</a:t>
            </a:r>
            <a:endParaRPr sz="1200">
              <a:latin typeface="Arial"/>
              <a:cs typeface="Arial"/>
            </a:endParaRPr>
          </a:p>
        </p:txBody>
      </p:sp>
      <p:sp>
        <p:nvSpPr>
          <p:cNvPr id="9" name="object 9"/>
          <p:cNvSpPr txBox="1"/>
          <p:nvPr/>
        </p:nvSpPr>
        <p:spPr>
          <a:xfrm>
            <a:off x="8355838" y="945007"/>
            <a:ext cx="659765" cy="391160"/>
          </a:xfrm>
          <a:prstGeom prst="rect">
            <a:avLst/>
          </a:prstGeom>
        </p:spPr>
        <p:txBody>
          <a:bodyPr vert="horz" wrap="square" lIns="0" tIns="12700" rIns="0" bIns="0" rtlCol="0">
            <a:spAutoFit/>
          </a:bodyPr>
          <a:lstStyle/>
          <a:p>
            <a:pPr marL="12700" marR="5080">
              <a:lnSpc>
                <a:spcPct val="100000"/>
              </a:lnSpc>
              <a:spcBef>
                <a:spcPts val="100"/>
              </a:spcBef>
            </a:pPr>
            <a:r>
              <a:rPr sz="1200" b="1" spc="-10" dirty="0">
                <a:latin typeface="Arial"/>
                <a:cs typeface="Arial"/>
              </a:rPr>
              <a:t>Asset  </a:t>
            </a:r>
            <a:r>
              <a:rPr sz="1200" b="1" spc="-5" dirty="0">
                <a:latin typeface="Arial"/>
                <a:cs typeface="Arial"/>
              </a:rPr>
              <a:t>r</a:t>
            </a:r>
            <a:r>
              <a:rPr sz="1200" b="1" dirty="0">
                <a:latin typeface="Arial"/>
                <a:cs typeface="Arial"/>
              </a:rPr>
              <a:t>eco</a:t>
            </a:r>
            <a:r>
              <a:rPr sz="1200" b="1" spc="-25" dirty="0">
                <a:latin typeface="Arial"/>
                <a:cs typeface="Arial"/>
              </a:rPr>
              <a:t>v</a:t>
            </a:r>
            <a:r>
              <a:rPr sz="1200" b="1" dirty="0">
                <a:latin typeface="Arial"/>
                <a:cs typeface="Arial"/>
              </a:rPr>
              <a:t>e</a:t>
            </a:r>
            <a:r>
              <a:rPr sz="1200" b="1" spc="-5" dirty="0">
                <a:latin typeface="Arial"/>
                <a:cs typeface="Arial"/>
              </a:rPr>
              <a:t>ry</a:t>
            </a:r>
            <a:endParaRPr sz="1200">
              <a:latin typeface="Arial"/>
              <a:cs typeface="Arial"/>
            </a:endParaRPr>
          </a:p>
        </p:txBody>
      </p:sp>
      <p:sp>
        <p:nvSpPr>
          <p:cNvPr id="10" name="object 10"/>
          <p:cNvSpPr txBox="1"/>
          <p:nvPr/>
        </p:nvSpPr>
        <p:spPr>
          <a:xfrm>
            <a:off x="9138919" y="1127886"/>
            <a:ext cx="593725"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a:cs typeface="Arial"/>
              </a:rPr>
              <a:t>Storage</a:t>
            </a:r>
            <a:endParaRPr sz="1200">
              <a:latin typeface="Arial"/>
              <a:cs typeface="Arial"/>
            </a:endParaRPr>
          </a:p>
        </p:txBody>
      </p:sp>
      <p:sp>
        <p:nvSpPr>
          <p:cNvPr id="11" name="object 11"/>
          <p:cNvSpPr/>
          <p:nvPr/>
        </p:nvSpPr>
        <p:spPr>
          <a:xfrm>
            <a:off x="554736" y="2071776"/>
            <a:ext cx="969263" cy="306933"/>
          </a:xfrm>
          <a:prstGeom prst="rect">
            <a:avLst/>
          </a:prstGeom>
          <a:blipFill>
            <a:blip r:embed="rId2" cstate="print"/>
            <a:stretch>
              <a:fillRect/>
            </a:stretch>
          </a:blipFill>
        </p:spPr>
        <p:txBody>
          <a:bodyPr wrap="square" lIns="0" tIns="0" rIns="0" bIns="0" rtlCol="0"/>
          <a:lstStyle/>
          <a:p>
            <a:endParaRPr/>
          </a:p>
        </p:txBody>
      </p:sp>
      <p:sp>
        <p:nvSpPr>
          <p:cNvPr id="12" name="object 12"/>
          <p:cNvSpPr/>
          <p:nvPr/>
        </p:nvSpPr>
        <p:spPr>
          <a:xfrm>
            <a:off x="10189631" y="2163115"/>
            <a:ext cx="133985" cy="139700"/>
          </a:xfrm>
          <a:custGeom>
            <a:avLst/>
            <a:gdLst/>
            <a:ahLst/>
            <a:cxnLst/>
            <a:rect l="l" t="t" r="r" b="b"/>
            <a:pathLst>
              <a:path w="133984" h="139700">
                <a:moveTo>
                  <a:pt x="133916" y="0"/>
                </a:moveTo>
                <a:lnTo>
                  <a:pt x="47052" y="139079"/>
                </a:lnTo>
                <a:lnTo>
                  <a:pt x="0" y="83664"/>
                </a:lnTo>
              </a:path>
            </a:pathLst>
          </a:custGeom>
          <a:ln w="11576">
            <a:solidFill>
              <a:srgbClr val="051F79"/>
            </a:solidFill>
          </a:ln>
        </p:spPr>
        <p:txBody>
          <a:bodyPr wrap="square" lIns="0" tIns="0" rIns="0" bIns="0" rtlCol="0"/>
          <a:lstStyle/>
          <a:p>
            <a:endParaRPr/>
          </a:p>
        </p:txBody>
      </p:sp>
      <p:sp>
        <p:nvSpPr>
          <p:cNvPr id="13" name="object 13"/>
          <p:cNvSpPr/>
          <p:nvPr/>
        </p:nvSpPr>
        <p:spPr>
          <a:xfrm>
            <a:off x="9406676" y="2163115"/>
            <a:ext cx="133985" cy="139700"/>
          </a:xfrm>
          <a:custGeom>
            <a:avLst/>
            <a:gdLst/>
            <a:ahLst/>
            <a:cxnLst/>
            <a:rect l="l" t="t" r="r" b="b"/>
            <a:pathLst>
              <a:path w="133984" h="139700">
                <a:moveTo>
                  <a:pt x="133916" y="0"/>
                </a:moveTo>
                <a:lnTo>
                  <a:pt x="47052" y="139079"/>
                </a:lnTo>
                <a:lnTo>
                  <a:pt x="0" y="83664"/>
                </a:lnTo>
              </a:path>
            </a:pathLst>
          </a:custGeom>
          <a:ln w="11576">
            <a:solidFill>
              <a:srgbClr val="051F79"/>
            </a:solidFill>
          </a:ln>
        </p:spPr>
        <p:txBody>
          <a:bodyPr wrap="square" lIns="0" tIns="0" rIns="0" bIns="0" rtlCol="0"/>
          <a:lstStyle/>
          <a:p>
            <a:endParaRPr/>
          </a:p>
        </p:txBody>
      </p:sp>
      <p:sp>
        <p:nvSpPr>
          <p:cNvPr id="14" name="object 14"/>
          <p:cNvSpPr/>
          <p:nvPr/>
        </p:nvSpPr>
        <p:spPr>
          <a:xfrm>
            <a:off x="8580414" y="2246780"/>
            <a:ext cx="24765" cy="29209"/>
          </a:xfrm>
          <a:custGeom>
            <a:avLst/>
            <a:gdLst/>
            <a:ahLst/>
            <a:cxnLst/>
            <a:rect l="l" t="t" r="r" b="b"/>
            <a:pathLst>
              <a:path w="24765" h="29210">
                <a:moveTo>
                  <a:pt x="24315" y="28636"/>
                </a:moveTo>
                <a:lnTo>
                  <a:pt x="0" y="0"/>
                </a:lnTo>
              </a:path>
            </a:pathLst>
          </a:custGeom>
          <a:ln w="11444">
            <a:solidFill>
              <a:srgbClr val="051F79"/>
            </a:solidFill>
          </a:ln>
        </p:spPr>
        <p:txBody>
          <a:bodyPr wrap="square" lIns="0" tIns="0" rIns="0" bIns="0" rtlCol="0"/>
          <a:lstStyle/>
          <a:p>
            <a:endParaRPr/>
          </a:p>
        </p:txBody>
      </p:sp>
      <p:sp>
        <p:nvSpPr>
          <p:cNvPr id="15" name="object 15"/>
          <p:cNvSpPr/>
          <p:nvPr/>
        </p:nvSpPr>
        <p:spPr>
          <a:xfrm>
            <a:off x="554736" y="1592821"/>
            <a:ext cx="845184" cy="152666"/>
          </a:xfrm>
          <a:prstGeom prst="rect">
            <a:avLst/>
          </a:prstGeom>
          <a:blipFill>
            <a:blip r:embed="rId3" cstate="print"/>
            <a:stretch>
              <a:fillRect/>
            </a:stretch>
          </a:blipFill>
        </p:spPr>
        <p:txBody>
          <a:bodyPr wrap="square" lIns="0" tIns="0" rIns="0" bIns="0" rtlCol="0"/>
          <a:lstStyle/>
          <a:p>
            <a:endParaRPr/>
          </a:p>
        </p:txBody>
      </p:sp>
      <p:sp>
        <p:nvSpPr>
          <p:cNvPr id="16" name="object 16"/>
          <p:cNvSpPr/>
          <p:nvPr/>
        </p:nvSpPr>
        <p:spPr>
          <a:xfrm>
            <a:off x="7642646" y="1606982"/>
            <a:ext cx="133985" cy="139700"/>
          </a:xfrm>
          <a:custGeom>
            <a:avLst/>
            <a:gdLst/>
            <a:ahLst/>
            <a:cxnLst/>
            <a:rect l="l" t="t" r="r" b="b"/>
            <a:pathLst>
              <a:path w="133984" h="139700">
                <a:moveTo>
                  <a:pt x="133916" y="0"/>
                </a:moveTo>
                <a:lnTo>
                  <a:pt x="47052" y="139079"/>
                </a:lnTo>
                <a:lnTo>
                  <a:pt x="0" y="83664"/>
                </a:lnTo>
              </a:path>
            </a:pathLst>
          </a:custGeom>
          <a:ln w="11576">
            <a:solidFill>
              <a:srgbClr val="051F79"/>
            </a:solidFill>
          </a:ln>
        </p:spPr>
        <p:txBody>
          <a:bodyPr wrap="square" lIns="0" tIns="0" rIns="0" bIns="0" rtlCol="0"/>
          <a:lstStyle/>
          <a:p>
            <a:endParaRPr/>
          </a:p>
        </p:txBody>
      </p:sp>
      <p:sp>
        <p:nvSpPr>
          <p:cNvPr id="17" name="object 17"/>
          <p:cNvSpPr/>
          <p:nvPr/>
        </p:nvSpPr>
        <p:spPr>
          <a:xfrm>
            <a:off x="8602131" y="1606982"/>
            <a:ext cx="133985" cy="139700"/>
          </a:xfrm>
          <a:custGeom>
            <a:avLst/>
            <a:gdLst/>
            <a:ahLst/>
            <a:cxnLst/>
            <a:rect l="l" t="t" r="r" b="b"/>
            <a:pathLst>
              <a:path w="133984" h="139700">
                <a:moveTo>
                  <a:pt x="133917" y="0"/>
                </a:moveTo>
                <a:lnTo>
                  <a:pt x="47051" y="139079"/>
                </a:lnTo>
                <a:lnTo>
                  <a:pt x="0" y="83664"/>
                </a:lnTo>
              </a:path>
            </a:pathLst>
          </a:custGeom>
          <a:ln w="11576">
            <a:solidFill>
              <a:srgbClr val="051F79"/>
            </a:solidFill>
          </a:ln>
        </p:spPr>
        <p:txBody>
          <a:bodyPr wrap="square" lIns="0" tIns="0" rIns="0" bIns="0" rtlCol="0"/>
          <a:lstStyle/>
          <a:p>
            <a:endParaRPr/>
          </a:p>
        </p:txBody>
      </p:sp>
      <p:sp>
        <p:nvSpPr>
          <p:cNvPr id="18" name="object 18"/>
          <p:cNvSpPr txBox="1"/>
          <p:nvPr/>
        </p:nvSpPr>
        <p:spPr>
          <a:xfrm>
            <a:off x="542036" y="941323"/>
            <a:ext cx="6624320" cy="917575"/>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a:cs typeface="Arial"/>
              </a:rPr>
              <a:t>Potential</a:t>
            </a:r>
            <a:endParaRPr sz="1200">
              <a:latin typeface="Arial"/>
              <a:cs typeface="Arial"/>
            </a:endParaRPr>
          </a:p>
          <a:p>
            <a:pPr marL="12700">
              <a:lnSpc>
                <a:spcPct val="100000"/>
              </a:lnSpc>
              <a:spcBef>
                <a:spcPts val="15"/>
              </a:spcBef>
              <a:tabLst>
                <a:tab pos="1475105" algn="l"/>
              </a:tabLst>
            </a:pPr>
            <a:r>
              <a:rPr sz="1200" b="1" spc="-5" dirty="0">
                <a:latin typeface="Arial"/>
                <a:cs typeface="Arial"/>
              </a:rPr>
              <a:t>partner	Description</a:t>
            </a:r>
            <a:endParaRPr sz="1200">
              <a:latin typeface="Arial"/>
              <a:cs typeface="Arial"/>
            </a:endParaRPr>
          </a:p>
          <a:p>
            <a:pPr>
              <a:lnSpc>
                <a:spcPct val="100000"/>
              </a:lnSpc>
              <a:spcBef>
                <a:spcPts val="40"/>
              </a:spcBef>
            </a:pPr>
            <a:endParaRPr sz="1050">
              <a:latin typeface="Arial"/>
              <a:cs typeface="Arial"/>
            </a:endParaRPr>
          </a:p>
          <a:p>
            <a:pPr marL="1475105" marR="5080">
              <a:lnSpc>
                <a:spcPct val="100000"/>
              </a:lnSpc>
            </a:pPr>
            <a:r>
              <a:rPr sz="1200" b="1" dirty="0">
                <a:latin typeface="Arial"/>
                <a:cs typeface="Arial"/>
              </a:rPr>
              <a:t>Leading European </a:t>
            </a:r>
            <a:r>
              <a:rPr sz="1200" spc="-5" dirty="0">
                <a:latin typeface="Arial"/>
                <a:cs typeface="Arial"/>
              </a:rPr>
              <a:t>servicer </a:t>
            </a:r>
            <a:r>
              <a:rPr sz="1200" dirty="0">
                <a:latin typeface="Arial"/>
                <a:cs typeface="Arial"/>
              </a:rPr>
              <a:t>specialized </a:t>
            </a:r>
            <a:r>
              <a:rPr sz="1200" spc="-5" dirty="0">
                <a:latin typeface="Arial"/>
                <a:cs typeface="Arial"/>
              </a:rPr>
              <a:t>in </a:t>
            </a:r>
            <a:r>
              <a:rPr sz="1200" dirty="0">
                <a:latin typeface="Arial"/>
                <a:cs typeface="Arial"/>
              </a:rPr>
              <a:t>and recovery of NPLs, UTPs</a:t>
            </a:r>
            <a:r>
              <a:rPr sz="1200" spc="-120" dirty="0">
                <a:latin typeface="Arial"/>
                <a:cs typeface="Arial"/>
              </a:rPr>
              <a:t> </a:t>
            </a:r>
            <a:r>
              <a:rPr sz="1200" dirty="0">
                <a:latin typeface="Arial"/>
                <a:cs typeface="Arial"/>
              </a:rPr>
              <a:t>and  </a:t>
            </a:r>
            <a:r>
              <a:rPr sz="1200" spc="-5" dirty="0">
                <a:latin typeface="Arial"/>
                <a:cs typeface="Arial"/>
              </a:rPr>
              <a:t>REO </a:t>
            </a:r>
            <a:r>
              <a:rPr sz="1200" dirty="0">
                <a:latin typeface="Arial"/>
                <a:cs typeface="Arial"/>
              </a:rPr>
              <a:t>assets – </a:t>
            </a:r>
            <a:r>
              <a:rPr sz="1200" b="1" dirty="0">
                <a:latin typeface="Arial"/>
                <a:cs typeface="Arial"/>
              </a:rPr>
              <a:t>already collaborates </a:t>
            </a:r>
            <a:r>
              <a:rPr sz="1200" b="1" spc="5" dirty="0">
                <a:latin typeface="Arial"/>
                <a:cs typeface="Arial"/>
              </a:rPr>
              <a:t>with </a:t>
            </a:r>
            <a:r>
              <a:rPr sz="1200" b="1" spc="-5" dirty="0">
                <a:latin typeface="Arial"/>
                <a:cs typeface="Arial"/>
              </a:rPr>
              <a:t>ERB </a:t>
            </a:r>
            <a:r>
              <a:rPr sz="1200" b="1" dirty="0">
                <a:latin typeface="Arial"/>
                <a:cs typeface="Arial"/>
              </a:rPr>
              <a:t>on </a:t>
            </a:r>
            <a:r>
              <a:rPr sz="1200" b="1" spc="-5" dirty="0">
                <a:latin typeface="Arial"/>
                <a:cs typeface="Arial"/>
              </a:rPr>
              <a:t>mortgage</a:t>
            </a:r>
            <a:r>
              <a:rPr sz="1200" b="1" spc="-90" dirty="0">
                <a:latin typeface="Arial"/>
                <a:cs typeface="Arial"/>
              </a:rPr>
              <a:t> </a:t>
            </a:r>
            <a:r>
              <a:rPr sz="1200" b="1" spc="-5" dirty="0">
                <a:latin typeface="Arial"/>
                <a:cs typeface="Arial"/>
              </a:rPr>
              <a:t>portfolios</a:t>
            </a:r>
            <a:endParaRPr sz="1200">
              <a:latin typeface="Arial"/>
              <a:cs typeface="Arial"/>
            </a:endParaRPr>
          </a:p>
        </p:txBody>
      </p:sp>
      <p:sp>
        <p:nvSpPr>
          <p:cNvPr id="19" name="object 19"/>
          <p:cNvSpPr/>
          <p:nvPr/>
        </p:nvSpPr>
        <p:spPr>
          <a:xfrm>
            <a:off x="573328" y="6037122"/>
            <a:ext cx="545922" cy="186715"/>
          </a:xfrm>
          <a:prstGeom prst="rect">
            <a:avLst/>
          </a:prstGeom>
          <a:blipFill>
            <a:blip r:embed="rId4" cstate="print"/>
            <a:stretch>
              <a:fillRect/>
            </a:stretch>
          </a:blipFill>
        </p:spPr>
        <p:txBody>
          <a:bodyPr wrap="square" lIns="0" tIns="0" rIns="0" bIns="0" rtlCol="0"/>
          <a:lstStyle/>
          <a:p>
            <a:endParaRPr/>
          </a:p>
        </p:txBody>
      </p:sp>
      <p:sp>
        <p:nvSpPr>
          <p:cNvPr id="20" name="object 20"/>
          <p:cNvSpPr/>
          <p:nvPr/>
        </p:nvSpPr>
        <p:spPr>
          <a:xfrm>
            <a:off x="11069868" y="6068301"/>
            <a:ext cx="133985" cy="139700"/>
          </a:xfrm>
          <a:custGeom>
            <a:avLst/>
            <a:gdLst/>
            <a:ahLst/>
            <a:cxnLst/>
            <a:rect l="l" t="t" r="r" b="b"/>
            <a:pathLst>
              <a:path w="133984" h="139700">
                <a:moveTo>
                  <a:pt x="133916" y="0"/>
                </a:moveTo>
                <a:lnTo>
                  <a:pt x="47052" y="139079"/>
                </a:lnTo>
                <a:lnTo>
                  <a:pt x="0" y="83664"/>
                </a:lnTo>
              </a:path>
            </a:pathLst>
          </a:custGeom>
          <a:ln w="11576">
            <a:solidFill>
              <a:srgbClr val="051F79"/>
            </a:solidFill>
          </a:ln>
        </p:spPr>
        <p:txBody>
          <a:bodyPr wrap="square" lIns="0" tIns="0" rIns="0" bIns="0" rtlCol="0"/>
          <a:lstStyle/>
          <a:p>
            <a:endParaRPr/>
          </a:p>
        </p:txBody>
      </p:sp>
      <p:sp>
        <p:nvSpPr>
          <p:cNvPr id="21" name="object 21"/>
          <p:cNvSpPr txBox="1"/>
          <p:nvPr/>
        </p:nvSpPr>
        <p:spPr>
          <a:xfrm>
            <a:off x="2004822" y="5929680"/>
            <a:ext cx="4779645" cy="391160"/>
          </a:xfrm>
          <a:prstGeom prst="rect">
            <a:avLst/>
          </a:prstGeom>
        </p:spPr>
        <p:txBody>
          <a:bodyPr vert="horz" wrap="square" lIns="0" tIns="12700" rIns="0" bIns="0" rtlCol="0">
            <a:spAutoFit/>
          </a:bodyPr>
          <a:lstStyle/>
          <a:p>
            <a:pPr marL="12700" marR="5080">
              <a:lnSpc>
                <a:spcPct val="100000"/>
              </a:lnSpc>
              <a:spcBef>
                <a:spcPts val="100"/>
              </a:spcBef>
            </a:pPr>
            <a:r>
              <a:rPr sz="1200" b="1" dirty="0">
                <a:latin typeface="Arial"/>
                <a:cs typeface="Arial"/>
              </a:rPr>
              <a:t>German </a:t>
            </a:r>
            <a:r>
              <a:rPr sz="1200" b="1" spc="-5" dirty="0">
                <a:latin typeface="Arial"/>
                <a:cs typeface="Arial"/>
              </a:rPr>
              <a:t>multi-country platform </a:t>
            </a:r>
            <a:r>
              <a:rPr sz="1200" dirty="0">
                <a:latin typeface="Arial"/>
                <a:cs typeface="Arial"/>
              </a:rPr>
              <a:t>for car </a:t>
            </a:r>
            <a:r>
              <a:rPr sz="1200" spc="-5" dirty="0">
                <a:latin typeface="Arial"/>
                <a:cs typeface="Arial"/>
              </a:rPr>
              <a:t>subscriptions </a:t>
            </a:r>
            <a:r>
              <a:rPr sz="1200" dirty="0">
                <a:latin typeface="Arial"/>
                <a:cs typeface="Arial"/>
              </a:rPr>
              <a:t>and used </a:t>
            </a:r>
            <a:r>
              <a:rPr sz="1200" spc="-5" dirty="0">
                <a:latin typeface="Arial"/>
                <a:cs typeface="Arial"/>
              </a:rPr>
              <a:t>sales,  offering </a:t>
            </a:r>
            <a:r>
              <a:rPr sz="1200" dirty="0">
                <a:latin typeface="Arial"/>
                <a:cs typeface="Arial"/>
              </a:rPr>
              <a:t>a </a:t>
            </a:r>
            <a:r>
              <a:rPr sz="1200" spc="-5" dirty="0">
                <a:latin typeface="Arial"/>
                <a:cs typeface="Arial"/>
              </a:rPr>
              <a:t>digital </a:t>
            </a:r>
            <a:r>
              <a:rPr sz="1200" dirty="0">
                <a:latin typeface="Arial"/>
                <a:cs typeface="Arial"/>
              </a:rPr>
              <a:t>model </a:t>
            </a:r>
            <a:r>
              <a:rPr sz="1200" spc="-5" dirty="0">
                <a:latin typeface="Arial"/>
                <a:cs typeface="Arial"/>
              </a:rPr>
              <a:t>suited </a:t>
            </a:r>
            <a:r>
              <a:rPr sz="1200" dirty="0">
                <a:latin typeface="Arial"/>
                <a:cs typeface="Arial"/>
              </a:rPr>
              <a:t>for </a:t>
            </a:r>
            <a:r>
              <a:rPr sz="1200" spc="-5" dirty="0">
                <a:latin typeface="Arial"/>
                <a:cs typeface="Arial"/>
              </a:rPr>
              <a:t>remarketing vehicles </a:t>
            </a:r>
            <a:r>
              <a:rPr sz="1200" dirty="0">
                <a:latin typeface="Arial"/>
                <a:cs typeface="Arial"/>
              </a:rPr>
              <a:t>across</a:t>
            </a:r>
            <a:r>
              <a:rPr sz="1200" spc="-160" dirty="0">
                <a:latin typeface="Arial"/>
                <a:cs typeface="Arial"/>
              </a:rPr>
              <a:t> </a:t>
            </a:r>
            <a:r>
              <a:rPr sz="1200" dirty="0">
                <a:latin typeface="Arial"/>
                <a:cs typeface="Arial"/>
              </a:rPr>
              <a:t>Europe</a:t>
            </a:r>
            <a:endParaRPr sz="1200">
              <a:latin typeface="Arial"/>
              <a:cs typeface="Arial"/>
            </a:endParaRPr>
          </a:p>
        </p:txBody>
      </p:sp>
      <p:sp>
        <p:nvSpPr>
          <p:cNvPr id="22" name="object 22"/>
          <p:cNvSpPr/>
          <p:nvPr/>
        </p:nvSpPr>
        <p:spPr>
          <a:xfrm>
            <a:off x="502151" y="2675772"/>
            <a:ext cx="1009697" cy="264294"/>
          </a:xfrm>
          <a:prstGeom prst="rect">
            <a:avLst/>
          </a:prstGeom>
          <a:blipFill>
            <a:blip r:embed="rId5" cstate="print"/>
            <a:stretch>
              <a:fillRect/>
            </a:stretch>
          </a:blipFill>
        </p:spPr>
        <p:txBody>
          <a:bodyPr wrap="square" lIns="0" tIns="0" rIns="0" bIns="0" rtlCol="0"/>
          <a:lstStyle/>
          <a:p>
            <a:endParaRPr/>
          </a:p>
        </p:txBody>
      </p:sp>
      <p:sp>
        <p:nvSpPr>
          <p:cNvPr id="23" name="object 23"/>
          <p:cNvSpPr/>
          <p:nvPr/>
        </p:nvSpPr>
        <p:spPr>
          <a:xfrm>
            <a:off x="10189631" y="2719248"/>
            <a:ext cx="133985" cy="139700"/>
          </a:xfrm>
          <a:custGeom>
            <a:avLst/>
            <a:gdLst/>
            <a:ahLst/>
            <a:cxnLst/>
            <a:rect l="l" t="t" r="r" b="b"/>
            <a:pathLst>
              <a:path w="133984" h="139700">
                <a:moveTo>
                  <a:pt x="133916" y="0"/>
                </a:moveTo>
                <a:lnTo>
                  <a:pt x="47052" y="139079"/>
                </a:lnTo>
                <a:lnTo>
                  <a:pt x="0" y="83664"/>
                </a:lnTo>
              </a:path>
            </a:pathLst>
          </a:custGeom>
          <a:ln w="11576">
            <a:solidFill>
              <a:srgbClr val="051F79"/>
            </a:solidFill>
          </a:ln>
        </p:spPr>
        <p:txBody>
          <a:bodyPr wrap="square" lIns="0" tIns="0" rIns="0" bIns="0" rtlCol="0"/>
          <a:lstStyle/>
          <a:p>
            <a:endParaRPr/>
          </a:p>
        </p:txBody>
      </p:sp>
      <p:sp>
        <p:nvSpPr>
          <p:cNvPr id="24" name="object 24"/>
          <p:cNvSpPr/>
          <p:nvPr/>
        </p:nvSpPr>
        <p:spPr>
          <a:xfrm>
            <a:off x="9406676" y="2719248"/>
            <a:ext cx="133985" cy="139700"/>
          </a:xfrm>
          <a:custGeom>
            <a:avLst/>
            <a:gdLst/>
            <a:ahLst/>
            <a:cxnLst/>
            <a:rect l="l" t="t" r="r" b="b"/>
            <a:pathLst>
              <a:path w="133984" h="139700">
                <a:moveTo>
                  <a:pt x="133916" y="0"/>
                </a:moveTo>
                <a:lnTo>
                  <a:pt x="47052" y="139079"/>
                </a:lnTo>
                <a:lnTo>
                  <a:pt x="0" y="83664"/>
                </a:lnTo>
              </a:path>
            </a:pathLst>
          </a:custGeom>
          <a:ln w="11576">
            <a:solidFill>
              <a:srgbClr val="051F79"/>
            </a:solidFill>
          </a:ln>
        </p:spPr>
        <p:txBody>
          <a:bodyPr wrap="square" lIns="0" tIns="0" rIns="0" bIns="0" rtlCol="0"/>
          <a:lstStyle/>
          <a:p>
            <a:endParaRPr/>
          </a:p>
        </p:txBody>
      </p:sp>
      <p:sp>
        <p:nvSpPr>
          <p:cNvPr id="25" name="object 25"/>
          <p:cNvSpPr/>
          <p:nvPr/>
        </p:nvSpPr>
        <p:spPr>
          <a:xfrm>
            <a:off x="10189631" y="3275381"/>
            <a:ext cx="133985" cy="139700"/>
          </a:xfrm>
          <a:custGeom>
            <a:avLst/>
            <a:gdLst/>
            <a:ahLst/>
            <a:cxnLst/>
            <a:rect l="l" t="t" r="r" b="b"/>
            <a:pathLst>
              <a:path w="133984" h="139700">
                <a:moveTo>
                  <a:pt x="133916" y="0"/>
                </a:moveTo>
                <a:lnTo>
                  <a:pt x="47052" y="139079"/>
                </a:lnTo>
                <a:lnTo>
                  <a:pt x="0" y="83664"/>
                </a:lnTo>
              </a:path>
            </a:pathLst>
          </a:custGeom>
          <a:ln w="11576">
            <a:solidFill>
              <a:srgbClr val="051F79"/>
            </a:solidFill>
          </a:ln>
        </p:spPr>
        <p:txBody>
          <a:bodyPr wrap="square" lIns="0" tIns="0" rIns="0" bIns="0" rtlCol="0"/>
          <a:lstStyle/>
          <a:p>
            <a:endParaRPr/>
          </a:p>
        </p:txBody>
      </p:sp>
      <p:sp>
        <p:nvSpPr>
          <p:cNvPr id="26" name="object 26"/>
          <p:cNvSpPr/>
          <p:nvPr/>
        </p:nvSpPr>
        <p:spPr>
          <a:xfrm>
            <a:off x="9406676" y="3275381"/>
            <a:ext cx="133985" cy="139700"/>
          </a:xfrm>
          <a:custGeom>
            <a:avLst/>
            <a:gdLst/>
            <a:ahLst/>
            <a:cxnLst/>
            <a:rect l="l" t="t" r="r" b="b"/>
            <a:pathLst>
              <a:path w="133984" h="139700">
                <a:moveTo>
                  <a:pt x="133916" y="0"/>
                </a:moveTo>
                <a:lnTo>
                  <a:pt x="47052" y="139079"/>
                </a:lnTo>
                <a:lnTo>
                  <a:pt x="0" y="83664"/>
                </a:lnTo>
              </a:path>
            </a:pathLst>
          </a:custGeom>
          <a:ln w="11576">
            <a:solidFill>
              <a:srgbClr val="051F79"/>
            </a:solidFill>
          </a:ln>
        </p:spPr>
        <p:txBody>
          <a:bodyPr wrap="square" lIns="0" tIns="0" rIns="0" bIns="0" rtlCol="0"/>
          <a:lstStyle/>
          <a:p>
            <a:endParaRPr/>
          </a:p>
        </p:txBody>
      </p:sp>
      <p:sp>
        <p:nvSpPr>
          <p:cNvPr id="27" name="object 27"/>
          <p:cNvSpPr/>
          <p:nvPr/>
        </p:nvSpPr>
        <p:spPr>
          <a:xfrm>
            <a:off x="554736" y="3833168"/>
            <a:ext cx="1129017" cy="250192"/>
          </a:xfrm>
          <a:prstGeom prst="rect">
            <a:avLst/>
          </a:prstGeom>
          <a:blipFill>
            <a:blip r:embed="rId6" cstate="print"/>
            <a:stretch>
              <a:fillRect/>
            </a:stretch>
          </a:blipFill>
        </p:spPr>
        <p:txBody>
          <a:bodyPr wrap="square" lIns="0" tIns="0" rIns="0" bIns="0" rtlCol="0"/>
          <a:lstStyle/>
          <a:p>
            <a:endParaRPr/>
          </a:p>
        </p:txBody>
      </p:sp>
      <p:sp>
        <p:nvSpPr>
          <p:cNvPr id="28" name="object 28"/>
          <p:cNvSpPr/>
          <p:nvPr/>
        </p:nvSpPr>
        <p:spPr>
          <a:xfrm>
            <a:off x="10189631" y="3918001"/>
            <a:ext cx="133985" cy="139700"/>
          </a:xfrm>
          <a:custGeom>
            <a:avLst/>
            <a:gdLst/>
            <a:ahLst/>
            <a:cxnLst/>
            <a:rect l="l" t="t" r="r" b="b"/>
            <a:pathLst>
              <a:path w="133984" h="139700">
                <a:moveTo>
                  <a:pt x="133916" y="0"/>
                </a:moveTo>
                <a:lnTo>
                  <a:pt x="47052" y="139079"/>
                </a:lnTo>
                <a:lnTo>
                  <a:pt x="0" y="83664"/>
                </a:lnTo>
              </a:path>
            </a:pathLst>
          </a:custGeom>
          <a:ln w="11576">
            <a:solidFill>
              <a:srgbClr val="051F79"/>
            </a:solidFill>
          </a:ln>
        </p:spPr>
        <p:txBody>
          <a:bodyPr wrap="square" lIns="0" tIns="0" rIns="0" bIns="0" rtlCol="0"/>
          <a:lstStyle/>
          <a:p>
            <a:endParaRPr/>
          </a:p>
        </p:txBody>
      </p:sp>
      <p:sp>
        <p:nvSpPr>
          <p:cNvPr id="29" name="object 29"/>
          <p:cNvSpPr/>
          <p:nvPr/>
        </p:nvSpPr>
        <p:spPr>
          <a:xfrm>
            <a:off x="9406676" y="3918001"/>
            <a:ext cx="133985" cy="139700"/>
          </a:xfrm>
          <a:custGeom>
            <a:avLst/>
            <a:gdLst/>
            <a:ahLst/>
            <a:cxnLst/>
            <a:rect l="l" t="t" r="r" b="b"/>
            <a:pathLst>
              <a:path w="133984" h="139700">
                <a:moveTo>
                  <a:pt x="133916" y="0"/>
                </a:moveTo>
                <a:lnTo>
                  <a:pt x="47052" y="139079"/>
                </a:lnTo>
                <a:lnTo>
                  <a:pt x="0" y="83664"/>
                </a:lnTo>
              </a:path>
            </a:pathLst>
          </a:custGeom>
          <a:ln w="11576">
            <a:solidFill>
              <a:srgbClr val="051F79"/>
            </a:solidFill>
          </a:ln>
        </p:spPr>
        <p:txBody>
          <a:bodyPr wrap="square" lIns="0" tIns="0" rIns="0" bIns="0" rtlCol="0"/>
          <a:lstStyle/>
          <a:p>
            <a:endParaRPr/>
          </a:p>
        </p:txBody>
      </p:sp>
      <p:sp>
        <p:nvSpPr>
          <p:cNvPr id="30" name="object 30"/>
          <p:cNvSpPr txBox="1"/>
          <p:nvPr/>
        </p:nvSpPr>
        <p:spPr>
          <a:xfrm>
            <a:off x="2004822" y="1930984"/>
            <a:ext cx="5355590" cy="2329815"/>
          </a:xfrm>
          <a:prstGeom prst="rect">
            <a:avLst/>
          </a:prstGeom>
        </p:spPr>
        <p:txBody>
          <a:bodyPr vert="horz" wrap="square" lIns="0" tIns="12700" rIns="0" bIns="0" rtlCol="0">
            <a:spAutoFit/>
          </a:bodyPr>
          <a:lstStyle/>
          <a:p>
            <a:pPr marL="12700" marR="5080">
              <a:lnSpc>
                <a:spcPct val="100000"/>
              </a:lnSpc>
              <a:spcBef>
                <a:spcPts val="100"/>
              </a:spcBef>
            </a:pPr>
            <a:r>
              <a:rPr sz="1200" b="1" spc="-5" dirty="0">
                <a:latin typeface="Arial"/>
                <a:cs typeface="Arial"/>
              </a:rPr>
              <a:t>DEKRA </a:t>
            </a:r>
            <a:r>
              <a:rPr sz="1200" b="1" dirty="0">
                <a:latin typeface="Arial"/>
                <a:cs typeface="Arial"/>
              </a:rPr>
              <a:t>Imperial </a:t>
            </a:r>
            <a:r>
              <a:rPr sz="1200" spc="-5" dirty="0">
                <a:latin typeface="Arial"/>
                <a:cs typeface="Arial"/>
              </a:rPr>
              <a:t>is Europe’s </a:t>
            </a:r>
            <a:r>
              <a:rPr sz="1200" dirty="0">
                <a:latin typeface="Arial"/>
                <a:cs typeface="Arial"/>
              </a:rPr>
              <a:t>and </a:t>
            </a:r>
            <a:r>
              <a:rPr sz="1200" spc="-5" dirty="0">
                <a:latin typeface="Arial"/>
                <a:cs typeface="Arial"/>
              </a:rPr>
              <a:t>Greece’s leading vehicle inspection  </a:t>
            </a:r>
            <a:r>
              <a:rPr sz="1200" spc="-15" dirty="0">
                <a:latin typeface="Arial"/>
                <a:cs typeface="Arial"/>
              </a:rPr>
              <a:t>company, </a:t>
            </a:r>
            <a:r>
              <a:rPr sz="1200" spc="-5" dirty="0">
                <a:latin typeface="Arial"/>
                <a:cs typeface="Arial"/>
              </a:rPr>
              <a:t>performing </a:t>
            </a:r>
            <a:r>
              <a:rPr sz="1200" b="1" dirty="0">
                <a:latin typeface="Arial"/>
                <a:cs typeface="Arial"/>
              </a:rPr>
              <a:t>10,000+ </a:t>
            </a:r>
            <a:r>
              <a:rPr sz="1200" b="1" spc="-5" dirty="0">
                <a:latin typeface="Arial"/>
                <a:cs typeface="Arial"/>
              </a:rPr>
              <a:t>vehicle </a:t>
            </a:r>
            <a:r>
              <a:rPr sz="1200" b="1" dirty="0">
                <a:latin typeface="Arial"/>
                <a:cs typeface="Arial"/>
              </a:rPr>
              <a:t>checks </a:t>
            </a:r>
            <a:r>
              <a:rPr sz="1200" b="1" spc="-10" dirty="0">
                <a:latin typeface="Arial"/>
                <a:cs typeface="Arial"/>
              </a:rPr>
              <a:t>annually</a:t>
            </a:r>
            <a:r>
              <a:rPr sz="1200" spc="-10" dirty="0">
                <a:latin typeface="Arial"/>
                <a:cs typeface="Arial"/>
              </a:rPr>
              <a:t>. </a:t>
            </a:r>
            <a:r>
              <a:rPr sz="1200" spc="5" dirty="0">
                <a:latin typeface="Arial"/>
                <a:cs typeface="Arial"/>
              </a:rPr>
              <a:t>While </a:t>
            </a:r>
            <a:r>
              <a:rPr sz="1200" spc="-5" dirty="0">
                <a:latin typeface="Arial"/>
                <a:cs typeface="Arial"/>
              </a:rPr>
              <a:t>its </a:t>
            </a:r>
            <a:r>
              <a:rPr sz="1200" dirty="0">
                <a:latin typeface="Arial"/>
                <a:cs typeface="Arial"/>
              </a:rPr>
              <a:t>core </a:t>
            </a:r>
            <a:r>
              <a:rPr sz="1200" spc="-5" dirty="0">
                <a:latin typeface="Arial"/>
                <a:cs typeface="Arial"/>
              </a:rPr>
              <a:t>is  </a:t>
            </a:r>
            <a:r>
              <a:rPr sz="1200" b="1" spc="-5" dirty="0">
                <a:latin typeface="Arial"/>
                <a:cs typeface="Arial"/>
              </a:rPr>
              <a:t>vehicle </a:t>
            </a:r>
            <a:r>
              <a:rPr sz="1200" b="1" dirty="0">
                <a:latin typeface="Arial"/>
                <a:cs typeface="Arial"/>
              </a:rPr>
              <a:t>inspection</a:t>
            </a:r>
            <a:r>
              <a:rPr sz="1200" dirty="0">
                <a:latin typeface="Arial"/>
                <a:cs typeface="Arial"/>
              </a:rPr>
              <a:t>, </a:t>
            </a:r>
            <a:r>
              <a:rPr sz="1200" spc="-5" dirty="0">
                <a:latin typeface="Arial"/>
                <a:cs typeface="Arial"/>
              </a:rPr>
              <a:t>it </a:t>
            </a:r>
            <a:r>
              <a:rPr sz="1200" dirty="0">
                <a:latin typeface="Arial"/>
                <a:cs typeface="Arial"/>
              </a:rPr>
              <a:t>can offer the </a:t>
            </a:r>
            <a:r>
              <a:rPr sz="1200" spc="-5" dirty="0">
                <a:latin typeface="Arial"/>
                <a:cs typeface="Arial"/>
              </a:rPr>
              <a:t>service </a:t>
            </a:r>
            <a:r>
              <a:rPr sz="1200" dirty="0">
                <a:latin typeface="Arial"/>
                <a:cs typeface="Arial"/>
              </a:rPr>
              <a:t>of </a:t>
            </a:r>
            <a:r>
              <a:rPr sz="1200" b="1" dirty="0">
                <a:latin typeface="Arial"/>
                <a:cs typeface="Arial"/>
              </a:rPr>
              <a:t>car </a:t>
            </a:r>
            <a:r>
              <a:rPr sz="1200" b="1" spc="-5" dirty="0">
                <a:latin typeface="Arial"/>
                <a:cs typeface="Arial"/>
              </a:rPr>
              <a:t>storage </a:t>
            </a:r>
            <a:r>
              <a:rPr sz="1200" dirty="0">
                <a:latin typeface="Arial"/>
                <a:cs typeface="Arial"/>
              </a:rPr>
              <a:t>and </a:t>
            </a:r>
            <a:r>
              <a:rPr sz="1200" b="1" dirty="0">
                <a:latin typeface="Arial"/>
                <a:cs typeface="Arial"/>
              </a:rPr>
              <a:t>asset</a:t>
            </a:r>
            <a:r>
              <a:rPr sz="1200" b="1" spc="-155" dirty="0">
                <a:latin typeface="Arial"/>
                <a:cs typeface="Arial"/>
              </a:rPr>
              <a:t> </a:t>
            </a:r>
            <a:r>
              <a:rPr sz="1200" b="1" spc="-5" dirty="0">
                <a:latin typeface="Arial"/>
                <a:cs typeface="Arial"/>
              </a:rPr>
              <a:t>recovery</a:t>
            </a:r>
            <a:endParaRPr sz="1200">
              <a:latin typeface="Arial"/>
              <a:cs typeface="Arial"/>
            </a:endParaRPr>
          </a:p>
          <a:p>
            <a:pPr marL="12700">
              <a:lnSpc>
                <a:spcPct val="100000"/>
              </a:lnSpc>
              <a:spcBef>
                <a:spcPts val="790"/>
              </a:spcBef>
            </a:pPr>
            <a:r>
              <a:rPr sz="1200" dirty="0">
                <a:latin typeface="Arial"/>
                <a:cs typeface="Arial"/>
              </a:rPr>
              <a:t>Greek </a:t>
            </a:r>
            <a:r>
              <a:rPr sz="1200" spc="-5" dirty="0">
                <a:latin typeface="Arial"/>
                <a:cs typeface="Arial"/>
              </a:rPr>
              <a:t>logistics </a:t>
            </a:r>
            <a:r>
              <a:rPr sz="1200" dirty="0">
                <a:latin typeface="Arial"/>
                <a:cs typeface="Arial"/>
              </a:rPr>
              <a:t>and </a:t>
            </a:r>
            <a:r>
              <a:rPr sz="1200" spc="-5" dirty="0">
                <a:latin typeface="Arial"/>
                <a:cs typeface="Arial"/>
              </a:rPr>
              <a:t>vehicle services </a:t>
            </a:r>
            <a:r>
              <a:rPr sz="1200" spc="-15" dirty="0">
                <a:latin typeface="Arial"/>
                <a:cs typeface="Arial"/>
              </a:rPr>
              <a:t>company. </a:t>
            </a:r>
            <a:r>
              <a:rPr sz="1200" dirty="0">
                <a:latin typeface="Arial"/>
                <a:cs typeface="Arial"/>
              </a:rPr>
              <a:t>Its core </a:t>
            </a:r>
            <a:r>
              <a:rPr sz="1200" spc="-5" dirty="0">
                <a:latin typeface="Arial"/>
                <a:cs typeface="Arial"/>
              </a:rPr>
              <a:t>activities</a:t>
            </a:r>
            <a:r>
              <a:rPr sz="1200" spc="-70" dirty="0">
                <a:latin typeface="Arial"/>
                <a:cs typeface="Arial"/>
              </a:rPr>
              <a:t> </a:t>
            </a:r>
            <a:r>
              <a:rPr sz="1200" spc="-5" dirty="0">
                <a:latin typeface="Arial"/>
                <a:cs typeface="Arial"/>
              </a:rPr>
              <a:t>include</a:t>
            </a:r>
            <a:endParaRPr sz="1200">
              <a:latin typeface="Arial"/>
              <a:cs typeface="Arial"/>
            </a:endParaRPr>
          </a:p>
          <a:p>
            <a:pPr marL="12700">
              <a:lnSpc>
                <a:spcPct val="100000"/>
              </a:lnSpc>
            </a:pPr>
            <a:r>
              <a:rPr sz="1200" b="1" spc="-5" dirty="0">
                <a:latin typeface="Arial"/>
                <a:cs typeface="Arial"/>
              </a:rPr>
              <a:t>vehicle </a:t>
            </a:r>
            <a:r>
              <a:rPr sz="1200" b="1" dirty="0">
                <a:latin typeface="Arial"/>
                <a:cs typeface="Arial"/>
              </a:rPr>
              <a:t>storage</a:t>
            </a:r>
            <a:r>
              <a:rPr sz="1200" dirty="0">
                <a:latin typeface="Arial"/>
                <a:cs typeface="Arial"/>
              </a:rPr>
              <a:t>, </a:t>
            </a:r>
            <a:r>
              <a:rPr sz="1200" b="1" spc="-5" dirty="0">
                <a:latin typeface="Arial"/>
                <a:cs typeface="Arial"/>
              </a:rPr>
              <a:t>transportation</a:t>
            </a:r>
            <a:r>
              <a:rPr sz="1200" spc="-5" dirty="0">
                <a:latin typeface="Arial"/>
                <a:cs typeface="Arial"/>
              </a:rPr>
              <a:t>, </a:t>
            </a:r>
            <a:r>
              <a:rPr sz="1200" dirty="0">
                <a:latin typeface="Arial"/>
                <a:cs typeface="Arial"/>
              </a:rPr>
              <a:t>and </a:t>
            </a:r>
            <a:r>
              <a:rPr sz="1200" b="1" spc="-5" dirty="0">
                <a:latin typeface="Arial"/>
                <a:cs typeface="Arial"/>
              </a:rPr>
              <a:t>pre-delivery </a:t>
            </a:r>
            <a:r>
              <a:rPr sz="1200" b="1" dirty="0">
                <a:latin typeface="Arial"/>
                <a:cs typeface="Arial"/>
              </a:rPr>
              <a:t>inspections</a:t>
            </a:r>
            <a:r>
              <a:rPr sz="1200" b="1" spc="-15" dirty="0">
                <a:latin typeface="Arial"/>
                <a:cs typeface="Arial"/>
              </a:rPr>
              <a:t> </a:t>
            </a:r>
            <a:r>
              <a:rPr sz="1200" dirty="0">
                <a:latin typeface="Arial"/>
                <a:cs typeface="Arial"/>
              </a:rPr>
              <a:t>(PDI)</a:t>
            </a:r>
            <a:endParaRPr sz="1200">
              <a:latin typeface="Arial"/>
              <a:cs typeface="Arial"/>
            </a:endParaRPr>
          </a:p>
          <a:p>
            <a:pPr marL="12700" marR="431800">
              <a:lnSpc>
                <a:spcPct val="100000"/>
              </a:lnSpc>
              <a:spcBef>
                <a:spcPts val="770"/>
              </a:spcBef>
            </a:pPr>
            <a:r>
              <a:rPr sz="1200" spc="-5" dirty="0">
                <a:latin typeface="Arial"/>
                <a:cs typeface="Arial"/>
              </a:rPr>
              <a:t>Leading </a:t>
            </a:r>
            <a:r>
              <a:rPr sz="1200" dirty="0">
                <a:latin typeface="Arial"/>
                <a:cs typeface="Arial"/>
              </a:rPr>
              <a:t>Greek </a:t>
            </a:r>
            <a:r>
              <a:rPr sz="1200" spc="-5" dirty="0">
                <a:latin typeface="Arial"/>
                <a:cs typeface="Arial"/>
              </a:rPr>
              <a:t>automotive logistics provider </a:t>
            </a:r>
            <a:r>
              <a:rPr sz="1200" spc="-10" dirty="0">
                <a:latin typeface="Arial"/>
                <a:cs typeface="Arial"/>
              </a:rPr>
              <a:t>with </a:t>
            </a:r>
            <a:r>
              <a:rPr sz="1200" b="1" dirty="0">
                <a:latin typeface="Arial"/>
                <a:cs typeface="Arial"/>
              </a:rPr>
              <a:t>30+ </a:t>
            </a:r>
            <a:r>
              <a:rPr sz="1200" b="1" spc="-10" dirty="0">
                <a:latin typeface="Arial"/>
                <a:cs typeface="Arial"/>
              </a:rPr>
              <a:t>years </a:t>
            </a:r>
            <a:r>
              <a:rPr sz="1200" b="1" dirty="0">
                <a:latin typeface="Arial"/>
                <a:cs typeface="Arial"/>
              </a:rPr>
              <a:t>of  experience</a:t>
            </a:r>
            <a:r>
              <a:rPr sz="1200" dirty="0">
                <a:latin typeface="Arial"/>
                <a:cs typeface="Arial"/>
              </a:rPr>
              <a:t>. It </a:t>
            </a:r>
            <a:r>
              <a:rPr sz="1200" spc="-5" dirty="0">
                <a:latin typeface="Arial"/>
                <a:cs typeface="Arial"/>
              </a:rPr>
              <a:t>inspects </a:t>
            </a:r>
            <a:r>
              <a:rPr sz="1200" b="1" spc="-5" dirty="0">
                <a:latin typeface="Arial"/>
                <a:cs typeface="Arial"/>
              </a:rPr>
              <a:t>50,000+ vehicles annually </a:t>
            </a:r>
            <a:r>
              <a:rPr sz="1200" dirty="0">
                <a:latin typeface="Arial"/>
                <a:cs typeface="Arial"/>
              </a:rPr>
              <a:t>and </a:t>
            </a:r>
            <a:r>
              <a:rPr sz="1200" spc="-5" dirty="0">
                <a:latin typeface="Arial"/>
                <a:cs typeface="Arial"/>
              </a:rPr>
              <a:t>offers integrated  services incl. </a:t>
            </a:r>
            <a:r>
              <a:rPr sz="1200" b="1" spc="-5" dirty="0">
                <a:latin typeface="Arial"/>
                <a:cs typeface="Arial"/>
              </a:rPr>
              <a:t>transport, storage,</a:t>
            </a:r>
            <a:r>
              <a:rPr sz="1200" b="1" spc="-10" dirty="0">
                <a:latin typeface="Arial"/>
                <a:cs typeface="Arial"/>
              </a:rPr>
              <a:t> </a:t>
            </a:r>
            <a:r>
              <a:rPr sz="1200" b="1" spc="-5" dirty="0">
                <a:latin typeface="Arial"/>
                <a:cs typeface="Arial"/>
              </a:rPr>
              <a:t>repairs</a:t>
            </a:r>
            <a:endParaRPr sz="1200">
              <a:latin typeface="Arial"/>
              <a:cs typeface="Arial"/>
            </a:endParaRPr>
          </a:p>
          <a:p>
            <a:pPr marL="12700" marR="499745">
              <a:lnSpc>
                <a:spcPct val="100000"/>
              </a:lnSpc>
              <a:spcBef>
                <a:spcPts val="745"/>
              </a:spcBef>
            </a:pPr>
            <a:r>
              <a:rPr sz="1200" dirty="0">
                <a:latin typeface="Arial"/>
                <a:cs typeface="Arial"/>
              </a:rPr>
              <a:t>Greek </a:t>
            </a:r>
            <a:r>
              <a:rPr sz="1200" spc="-5" dirty="0">
                <a:latin typeface="Arial"/>
                <a:cs typeface="Arial"/>
              </a:rPr>
              <a:t>logistics provider specializing in </a:t>
            </a:r>
            <a:r>
              <a:rPr sz="1200" b="1" spc="-5" dirty="0">
                <a:latin typeface="Arial"/>
                <a:cs typeface="Arial"/>
              </a:rPr>
              <a:t>vehicle </a:t>
            </a:r>
            <a:r>
              <a:rPr sz="1200" b="1" dirty="0">
                <a:latin typeface="Arial"/>
                <a:cs typeface="Arial"/>
              </a:rPr>
              <a:t>logistics </a:t>
            </a:r>
            <a:r>
              <a:rPr sz="1200" spc="5" dirty="0">
                <a:latin typeface="Arial"/>
                <a:cs typeface="Arial"/>
              </a:rPr>
              <a:t>and  </a:t>
            </a:r>
            <a:r>
              <a:rPr sz="1200" b="1" dirty="0">
                <a:latin typeface="Arial"/>
                <a:cs typeface="Arial"/>
              </a:rPr>
              <a:t>warehousing</a:t>
            </a:r>
            <a:r>
              <a:rPr sz="1200" dirty="0">
                <a:latin typeface="Arial"/>
                <a:cs typeface="Arial"/>
              </a:rPr>
              <a:t>. It operates </a:t>
            </a:r>
            <a:r>
              <a:rPr sz="1200" spc="-5" dirty="0">
                <a:latin typeface="Arial"/>
                <a:cs typeface="Arial"/>
              </a:rPr>
              <a:t>over </a:t>
            </a:r>
            <a:r>
              <a:rPr sz="1200" b="1" dirty="0">
                <a:latin typeface="Arial"/>
                <a:cs typeface="Arial"/>
              </a:rPr>
              <a:t>1.1 </a:t>
            </a:r>
            <a:r>
              <a:rPr sz="1200" b="1" spc="-5" dirty="0">
                <a:latin typeface="Arial"/>
                <a:cs typeface="Arial"/>
              </a:rPr>
              <a:t>million m² </a:t>
            </a:r>
            <a:r>
              <a:rPr sz="1200" b="1" dirty="0">
                <a:latin typeface="Arial"/>
                <a:cs typeface="Arial"/>
              </a:rPr>
              <a:t>of </a:t>
            </a:r>
            <a:r>
              <a:rPr sz="1200" b="1" spc="-5" dirty="0">
                <a:latin typeface="Arial"/>
                <a:cs typeface="Arial"/>
              </a:rPr>
              <a:t>storage </a:t>
            </a:r>
            <a:r>
              <a:rPr sz="1200" b="1" dirty="0">
                <a:latin typeface="Arial"/>
                <a:cs typeface="Arial"/>
              </a:rPr>
              <a:t>facilities </a:t>
            </a:r>
            <a:r>
              <a:rPr sz="1200" dirty="0">
                <a:latin typeface="Arial"/>
                <a:cs typeface="Arial"/>
              </a:rPr>
              <a:t>and  offers </a:t>
            </a:r>
            <a:r>
              <a:rPr sz="1200" b="1" spc="-5" dirty="0">
                <a:latin typeface="Arial"/>
                <a:cs typeface="Arial"/>
              </a:rPr>
              <a:t>vehicle storage </a:t>
            </a:r>
            <a:r>
              <a:rPr sz="1200" b="1" dirty="0">
                <a:latin typeface="Arial"/>
                <a:cs typeface="Arial"/>
              </a:rPr>
              <a:t>and</a:t>
            </a:r>
            <a:r>
              <a:rPr sz="1200" b="1" spc="-35" dirty="0">
                <a:latin typeface="Arial"/>
                <a:cs typeface="Arial"/>
              </a:rPr>
              <a:t> </a:t>
            </a:r>
            <a:r>
              <a:rPr sz="1200" b="1" dirty="0">
                <a:latin typeface="Arial"/>
                <a:cs typeface="Arial"/>
              </a:rPr>
              <a:t>inspection</a:t>
            </a:r>
            <a:endParaRPr sz="1200">
              <a:latin typeface="Arial"/>
              <a:cs typeface="Arial"/>
            </a:endParaRPr>
          </a:p>
        </p:txBody>
      </p:sp>
      <p:sp>
        <p:nvSpPr>
          <p:cNvPr id="31" name="object 31"/>
          <p:cNvSpPr/>
          <p:nvPr/>
        </p:nvSpPr>
        <p:spPr>
          <a:xfrm>
            <a:off x="1276730" y="4951209"/>
            <a:ext cx="577532" cy="282460"/>
          </a:xfrm>
          <a:prstGeom prst="rect">
            <a:avLst/>
          </a:prstGeom>
          <a:blipFill>
            <a:blip r:embed="rId7" cstate="print"/>
            <a:stretch>
              <a:fillRect/>
            </a:stretch>
          </a:blipFill>
        </p:spPr>
        <p:txBody>
          <a:bodyPr wrap="square" lIns="0" tIns="0" rIns="0" bIns="0" rtlCol="0"/>
          <a:lstStyle/>
          <a:p>
            <a:endParaRPr/>
          </a:p>
        </p:txBody>
      </p:sp>
      <p:sp>
        <p:nvSpPr>
          <p:cNvPr id="32" name="object 32"/>
          <p:cNvSpPr/>
          <p:nvPr/>
        </p:nvSpPr>
        <p:spPr>
          <a:xfrm>
            <a:off x="548919" y="4936147"/>
            <a:ext cx="753529" cy="312635"/>
          </a:xfrm>
          <a:prstGeom prst="rect">
            <a:avLst/>
          </a:prstGeom>
          <a:blipFill>
            <a:blip r:embed="rId8" cstate="print"/>
            <a:stretch>
              <a:fillRect/>
            </a:stretch>
          </a:blipFill>
        </p:spPr>
        <p:txBody>
          <a:bodyPr wrap="square" lIns="0" tIns="0" rIns="0" bIns="0" rtlCol="0"/>
          <a:lstStyle/>
          <a:p>
            <a:endParaRPr/>
          </a:p>
        </p:txBody>
      </p:sp>
      <p:sp>
        <p:nvSpPr>
          <p:cNvPr id="33" name="object 33"/>
          <p:cNvSpPr/>
          <p:nvPr/>
        </p:nvSpPr>
        <p:spPr>
          <a:xfrm>
            <a:off x="11069868" y="5030267"/>
            <a:ext cx="133985" cy="139700"/>
          </a:xfrm>
          <a:custGeom>
            <a:avLst/>
            <a:gdLst/>
            <a:ahLst/>
            <a:cxnLst/>
            <a:rect l="l" t="t" r="r" b="b"/>
            <a:pathLst>
              <a:path w="133984" h="139700">
                <a:moveTo>
                  <a:pt x="133916" y="0"/>
                </a:moveTo>
                <a:lnTo>
                  <a:pt x="47052" y="139079"/>
                </a:lnTo>
                <a:lnTo>
                  <a:pt x="0" y="83664"/>
                </a:lnTo>
              </a:path>
            </a:pathLst>
          </a:custGeom>
          <a:ln w="11576">
            <a:solidFill>
              <a:srgbClr val="051F79"/>
            </a:solidFill>
          </a:ln>
        </p:spPr>
        <p:txBody>
          <a:bodyPr wrap="square" lIns="0" tIns="0" rIns="0" bIns="0" rtlCol="0"/>
          <a:lstStyle/>
          <a:p>
            <a:endParaRPr/>
          </a:p>
        </p:txBody>
      </p:sp>
      <p:sp>
        <p:nvSpPr>
          <p:cNvPr id="34" name="object 34"/>
          <p:cNvSpPr txBox="1"/>
          <p:nvPr/>
        </p:nvSpPr>
        <p:spPr>
          <a:xfrm>
            <a:off x="2004822" y="4799203"/>
            <a:ext cx="5168265" cy="574040"/>
          </a:xfrm>
          <a:prstGeom prst="rect">
            <a:avLst/>
          </a:prstGeom>
        </p:spPr>
        <p:txBody>
          <a:bodyPr vert="horz" wrap="square" lIns="0" tIns="12700" rIns="0" bIns="0" rtlCol="0">
            <a:spAutoFit/>
          </a:bodyPr>
          <a:lstStyle/>
          <a:p>
            <a:pPr marL="12700" marR="5080">
              <a:lnSpc>
                <a:spcPct val="100000"/>
              </a:lnSpc>
              <a:spcBef>
                <a:spcPts val="100"/>
              </a:spcBef>
            </a:pPr>
            <a:r>
              <a:rPr sz="1200" spc="-5" dirty="0">
                <a:latin typeface="Arial"/>
                <a:cs typeface="Arial"/>
              </a:rPr>
              <a:t>Leading </a:t>
            </a:r>
            <a:r>
              <a:rPr sz="1200" b="1" dirty="0">
                <a:latin typeface="Arial"/>
                <a:cs typeface="Arial"/>
              </a:rPr>
              <a:t>Greek </a:t>
            </a:r>
            <a:r>
              <a:rPr sz="1200" b="1" spc="-5" dirty="0">
                <a:latin typeface="Arial"/>
                <a:cs typeface="Arial"/>
              </a:rPr>
              <a:t>marketplace for </a:t>
            </a:r>
            <a:r>
              <a:rPr sz="1200" b="1" dirty="0">
                <a:latin typeface="Arial"/>
                <a:cs typeface="Arial"/>
              </a:rPr>
              <a:t>used </a:t>
            </a:r>
            <a:r>
              <a:rPr sz="1200" b="1" spc="-5" dirty="0">
                <a:latin typeface="Arial"/>
                <a:cs typeface="Arial"/>
              </a:rPr>
              <a:t>cars </a:t>
            </a:r>
            <a:r>
              <a:rPr sz="1200" dirty="0">
                <a:latin typeface="Arial"/>
                <a:cs typeface="Arial"/>
              </a:rPr>
              <a:t>– </a:t>
            </a:r>
            <a:r>
              <a:rPr sz="1200" spc="-15" dirty="0">
                <a:latin typeface="Arial"/>
                <a:cs typeface="Arial"/>
              </a:rPr>
              <a:t>Car.gr </a:t>
            </a:r>
            <a:r>
              <a:rPr sz="1200" spc="-5" dirty="0">
                <a:latin typeface="Arial"/>
                <a:cs typeface="Arial"/>
              </a:rPr>
              <a:t>(100+k </a:t>
            </a:r>
            <a:r>
              <a:rPr sz="1200" dirty="0">
                <a:latin typeface="Arial"/>
                <a:cs typeface="Arial"/>
              </a:rPr>
              <a:t>car </a:t>
            </a:r>
            <a:r>
              <a:rPr sz="1200" spc="-5" dirty="0">
                <a:latin typeface="Arial"/>
                <a:cs typeface="Arial"/>
              </a:rPr>
              <a:t>listings) </a:t>
            </a:r>
            <a:r>
              <a:rPr sz="1200" dirty="0">
                <a:latin typeface="Arial"/>
                <a:cs typeface="Arial"/>
              </a:rPr>
              <a:t>and  </a:t>
            </a:r>
            <a:r>
              <a:rPr sz="1200" spc="-5" dirty="0">
                <a:latin typeface="Arial"/>
                <a:cs typeface="Arial"/>
              </a:rPr>
              <a:t>Cardom </a:t>
            </a:r>
            <a:r>
              <a:rPr sz="1200" spc="-10" dirty="0">
                <a:latin typeface="Arial"/>
                <a:cs typeface="Arial"/>
              </a:rPr>
              <a:t>(Avis </a:t>
            </a:r>
            <a:r>
              <a:rPr sz="1200" dirty="0">
                <a:latin typeface="Arial"/>
                <a:cs typeface="Arial"/>
              </a:rPr>
              <a:t>&amp; </a:t>
            </a:r>
            <a:r>
              <a:rPr sz="1200" spc="-5" dirty="0">
                <a:latin typeface="Arial"/>
                <a:cs typeface="Arial"/>
              </a:rPr>
              <a:t>Skroutz-backed) </a:t>
            </a:r>
            <a:r>
              <a:rPr sz="1200" dirty="0">
                <a:latin typeface="Arial"/>
                <a:cs typeface="Arial"/>
              </a:rPr>
              <a:t>– </a:t>
            </a:r>
            <a:r>
              <a:rPr sz="1200" spc="-5" dirty="0">
                <a:latin typeface="Arial"/>
                <a:cs typeface="Arial"/>
              </a:rPr>
              <a:t>offering </a:t>
            </a:r>
            <a:r>
              <a:rPr sz="1200" dirty="0">
                <a:latin typeface="Arial"/>
                <a:cs typeface="Arial"/>
              </a:rPr>
              <a:t>broad market reach for  </a:t>
            </a:r>
            <a:r>
              <a:rPr sz="1200" b="1" dirty="0">
                <a:latin typeface="Arial"/>
                <a:cs typeface="Arial"/>
              </a:rPr>
              <a:t>domestic</a:t>
            </a:r>
            <a:r>
              <a:rPr sz="1200" b="1" spc="-15" dirty="0">
                <a:latin typeface="Arial"/>
                <a:cs typeface="Arial"/>
              </a:rPr>
              <a:t> </a:t>
            </a:r>
            <a:r>
              <a:rPr sz="1200" b="1" spc="-5" dirty="0">
                <a:latin typeface="Arial"/>
                <a:cs typeface="Arial"/>
              </a:rPr>
              <a:t>market</a:t>
            </a:r>
            <a:endParaRPr sz="1200">
              <a:latin typeface="Arial"/>
              <a:cs typeface="Arial"/>
            </a:endParaRPr>
          </a:p>
        </p:txBody>
      </p:sp>
      <p:sp>
        <p:nvSpPr>
          <p:cNvPr id="35" name="object 35"/>
          <p:cNvSpPr/>
          <p:nvPr/>
        </p:nvSpPr>
        <p:spPr>
          <a:xfrm>
            <a:off x="557073" y="5535645"/>
            <a:ext cx="1140959" cy="243699"/>
          </a:xfrm>
          <a:prstGeom prst="rect">
            <a:avLst/>
          </a:prstGeom>
          <a:blipFill>
            <a:blip r:embed="rId9" cstate="print"/>
            <a:stretch>
              <a:fillRect/>
            </a:stretch>
          </a:blipFill>
        </p:spPr>
        <p:txBody>
          <a:bodyPr wrap="square" lIns="0" tIns="0" rIns="0" bIns="0" rtlCol="0"/>
          <a:lstStyle/>
          <a:p>
            <a:endParaRPr/>
          </a:p>
        </p:txBody>
      </p:sp>
      <p:sp>
        <p:nvSpPr>
          <p:cNvPr id="36" name="object 36"/>
          <p:cNvSpPr/>
          <p:nvPr/>
        </p:nvSpPr>
        <p:spPr>
          <a:xfrm>
            <a:off x="11069868" y="5592547"/>
            <a:ext cx="133985" cy="139700"/>
          </a:xfrm>
          <a:custGeom>
            <a:avLst/>
            <a:gdLst/>
            <a:ahLst/>
            <a:cxnLst/>
            <a:rect l="l" t="t" r="r" b="b"/>
            <a:pathLst>
              <a:path w="133984" h="139700">
                <a:moveTo>
                  <a:pt x="133916" y="0"/>
                </a:moveTo>
                <a:lnTo>
                  <a:pt x="47052" y="139079"/>
                </a:lnTo>
                <a:lnTo>
                  <a:pt x="0" y="83664"/>
                </a:lnTo>
              </a:path>
            </a:pathLst>
          </a:custGeom>
          <a:ln w="11576">
            <a:solidFill>
              <a:srgbClr val="051F79"/>
            </a:solidFill>
          </a:ln>
        </p:spPr>
        <p:txBody>
          <a:bodyPr wrap="square" lIns="0" tIns="0" rIns="0" bIns="0" rtlCol="0"/>
          <a:lstStyle/>
          <a:p>
            <a:endParaRPr/>
          </a:p>
        </p:txBody>
      </p:sp>
      <p:sp>
        <p:nvSpPr>
          <p:cNvPr id="37" name="object 37"/>
          <p:cNvSpPr txBox="1"/>
          <p:nvPr/>
        </p:nvSpPr>
        <p:spPr>
          <a:xfrm>
            <a:off x="2004822" y="5453888"/>
            <a:ext cx="4909820" cy="391160"/>
          </a:xfrm>
          <a:prstGeom prst="rect">
            <a:avLst/>
          </a:prstGeom>
        </p:spPr>
        <p:txBody>
          <a:bodyPr vert="horz" wrap="square" lIns="0" tIns="12700" rIns="0" bIns="0" rtlCol="0">
            <a:spAutoFit/>
          </a:bodyPr>
          <a:lstStyle/>
          <a:p>
            <a:pPr marL="12700" marR="5080">
              <a:lnSpc>
                <a:spcPct val="100000"/>
              </a:lnSpc>
              <a:spcBef>
                <a:spcPts val="100"/>
              </a:spcBef>
            </a:pPr>
            <a:r>
              <a:rPr sz="1200" b="1" spc="-5" dirty="0">
                <a:latin typeface="Arial"/>
                <a:cs typeface="Arial"/>
              </a:rPr>
              <a:t>Multi-country </a:t>
            </a:r>
            <a:r>
              <a:rPr sz="1200" b="1" dirty="0">
                <a:latin typeface="Arial"/>
                <a:cs typeface="Arial"/>
              </a:rPr>
              <a:t>used car </a:t>
            </a:r>
            <a:r>
              <a:rPr sz="1200" b="1" spc="-5" dirty="0">
                <a:latin typeface="Arial"/>
                <a:cs typeface="Arial"/>
              </a:rPr>
              <a:t>platform </a:t>
            </a:r>
            <a:r>
              <a:rPr sz="1200" spc="-5" dirty="0">
                <a:latin typeface="Arial"/>
                <a:cs typeface="Arial"/>
              </a:rPr>
              <a:t>(Greece, Poland, Romania) —offering  </a:t>
            </a:r>
            <a:r>
              <a:rPr sz="1200" dirty="0">
                <a:latin typeface="Arial"/>
                <a:cs typeface="Arial"/>
              </a:rPr>
              <a:t>broad market reach for </a:t>
            </a:r>
            <a:r>
              <a:rPr sz="1200" spc="-5" dirty="0">
                <a:latin typeface="Arial"/>
                <a:cs typeface="Arial"/>
              </a:rPr>
              <a:t>domestic </a:t>
            </a:r>
            <a:r>
              <a:rPr sz="1200" dirty="0">
                <a:latin typeface="Arial"/>
                <a:cs typeface="Arial"/>
              </a:rPr>
              <a:t>and </a:t>
            </a:r>
            <a:r>
              <a:rPr sz="1200" spc="-5" dirty="0">
                <a:latin typeface="Arial"/>
                <a:cs typeface="Arial"/>
              </a:rPr>
              <a:t>international</a:t>
            </a:r>
            <a:r>
              <a:rPr sz="1200" spc="-170" dirty="0">
                <a:latin typeface="Arial"/>
                <a:cs typeface="Arial"/>
              </a:rPr>
              <a:t> </a:t>
            </a:r>
            <a:r>
              <a:rPr sz="1200" dirty="0">
                <a:latin typeface="Arial"/>
                <a:cs typeface="Arial"/>
              </a:rPr>
              <a:t>market</a:t>
            </a:r>
            <a:endParaRPr sz="1200">
              <a:latin typeface="Arial"/>
              <a:cs typeface="Arial"/>
            </a:endParaRPr>
          </a:p>
        </p:txBody>
      </p:sp>
      <p:sp>
        <p:nvSpPr>
          <p:cNvPr id="38" name="object 38"/>
          <p:cNvSpPr/>
          <p:nvPr/>
        </p:nvSpPr>
        <p:spPr>
          <a:xfrm>
            <a:off x="554736" y="1903983"/>
            <a:ext cx="11078845" cy="0"/>
          </a:xfrm>
          <a:custGeom>
            <a:avLst/>
            <a:gdLst/>
            <a:ahLst/>
            <a:cxnLst/>
            <a:rect l="l" t="t" r="r" b="b"/>
            <a:pathLst>
              <a:path w="11078845">
                <a:moveTo>
                  <a:pt x="0" y="0"/>
                </a:moveTo>
                <a:lnTo>
                  <a:pt x="11078464" y="0"/>
                </a:lnTo>
              </a:path>
            </a:pathLst>
          </a:custGeom>
          <a:ln w="6350">
            <a:solidFill>
              <a:srgbClr val="000000"/>
            </a:solidFill>
          </a:ln>
        </p:spPr>
        <p:txBody>
          <a:bodyPr wrap="square" lIns="0" tIns="0" rIns="0" bIns="0" rtlCol="0"/>
          <a:lstStyle/>
          <a:p>
            <a:endParaRPr/>
          </a:p>
        </p:txBody>
      </p:sp>
      <p:sp>
        <p:nvSpPr>
          <p:cNvPr id="39" name="object 39"/>
          <p:cNvSpPr/>
          <p:nvPr/>
        </p:nvSpPr>
        <p:spPr>
          <a:xfrm>
            <a:off x="554736" y="2546604"/>
            <a:ext cx="11078845" cy="0"/>
          </a:xfrm>
          <a:custGeom>
            <a:avLst/>
            <a:gdLst/>
            <a:ahLst/>
            <a:cxnLst/>
            <a:rect l="l" t="t" r="r" b="b"/>
            <a:pathLst>
              <a:path w="11078845">
                <a:moveTo>
                  <a:pt x="0" y="0"/>
                </a:moveTo>
                <a:lnTo>
                  <a:pt x="11078464" y="0"/>
                </a:lnTo>
              </a:path>
            </a:pathLst>
          </a:custGeom>
          <a:ln w="6350">
            <a:solidFill>
              <a:srgbClr val="000000"/>
            </a:solidFill>
          </a:ln>
        </p:spPr>
        <p:txBody>
          <a:bodyPr wrap="square" lIns="0" tIns="0" rIns="0" bIns="0" rtlCol="0"/>
          <a:lstStyle/>
          <a:p>
            <a:endParaRPr/>
          </a:p>
        </p:txBody>
      </p:sp>
      <p:sp>
        <p:nvSpPr>
          <p:cNvPr id="40" name="object 40"/>
          <p:cNvSpPr/>
          <p:nvPr/>
        </p:nvSpPr>
        <p:spPr>
          <a:xfrm>
            <a:off x="554736" y="3016250"/>
            <a:ext cx="11078845" cy="0"/>
          </a:xfrm>
          <a:custGeom>
            <a:avLst/>
            <a:gdLst/>
            <a:ahLst/>
            <a:cxnLst/>
            <a:rect l="l" t="t" r="r" b="b"/>
            <a:pathLst>
              <a:path w="11078845">
                <a:moveTo>
                  <a:pt x="0" y="0"/>
                </a:moveTo>
                <a:lnTo>
                  <a:pt x="11078464" y="0"/>
                </a:lnTo>
              </a:path>
            </a:pathLst>
          </a:custGeom>
          <a:ln w="6350">
            <a:solidFill>
              <a:srgbClr val="000000"/>
            </a:solidFill>
          </a:ln>
        </p:spPr>
        <p:txBody>
          <a:bodyPr wrap="square" lIns="0" tIns="0" rIns="0" bIns="0" rtlCol="0"/>
          <a:lstStyle/>
          <a:p>
            <a:endParaRPr/>
          </a:p>
        </p:txBody>
      </p:sp>
      <p:sp>
        <p:nvSpPr>
          <p:cNvPr id="41" name="object 41"/>
          <p:cNvSpPr/>
          <p:nvPr/>
        </p:nvSpPr>
        <p:spPr>
          <a:xfrm>
            <a:off x="554736" y="3658870"/>
            <a:ext cx="11078845" cy="0"/>
          </a:xfrm>
          <a:custGeom>
            <a:avLst/>
            <a:gdLst/>
            <a:ahLst/>
            <a:cxnLst/>
            <a:rect l="l" t="t" r="r" b="b"/>
            <a:pathLst>
              <a:path w="11078845">
                <a:moveTo>
                  <a:pt x="0" y="0"/>
                </a:moveTo>
                <a:lnTo>
                  <a:pt x="11078464" y="0"/>
                </a:lnTo>
              </a:path>
            </a:pathLst>
          </a:custGeom>
          <a:ln w="6350">
            <a:solidFill>
              <a:srgbClr val="000000"/>
            </a:solidFill>
          </a:ln>
        </p:spPr>
        <p:txBody>
          <a:bodyPr wrap="square" lIns="0" tIns="0" rIns="0" bIns="0" rtlCol="0"/>
          <a:lstStyle/>
          <a:p>
            <a:endParaRPr/>
          </a:p>
        </p:txBody>
      </p:sp>
      <p:sp>
        <p:nvSpPr>
          <p:cNvPr id="42" name="object 42"/>
          <p:cNvSpPr/>
          <p:nvPr/>
        </p:nvSpPr>
        <p:spPr>
          <a:xfrm>
            <a:off x="554736" y="4301490"/>
            <a:ext cx="11078845" cy="0"/>
          </a:xfrm>
          <a:custGeom>
            <a:avLst/>
            <a:gdLst/>
            <a:ahLst/>
            <a:cxnLst/>
            <a:rect l="l" t="t" r="r" b="b"/>
            <a:pathLst>
              <a:path w="11078845">
                <a:moveTo>
                  <a:pt x="0" y="0"/>
                </a:moveTo>
                <a:lnTo>
                  <a:pt x="11078464" y="0"/>
                </a:lnTo>
              </a:path>
            </a:pathLst>
          </a:custGeom>
          <a:ln w="6350">
            <a:solidFill>
              <a:srgbClr val="000000"/>
            </a:solidFill>
          </a:ln>
        </p:spPr>
        <p:txBody>
          <a:bodyPr wrap="square" lIns="0" tIns="0" rIns="0" bIns="0" rtlCol="0"/>
          <a:lstStyle/>
          <a:p>
            <a:endParaRPr/>
          </a:p>
        </p:txBody>
      </p:sp>
      <p:sp>
        <p:nvSpPr>
          <p:cNvPr id="43" name="object 43"/>
          <p:cNvSpPr/>
          <p:nvPr/>
        </p:nvSpPr>
        <p:spPr>
          <a:xfrm>
            <a:off x="554736" y="4771135"/>
            <a:ext cx="11078845" cy="0"/>
          </a:xfrm>
          <a:custGeom>
            <a:avLst/>
            <a:gdLst/>
            <a:ahLst/>
            <a:cxnLst/>
            <a:rect l="l" t="t" r="r" b="b"/>
            <a:pathLst>
              <a:path w="11078845">
                <a:moveTo>
                  <a:pt x="0" y="0"/>
                </a:moveTo>
                <a:lnTo>
                  <a:pt x="11078464" y="0"/>
                </a:lnTo>
              </a:path>
            </a:pathLst>
          </a:custGeom>
          <a:ln w="6350">
            <a:solidFill>
              <a:srgbClr val="000000"/>
            </a:solidFill>
          </a:ln>
        </p:spPr>
        <p:txBody>
          <a:bodyPr wrap="square" lIns="0" tIns="0" rIns="0" bIns="0" rtlCol="0"/>
          <a:lstStyle/>
          <a:p>
            <a:endParaRPr/>
          </a:p>
        </p:txBody>
      </p:sp>
      <p:sp>
        <p:nvSpPr>
          <p:cNvPr id="44" name="object 44"/>
          <p:cNvSpPr/>
          <p:nvPr/>
        </p:nvSpPr>
        <p:spPr>
          <a:xfrm>
            <a:off x="554736" y="5413755"/>
            <a:ext cx="11078845" cy="0"/>
          </a:xfrm>
          <a:custGeom>
            <a:avLst/>
            <a:gdLst/>
            <a:ahLst/>
            <a:cxnLst/>
            <a:rect l="l" t="t" r="r" b="b"/>
            <a:pathLst>
              <a:path w="11078845">
                <a:moveTo>
                  <a:pt x="0" y="0"/>
                </a:moveTo>
                <a:lnTo>
                  <a:pt x="11078464" y="0"/>
                </a:lnTo>
              </a:path>
            </a:pathLst>
          </a:custGeom>
          <a:ln w="6350">
            <a:solidFill>
              <a:srgbClr val="000000"/>
            </a:solidFill>
          </a:ln>
        </p:spPr>
        <p:txBody>
          <a:bodyPr wrap="square" lIns="0" tIns="0" rIns="0" bIns="0" rtlCol="0"/>
          <a:lstStyle/>
          <a:p>
            <a:endParaRPr/>
          </a:p>
        </p:txBody>
      </p:sp>
      <p:sp>
        <p:nvSpPr>
          <p:cNvPr id="45" name="object 45"/>
          <p:cNvSpPr/>
          <p:nvPr/>
        </p:nvSpPr>
        <p:spPr>
          <a:xfrm>
            <a:off x="10425048" y="5895657"/>
            <a:ext cx="1208405" cy="0"/>
          </a:xfrm>
          <a:custGeom>
            <a:avLst/>
            <a:gdLst/>
            <a:ahLst/>
            <a:cxnLst/>
            <a:rect l="l" t="t" r="r" b="b"/>
            <a:pathLst>
              <a:path w="1208404">
                <a:moveTo>
                  <a:pt x="0" y="0"/>
                </a:moveTo>
                <a:lnTo>
                  <a:pt x="1208151" y="0"/>
                </a:lnTo>
              </a:path>
            </a:pathLst>
          </a:custGeom>
          <a:ln w="6350">
            <a:solidFill>
              <a:srgbClr val="000000"/>
            </a:solidFill>
          </a:ln>
        </p:spPr>
        <p:txBody>
          <a:bodyPr wrap="square" lIns="0" tIns="0" rIns="0" bIns="0" rtlCol="0"/>
          <a:lstStyle/>
          <a:p>
            <a:endParaRPr/>
          </a:p>
        </p:txBody>
      </p:sp>
      <p:sp>
        <p:nvSpPr>
          <p:cNvPr id="46" name="object 46"/>
          <p:cNvSpPr/>
          <p:nvPr/>
        </p:nvSpPr>
        <p:spPr>
          <a:xfrm>
            <a:off x="554736" y="5895657"/>
            <a:ext cx="8502015" cy="0"/>
          </a:xfrm>
          <a:custGeom>
            <a:avLst/>
            <a:gdLst/>
            <a:ahLst/>
            <a:cxnLst/>
            <a:rect l="l" t="t" r="r" b="b"/>
            <a:pathLst>
              <a:path w="8502015">
                <a:moveTo>
                  <a:pt x="0" y="0"/>
                </a:moveTo>
                <a:lnTo>
                  <a:pt x="8501507" y="0"/>
                </a:lnTo>
              </a:path>
            </a:pathLst>
          </a:custGeom>
          <a:ln w="6350">
            <a:solidFill>
              <a:srgbClr val="000000"/>
            </a:solidFill>
          </a:ln>
        </p:spPr>
        <p:txBody>
          <a:bodyPr wrap="square" lIns="0" tIns="0" rIns="0" bIns="0" rtlCol="0"/>
          <a:lstStyle/>
          <a:p>
            <a:endParaRPr/>
          </a:p>
        </p:txBody>
      </p:sp>
      <p:sp>
        <p:nvSpPr>
          <p:cNvPr id="47" name="object 47"/>
          <p:cNvSpPr/>
          <p:nvPr/>
        </p:nvSpPr>
        <p:spPr>
          <a:xfrm>
            <a:off x="2185161" y="6376949"/>
            <a:ext cx="7763509" cy="236854"/>
          </a:xfrm>
          <a:custGeom>
            <a:avLst/>
            <a:gdLst/>
            <a:ahLst/>
            <a:cxnLst/>
            <a:rect l="l" t="t" r="r" b="b"/>
            <a:pathLst>
              <a:path w="7763509" h="236854">
                <a:moveTo>
                  <a:pt x="7724013" y="0"/>
                </a:moveTo>
                <a:lnTo>
                  <a:pt x="39496" y="0"/>
                </a:lnTo>
                <a:lnTo>
                  <a:pt x="24110" y="3098"/>
                </a:lnTo>
                <a:lnTo>
                  <a:pt x="11556" y="11550"/>
                </a:lnTo>
                <a:lnTo>
                  <a:pt x="3099" y="24088"/>
                </a:lnTo>
                <a:lnTo>
                  <a:pt x="0" y="39446"/>
                </a:lnTo>
                <a:lnTo>
                  <a:pt x="0" y="197281"/>
                </a:lnTo>
                <a:lnTo>
                  <a:pt x="3099" y="212633"/>
                </a:lnTo>
                <a:lnTo>
                  <a:pt x="11556" y="225172"/>
                </a:lnTo>
                <a:lnTo>
                  <a:pt x="24110" y="233627"/>
                </a:lnTo>
                <a:lnTo>
                  <a:pt x="39496" y="236727"/>
                </a:lnTo>
                <a:lnTo>
                  <a:pt x="7724013" y="236727"/>
                </a:lnTo>
                <a:lnTo>
                  <a:pt x="7739326" y="233627"/>
                </a:lnTo>
                <a:lnTo>
                  <a:pt x="7751841" y="225172"/>
                </a:lnTo>
                <a:lnTo>
                  <a:pt x="7760285" y="212633"/>
                </a:lnTo>
                <a:lnTo>
                  <a:pt x="7763383" y="197281"/>
                </a:lnTo>
                <a:lnTo>
                  <a:pt x="7763383" y="39446"/>
                </a:lnTo>
                <a:lnTo>
                  <a:pt x="7760285" y="24088"/>
                </a:lnTo>
                <a:lnTo>
                  <a:pt x="7751841" y="11550"/>
                </a:lnTo>
                <a:lnTo>
                  <a:pt x="7739326" y="3098"/>
                </a:lnTo>
                <a:lnTo>
                  <a:pt x="7724013" y="0"/>
                </a:lnTo>
                <a:close/>
              </a:path>
            </a:pathLst>
          </a:custGeom>
          <a:solidFill>
            <a:srgbClr val="051F79"/>
          </a:solidFill>
        </p:spPr>
        <p:txBody>
          <a:bodyPr wrap="square" lIns="0" tIns="0" rIns="0" bIns="0" rtlCol="0"/>
          <a:lstStyle/>
          <a:p>
            <a:endParaRPr/>
          </a:p>
        </p:txBody>
      </p:sp>
      <p:sp>
        <p:nvSpPr>
          <p:cNvPr id="48" name="object 48"/>
          <p:cNvSpPr txBox="1"/>
          <p:nvPr/>
        </p:nvSpPr>
        <p:spPr>
          <a:xfrm>
            <a:off x="2259583" y="6387795"/>
            <a:ext cx="761047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FFFF"/>
                </a:solidFill>
                <a:latin typeface="Arial"/>
                <a:cs typeface="Arial"/>
              </a:rPr>
              <a:t>Next </a:t>
            </a:r>
            <a:r>
              <a:rPr sz="1200" b="1" dirty="0">
                <a:solidFill>
                  <a:srgbClr val="FFFFFF"/>
                </a:solidFill>
                <a:latin typeface="Arial"/>
                <a:cs typeface="Arial"/>
              </a:rPr>
              <a:t>steps </a:t>
            </a:r>
            <a:r>
              <a:rPr sz="1200" b="1" spc="-5" dirty="0">
                <a:solidFill>
                  <a:srgbClr val="FFFFFF"/>
                </a:solidFill>
                <a:latin typeface="Arial"/>
                <a:cs typeface="Arial"/>
              </a:rPr>
              <a:t>for implementation </a:t>
            </a:r>
            <a:r>
              <a:rPr sz="1200" b="1" dirty="0">
                <a:solidFill>
                  <a:srgbClr val="FFFFFF"/>
                </a:solidFill>
                <a:latin typeface="Arial"/>
                <a:cs typeface="Arial"/>
              </a:rPr>
              <a:t>phase: </a:t>
            </a:r>
            <a:r>
              <a:rPr sz="1200" dirty="0">
                <a:solidFill>
                  <a:srgbClr val="FFFFFF"/>
                </a:solidFill>
                <a:latin typeface="Arial"/>
                <a:cs typeface="Arial"/>
              </a:rPr>
              <a:t>contact </a:t>
            </a:r>
            <a:r>
              <a:rPr sz="1200" spc="-5" dirty="0">
                <a:solidFill>
                  <a:srgbClr val="FFFFFF"/>
                </a:solidFill>
                <a:latin typeface="Arial"/>
                <a:cs typeface="Arial"/>
              </a:rPr>
              <a:t>vendors </a:t>
            </a:r>
            <a:r>
              <a:rPr sz="1200" dirty="0">
                <a:solidFill>
                  <a:srgbClr val="FFFFFF"/>
                </a:solidFill>
                <a:latin typeface="Arial"/>
                <a:cs typeface="Arial"/>
              </a:rPr>
              <a:t>to obtain </a:t>
            </a:r>
            <a:r>
              <a:rPr sz="1200" spc="-5" dirty="0">
                <a:solidFill>
                  <a:srgbClr val="FFFFFF"/>
                </a:solidFill>
                <a:latin typeface="Arial"/>
                <a:cs typeface="Arial"/>
              </a:rPr>
              <a:t>quotations </a:t>
            </a:r>
            <a:r>
              <a:rPr sz="1200" dirty="0">
                <a:solidFill>
                  <a:srgbClr val="FFFFFF"/>
                </a:solidFill>
                <a:latin typeface="Arial"/>
                <a:cs typeface="Arial"/>
              </a:rPr>
              <a:t>and </a:t>
            </a:r>
            <a:r>
              <a:rPr sz="1200" spc="-5" dirty="0">
                <a:solidFill>
                  <a:srgbClr val="FFFFFF"/>
                </a:solidFill>
                <a:latin typeface="Arial"/>
                <a:cs typeface="Arial"/>
              </a:rPr>
              <a:t>select </a:t>
            </a:r>
            <a:r>
              <a:rPr sz="1200" dirty="0">
                <a:solidFill>
                  <a:srgbClr val="FFFFFF"/>
                </a:solidFill>
                <a:latin typeface="Arial"/>
                <a:cs typeface="Arial"/>
              </a:rPr>
              <a:t>the most </a:t>
            </a:r>
            <a:r>
              <a:rPr sz="1200" spc="-5" dirty="0">
                <a:solidFill>
                  <a:srgbClr val="FFFFFF"/>
                </a:solidFill>
                <a:latin typeface="Arial"/>
                <a:cs typeface="Arial"/>
              </a:rPr>
              <a:t>suitable</a:t>
            </a:r>
            <a:r>
              <a:rPr sz="1200" spc="-125" dirty="0">
                <a:solidFill>
                  <a:srgbClr val="FFFFFF"/>
                </a:solidFill>
                <a:latin typeface="Arial"/>
                <a:cs typeface="Arial"/>
              </a:rPr>
              <a:t> </a:t>
            </a:r>
            <a:r>
              <a:rPr sz="1200" dirty="0">
                <a:solidFill>
                  <a:srgbClr val="FFFFFF"/>
                </a:solidFill>
                <a:latin typeface="Arial"/>
                <a:cs typeface="Arial"/>
              </a:rPr>
              <a:t>option</a:t>
            </a:r>
            <a:endParaRPr sz="1200">
              <a:latin typeface="Arial"/>
              <a:cs typeface="Arial"/>
            </a:endParaRPr>
          </a:p>
        </p:txBody>
      </p:sp>
      <p:sp>
        <p:nvSpPr>
          <p:cNvPr id="49" name="object 49"/>
          <p:cNvSpPr txBox="1"/>
          <p:nvPr/>
        </p:nvSpPr>
        <p:spPr>
          <a:xfrm>
            <a:off x="542036" y="4427601"/>
            <a:ext cx="925194"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a:cs typeface="Arial"/>
              </a:rPr>
              <a:t>ERB</a:t>
            </a:r>
            <a:r>
              <a:rPr sz="1200" b="1" spc="-75" dirty="0">
                <a:latin typeface="Arial"/>
                <a:cs typeface="Arial"/>
              </a:rPr>
              <a:t> </a:t>
            </a:r>
            <a:r>
              <a:rPr sz="1200" b="1" dirty="0">
                <a:latin typeface="Arial"/>
                <a:cs typeface="Arial"/>
              </a:rPr>
              <a:t>dealers</a:t>
            </a:r>
            <a:endParaRPr sz="1200">
              <a:latin typeface="Arial"/>
              <a:cs typeface="Arial"/>
            </a:endParaRPr>
          </a:p>
        </p:txBody>
      </p:sp>
      <p:sp>
        <p:nvSpPr>
          <p:cNvPr id="50" name="object 50"/>
          <p:cNvSpPr txBox="1"/>
          <p:nvPr/>
        </p:nvSpPr>
        <p:spPr>
          <a:xfrm>
            <a:off x="2004822" y="4335271"/>
            <a:ext cx="4796155" cy="391160"/>
          </a:xfrm>
          <a:prstGeom prst="rect">
            <a:avLst/>
          </a:prstGeom>
        </p:spPr>
        <p:txBody>
          <a:bodyPr vert="horz" wrap="square" lIns="0" tIns="12700" rIns="0" bIns="0" rtlCol="0">
            <a:spAutoFit/>
          </a:bodyPr>
          <a:lstStyle/>
          <a:p>
            <a:pPr marL="12700" marR="5080">
              <a:lnSpc>
                <a:spcPct val="100000"/>
              </a:lnSpc>
              <a:spcBef>
                <a:spcPts val="100"/>
              </a:spcBef>
            </a:pPr>
            <a:r>
              <a:rPr sz="1200" b="1" spc="-30" dirty="0">
                <a:latin typeface="Arial"/>
                <a:cs typeface="Arial"/>
              </a:rPr>
              <a:t>Top </a:t>
            </a:r>
            <a:r>
              <a:rPr sz="1200" b="1" spc="-5" dirty="0">
                <a:latin typeface="Arial"/>
                <a:cs typeface="Arial"/>
              </a:rPr>
              <a:t>ERB </a:t>
            </a:r>
            <a:r>
              <a:rPr sz="1200" b="1" dirty="0">
                <a:latin typeface="Arial"/>
                <a:cs typeface="Arial"/>
              </a:rPr>
              <a:t>dealers</a:t>
            </a:r>
            <a:r>
              <a:rPr sz="1200" dirty="0">
                <a:latin typeface="Arial"/>
                <a:cs typeface="Arial"/>
              </a:rPr>
              <a:t>, </a:t>
            </a:r>
            <a:r>
              <a:rPr sz="1200" spc="-5" dirty="0">
                <a:latin typeface="Arial"/>
                <a:cs typeface="Arial"/>
              </a:rPr>
              <a:t>creditworthy </a:t>
            </a:r>
            <a:r>
              <a:rPr sz="1200" dirty="0">
                <a:latin typeface="Arial"/>
                <a:cs typeface="Arial"/>
              </a:rPr>
              <a:t>and </a:t>
            </a:r>
            <a:r>
              <a:rPr sz="1200" spc="-5" dirty="0">
                <a:latin typeface="Arial"/>
                <a:cs typeface="Arial"/>
              </a:rPr>
              <a:t>well distributed </a:t>
            </a:r>
            <a:r>
              <a:rPr sz="1200" dirty="0">
                <a:latin typeface="Arial"/>
                <a:cs typeface="Arial"/>
              </a:rPr>
              <a:t>across the </a:t>
            </a:r>
            <a:r>
              <a:rPr sz="1200" spc="-15" dirty="0">
                <a:latin typeface="Arial"/>
                <a:cs typeface="Arial"/>
              </a:rPr>
              <a:t>country,  </a:t>
            </a:r>
            <a:r>
              <a:rPr sz="1200" spc="-5" dirty="0">
                <a:latin typeface="Arial"/>
                <a:cs typeface="Arial"/>
              </a:rPr>
              <a:t>representing </a:t>
            </a:r>
            <a:r>
              <a:rPr sz="1200" dirty="0">
                <a:latin typeface="Arial"/>
                <a:cs typeface="Arial"/>
              </a:rPr>
              <a:t>a </a:t>
            </a:r>
            <a:r>
              <a:rPr sz="1200" spc="-5" dirty="0">
                <a:latin typeface="Arial"/>
                <a:cs typeface="Arial"/>
              </a:rPr>
              <a:t>solid channel </a:t>
            </a:r>
            <a:r>
              <a:rPr sz="1200" dirty="0">
                <a:latin typeface="Arial"/>
                <a:cs typeface="Arial"/>
              </a:rPr>
              <a:t>for </a:t>
            </a:r>
            <a:r>
              <a:rPr sz="1200" spc="-5" dirty="0">
                <a:latin typeface="Arial"/>
                <a:cs typeface="Arial"/>
              </a:rPr>
              <a:t>remarketing in </a:t>
            </a:r>
            <a:r>
              <a:rPr sz="1200" dirty="0">
                <a:latin typeface="Arial"/>
                <a:cs typeface="Arial"/>
              </a:rPr>
              <a:t>the </a:t>
            </a:r>
            <a:r>
              <a:rPr sz="1200" b="1" dirty="0">
                <a:latin typeface="Arial"/>
                <a:cs typeface="Arial"/>
              </a:rPr>
              <a:t>domestic</a:t>
            </a:r>
            <a:r>
              <a:rPr sz="1200" b="1" spc="-95" dirty="0">
                <a:latin typeface="Arial"/>
                <a:cs typeface="Arial"/>
              </a:rPr>
              <a:t> </a:t>
            </a:r>
            <a:r>
              <a:rPr sz="1200" b="1" spc="-5" dirty="0">
                <a:latin typeface="Arial"/>
                <a:cs typeface="Arial"/>
              </a:rPr>
              <a:t>market</a:t>
            </a:r>
            <a:endParaRPr sz="1200">
              <a:latin typeface="Arial"/>
              <a:cs typeface="Arial"/>
            </a:endParaRPr>
          </a:p>
        </p:txBody>
      </p:sp>
      <p:sp>
        <p:nvSpPr>
          <p:cNvPr id="51" name="object 51"/>
          <p:cNvSpPr/>
          <p:nvPr/>
        </p:nvSpPr>
        <p:spPr>
          <a:xfrm>
            <a:off x="11069868" y="4474134"/>
            <a:ext cx="133985" cy="139700"/>
          </a:xfrm>
          <a:custGeom>
            <a:avLst/>
            <a:gdLst/>
            <a:ahLst/>
            <a:cxnLst/>
            <a:rect l="l" t="t" r="r" b="b"/>
            <a:pathLst>
              <a:path w="133984" h="139700">
                <a:moveTo>
                  <a:pt x="133916" y="0"/>
                </a:moveTo>
                <a:lnTo>
                  <a:pt x="47052" y="139079"/>
                </a:lnTo>
                <a:lnTo>
                  <a:pt x="0" y="83664"/>
                </a:lnTo>
              </a:path>
            </a:pathLst>
          </a:custGeom>
          <a:ln w="11576">
            <a:solidFill>
              <a:srgbClr val="051F79"/>
            </a:solidFill>
          </a:ln>
        </p:spPr>
        <p:txBody>
          <a:bodyPr wrap="square" lIns="0" tIns="0" rIns="0" bIns="0" rtlCol="0"/>
          <a:lstStyle/>
          <a:p>
            <a:endParaRPr/>
          </a:p>
        </p:txBody>
      </p:sp>
      <p:sp>
        <p:nvSpPr>
          <p:cNvPr id="52" name="object 52"/>
          <p:cNvSpPr/>
          <p:nvPr/>
        </p:nvSpPr>
        <p:spPr>
          <a:xfrm>
            <a:off x="10921110" y="4443984"/>
            <a:ext cx="0" cy="925830"/>
          </a:xfrm>
          <a:custGeom>
            <a:avLst/>
            <a:gdLst/>
            <a:ahLst/>
            <a:cxnLst/>
            <a:rect l="l" t="t" r="r" b="b"/>
            <a:pathLst>
              <a:path h="925829">
                <a:moveTo>
                  <a:pt x="0" y="0"/>
                </a:moveTo>
                <a:lnTo>
                  <a:pt x="0" y="925449"/>
                </a:lnTo>
              </a:path>
            </a:pathLst>
          </a:custGeom>
          <a:ln w="6350">
            <a:solidFill>
              <a:srgbClr val="000000"/>
            </a:solidFill>
          </a:ln>
        </p:spPr>
        <p:txBody>
          <a:bodyPr wrap="square" lIns="0" tIns="0" rIns="0" bIns="0" rtlCol="0"/>
          <a:lstStyle/>
          <a:p>
            <a:endParaRPr/>
          </a:p>
        </p:txBody>
      </p:sp>
      <p:sp>
        <p:nvSpPr>
          <p:cNvPr id="53" name="object 53"/>
          <p:cNvSpPr/>
          <p:nvPr/>
        </p:nvSpPr>
        <p:spPr>
          <a:xfrm>
            <a:off x="10514330" y="4868671"/>
            <a:ext cx="407034" cy="76200"/>
          </a:xfrm>
          <a:custGeom>
            <a:avLst/>
            <a:gdLst/>
            <a:ahLst/>
            <a:cxnLst/>
            <a:rect l="l" t="t" r="r" b="b"/>
            <a:pathLst>
              <a:path w="407034" h="76200">
                <a:moveTo>
                  <a:pt x="38100" y="0"/>
                </a:moveTo>
                <a:lnTo>
                  <a:pt x="23252" y="2988"/>
                </a:lnTo>
                <a:lnTo>
                  <a:pt x="11144" y="11144"/>
                </a:lnTo>
                <a:lnTo>
                  <a:pt x="2988" y="23252"/>
                </a:lnTo>
                <a:lnTo>
                  <a:pt x="0" y="38100"/>
                </a:lnTo>
                <a:lnTo>
                  <a:pt x="2988" y="52893"/>
                </a:lnTo>
                <a:lnTo>
                  <a:pt x="11144" y="65008"/>
                </a:lnTo>
                <a:lnTo>
                  <a:pt x="23252" y="73193"/>
                </a:lnTo>
                <a:lnTo>
                  <a:pt x="38100" y="76200"/>
                </a:lnTo>
                <a:lnTo>
                  <a:pt x="52893" y="73193"/>
                </a:lnTo>
                <a:lnTo>
                  <a:pt x="65008" y="65008"/>
                </a:lnTo>
                <a:lnTo>
                  <a:pt x="73193" y="52893"/>
                </a:lnTo>
                <a:lnTo>
                  <a:pt x="75554" y="41275"/>
                </a:lnTo>
                <a:lnTo>
                  <a:pt x="38100" y="41275"/>
                </a:lnTo>
                <a:lnTo>
                  <a:pt x="38100" y="34925"/>
                </a:lnTo>
                <a:lnTo>
                  <a:pt x="75557" y="34925"/>
                </a:lnTo>
                <a:lnTo>
                  <a:pt x="73193" y="23252"/>
                </a:lnTo>
                <a:lnTo>
                  <a:pt x="65008" y="11144"/>
                </a:lnTo>
                <a:lnTo>
                  <a:pt x="52893" y="2988"/>
                </a:lnTo>
                <a:lnTo>
                  <a:pt x="38100" y="0"/>
                </a:lnTo>
                <a:close/>
              </a:path>
              <a:path w="407034" h="76200">
                <a:moveTo>
                  <a:pt x="75557" y="34925"/>
                </a:moveTo>
                <a:lnTo>
                  <a:pt x="38100" y="34925"/>
                </a:lnTo>
                <a:lnTo>
                  <a:pt x="38100" y="41275"/>
                </a:lnTo>
                <a:lnTo>
                  <a:pt x="75554" y="41275"/>
                </a:lnTo>
                <a:lnTo>
                  <a:pt x="76200" y="38100"/>
                </a:lnTo>
                <a:lnTo>
                  <a:pt x="75557" y="34925"/>
                </a:lnTo>
                <a:close/>
              </a:path>
              <a:path w="407034" h="76200">
                <a:moveTo>
                  <a:pt x="406780" y="34925"/>
                </a:moveTo>
                <a:lnTo>
                  <a:pt x="75557" y="34925"/>
                </a:lnTo>
                <a:lnTo>
                  <a:pt x="76200" y="38100"/>
                </a:lnTo>
                <a:lnTo>
                  <a:pt x="75554" y="41275"/>
                </a:lnTo>
                <a:lnTo>
                  <a:pt x="406780" y="41275"/>
                </a:lnTo>
                <a:lnTo>
                  <a:pt x="406780" y="34925"/>
                </a:lnTo>
                <a:close/>
              </a:path>
            </a:pathLst>
          </a:custGeom>
          <a:solidFill>
            <a:srgbClr val="000000"/>
          </a:solidFill>
        </p:spPr>
        <p:txBody>
          <a:bodyPr wrap="square" lIns="0" tIns="0" rIns="0" bIns="0" rtlCol="0"/>
          <a:lstStyle/>
          <a:p>
            <a:endParaRPr/>
          </a:p>
        </p:txBody>
      </p:sp>
      <p:sp>
        <p:nvSpPr>
          <p:cNvPr id="54" name="object 54"/>
          <p:cNvSpPr txBox="1"/>
          <p:nvPr/>
        </p:nvSpPr>
        <p:spPr>
          <a:xfrm>
            <a:off x="9303639" y="4836528"/>
            <a:ext cx="1121410" cy="184785"/>
          </a:xfrm>
          <a:prstGeom prst="rect">
            <a:avLst/>
          </a:prstGeom>
          <a:solidFill>
            <a:srgbClr val="F1F1F1"/>
          </a:solidFill>
        </p:spPr>
        <p:txBody>
          <a:bodyPr vert="horz" wrap="square" lIns="0" tIns="0" rIns="0" bIns="0" rtlCol="0">
            <a:spAutoFit/>
          </a:bodyPr>
          <a:lstStyle/>
          <a:p>
            <a:pPr marL="635">
              <a:lnSpc>
                <a:spcPts val="1410"/>
              </a:lnSpc>
            </a:pPr>
            <a:r>
              <a:rPr sz="1200" i="1" spc="-5" dirty="0">
                <a:latin typeface="Arial"/>
                <a:cs typeface="Arial"/>
              </a:rPr>
              <a:t>Domestic</a:t>
            </a:r>
            <a:r>
              <a:rPr sz="1200" i="1" spc="-30" dirty="0">
                <a:latin typeface="Arial"/>
                <a:cs typeface="Arial"/>
              </a:rPr>
              <a:t> </a:t>
            </a:r>
            <a:r>
              <a:rPr sz="1200" i="1" dirty="0">
                <a:latin typeface="Arial"/>
                <a:cs typeface="Arial"/>
              </a:rPr>
              <a:t>focus</a:t>
            </a:r>
            <a:endParaRPr sz="1200">
              <a:latin typeface="Arial"/>
              <a:cs typeface="Arial"/>
            </a:endParaRPr>
          </a:p>
        </p:txBody>
      </p:sp>
      <p:sp>
        <p:nvSpPr>
          <p:cNvPr id="55" name="object 55"/>
          <p:cNvSpPr/>
          <p:nvPr/>
        </p:nvSpPr>
        <p:spPr>
          <a:xfrm>
            <a:off x="10921110" y="5465698"/>
            <a:ext cx="0" cy="841375"/>
          </a:xfrm>
          <a:custGeom>
            <a:avLst/>
            <a:gdLst/>
            <a:ahLst/>
            <a:cxnLst/>
            <a:rect l="l" t="t" r="r" b="b"/>
            <a:pathLst>
              <a:path h="841375">
                <a:moveTo>
                  <a:pt x="0" y="0"/>
                </a:moveTo>
                <a:lnTo>
                  <a:pt x="0" y="841324"/>
                </a:lnTo>
              </a:path>
            </a:pathLst>
          </a:custGeom>
          <a:ln w="6350">
            <a:solidFill>
              <a:srgbClr val="000000"/>
            </a:solidFill>
          </a:ln>
        </p:spPr>
        <p:txBody>
          <a:bodyPr wrap="square" lIns="0" tIns="0" rIns="0" bIns="0" rtlCol="0"/>
          <a:lstStyle/>
          <a:p>
            <a:endParaRPr/>
          </a:p>
        </p:txBody>
      </p:sp>
      <p:sp>
        <p:nvSpPr>
          <p:cNvPr id="56" name="object 56"/>
          <p:cNvSpPr/>
          <p:nvPr/>
        </p:nvSpPr>
        <p:spPr>
          <a:xfrm>
            <a:off x="10514330" y="5848261"/>
            <a:ext cx="407034" cy="76200"/>
          </a:xfrm>
          <a:custGeom>
            <a:avLst/>
            <a:gdLst/>
            <a:ahLst/>
            <a:cxnLst/>
            <a:rect l="l" t="t" r="r" b="b"/>
            <a:pathLst>
              <a:path w="407034" h="76200">
                <a:moveTo>
                  <a:pt x="38100" y="0"/>
                </a:moveTo>
                <a:lnTo>
                  <a:pt x="23252" y="2993"/>
                </a:lnTo>
                <a:lnTo>
                  <a:pt x="11144" y="11158"/>
                </a:lnTo>
                <a:lnTo>
                  <a:pt x="2988" y="23268"/>
                </a:lnTo>
                <a:lnTo>
                  <a:pt x="0" y="38100"/>
                </a:lnTo>
                <a:lnTo>
                  <a:pt x="2988" y="52931"/>
                </a:lnTo>
                <a:lnTo>
                  <a:pt x="11144" y="65041"/>
                </a:lnTo>
                <a:lnTo>
                  <a:pt x="23252" y="73206"/>
                </a:lnTo>
                <a:lnTo>
                  <a:pt x="38100" y="76200"/>
                </a:lnTo>
                <a:lnTo>
                  <a:pt x="52893" y="73206"/>
                </a:lnTo>
                <a:lnTo>
                  <a:pt x="65008" y="65041"/>
                </a:lnTo>
                <a:lnTo>
                  <a:pt x="73193" y="52931"/>
                </a:lnTo>
                <a:lnTo>
                  <a:pt x="75556" y="41275"/>
                </a:lnTo>
                <a:lnTo>
                  <a:pt x="38100" y="41275"/>
                </a:lnTo>
                <a:lnTo>
                  <a:pt x="38100" y="34925"/>
                </a:lnTo>
                <a:lnTo>
                  <a:pt x="75556" y="34925"/>
                </a:lnTo>
                <a:lnTo>
                  <a:pt x="73193" y="23268"/>
                </a:lnTo>
                <a:lnTo>
                  <a:pt x="65008" y="11158"/>
                </a:lnTo>
                <a:lnTo>
                  <a:pt x="52893" y="2993"/>
                </a:lnTo>
                <a:lnTo>
                  <a:pt x="38100" y="0"/>
                </a:lnTo>
                <a:close/>
              </a:path>
              <a:path w="407034" h="76200">
                <a:moveTo>
                  <a:pt x="75556" y="34925"/>
                </a:moveTo>
                <a:lnTo>
                  <a:pt x="38100" y="34925"/>
                </a:lnTo>
                <a:lnTo>
                  <a:pt x="38100" y="41275"/>
                </a:lnTo>
                <a:lnTo>
                  <a:pt x="75556" y="41275"/>
                </a:lnTo>
                <a:lnTo>
                  <a:pt x="76200" y="38100"/>
                </a:lnTo>
                <a:lnTo>
                  <a:pt x="75556" y="34925"/>
                </a:lnTo>
                <a:close/>
              </a:path>
              <a:path w="407034" h="76200">
                <a:moveTo>
                  <a:pt x="406780" y="34925"/>
                </a:moveTo>
                <a:lnTo>
                  <a:pt x="75556" y="34925"/>
                </a:lnTo>
                <a:lnTo>
                  <a:pt x="76200" y="38100"/>
                </a:lnTo>
                <a:lnTo>
                  <a:pt x="75556" y="41275"/>
                </a:lnTo>
                <a:lnTo>
                  <a:pt x="406780" y="41275"/>
                </a:lnTo>
                <a:lnTo>
                  <a:pt x="406780" y="34925"/>
                </a:lnTo>
                <a:close/>
              </a:path>
            </a:pathLst>
          </a:custGeom>
          <a:solidFill>
            <a:srgbClr val="000000"/>
          </a:solidFill>
        </p:spPr>
        <p:txBody>
          <a:bodyPr wrap="square" lIns="0" tIns="0" rIns="0" bIns="0" rtlCol="0"/>
          <a:lstStyle/>
          <a:p>
            <a:endParaRPr/>
          </a:p>
        </p:txBody>
      </p:sp>
      <p:sp>
        <p:nvSpPr>
          <p:cNvPr id="57" name="object 57"/>
          <p:cNvSpPr txBox="1"/>
          <p:nvPr/>
        </p:nvSpPr>
        <p:spPr>
          <a:xfrm>
            <a:off x="9056243" y="5795098"/>
            <a:ext cx="1369060" cy="184785"/>
          </a:xfrm>
          <a:prstGeom prst="rect">
            <a:avLst/>
          </a:prstGeom>
          <a:solidFill>
            <a:srgbClr val="F1F1F1"/>
          </a:solidFill>
        </p:spPr>
        <p:txBody>
          <a:bodyPr vert="horz" wrap="square" lIns="0" tIns="0" rIns="0" bIns="0" rtlCol="0">
            <a:spAutoFit/>
          </a:bodyPr>
          <a:lstStyle/>
          <a:p>
            <a:pPr marL="635">
              <a:lnSpc>
                <a:spcPts val="1415"/>
              </a:lnSpc>
            </a:pPr>
            <a:r>
              <a:rPr sz="1200" i="1" spc="-5" dirty="0">
                <a:latin typeface="Arial"/>
                <a:cs typeface="Arial"/>
              </a:rPr>
              <a:t>International</a:t>
            </a:r>
            <a:r>
              <a:rPr sz="1200" i="1" spc="-50" dirty="0">
                <a:latin typeface="Arial"/>
                <a:cs typeface="Arial"/>
              </a:rPr>
              <a:t> </a:t>
            </a:r>
            <a:r>
              <a:rPr sz="1200" i="1" dirty="0">
                <a:latin typeface="Arial"/>
                <a:cs typeface="Arial"/>
              </a:rPr>
              <a:t>focus</a:t>
            </a:r>
            <a:endParaRPr sz="1200">
              <a:latin typeface="Arial"/>
              <a:cs typeface="Arial"/>
            </a:endParaRPr>
          </a:p>
        </p:txBody>
      </p:sp>
      <p:sp>
        <p:nvSpPr>
          <p:cNvPr id="58" name="object 58"/>
          <p:cNvSpPr/>
          <p:nvPr/>
        </p:nvSpPr>
        <p:spPr>
          <a:xfrm>
            <a:off x="10189631" y="759511"/>
            <a:ext cx="133985" cy="139700"/>
          </a:xfrm>
          <a:custGeom>
            <a:avLst/>
            <a:gdLst/>
            <a:ahLst/>
            <a:cxnLst/>
            <a:rect l="l" t="t" r="r" b="b"/>
            <a:pathLst>
              <a:path w="133984" h="139700">
                <a:moveTo>
                  <a:pt x="133916" y="0"/>
                </a:moveTo>
                <a:lnTo>
                  <a:pt x="47052" y="139079"/>
                </a:lnTo>
                <a:lnTo>
                  <a:pt x="0" y="83664"/>
                </a:lnTo>
              </a:path>
            </a:pathLst>
          </a:custGeom>
          <a:ln w="11576">
            <a:solidFill>
              <a:srgbClr val="051F79"/>
            </a:solidFill>
          </a:ln>
        </p:spPr>
        <p:txBody>
          <a:bodyPr wrap="square" lIns="0" tIns="0" rIns="0" bIns="0" rtlCol="0"/>
          <a:lstStyle/>
          <a:p>
            <a:endParaRPr/>
          </a:p>
        </p:txBody>
      </p:sp>
      <p:sp>
        <p:nvSpPr>
          <p:cNvPr id="59" name="object 59"/>
          <p:cNvSpPr/>
          <p:nvPr/>
        </p:nvSpPr>
        <p:spPr>
          <a:xfrm>
            <a:off x="10174858" y="975702"/>
            <a:ext cx="180340" cy="180340"/>
          </a:xfrm>
          <a:custGeom>
            <a:avLst/>
            <a:gdLst/>
            <a:ahLst/>
            <a:cxnLst/>
            <a:rect l="l" t="t" r="r" b="b"/>
            <a:pathLst>
              <a:path w="180340" h="180340">
                <a:moveTo>
                  <a:pt x="0" y="179997"/>
                </a:moveTo>
                <a:lnTo>
                  <a:pt x="179997" y="179997"/>
                </a:lnTo>
                <a:lnTo>
                  <a:pt x="179997" y="0"/>
                </a:lnTo>
                <a:lnTo>
                  <a:pt x="0" y="0"/>
                </a:lnTo>
                <a:lnTo>
                  <a:pt x="0" y="179997"/>
                </a:lnTo>
                <a:close/>
              </a:path>
            </a:pathLst>
          </a:custGeom>
          <a:solidFill>
            <a:srgbClr val="F1F1F1"/>
          </a:solidFill>
        </p:spPr>
        <p:txBody>
          <a:bodyPr wrap="square" lIns="0" tIns="0" rIns="0" bIns="0" rtlCol="0"/>
          <a:lstStyle/>
          <a:p>
            <a:endParaRPr/>
          </a:p>
        </p:txBody>
      </p:sp>
      <p:sp>
        <p:nvSpPr>
          <p:cNvPr id="60" name="object 60"/>
          <p:cNvSpPr txBox="1"/>
          <p:nvPr/>
        </p:nvSpPr>
        <p:spPr>
          <a:xfrm>
            <a:off x="9860026" y="733171"/>
            <a:ext cx="1757680" cy="603250"/>
          </a:xfrm>
          <a:prstGeom prst="rect">
            <a:avLst/>
          </a:prstGeom>
        </p:spPr>
        <p:txBody>
          <a:bodyPr vert="horz" wrap="square" lIns="0" tIns="12065" rIns="0" bIns="0" rtlCol="0">
            <a:spAutoFit/>
          </a:bodyPr>
          <a:lstStyle/>
          <a:p>
            <a:pPr marL="565785">
              <a:lnSpc>
                <a:spcPct val="100000"/>
              </a:lnSpc>
              <a:spcBef>
                <a:spcPts val="95"/>
              </a:spcBef>
            </a:pPr>
            <a:r>
              <a:rPr sz="1000" spc="-10" dirty="0">
                <a:latin typeface="Arial"/>
                <a:cs typeface="Arial"/>
              </a:rPr>
              <a:t>Service</a:t>
            </a:r>
            <a:r>
              <a:rPr sz="1000" spc="-5" dirty="0">
                <a:latin typeface="Arial"/>
                <a:cs typeface="Arial"/>
              </a:rPr>
              <a:t> </a:t>
            </a:r>
            <a:r>
              <a:rPr sz="1000" spc="-10" dirty="0">
                <a:latin typeface="Arial"/>
                <a:cs typeface="Arial"/>
              </a:rPr>
              <a:t>available</a:t>
            </a:r>
            <a:endParaRPr sz="1000">
              <a:latin typeface="Arial"/>
              <a:cs typeface="Arial"/>
            </a:endParaRPr>
          </a:p>
          <a:p>
            <a:pPr marL="565785">
              <a:lnSpc>
                <a:spcPts val="1155"/>
              </a:lnSpc>
              <a:spcBef>
                <a:spcPts val="795"/>
              </a:spcBef>
            </a:pPr>
            <a:r>
              <a:rPr sz="1000" spc="-10" dirty="0">
                <a:latin typeface="Arial"/>
                <a:cs typeface="Arial"/>
              </a:rPr>
              <a:t>Detailed </a:t>
            </a:r>
            <a:r>
              <a:rPr sz="1000" spc="-5" dirty="0">
                <a:latin typeface="Arial"/>
                <a:cs typeface="Arial"/>
              </a:rPr>
              <a:t>next</a:t>
            </a:r>
            <a:endParaRPr sz="1000">
              <a:latin typeface="Arial"/>
              <a:cs typeface="Arial"/>
            </a:endParaRPr>
          </a:p>
          <a:p>
            <a:pPr marL="12700">
              <a:lnSpc>
                <a:spcPts val="1395"/>
              </a:lnSpc>
            </a:pPr>
            <a:r>
              <a:rPr sz="1200" b="1" dirty="0">
                <a:latin typeface="Arial"/>
                <a:cs typeface="Arial"/>
              </a:rPr>
              <a:t>Inspection</a:t>
            </a:r>
            <a:r>
              <a:rPr sz="1200" b="1" spc="-35" dirty="0">
                <a:latin typeface="Arial"/>
                <a:cs typeface="Arial"/>
              </a:rPr>
              <a:t> </a:t>
            </a:r>
            <a:r>
              <a:rPr sz="1200" b="1" spc="-5" dirty="0">
                <a:latin typeface="Arial"/>
                <a:cs typeface="Arial"/>
              </a:rPr>
              <a:t>Remarketing</a:t>
            </a:r>
            <a:endParaRPr sz="1200">
              <a:latin typeface="Arial"/>
              <a:cs typeface="Arial"/>
            </a:endParaRPr>
          </a:p>
        </p:txBody>
      </p:sp>
      <p:sp>
        <p:nvSpPr>
          <p:cNvPr id="61" name="object 61"/>
          <p:cNvSpPr/>
          <p:nvPr/>
        </p:nvSpPr>
        <p:spPr>
          <a:xfrm>
            <a:off x="690044" y="3226061"/>
            <a:ext cx="644097" cy="147905"/>
          </a:xfrm>
          <a:prstGeom prst="rect">
            <a:avLst/>
          </a:prstGeom>
          <a:blipFill>
            <a:blip r:embed="rId10" cstate="print"/>
            <a:stretch>
              <a:fillRect/>
            </a:stretch>
          </a:blipFill>
        </p:spPr>
        <p:txBody>
          <a:bodyPr wrap="square" lIns="0" tIns="0" rIns="0" bIns="0" rtlCol="0"/>
          <a:lstStyle/>
          <a:p>
            <a:endParaRPr/>
          </a:p>
        </p:txBody>
      </p:sp>
      <p:sp>
        <p:nvSpPr>
          <p:cNvPr id="62" name="object 62"/>
          <p:cNvSpPr/>
          <p:nvPr/>
        </p:nvSpPr>
        <p:spPr>
          <a:xfrm>
            <a:off x="8833739" y="1612900"/>
            <a:ext cx="407034" cy="76200"/>
          </a:xfrm>
          <a:custGeom>
            <a:avLst/>
            <a:gdLst/>
            <a:ahLst/>
            <a:cxnLst/>
            <a:rect l="l" t="t" r="r" b="b"/>
            <a:pathLst>
              <a:path w="407034" h="76200">
                <a:moveTo>
                  <a:pt x="38100" y="0"/>
                </a:moveTo>
                <a:lnTo>
                  <a:pt x="23306" y="3006"/>
                </a:lnTo>
                <a:lnTo>
                  <a:pt x="11191" y="11191"/>
                </a:lnTo>
                <a:lnTo>
                  <a:pt x="3006" y="23306"/>
                </a:lnTo>
                <a:lnTo>
                  <a:pt x="0" y="38100"/>
                </a:lnTo>
                <a:lnTo>
                  <a:pt x="3006" y="52947"/>
                </a:lnTo>
                <a:lnTo>
                  <a:pt x="11191" y="65055"/>
                </a:lnTo>
                <a:lnTo>
                  <a:pt x="23306" y="73211"/>
                </a:lnTo>
                <a:lnTo>
                  <a:pt x="38100" y="76200"/>
                </a:lnTo>
                <a:lnTo>
                  <a:pt x="52947" y="73211"/>
                </a:lnTo>
                <a:lnTo>
                  <a:pt x="65055" y="65055"/>
                </a:lnTo>
                <a:lnTo>
                  <a:pt x="73211" y="52947"/>
                </a:lnTo>
                <a:lnTo>
                  <a:pt x="75560" y="41275"/>
                </a:lnTo>
                <a:lnTo>
                  <a:pt x="38100" y="41275"/>
                </a:lnTo>
                <a:lnTo>
                  <a:pt x="38100" y="34925"/>
                </a:lnTo>
                <a:lnTo>
                  <a:pt x="75558" y="34925"/>
                </a:lnTo>
                <a:lnTo>
                  <a:pt x="73211" y="23306"/>
                </a:lnTo>
                <a:lnTo>
                  <a:pt x="65055" y="11191"/>
                </a:lnTo>
                <a:lnTo>
                  <a:pt x="52947" y="3006"/>
                </a:lnTo>
                <a:lnTo>
                  <a:pt x="38100" y="0"/>
                </a:lnTo>
                <a:close/>
              </a:path>
              <a:path w="407034" h="76200">
                <a:moveTo>
                  <a:pt x="75558" y="34925"/>
                </a:moveTo>
                <a:lnTo>
                  <a:pt x="38100" y="34925"/>
                </a:lnTo>
                <a:lnTo>
                  <a:pt x="38100" y="41275"/>
                </a:lnTo>
                <a:lnTo>
                  <a:pt x="75560" y="41275"/>
                </a:lnTo>
                <a:lnTo>
                  <a:pt x="76200" y="38100"/>
                </a:lnTo>
                <a:lnTo>
                  <a:pt x="75558" y="34925"/>
                </a:lnTo>
                <a:close/>
              </a:path>
              <a:path w="407034" h="76200">
                <a:moveTo>
                  <a:pt x="406907" y="34925"/>
                </a:moveTo>
                <a:lnTo>
                  <a:pt x="75558" y="34925"/>
                </a:lnTo>
                <a:lnTo>
                  <a:pt x="76200" y="38100"/>
                </a:lnTo>
                <a:lnTo>
                  <a:pt x="75560" y="41275"/>
                </a:lnTo>
                <a:lnTo>
                  <a:pt x="406907" y="41275"/>
                </a:lnTo>
                <a:lnTo>
                  <a:pt x="406907" y="34925"/>
                </a:lnTo>
                <a:close/>
              </a:path>
            </a:pathLst>
          </a:custGeom>
          <a:solidFill>
            <a:srgbClr val="000000"/>
          </a:solidFill>
        </p:spPr>
        <p:txBody>
          <a:bodyPr wrap="square" lIns="0" tIns="0" rIns="0" bIns="0" rtlCol="0"/>
          <a:lstStyle/>
          <a:p>
            <a:endParaRPr/>
          </a:p>
        </p:txBody>
      </p:sp>
      <p:sp>
        <p:nvSpPr>
          <p:cNvPr id="63" name="object 63"/>
          <p:cNvSpPr txBox="1"/>
          <p:nvPr/>
        </p:nvSpPr>
        <p:spPr>
          <a:xfrm>
            <a:off x="9292208" y="1553413"/>
            <a:ext cx="2018664" cy="208915"/>
          </a:xfrm>
          <a:prstGeom prst="rect">
            <a:avLst/>
          </a:prstGeom>
        </p:spPr>
        <p:txBody>
          <a:bodyPr vert="horz" wrap="square" lIns="0" tIns="12700" rIns="0" bIns="0" rtlCol="0">
            <a:spAutoFit/>
          </a:bodyPr>
          <a:lstStyle/>
          <a:p>
            <a:pPr marL="12700">
              <a:lnSpc>
                <a:spcPct val="100000"/>
              </a:lnSpc>
              <a:spcBef>
                <a:spcPts val="100"/>
              </a:spcBef>
            </a:pPr>
            <a:r>
              <a:rPr sz="1200" i="1" dirty="0">
                <a:latin typeface="Arial"/>
                <a:cs typeface="Arial"/>
              </a:rPr>
              <a:t>Activity </a:t>
            </a:r>
            <a:r>
              <a:rPr sz="1200" i="1" spc="-5" dirty="0">
                <a:latin typeface="Arial"/>
                <a:cs typeface="Arial"/>
              </a:rPr>
              <a:t>confirmed by</a:t>
            </a:r>
            <a:r>
              <a:rPr sz="1200" i="1" spc="-75" dirty="0">
                <a:latin typeface="Arial"/>
                <a:cs typeface="Arial"/>
              </a:rPr>
              <a:t> </a:t>
            </a:r>
            <a:r>
              <a:rPr sz="1200" i="1" spc="-10" dirty="0">
                <a:latin typeface="Arial"/>
                <a:cs typeface="Arial"/>
              </a:rPr>
              <a:t>doValue</a:t>
            </a:r>
            <a:endParaRPr sz="120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85" rIns="0" bIns="0" rtlCol="0">
            <a:spAutoFit/>
          </a:bodyPr>
          <a:lstStyle/>
          <a:p>
            <a:pPr marL="12700" marR="5080">
              <a:lnSpc>
                <a:spcPts val="2800"/>
              </a:lnSpc>
              <a:spcBef>
                <a:spcPts val="355"/>
              </a:spcBef>
            </a:pPr>
            <a:r>
              <a:rPr spc="-5" dirty="0"/>
              <a:t>| Creating a dedicated auto finance value stream can enable  focus, accountability, and growth</a:t>
            </a:r>
          </a:p>
        </p:txBody>
      </p:sp>
      <p:sp>
        <p:nvSpPr>
          <p:cNvPr id="3" name="object 3"/>
          <p:cNvSpPr txBox="1"/>
          <p:nvPr/>
        </p:nvSpPr>
        <p:spPr>
          <a:xfrm>
            <a:off x="542036" y="2960877"/>
            <a:ext cx="9372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Arial"/>
                <a:cs typeface="Arial"/>
              </a:rPr>
              <a:t>Rationale</a:t>
            </a:r>
            <a:endParaRPr sz="1600">
              <a:latin typeface="Arial"/>
              <a:cs typeface="Arial"/>
            </a:endParaRPr>
          </a:p>
        </p:txBody>
      </p:sp>
      <p:sp>
        <p:nvSpPr>
          <p:cNvPr id="4" name="object 4"/>
          <p:cNvSpPr txBox="1"/>
          <p:nvPr/>
        </p:nvSpPr>
        <p:spPr>
          <a:xfrm>
            <a:off x="542036" y="4243527"/>
            <a:ext cx="1240790" cy="756920"/>
          </a:xfrm>
          <a:prstGeom prst="rect">
            <a:avLst/>
          </a:prstGeom>
        </p:spPr>
        <p:txBody>
          <a:bodyPr vert="horz" wrap="square" lIns="0" tIns="12065" rIns="0" bIns="0" rtlCol="0">
            <a:spAutoFit/>
          </a:bodyPr>
          <a:lstStyle/>
          <a:p>
            <a:pPr marL="12700" marR="5080">
              <a:lnSpc>
                <a:spcPct val="100000"/>
              </a:lnSpc>
              <a:spcBef>
                <a:spcPts val="95"/>
              </a:spcBef>
            </a:pPr>
            <a:r>
              <a:rPr sz="1600" b="1" spc="-5" dirty="0">
                <a:latin typeface="Arial"/>
                <a:cs typeface="Arial"/>
              </a:rPr>
              <a:t>Example of  in</a:t>
            </a:r>
            <a:r>
              <a:rPr sz="1600" b="1" spc="-15" dirty="0">
                <a:latin typeface="Arial"/>
                <a:cs typeface="Arial"/>
              </a:rPr>
              <a:t>t</a:t>
            </a:r>
            <a:r>
              <a:rPr sz="1600" b="1" spc="-10" dirty="0">
                <a:latin typeface="Arial"/>
                <a:cs typeface="Arial"/>
              </a:rPr>
              <a:t>ernatio</a:t>
            </a:r>
            <a:r>
              <a:rPr sz="1600" b="1" spc="-5" dirty="0">
                <a:latin typeface="Arial"/>
                <a:cs typeface="Arial"/>
              </a:rPr>
              <a:t>nal  </a:t>
            </a:r>
            <a:r>
              <a:rPr sz="1600" b="1" spc="-10" dirty="0">
                <a:latin typeface="Arial"/>
                <a:cs typeface="Arial"/>
              </a:rPr>
              <a:t>Banks</a:t>
            </a:r>
            <a:endParaRPr sz="1600">
              <a:latin typeface="Arial"/>
              <a:cs typeface="Arial"/>
            </a:endParaRPr>
          </a:p>
        </p:txBody>
      </p:sp>
      <p:sp>
        <p:nvSpPr>
          <p:cNvPr id="5" name="object 5"/>
          <p:cNvSpPr/>
          <p:nvPr/>
        </p:nvSpPr>
        <p:spPr>
          <a:xfrm>
            <a:off x="554736" y="2867151"/>
            <a:ext cx="8843010" cy="0"/>
          </a:xfrm>
          <a:custGeom>
            <a:avLst/>
            <a:gdLst/>
            <a:ahLst/>
            <a:cxnLst/>
            <a:rect l="l" t="t" r="r" b="b"/>
            <a:pathLst>
              <a:path w="8843010">
                <a:moveTo>
                  <a:pt x="0" y="0"/>
                </a:moveTo>
                <a:lnTo>
                  <a:pt x="8842629" y="0"/>
                </a:lnTo>
              </a:path>
            </a:pathLst>
          </a:custGeom>
          <a:ln w="6350">
            <a:solidFill>
              <a:srgbClr val="757575"/>
            </a:solidFill>
          </a:ln>
        </p:spPr>
        <p:txBody>
          <a:bodyPr wrap="square" lIns="0" tIns="0" rIns="0" bIns="0" rtlCol="0"/>
          <a:lstStyle/>
          <a:p>
            <a:endParaRPr/>
          </a:p>
        </p:txBody>
      </p:sp>
      <p:sp>
        <p:nvSpPr>
          <p:cNvPr id="6" name="object 6"/>
          <p:cNvSpPr/>
          <p:nvPr/>
        </p:nvSpPr>
        <p:spPr>
          <a:xfrm>
            <a:off x="554736" y="4149852"/>
            <a:ext cx="8843010" cy="0"/>
          </a:xfrm>
          <a:custGeom>
            <a:avLst/>
            <a:gdLst/>
            <a:ahLst/>
            <a:cxnLst/>
            <a:rect l="l" t="t" r="r" b="b"/>
            <a:pathLst>
              <a:path w="8843010">
                <a:moveTo>
                  <a:pt x="0" y="0"/>
                </a:moveTo>
                <a:lnTo>
                  <a:pt x="8842629" y="0"/>
                </a:lnTo>
              </a:path>
            </a:pathLst>
          </a:custGeom>
          <a:ln w="6350">
            <a:solidFill>
              <a:srgbClr val="757575"/>
            </a:solidFill>
          </a:ln>
        </p:spPr>
        <p:txBody>
          <a:bodyPr wrap="square" lIns="0" tIns="0" rIns="0" bIns="0" rtlCol="0"/>
          <a:lstStyle/>
          <a:p>
            <a:endParaRPr/>
          </a:p>
        </p:txBody>
      </p:sp>
      <p:sp>
        <p:nvSpPr>
          <p:cNvPr id="7" name="object 7"/>
          <p:cNvSpPr/>
          <p:nvPr/>
        </p:nvSpPr>
        <p:spPr>
          <a:xfrm>
            <a:off x="602627" y="3418490"/>
            <a:ext cx="259079" cy="258445"/>
          </a:xfrm>
          <a:custGeom>
            <a:avLst/>
            <a:gdLst/>
            <a:ahLst/>
            <a:cxnLst/>
            <a:rect l="l" t="t" r="r" b="b"/>
            <a:pathLst>
              <a:path w="259080" h="258445">
                <a:moveTo>
                  <a:pt x="258900" y="129209"/>
                </a:moveTo>
                <a:lnTo>
                  <a:pt x="248728" y="179503"/>
                </a:lnTo>
                <a:lnTo>
                  <a:pt x="220985" y="220573"/>
                </a:lnTo>
                <a:lnTo>
                  <a:pt x="179838" y="248264"/>
                </a:lnTo>
                <a:lnTo>
                  <a:pt x="129450" y="258418"/>
                </a:lnTo>
                <a:lnTo>
                  <a:pt x="79062" y="248264"/>
                </a:lnTo>
                <a:lnTo>
                  <a:pt x="37915" y="220573"/>
                </a:lnTo>
                <a:lnTo>
                  <a:pt x="10172" y="179503"/>
                </a:lnTo>
                <a:lnTo>
                  <a:pt x="0" y="129209"/>
                </a:lnTo>
                <a:lnTo>
                  <a:pt x="10172" y="78915"/>
                </a:lnTo>
                <a:lnTo>
                  <a:pt x="37915" y="37844"/>
                </a:lnTo>
                <a:lnTo>
                  <a:pt x="79062" y="10153"/>
                </a:lnTo>
                <a:lnTo>
                  <a:pt x="129450" y="0"/>
                </a:lnTo>
                <a:lnTo>
                  <a:pt x="179838" y="10153"/>
                </a:lnTo>
                <a:lnTo>
                  <a:pt x="220985" y="37844"/>
                </a:lnTo>
                <a:lnTo>
                  <a:pt x="248728" y="78915"/>
                </a:lnTo>
                <a:lnTo>
                  <a:pt x="258900" y="129209"/>
                </a:lnTo>
                <a:close/>
              </a:path>
            </a:pathLst>
          </a:custGeom>
          <a:ln w="10983">
            <a:solidFill>
              <a:srgbClr val="051F79"/>
            </a:solidFill>
          </a:ln>
        </p:spPr>
        <p:txBody>
          <a:bodyPr wrap="square" lIns="0" tIns="0" rIns="0" bIns="0" rtlCol="0"/>
          <a:lstStyle/>
          <a:p>
            <a:endParaRPr/>
          </a:p>
        </p:txBody>
      </p:sp>
      <p:sp>
        <p:nvSpPr>
          <p:cNvPr id="8" name="object 8"/>
          <p:cNvSpPr/>
          <p:nvPr/>
        </p:nvSpPr>
        <p:spPr>
          <a:xfrm>
            <a:off x="798864" y="3610246"/>
            <a:ext cx="160020" cy="160020"/>
          </a:xfrm>
          <a:custGeom>
            <a:avLst/>
            <a:gdLst/>
            <a:ahLst/>
            <a:cxnLst/>
            <a:rect l="l" t="t" r="r" b="b"/>
            <a:pathLst>
              <a:path w="160019" h="160020">
                <a:moveTo>
                  <a:pt x="46173" y="0"/>
                </a:moveTo>
                <a:lnTo>
                  <a:pt x="159957" y="112749"/>
                </a:lnTo>
                <a:lnTo>
                  <a:pt x="112135" y="159657"/>
                </a:lnTo>
                <a:lnTo>
                  <a:pt x="0" y="48556"/>
                </a:lnTo>
              </a:path>
            </a:pathLst>
          </a:custGeom>
          <a:ln w="10983">
            <a:solidFill>
              <a:srgbClr val="051F79"/>
            </a:solidFill>
          </a:ln>
        </p:spPr>
        <p:txBody>
          <a:bodyPr wrap="square" lIns="0" tIns="0" rIns="0" bIns="0" rtlCol="0"/>
          <a:lstStyle/>
          <a:p>
            <a:endParaRPr/>
          </a:p>
        </p:txBody>
      </p:sp>
      <p:sp>
        <p:nvSpPr>
          <p:cNvPr id="9" name="object 9"/>
          <p:cNvSpPr/>
          <p:nvPr/>
        </p:nvSpPr>
        <p:spPr>
          <a:xfrm>
            <a:off x="652208" y="3470604"/>
            <a:ext cx="68048" cy="116331"/>
          </a:xfrm>
          <a:prstGeom prst="rect">
            <a:avLst/>
          </a:prstGeom>
          <a:blipFill>
            <a:blip r:embed="rId2" cstate="print"/>
            <a:stretch>
              <a:fillRect/>
            </a:stretch>
          </a:blipFill>
        </p:spPr>
        <p:txBody>
          <a:bodyPr wrap="square" lIns="0" tIns="0" rIns="0" bIns="0" rtlCol="0"/>
          <a:lstStyle/>
          <a:p>
            <a:endParaRPr/>
          </a:p>
        </p:txBody>
      </p:sp>
      <p:sp>
        <p:nvSpPr>
          <p:cNvPr id="10" name="object 10"/>
          <p:cNvSpPr/>
          <p:nvPr/>
        </p:nvSpPr>
        <p:spPr>
          <a:xfrm>
            <a:off x="643028" y="3316439"/>
            <a:ext cx="403225" cy="510540"/>
          </a:xfrm>
          <a:custGeom>
            <a:avLst/>
            <a:gdLst/>
            <a:ahLst/>
            <a:cxnLst/>
            <a:rect l="l" t="t" r="r" b="b"/>
            <a:pathLst>
              <a:path w="403225" h="510539">
                <a:moveTo>
                  <a:pt x="0" y="383512"/>
                </a:moveTo>
                <a:lnTo>
                  <a:pt x="0" y="510250"/>
                </a:lnTo>
                <a:lnTo>
                  <a:pt x="403192" y="510250"/>
                </a:lnTo>
                <a:lnTo>
                  <a:pt x="403192" y="96289"/>
                </a:lnTo>
                <a:lnTo>
                  <a:pt x="309196" y="0"/>
                </a:lnTo>
                <a:lnTo>
                  <a:pt x="0" y="0"/>
                </a:lnTo>
                <a:lnTo>
                  <a:pt x="0" y="79829"/>
                </a:lnTo>
              </a:path>
            </a:pathLst>
          </a:custGeom>
          <a:ln w="10985">
            <a:solidFill>
              <a:srgbClr val="051F79"/>
            </a:solidFill>
          </a:ln>
        </p:spPr>
        <p:txBody>
          <a:bodyPr wrap="square" lIns="0" tIns="0" rIns="0" bIns="0" rtlCol="0"/>
          <a:lstStyle/>
          <a:p>
            <a:endParaRPr/>
          </a:p>
        </p:txBody>
      </p:sp>
      <p:sp>
        <p:nvSpPr>
          <p:cNvPr id="11" name="object 11"/>
          <p:cNvSpPr/>
          <p:nvPr/>
        </p:nvSpPr>
        <p:spPr>
          <a:xfrm>
            <a:off x="952225" y="3316439"/>
            <a:ext cx="94615" cy="96520"/>
          </a:xfrm>
          <a:custGeom>
            <a:avLst/>
            <a:gdLst/>
            <a:ahLst/>
            <a:cxnLst/>
            <a:rect l="l" t="t" r="r" b="b"/>
            <a:pathLst>
              <a:path w="94615" h="96520">
                <a:moveTo>
                  <a:pt x="93995" y="96289"/>
                </a:moveTo>
                <a:lnTo>
                  <a:pt x="0" y="96289"/>
                </a:lnTo>
                <a:lnTo>
                  <a:pt x="0" y="0"/>
                </a:lnTo>
              </a:path>
            </a:pathLst>
          </a:custGeom>
          <a:ln w="10983">
            <a:solidFill>
              <a:srgbClr val="051F79"/>
            </a:solidFill>
          </a:ln>
        </p:spPr>
        <p:txBody>
          <a:bodyPr wrap="square" lIns="0" tIns="0" rIns="0" bIns="0" rtlCol="0"/>
          <a:lstStyle/>
          <a:p>
            <a:endParaRPr/>
          </a:p>
        </p:txBody>
      </p:sp>
      <p:sp>
        <p:nvSpPr>
          <p:cNvPr id="12" name="object 12"/>
          <p:cNvSpPr/>
          <p:nvPr/>
        </p:nvSpPr>
        <p:spPr>
          <a:xfrm>
            <a:off x="673536" y="2281386"/>
            <a:ext cx="367458" cy="250473"/>
          </a:xfrm>
          <a:prstGeom prst="rect">
            <a:avLst/>
          </a:prstGeom>
          <a:blipFill>
            <a:blip r:embed="rId3" cstate="print"/>
            <a:stretch>
              <a:fillRect/>
            </a:stretch>
          </a:blipFill>
        </p:spPr>
        <p:txBody>
          <a:bodyPr wrap="square" lIns="0" tIns="0" rIns="0" bIns="0" rtlCol="0"/>
          <a:lstStyle/>
          <a:p>
            <a:endParaRPr/>
          </a:p>
        </p:txBody>
      </p:sp>
      <p:sp>
        <p:nvSpPr>
          <p:cNvPr id="13" name="object 13"/>
          <p:cNvSpPr/>
          <p:nvPr/>
        </p:nvSpPr>
        <p:spPr>
          <a:xfrm>
            <a:off x="613345" y="2087714"/>
            <a:ext cx="402590" cy="510540"/>
          </a:xfrm>
          <a:custGeom>
            <a:avLst/>
            <a:gdLst/>
            <a:ahLst/>
            <a:cxnLst/>
            <a:rect l="l" t="t" r="r" b="b"/>
            <a:pathLst>
              <a:path w="402590" h="510539">
                <a:moveTo>
                  <a:pt x="402368" y="182703"/>
                </a:moveTo>
                <a:lnTo>
                  <a:pt x="402368" y="96289"/>
                </a:lnTo>
                <a:lnTo>
                  <a:pt x="308372" y="0"/>
                </a:lnTo>
                <a:lnTo>
                  <a:pt x="0" y="0"/>
                </a:lnTo>
                <a:lnTo>
                  <a:pt x="0" y="510250"/>
                </a:lnTo>
                <a:lnTo>
                  <a:pt x="402368" y="510250"/>
                </a:lnTo>
                <a:lnTo>
                  <a:pt x="402368" y="307797"/>
                </a:lnTo>
              </a:path>
            </a:pathLst>
          </a:custGeom>
          <a:ln w="10985">
            <a:solidFill>
              <a:srgbClr val="051F79"/>
            </a:solidFill>
          </a:ln>
        </p:spPr>
        <p:txBody>
          <a:bodyPr wrap="square" lIns="0" tIns="0" rIns="0" bIns="0" rtlCol="0"/>
          <a:lstStyle/>
          <a:p>
            <a:endParaRPr/>
          </a:p>
        </p:txBody>
      </p:sp>
      <p:sp>
        <p:nvSpPr>
          <p:cNvPr id="14" name="object 14"/>
          <p:cNvSpPr/>
          <p:nvPr/>
        </p:nvSpPr>
        <p:spPr>
          <a:xfrm>
            <a:off x="921718" y="2087714"/>
            <a:ext cx="94615" cy="96520"/>
          </a:xfrm>
          <a:custGeom>
            <a:avLst/>
            <a:gdLst/>
            <a:ahLst/>
            <a:cxnLst/>
            <a:rect l="l" t="t" r="r" b="b"/>
            <a:pathLst>
              <a:path w="94615" h="96519">
                <a:moveTo>
                  <a:pt x="93995" y="96289"/>
                </a:moveTo>
                <a:lnTo>
                  <a:pt x="0" y="96289"/>
                </a:lnTo>
                <a:lnTo>
                  <a:pt x="0" y="0"/>
                </a:lnTo>
              </a:path>
            </a:pathLst>
          </a:custGeom>
          <a:ln w="10983">
            <a:solidFill>
              <a:srgbClr val="051F79"/>
            </a:solidFill>
          </a:ln>
        </p:spPr>
        <p:txBody>
          <a:bodyPr wrap="square" lIns="0" tIns="0" rIns="0" bIns="0" rtlCol="0"/>
          <a:lstStyle/>
          <a:p>
            <a:endParaRPr/>
          </a:p>
        </p:txBody>
      </p:sp>
      <p:sp>
        <p:nvSpPr>
          <p:cNvPr id="15" name="object 15"/>
          <p:cNvSpPr/>
          <p:nvPr/>
        </p:nvSpPr>
        <p:spPr>
          <a:xfrm>
            <a:off x="579540" y="5133436"/>
            <a:ext cx="490220" cy="162560"/>
          </a:xfrm>
          <a:custGeom>
            <a:avLst/>
            <a:gdLst/>
            <a:ahLst/>
            <a:cxnLst/>
            <a:rect l="l" t="t" r="r" b="b"/>
            <a:pathLst>
              <a:path w="490219" h="162560">
                <a:moveTo>
                  <a:pt x="0" y="162128"/>
                </a:moveTo>
                <a:lnTo>
                  <a:pt x="489767" y="162128"/>
                </a:lnTo>
                <a:lnTo>
                  <a:pt x="244883" y="0"/>
                </a:lnTo>
                <a:lnTo>
                  <a:pt x="0" y="162128"/>
                </a:lnTo>
                <a:close/>
              </a:path>
            </a:pathLst>
          </a:custGeom>
          <a:ln w="10975">
            <a:solidFill>
              <a:srgbClr val="051F79"/>
            </a:solidFill>
          </a:ln>
        </p:spPr>
        <p:txBody>
          <a:bodyPr wrap="square" lIns="0" tIns="0" rIns="0" bIns="0" rtlCol="0"/>
          <a:lstStyle/>
          <a:p>
            <a:endParaRPr/>
          </a:p>
        </p:txBody>
      </p:sp>
      <p:sp>
        <p:nvSpPr>
          <p:cNvPr id="16" name="object 16"/>
          <p:cNvSpPr/>
          <p:nvPr/>
        </p:nvSpPr>
        <p:spPr>
          <a:xfrm>
            <a:off x="635608" y="5295565"/>
            <a:ext cx="0" cy="285115"/>
          </a:xfrm>
          <a:custGeom>
            <a:avLst/>
            <a:gdLst/>
            <a:ahLst/>
            <a:cxnLst/>
            <a:rect l="l" t="t" r="r" b="b"/>
            <a:pathLst>
              <a:path h="285114">
                <a:moveTo>
                  <a:pt x="0" y="284751"/>
                </a:moveTo>
                <a:lnTo>
                  <a:pt x="0" y="142377"/>
                </a:lnTo>
                <a:lnTo>
                  <a:pt x="0" y="0"/>
                </a:lnTo>
              </a:path>
            </a:pathLst>
          </a:custGeom>
          <a:ln w="10993">
            <a:solidFill>
              <a:srgbClr val="051F79"/>
            </a:solidFill>
          </a:ln>
        </p:spPr>
        <p:txBody>
          <a:bodyPr wrap="square" lIns="0" tIns="0" rIns="0" bIns="0" rtlCol="0"/>
          <a:lstStyle/>
          <a:p>
            <a:endParaRPr/>
          </a:p>
        </p:txBody>
      </p:sp>
      <p:sp>
        <p:nvSpPr>
          <p:cNvPr id="17" name="object 17"/>
          <p:cNvSpPr/>
          <p:nvPr/>
        </p:nvSpPr>
        <p:spPr>
          <a:xfrm>
            <a:off x="690851" y="5295565"/>
            <a:ext cx="0" cy="285115"/>
          </a:xfrm>
          <a:custGeom>
            <a:avLst/>
            <a:gdLst/>
            <a:ahLst/>
            <a:cxnLst/>
            <a:rect l="l" t="t" r="r" b="b"/>
            <a:pathLst>
              <a:path h="285114">
                <a:moveTo>
                  <a:pt x="0" y="0"/>
                </a:moveTo>
                <a:lnTo>
                  <a:pt x="0" y="142377"/>
                </a:lnTo>
                <a:lnTo>
                  <a:pt x="0" y="284751"/>
                </a:lnTo>
              </a:path>
            </a:pathLst>
          </a:custGeom>
          <a:ln w="10993">
            <a:solidFill>
              <a:srgbClr val="051F79"/>
            </a:solidFill>
          </a:ln>
        </p:spPr>
        <p:txBody>
          <a:bodyPr wrap="square" lIns="0" tIns="0" rIns="0" bIns="0" rtlCol="0"/>
          <a:lstStyle/>
          <a:p>
            <a:endParaRPr/>
          </a:p>
        </p:txBody>
      </p:sp>
      <p:sp>
        <p:nvSpPr>
          <p:cNvPr id="18" name="object 18"/>
          <p:cNvSpPr/>
          <p:nvPr/>
        </p:nvSpPr>
        <p:spPr>
          <a:xfrm>
            <a:off x="796390" y="5295565"/>
            <a:ext cx="0" cy="285115"/>
          </a:xfrm>
          <a:custGeom>
            <a:avLst/>
            <a:gdLst/>
            <a:ahLst/>
            <a:cxnLst/>
            <a:rect l="l" t="t" r="r" b="b"/>
            <a:pathLst>
              <a:path h="285114">
                <a:moveTo>
                  <a:pt x="0" y="284751"/>
                </a:moveTo>
                <a:lnTo>
                  <a:pt x="0" y="142377"/>
                </a:lnTo>
                <a:lnTo>
                  <a:pt x="0" y="0"/>
                </a:lnTo>
              </a:path>
            </a:pathLst>
          </a:custGeom>
          <a:ln w="10993">
            <a:solidFill>
              <a:srgbClr val="051F79"/>
            </a:solidFill>
          </a:ln>
        </p:spPr>
        <p:txBody>
          <a:bodyPr wrap="square" lIns="0" tIns="0" rIns="0" bIns="0" rtlCol="0"/>
          <a:lstStyle/>
          <a:p>
            <a:endParaRPr/>
          </a:p>
        </p:txBody>
      </p:sp>
      <p:sp>
        <p:nvSpPr>
          <p:cNvPr id="19" name="object 19"/>
          <p:cNvSpPr/>
          <p:nvPr/>
        </p:nvSpPr>
        <p:spPr>
          <a:xfrm>
            <a:off x="852458" y="5295565"/>
            <a:ext cx="0" cy="285115"/>
          </a:xfrm>
          <a:custGeom>
            <a:avLst/>
            <a:gdLst/>
            <a:ahLst/>
            <a:cxnLst/>
            <a:rect l="l" t="t" r="r" b="b"/>
            <a:pathLst>
              <a:path h="285114">
                <a:moveTo>
                  <a:pt x="0" y="0"/>
                </a:moveTo>
                <a:lnTo>
                  <a:pt x="0" y="142377"/>
                </a:lnTo>
                <a:lnTo>
                  <a:pt x="0" y="284751"/>
                </a:lnTo>
              </a:path>
            </a:pathLst>
          </a:custGeom>
          <a:ln w="10993">
            <a:solidFill>
              <a:srgbClr val="051F79"/>
            </a:solidFill>
          </a:ln>
        </p:spPr>
        <p:txBody>
          <a:bodyPr wrap="square" lIns="0" tIns="0" rIns="0" bIns="0" rtlCol="0"/>
          <a:lstStyle/>
          <a:p>
            <a:endParaRPr/>
          </a:p>
        </p:txBody>
      </p:sp>
      <p:sp>
        <p:nvSpPr>
          <p:cNvPr id="20" name="object 20"/>
          <p:cNvSpPr/>
          <p:nvPr/>
        </p:nvSpPr>
        <p:spPr>
          <a:xfrm>
            <a:off x="957997" y="5295565"/>
            <a:ext cx="0" cy="285115"/>
          </a:xfrm>
          <a:custGeom>
            <a:avLst/>
            <a:gdLst/>
            <a:ahLst/>
            <a:cxnLst/>
            <a:rect l="l" t="t" r="r" b="b"/>
            <a:pathLst>
              <a:path h="285114">
                <a:moveTo>
                  <a:pt x="0" y="284751"/>
                </a:moveTo>
                <a:lnTo>
                  <a:pt x="0" y="142377"/>
                </a:lnTo>
                <a:lnTo>
                  <a:pt x="0" y="0"/>
                </a:lnTo>
              </a:path>
            </a:pathLst>
          </a:custGeom>
          <a:ln w="10993">
            <a:solidFill>
              <a:srgbClr val="051F79"/>
            </a:solidFill>
          </a:ln>
        </p:spPr>
        <p:txBody>
          <a:bodyPr wrap="square" lIns="0" tIns="0" rIns="0" bIns="0" rtlCol="0"/>
          <a:lstStyle/>
          <a:p>
            <a:endParaRPr/>
          </a:p>
        </p:txBody>
      </p:sp>
      <p:sp>
        <p:nvSpPr>
          <p:cNvPr id="21" name="object 21"/>
          <p:cNvSpPr/>
          <p:nvPr/>
        </p:nvSpPr>
        <p:spPr>
          <a:xfrm>
            <a:off x="1013240" y="5295565"/>
            <a:ext cx="0" cy="285115"/>
          </a:xfrm>
          <a:custGeom>
            <a:avLst/>
            <a:gdLst/>
            <a:ahLst/>
            <a:cxnLst/>
            <a:rect l="l" t="t" r="r" b="b"/>
            <a:pathLst>
              <a:path h="285114">
                <a:moveTo>
                  <a:pt x="0" y="0"/>
                </a:moveTo>
                <a:lnTo>
                  <a:pt x="0" y="142377"/>
                </a:lnTo>
                <a:lnTo>
                  <a:pt x="0" y="284751"/>
                </a:lnTo>
              </a:path>
            </a:pathLst>
          </a:custGeom>
          <a:ln w="10993">
            <a:solidFill>
              <a:srgbClr val="051F79"/>
            </a:solidFill>
          </a:ln>
        </p:spPr>
        <p:txBody>
          <a:bodyPr wrap="square" lIns="0" tIns="0" rIns="0" bIns="0" rtlCol="0"/>
          <a:lstStyle/>
          <a:p>
            <a:endParaRPr/>
          </a:p>
        </p:txBody>
      </p:sp>
      <p:sp>
        <p:nvSpPr>
          <p:cNvPr id="22" name="object 22"/>
          <p:cNvSpPr/>
          <p:nvPr/>
        </p:nvSpPr>
        <p:spPr>
          <a:xfrm>
            <a:off x="569646" y="5580316"/>
            <a:ext cx="510540" cy="53975"/>
          </a:xfrm>
          <a:custGeom>
            <a:avLst/>
            <a:gdLst/>
            <a:ahLst/>
            <a:cxnLst/>
            <a:rect l="l" t="t" r="r" b="b"/>
            <a:pathLst>
              <a:path w="510540" h="53975">
                <a:moveTo>
                  <a:pt x="0" y="53494"/>
                </a:moveTo>
                <a:lnTo>
                  <a:pt x="510381" y="53494"/>
                </a:lnTo>
                <a:lnTo>
                  <a:pt x="510381" y="0"/>
                </a:lnTo>
                <a:lnTo>
                  <a:pt x="0" y="0"/>
                </a:lnTo>
                <a:lnTo>
                  <a:pt x="0" y="53494"/>
                </a:lnTo>
                <a:close/>
              </a:path>
            </a:pathLst>
          </a:custGeom>
          <a:ln w="10973">
            <a:solidFill>
              <a:srgbClr val="051F79"/>
            </a:solidFill>
          </a:ln>
        </p:spPr>
        <p:txBody>
          <a:bodyPr wrap="square" lIns="0" tIns="0" rIns="0" bIns="0" rtlCol="0"/>
          <a:lstStyle/>
          <a:p>
            <a:endParaRPr/>
          </a:p>
        </p:txBody>
      </p:sp>
      <p:sp>
        <p:nvSpPr>
          <p:cNvPr id="23" name="object 23"/>
          <p:cNvSpPr txBox="1"/>
          <p:nvPr/>
        </p:nvSpPr>
        <p:spPr>
          <a:xfrm>
            <a:off x="542036" y="1716404"/>
            <a:ext cx="114046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Arial"/>
                <a:cs typeface="Arial"/>
              </a:rPr>
              <a:t>Description</a:t>
            </a:r>
            <a:endParaRPr sz="1600">
              <a:latin typeface="Arial"/>
              <a:cs typeface="Arial"/>
            </a:endParaRPr>
          </a:p>
        </p:txBody>
      </p:sp>
      <p:sp>
        <p:nvSpPr>
          <p:cNvPr id="24" name="object 24"/>
          <p:cNvSpPr txBox="1"/>
          <p:nvPr/>
        </p:nvSpPr>
        <p:spPr>
          <a:xfrm>
            <a:off x="2171826" y="1716404"/>
            <a:ext cx="6998970" cy="1038860"/>
          </a:xfrm>
          <a:prstGeom prst="rect">
            <a:avLst/>
          </a:prstGeom>
        </p:spPr>
        <p:txBody>
          <a:bodyPr vert="horz" wrap="square" lIns="0" tIns="12065" rIns="0" bIns="0" rtlCol="0">
            <a:spAutoFit/>
          </a:bodyPr>
          <a:lstStyle/>
          <a:p>
            <a:pPr marL="238125" marR="5080" indent="-226060">
              <a:lnSpc>
                <a:spcPct val="100000"/>
              </a:lnSpc>
              <a:spcBef>
                <a:spcPts val="95"/>
              </a:spcBef>
              <a:buFont typeface="Wingdings"/>
              <a:buChar char=""/>
              <a:tabLst>
                <a:tab pos="238125" algn="l"/>
                <a:tab pos="238760" algn="l"/>
              </a:tabLst>
            </a:pPr>
            <a:r>
              <a:rPr sz="1600" spc="-10" dirty="0">
                <a:latin typeface="Arial"/>
                <a:cs typeface="Arial"/>
              </a:rPr>
              <a:t>Create </a:t>
            </a:r>
            <a:r>
              <a:rPr sz="1600" spc="-5" dirty="0">
                <a:latin typeface="Arial"/>
                <a:cs typeface="Arial"/>
              </a:rPr>
              <a:t>a </a:t>
            </a:r>
            <a:r>
              <a:rPr sz="1600" b="1" spc="-5" dirty="0">
                <a:latin typeface="Arial"/>
                <a:cs typeface="Arial"/>
              </a:rPr>
              <a:t>fully </a:t>
            </a:r>
            <a:r>
              <a:rPr sz="1600" b="1" spc="-15" dirty="0">
                <a:latin typeface="Arial"/>
                <a:cs typeface="Arial"/>
              </a:rPr>
              <a:t>vertical </a:t>
            </a:r>
            <a:r>
              <a:rPr sz="1600" b="1" spc="-5" dirty="0">
                <a:latin typeface="Arial"/>
                <a:cs typeface="Arial"/>
              </a:rPr>
              <a:t>unit </a:t>
            </a:r>
            <a:r>
              <a:rPr sz="1600" spc="-5" dirty="0">
                <a:latin typeface="Arial"/>
                <a:cs typeface="Arial"/>
              </a:rPr>
              <a:t>for </a:t>
            </a:r>
            <a:r>
              <a:rPr sz="1600" b="1" spc="-10" dirty="0">
                <a:latin typeface="Arial"/>
                <a:cs typeface="Arial"/>
              </a:rPr>
              <a:t>auto finance </a:t>
            </a:r>
            <a:r>
              <a:rPr sz="1600" spc="-10" dirty="0">
                <a:latin typeface="Arial"/>
                <a:cs typeface="Arial"/>
              </a:rPr>
              <a:t>with </a:t>
            </a:r>
            <a:r>
              <a:rPr sz="1600" spc="-5" dirty="0">
                <a:latin typeface="Arial"/>
                <a:cs typeface="Arial"/>
              </a:rPr>
              <a:t>end-to-end responsibility:  </a:t>
            </a:r>
            <a:r>
              <a:rPr sz="1600" spc="-10" dirty="0">
                <a:latin typeface="Arial"/>
                <a:cs typeface="Arial"/>
              </a:rPr>
              <a:t>product </a:t>
            </a:r>
            <a:r>
              <a:rPr sz="1600" spc="-20" dirty="0">
                <a:latin typeface="Arial"/>
                <a:cs typeface="Arial"/>
              </a:rPr>
              <a:t>strategy, </a:t>
            </a:r>
            <a:r>
              <a:rPr sz="1600" spc="-5" dirty="0">
                <a:latin typeface="Arial"/>
                <a:cs typeface="Arial"/>
              </a:rPr>
              <a:t>pricing, sales, channel, P&amp;L,</a:t>
            </a:r>
            <a:r>
              <a:rPr sz="1600" spc="70" dirty="0">
                <a:latin typeface="Arial"/>
                <a:cs typeface="Arial"/>
              </a:rPr>
              <a:t> </a:t>
            </a:r>
            <a:r>
              <a:rPr sz="1600" spc="-5" dirty="0">
                <a:latin typeface="Arial"/>
                <a:cs typeface="Arial"/>
              </a:rPr>
              <a:t>etc.</a:t>
            </a:r>
            <a:endParaRPr sz="1600">
              <a:latin typeface="Arial"/>
              <a:cs typeface="Arial"/>
            </a:endParaRPr>
          </a:p>
          <a:p>
            <a:pPr marL="238125" indent="-226060">
              <a:lnSpc>
                <a:spcPct val="100000"/>
              </a:lnSpc>
              <a:spcBef>
                <a:spcPts val="300"/>
              </a:spcBef>
              <a:buFont typeface="Wingdings"/>
              <a:buChar char=""/>
              <a:tabLst>
                <a:tab pos="238125" algn="l"/>
                <a:tab pos="238760" algn="l"/>
              </a:tabLst>
            </a:pPr>
            <a:r>
              <a:rPr sz="1600" spc="-5" dirty="0">
                <a:latin typeface="Arial"/>
                <a:cs typeface="Arial"/>
              </a:rPr>
              <a:t>Launch dedicated </a:t>
            </a:r>
            <a:r>
              <a:rPr sz="1600" b="1" spc="-10" dirty="0">
                <a:latin typeface="Arial"/>
                <a:cs typeface="Arial"/>
              </a:rPr>
              <a:t>steering committees </a:t>
            </a:r>
            <a:r>
              <a:rPr sz="1600" spc="-10" dirty="0">
                <a:latin typeface="Arial"/>
                <a:cs typeface="Arial"/>
              </a:rPr>
              <a:t>with </a:t>
            </a:r>
            <a:r>
              <a:rPr sz="1600" b="1" spc="-10" dirty="0">
                <a:latin typeface="Arial"/>
                <a:cs typeface="Arial"/>
              </a:rPr>
              <a:t>CxOs </a:t>
            </a:r>
            <a:r>
              <a:rPr sz="1600" spc="-5" dirty="0">
                <a:latin typeface="Arial"/>
                <a:cs typeface="Arial"/>
              </a:rPr>
              <a:t>and </a:t>
            </a:r>
            <a:r>
              <a:rPr sz="1600" b="1" spc="-5" dirty="0">
                <a:latin typeface="Arial"/>
                <a:cs typeface="Arial"/>
              </a:rPr>
              <a:t>function</a:t>
            </a:r>
            <a:r>
              <a:rPr sz="1600" b="1" spc="200" dirty="0">
                <a:latin typeface="Arial"/>
                <a:cs typeface="Arial"/>
              </a:rPr>
              <a:t> </a:t>
            </a:r>
            <a:r>
              <a:rPr sz="1600" b="1" spc="-5" dirty="0">
                <a:latin typeface="Arial"/>
                <a:cs typeface="Arial"/>
              </a:rPr>
              <a:t>heads</a:t>
            </a:r>
            <a:endParaRPr sz="1600">
              <a:latin typeface="Arial"/>
              <a:cs typeface="Arial"/>
            </a:endParaRPr>
          </a:p>
          <a:p>
            <a:pPr marL="238125">
              <a:lnSpc>
                <a:spcPct val="100000"/>
              </a:lnSpc>
            </a:pPr>
            <a:r>
              <a:rPr sz="1600" spc="-5" dirty="0">
                <a:latin typeface="Arial"/>
                <a:cs typeface="Arial"/>
              </a:rPr>
              <a:t>within new </a:t>
            </a:r>
            <a:r>
              <a:rPr sz="1600" b="1" spc="-5" dirty="0">
                <a:latin typeface="Arial"/>
                <a:cs typeface="Arial"/>
              </a:rPr>
              <a:t>auto finance </a:t>
            </a:r>
            <a:r>
              <a:rPr sz="1600" b="1" spc="-15" dirty="0">
                <a:latin typeface="Arial"/>
                <a:cs typeface="Arial"/>
              </a:rPr>
              <a:t>value</a:t>
            </a:r>
            <a:r>
              <a:rPr sz="1600" b="1" spc="80" dirty="0">
                <a:latin typeface="Arial"/>
                <a:cs typeface="Arial"/>
              </a:rPr>
              <a:t> </a:t>
            </a:r>
            <a:r>
              <a:rPr sz="1600" b="1" spc="-10" dirty="0">
                <a:latin typeface="Arial"/>
                <a:cs typeface="Arial"/>
              </a:rPr>
              <a:t>stream</a:t>
            </a:r>
            <a:endParaRPr sz="1600">
              <a:latin typeface="Arial"/>
              <a:cs typeface="Arial"/>
            </a:endParaRPr>
          </a:p>
        </p:txBody>
      </p:sp>
      <p:sp>
        <p:nvSpPr>
          <p:cNvPr id="25" name="object 25"/>
          <p:cNvSpPr txBox="1"/>
          <p:nvPr/>
        </p:nvSpPr>
        <p:spPr>
          <a:xfrm>
            <a:off x="2171826" y="2922168"/>
            <a:ext cx="6437630" cy="1115695"/>
          </a:xfrm>
          <a:prstGeom prst="rect">
            <a:avLst/>
          </a:prstGeom>
        </p:spPr>
        <p:txBody>
          <a:bodyPr vert="horz" wrap="square" lIns="0" tIns="50800" rIns="0" bIns="0" rtlCol="0">
            <a:spAutoFit/>
          </a:bodyPr>
          <a:lstStyle/>
          <a:p>
            <a:pPr marL="238125" indent="-226060">
              <a:lnSpc>
                <a:spcPct val="100000"/>
              </a:lnSpc>
              <a:spcBef>
                <a:spcPts val="400"/>
              </a:spcBef>
              <a:buFont typeface="Wingdings"/>
              <a:buChar char=""/>
              <a:tabLst>
                <a:tab pos="238125" algn="l"/>
                <a:tab pos="238760" algn="l"/>
              </a:tabLst>
            </a:pPr>
            <a:r>
              <a:rPr sz="1600" spc="-5" dirty="0">
                <a:latin typeface="Arial"/>
                <a:cs typeface="Arial"/>
              </a:rPr>
              <a:t>Clear </a:t>
            </a:r>
            <a:r>
              <a:rPr sz="1600" spc="-10" dirty="0">
                <a:latin typeface="Arial"/>
                <a:cs typeface="Arial"/>
              </a:rPr>
              <a:t>ownership with </a:t>
            </a:r>
            <a:r>
              <a:rPr sz="1600" b="1" spc="-5" dirty="0">
                <a:latin typeface="Arial"/>
                <a:cs typeface="Arial"/>
              </a:rPr>
              <a:t>P&amp;L of </a:t>
            </a:r>
            <a:r>
              <a:rPr sz="1600" b="1" spc="-15" dirty="0">
                <a:latin typeface="Arial"/>
                <a:cs typeface="Arial"/>
              </a:rPr>
              <a:t>value</a:t>
            </a:r>
            <a:r>
              <a:rPr sz="1600" b="1" spc="65" dirty="0">
                <a:latin typeface="Arial"/>
                <a:cs typeface="Arial"/>
              </a:rPr>
              <a:t> </a:t>
            </a:r>
            <a:r>
              <a:rPr sz="1600" b="1" spc="-10" dirty="0">
                <a:latin typeface="Arial"/>
                <a:cs typeface="Arial"/>
              </a:rPr>
              <a:t>stream</a:t>
            </a:r>
            <a:endParaRPr sz="1600">
              <a:latin typeface="Arial"/>
              <a:cs typeface="Arial"/>
            </a:endParaRPr>
          </a:p>
          <a:p>
            <a:pPr marL="238125" indent="-226060">
              <a:lnSpc>
                <a:spcPct val="100000"/>
              </a:lnSpc>
              <a:spcBef>
                <a:spcPts val="300"/>
              </a:spcBef>
              <a:buFont typeface="Wingdings"/>
              <a:buChar char=""/>
              <a:tabLst>
                <a:tab pos="238125" algn="l"/>
                <a:tab pos="238760" algn="l"/>
              </a:tabLst>
            </a:pPr>
            <a:r>
              <a:rPr sz="1600" b="1" spc="-10" dirty="0">
                <a:latin typeface="Arial"/>
                <a:cs typeface="Arial"/>
              </a:rPr>
              <a:t>End-to-end </a:t>
            </a:r>
            <a:r>
              <a:rPr sz="1600" b="1" spc="-5" dirty="0">
                <a:latin typeface="Arial"/>
                <a:cs typeface="Arial"/>
              </a:rPr>
              <a:t>control </a:t>
            </a:r>
            <a:r>
              <a:rPr sz="1600" b="1" spc="-10" dirty="0">
                <a:latin typeface="Arial"/>
                <a:cs typeface="Arial"/>
              </a:rPr>
              <a:t>and coordination</a:t>
            </a:r>
            <a:r>
              <a:rPr sz="1600" spc="-10" dirty="0">
                <a:latin typeface="Arial"/>
                <a:cs typeface="Arial"/>
              </a:rPr>
              <a:t>: </a:t>
            </a:r>
            <a:r>
              <a:rPr sz="1600" spc="-5" dirty="0">
                <a:latin typeface="Arial"/>
                <a:cs typeface="Arial"/>
              </a:rPr>
              <a:t>speed, </a:t>
            </a:r>
            <a:r>
              <a:rPr sz="1600" spc="-15" dirty="0">
                <a:latin typeface="Arial"/>
                <a:cs typeface="Arial"/>
              </a:rPr>
              <a:t>flexibility, </a:t>
            </a:r>
            <a:r>
              <a:rPr sz="1600" spc="-5" dirty="0">
                <a:latin typeface="Arial"/>
                <a:cs typeface="Arial"/>
              </a:rPr>
              <a:t>and</a:t>
            </a:r>
            <a:r>
              <a:rPr sz="1600" spc="215" dirty="0">
                <a:latin typeface="Arial"/>
                <a:cs typeface="Arial"/>
              </a:rPr>
              <a:t> </a:t>
            </a:r>
            <a:r>
              <a:rPr sz="1600" spc="-5" dirty="0">
                <a:latin typeface="Arial"/>
                <a:cs typeface="Arial"/>
              </a:rPr>
              <a:t>market</a:t>
            </a:r>
            <a:endParaRPr sz="1600">
              <a:latin typeface="Arial"/>
              <a:cs typeface="Arial"/>
            </a:endParaRPr>
          </a:p>
          <a:p>
            <a:pPr marL="238125">
              <a:lnSpc>
                <a:spcPct val="100000"/>
              </a:lnSpc>
            </a:pPr>
            <a:r>
              <a:rPr sz="1600" spc="-5" dirty="0">
                <a:latin typeface="Arial"/>
                <a:cs typeface="Arial"/>
              </a:rPr>
              <a:t>responsiveness</a:t>
            </a:r>
            <a:endParaRPr sz="1600">
              <a:latin typeface="Arial"/>
              <a:cs typeface="Arial"/>
            </a:endParaRPr>
          </a:p>
          <a:p>
            <a:pPr marL="238125" indent="-226060">
              <a:lnSpc>
                <a:spcPct val="100000"/>
              </a:lnSpc>
              <a:spcBef>
                <a:spcPts val="300"/>
              </a:spcBef>
              <a:buFont typeface="Wingdings"/>
              <a:buChar char=""/>
              <a:tabLst>
                <a:tab pos="238125" algn="l"/>
                <a:tab pos="238760" algn="l"/>
              </a:tabLst>
            </a:pPr>
            <a:r>
              <a:rPr sz="1600" b="1" spc="-5" dirty="0">
                <a:latin typeface="Arial"/>
                <a:cs typeface="Arial"/>
              </a:rPr>
              <a:t>Potential to </a:t>
            </a:r>
            <a:r>
              <a:rPr sz="1600" b="1" spc="-10" dirty="0">
                <a:latin typeface="Arial"/>
                <a:cs typeface="Arial"/>
              </a:rPr>
              <a:t>scale </a:t>
            </a:r>
            <a:r>
              <a:rPr sz="1600" b="1" spc="-5" dirty="0">
                <a:latin typeface="Arial"/>
                <a:cs typeface="Arial"/>
              </a:rPr>
              <a:t>leasing</a:t>
            </a:r>
            <a:r>
              <a:rPr sz="1600" b="1" spc="70" dirty="0">
                <a:latin typeface="Arial"/>
                <a:cs typeface="Arial"/>
              </a:rPr>
              <a:t> </a:t>
            </a:r>
            <a:r>
              <a:rPr sz="1600" b="1" spc="-5" dirty="0">
                <a:latin typeface="Arial"/>
                <a:cs typeface="Arial"/>
              </a:rPr>
              <a:t>internationally</a:t>
            </a:r>
            <a:endParaRPr sz="1600">
              <a:latin typeface="Arial"/>
              <a:cs typeface="Arial"/>
            </a:endParaRPr>
          </a:p>
        </p:txBody>
      </p:sp>
      <p:sp>
        <p:nvSpPr>
          <p:cNvPr id="26" name="object 26"/>
          <p:cNvSpPr/>
          <p:nvPr/>
        </p:nvSpPr>
        <p:spPr>
          <a:xfrm>
            <a:off x="9505442" y="1706626"/>
            <a:ext cx="2686685" cy="4504055"/>
          </a:xfrm>
          <a:custGeom>
            <a:avLst/>
            <a:gdLst/>
            <a:ahLst/>
            <a:cxnLst/>
            <a:rect l="l" t="t" r="r" b="b"/>
            <a:pathLst>
              <a:path w="2686684" h="4504055">
                <a:moveTo>
                  <a:pt x="2686557" y="0"/>
                </a:moveTo>
                <a:lnTo>
                  <a:pt x="146176" y="0"/>
                </a:lnTo>
                <a:lnTo>
                  <a:pt x="112647" y="6451"/>
                </a:lnTo>
                <a:lnTo>
                  <a:pt x="54733" y="53674"/>
                </a:lnTo>
                <a:lnTo>
                  <a:pt x="32100" y="91522"/>
                </a:lnTo>
                <a:lnTo>
                  <a:pt x="14850" y="136913"/>
                </a:lnTo>
                <a:lnTo>
                  <a:pt x="3858" y="188385"/>
                </a:lnTo>
                <a:lnTo>
                  <a:pt x="0" y="244475"/>
                </a:lnTo>
                <a:lnTo>
                  <a:pt x="0" y="4259160"/>
                </a:lnTo>
                <a:lnTo>
                  <a:pt x="3858" y="4315224"/>
                </a:lnTo>
                <a:lnTo>
                  <a:pt x="14850" y="4366690"/>
                </a:lnTo>
                <a:lnTo>
                  <a:pt x="32100" y="4412090"/>
                </a:lnTo>
                <a:lnTo>
                  <a:pt x="54733" y="4449956"/>
                </a:lnTo>
                <a:lnTo>
                  <a:pt x="81874" y="4478821"/>
                </a:lnTo>
                <a:lnTo>
                  <a:pt x="146176" y="4503674"/>
                </a:lnTo>
                <a:lnTo>
                  <a:pt x="2686557" y="4503674"/>
                </a:lnTo>
                <a:lnTo>
                  <a:pt x="2686557" y="0"/>
                </a:lnTo>
                <a:close/>
              </a:path>
            </a:pathLst>
          </a:custGeom>
          <a:solidFill>
            <a:srgbClr val="F1F1F1"/>
          </a:solidFill>
        </p:spPr>
        <p:txBody>
          <a:bodyPr wrap="square" lIns="0" tIns="0" rIns="0" bIns="0" rtlCol="0"/>
          <a:lstStyle/>
          <a:p>
            <a:endParaRPr/>
          </a:p>
        </p:txBody>
      </p:sp>
      <p:sp>
        <p:nvSpPr>
          <p:cNvPr id="27" name="object 27"/>
          <p:cNvSpPr txBox="1"/>
          <p:nvPr/>
        </p:nvSpPr>
        <p:spPr>
          <a:xfrm>
            <a:off x="10641838" y="2748229"/>
            <a:ext cx="636905" cy="391795"/>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2151FF"/>
                </a:solidFill>
                <a:latin typeface="Georgia"/>
                <a:cs typeface="Georgia"/>
              </a:rPr>
              <a:t>50+</a:t>
            </a:r>
            <a:endParaRPr sz="2400">
              <a:latin typeface="Georgia"/>
              <a:cs typeface="Georgia"/>
            </a:endParaRPr>
          </a:p>
        </p:txBody>
      </p:sp>
      <p:sp>
        <p:nvSpPr>
          <p:cNvPr id="28" name="object 28"/>
          <p:cNvSpPr/>
          <p:nvPr/>
        </p:nvSpPr>
        <p:spPr>
          <a:xfrm>
            <a:off x="6456697" y="4490985"/>
            <a:ext cx="2327112" cy="458433"/>
          </a:xfrm>
          <a:prstGeom prst="rect">
            <a:avLst/>
          </a:prstGeom>
          <a:blipFill>
            <a:blip r:embed="rId4" cstate="print"/>
            <a:stretch>
              <a:fillRect/>
            </a:stretch>
          </a:blipFill>
        </p:spPr>
        <p:txBody>
          <a:bodyPr wrap="square" lIns="0" tIns="0" rIns="0" bIns="0" rtlCol="0"/>
          <a:lstStyle/>
          <a:p>
            <a:endParaRPr/>
          </a:p>
        </p:txBody>
      </p:sp>
      <p:sp>
        <p:nvSpPr>
          <p:cNvPr id="29" name="object 29"/>
          <p:cNvSpPr/>
          <p:nvPr/>
        </p:nvSpPr>
        <p:spPr>
          <a:xfrm>
            <a:off x="2791079" y="4464875"/>
            <a:ext cx="2334133" cy="510730"/>
          </a:xfrm>
          <a:prstGeom prst="rect">
            <a:avLst/>
          </a:prstGeom>
          <a:blipFill>
            <a:blip r:embed="rId5" cstate="print"/>
            <a:stretch>
              <a:fillRect/>
            </a:stretch>
          </a:blipFill>
        </p:spPr>
        <p:txBody>
          <a:bodyPr wrap="square" lIns="0" tIns="0" rIns="0" bIns="0" rtlCol="0"/>
          <a:lstStyle/>
          <a:p>
            <a:endParaRPr/>
          </a:p>
        </p:txBody>
      </p:sp>
      <p:sp>
        <p:nvSpPr>
          <p:cNvPr id="30" name="object 30"/>
          <p:cNvSpPr/>
          <p:nvPr/>
        </p:nvSpPr>
        <p:spPr>
          <a:xfrm>
            <a:off x="2845307" y="5453507"/>
            <a:ext cx="2225801" cy="593837"/>
          </a:xfrm>
          <a:prstGeom prst="rect">
            <a:avLst/>
          </a:prstGeom>
          <a:blipFill>
            <a:blip r:embed="rId6" cstate="print"/>
            <a:stretch>
              <a:fillRect/>
            </a:stretch>
          </a:blipFill>
        </p:spPr>
        <p:txBody>
          <a:bodyPr wrap="square" lIns="0" tIns="0" rIns="0" bIns="0" rtlCol="0"/>
          <a:lstStyle/>
          <a:p>
            <a:endParaRPr/>
          </a:p>
        </p:txBody>
      </p:sp>
      <p:sp>
        <p:nvSpPr>
          <p:cNvPr id="31" name="object 31"/>
          <p:cNvSpPr/>
          <p:nvPr/>
        </p:nvSpPr>
        <p:spPr>
          <a:xfrm>
            <a:off x="5843270" y="4260329"/>
            <a:ext cx="3554095" cy="920115"/>
          </a:xfrm>
          <a:custGeom>
            <a:avLst/>
            <a:gdLst/>
            <a:ahLst/>
            <a:cxnLst/>
            <a:rect l="l" t="t" r="r" b="b"/>
            <a:pathLst>
              <a:path w="3554095" h="920114">
                <a:moveTo>
                  <a:pt x="0" y="919746"/>
                </a:moveTo>
                <a:lnTo>
                  <a:pt x="3554095" y="919746"/>
                </a:lnTo>
                <a:lnTo>
                  <a:pt x="3554095" y="0"/>
                </a:lnTo>
                <a:lnTo>
                  <a:pt x="0" y="0"/>
                </a:lnTo>
                <a:lnTo>
                  <a:pt x="0" y="919746"/>
                </a:lnTo>
                <a:close/>
              </a:path>
            </a:pathLst>
          </a:custGeom>
          <a:ln w="6350">
            <a:solidFill>
              <a:srgbClr val="B3B3B3"/>
            </a:solidFill>
          </a:ln>
        </p:spPr>
        <p:txBody>
          <a:bodyPr wrap="square" lIns="0" tIns="0" rIns="0" bIns="0" rtlCol="0"/>
          <a:lstStyle/>
          <a:p>
            <a:endParaRPr/>
          </a:p>
        </p:txBody>
      </p:sp>
      <p:sp>
        <p:nvSpPr>
          <p:cNvPr id="32" name="object 32"/>
          <p:cNvSpPr/>
          <p:nvPr/>
        </p:nvSpPr>
        <p:spPr>
          <a:xfrm>
            <a:off x="2181098" y="4260329"/>
            <a:ext cx="3554095" cy="920115"/>
          </a:xfrm>
          <a:custGeom>
            <a:avLst/>
            <a:gdLst/>
            <a:ahLst/>
            <a:cxnLst/>
            <a:rect l="l" t="t" r="r" b="b"/>
            <a:pathLst>
              <a:path w="3554095" h="920114">
                <a:moveTo>
                  <a:pt x="0" y="919746"/>
                </a:moveTo>
                <a:lnTo>
                  <a:pt x="3554095" y="919746"/>
                </a:lnTo>
                <a:lnTo>
                  <a:pt x="3554095" y="0"/>
                </a:lnTo>
                <a:lnTo>
                  <a:pt x="0" y="0"/>
                </a:lnTo>
                <a:lnTo>
                  <a:pt x="0" y="919746"/>
                </a:lnTo>
                <a:close/>
              </a:path>
            </a:pathLst>
          </a:custGeom>
          <a:ln w="6350">
            <a:solidFill>
              <a:srgbClr val="B3B3B3"/>
            </a:solidFill>
          </a:ln>
        </p:spPr>
        <p:txBody>
          <a:bodyPr wrap="square" lIns="0" tIns="0" rIns="0" bIns="0" rtlCol="0"/>
          <a:lstStyle/>
          <a:p>
            <a:endParaRPr/>
          </a:p>
        </p:txBody>
      </p:sp>
      <p:sp>
        <p:nvSpPr>
          <p:cNvPr id="33" name="object 33"/>
          <p:cNvSpPr/>
          <p:nvPr/>
        </p:nvSpPr>
        <p:spPr>
          <a:xfrm>
            <a:off x="2181098" y="5290553"/>
            <a:ext cx="3554095" cy="920115"/>
          </a:xfrm>
          <a:custGeom>
            <a:avLst/>
            <a:gdLst/>
            <a:ahLst/>
            <a:cxnLst/>
            <a:rect l="l" t="t" r="r" b="b"/>
            <a:pathLst>
              <a:path w="3554095" h="920114">
                <a:moveTo>
                  <a:pt x="0" y="919746"/>
                </a:moveTo>
                <a:lnTo>
                  <a:pt x="3554095" y="919746"/>
                </a:lnTo>
                <a:lnTo>
                  <a:pt x="3554095" y="0"/>
                </a:lnTo>
                <a:lnTo>
                  <a:pt x="0" y="0"/>
                </a:lnTo>
                <a:lnTo>
                  <a:pt x="0" y="919746"/>
                </a:lnTo>
                <a:close/>
              </a:path>
            </a:pathLst>
          </a:custGeom>
          <a:ln w="6350">
            <a:solidFill>
              <a:srgbClr val="B3B3B3"/>
            </a:solidFill>
          </a:ln>
        </p:spPr>
        <p:txBody>
          <a:bodyPr wrap="square" lIns="0" tIns="0" rIns="0" bIns="0" rtlCol="0"/>
          <a:lstStyle/>
          <a:p>
            <a:endParaRPr/>
          </a:p>
        </p:txBody>
      </p:sp>
      <p:sp>
        <p:nvSpPr>
          <p:cNvPr id="34" name="object 34"/>
          <p:cNvSpPr/>
          <p:nvPr/>
        </p:nvSpPr>
        <p:spPr>
          <a:xfrm>
            <a:off x="5843270" y="5290553"/>
            <a:ext cx="3554095" cy="920115"/>
          </a:xfrm>
          <a:custGeom>
            <a:avLst/>
            <a:gdLst/>
            <a:ahLst/>
            <a:cxnLst/>
            <a:rect l="l" t="t" r="r" b="b"/>
            <a:pathLst>
              <a:path w="3554095" h="920114">
                <a:moveTo>
                  <a:pt x="0" y="919746"/>
                </a:moveTo>
                <a:lnTo>
                  <a:pt x="3554095" y="919746"/>
                </a:lnTo>
                <a:lnTo>
                  <a:pt x="3554095" y="0"/>
                </a:lnTo>
                <a:lnTo>
                  <a:pt x="0" y="0"/>
                </a:lnTo>
                <a:lnTo>
                  <a:pt x="0" y="919746"/>
                </a:lnTo>
                <a:close/>
              </a:path>
            </a:pathLst>
          </a:custGeom>
          <a:ln w="6350">
            <a:solidFill>
              <a:srgbClr val="B3B3B3"/>
            </a:solidFill>
          </a:ln>
        </p:spPr>
        <p:txBody>
          <a:bodyPr wrap="square" lIns="0" tIns="0" rIns="0" bIns="0" rtlCol="0"/>
          <a:lstStyle/>
          <a:p>
            <a:endParaRPr/>
          </a:p>
        </p:txBody>
      </p:sp>
      <p:sp>
        <p:nvSpPr>
          <p:cNvPr id="35" name="object 35"/>
          <p:cNvSpPr/>
          <p:nvPr/>
        </p:nvSpPr>
        <p:spPr>
          <a:xfrm>
            <a:off x="6399025" y="5573502"/>
            <a:ext cx="2451604" cy="408992"/>
          </a:xfrm>
          <a:prstGeom prst="rect">
            <a:avLst/>
          </a:prstGeom>
          <a:blipFill>
            <a:blip r:embed="rId7" cstate="print"/>
            <a:stretch>
              <a:fillRect/>
            </a:stretch>
          </a:blipFill>
        </p:spPr>
        <p:txBody>
          <a:bodyPr wrap="square" lIns="0" tIns="0" rIns="0" bIns="0" rtlCol="0"/>
          <a:lstStyle/>
          <a:p>
            <a:endParaRPr/>
          </a:p>
        </p:txBody>
      </p:sp>
      <p:sp>
        <p:nvSpPr>
          <p:cNvPr id="36" name="object 36"/>
          <p:cNvSpPr/>
          <p:nvPr/>
        </p:nvSpPr>
        <p:spPr>
          <a:xfrm>
            <a:off x="10361676" y="5449951"/>
            <a:ext cx="1209675" cy="0"/>
          </a:xfrm>
          <a:custGeom>
            <a:avLst/>
            <a:gdLst/>
            <a:ahLst/>
            <a:cxnLst/>
            <a:rect l="l" t="t" r="r" b="b"/>
            <a:pathLst>
              <a:path w="1209675">
                <a:moveTo>
                  <a:pt x="0" y="0"/>
                </a:moveTo>
                <a:lnTo>
                  <a:pt x="1209675" y="0"/>
                </a:lnTo>
              </a:path>
            </a:pathLst>
          </a:custGeom>
          <a:ln w="9525">
            <a:solidFill>
              <a:srgbClr val="000000"/>
            </a:solidFill>
          </a:ln>
        </p:spPr>
        <p:txBody>
          <a:bodyPr wrap="square" lIns="0" tIns="0" rIns="0" bIns="0" rtlCol="0"/>
          <a:lstStyle/>
          <a:p>
            <a:endParaRPr/>
          </a:p>
        </p:txBody>
      </p:sp>
      <p:graphicFrame>
        <p:nvGraphicFramePr>
          <p:cNvPr id="37" name="object 37"/>
          <p:cNvGraphicFramePr>
            <a:graphicFrameLocks noGrp="1"/>
          </p:cNvGraphicFramePr>
          <p:nvPr/>
        </p:nvGraphicFramePr>
        <p:xfrm>
          <a:off x="10435018" y="3152063"/>
          <a:ext cx="1030605" cy="2283598"/>
        </p:xfrm>
        <a:graphic>
          <a:graphicData uri="http://schemas.openxmlformats.org/drawingml/2006/table">
            <a:tbl>
              <a:tblPr firstRow="1" bandRow="1">
                <a:tableStyleId>{2D5ABB26-0587-4C30-8999-92F81FD0307C}</a:tableStyleId>
              </a:tblPr>
              <a:tblGrid>
                <a:gridCol w="84455">
                  <a:extLst>
                    <a:ext uri="{9D8B030D-6E8A-4147-A177-3AD203B41FA5}">
                      <a16:colId xmlns:a16="http://schemas.microsoft.com/office/drawing/2014/main" val="20000"/>
                    </a:ext>
                  </a:extLst>
                </a:gridCol>
                <a:gridCol w="864235">
                  <a:extLst>
                    <a:ext uri="{9D8B030D-6E8A-4147-A177-3AD203B41FA5}">
                      <a16:colId xmlns:a16="http://schemas.microsoft.com/office/drawing/2014/main" val="20001"/>
                    </a:ext>
                  </a:extLst>
                </a:gridCol>
                <a:gridCol w="81915">
                  <a:extLst>
                    <a:ext uri="{9D8B030D-6E8A-4147-A177-3AD203B41FA5}">
                      <a16:colId xmlns:a16="http://schemas.microsoft.com/office/drawing/2014/main" val="20002"/>
                    </a:ext>
                  </a:extLst>
                </a:gridCol>
              </a:tblGrid>
              <a:tr h="86436">
                <a:tc>
                  <a:txBody>
                    <a:bodyPr/>
                    <a:lstStyle/>
                    <a:p>
                      <a:pPr>
                        <a:lnSpc>
                          <a:spcPct val="100000"/>
                        </a:lnSpc>
                      </a:pPr>
                      <a:endParaRPr sz="400">
                        <a:latin typeface="Times New Roman"/>
                        <a:cs typeface="Times New Roman"/>
                      </a:endParaRPr>
                    </a:p>
                  </a:txBody>
                  <a:tcPr marL="0" marR="0" marT="0" marB="0">
                    <a:lnL w="28575">
                      <a:solidFill>
                        <a:srgbClr val="FFC000"/>
                      </a:solidFill>
                      <a:prstDash val="solid"/>
                    </a:lnL>
                    <a:lnT w="28575">
                      <a:solidFill>
                        <a:srgbClr val="FFC000"/>
                      </a:solidFill>
                      <a:prstDash val="solid"/>
                    </a:lnT>
                  </a:tcPr>
                </a:tc>
                <a:tc>
                  <a:txBody>
                    <a:bodyPr/>
                    <a:lstStyle/>
                    <a:p>
                      <a:pPr>
                        <a:lnSpc>
                          <a:spcPct val="100000"/>
                        </a:lnSpc>
                      </a:pPr>
                      <a:endParaRPr sz="400">
                        <a:latin typeface="Times New Roman"/>
                        <a:cs typeface="Times New Roman"/>
                      </a:endParaRPr>
                    </a:p>
                  </a:txBody>
                  <a:tcPr marL="0" marR="0" marT="0" marB="0">
                    <a:lnT w="28575">
                      <a:solidFill>
                        <a:srgbClr val="FFC000"/>
                      </a:solidFill>
                      <a:prstDash val="solid"/>
                    </a:lnT>
                    <a:lnB w="9525">
                      <a:solidFill>
                        <a:srgbClr val="FFFFFF"/>
                      </a:solidFill>
                      <a:prstDash val="solid"/>
                    </a:lnB>
                  </a:tcPr>
                </a:tc>
                <a:tc>
                  <a:txBody>
                    <a:bodyPr/>
                    <a:lstStyle/>
                    <a:p>
                      <a:pPr>
                        <a:lnSpc>
                          <a:spcPct val="100000"/>
                        </a:lnSpc>
                      </a:pPr>
                      <a:endParaRPr sz="400">
                        <a:latin typeface="Times New Roman"/>
                        <a:cs typeface="Times New Roman"/>
                      </a:endParaRPr>
                    </a:p>
                  </a:txBody>
                  <a:tcPr marL="0" marR="0" marT="0" marB="0">
                    <a:lnR w="28575">
                      <a:solidFill>
                        <a:srgbClr val="FFC000"/>
                      </a:solidFill>
                      <a:prstDash val="solid"/>
                    </a:lnR>
                    <a:lnT w="28575">
                      <a:solidFill>
                        <a:srgbClr val="FFC000"/>
                      </a:solidFill>
                      <a:prstDash val="solid"/>
                    </a:lnT>
                  </a:tcPr>
                </a:tc>
                <a:extLst>
                  <a:ext uri="{0D108BD9-81ED-4DB2-BD59-A6C34878D82A}">
                    <a16:rowId xmlns:a16="http://schemas.microsoft.com/office/drawing/2014/main" val="10000"/>
                  </a:ext>
                </a:extLst>
              </a:tr>
              <a:tr h="570547">
                <a:tc>
                  <a:txBody>
                    <a:bodyPr/>
                    <a:lstStyle/>
                    <a:p>
                      <a:pPr>
                        <a:lnSpc>
                          <a:spcPct val="100000"/>
                        </a:lnSpc>
                      </a:pPr>
                      <a:endParaRPr sz="1400">
                        <a:latin typeface="Times New Roman"/>
                        <a:cs typeface="Times New Roman"/>
                      </a:endParaRPr>
                    </a:p>
                  </a:txBody>
                  <a:tcPr marL="0" marR="0" marT="0" marB="0">
                    <a:lnL w="28575">
                      <a:solidFill>
                        <a:srgbClr val="FFC000"/>
                      </a:solidFill>
                      <a:prstDash val="solid"/>
                    </a:lnL>
                    <a:lnR w="9525">
                      <a:solidFill>
                        <a:srgbClr val="FFFFFF"/>
                      </a:solidFill>
                      <a:prstDash val="solid"/>
                    </a:lnR>
                    <a:lnB w="28575">
                      <a:solidFill>
                        <a:srgbClr val="FFC000"/>
                      </a:solidFill>
                      <a:prstDash val="solid"/>
                    </a:lnB>
                  </a:tcPr>
                </a:tc>
                <a:tc>
                  <a:txBody>
                    <a:bodyPr/>
                    <a:lstStyle/>
                    <a:p>
                      <a:pPr marL="2540" algn="ctr">
                        <a:lnSpc>
                          <a:spcPct val="100000"/>
                        </a:lnSpc>
                        <a:spcBef>
                          <a:spcPts val="969"/>
                        </a:spcBef>
                      </a:pPr>
                      <a:r>
                        <a:rPr sz="1800" spc="-10" dirty="0">
                          <a:solidFill>
                            <a:srgbClr val="FFFFFF"/>
                          </a:solidFill>
                          <a:latin typeface="Arial"/>
                          <a:cs typeface="Arial"/>
                        </a:rPr>
                        <a:t>13</a:t>
                      </a:r>
                      <a:endParaRPr sz="1800">
                        <a:latin typeface="Arial"/>
                        <a:cs typeface="Arial"/>
                      </a:endParaRPr>
                    </a:p>
                  </a:txBody>
                  <a:tcPr marL="0" marR="0" marT="123189" marB="0">
                    <a:lnL w="9525">
                      <a:solidFill>
                        <a:srgbClr val="FFFFFF"/>
                      </a:solidFill>
                      <a:prstDash val="solid"/>
                    </a:lnL>
                    <a:lnR w="9525">
                      <a:solidFill>
                        <a:srgbClr val="FFFFFF"/>
                      </a:solidFill>
                      <a:prstDash val="solid"/>
                    </a:lnR>
                    <a:lnT w="9525">
                      <a:solidFill>
                        <a:srgbClr val="FFFFFF"/>
                      </a:solidFill>
                      <a:prstDash val="solid"/>
                    </a:lnT>
                    <a:lnB w="28575">
                      <a:solidFill>
                        <a:srgbClr val="FFC000"/>
                      </a:solidFill>
                      <a:prstDash val="solid"/>
                    </a:lnB>
                    <a:solidFill>
                      <a:srgbClr val="2151FF"/>
                    </a:solidFill>
                  </a:tcPr>
                </a:tc>
                <a:tc>
                  <a:txBody>
                    <a:bodyPr/>
                    <a:lstStyle/>
                    <a:p>
                      <a:pPr>
                        <a:lnSpc>
                          <a:spcPct val="100000"/>
                        </a:lnSpc>
                      </a:pPr>
                      <a:endParaRPr sz="1400">
                        <a:latin typeface="Times New Roman"/>
                        <a:cs typeface="Times New Roman"/>
                      </a:endParaRPr>
                    </a:p>
                  </a:txBody>
                  <a:tcPr marL="0" marR="0" marT="0" marB="0">
                    <a:lnL w="9525">
                      <a:solidFill>
                        <a:srgbClr val="FFFFFF"/>
                      </a:solidFill>
                      <a:prstDash val="solid"/>
                    </a:lnL>
                    <a:lnR w="28575">
                      <a:solidFill>
                        <a:srgbClr val="FFC000"/>
                      </a:solidFill>
                      <a:prstDash val="solid"/>
                    </a:lnR>
                    <a:lnB w="28575">
                      <a:solidFill>
                        <a:srgbClr val="FFC000"/>
                      </a:solidFill>
                      <a:prstDash val="solid"/>
                    </a:lnB>
                  </a:tcPr>
                </a:tc>
                <a:extLst>
                  <a:ext uri="{0D108BD9-81ED-4DB2-BD59-A6C34878D82A}">
                    <a16:rowId xmlns:a16="http://schemas.microsoft.com/office/drawing/2014/main" val="10001"/>
                  </a:ext>
                </a:extLst>
              </a:tr>
              <a:tr h="1626615">
                <a:tc>
                  <a:txBody>
                    <a:bodyPr/>
                    <a:lstStyle/>
                    <a:p>
                      <a:pPr>
                        <a:lnSpc>
                          <a:spcPct val="100000"/>
                        </a:lnSpc>
                      </a:pPr>
                      <a:endParaRPr sz="1400">
                        <a:latin typeface="Times New Roman"/>
                        <a:cs typeface="Times New Roman"/>
                      </a:endParaRPr>
                    </a:p>
                  </a:txBody>
                  <a:tcPr marL="0" marR="0" marT="0" marB="0">
                    <a:lnR w="9525">
                      <a:solidFill>
                        <a:srgbClr val="FFFFFF"/>
                      </a:solidFill>
                      <a:prstDash val="solid"/>
                    </a:lnR>
                    <a:lnT w="28575">
                      <a:solidFill>
                        <a:srgbClr val="FFC000"/>
                      </a:solidFill>
                      <a:prstDash val="solid"/>
                    </a:lnT>
                    <a:lnB w="9525">
                      <a:solidFill>
                        <a:srgbClr val="000000"/>
                      </a:solidFill>
                      <a:prstDash val="solid"/>
                    </a:lnB>
                  </a:tcPr>
                </a:tc>
                <a:tc>
                  <a:txBody>
                    <a:bodyPr/>
                    <a:lstStyle/>
                    <a:p>
                      <a:pPr>
                        <a:lnSpc>
                          <a:spcPct val="100000"/>
                        </a:lnSpc>
                      </a:pPr>
                      <a:endParaRPr sz="2000">
                        <a:latin typeface="Times New Roman"/>
                        <a:cs typeface="Times New Roman"/>
                      </a:endParaRPr>
                    </a:p>
                    <a:p>
                      <a:pPr>
                        <a:lnSpc>
                          <a:spcPct val="100000"/>
                        </a:lnSpc>
                        <a:spcBef>
                          <a:spcPts val="10"/>
                        </a:spcBef>
                      </a:pPr>
                      <a:endParaRPr sz="2450">
                        <a:latin typeface="Times New Roman"/>
                        <a:cs typeface="Times New Roman"/>
                      </a:endParaRPr>
                    </a:p>
                    <a:p>
                      <a:pPr marL="2540" algn="ctr">
                        <a:lnSpc>
                          <a:spcPct val="100000"/>
                        </a:lnSpc>
                        <a:spcBef>
                          <a:spcPts val="5"/>
                        </a:spcBef>
                      </a:pPr>
                      <a:r>
                        <a:rPr sz="1800" spc="-10" dirty="0">
                          <a:latin typeface="Arial"/>
                          <a:cs typeface="Arial"/>
                        </a:rPr>
                        <a:t>40</a:t>
                      </a:r>
                      <a:endParaRPr sz="1800">
                        <a:latin typeface="Arial"/>
                        <a:cs typeface="Arial"/>
                      </a:endParaRPr>
                    </a:p>
                  </a:txBody>
                  <a:tcPr marL="0" marR="0" marT="0" marB="0">
                    <a:lnL w="9525">
                      <a:solidFill>
                        <a:srgbClr val="FFFFFF"/>
                      </a:solidFill>
                      <a:prstDash val="solid"/>
                    </a:lnL>
                    <a:lnR w="9525">
                      <a:solidFill>
                        <a:srgbClr val="FFFFFF"/>
                      </a:solidFill>
                      <a:prstDash val="solid"/>
                    </a:lnR>
                    <a:lnT w="28575">
                      <a:solidFill>
                        <a:srgbClr val="FFC000"/>
                      </a:solidFill>
                      <a:prstDash val="solid"/>
                    </a:lnT>
                    <a:lnB w="9525">
                      <a:solidFill>
                        <a:srgbClr val="000000"/>
                      </a:solidFill>
                      <a:prstDash val="solid"/>
                    </a:lnB>
                    <a:solidFill>
                      <a:srgbClr val="B3B3B3"/>
                    </a:solidFill>
                  </a:tcPr>
                </a:tc>
                <a:tc>
                  <a:txBody>
                    <a:bodyPr/>
                    <a:lstStyle/>
                    <a:p>
                      <a:pPr>
                        <a:lnSpc>
                          <a:spcPct val="100000"/>
                        </a:lnSpc>
                      </a:pPr>
                      <a:endParaRPr sz="1400">
                        <a:latin typeface="Times New Roman"/>
                        <a:cs typeface="Times New Roman"/>
                      </a:endParaRPr>
                    </a:p>
                  </a:txBody>
                  <a:tcPr marL="0" marR="0" marT="0" marB="0">
                    <a:lnL w="9525">
                      <a:solidFill>
                        <a:srgbClr val="FFFFFF"/>
                      </a:solidFill>
                      <a:prstDash val="solid"/>
                    </a:lnL>
                    <a:lnT w="28575">
                      <a:solidFill>
                        <a:srgbClr val="FFC000"/>
                      </a:solidFill>
                      <a:prstDash val="solid"/>
                    </a:lnT>
                    <a:lnB w="9525">
                      <a:solidFill>
                        <a:srgbClr val="000000"/>
                      </a:solidFill>
                      <a:prstDash val="solid"/>
                    </a:lnB>
                  </a:tcPr>
                </a:tc>
                <a:extLst>
                  <a:ext uri="{0D108BD9-81ED-4DB2-BD59-A6C34878D82A}">
                    <a16:rowId xmlns:a16="http://schemas.microsoft.com/office/drawing/2014/main" val="10002"/>
                  </a:ext>
                </a:extLst>
              </a:tr>
            </a:tbl>
          </a:graphicData>
        </a:graphic>
      </p:graphicFrame>
      <p:sp>
        <p:nvSpPr>
          <p:cNvPr id="38" name="object 38"/>
          <p:cNvSpPr txBox="1"/>
          <p:nvPr/>
        </p:nvSpPr>
        <p:spPr>
          <a:xfrm>
            <a:off x="10364216" y="5502046"/>
            <a:ext cx="1205230" cy="513080"/>
          </a:xfrm>
          <a:prstGeom prst="rect">
            <a:avLst/>
          </a:prstGeom>
        </p:spPr>
        <p:txBody>
          <a:bodyPr vert="horz" wrap="square" lIns="0" tIns="12065" rIns="0" bIns="0" rtlCol="0">
            <a:spAutoFit/>
          </a:bodyPr>
          <a:lstStyle/>
          <a:p>
            <a:pPr marL="387350" marR="5080" indent="-375285">
              <a:lnSpc>
                <a:spcPct val="100000"/>
              </a:lnSpc>
              <a:spcBef>
                <a:spcPts val="95"/>
              </a:spcBef>
            </a:pPr>
            <a:r>
              <a:rPr sz="1600" spc="-30" dirty="0">
                <a:latin typeface="Arial"/>
                <a:cs typeface="Arial"/>
              </a:rPr>
              <a:t>Value</a:t>
            </a:r>
            <a:r>
              <a:rPr sz="1600" spc="-85" dirty="0">
                <a:latin typeface="Arial"/>
                <a:cs typeface="Arial"/>
              </a:rPr>
              <a:t> </a:t>
            </a:r>
            <a:r>
              <a:rPr sz="1600" spc="-5" dirty="0">
                <a:latin typeface="Arial"/>
                <a:cs typeface="Arial"/>
              </a:rPr>
              <a:t>stream  FTEs</a:t>
            </a:r>
            <a:endParaRPr sz="1600">
              <a:latin typeface="Arial"/>
              <a:cs typeface="Arial"/>
            </a:endParaRPr>
          </a:p>
        </p:txBody>
      </p:sp>
      <p:sp>
        <p:nvSpPr>
          <p:cNvPr id="39" name="object 39"/>
          <p:cNvSpPr txBox="1"/>
          <p:nvPr/>
        </p:nvSpPr>
        <p:spPr>
          <a:xfrm>
            <a:off x="9673843" y="3321558"/>
            <a:ext cx="695960" cy="391795"/>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Additional</a:t>
            </a:r>
            <a:endParaRPr sz="1200">
              <a:latin typeface="Arial"/>
              <a:cs typeface="Arial"/>
            </a:endParaRPr>
          </a:p>
          <a:p>
            <a:pPr marL="12700">
              <a:lnSpc>
                <a:spcPct val="100000"/>
              </a:lnSpc>
            </a:pPr>
            <a:r>
              <a:rPr sz="1200" dirty="0">
                <a:latin typeface="Arial"/>
                <a:cs typeface="Arial"/>
              </a:rPr>
              <a:t>FTEs</a:t>
            </a:r>
            <a:endParaRPr sz="1200">
              <a:latin typeface="Arial"/>
              <a:cs typeface="Arial"/>
            </a:endParaRPr>
          </a:p>
        </p:txBody>
      </p:sp>
      <p:sp>
        <p:nvSpPr>
          <p:cNvPr id="40" name="object 40"/>
          <p:cNvSpPr txBox="1"/>
          <p:nvPr/>
        </p:nvSpPr>
        <p:spPr>
          <a:xfrm>
            <a:off x="9648443" y="4420361"/>
            <a:ext cx="608965" cy="391160"/>
          </a:xfrm>
          <a:prstGeom prst="rect">
            <a:avLst/>
          </a:prstGeom>
        </p:spPr>
        <p:txBody>
          <a:bodyPr vert="horz" wrap="square" lIns="0" tIns="12700" rIns="0" bIns="0" rtlCol="0">
            <a:spAutoFit/>
          </a:bodyPr>
          <a:lstStyle/>
          <a:p>
            <a:pPr marL="38100" marR="30480">
              <a:lnSpc>
                <a:spcPct val="100000"/>
              </a:lnSpc>
              <a:spcBef>
                <a:spcPts val="100"/>
              </a:spcBef>
            </a:pPr>
            <a:r>
              <a:rPr sz="1200" dirty="0">
                <a:latin typeface="Arial"/>
                <a:cs typeface="Arial"/>
              </a:rPr>
              <a:t>E</a:t>
            </a:r>
            <a:r>
              <a:rPr sz="1200" spc="-15" dirty="0">
                <a:latin typeface="Arial"/>
                <a:cs typeface="Arial"/>
              </a:rPr>
              <a:t>x</a:t>
            </a:r>
            <a:r>
              <a:rPr sz="1200" spc="-5" dirty="0">
                <a:latin typeface="Arial"/>
                <a:cs typeface="Arial"/>
              </a:rPr>
              <a:t>isting  </a:t>
            </a:r>
            <a:r>
              <a:rPr sz="1200" dirty="0">
                <a:latin typeface="Arial"/>
                <a:cs typeface="Arial"/>
              </a:rPr>
              <a:t>FTEs</a:t>
            </a:r>
            <a:r>
              <a:rPr sz="1200" baseline="24305" dirty="0">
                <a:latin typeface="Arial"/>
                <a:cs typeface="Arial"/>
              </a:rPr>
              <a:t>1</a:t>
            </a:r>
            <a:endParaRPr sz="1200" baseline="24305">
              <a:latin typeface="Arial"/>
              <a:cs typeface="Arial"/>
            </a:endParaRPr>
          </a:p>
        </p:txBody>
      </p:sp>
      <p:sp>
        <p:nvSpPr>
          <p:cNvPr id="41" name="object 41"/>
          <p:cNvSpPr/>
          <p:nvPr/>
        </p:nvSpPr>
        <p:spPr>
          <a:xfrm>
            <a:off x="11089640" y="1752307"/>
            <a:ext cx="180340" cy="180340"/>
          </a:xfrm>
          <a:custGeom>
            <a:avLst/>
            <a:gdLst/>
            <a:ahLst/>
            <a:cxnLst/>
            <a:rect l="l" t="t" r="r" b="b"/>
            <a:pathLst>
              <a:path w="180340" h="180339">
                <a:moveTo>
                  <a:pt x="0" y="179997"/>
                </a:moveTo>
                <a:lnTo>
                  <a:pt x="179997" y="179997"/>
                </a:lnTo>
                <a:lnTo>
                  <a:pt x="179997" y="0"/>
                </a:lnTo>
                <a:lnTo>
                  <a:pt x="0" y="0"/>
                </a:lnTo>
                <a:lnTo>
                  <a:pt x="0" y="179997"/>
                </a:lnTo>
                <a:close/>
              </a:path>
            </a:pathLst>
          </a:custGeom>
          <a:ln w="28575">
            <a:solidFill>
              <a:srgbClr val="FFC000"/>
            </a:solidFill>
            <a:prstDash val="lgDash"/>
          </a:ln>
        </p:spPr>
        <p:txBody>
          <a:bodyPr wrap="square" lIns="0" tIns="0" rIns="0" bIns="0" rtlCol="0"/>
          <a:lstStyle/>
          <a:p>
            <a:endParaRPr/>
          </a:p>
        </p:txBody>
      </p:sp>
      <p:sp>
        <p:nvSpPr>
          <p:cNvPr id="42" name="object 42"/>
          <p:cNvSpPr txBox="1"/>
          <p:nvPr/>
        </p:nvSpPr>
        <p:spPr>
          <a:xfrm>
            <a:off x="11336273" y="1767586"/>
            <a:ext cx="76327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Detailed</a:t>
            </a:r>
            <a:r>
              <a:rPr sz="1000" spc="-50" dirty="0">
                <a:latin typeface="Arial"/>
                <a:cs typeface="Arial"/>
              </a:rPr>
              <a:t> </a:t>
            </a:r>
            <a:r>
              <a:rPr sz="1000" spc="-5" dirty="0">
                <a:latin typeface="Arial"/>
                <a:cs typeface="Arial"/>
              </a:rPr>
              <a:t>next</a:t>
            </a:r>
            <a:endParaRPr sz="1000">
              <a:latin typeface="Arial"/>
              <a:cs typeface="Arial"/>
            </a:endParaRPr>
          </a:p>
        </p:txBody>
      </p:sp>
      <p:sp>
        <p:nvSpPr>
          <p:cNvPr id="43" name="object 43"/>
          <p:cNvSpPr txBox="1"/>
          <p:nvPr/>
        </p:nvSpPr>
        <p:spPr>
          <a:xfrm>
            <a:off x="541426" y="6384137"/>
            <a:ext cx="8007984" cy="147955"/>
          </a:xfrm>
          <a:prstGeom prst="rect">
            <a:avLst/>
          </a:prstGeom>
        </p:spPr>
        <p:txBody>
          <a:bodyPr vert="horz" wrap="square" lIns="0" tIns="12700" rIns="0" bIns="0" rtlCol="0">
            <a:spAutoFit/>
          </a:bodyPr>
          <a:lstStyle/>
          <a:p>
            <a:pPr marL="12700">
              <a:lnSpc>
                <a:spcPct val="100000"/>
              </a:lnSpc>
              <a:spcBef>
                <a:spcPts val="100"/>
              </a:spcBef>
            </a:pPr>
            <a:r>
              <a:rPr sz="800" spc="-5" dirty="0">
                <a:latin typeface="Arial"/>
                <a:cs typeface="Arial"/>
              </a:rPr>
              <a:t>1. include </a:t>
            </a:r>
            <a:r>
              <a:rPr sz="800" dirty="0">
                <a:latin typeface="Arial"/>
                <a:cs typeface="Arial"/>
              </a:rPr>
              <a:t>FTEs </a:t>
            </a:r>
            <a:r>
              <a:rPr sz="800" spc="-5" dirty="0">
                <a:latin typeface="Arial"/>
                <a:cs typeface="Arial"/>
              </a:rPr>
              <a:t>from </a:t>
            </a:r>
            <a:r>
              <a:rPr sz="800" dirty="0">
                <a:latin typeface="Arial"/>
                <a:cs typeface="Arial"/>
              </a:rPr>
              <a:t>Auto </a:t>
            </a:r>
            <a:r>
              <a:rPr sz="800" spc="-5" dirty="0">
                <a:latin typeface="Arial"/>
                <a:cs typeface="Arial"/>
              </a:rPr>
              <a:t>lending product </a:t>
            </a:r>
            <a:r>
              <a:rPr sz="800" dirty="0">
                <a:latin typeface="Arial"/>
                <a:cs typeface="Arial"/>
              </a:rPr>
              <a:t>IB &amp; SB, </a:t>
            </a:r>
            <a:r>
              <a:rPr sz="800" spc="-5" dirty="0">
                <a:latin typeface="Arial"/>
                <a:cs typeface="Arial"/>
              </a:rPr>
              <a:t>External </a:t>
            </a:r>
            <a:r>
              <a:rPr sz="800" dirty="0">
                <a:latin typeface="Arial"/>
                <a:cs typeface="Arial"/>
              </a:rPr>
              <a:t>&amp; </a:t>
            </a:r>
            <a:r>
              <a:rPr sz="800" spc="-5" dirty="0">
                <a:latin typeface="Arial"/>
                <a:cs typeface="Arial"/>
              </a:rPr>
              <a:t>alternative channels, </a:t>
            </a:r>
            <a:r>
              <a:rPr sz="800" dirty="0">
                <a:latin typeface="Arial"/>
                <a:cs typeface="Arial"/>
              </a:rPr>
              <a:t>Auto moto </a:t>
            </a:r>
            <a:r>
              <a:rPr sz="800" spc="-5" dirty="0">
                <a:latin typeface="Arial"/>
                <a:cs typeface="Arial"/>
              </a:rPr>
              <a:t>processing (retail), </a:t>
            </a:r>
            <a:r>
              <a:rPr sz="800" dirty="0">
                <a:latin typeface="Arial"/>
                <a:cs typeface="Arial"/>
              </a:rPr>
              <a:t>After </a:t>
            </a:r>
            <a:r>
              <a:rPr sz="800" spc="-5" dirty="0">
                <a:latin typeface="Arial"/>
                <a:cs typeface="Arial"/>
              </a:rPr>
              <a:t>sales support (dealers), Credit </a:t>
            </a:r>
            <a:r>
              <a:rPr sz="800" dirty="0">
                <a:latin typeface="Arial"/>
                <a:cs typeface="Arial"/>
              </a:rPr>
              <a:t>Policy</a:t>
            </a:r>
            <a:r>
              <a:rPr sz="800" spc="85" dirty="0">
                <a:latin typeface="Arial"/>
                <a:cs typeface="Arial"/>
              </a:rPr>
              <a:t> </a:t>
            </a:r>
            <a:r>
              <a:rPr sz="800" dirty="0">
                <a:latin typeface="Arial"/>
                <a:cs typeface="Arial"/>
              </a:rPr>
              <a:t>&amp; </a:t>
            </a:r>
            <a:r>
              <a:rPr sz="800" spc="-5" dirty="0">
                <a:latin typeface="Arial"/>
                <a:cs typeface="Arial"/>
              </a:rPr>
              <a:t>Quality Control</a:t>
            </a:r>
            <a:endParaRPr sz="800">
              <a:latin typeface="Arial"/>
              <a:cs typeface="Arial"/>
            </a:endParaRPr>
          </a:p>
        </p:txBody>
      </p:sp>
      <p:sp>
        <p:nvSpPr>
          <p:cNvPr id="44" name="object 44"/>
          <p:cNvSpPr/>
          <p:nvPr/>
        </p:nvSpPr>
        <p:spPr>
          <a:xfrm>
            <a:off x="10016235" y="2137536"/>
            <a:ext cx="1602740" cy="664845"/>
          </a:xfrm>
          <a:custGeom>
            <a:avLst/>
            <a:gdLst/>
            <a:ahLst/>
            <a:cxnLst/>
            <a:rect l="l" t="t" r="r" b="b"/>
            <a:pathLst>
              <a:path w="1602740" h="664844">
                <a:moveTo>
                  <a:pt x="667639" y="441578"/>
                </a:moveTo>
                <a:lnTo>
                  <a:pt x="267081" y="441578"/>
                </a:lnTo>
                <a:lnTo>
                  <a:pt x="692912" y="664590"/>
                </a:lnTo>
                <a:lnTo>
                  <a:pt x="667639" y="441578"/>
                </a:lnTo>
                <a:close/>
              </a:path>
              <a:path w="1602740" h="664844">
                <a:moveTo>
                  <a:pt x="1602486" y="0"/>
                </a:moveTo>
                <a:lnTo>
                  <a:pt x="0" y="0"/>
                </a:lnTo>
                <a:lnTo>
                  <a:pt x="0" y="441578"/>
                </a:lnTo>
                <a:lnTo>
                  <a:pt x="1602486" y="441578"/>
                </a:lnTo>
                <a:lnTo>
                  <a:pt x="1602486" y="0"/>
                </a:lnTo>
                <a:close/>
              </a:path>
            </a:pathLst>
          </a:custGeom>
          <a:solidFill>
            <a:srgbClr val="FFFFFF"/>
          </a:solidFill>
        </p:spPr>
        <p:txBody>
          <a:bodyPr wrap="square" lIns="0" tIns="0" rIns="0" bIns="0" rtlCol="0"/>
          <a:lstStyle/>
          <a:p>
            <a:endParaRPr/>
          </a:p>
        </p:txBody>
      </p:sp>
      <p:sp>
        <p:nvSpPr>
          <p:cNvPr id="45" name="object 45"/>
          <p:cNvSpPr/>
          <p:nvPr/>
        </p:nvSpPr>
        <p:spPr>
          <a:xfrm>
            <a:off x="10016235" y="2137536"/>
            <a:ext cx="1602740" cy="664845"/>
          </a:xfrm>
          <a:custGeom>
            <a:avLst/>
            <a:gdLst/>
            <a:ahLst/>
            <a:cxnLst/>
            <a:rect l="l" t="t" r="r" b="b"/>
            <a:pathLst>
              <a:path w="1602740" h="664844">
                <a:moveTo>
                  <a:pt x="0" y="0"/>
                </a:moveTo>
                <a:lnTo>
                  <a:pt x="267081" y="0"/>
                </a:lnTo>
                <a:lnTo>
                  <a:pt x="667639" y="0"/>
                </a:lnTo>
                <a:lnTo>
                  <a:pt x="1602486" y="0"/>
                </a:lnTo>
                <a:lnTo>
                  <a:pt x="1602486" y="257555"/>
                </a:lnTo>
                <a:lnTo>
                  <a:pt x="1602486" y="367918"/>
                </a:lnTo>
                <a:lnTo>
                  <a:pt x="1602486" y="441578"/>
                </a:lnTo>
                <a:lnTo>
                  <a:pt x="667639" y="441578"/>
                </a:lnTo>
                <a:lnTo>
                  <a:pt x="692912" y="664590"/>
                </a:lnTo>
                <a:lnTo>
                  <a:pt x="267081" y="441578"/>
                </a:lnTo>
                <a:lnTo>
                  <a:pt x="0" y="441578"/>
                </a:lnTo>
                <a:lnTo>
                  <a:pt x="0" y="367918"/>
                </a:lnTo>
                <a:lnTo>
                  <a:pt x="0" y="257555"/>
                </a:lnTo>
                <a:lnTo>
                  <a:pt x="0" y="0"/>
                </a:lnTo>
                <a:close/>
              </a:path>
            </a:pathLst>
          </a:custGeom>
          <a:ln w="6350">
            <a:solidFill>
              <a:srgbClr val="051F79"/>
            </a:solidFill>
          </a:ln>
        </p:spPr>
        <p:txBody>
          <a:bodyPr wrap="square" lIns="0" tIns="0" rIns="0" bIns="0" rtlCol="0"/>
          <a:lstStyle/>
          <a:p>
            <a:endParaRPr/>
          </a:p>
        </p:txBody>
      </p:sp>
      <p:sp>
        <p:nvSpPr>
          <p:cNvPr id="46" name="object 46"/>
          <p:cNvSpPr txBox="1"/>
          <p:nvPr/>
        </p:nvSpPr>
        <p:spPr>
          <a:xfrm>
            <a:off x="10273410" y="2158746"/>
            <a:ext cx="1090295" cy="391160"/>
          </a:xfrm>
          <a:prstGeom prst="rect">
            <a:avLst/>
          </a:prstGeom>
        </p:spPr>
        <p:txBody>
          <a:bodyPr vert="horz" wrap="square" lIns="0" tIns="12700" rIns="0" bIns="0" rtlCol="0">
            <a:spAutoFit/>
          </a:bodyPr>
          <a:lstStyle/>
          <a:p>
            <a:pPr marL="12700" marR="5080" indent="5715">
              <a:lnSpc>
                <a:spcPct val="100000"/>
              </a:lnSpc>
              <a:spcBef>
                <a:spcPts val="100"/>
              </a:spcBef>
            </a:pPr>
            <a:r>
              <a:rPr sz="1200" spc="-5" dirty="0">
                <a:latin typeface="Arial"/>
                <a:cs typeface="Arial"/>
              </a:rPr>
              <a:t>Not including</a:t>
            </a:r>
            <a:r>
              <a:rPr sz="1200" spc="-114" dirty="0">
                <a:latin typeface="Arial"/>
                <a:cs typeface="Arial"/>
              </a:rPr>
              <a:t> </a:t>
            </a:r>
            <a:r>
              <a:rPr sz="1200" dirty="0">
                <a:latin typeface="Arial"/>
                <a:cs typeface="Arial"/>
              </a:rPr>
              <a:t>IT  </a:t>
            </a:r>
            <a:r>
              <a:rPr sz="1200" spc="-5" dirty="0">
                <a:latin typeface="Arial"/>
                <a:cs typeface="Arial"/>
              </a:rPr>
              <a:t>dedicated</a:t>
            </a:r>
            <a:r>
              <a:rPr sz="1200" spc="-110" dirty="0">
                <a:latin typeface="Arial"/>
                <a:cs typeface="Arial"/>
              </a:rPr>
              <a:t> </a:t>
            </a:r>
            <a:r>
              <a:rPr sz="1200" dirty="0">
                <a:latin typeface="Arial"/>
                <a:cs typeface="Arial"/>
              </a:rPr>
              <a:t>FTEs</a:t>
            </a:r>
            <a:endParaRPr sz="1200">
              <a:latin typeface="Arial"/>
              <a:cs typeface="Arial"/>
            </a:endParaRPr>
          </a:p>
        </p:txBody>
      </p:sp>
      <p:sp>
        <p:nvSpPr>
          <p:cNvPr id="47" name="object 47"/>
          <p:cNvSpPr txBox="1"/>
          <p:nvPr/>
        </p:nvSpPr>
        <p:spPr>
          <a:xfrm>
            <a:off x="10134981" y="6497072"/>
            <a:ext cx="1151255" cy="153670"/>
          </a:xfrm>
          <a:prstGeom prst="rect">
            <a:avLst/>
          </a:prstGeom>
        </p:spPr>
        <p:txBody>
          <a:bodyPr vert="horz" wrap="square" lIns="0" tIns="1905" rIns="0" bIns="0" rtlCol="0">
            <a:spAutoFit/>
          </a:bodyPr>
          <a:lstStyle/>
          <a:p>
            <a:pPr marL="12700">
              <a:lnSpc>
                <a:spcPct val="100000"/>
              </a:lnSpc>
              <a:spcBef>
                <a:spcPts val="15"/>
              </a:spcBef>
            </a:pPr>
            <a:r>
              <a:rPr sz="900" spc="-5" dirty="0">
                <a:latin typeface="Arial"/>
                <a:cs typeface="Arial"/>
              </a:rPr>
              <a:t>McKinsey </a:t>
            </a:r>
            <a:r>
              <a:rPr sz="900" dirty="0">
                <a:latin typeface="Arial"/>
                <a:cs typeface="Arial"/>
              </a:rPr>
              <a:t>&amp;</a:t>
            </a:r>
            <a:r>
              <a:rPr sz="900" spc="-40" dirty="0">
                <a:latin typeface="Arial"/>
                <a:cs typeface="Arial"/>
              </a:rPr>
              <a:t> </a:t>
            </a:r>
            <a:r>
              <a:rPr sz="900" spc="-5" dirty="0">
                <a:latin typeface="Arial"/>
                <a:cs typeface="Arial"/>
              </a:rPr>
              <a:t>Company</a:t>
            </a:r>
            <a:endParaRPr sz="900">
              <a:latin typeface="Arial"/>
              <a:cs typeface="Arial"/>
            </a:endParaRPr>
          </a:p>
        </p:txBody>
      </p:sp>
      <p:sp>
        <p:nvSpPr>
          <p:cNvPr id="48" name="object 48"/>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dirty="0"/>
              <a:t>24</a:t>
            </a:fld>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54736" y="2892298"/>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3" name="object 3"/>
          <p:cNvSpPr/>
          <p:nvPr/>
        </p:nvSpPr>
        <p:spPr>
          <a:xfrm>
            <a:off x="554736" y="3439667"/>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4" name="object 4"/>
          <p:cNvSpPr/>
          <p:nvPr/>
        </p:nvSpPr>
        <p:spPr>
          <a:xfrm>
            <a:off x="554736" y="3987038"/>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5" name="object 5"/>
          <p:cNvSpPr/>
          <p:nvPr/>
        </p:nvSpPr>
        <p:spPr>
          <a:xfrm>
            <a:off x="554736" y="4534408"/>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6" name="object 6"/>
          <p:cNvSpPr/>
          <p:nvPr/>
        </p:nvSpPr>
        <p:spPr>
          <a:xfrm>
            <a:off x="554736" y="5081651"/>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7" name="object 7"/>
          <p:cNvSpPr/>
          <p:nvPr/>
        </p:nvSpPr>
        <p:spPr>
          <a:xfrm>
            <a:off x="554736" y="5629059"/>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8" name="object 8"/>
          <p:cNvSpPr txBox="1"/>
          <p:nvPr/>
        </p:nvSpPr>
        <p:spPr>
          <a:xfrm>
            <a:off x="3482466" y="1648205"/>
            <a:ext cx="3187065"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Arial"/>
                <a:cs typeface="Arial"/>
              </a:rPr>
              <a:t>Incremental FTEs at </a:t>
            </a:r>
            <a:r>
              <a:rPr sz="1600" b="1" spc="-10" dirty="0">
                <a:latin typeface="Arial"/>
                <a:cs typeface="Arial"/>
              </a:rPr>
              <a:t>steady</a:t>
            </a:r>
            <a:r>
              <a:rPr sz="1600" b="1" spc="35" dirty="0">
                <a:latin typeface="Arial"/>
                <a:cs typeface="Arial"/>
              </a:rPr>
              <a:t> </a:t>
            </a:r>
            <a:r>
              <a:rPr sz="1600" b="1" spc="-10" dirty="0">
                <a:latin typeface="Arial"/>
                <a:cs typeface="Arial"/>
              </a:rPr>
              <a:t>state</a:t>
            </a:r>
            <a:endParaRPr sz="1600">
              <a:latin typeface="Arial"/>
              <a:cs typeface="Arial"/>
            </a:endParaRPr>
          </a:p>
        </p:txBody>
      </p:sp>
      <p:sp>
        <p:nvSpPr>
          <p:cNvPr id="9" name="object 9"/>
          <p:cNvSpPr/>
          <p:nvPr/>
        </p:nvSpPr>
        <p:spPr>
          <a:xfrm>
            <a:off x="3494659" y="1947417"/>
            <a:ext cx="8130540" cy="0"/>
          </a:xfrm>
          <a:custGeom>
            <a:avLst/>
            <a:gdLst/>
            <a:ahLst/>
            <a:cxnLst/>
            <a:rect l="l" t="t" r="r" b="b"/>
            <a:pathLst>
              <a:path w="8130540">
                <a:moveTo>
                  <a:pt x="0" y="0"/>
                </a:moveTo>
                <a:lnTo>
                  <a:pt x="8130032" y="0"/>
                </a:lnTo>
              </a:path>
            </a:pathLst>
          </a:custGeom>
          <a:ln w="12700">
            <a:solidFill>
              <a:srgbClr val="757575"/>
            </a:solidFill>
          </a:ln>
        </p:spPr>
        <p:txBody>
          <a:bodyPr wrap="square" lIns="0" tIns="0" rIns="0" bIns="0" rtlCol="0"/>
          <a:lstStyle/>
          <a:p>
            <a:endParaRPr/>
          </a:p>
        </p:txBody>
      </p:sp>
      <p:sp>
        <p:nvSpPr>
          <p:cNvPr id="10" name="object 10"/>
          <p:cNvSpPr/>
          <p:nvPr/>
        </p:nvSpPr>
        <p:spPr>
          <a:xfrm>
            <a:off x="7068693" y="2106422"/>
            <a:ext cx="297815" cy="297815"/>
          </a:xfrm>
          <a:custGeom>
            <a:avLst/>
            <a:gdLst/>
            <a:ahLst/>
            <a:cxnLst/>
            <a:rect l="l" t="t" r="r" b="b"/>
            <a:pathLst>
              <a:path w="297815" h="297814">
                <a:moveTo>
                  <a:pt x="148843" y="0"/>
                </a:moveTo>
                <a:lnTo>
                  <a:pt x="101811" y="7579"/>
                </a:lnTo>
                <a:lnTo>
                  <a:pt x="60953" y="28691"/>
                </a:lnTo>
                <a:lnTo>
                  <a:pt x="28728" y="60899"/>
                </a:lnTo>
                <a:lnTo>
                  <a:pt x="7591" y="101762"/>
                </a:lnTo>
                <a:lnTo>
                  <a:pt x="0" y="148843"/>
                </a:lnTo>
                <a:lnTo>
                  <a:pt x="7591" y="195876"/>
                </a:lnTo>
                <a:lnTo>
                  <a:pt x="28728" y="236734"/>
                </a:lnTo>
                <a:lnTo>
                  <a:pt x="60953" y="268959"/>
                </a:lnTo>
                <a:lnTo>
                  <a:pt x="101811" y="290096"/>
                </a:lnTo>
                <a:lnTo>
                  <a:pt x="148843" y="297688"/>
                </a:lnTo>
                <a:lnTo>
                  <a:pt x="195925" y="290096"/>
                </a:lnTo>
                <a:lnTo>
                  <a:pt x="236788" y="268959"/>
                </a:lnTo>
                <a:lnTo>
                  <a:pt x="268996" y="236734"/>
                </a:lnTo>
                <a:lnTo>
                  <a:pt x="290108" y="195876"/>
                </a:lnTo>
                <a:lnTo>
                  <a:pt x="297687" y="148843"/>
                </a:lnTo>
                <a:lnTo>
                  <a:pt x="290108" y="101762"/>
                </a:lnTo>
                <a:lnTo>
                  <a:pt x="268996" y="60899"/>
                </a:lnTo>
                <a:lnTo>
                  <a:pt x="236788" y="28691"/>
                </a:lnTo>
                <a:lnTo>
                  <a:pt x="195925" y="7579"/>
                </a:lnTo>
                <a:lnTo>
                  <a:pt x="148843" y="0"/>
                </a:lnTo>
                <a:close/>
              </a:path>
            </a:pathLst>
          </a:custGeom>
          <a:solidFill>
            <a:srgbClr val="051F79"/>
          </a:solidFill>
        </p:spPr>
        <p:txBody>
          <a:bodyPr wrap="square" lIns="0" tIns="0" rIns="0" bIns="0" rtlCol="0"/>
          <a:lstStyle/>
          <a:p>
            <a:endParaRPr/>
          </a:p>
        </p:txBody>
      </p:sp>
      <p:sp>
        <p:nvSpPr>
          <p:cNvPr id="11" name="object 11"/>
          <p:cNvSpPr/>
          <p:nvPr/>
        </p:nvSpPr>
        <p:spPr>
          <a:xfrm>
            <a:off x="7214468" y="2187329"/>
            <a:ext cx="10160" cy="71120"/>
          </a:xfrm>
          <a:custGeom>
            <a:avLst/>
            <a:gdLst/>
            <a:ahLst/>
            <a:cxnLst/>
            <a:rect l="l" t="t" r="r" b="b"/>
            <a:pathLst>
              <a:path w="10159" h="71119">
                <a:moveTo>
                  <a:pt x="9541" y="0"/>
                </a:moveTo>
                <a:lnTo>
                  <a:pt x="0" y="0"/>
                </a:lnTo>
                <a:lnTo>
                  <a:pt x="0" y="71006"/>
                </a:lnTo>
                <a:lnTo>
                  <a:pt x="9541" y="61464"/>
                </a:lnTo>
                <a:lnTo>
                  <a:pt x="9541" y="0"/>
                </a:lnTo>
                <a:close/>
              </a:path>
            </a:pathLst>
          </a:custGeom>
          <a:solidFill>
            <a:srgbClr val="FFFFFF"/>
          </a:solidFill>
        </p:spPr>
        <p:txBody>
          <a:bodyPr wrap="square" lIns="0" tIns="0" rIns="0" bIns="0" rtlCol="0"/>
          <a:lstStyle/>
          <a:p>
            <a:endParaRPr/>
          </a:p>
        </p:txBody>
      </p:sp>
      <p:sp>
        <p:nvSpPr>
          <p:cNvPr id="12" name="object 12"/>
          <p:cNvSpPr/>
          <p:nvPr/>
        </p:nvSpPr>
        <p:spPr>
          <a:xfrm>
            <a:off x="7149720" y="2251956"/>
            <a:ext cx="71755" cy="9525"/>
          </a:xfrm>
          <a:custGeom>
            <a:avLst/>
            <a:gdLst/>
            <a:ahLst/>
            <a:cxnLst/>
            <a:rect l="l" t="t" r="r" b="b"/>
            <a:pathLst>
              <a:path w="71754" h="9525">
                <a:moveTo>
                  <a:pt x="71126" y="0"/>
                </a:moveTo>
                <a:lnTo>
                  <a:pt x="0" y="0"/>
                </a:lnTo>
                <a:lnTo>
                  <a:pt x="0" y="9524"/>
                </a:lnTo>
                <a:lnTo>
                  <a:pt x="61602" y="9524"/>
                </a:lnTo>
                <a:lnTo>
                  <a:pt x="71126" y="0"/>
                </a:lnTo>
                <a:close/>
              </a:path>
            </a:pathLst>
          </a:custGeom>
          <a:solidFill>
            <a:srgbClr val="FFFFFF"/>
          </a:solidFill>
        </p:spPr>
        <p:txBody>
          <a:bodyPr wrap="square" lIns="0" tIns="0" rIns="0" bIns="0" rtlCol="0"/>
          <a:lstStyle/>
          <a:p>
            <a:endParaRPr/>
          </a:p>
        </p:txBody>
      </p:sp>
      <p:sp>
        <p:nvSpPr>
          <p:cNvPr id="13" name="object 13"/>
          <p:cNvSpPr txBox="1">
            <a:spLocks noGrp="1"/>
          </p:cNvSpPr>
          <p:nvPr>
            <p:ph type="title"/>
          </p:nvPr>
        </p:nvSpPr>
        <p:spPr>
          <a:xfrm>
            <a:off x="542036" y="509981"/>
            <a:ext cx="10627360" cy="406400"/>
          </a:xfrm>
          <a:prstGeom prst="rect">
            <a:avLst/>
          </a:prstGeom>
        </p:spPr>
        <p:txBody>
          <a:bodyPr vert="horz" wrap="square" lIns="0" tIns="12065" rIns="0" bIns="0" rtlCol="0">
            <a:spAutoFit/>
          </a:bodyPr>
          <a:lstStyle/>
          <a:p>
            <a:pPr marL="12700">
              <a:lnSpc>
                <a:spcPct val="100000"/>
              </a:lnSpc>
              <a:spcBef>
                <a:spcPts val="95"/>
              </a:spcBef>
            </a:pPr>
            <a:r>
              <a:rPr spc="-5" dirty="0"/>
              <a:t>| Dedicated value stream </a:t>
            </a:r>
            <a:r>
              <a:rPr spc="-10" dirty="0"/>
              <a:t>requires </a:t>
            </a:r>
            <a:r>
              <a:rPr spc="-5" dirty="0"/>
              <a:t>~13 additional FTEs to</a:t>
            </a:r>
            <a:r>
              <a:rPr spc="125" dirty="0"/>
              <a:t> </a:t>
            </a:r>
            <a:r>
              <a:rPr dirty="0"/>
              <a:t>start</a:t>
            </a:r>
          </a:p>
        </p:txBody>
      </p:sp>
      <p:sp>
        <p:nvSpPr>
          <p:cNvPr id="14" name="object 14"/>
          <p:cNvSpPr/>
          <p:nvPr/>
        </p:nvSpPr>
        <p:spPr>
          <a:xfrm>
            <a:off x="9167876" y="1284809"/>
            <a:ext cx="108585" cy="108585"/>
          </a:xfrm>
          <a:custGeom>
            <a:avLst/>
            <a:gdLst/>
            <a:ahLst/>
            <a:cxnLst/>
            <a:rect l="l" t="t" r="r" b="b"/>
            <a:pathLst>
              <a:path w="108584" h="108584">
                <a:moveTo>
                  <a:pt x="0" y="107999"/>
                </a:moveTo>
                <a:lnTo>
                  <a:pt x="107999" y="107999"/>
                </a:lnTo>
                <a:lnTo>
                  <a:pt x="107999" y="0"/>
                </a:lnTo>
                <a:lnTo>
                  <a:pt x="0" y="0"/>
                </a:lnTo>
                <a:lnTo>
                  <a:pt x="0" y="107999"/>
                </a:lnTo>
                <a:close/>
              </a:path>
            </a:pathLst>
          </a:custGeom>
          <a:solidFill>
            <a:srgbClr val="00A9F4"/>
          </a:solidFill>
        </p:spPr>
        <p:txBody>
          <a:bodyPr wrap="square" lIns="0" tIns="0" rIns="0" bIns="0" rtlCol="0"/>
          <a:lstStyle/>
          <a:p>
            <a:endParaRPr/>
          </a:p>
        </p:txBody>
      </p:sp>
      <p:sp>
        <p:nvSpPr>
          <p:cNvPr id="15" name="object 15"/>
          <p:cNvSpPr txBox="1"/>
          <p:nvPr/>
        </p:nvSpPr>
        <p:spPr>
          <a:xfrm>
            <a:off x="9358121" y="1247902"/>
            <a:ext cx="122618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Fully integrated in</a:t>
            </a:r>
            <a:r>
              <a:rPr sz="1000" spc="-5" dirty="0">
                <a:latin typeface="Arial"/>
                <a:cs typeface="Arial"/>
              </a:rPr>
              <a:t> </a:t>
            </a:r>
            <a:r>
              <a:rPr sz="1000" spc="-10" dirty="0">
                <a:latin typeface="Arial"/>
                <a:cs typeface="Arial"/>
              </a:rPr>
              <a:t>VS</a:t>
            </a:r>
            <a:endParaRPr sz="1000">
              <a:latin typeface="Arial"/>
              <a:cs typeface="Arial"/>
            </a:endParaRPr>
          </a:p>
        </p:txBody>
      </p:sp>
      <p:sp>
        <p:nvSpPr>
          <p:cNvPr id="16" name="object 16"/>
          <p:cNvSpPr/>
          <p:nvPr/>
        </p:nvSpPr>
        <p:spPr>
          <a:xfrm>
            <a:off x="10819892" y="1284809"/>
            <a:ext cx="108585" cy="108585"/>
          </a:xfrm>
          <a:custGeom>
            <a:avLst/>
            <a:gdLst/>
            <a:ahLst/>
            <a:cxnLst/>
            <a:rect l="l" t="t" r="r" b="b"/>
            <a:pathLst>
              <a:path w="108584" h="108584">
                <a:moveTo>
                  <a:pt x="0" y="107999"/>
                </a:moveTo>
                <a:lnTo>
                  <a:pt x="107999" y="107999"/>
                </a:lnTo>
                <a:lnTo>
                  <a:pt x="107999" y="0"/>
                </a:lnTo>
                <a:lnTo>
                  <a:pt x="0" y="0"/>
                </a:lnTo>
                <a:lnTo>
                  <a:pt x="0" y="107999"/>
                </a:lnTo>
                <a:close/>
              </a:path>
            </a:pathLst>
          </a:custGeom>
          <a:solidFill>
            <a:srgbClr val="009DD9"/>
          </a:solidFill>
        </p:spPr>
        <p:txBody>
          <a:bodyPr wrap="square" lIns="0" tIns="0" rIns="0" bIns="0" rtlCol="0"/>
          <a:lstStyle/>
          <a:p>
            <a:endParaRPr/>
          </a:p>
        </p:txBody>
      </p:sp>
      <p:sp>
        <p:nvSpPr>
          <p:cNvPr id="17" name="object 17"/>
          <p:cNvSpPr txBox="1"/>
          <p:nvPr/>
        </p:nvSpPr>
        <p:spPr>
          <a:xfrm>
            <a:off x="11010392" y="1247902"/>
            <a:ext cx="63881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E</a:t>
            </a:r>
            <a:r>
              <a:rPr sz="1000" spc="15" dirty="0">
                <a:latin typeface="Arial"/>
                <a:cs typeface="Arial"/>
              </a:rPr>
              <a:t>m</a:t>
            </a:r>
            <a:r>
              <a:rPr sz="1000" spc="-10" dirty="0">
                <a:latin typeface="Arial"/>
                <a:cs typeface="Arial"/>
              </a:rPr>
              <a:t>bedded</a:t>
            </a:r>
            <a:endParaRPr sz="1000">
              <a:latin typeface="Arial"/>
              <a:cs typeface="Arial"/>
            </a:endParaRPr>
          </a:p>
        </p:txBody>
      </p:sp>
      <p:sp>
        <p:nvSpPr>
          <p:cNvPr id="18" name="object 18"/>
          <p:cNvSpPr txBox="1"/>
          <p:nvPr/>
        </p:nvSpPr>
        <p:spPr>
          <a:xfrm>
            <a:off x="5890005" y="1246378"/>
            <a:ext cx="39751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Dealer</a:t>
            </a:r>
            <a:endParaRPr sz="1000">
              <a:latin typeface="Arial"/>
              <a:cs typeface="Arial"/>
            </a:endParaRPr>
          </a:p>
        </p:txBody>
      </p:sp>
      <p:sp>
        <p:nvSpPr>
          <p:cNvPr id="19" name="object 19"/>
          <p:cNvSpPr/>
          <p:nvPr/>
        </p:nvSpPr>
        <p:spPr>
          <a:xfrm>
            <a:off x="5559552" y="1246505"/>
            <a:ext cx="248666" cy="184404"/>
          </a:xfrm>
          <a:prstGeom prst="rect">
            <a:avLst/>
          </a:prstGeom>
          <a:blipFill>
            <a:blip r:embed="rId2" cstate="print"/>
            <a:stretch>
              <a:fillRect/>
            </a:stretch>
          </a:blipFill>
        </p:spPr>
        <p:txBody>
          <a:bodyPr wrap="square" lIns="0" tIns="0" rIns="0" bIns="0" rtlCol="0"/>
          <a:lstStyle/>
          <a:p>
            <a:endParaRPr/>
          </a:p>
        </p:txBody>
      </p:sp>
      <p:sp>
        <p:nvSpPr>
          <p:cNvPr id="20" name="object 20"/>
          <p:cNvSpPr txBox="1"/>
          <p:nvPr/>
        </p:nvSpPr>
        <p:spPr>
          <a:xfrm>
            <a:off x="6941311" y="1246378"/>
            <a:ext cx="197548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Partner </a:t>
            </a:r>
            <a:r>
              <a:rPr sz="1000" spc="-5" dirty="0">
                <a:latin typeface="Arial"/>
                <a:cs typeface="Arial"/>
              </a:rPr>
              <a:t>(e.g., de-fleeting</a:t>
            </a:r>
            <a:r>
              <a:rPr sz="1000" spc="-50" dirty="0">
                <a:latin typeface="Arial"/>
                <a:cs typeface="Arial"/>
              </a:rPr>
              <a:t> </a:t>
            </a:r>
            <a:r>
              <a:rPr sz="1000" spc="-10" dirty="0">
                <a:latin typeface="Arial"/>
                <a:cs typeface="Arial"/>
              </a:rPr>
              <a:t>company)</a:t>
            </a:r>
            <a:endParaRPr sz="1000">
              <a:latin typeface="Arial"/>
              <a:cs typeface="Arial"/>
            </a:endParaRPr>
          </a:p>
        </p:txBody>
      </p:sp>
      <p:sp>
        <p:nvSpPr>
          <p:cNvPr id="21" name="object 21"/>
          <p:cNvSpPr/>
          <p:nvPr/>
        </p:nvSpPr>
        <p:spPr>
          <a:xfrm>
            <a:off x="6530720" y="1250314"/>
            <a:ext cx="328802" cy="177673"/>
          </a:xfrm>
          <a:prstGeom prst="rect">
            <a:avLst/>
          </a:prstGeom>
          <a:blipFill>
            <a:blip r:embed="rId3" cstate="print"/>
            <a:stretch>
              <a:fillRect/>
            </a:stretch>
          </a:blipFill>
        </p:spPr>
        <p:txBody>
          <a:bodyPr wrap="square" lIns="0" tIns="0" rIns="0" bIns="0" rtlCol="0"/>
          <a:lstStyle/>
          <a:p>
            <a:endParaRPr/>
          </a:p>
        </p:txBody>
      </p:sp>
      <p:sp>
        <p:nvSpPr>
          <p:cNvPr id="22" name="object 22"/>
          <p:cNvSpPr txBox="1"/>
          <p:nvPr/>
        </p:nvSpPr>
        <p:spPr>
          <a:xfrm>
            <a:off x="4765928" y="1246378"/>
            <a:ext cx="56578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Eurobank</a:t>
            </a:r>
            <a:endParaRPr sz="1000">
              <a:latin typeface="Arial"/>
              <a:cs typeface="Arial"/>
            </a:endParaRPr>
          </a:p>
        </p:txBody>
      </p:sp>
      <p:sp>
        <p:nvSpPr>
          <p:cNvPr id="23" name="object 23"/>
          <p:cNvSpPr/>
          <p:nvPr/>
        </p:nvSpPr>
        <p:spPr>
          <a:xfrm>
            <a:off x="4498721" y="1256830"/>
            <a:ext cx="181983" cy="163918"/>
          </a:xfrm>
          <a:prstGeom prst="rect">
            <a:avLst/>
          </a:prstGeom>
          <a:blipFill>
            <a:blip r:embed="rId4" cstate="print"/>
            <a:stretch>
              <a:fillRect/>
            </a:stretch>
          </a:blipFill>
        </p:spPr>
        <p:txBody>
          <a:bodyPr wrap="square" lIns="0" tIns="0" rIns="0" bIns="0" rtlCol="0"/>
          <a:lstStyle/>
          <a:p>
            <a:endParaRPr/>
          </a:p>
        </p:txBody>
      </p:sp>
      <p:sp>
        <p:nvSpPr>
          <p:cNvPr id="24" name="object 24"/>
          <p:cNvSpPr txBox="1"/>
          <p:nvPr/>
        </p:nvSpPr>
        <p:spPr>
          <a:xfrm>
            <a:off x="542036" y="2029206"/>
            <a:ext cx="1278255"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a:cs typeface="Arial"/>
              </a:rPr>
              <a:t>Main</a:t>
            </a:r>
            <a:r>
              <a:rPr sz="1400" b="1" spc="-100" dirty="0">
                <a:latin typeface="Arial"/>
                <a:cs typeface="Arial"/>
              </a:rPr>
              <a:t> </a:t>
            </a:r>
            <a:r>
              <a:rPr sz="1400" b="1" spc="-5" dirty="0">
                <a:latin typeface="Arial"/>
                <a:cs typeface="Arial"/>
              </a:rPr>
              <a:t>functions</a:t>
            </a:r>
            <a:endParaRPr sz="1400">
              <a:latin typeface="Arial"/>
              <a:cs typeface="Arial"/>
            </a:endParaRPr>
          </a:p>
        </p:txBody>
      </p:sp>
      <p:sp>
        <p:nvSpPr>
          <p:cNvPr id="25" name="object 25"/>
          <p:cNvSpPr/>
          <p:nvPr/>
        </p:nvSpPr>
        <p:spPr>
          <a:xfrm>
            <a:off x="554736" y="2282698"/>
            <a:ext cx="1624330" cy="0"/>
          </a:xfrm>
          <a:custGeom>
            <a:avLst/>
            <a:gdLst/>
            <a:ahLst/>
            <a:cxnLst/>
            <a:rect l="l" t="t" r="r" b="b"/>
            <a:pathLst>
              <a:path w="1624330">
                <a:moveTo>
                  <a:pt x="0" y="0"/>
                </a:moveTo>
                <a:lnTo>
                  <a:pt x="1624076" y="0"/>
                </a:lnTo>
              </a:path>
            </a:pathLst>
          </a:custGeom>
          <a:ln w="12700">
            <a:solidFill>
              <a:srgbClr val="757575"/>
            </a:solidFill>
          </a:ln>
        </p:spPr>
        <p:txBody>
          <a:bodyPr wrap="square" lIns="0" tIns="0" rIns="0" bIns="0" rtlCol="0"/>
          <a:lstStyle/>
          <a:p>
            <a:endParaRPr/>
          </a:p>
        </p:txBody>
      </p:sp>
      <p:sp>
        <p:nvSpPr>
          <p:cNvPr id="26" name="object 26"/>
          <p:cNvSpPr/>
          <p:nvPr/>
        </p:nvSpPr>
        <p:spPr>
          <a:xfrm>
            <a:off x="554736" y="5667476"/>
            <a:ext cx="1624330" cy="315595"/>
          </a:xfrm>
          <a:custGeom>
            <a:avLst/>
            <a:gdLst/>
            <a:ahLst/>
            <a:cxnLst/>
            <a:rect l="l" t="t" r="r" b="b"/>
            <a:pathLst>
              <a:path w="1624330" h="315595">
                <a:moveTo>
                  <a:pt x="0" y="315328"/>
                </a:moveTo>
                <a:lnTo>
                  <a:pt x="1624076" y="315328"/>
                </a:lnTo>
                <a:lnTo>
                  <a:pt x="1624076" y="0"/>
                </a:lnTo>
                <a:lnTo>
                  <a:pt x="0" y="0"/>
                </a:lnTo>
                <a:lnTo>
                  <a:pt x="0" y="315328"/>
                </a:lnTo>
                <a:close/>
              </a:path>
            </a:pathLst>
          </a:custGeom>
          <a:solidFill>
            <a:srgbClr val="051F79"/>
          </a:solidFill>
        </p:spPr>
        <p:txBody>
          <a:bodyPr wrap="square" lIns="0" tIns="0" rIns="0" bIns="0" rtlCol="0"/>
          <a:lstStyle/>
          <a:p>
            <a:endParaRPr/>
          </a:p>
        </p:txBody>
      </p:sp>
      <p:sp>
        <p:nvSpPr>
          <p:cNvPr id="27" name="object 27"/>
          <p:cNvSpPr/>
          <p:nvPr/>
        </p:nvSpPr>
        <p:spPr>
          <a:xfrm>
            <a:off x="554736" y="5667476"/>
            <a:ext cx="1624330" cy="315595"/>
          </a:xfrm>
          <a:custGeom>
            <a:avLst/>
            <a:gdLst/>
            <a:ahLst/>
            <a:cxnLst/>
            <a:rect l="l" t="t" r="r" b="b"/>
            <a:pathLst>
              <a:path w="1624330" h="315595">
                <a:moveTo>
                  <a:pt x="0" y="315328"/>
                </a:moveTo>
                <a:lnTo>
                  <a:pt x="1624076" y="315328"/>
                </a:lnTo>
                <a:lnTo>
                  <a:pt x="1624076" y="0"/>
                </a:lnTo>
                <a:lnTo>
                  <a:pt x="0" y="0"/>
                </a:lnTo>
                <a:lnTo>
                  <a:pt x="0" y="315328"/>
                </a:lnTo>
                <a:close/>
              </a:path>
            </a:pathLst>
          </a:custGeom>
          <a:ln w="6350">
            <a:solidFill>
              <a:srgbClr val="051F79"/>
            </a:solidFill>
          </a:ln>
        </p:spPr>
        <p:txBody>
          <a:bodyPr wrap="square" lIns="0" tIns="0" rIns="0" bIns="0" rtlCol="0"/>
          <a:lstStyle/>
          <a:p>
            <a:endParaRPr/>
          </a:p>
        </p:txBody>
      </p:sp>
      <p:sp>
        <p:nvSpPr>
          <p:cNvPr id="28" name="object 28"/>
          <p:cNvSpPr txBox="1"/>
          <p:nvPr/>
        </p:nvSpPr>
        <p:spPr>
          <a:xfrm>
            <a:off x="595376" y="5717540"/>
            <a:ext cx="379095" cy="208279"/>
          </a:xfrm>
          <a:prstGeom prst="rect">
            <a:avLst/>
          </a:prstGeom>
        </p:spPr>
        <p:txBody>
          <a:bodyPr vert="horz" wrap="square" lIns="0" tIns="12700" rIns="0" bIns="0" rtlCol="0">
            <a:spAutoFit/>
          </a:bodyPr>
          <a:lstStyle/>
          <a:p>
            <a:pPr marL="12700">
              <a:lnSpc>
                <a:spcPct val="100000"/>
              </a:lnSpc>
              <a:spcBef>
                <a:spcPts val="100"/>
              </a:spcBef>
            </a:pPr>
            <a:r>
              <a:rPr sz="1200" b="1" spc="-85" dirty="0">
                <a:solidFill>
                  <a:srgbClr val="FFFFFF"/>
                </a:solidFill>
                <a:latin typeface="Arial"/>
                <a:cs typeface="Arial"/>
              </a:rPr>
              <a:t>T</a:t>
            </a:r>
            <a:r>
              <a:rPr sz="1200" b="1" dirty="0">
                <a:solidFill>
                  <a:srgbClr val="FFFFFF"/>
                </a:solidFill>
                <a:latin typeface="Arial"/>
                <a:cs typeface="Arial"/>
              </a:rPr>
              <a:t>o</a:t>
            </a:r>
            <a:r>
              <a:rPr sz="1200" b="1" spc="-5" dirty="0">
                <a:solidFill>
                  <a:srgbClr val="FFFFFF"/>
                </a:solidFill>
                <a:latin typeface="Arial"/>
                <a:cs typeface="Arial"/>
              </a:rPr>
              <a:t>t</a:t>
            </a:r>
            <a:r>
              <a:rPr sz="1200" b="1" dirty="0">
                <a:solidFill>
                  <a:srgbClr val="FFFFFF"/>
                </a:solidFill>
                <a:latin typeface="Arial"/>
                <a:cs typeface="Arial"/>
              </a:rPr>
              <a:t>al</a:t>
            </a:r>
            <a:endParaRPr sz="1200">
              <a:latin typeface="Arial"/>
              <a:cs typeface="Arial"/>
            </a:endParaRPr>
          </a:p>
        </p:txBody>
      </p:sp>
      <p:sp>
        <p:nvSpPr>
          <p:cNvPr id="29" name="object 29"/>
          <p:cNvSpPr txBox="1"/>
          <p:nvPr/>
        </p:nvSpPr>
        <p:spPr>
          <a:xfrm>
            <a:off x="554736" y="5121630"/>
            <a:ext cx="1624330" cy="462280"/>
          </a:xfrm>
          <a:prstGeom prst="rect">
            <a:avLst/>
          </a:prstGeom>
          <a:solidFill>
            <a:srgbClr val="009DD9"/>
          </a:solidFill>
        </p:spPr>
        <p:txBody>
          <a:bodyPr vert="horz" wrap="square" lIns="0" tIns="44450" rIns="0" bIns="0" rtlCol="0">
            <a:spAutoFit/>
          </a:bodyPr>
          <a:lstStyle/>
          <a:p>
            <a:pPr marL="53340" marR="494030">
              <a:lnSpc>
                <a:spcPct val="100000"/>
              </a:lnSpc>
              <a:spcBef>
                <a:spcPts val="350"/>
              </a:spcBef>
            </a:pPr>
            <a:r>
              <a:rPr sz="1200" b="1" spc="-5" dirty="0">
                <a:solidFill>
                  <a:srgbClr val="FFFFFF"/>
                </a:solidFill>
                <a:latin typeface="Arial"/>
                <a:cs typeface="Arial"/>
              </a:rPr>
              <a:t>Credit </a:t>
            </a:r>
            <a:r>
              <a:rPr sz="1200" b="1" dirty="0">
                <a:solidFill>
                  <a:srgbClr val="FFFFFF"/>
                </a:solidFill>
                <a:latin typeface="Arial"/>
                <a:cs typeface="Arial"/>
              </a:rPr>
              <a:t>and</a:t>
            </a:r>
            <a:r>
              <a:rPr sz="1200" b="1" spc="-65" dirty="0">
                <a:solidFill>
                  <a:srgbClr val="FFFFFF"/>
                </a:solidFill>
                <a:latin typeface="Arial"/>
                <a:cs typeface="Arial"/>
              </a:rPr>
              <a:t> </a:t>
            </a:r>
            <a:r>
              <a:rPr sz="1200" b="1" spc="-5" dirty="0">
                <a:solidFill>
                  <a:srgbClr val="FFFFFF"/>
                </a:solidFill>
                <a:latin typeface="Arial"/>
                <a:cs typeface="Arial"/>
              </a:rPr>
              <a:t>risk  assessment</a:t>
            </a:r>
            <a:endParaRPr sz="1200">
              <a:latin typeface="Arial"/>
              <a:cs typeface="Arial"/>
            </a:endParaRPr>
          </a:p>
        </p:txBody>
      </p:sp>
      <p:sp>
        <p:nvSpPr>
          <p:cNvPr id="30" name="object 30"/>
          <p:cNvSpPr txBox="1"/>
          <p:nvPr/>
        </p:nvSpPr>
        <p:spPr>
          <a:xfrm>
            <a:off x="554736" y="2392146"/>
            <a:ext cx="1624330" cy="462280"/>
          </a:xfrm>
          <a:prstGeom prst="rect">
            <a:avLst/>
          </a:prstGeom>
          <a:solidFill>
            <a:srgbClr val="00A9F4"/>
          </a:solidFill>
        </p:spPr>
        <p:txBody>
          <a:bodyPr vert="horz" wrap="square" lIns="0" tIns="43815" rIns="0" bIns="0" rtlCol="0">
            <a:spAutoFit/>
          </a:bodyPr>
          <a:lstStyle/>
          <a:p>
            <a:pPr marL="53340">
              <a:lnSpc>
                <a:spcPct val="100000"/>
              </a:lnSpc>
              <a:spcBef>
                <a:spcPts val="345"/>
              </a:spcBef>
            </a:pPr>
            <a:r>
              <a:rPr sz="1200" b="1" spc="-5" dirty="0">
                <a:solidFill>
                  <a:srgbClr val="FFFFFF"/>
                </a:solidFill>
                <a:latin typeface="Arial"/>
                <a:cs typeface="Arial"/>
              </a:rPr>
              <a:t>Product </a:t>
            </a:r>
            <a:r>
              <a:rPr sz="1200" b="1" dirty="0">
                <a:solidFill>
                  <a:srgbClr val="FFFFFF"/>
                </a:solidFill>
                <a:latin typeface="Arial"/>
                <a:cs typeface="Arial"/>
              </a:rPr>
              <a:t>and</a:t>
            </a:r>
            <a:endParaRPr sz="1200">
              <a:latin typeface="Arial"/>
              <a:cs typeface="Arial"/>
            </a:endParaRPr>
          </a:p>
          <a:p>
            <a:pPr marL="53340">
              <a:lnSpc>
                <a:spcPct val="100000"/>
              </a:lnSpc>
            </a:pPr>
            <a:r>
              <a:rPr sz="1200" b="1" spc="-5" dirty="0">
                <a:solidFill>
                  <a:srgbClr val="FFFFFF"/>
                </a:solidFill>
                <a:latin typeface="Arial"/>
                <a:cs typeface="Arial"/>
              </a:rPr>
              <a:t>commercial</a:t>
            </a:r>
            <a:r>
              <a:rPr sz="1200" b="1" spc="-55" dirty="0">
                <a:solidFill>
                  <a:srgbClr val="FFFFFF"/>
                </a:solidFill>
                <a:latin typeface="Arial"/>
                <a:cs typeface="Arial"/>
              </a:rPr>
              <a:t> </a:t>
            </a:r>
            <a:r>
              <a:rPr sz="1200" b="1" dirty="0">
                <a:solidFill>
                  <a:srgbClr val="FFFFFF"/>
                </a:solidFill>
                <a:latin typeface="Arial"/>
                <a:cs typeface="Arial"/>
              </a:rPr>
              <a:t>strategy</a:t>
            </a:r>
            <a:endParaRPr sz="1200">
              <a:latin typeface="Arial"/>
              <a:cs typeface="Arial"/>
            </a:endParaRPr>
          </a:p>
        </p:txBody>
      </p:sp>
      <p:sp>
        <p:nvSpPr>
          <p:cNvPr id="31" name="object 31"/>
          <p:cNvSpPr txBox="1"/>
          <p:nvPr/>
        </p:nvSpPr>
        <p:spPr>
          <a:xfrm>
            <a:off x="554736" y="2938119"/>
            <a:ext cx="1624330" cy="462280"/>
          </a:xfrm>
          <a:prstGeom prst="rect">
            <a:avLst/>
          </a:prstGeom>
          <a:solidFill>
            <a:srgbClr val="00A9F4"/>
          </a:solidFill>
        </p:spPr>
        <p:txBody>
          <a:bodyPr vert="horz" wrap="square" lIns="0" tIns="135255" rIns="0" bIns="0" rtlCol="0">
            <a:spAutoFit/>
          </a:bodyPr>
          <a:lstStyle/>
          <a:p>
            <a:pPr marL="53340">
              <a:lnSpc>
                <a:spcPct val="100000"/>
              </a:lnSpc>
              <a:spcBef>
                <a:spcPts val="1065"/>
              </a:spcBef>
            </a:pPr>
            <a:r>
              <a:rPr sz="1200" b="1" dirty="0">
                <a:solidFill>
                  <a:srgbClr val="FFFFFF"/>
                </a:solidFill>
                <a:latin typeface="Arial"/>
                <a:cs typeface="Arial"/>
              </a:rPr>
              <a:t>Sales</a:t>
            </a:r>
            <a:endParaRPr sz="1200">
              <a:latin typeface="Arial"/>
              <a:cs typeface="Arial"/>
            </a:endParaRPr>
          </a:p>
        </p:txBody>
      </p:sp>
      <p:sp>
        <p:nvSpPr>
          <p:cNvPr id="32" name="object 32"/>
          <p:cNvSpPr txBox="1"/>
          <p:nvPr/>
        </p:nvSpPr>
        <p:spPr>
          <a:xfrm>
            <a:off x="554736" y="3483965"/>
            <a:ext cx="1624330" cy="462280"/>
          </a:xfrm>
          <a:prstGeom prst="rect">
            <a:avLst/>
          </a:prstGeom>
          <a:solidFill>
            <a:srgbClr val="00A9F4"/>
          </a:solidFill>
        </p:spPr>
        <p:txBody>
          <a:bodyPr vert="horz" wrap="square" lIns="0" tIns="135255" rIns="0" bIns="0" rtlCol="0">
            <a:spAutoFit/>
          </a:bodyPr>
          <a:lstStyle/>
          <a:p>
            <a:pPr marL="53340">
              <a:lnSpc>
                <a:spcPct val="100000"/>
              </a:lnSpc>
              <a:spcBef>
                <a:spcPts val="1065"/>
              </a:spcBef>
            </a:pPr>
            <a:r>
              <a:rPr sz="1200" b="1" dirty="0">
                <a:solidFill>
                  <a:srgbClr val="FFFFFF"/>
                </a:solidFill>
                <a:latin typeface="Arial"/>
                <a:cs typeface="Arial"/>
              </a:rPr>
              <a:t>Operations</a:t>
            </a:r>
            <a:endParaRPr sz="1200">
              <a:latin typeface="Arial"/>
              <a:cs typeface="Arial"/>
            </a:endParaRPr>
          </a:p>
        </p:txBody>
      </p:sp>
      <p:sp>
        <p:nvSpPr>
          <p:cNvPr id="33" name="object 33"/>
          <p:cNvSpPr txBox="1"/>
          <p:nvPr/>
        </p:nvSpPr>
        <p:spPr>
          <a:xfrm>
            <a:off x="554736" y="4575657"/>
            <a:ext cx="1624330" cy="462280"/>
          </a:xfrm>
          <a:prstGeom prst="rect">
            <a:avLst/>
          </a:prstGeom>
          <a:solidFill>
            <a:srgbClr val="00A9F4"/>
          </a:solidFill>
        </p:spPr>
        <p:txBody>
          <a:bodyPr vert="horz" wrap="square" lIns="0" tIns="135890" rIns="0" bIns="0" rtlCol="0">
            <a:spAutoFit/>
          </a:bodyPr>
          <a:lstStyle/>
          <a:p>
            <a:pPr marL="53340">
              <a:lnSpc>
                <a:spcPct val="100000"/>
              </a:lnSpc>
              <a:spcBef>
                <a:spcPts val="1070"/>
              </a:spcBef>
            </a:pPr>
            <a:r>
              <a:rPr sz="1200" b="1" spc="-5" dirty="0">
                <a:solidFill>
                  <a:srgbClr val="FFFFFF"/>
                </a:solidFill>
                <a:latin typeface="Arial"/>
                <a:cs typeface="Arial"/>
              </a:rPr>
              <a:t>Remarketing</a:t>
            </a:r>
            <a:endParaRPr sz="1200">
              <a:latin typeface="Arial"/>
              <a:cs typeface="Arial"/>
            </a:endParaRPr>
          </a:p>
        </p:txBody>
      </p:sp>
      <p:sp>
        <p:nvSpPr>
          <p:cNvPr id="34" name="object 34"/>
          <p:cNvSpPr txBox="1"/>
          <p:nvPr/>
        </p:nvSpPr>
        <p:spPr>
          <a:xfrm>
            <a:off x="554736" y="4029811"/>
            <a:ext cx="1624330" cy="462280"/>
          </a:xfrm>
          <a:prstGeom prst="rect">
            <a:avLst/>
          </a:prstGeom>
          <a:solidFill>
            <a:srgbClr val="00A9F4"/>
          </a:solidFill>
        </p:spPr>
        <p:txBody>
          <a:bodyPr vert="horz" wrap="square" lIns="0" tIns="135255" rIns="0" bIns="0" rtlCol="0">
            <a:spAutoFit/>
          </a:bodyPr>
          <a:lstStyle/>
          <a:p>
            <a:pPr marL="53340">
              <a:lnSpc>
                <a:spcPct val="100000"/>
              </a:lnSpc>
              <a:spcBef>
                <a:spcPts val="1065"/>
              </a:spcBef>
            </a:pPr>
            <a:r>
              <a:rPr sz="1200" b="1" spc="-5" dirty="0">
                <a:solidFill>
                  <a:srgbClr val="FFFFFF"/>
                </a:solidFill>
                <a:latin typeface="Arial"/>
                <a:cs typeface="Arial"/>
              </a:rPr>
              <a:t>Repossession</a:t>
            </a:r>
            <a:endParaRPr sz="1200">
              <a:latin typeface="Arial"/>
              <a:cs typeface="Arial"/>
            </a:endParaRPr>
          </a:p>
        </p:txBody>
      </p:sp>
      <p:sp>
        <p:nvSpPr>
          <p:cNvPr id="35" name="object 35"/>
          <p:cNvSpPr txBox="1"/>
          <p:nvPr/>
        </p:nvSpPr>
        <p:spPr>
          <a:xfrm>
            <a:off x="4035044" y="4168902"/>
            <a:ext cx="6539230" cy="177800"/>
          </a:xfrm>
          <a:prstGeom prst="rect">
            <a:avLst/>
          </a:prstGeom>
        </p:spPr>
        <p:txBody>
          <a:bodyPr vert="horz" wrap="square" lIns="0" tIns="12065" rIns="0" bIns="0" rtlCol="0">
            <a:spAutoFit/>
          </a:bodyPr>
          <a:lstStyle/>
          <a:p>
            <a:pPr marL="12700">
              <a:lnSpc>
                <a:spcPct val="100000"/>
              </a:lnSpc>
              <a:spcBef>
                <a:spcPts val="95"/>
              </a:spcBef>
            </a:pPr>
            <a:r>
              <a:rPr sz="1000" i="1" spc="-10" dirty="0">
                <a:latin typeface="Arial"/>
                <a:cs typeface="Arial"/>
              </a:rPr>
              <a:t>+~2 </a:t>
            </a:r>
            <a:r>
              <a:rPr sz="1000" i="1" spc="-5" dirty="0">
                <a:latin typeface="Arial"/>
                <a:cs typeface="Arial"/>
              </a:rPr>
              <a:t>FTEs across </a:t>
            </a:r>
            <a:r>
              <a:rPr sz="1000" i="1" spc="-10" dirty="0">
                <a:latin typeface="Arial"/>
                <a:cs typeface="Arial"/>
              </a:rPr>
              <a:t>loan and leasing </a:t>
            </a:r>
            <a:r>
              <a:rPr sz="1000" i="1" spc="-5" dirty="0">
                <a:latin typeface="Arial"/>
                <a:cs typeface="Arial"/>
              </a:rPr>
              <a:t>(e.g., 1 FTE for </a:t>
            </a:r>
            <a:r>
              <a:rPr sz="1000" i="1" spc="-10" dirty="0">
                <a:latin typeface="Arial"/>
                <a:cs typeface="Arial"/>
              </a:rPr>
              <a:t>PMO, 0.5 </a:t>
            </a:r>
            <a:r>
              <a:rPr sz="1000" i="1" spc="-5" dirty="0">
                <a:latin typeface="Arial"/>
                <a:cs typeface="Arial"/>
              </a:rPr>
              <a:t>FTE for </a:t>
            </a:r>
            <a:r>
              <a:rPr sz="1000" i="1" spc="-10" dirty="0">
                <a:latin typeface="Arial"/>
                <a:cs typeface="Arial"/>
              </a:rPr>
              <a:t>SLA </a:t>
            </a:r>
            <a:r>
              <a:rPr sz="1000" i="1" spc="-5" dirty="0">
                <a:latin typeface="Arial"/>
                <a:cs typeface="Arial"/>
              </a:rPr>
              <a:t>steering, </a:t>
            </a:r>
            <a:r>
              <a:rPr sz="1000" i="1" spc="-10" dirty="0">
                <a:latin typeface="Arial"/>
                <a:cs typeface="Arial"/>
              </a:rPr>
              <a:t>0.5 </a:t>
            </a:r>
            <a:r>
              <a:rPr sz="1000" i="1" spc="-5" dirty="0">
                <a:latin typeface="Arial"/>
                <a:cs typeface="Arial"/>
              </a:rPr>
              <a:t>FTE for </a:t>
            </a:r>
            <a:r>
              <a:rPr sz="1000" i="1" spc="-10" dirty="0">
                <a:latin typeface="Arial"/>
                <a:cs typeface="Arial"/>
              </a:rPr>
              <a:t>remarketing</a:t>
            </a:r>
            <a:r>
              <a:rPr sz="1000" i="1" spc="155" dirty="0">
                <a:latin typeface="Arial"/>
                <a:cs typeface="Arial"/>
              </a:rPr>
              <a:t> </a:t>
            </a:r>
            <a:r>
              <a:rPr sz="1000" i="1" spc="-5" dirty="0">
                <a:latin typeface="Arial"/>
                <a:cs typeface="Arial"/>
              </a:rPr>
              <a:t>strategy)</a:t>
            </a:r>
            <a:endParaRPr sz="1000">
              <a:latin typeface="Arial"/>
              <a:cs typeface="Arial"/>
            </a:endParaRPr>
          </a:p>
        </p:txBody>
      </p:sp>
      <p:sp>
        <p:nvSpPr>
          <p:cNvPr id="36" name="object 36"/>
          <p:cNvSpPr/>
          <p:nvPr/>
        </p:nvSpPr>
        <p:spPr>
          <a:xfrm>
            <a:off x="7586471" y="2282698"/>
            <a:ext cx="3349625" cy="0"/>
          </a:xfrm>
          <a:custGeom>
            <a:avLst/>
            <a:gdLst/>
            <a:ahLst/>
            <a:cxnLst/>
            <a:rect l="l" t="t" r="r" b="b"/>
            <a:pathLst>
              <a:path w="3349625">
                <a:moveTo>
                  <a:pt x="0" y="0"/>
                </a:moveTo>
                <a:lnTo>
                  <a:pt x="3349498" y="0"/>
                </a:lnTo>
              </a:path>
            </a:pathLst>
          </a:custGeom>
          <a:ln w="12700">
            <a:solidFill>
              <a:srgbClr val="757575"/>
            </a:solidFill>
          </a:ln>
        </p:spPr>
        <p:txBody>
          <a:bodyPr wrap="square" lIns="0" tIns="0" rIns="0" bIns="0" rtlCol="0"/>
          <a:lstStyle/>
          <a:p>
            <a:endParaRPr/>
          </a:p>
        </p:txBody>
      </p:sp>
      <p:sp>
        <p:nvSpPr>
          <p:cNvPr id="37" name="object 37"/>
          <p:cNvSpPr txBox="1"/>
          <p:nvPr/>
        </p:nvSpPr>
        <p:spPr>
          <a:xfrm>
            <a:off x="7574660" y="2029206"/>
            <a:ext cx="698500" cy="239395"/>
          </a:xfrm>
          <a:prstGeom prst="rect">
            <a:avLst/>
          </a:prstGeom>
        </p:spPr>
        <p:txBody>
          <a:bodyPr vert="horz" wrap="square" lIns="0" tIns="13335" rIns="0" bIns="0" rtlCol="0">
            <a:spAutoFit/>
          </a:bodyPr>
          <a:lstStyle/>
          <a:p>
            <a:pPr marL="12700">
              <a:lnSpc>
                <a:spcPct val="100000"/>
              </a:lnSpc>
              <a:spcBef>
                <a:spcPts val="105"/>
              </a:spcBef>
            </a:pPr>
            <a:r>
              <a:rPr sz="1400" b="1" spc="-10" dirty="0">
                <a:latin typeface="Arial"/>
                <a:cs typeface="Arial"/>
              </a:rPr>
              <a:t>L</a:t>
            </a:r>
            <a:r>
              <a:rPr sz="1400" b="1" spc="-5" dirty="0">
                <a:latin typeface="Arial"/>
                <a:cs typeface="Arial"/>
              </a:rPr>
              <a:t>easing</a:t>
            </a:r>
            <a:endParaRPr sz="1400">
              <a:latin typeface="Arial"/>
              <a:cs typeface="Arial"/>
            </a:endParaRPr>
          </a:p>
        </p:txBody>
      </p:sp>
      <p:sp>
        <p:nvSpPr>
          <p:cNvPr id="38" name="object 38"/>
          <p:cNvSpPr/>
          <p:nvPr/>
        </p:nvSpPr>
        <p:spPr>
          <a:xfrm>
            <a:off x="7586471" y="5680760"/>
            <a:ext cx="478790" cy="288925"/>
          </a:xfrm>
          <a:custGeom>
            <a:avLst/>
            <a:gdLst/>
            <a:ahLst/>
            <a:cxnLst/>
            <a:rect l="l" t="t" r="r" b="b"/>
            <a:pathLst>
              <a:path w="478790" h="288925">
                <a:moveTo>
                  <a:pt x="239395" y="0"/>
                </a:moveTo>
                <a:lnTo>
                  <a:pt x="184506" y="3813"/>
                </a:lnTo>
                <a:lnTo>
                  <a:pt x="134118" y="14675"/>
                </a:lnTo>
                <a:lnTo>
                  <a:pt x="89668" y="31718"/>
                </a:lnTo>
                <a:lnTo>
                  <a:pt x="52594" y="54077"/>
                </a:lnTo>
                <a:lnTo>
                  <a:pt x="24333" y="80883"/>
                </a:lnTo>
                <a:lnTo>
                  <a:pt x="0" y="144373"/>
                </a:lnTo>
                <a:lnTo>
                  <a:pt x="6322" y="177480"/>
                </a:lnTo>
                <a:lnTo>
                  <a:pt x="52594" y="234680"/>
                </a:lnTo>
                <a:lnTo>
                  <a:pt x="89668" y="257040"/>
                </a:lnTo>
                <a:lnTo>
                  <a:pt x="134118" y="274084"/>
                </a:lnTo>
                <a:lnTo>
                  <a:pt x="184506" y="284946"/>
                </a:lnTo>
                <a:lnTo>
                  <a:pt x="239395" y="288759"/>
                </a:lnTo>
                <a:lnTo>
                  <a:pt x="294276" y="284946"/>
                </a:lnTo>
                <a:lnTo>
                  <a:pt x="344646" y="274084"/>
                </a:lnTo>
                <a:lnTo>
                  <a:pt x="389071" y="257040"/>
                </a:lnTo>
                <a:lnTo>
                  <a:pt x="426118" y="234680"/>
                </a:lnTo>
                <a:lnTo>
                  <a:pt x="454354" y="207871"/>
                </a:lnTo>
                <a:lnTo>
                  <a:pt x="478662" y="144373"/>
                </a:lnTo>
                <a:lnTo>
                  <a:pt x="472347" y="111271"/>
                </a:lnTo>
                <a:lnTo>
                  <a:pt x="426118" y="54077"/>
                </a:lnTo>
                <a:lnTo>
                  <a:pt x="389071" y="31718"/>
                </a:lnTo>
                <a:lnTo>
                  <a:pt x="344646" y="14675"/>
                </a:lnTo>
                <a:lnTo>
                  <a:pt x="294276" y="3813"/>
                </a:lnTo>
                <a:lnTo>
                  <a:pt x="239395" y="0"/>
                </a:lnTo>
                <a:close/>
              </a:path>
            </a:pathLst>
          </a:custGeom>
          <a:solidFill>
            <a:srgbClr val="B6C5FA"/>
          </a:solidFill>
        </p:spPr>
        <p:txBody>
          <a:bodyPr wrap="square" lIns="0" tIns="0" rIns="0" bIns="0" rtlCol="0"/>
          <a:lstStyle/>
          <a:p>
            <a:endParaRPr/>
          </a:p>
        </p:txBody>
      </p:sp>
      <p:sp>
        <p:nvSpPr>
          <p:cNvPr id="39" name="object 39"/>
          <p:cNvSpPr txBox="1"/>
          <p:nvPr/>
        </p:nvSpPr>
        <p:spPr>
          <a:xfrm>
            <a:off x="7779257" y="5734303"/>
            <a:ext cx="95885"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051F79"/>
                </a:solidFill>
                <a:latin typeface="Arial"/>
                <a:cs typeface="Arial"/>
              </a:rPr>
              <a:t>7</a:t>
            </a:r>
            <a:endParaRPr sz="1000">
              <a:latin typeface="Arial"/>
              <a:cs typeface="Arial"/>
            </a:endParaRPr>
          </a:p>
        </p:txBody>
      </p:sp>
      <p:sp>
        <p:nvSpPr>
          <p:cNvPr id="40" name="object 40"/>
          <p:cNvSpPr/>
          <p:nvPr/>
        </p:nvSpPr>
        <p:spPr>
          <a:xfrm>
            <a:off x="7586471" y="5208015"/>
            <a:ext cx="478790" cy="288925"/>
          </a:xfrm>
          <a:custGeom>
            <a:avLst/>
            <a:gdLst/>
            <a:ahLst/>
            <a:cxnLst/>
            <a:rect l="l" t="t" r="r" b="b"/>
            <a:pathLst>
              <a:path w="478790" h="288925">
                <a:moveTo>
                  <a:pt x="239395" y="0"/>
                </a:moveTo>
                <a:lnTo>
                  <a:pt x="184506" y="3813"/>
                </a:lnTo>
                <a:lnTo>
                  <a:pt x="134118" y="14675"/>
                </a:lnTo>
                <a:lnTo>
                  <a:pt x="89668" y="31720"/>
                </a:lnTo>
                <a:lnTo>
                  <a:pt x="52594" y="54082"/>
                </a:lnTo>
                <a:lnTo>
                  <a:pt x="24333" y="80893"/>
                </a:lnTo>
                <a:lnTo>
                  <a:pt x="0" y="144398"/>
                </a:lnTo>
                <a:lnTo>
                  <a:pt x="6322" y="177510"/>
                </a:lnTo>
                <a:lnTo>
                  <a:pt x="52594" y="234715"/>
                </a:lnTo>
                <a:lnTo>
                  <a:pt x="89668" y="257077"/>
                </a:lnTo>
                <a:lnTo>
                  <a:pt x="134118" y="274122"/>
                </a:lnTo>
                <a:lnTo>
                  <a:pt x="184506" y="284984"/>
                </a:lnTo>
                <a:lnTo>
                  <a:pt x="239395" y="288797"/>
                </a:lnTo>
                <a:lnTo>
                  <a:pt x="294276" y="284984"/>
                </a:lnTo>
                <a:lnTo>
                  <a:pt x="344646" y="274122"/>
                </a:lnTo>
                <a:lnTo>
                  <a:pt x="389071" y="257077"/>
                </a:lnTo>
                <a:lnTo>
                  <a:pt x="426118" y="234715"/>
                </a:lnTo>
                <a:lnTo>
                  <a:pt x="454354" y="207904"/>
                </a:lnTo>
                <a:lnTo>
                  <a:pt x="478662" y="144398"/>
                </a:lnTo>
                <a:lnTo>
                  <a:pt x="472347" y="111287"/>
                </a:lnTo>
                <a:lnTo>
                  <a:pt x="426118" y="54082"/>
                </a:lnTo>
                <a:lnTo>
                  <a:pt x="389071" y="31720"/>
                </a:lnTo>
                <a:lnTo>
                  <a:pt x="344646" y="14675"/>
                </a:lnTo>
                <a:lnTo>
                  <a:pt x="294276" y="3813"/>
                </a:lnTo>
                <a:lnTo>
                  <a:pt x="239395" y="0"/>
                </a:lnTo>
                <a:close/>
              </a:path>
            </a:pathLst>
          </a:custGeom>
          <a:solidFill>
            <a:srgbClr val="B6C5FA"/>
          </a:solidFill>
        </p:spPr>
        <p:txBody>
          <a:bodyPr wrap="square" lIns="0" tIns="0" rIns="0" bIns="0" rtlCol="0"/>
          <a:lstStyle/>
          <a:p>
            <a:endParaRPr/>
          </a:p>
        </p:txBody>
      </p:sp>
      <p:sp>
        <p:nvSpPr>
          <p:cNvPr id="41" name="object 41"/>
          <p:cNvSpPr txBox="1"/>
          <p:nvPr/>
        </p:nvSpPr>
        <p:spPr>
          <a:xfrm>
            <a:off x="7779257" y="5261609"/>
            <a:ext cx="95885"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051F79"/>
                </a:solidFill>
                <a:latin typeface="Arial"/>
                <a:cs typeface="Arial"/>
              </a:rPr>
              <a:t>1</a:t>
            </a:r>
            <a:endParaRPr sz="1000">
              <a:latin typeface="Arial"/>
              <a:cs typeface="Arial"/>
            </a:endParaRPr>
          </a:p>
        </p:txBody>
      </p:sp>
      <p:sp>
        <p:nvSpPr>
          <p:cNvPr id="42" name="object 42"/>
          <p:cNvSpPr txBox="1"/>
          <p:nvPr/>
        </p:nvSpPr>
        <p:spPr>
          <a:xfrm>
            <a:off x="8122666" y="5260975"/>
            <a:ext cx="1400810" cy="177800"/>
          </a:xfrm>
          <a:prstGeom prst="rect">
            <a:avLst/>
          </a:prstGeom>
        </p:spPr>
        <p:txBody>
          <a:bodyPr vert="horz" wrap="square" lIns="0" tIns="12065" rIns="0" bIns="0" rtlCol="0">
            <a:spAutoFit/>
          </a:bodyPr>
          <a:lstStyle/>
          <a:p>
            <a:pPr marL="12700">
              <a:lnSpc>
                <a:spcPct val="100000"/>
              </a:lnSpc>
              <a:spcBef>
                <a:spcPts val="95"/>
              </a:spcBef>
            </a:pPr>
            <a:r>
              <a:rPr sz="1000" i="1" spc="-10" dirty="0">
                <a:latin typeface="Arial"/>
                <a:cs typeface="Arial"/>
              </a:rPr>
              <a:t>+1 </a:t>
            </a:r>
            <a:r>
              <a:rPr sz="1000" i="1" spc="-5" dirty="0">
                <a:latin typeface="Arial"/>
                <a:cs typeface="Arial"/>
              </a:rPr>
              <a:t>FTE for credit</a:t>
            </a:r>
            <a:r>
              <a:rPr sz="1000" i="1" spc="-45" dirty="0">
                <a:latin typeface="Arial"/>
                <a:cs typeface="Arial"/>
              </a:rPr>
              <a:t> </a:t>
            </a:r>
            <a:r>
              <a:rPr sz="1000" i="1" spc="-5" dirty="0">
                <a:latin typeface="Arial"/>
                <a:cs typeface="Arial"/>
              </a:rPr>
              <a:t>checks</a:t>
            </a:r>
            <a:endParaRPr sz="1000">
              <a:latin typeface="Arial"/>
              <a:cs typeface="Arial"/>
            </a:endParaRPr>
          </a:p>
        </p:txBody>
      </p:sp>
      <p:sp>
        <p:nvSpPr>
          <p:cNvPr id="43" name="object 43"/>
          <p:cNvSpPr/>
          <p:nvPr/>
        </p:nvSpPr>
        <p:spPr>
          <a:xfrm>
            <a:off x="7586471" y="2478658"/>
            <a:ext cx="478790" cy="288925"/>
          </a:xfrm>
          <a:custGeom>
            <a:avLst/>
            <a:gdLst/>
            <a:ahLst/>
            <a:cxnLst/>
            <a:rect l="l" t="t" r="r" b="b"/>
            <a:pathLst>
              <a:path w="478790" h="288925">
                <a:moveTo>
                  <a:pt x="239395" y="0"/>
                </a:moveTo>
                <a:lnTo>
                  <a:pt x="184506" y="3813"/>
                </a:lnTo>
                <a:lnTo>
                  <a:pt x="134118" y="14675"/>
                </a:lnTo>
                <a:lnTo>
                  <a:pt x="89668" y="31720"/>
                </a:lnTo>
                <a:lnTo>
                  <a:pt x="52594" y="54082"/>
                </a:lnTo>
                <a:lnTo>
                  <a:pt x="24333" y="80893"/>
                </a:lnTo>
                <a:lnTo>
                  <a:pt x="0" y="144399"/>
                </a:lnTo>
                <a:lnTo>
                  <a:pt x="6322" y="177510"/>
                </a:lnTo>
                <a:lnTo>
                  <a:pt x="52594" y="234715"/>
                </a:lnTo>
                <a:lnTo>
                  <a:pt x="89668" y="257077"/>
                </a:lnTo>
                <a:lnTo>
                  <a:pt x="134118" y="274122"/>
                </a:lnTo>
                <a:lnTo>
                  <a:pt x="184506" y="284984"/>
                </a:lnTo>
                <a:lnTo>
                  <a:pt x="239395" y="288798"/>
                </a:lnTo>
                <a:lnTo>
                  <a:pt x="294276" y="284984"/>
                </a:lnTo>
                <a:lnTo>
                  <a:pt x="344646" y="274122"/>
                </a:lnTo>
                <a:lnTo>
                  <a:pt x="389071" y="257077"/>
                </a:lnTo>
                <a:lnTo>
                  <a:pt x="426118" y="234715"/>
                </a:lnTo>
                <a:lnTo>
                  <a:pt x="454354" y="207904"/>
                </a:lnTo>
                <a:lnTo>
                  <a:pt x="478662" y="144399"/>
                </a:lnTo>
                <a:lnTo>
                  <a:pt x="472347" y="111287"/>
                </a:lnTo>
                <a:lnTo>
                  <a:pt x="426118" y="54082"/>
                </a:lnTo>
                <a:lnTo>
                  <a:pt x="389071" y="31720"/>
                </a:lnTo>
                <a:lnTo>
                  <a:pt x="344646" y="14675"/>
                </a:lnTo>
                <a:lnTo>
                  <a:pt x="294276" y="3813"/>
                </a:lnTo>
                <a:lnTo>
                  <a:pt x="239395" y="0"/>
                </a:lnTo>
                <a:close/>
              </a:path>
            </a:pathLst>
          </a:custGeom>
          <a:solidFill>
            <a:srgbClr val="B6C5FA"/>
          </a:solidFill>
        </p:spPr>
        <p:txBody>
          <a:bodyPr wrap="square" lIns="0" tIns="0" rIns="0" bIns="0" rtlCol="0"/>
          <a:lstStyle/>
          <a:p>
            <a:endParaRPr/>
          </a:p>
        </p:txBody>
      </p:sp>
      <p:sp>
        <p:nvSpPr>
          <p:cNvPr id="44" name="object 44"/>
          <p:cNvSpPr txBox="1"/>
          <p:nvPr/>
        </p:nvSpPr>
        <p:spPr>
          <a:xfrm>
            <a:off x="7779257" y="2531186"/>
            <a:ext cx="96520"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051F79"/>
                </a:solidFill>
                <a:latin typeface="Arial"/>
                <a:cs typeface="Arial"/>
              </a:rPr>
              <a:t>2</a:t>
            </a:r>
            <a:endParaRPr sz="1000">
              <a:latin typeface="Arial"/>
              <a:cs typeface="Arial"/>
            </a:endParaRPr>
          </a:p>
        </p:txBody>
      </p:sp>
      <p:sp>
        <p:nvSpPr>
          <p:cNvPr id="45" name="object 45"/>
          <p:cNvSpPr txBox="1"/>
          <p:nvPr/>
        </p:nvSpPr>
        <p:spPr>
          <a:xfrm>
            <a:off x="8122666" y="2454020"/>
            <a:ext cx="2767330" cy="330200"/>
          </a:xfrm>
          <a:prstGeom prst="rect">
            <a:avLst/>
          </a:prstGeom>
        </p:spPr>
        <p:txBody>
          <a:bodyPr vert="horz" wrap="square" lIns="0" tIns="12065" rIns="0" bIns="0" rtlCol="0">
            <a:spAutoFit/>
          </a:bodyPr>
          <a:lstStyle/>
          <a:p>
            <a:pPr marL="12700" marR="5080">
              <a:lnSpc>
                <a:spcPct val="100000"/>
              </a:lnSpc>
              <a:spcBef>
                <a:spcPts val="95"/>
              </a:spcBef>
            </a:pPr>
            <a:r>
              <a:rPr sz="1000" i="1" spc="-10" dirty="0">
                <a:latin typeface="Arial"/>
                <a:cs typeface="Arial"/>
              </a:rPr>
              <a:t>+2 </a:t>
            </a:r>
            <a:r>
              <a:rPr sz="1000" i="1" spc="-5" dirty="0">
                <a:latin typeface="Arial"/>
                <a:cs typeface="Arial"/>
              </a:rPr>
              <a:t>FTEs to </a:t>
            </a:r>
            <a:r>
              <a:rPr sz="1000" i="1" spc="-10" dirty="0">
                <a:latin typeface="Arial"/>
                <a:cs typeface="Arial"/>
              </a:rPr>
              <a:t>build </a:t>
            </a:r>
            <a:r>
              <a:rPr sz="1000" i="1" spc="-5" dirty="0">
                <a:latin typeface="Arial"/>
                <a:cs typeface="Arial"/>
              </a:rPr>
              <a:t>technical </a:t>
            </a:r>
            <a:r>
              <a:rPr sz="1000" i="1" spc="-10" dirty="0">
                <a:latin typeface="Arial"/>
                <a:cs typeface="Arial"/>
              </a:rPr>
              <a:t>pricing model and  residual </a:t>
            </a:r>
            <a:r>
              <a:rPr sz="1000" i="1" spc="-5" dirty="0">
                <a:latin typeface="Arial"/>
                <a:cs typeface="Arial"/>
              </a:rPr>
              <a:t>value forecasting </a:t>
            </a:r>
            <a:r>
              <a:rPr sz="1000" i="1" spc="-10" dirty="0">
                <a:latin typeface="Arial"/>
                <a:cs typeface="Arial"/>
              </a:rPr>
              <a:t>and monitoring</a:t>
            </a:r>
            <a:r>
              <a:rPr sz="1000" i="1" spc="20" dirty="0">
                <a:latin typeface="Arial"/>
                <a:cs typeface="Arial"/>
              </a:rPr>
              <a:t> </a:t>
            </a:r>
            <a:r>
              <a:rPr sz="1000" i="1" spc="-10" dirty="0">
                <a:latin typeface="Arial"/>
                <a:cs typeface="Arial"/>
              </a:rPr>
              <a:t>models</a:t>
            </a:r>
            <a:endParaRPr sz="1000">
              <a:latin typeface="Arial"/>
              <a:cs typeface="Arial"/>
            </a:endParaRPr>
          </a:p>
        </p:txBody>
      </p:sp>
      <p:sp>
        <p:nvSpPr>
          <p:cNvPr id="46" name="object 46"/>
          <p:cNvSpPr/>
          <p:nvPr/>
        </p:nvSpPr>
        <p:spPr>
          <a:xfrm>
            <a:off x="7586471" y="3024504"/>
            <a:ext cx="478790" cy="288925"/>
          </a:xfrm>
          <a:custGeom>
            <a:avLst/>
            <a:gdLst/>
            <a:ahLst/>
            <a:cxnLst/>
            <a:rect l="l" t="t" r="r" b="b"/>
            <a:pathLst>
              <a:path w="478790" h="288925">
                <a:moveTo>
                  <a:pt x="239395" y="0"/>
                </a:moveTo>
                <a:lnTo>
                  <a:pt x="184506" y="3813"/>
                </a:lnTo>
                <a:lnTo>
                  <a:pt x="134118" y="14675"/>
                </a:lnTo>
                <a:lnTo>
                  <a:pt x="89668" y="31720"/>
                </a:lnTo>
                <a:lnTo>
                  <a:pt x="52594" y="54082"/>
                </a:lnTo>
                <a:lnTo>
                  <a:pt x="24333" y="80893"/>
                </a:lnTo>
                <a:lnTo>
                  <a:pt x="0" y="144399"/>
                </a:lnTo>
                <a:lnTo>
                  <a:pt x="6322" y="177510"/>
                </a:lnTo>
                <a:lnTo>
                  <a:pt x="52594" y="234715"/>
                </a:lnTo>
                <a:lnTo>
                  <a:pt x="89668" y="257077"/>
                </a:lnTo>
                <a:lnTo>
                  <a:pt x="134118" y="274122"/>
                </a:lnTo>
                <a:lnTo>
                  <a:pt x="184506" y="284984"/>
                </a:lnTo>
                <a:lnTo>
                  <a:pt x="239395" y="288798"/>
                </a:lnTo>
                <a:lnTo>
                  <a:pt x="294276" y="284984"/>
                </a:lnTo>
                <a:lnTo>
                  <a:pt x="344646" y="274122"/>
                </a:lnTo>
                <a:lnTo>
                  <a:pt x="389071" y="257077"/>
                </a:lnTo>
                <a:lnTo>
                  <a:pt x="426118" y="234715"/>
                </a:lnTo>
                <a:lnTo>
                  <a:pt x="454354" y="207904"/>
                </a:lnTo>
                <a:lnTo>
                  <a:pt x="478662" y="144399"/>
                </a:lnTo>
                <a:lnTo>
                  <a:pt x="472347" y="111287"/>
                </a:lnTo>
                <a:lnTo>
                  <a:pt x="426118" y="54082"/>
                </a:lnTo>
                <a:lnTo>
                  <a:pt x="389071" y="31720"/>
                </a:lnTo>
                <a:lnTo>
                  <a:pt x="344646" y="14675"/>
                </a:lnTo>
                <a:lnTo>
                  <a:pt x="294276" y="3813"/>
                </a:lnTo>
                <a:lnTo>
                  <a:pt x="239395" y="0"/>
                </a:lnTo>
                <a:close/>
              </a:path>
            </a:pathLst>
          </a:custGeom>
          <a:solidFill>
            <a:srgbClr val="B6C5FA"/>
          </a:solidFill>
        </p:spPr>
        <p:txBody>
          <a:bodyPr wrap="square" lIns="0" tIns="0" rIns="0" bIns="0" rtlCol="0"/>
          <a:lstStyle/>
          <a:p>
            <a:endParaRPr/>
          </a:p>
        </p:txBody>
      </p:sp>
      <p:sp>
        <p:nvSpPr>
          <p:cNvPr id="47" name="object 47"/>
          <p:cNvSpPr txBox="1"/>
          <p:nvPr/>
        </p:nvSpPr>
        <p:spPr>
          <a:xfrm>
            <a:off x="7779257" y="3077717"/>
            <a:ext cx="95885"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051F79"/>
                </a:solidFill>
                <a:latin typeface="Arial"/>
                <a:cs typeface="Arial"/>
              </a:rPr>
              <a:t>2</a:t>
            </a:r>
            <a:endParaRPr sz="1000">
              <a:latin typeface="Arial"/>
              <a:cs typeface="Arial"/>
            </a:endParaRPr>
          </a:p>
        </p:txBody>
      </p:sp>
      <p:sp>
        <p:nvSpPr>
          <p:cNvPr id="48" name="object 48"/>
          <p:cNvSpPr txBox="1"/>
          <p:nvPr/>
        </p:nvSpPr>
        <p:spPr>
          <a:xfrm>
            <a:off x="8122666" y="2941980"/>
            <a:ext cx="2407285" cy="406400"/>
          </a:xfrm>
          <a:prstGeom prst="rect">
            <a:avLst/>
          </a:prstGeom>
        </p:spPr>
        <p:txBody>
          <a:bodyPr vert="horz" wrap="square" lIns="0" tIns="50800" rIns="0" bIns="0" rtlCol="0">
            <a:spAutoFit/>
          </a:bodyPr>
          <a:lstStyle/>
          <a:p>
            <a:pPr marL="12700">
              <a:lnSpc>
                <a:spcPct val="100000"/>
              </a:lnSpc>
              <a:spcBef>
                <a:spcPts val="400"/>
              </a:spcBef>
            </a:pPr>
            <a:r>
              <a:rPr sz="1000" i="1" spc="-10" dirty="0">
                <a:latin typeface="Arial"/>
                <a:cs typeface="Arial"/>
              </a:rPr>
              <a:t>+1 </a:t>
            </a:r>
            <a:r>
              <a:rPr sz="1000" i="1" spc="-5" dirty="0">
                <a:latin typeface="Arial"/>
                <a:cs typeface="Arial"/>
              </a:rPr>
              <a:t>FTEs for </a:t>
            </a:r>
            <a:r>
              <a:rPr sz="1000" i="1" spc="-10" dirty="0">
                <a:latin typeface="Arial"/>
                <a:cs typeface="Arial"/>
              </a:rPr>
              <a:t>managing dealer</a:t>
            </a:r>
            <a:r>
              <a:rPr sz="1000" i="1" spc="20" dirty="0">
                <a:latin typeface="Arial"/>
                <a:cs typeface="Arial"/>
              </a:rPr>
              <a:t> </a:t>
            </a:r>
            <a:r>
              <a:rPr sz="1000" i="1" spc="-10" dirty="0">
                <a:latin typeface="Arial"/>
                <a:cs typeface="Arial"/>
              </a:rPr>
              <a:t>relationships</a:t>
            </a:r>
            <a:endParaRPr sz="1000" dirty="0">
              <a:latin typeface="Arial"/>
              <a:cs typeface="Arial"/>
            </a:endParaRPr>
          </a:p>
          <a:p>
            <a:pPr marL="12700">
              <a:lnSpc>
                <a:spcPct val="100000"/>
              </a:lnSpc>
              <a:spcBef>
                <a:spcPts val="300"/>
              </a:spcBef>
            </a:pPr>
            <a:r>
              <a:rPr sz="1000" i="1" spc="-10" dirty="0">
                <a:latin typeface="Arial"/>
                <a:cs typeface="Arial"/>
              </a:rPr>
              <a:t>+1 </a:t>
            </a:r>
            <a:r>
              <a:rPr sz="1000" i="1" spc="-5" dirty="0">
                <a:latin typeface="Arial"/>
                <a:cs typeface="Arial"/>
              </a:rPr>
              <a:t>FTE for </a:t>
            </a:r>
            <a:r>
              <a:rPr sz="1000" i="1" spc="-10" dirty="0">
                <a:latin typeface="Arial"/>
                <a:cs typeface="Arial"/>
              </a:rPr>
              <a:t>SME </a:t>
            </a:r>
            <a:r>
              <a:rPr sz="1000" i="1" spc="-5" dirty="0">
                <a:latin typeface="Arial"/>
                <a:cs typeface="Arial"/>
              </a:rPr>
              <a:t>direct </a:t>
            </a:r>
            <a:r>
              <a:rPr sz="1000" i="1" spc="-10" dirty="0">
                <a:latin typeface="Arial"/>
                <a:cs typeface="Arial"/>
              </a:rPr>
              <a:t>sales</a:t>
            </a:r>
            <a:r>
              <a:rPr sz="1000" i="1" spc="15" dirty="0">
                <a:latin typeface="Arial"/>
                <a:cs typeface="Arial"/>
              </a:rPr>
              <a:t> </a:t>
            </a:r>
            <a:r>
              <a:rPr sz="1000" i="1" spc="-5" dirty="0">
                <a:latin typeface="Arial"/>
                <a:cs typeface="Arial"/>
              </a:rPr>
              <a:t>(salesforce)</a:t>
            </a:r>
            <a:endParaRPr sz="1000" dirty="0">
              <a:latin typeface="Arial"/>
              <a:cs typeface="Arial"/>
            </a:endParaRPr>
          </a:p>
        </p:txBody>
      </p:sp>
      <p:sp>
        <p:nvSpPr>
          <p:cNvPr id="49" name="object 49"/>
          <p:cNvSpPr/>
          <p:nvPr/>
        </p:nvSpPr>
        <p:spPr>
          <a:xfrm>
            <a:off x="7586471" y="3570351"/>
            <a:ext cx="478790" cy="288925"/>
          </a:xfrm>
          <a:custGeom>
            <a:avLst/>
            <a:gdLst/>
            <a:ahLst/>
            <a:cxnLst/>
            <a:rect l="l" t="t" r="r" b="b"/>
            <a:pathLst>
              <a:path w="478790" h="288925">
                <a:moveTo>
                  <a:pt x="239395" y="0"/>
                </a:moveTo>
                <a:lnTo>
                  <a:pt x="184506" y="3813"/>
                </a:lnTo>
                <a:lnTo>
                  <a:pt x="134118" y="14675"/>
                </a:lnTo>
                <a:lnTo>
                  <a:pt x="89668" y="31720"/>
                </a:lnTo>
                <a:lnTo>
                  <a:pt x="52594" y="54082"/>
                </a:lnTo>
                <a:lnTo>
                  <a:pt x="24333" y="80893"/>
                </a:lnTo>
                <a:lnTo>
                  <a:pt x="0" y="144399"/>
                </a:lnTo>
                <a:lnTo>
                  <a:pt x="6322" y="177510"/>
                </a:lnTo>
                <a:lnTo>
                  <a:pt x="52594" y="234715"/>
                </a:lnTo>
                <a:lnTo>
                  <a:pt x="89668" y="257077"/>
                </a:lnTo>
                <a:lnTo>
                  <a:pt x="134118" y="274122"/>
                </a:lnTo>
                <a:lnTo>
                  <a:pt x="184506" y="284984"/>
                </a:lnTo>
                <a:lnTo>
                  <a:pt x="239395" y="288798"/>
                </a:lnTo>
                <a:lnTo>
                  <a:pt x="294276" y="284984"/>
                </a:lnTo>
                <a:lnTo>
                  <a:pt x="344646" y="274122"/>
                </a:lnTo>
                <a:lnTo>
                  <a:pt x="389071" y="257077"/>
                </a:lnTo>
                <a:lnTo>
                  <a:pt x="426118" y="234715"/>
                </a:lnTo>
                <a:lnTo>
                  <a:pt x="454354" y="207904"/>
                </a:lnTo>
                <a:lnTo>
                  <a:pt x="478662" y="144399"/>
                </a:lnTo>
                <a:lnTo>
                  <a:pt x="472347" y="111287"/>
                </a:lnTo>
                <a:lnTo>
                  <a:pt x="426118" y="54082"/>
                </a:lnTo>
                <a:lnTo>
                  <a:pt x="389071" y="31720"/>
                </a:lnTo>
                <a:lnTo>
                  <a:pt x="344646" y="14675"/>
                </a:lnTo>
                <a:lnTo>
                  <a:pt x="294276" y="3813"/>
                </a:lnTo>
                <a:lnTo>
                  <a:pt x="239395" y="0"/>
                </a:lnTo>
                <a:close/>
              </a:path>
            </a:pathLst>
          </a:custGeom>
          <a:solidFill>
            <a:srgbClr val="B6C5FA"/>
          </a:solidFill>
        </p:spPr>
        <p:txBody>
          <a:bodyPr wrap="square" lIns="0" tIns="0" rIns="0" bIns="0" rtlCol="0"/>
          <a:lstStyle/>
          <a:p>
            <a:endParaRPr/>
          </a:p>
        </p:txBody>
      </p:sp>
      <p:sp>
        <p:nvSpPr>
          <p:cNvPr id="50" name="object 50"/>
          <p:cNvSpPr txBox="1"/>
          <p:nvPr/>
        </p:nvSpPr>
        <p:spPr>
          <a:xfrm>
            <a:off x="7779257" y="3623564"/>
            <a:ext cx="95885"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051F79"/>
                </a:solidFill>
                <a:latin typeface="Arial"/>
                <a:cs typeface="Arial"/>
              </a:rPr>
              <a:t>1</a:t>
            </a:r>
            <a:endParaRPr sz="1000">
              <a:latin typeface="Arial"/>
              <a:cs typeface="Arial"/>
            </a:endParaRPr>
          </a:p>
        </p:txBody>
      </p:sp>
      <p:sp>
        <p:nvSpPr>
          <p:cNvPr id="51" name="object 51"/>
          <p:cNvSpPr/>
          <p:nvPr/>
        </p:nvSpPr>
        <p:spPr>
          <a:xfrm>
            <a:off x="7586471" y="4662170"/>
            <a:ext cx="478790" cy="288925"/>
          </a:xfrm>
          <a:custGeom>
            <a:avLst/>
            <a:gdLst/>
            <a:ahLst/>
            <a:cxnLst/>
            <a:rect l="l" t="t" r="r" b="b"/>
            <a:pathLst>
              <a:path w="478790" h="288925">
                <a:moveTo>
                  <a:pt x="239395" y="0"/>
                </a:moveTo>
                <a:lnTo>
                  <a:pt x="184506" y="3813"/>
                </a:lnTo>
                <a:lnTo>
                  <a:pt x="134118" y="14675"/>
                </a:lnTo>
                <a:lnTo>
                  <a:pt x="89668" y="31720"/>
                </a:lnTo>
                <a:lnTo>
                  <a:pt x="52594" y="54082"/>
                </a:lnTo>
                <a:lnTo>
                  <a:pt x="24333" y="80893"/>
                </a:lnTo>
                <a:lnTo>
                  <a:pt x="0" y="144398"/>
                </a:lnTo>
                <a:lnTo>
                  <a:pt x="6322" y="177510"/>
                </a:lnTo>
                <a:lnTo>
                  <a:pt x="52594" y="234715"/>
                </a:lnTo>
                <a:lnTo>
                  <a:pt x="89668" y="257077"/>
                </a:lnTo>
                <a:lnTo>
                  <a:pt x="134118" y="274122"/>
                </a:lnTo>
                <a:lnTo>
                  <a:pt x="184506" y="284984"/>
                </a:lnTo>
                <a:lnTo>
                  <a:pt x="239395" y="288797"/>
                </a:lnTo>
                <a:lnTo>
                  <a:pt x="294276" y="284984"/>
                </a:lnTo>
                <a:lnTo>
                  <a:pt x="344646" y="274122"/>
                </a:lnTo>
                <a:lnTo>
                  <a:pt x="389071" y="257077"/>
                </a:lnTo>
                <a:lnTo>
                  <a:pt x="426118" y="234715"/>
                </a:lnTo>
                <a:lnTo>
                  <a:pt x="454354" y="207904"/>
                </a:lnTo>
                <a:lnTo>
                  <a:pt x="478662" y="144398"/>
                </a:lnTo>
                <a:lnTo>
                  <a:pt x="472347" y="111287"/>
                </a:lnTo>
                <a:lnTo>
                  <a:pt x="426118" y="54082"/>
                </a:lnTo>
                <a:lnTo>
                  <a:pt x="389071" y="31720"/>
                </a:lnTo>
                <a:lnTo>
                  <a:pt x="344646" y="14675"/>
                </a:lnTo>
                <a:lnTo>
                  <a:pt x="294276" y="3813"/>
                </a:lnTo>
                <a:lnTo>
                  <a:pt x="239395" y="0"/>
                </a:lnTo>
                <a:close/>
              </a:path>
            </a:pathLst>
          </a:custGeom>
          <a:solidFill>
            <a:srgbClr val="B6C5FA"/>
          </a:solidFill>
        </p:spPr>
        <p:txBody>
          <a:bodyPr wrap="square" lIns="0" tIns="0" rIns="0" bIns="0" rtlCol="0"/>
          <a:lstStyle/>
          <a:p>
            <a:endParaRPr/>
          </a:p>
        </p:txBody>
      </p:sp>
      <p:sp>
        <p:nvSpPr>
          <p:cNvPr id="52" name="object 52"/>
          <p:cNvSpPr txBox="1"/>
          <p:nvPr/>
        </p:nvSpPr>
        <p:spPr>
          <a:xfrm>
            <a:off x="7779257" y="4715636"/>
            <a:ext cx="95885"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051F79"/>
                </a:solidFill>
                <a:latin typeface="Arial"/>
                <a:cs typeface="Arial"/>
              </a:rPr>
              <a:t>1</a:t>
            </a:r>
            <a:endParaRPr sz="1000">
              <a:latin typeface="Arial"/>
              <a:cs typeface="Arial"/>
            </a:endParaRPr>
          </a:p>
        </p:txBody>
      </p:sp>
      <p:sp>
        <p:nvSpPr>
          <p:cNvPr id="53" name="object 53"/>
          <p:cNvSpPr txBox="1"/>
          <p:nvPr/>
        </p:nvSpPr>
        <p:spPr>
          <a:xfrm>
            <a:off x="8122666" y="4637913"/>
            <a:ext cx="2760345" cy="330200"/>
          </a:xfrm>
          <a:prstGeom prst="rect">
            <a:avLst/>
          </a:prstGeom>
        </p:spPr>
        <p:txBody>
          <a:bodyPr vert="horz" wrap="square" lIns="0" tIns="12065" rIns="0" bIns="0" rtlCol="0">
            <a:spAutoFit/>
          </a:bodyPr>
          <a:lstStyle/>
          <a:p>
            <a:pPr marL="12700" marR="5080">
              <a:lnSpc>
                <a:spcPct val="100000"/>
              </a:lnSpc>
              <a:spcBef>
                <a:spcPts val="95"/>
              </a:spcBef>
            </a:pPr>
            <a:r>
              <a:rPr sz="1000" i="1" spc="-10" dirty="0">
                <a:latin typeface="Arial"/>
                <a:cs typeface="Arial"/>
              </a:rPr>
              <a:t>+1 </a:t>
            </a:r>
            <a:r>
              <a:rPr sz="1000" i="1" spc="-5" dirty="0">
                <a:latin typeface="Arial"/>
                <a:cs typeface="Arial"/>
              </a:rPr>
              <a:t>FTE to </a:t>
            </a:r>
            <a:r>
              <a:rPr sz="1000" i="1" spc="-10" dirty="0">
                <a:latin typeface="Arial"/>
                <a:cs typeface="Arial"/>
              </a:rPr>
              <a:t>define remarketing </a:t>
            </a:r>
            <a:r>
              <a:rPr sz="1000" i="1" spc="-5" dirty="0">
                <a:latin typeface="Arial"/>
                <a:cs typeface="Arial"/>
              </a:rPr>
              <a:t>strategy (which </a:t>
            </a:r>
            <a:r>
              <a:rPr sz="1000" i="1" spc="-10" dirty="0">
                <a:latin typeface="Arial"/>
                <a:cs typeface="Arial"/>
              </a:rPr>
              <a:t>car  </a:t>
            </a:r>
            <a:r>
              <a:rPr sz="1000" i="1" spc="-5" dirty="0">
                <a:latin typeface="Arial"/>
                <a:cs typeface="Arial"/>
              </a:rPr>
              <a:t>on which</a:t>
            </a:r>
            <a:r>
              <a:rPr sz="1000" i="1" spc="-15" dirty="0">
                <a:latin typeface="Arial"/>
                <a:cs typeface="Arial"/>
              </a:rPr>
              <a:t> </a:t>
            </a:r>
            <a:r>
              <a:rPr sz="1000" i="1" spc="-10" dirty="0">
                <a:latin typeface="Arial"/>
                <a:cs typeface="Arial"/>
              </a:rPr>
              <a:t>channel)</a:t>
            </a:r>
            <a:endParaRPr sz="1000">
              <a:latin typeface="Arial"/>
              <a:cs typeface="Arial"/>
            </a:endParaRPr>
          </a:p>
        </p:txBody>
      </p:sp>
      <p:sp>
        <p:nvSpPr>
          <p:cNvPr id="54" name="object 54"/>
          <p:cNvSpPr/>
          <p:nvPr/>
        </p:nvSpPr>
        <p:spPr>
          <a:xfrm>
            <a:off x="3494659" y="5680760"/>
            <a:ext cx="478790" cy="288925"/>
          </a:xfrm>
          <a:custGeom>
            <a:avLst/>
            <a:gdLst/>
            <a:ahLst/>
            <a:cxnLst/>
            <a:rect l="l" t="t" r="r" b="b"/>
            <a:pathLst>
              <a:path w="478789" h="288925">
                <a:moveTo>
                  <a:pt x="239394" y="0"/>
                </a:moveTo>
                <a:lnTo>
                  <a:pt x="184506" y="3813"/>
                </a:lnTo>
                <a:lnTo>
                  <a:pt x="134118" y="14675"/>
                </a:lnTo>
                <a:lnTo>
                  <a:pt x="89668" y="31718"/>
                </a:lnTo>
                <a:lnTo>
                  <a:pt x="52594" y="54077"/>
                </a:lnTo>
                <a:lnTo>
                  <a:pt x="24333" y="80883"/>
                </a:lnTo>
                <a:lnTo>
                  <a:pt x="0" y="144373"/>
                </a:lnTo>
                <a:lnTo>
                  <a:pt x="6322" y="177480"/>
                </a:lnTo>
                <a:lnTo>
                  <a:pt x="52594" y="234680"/>
                </a:lnTo>
                <a:lnTo>
                  <a:pt x="89668" y="257040"/>
                </a:lnTo>
                <a:lnTo>
                  <a:pt x="134118" y="274084"/>
                </a:lnTo>
                <a:lnTo>
                  <a:pt x="184506" y="284946"/>
                </a:lnTo>
                <a:lnTo>
                  <a:pt x="239394" y="288759"/>
                </a:lnTo>
                <a:lnTo>
                  <a:pt x="294283" y="284946"/>
                </a:lnTo>
                <a:lnTo>
                  <a:pt x="344671" y="274084"/>
                </a:lnTo>
                <a:lnTo>
                  <a:pt x="389121" y="257040"/>
                </a:lnTo>
                <a:lnTo>
                  <a:pt x="426195" y="234680"/>
                </a:lnTo>
                <a:lnTo>
                  <a:pt x="454456" y="207871"/>
                </a:lnTo>
                <a:lnTo>
                  <a:pt x="478789" y="144373"/>
                </a:lnTo>
                <a:lnTo>
                  <a:pt x="472467" y="111271"/>
                </a:lnTo>
                <a:lnTo>
                  <a:pt x="426195" y="54077"/>
                </a:lnTo>
                <a:lnTo>
                  <a:pt x="389121" y="31718"/>
                </a:lnTo>
                <a:lnTo>
                  <a:pt x="344671" y="14675"/>
                </a:lnTo>
                <a:lnTo>
                  <a:pt x="294283" y="3813"/>
                </a:lnTo>
                <a:lnTo>
                  <a:pt x="239394" y="0"/>
                </a:lnTo>
                <a:close/>
              </a:path>
            </a:pathLst>
          </a:custGeom>
          <a:solidFill>
            <a:srgbClr val="2151FF"/>
          </a:solidFill>
        </p:spPr>
        <p:txBody>
          <a:bodyPr wrap="square" lIns="0" tIns="0" rIns="0" bIns="0" rtlCol="0"/>
          <a:lstStyle/>
          <a:p>
            <a:endParaRPr/>
          </a:p>
        </p:txBody>
      </p:sp>
      <p:sp>
        <p:nvSpPr>
          <p:cNvPr id="55" name="object 55"/>
          <p:cNvSpPr txBox="1"/>
          <p:nvPr/>
        </p:nvSpPr>
        <p:spPr>
          <a:xfrm>
            <a:off x="3686936" y="5734303"/>
            <a:ext cx="95885"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FFFFFF"/>
                </a:solidFill>
                <a:latin typeface="Arial"/>
                <a:cs typeface="Arial"/>
              </a:rPr>
              <a:t>6</a:t>
            </a:r>
            <a:endParaRPr sz="1000">
              <a:latin typeface="Arial"/>
              <a:cs typeface="Arial"/>
            </a:endParaRPr>
          </a:p>
        </p:txBody>
      </p:sp>
      <p:sp>
        <p:nvSpPr>
          <p:cNvPr id="56" name="object 56"/>
          <p:cNvSpPr/>
          <p:nvPr/>
        </p:nvSpPr>
        <p:spPr>
          <a:xfrm>
            <a:off x="3494659" y="2282698"/>
            <a:ext cx="3354070" cy="0"/>
          </a:xfrm>
          <a:custGeom>
            <a:avLst/>
            <a:gdLst/>
            <a:ahLst/>
            <a:cxnLst/>
            <a:rect l="l" t="t" r="r" b="b"/>
            <a:pathLst>
              <a:path w="3354070">
                <a:moveTo>
                  <a:pt x="0" y="0"/>
                </a:moveTo>
                <a:lnTo>
                  <a:pt x="3354069" y="0"/>
                </a:lnTo>
              </a:path>
            </a:pathLst>
          </a:custGeom>
          <a:ln w="12700">
            <a:solidFill>
              <a:srgbClr val="757575"/>
            </a:solidFill>
          </a:ln>
        </p:spPr>
        <p:txBody>
          <a:bodyPr wrap="square" lIns="0" tIns="0" rIns="0" bIns="0" rtlCol="0"/>
          <a:lstStyle/>
          <a:p>
            <a:endParaRPr/>
          </a:p>
        </p:txBody>
      </p:sp>
      <p:sp>
        <p:nvSpPr>
          <p:cNvPr id="57" name="object 57"/>
          <p:cNvSpPr txBox="1"/>
          <p:nvPr/>
        </p:nvSpPr>
        <p:spPr>
          <a:xfrm>
            <a:off x="3482466" y="2029206"/>
            <a:ext cx="2449830" cy="239395"/>
          </a:xfrm>
          <a:prstGeom prst="rect">
            <a:avLst/>
          </a:prstGeom>
        </p:spPr>
        <p:txBody>
          <a:bodyPr vert="horz" wrap="square" lIns="0" tIns="13335" rIns="0" bIns="0" rtlCol="0">
            <a:spAutoFit/>
          </a:bodyPr>
          <a:lstStyle/>
          <a:p>
            <a:pPr marL="12700">
              <a:lnSpc>
                <a:spcPct val="100000"/>
              </a:lnSpc>
              <a:spcBef>
                <a:spcPts val="105"/>
              </a:spcBef>
            </a:pPr>
            <a:r>
              <a:rPr sz="1400" b="1" spc="-15" dirty="0">
                <a:latin typeface="Arial"/>
                <a:cs typeface="Arial"/>
              </a:rPr>
              <a:t>Auto </a:t>
            </a:r>
            <a:r>
              <a:rPr sz="1400" b="1" spc="-5" dirty="0">
                <a:latin typeface="Arial"/>
                <a:cs typeface="Arial"/>
              </a:rPr>
              <a:t>loan and B2B</a:t>
            </a:r>
            <a:r>
              <a:rPr sz="1400" b="1" spc="-45" dirty="0">
                <a:latin typeface="Arial"/>
                <a:cs typeface="Arial"/>
              </a:rPr>
              <a:t> </a:t>
            </a:r>
            <a:r>
              <a:rPr sz="1400" b="1" spc="-5" dirty="0">
                <a:latin typeface="Arial"/>
                <a:cs typeface="Arial"/>
              </a:rPr>
              <a:t>financing</a:t>
            </a:r>
            <a:endParaRPr sz="1400">
              <a:latin typeface="Arial"/>
              <a:cs typeface="Arial"/>
            </a:endParaRPr>
          </a:p>
        </p:txBody>
      </p:sp>
      <p:sp>
        <p:nvSpPr>
          <p:cNvPr id="58" name="object 58"/>
          <p:cNvSpPr/>
          <p:nvPr/>
        </p:nvSpPr>
        <p:spPr>
          <a:xfrm>
            <a:off x="3494659" y="5208015"/>
            <a:ext cx="478790" cy="288925"/>
          </a:xfrm>
          <a:custGeom>
            <a:avLst/>
            <a:gdLst/>
            <a:ahLst/>
            <a:cxnLst/>
            <a:rect l="l" t="t" r="r" b="b"/>
            <a:pathLst>
              <a:path w="478789" h="288925">
                <a:moveTo>
                  <a:pt x="239394" y="0"/>
                </a:moveTo>
                <a:lnTo>
                  <a:pt x="184506" y="3813"/>
                </a:lnTo>
                <a:lnTo>
                  <a:pt x="134118" y="14675"/>
                </a:lnTo>
                <a:lnTo>
                  <a:pt x="89668" y="31720"/>
                </a:lnTo>
                <a:lnTo>
                  <a:pt x="52594" y="54082"/>
                </a:lnTo>
                <a:lnTo>
                  <a:pt x="24333" y="80893"/>
                </a:lnTo>
                <a:lnTo>
                  <a:pt x="0" y="144398"/>
                </a:lnTo>
                <a:lnTo>
                  <a:pt x="6322" y="177510"/>
                </a:lnTo>
                <a:lnTo>
                  <a:pt x="52594" y="234715"/>
                </a:lnTo>
                <a:lnTo>
                  <a:pt x="89668" y="257077"/>
                </a:lnTo>
                <a:lnTo>
                  <a:pt x="134118" y="274122"/>
                </a:lnTo>
                <a:lnTo>
                  <a:pt x="184506" y="284984"/>
                </a:lnTo>
                <a:lnTo>
                  <a:pt x="239394" y="288797"/>
                </a:lnTo>
                <a:lnTo>
                  <a:pt x="294283" y="284984"/>
                </a:lnTo>
                <a:lnTo>
                  <a:pt x="344671" y="274122"/>
                </a:lnTo>
                <a:lnTo>
                  <a:pt x="389121" y="257077"/>
                </a:lnTo>
                <a:lnTo>
                  <a:pt x="426195" y="234715"/>
                </a:lnTo>
                <a:lnTo>
                  <a:pt x="454456" y="207904"/>
                </a:lnTo>
                <a:lnTo>
                  <a:pt x="478789" y="144398"/>
                </a:lnTo>
                <a:lnTo>
                  <a:pt x="472467" y="111287"/>
                </a:lnTo>
                <a:lnTo>
                  <a:pt x="426195" y="54082"/>
                </a:lnTo>
                <a:lnTo>
                  <a:pt x="389121" y="31720"/>
                </a:lnTo>
                <a:lnTo>
                  <a:pt x="344671" y="14675"/>
                </a:lnTo>
                <a:lnTo>
                  <a:pt x="294283" y="3813"/>
                </a:lnTo>
                <a:lnTo>
                  <a:pt x="239394" y="0"/>
                </a:lnTo>
                <a:close/>
              </a:path>
            </a:pathLst>
          </a:custGeom>
          <a:solidFill>
            <a:srgbClr val="2151FF"/>
          </a:solidFill>
        </p:spPr>
        <p:txBody>
          <a:bodyPr wrap="square" lIns="0" tIns="0" rIns="0" bIns="0" rtlCol="0"/>
          <a:lstStyle/>
          <a:p>
            <a:endParaRPr/>
          </a:p>
        </p:txBody>
      </p:sp>
      <p:sp>
        <p:nvSpPr>
          <p:cNvPr id="59" name="object 59"/>
          <p:cNvSpPr txBox="1"/>
          <p:nvPr/>
        </p:nvSpPr>
        <p:spPr>
          <a:xfrm>
            <a:off x="3686936" y="5261609"/>
            <a:ext cx="95885"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FFFFFF"/>
                </a:solidFill>
                <a:latin typeface="Arial"/>
                <a:cs typeface="Arial"/>
              </a:rPr>
              <a:t>1</a:t>
            </a:r>
            <a:endParaRPr sz="1000">
              <a:latin typeface="Arial"/>
              <a:cs typeface="Arial"/>
            </a:endParaRPr>
          </a:p>
        </p:txBody>
      </p:sp>
      <p:sp>
        <p:nvSpPr>
          <p:cNvPr id="60" name="object 60"/>
          <p:cNvSpPr/>
          <p:nvPr/>
        </p:nvSpPr>
        <p:spPr>
          <a:xfrm>
            <a:off x="3494659" y="2478658"/>
            <a:ext cx="478790" cy="288925"/>
          </a:xfrm>
          <a:custGeom>
            <a:avLst/>
            <a:gdLst/>
            <a:ahLst/>
            <a:cxnLst/>
            <a:rect l="l" t="t" r="r" b="b"/>
            <a:pathLst>
              <a:path w="478789" h="288925">
                <a:moveTo>
                  <a:pt x="239394" y="0"/>
                </a:moveTo>
                <a:lnTo>
                  <a:pt x="184506" y="3813"/>
                </a:lnTo>
                <a:lnTo>
                  <a:pt x="134118" y="14675"/>
                </a:lnTo>
                <a:lnTo>
                  <a:pt x="89668" y="31720"/>
                </a:lnTo>
                <a:lnTo>
                  <a:pt x="52594" y="54082"/>
                </a:lnTo>
                <a:lnTo>
                  <a:pt x="24333" y="80893"/>
                </a:lnTo>
                <a:lnTo>
                  <a:pt x="0" y="144399"/>
                </a:lnTo>
                <a:lnTo>
                  <a:pt x="6322" y="177510"/>
                </a:lnTo>
                <a:lnTo>
                  <a:pt x="52594" y="234715"/>
                </a:lnTo>
                <a:lnTo>
                  <a:pt x="89668" y="257077"/>
                </a:lnTo>
                <a:lnTo>
                  <a:pt x="134118" y="274122"/>
                </a:lnTo>
                <a:lnTo>
                  <a:pt x="184506" y="284984"/>
                </a:lnTo>
                <a:lnTo>
                  <a:pt x="239394" y="288798"/>
                </a:lnTo>
                <a:lnTo>
                  <a:pt x="294283" y="284984"/>
                </a:lnTo>
                <a:lnTo>
                  <a:pt x="344671" y="274122"/>
                </a:lnTo>
                <a:lnTo>
                  <a:pt x="389121" y="257077"/>
                </a:lnTo>
                <a:lnTo>
                  <a:pt x="426195" y="234715"/>
                </a:lnTo>
                <a:lnTo>
                  <a:pt x="454456" y="207904"/>
                </a:lnTo>
                <a:lnTo>
                  <a:pt x="478789" y="144399"/>
                </a:lnTo>
                <a:lnTo>
                  <a:pt x="472467" y="111287"/>
                </a:lnTo>
                <a:lnTo>
                  <a:pt x="426195" y="54082"/>
                </a:lnTo>
                <a:lnTo>
                  <a:pt x="389121" y="31720"/>
                </a:lnTo>
                <a:lnTo>
                  <a:pt x="344671" y="14675"/>
                </a:lnTo>
                <a:lnTo>
                  <a:pt x="294283" y="3813"/>
                </a:lnTo>
                <a:lnTo>
                  <a:pt x="239394" y="0"/>
                </a:lnTo>
                <a:close/>
              </a:path>
            </a:pathLst>
          </a:custGeom>
          <a:solidFill>
            <a:srgbClr val="2151FF"/>
          </a:solidFill>
        </p:spPr>
        <p:txBody>
          <a:bodyPr wrap="square" lIns="0" tIns="0" rIns="0" bIns="0" rtlCol="0"/>
          <a:lstStyle/>
          <a:p>
            <a:endParaRPr/>
          </a:p>
        </p:txBody>
      </p:sp>
      <p:sp>
        <p:nvSpPr>
          <p:cNvPr id="61" name="object 61"/>
          <p:cNvSpPr txBox="1"/>
          <p:nvPr/>
        </p:nvSpPr>
        <p:spPr>
          <a:xfrm>
            <a:off x="3686936" y="2531186"/>
            <a:ext cx="96520"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FFFFFF"/>
                </a:solidFill>
                <a:latin typeface="Arial"/>
                <a:cs typeface="Arial"/>
              </a:rPr>
              <a:t>3</a:t>
            </a:r>
            <a:endParaRPr sz="1000">
              <a:latin typeface="Arial"/>
              <a:cs typeface="Arial"/>
            </a:endParaRPr>
          </a:p>
        </p:txBody>
      </p:sp>
      <p:sp>
        <p:nvSpPr>
          <p:cNvPr id="62" name="object 62"/>
          <p:cNvSpPr txBox="1"/>
          <p:nvPr/>
        </p:nvSpPr>
        <p:spPr>
          <a:xfrm>
            <a:off x="4035044" y="2454020"/>
            <a:ext cx="2630170" cy="330200"/>
          </a:xfrm>
          <a:prstGeom prst="rect">
            <a:avLst/>
          </a:prstGeom>
        </p:spPr>
        <p:txBody>
          <a:bodyPr vert="horz" wrap="square" lIns="0" tIns="12065" rIns="0" bIns="0" rtlCol="0">
            <a:spAutoFit/>
          </a:bodyPr>
          <a:lstStyle/>
          <a:p>
            <a:pPr marL="12700" marR="5080">
              <a:lnSpc>
                <a:spcPct val="100000"/>
              </a:lnSpc>
              <a:spcBef>
                <a:spcPts val="95"/>
              </a:spcBef>
            </a:pPr>
            <a:r>
              <a:rPr sz="1000" i="1" spc="-10" dirty="0">
                <a:latin typeface="Arial"/>
                <a:cs typeface="Arial"/>
              </a:rPr>
              <a:t>+1 </a:t>
            </a:r>
            <a:r>
              <a:rPr sz="1000" i="1" spc="-5" dirty="0">
                <a:latin typeface="Arial"/>
                <a:cs typeface="Arial"/>
              </a:rPr>
              <a:t>FTE for stock </a:t>
            </a:r>
            <a:r>
              <a:rPr sz="1000" i="1" spc="-10" dirty="0">
                <a:latin typeface="Arial"/>
                <a:cs typeface="Arial"/>
              </a:rPr>
              <a:t>financing; +2 </a:t>
            </a:r>
            <a:r>
              <a:rPr sz="1000" i="1" spc="-5" dirty="0">
                <a:latin typeface="Arial"/>
                <a:cs typeface="Arial"/>
              </a:rPr>
              <a:t>FTEs on </a:t>
            </a:r>
            <a:r>
              <a:rPr sz="1000" i="1" spc="-10" dirty="0">
                <a:latin typeface="Arial"/>
                <a:cs typeface="Arial"/>
              </a:rPr>
              <a:t>pricing  activities</a:t>
            </a:r>
            <a:endParaRPr sz="1000">
              <a:latin typeface="Arial"/>
              <a:cs typeface="Arial"/>
            </a:endParaRPr>
          </a:p>
        </p:txBody>
      </p:sp>
      <p:sp>
        <p:nvSpPr>
          <p:cNvPr id="63" name="object 63"/>
          <p:cNvSpPr/>
          <p:nvPr/>
        </p:nvSpPr>
        <p:spPr>
          <a:xfrm>
            <a:off x="3494659" y="3024504"/>
            <a:ext cx="478790" cy="288925"/>
          </a:xfrm>
          <a:custGeom>
            <a:avLst/>
            <a:gdLst/>
            <a:ahLst/>
            <a:cxnLst/>
            <a:rect l="l" t="t" r="r" b="b"/>
            <a:pathLst>
              <a:path w="478789" h="288925">
                <a:moveTo>
                  <a:pt x="239394" y="0"/>
                </a:moveTo>
                <a:lnTo>
                  <a:pt x="184506" y="3813"/>
                </a:lnTo>
                <a:lnTo>
                  <a:pt x="134118" y="14675"/>
                </a:lnTo>
                <a:lnTo>
                  <a:pt x="89668" y="31720"/>
                </a:lnTo>
                <a:lnTo>
                  <a:pt x="52594" y="54082"/>
                </a:lnTo>
                <a:lnTo>
                  <a:pt x="24333" y="80893"/>
                </a:lnTo>
                <a:lnTo>
                  <a:pt x="0" y="144399"/>
                </a:lnTo>
                <a:lnTo>
                  <a:pt x="6322" y="177510"/>
                </a:lnTo>
                <a:lnTo>
                  <a:pt x="52594" y="234715"/>
                </a:lnTo>
                <a:lnTo>
                  <a:pt x="89668" y="257077"/>
                </a:lnTo>
                <a:lnTo>
                  <a:pt x="134118" y="274122"/>
                </a:lnTo>
                <a:lnTo>
                  <a:pt x="184506" y="284984"/>
                </a:lnTo>
                <a:lnTo>
                  <a:pt x="239394" y="288798"/>
                </a:lnTo>
                <a:lnTo>
                  <a:pt x="294283" y="284984"/>
                </a:lnTo>
                <a:lnTo>
                  <a:pt x="344671" y="274122"/>
                </a:lnTo>
                <a:lnTo>
                  <a:pt x="389121" y="257077"/>
                </a:lnTo>
                <a:lnTo>
                  <a:pt x="426195" y="234715"/>
                </a:lnTo>
                <a:lnTo>
                  <a:pt x="454456" y="207904"/>
                </a:lnTo>
                <a:lnTo>
                  <a:pt x="478789" y="144399"/>
                </a:lnTo>
                <a:lnTo>
                  <a:pt x="472467" y="111287"/>
                </a:lnTo>
                <a:lnTo>
                  <a:pt x="426195" y="54082"/>
                </a:lnTo>
                <a:lnTo>
                  <a:pt x="389121" y="31720"/>
                </a:lnTo>
                <a:lnTo>
                  <a:pt x="344671" y="14675"/>
                </a:lnTo>
                <a:lnTo>
                  <a:pt x="294283" y="3813"/>
                </a:lnTo>
                <a:lnTo>
                  <a:pt x="239394" y="0"/>
                </a:lnTo>
                <a:close/>
              </a:path>
            </a:pathLst>
          </a:custGeom>
          <a:solidFill>
            <a:srgbClr val="2151FF"/>
          </a:solidFill>
        </p:spPr>
        <p:txBody>
          <a:bodyPr wrap="square" lIns="0" tIns="0" rIns="0" bIns="0" rtlCol="0"/>
          <a:lstStyle/>
          <a:p>
            <a:endParaRPr/>
          </a:p>
        </p:txBody>
      </p:sp>
      <p:sp>
        <p:nvSpPr>
          <p:cNvPr id="64" name="object 64"/>
          <p:cNvSpPr txBox="1"/>
          <p:nvPr/>
        </p:nvSpPr>
        <p:spPr>
          <a:xfrm>
            <a:off x="3700653" y="3077717"/>
            <a:ext cx="67945"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FFFFFF"/>
                </a:solidFill>
                <a:latin typeface="Arial"/>
                <a:cs typeface="Arial"/>
              </a:rPr>
              <a:t>-</a:t>
            </a:r>
            <a:endParaRPr sz="1000">
              <a:latin typeface="Arial"/>
              <a:cs typeface="Arial"/>
            </a:endParaRPr>
          </a:p>
        </p:txBody>
      </p:sp>
      <p:sp>
        <p:nvSpPr>
          <p:cNvPr id="65" name="object 65"/>
          <p:cNvSpPr/>
          <p:nvPr/>
        </p:nvSpPr>
        <p:spPr>
          <a:xfrm>
            <a:off x="3494659" y="3570351"/>
            <a:ext cx="478790" cy="288925"/>
          </a:xfrm>
          <a:custGeom>
            <a:avLst/>
            <a:gdLst/>
            <a:ahLst/>
            <a:cxnLst/>
            <a:rect l="l" t="t" r="r" b="b"/>
            <a:pathLst>
              <a:path w="478789" h="288925">
                <a:moveTo>
                  <a:pt x="239394" y="0"/>
                </a:moveTo>
                <a:lnTo>
                  <a:pt x="184506" y="3813"/>
                </a:lnTo>
                <a:lnTo>
                  <a:pt x="134118" y="14675"/>
                </a:lnTo>
                <a:lnTo>
                  <a:pt x="89668" y="31720"/>
                </a:lnTo>
                <a:lnTo>
                  <a:pt x="52594" y="54082"/>
                </a:lnTo>
                <a:lnTo>
                  <a:pt x="24333" y="80893"/>
                </a:lnTo>
                <a:lnTo>
                  <a:pt x="0" y="144399"/>
                </a:lnTo>
                <a:lnTo>
                  <a:pt x="6322" y="177510"/>
                </a:lnTo>
                <a:lnTo>
                  <a:pt x="52594" y="234715"/>
                </a:lnTo>
                <a:lnTo>
                  <a:pt x="89668" y="257077"/>
                </a:lnTo>
                <a:lnTo>
                  <a:pt x="134118" y="274122"/>
                </a:lnTo>
                <a:lnTo>
                  <a:pt x="184506" y="284984"/>
                </a:lnTo>
                <a:lnTo>
                  <a:pt x="239394" y="288798"/>
                </a:lnTo>
                <a:lnTo>
                  <a:pt x="294283" y="284984"/>
                </a:lnTo>
                <a:lnTo>
                  <a:pt x="344671" y="274122"/>
                </a:lnTo>
                <a:lnTo>
                  <a:pt x="389121" y="257077"/>
                </a:lnTo>
                <a:lnTo>
                  <a:pt x="426195" y="234715"/>
                </a:lnTo>
                <a:lnTo>
                  <a:pt x="454456" y="207904"/>
                </a:lnTo>
                <a:lnTo>
                  <a:pt x="478789" y="144399"/>
                </a:lnTo>
                <a:lnTo>
                  <a:pt x="472467" y="111287"/>
                </a:lnTo>
                <a:lnTo>
                  <a:pt x="426195" y="54082"/>
                </a:lnTo>
                <a:lnTo>
                  <a:pt x="389121" y="31720"/>
                </a:lnTo>
                <a:lnTo>
                  <a:pt x="344671" y="14675"/>
                </a:lnTo>
                <a:lnTo>
                  <a:pt x="294283" y="3813"/>
                </a:lnTo>
                <a:lnTo>
                  <a:pt x="239394" y="0"/>
                </a:lnTo>
                <a:close/>
              </a:path>
            </a:pathLst>
          </a:custGeom>
          <a:solidFill>
            <a:srgbClr val="2151FF"/>
          </a:solidFill>
        </p:spPr>
        <p:txBody>
          <a:bodyPr wrap="square" lIns="0" tIns="0" rIns="0" bIns="0" rtlCol="0"/>
          <a:lstStyle/>
          <a:p>
            <a:endParaRPr/>
          </a:p>
        </p:txBody>
      </p:sp>
      <p:sp>
        <p:nvSpPr>
          <p:cNvPr id="66" name="object 66"/>
          <p:cNvSpPr txBox="1"/>
          <p:nvPr/>
        </p:nvSpPr>
        <p:spPr>
          <a:xfrm>
            <a:off x="3700653" y="3623564"/>
            <a:ext cx="67945"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FFFFFF"/>
                </a:solidFill>
                <a:latin typeface="Arial"/>
                <a:cs typeface="Arial"/>
              </a:rPr>
              <a:t>-</a:t>
            </a:r>
            <a:endParaRPr sz="1000">
              <a:latin typeface="Arial"/>
              <a:cs typeface="Arial"/>
            </a:endParaRPr>
          </a:p>
        </p:txBody>
      </p:sp>
      <p:sp>
        <p:nvSpPr>
          <p:cNvPr id="67" name="object 67"/>
          <p:cNvSpPr txBox="1"/>
          <p:nvPr/>
        </p:nvSpPr>
        <p:spPr>
          <a:xfrm>
            <a:off x="8122666" y="3545840"/>
            <a:ext cx="2753360" cy="330200"/>
          </a:xfrm>
          <a:prstGeom prst="rect">
            <a:avLst/>
          </a:prstGeom>
        </p:spPr>
        <p:txBody>
          <a:bodyPr vert="horz" wrap="square" lIns="0" tIns="12065" rIns="0" bIns="0" rtlCol="0">
            <a:spAutoFit/>
          </a:bodyPr>
          <a:lstStyle/>
          <a:p>
            <a:pPr marL="12700" marR="5080">
              <a:lnSpc>
                <a:spcPct val="100000"/>
              </a:lnSpc>
              <a:spcBef>
                <a:spcPts val="95"/>
              </a:spcBef>
            </a:pPr>
            <a:r>
              <a:rPr sz="1000" i="1" spc="-10" dirty="0">
                <a:latin typeface="Arial"/>
                <a:cs typeface="Arial"/>
              </a:rPr>
              <a:t>+1 </a:t>
            </a:r>
            <a:r>
              <a:rPr sz="1000" i="1" spc="-5" dirty="0">
                <a:latin typeface="Arial"/>
                <a:cs typeface="Arial"/>
              </a:rPr>
              <a:t>FTEs for contract </a:t>
            </a:r>
            <a:r>
              <a:rPr sz="1000" i="1" spc="-10" dirty="0">
                <a:latin typeface="Arial"/>
                <a:cs typeface="Arial"/>
              </a:rPr>
              <a:t>management </a:t>
            </a:r>
            <a:r>
              <a:rPr sz="1000" i="1" spc="-5" dirty="0">
                <a:latin typeface="Arial"/>
                <a:cs typeface="Arial"/>
              </a:rPr>
              <a:t>(e.g., contract  </a:t>
            </a:r>
            <a:r>
              <a:rPr sz="1000" i="1" spc="-10" dirty="0">
                <a:latin typeface="Arial"/>
                <a:cs typeface="Arial"/>
              </a:rPr>
              <a:t>inquiries, complaints,</a:t>
            </a:r>
            <a:r>
              <a:rPr sz="1000" i="1" spc="15" dirty="0">
                <a:latin typeface="Arial"/>
                <a:cs typeface="Arial"/>
              </a:rPr>
              <a:t> </a:t>
            </a:r>
            <a:r>
              <a:rPr sz="1000" i="1" spc="-5" dirty="0">
                <a:latin typeface="Arial"/>
                <a:cs typeface="Arial"/>
              </a:rPr>
              <a:t>etc.)</a:t>
            </a:r>
            <a:endParaRPr sz="1000" dirty="0">
              <a:latin typeface="Arial"/>
              <a:cs typeface="Arial"/>
            </a:endParaRPr>
          </a:p>
        </p:txBody>
      </p:sp>
      <p:sp>
        <p:nvSpPr>
          <p:cNvPr id="68" name="object 68"/>
          <p:cNvSpPr txBox="1"/>
          <p:nvPr/>
        </p:nvSpPr>
        <p:spPr>
          <a:xfrm>
            <a:off x="4035044" y="3545840"/>
            <a:ext cx="2663825" cy="330200"/>
          </a:xfrm>
          <a:prstGeom prst="rect">
            <a:avLst/>
          </a:prstGeom>
        </p:spPr>
        <p:txBody>
          <a:bodyPr vert="horz" wrap="square" lIns="0" tIns="12065" rIns="0" bIns="0" rtlCol="0">
            <a:spAutoFit/>
          </a:bodyPr>
          <a:lstStyle/>
          <a:p>
            <a:pPr marL="12700" marR="5080">
              <a:lnSpc>
                <a:spcPct val="100000"/>
              </a:lnSpc>
              <a:spcBef>
                <a:spcPts val="95"/>
              </a:spcBef>
            </a:pPr>
            <a:r>
              <a:rPr sz="1000" i="1" spc="-10" dirty="0">
                <a:latin typeface="Arial"/>
                <a:cs typeface="Arial"/>
              </a:rPr>
              <a:t>Volume-based with </a:t>
            </a:r>
            <a:r>
              <a:rPr sz="1000" i="1" spc="-5" dirty="0">
                <a:latin typeface="Arial"/>
                <a:cs typeface="Arial"/>
              </a:rPr>
              <a:t>potential for </a:t>
            </a:r>
            <a:r>
              <a:rPr sz="1000" i="1" spc="-10" dirty="0">
                <a:latin typeface="Arial"/>
                <a:cs typeface="Arial"/>
              </a:rPr>
              <a:t>automation, no  incremental </a:t>
            </a:r>
            <a:r>
              <a:rPr sz="1000" i="1" spc="-5" dirty="0">
                <a:latin typeface="Arial"/>
                <a:cs typeface="Arial"/>
              </a:rPr>
              <a:t>FTEs to start </a:t>
            </a:r>
            <a:r>
              <a:rPr sz="1000" i="1" spc="-10" dirty="0">
                <a:latin typeface="Arial"/>
                <a:cs typeface="Arial"/>
              </a:rPr>
              <a:t>off</a:t>
            </a:r>
            <a:endParaRPr sz="1000">
              <a:latin typeface="Arial"/>
              <a:cs typeface="Arial"/>
            </a:endParaRPr>
          </a:p>
        </p:txBody>
      </p:sp>
      <p:sp>
        <p:nvSpPr>
          <p:cNvPr id="69" name="object 69"/>
          <p:cNvSpPr/>
          <p:nvPr/>
        </p:nvSpPr>
        <p:spPr>
          <a:xfrm>
            <a:off x="3494659" y="4662170"/>
            <a:ext cx="478790" cy="288925"/>
          </a:xfrm>
          <a:custGeom>
            <a:avLst/>
            <a:gdLst/>
            <a:ahLst/>
            <a:cxnLst/>
            <a:rect l="l" t="t" r="r" b="b"/>
            <a:pathLst>
              <a:path w="478789" h="288925">
                <a:moveTo>
                  <a:pt x="239394" y="0"/>
                </a:moveTo>
                <a:lnTo>
                  <a:pt x="184506" y="3813"/>
                </a:lnTo>
                <a:lnTo>
                  <a:pt x="134118" y="14675"/>
                </a:lnTo>
                <a:lnTo>
                  <a:pt x="89668" y="31720"/>
                </a:lnTo>
                <a:lnTo>
                  <a:pt x="52594" y="54082"/>
                </a:lnTo>
                <a:lnTo>
                  <a:pt x="24333" y="80893"/>
                </a:lnTo>
                <a:lnTo>
                  <a:pt x="0" y="144398"/>
                </a:lnTo>
                <a:lnTo>
                  <a:pt x="6322" y="177510"/>
                </a:lnTo>
                <a:lnTo>
                  <a:pt x="52594" y="234715"/>
                </a:lnTo>
                <a:lnTo>
                  <a:pt x="89668" y="257077"/>
                </a:lnTo>
                <a:lnTo>
                  <a:pt x="134118" y="274122"/>
                </a:lnTo>
                <a:lnTo>
                  <a:pt x="184506" y="284984"/>
                </a:lnTo>
                <a:lnTo>
                  <a:pt x="239394" y="288797"/>
                </a:lnTo>
                <a:lnTo>
                  <a:pt x="294283" y="284984"/>
                </a:lnTo>
                <a:lnTo>
                  <a:pt x="344671" y="274122"/>
                </a:lnTo>
                <a:lnTo>
                  <a:pt x="389121" y="257077"/>
                </a:lnTo>
                <a:lnTo>
                  <a:pt x="426195" y="234715"/>
                </a:lnTo>
                <a:lnTo>
                  <a:pt x="454456" y="207904"/>
                </a:lnTo>
                <a:lnTo>
                  <a:pt x="478789" y="144398"/>
                </a:lnTo>
                <a:lnTo>
                  <a:pt x="472467" y="111287"/>
                </a:lnTo>
                <a:lnTo>
                  <a:pt x="426195" y="54082"/>
                </a:lnTo>
                <a:lnTo>
                  <a:pt x="389121" y="31720"/>
                </a:lnTo>
                <a:lnTo>
                  <a:pt x="344671" y="14675"/>
                </a:lnTo>
                <a:lnTo>
                  <a:pt x="294283" y="3813"/>
                </a:lnTo>
                <a:lnTo>
                  <a:pt x="239394" y="0"/>
                </a:lnTo>
                <a:close/>
              </a:path>
            </a:pathLst>
          </a:custGeom>
          <a:solidFill>
            <a:srgbClr val="2151FF"/>
          </a:solidFill>
        </p:spPr>
        <p:txBody>
          <a:bodyPr wrap="square" lIns="0" tIns="0" rIns="0" bIns="0" rtlCol="0"/>
          <a:lstStyle/>
          <a:p>
            <a:endParaRPr/>
          </a:p>
        </p:txBody>
      </p:sp>
      <p:sp>
        <p:nvSpPr>
          <p:cNvPr id="70" name="object 70"/>
          <p:cNvSpPr txBox="1"/>
          <p:nvPr/>
        </p:nvSpPr>
        <p:spPr>
          <a:xfrm>
            <a:off x="3700653" y="4715636"/>
            <a:ext cx="535305" cy="177800"/>
          </a:xfrm>
          <a:prstGeom prst="rect">
            <a:avLst/>
          </a:prstGeom>
        </p:spPr>
        <p:txBody>
          <a:bodyPr vert="horz" wrap="square" lIns="0" tIns="12065" rIns="0" bIns="0" rtlCol="0">
            <a:spAutoFit/>
          </a:bodyPr>
          <a:lstStyle/>
          <a:p>
            <a:pPr marL="12700">
              <a:lnSpc>
                <a:spcPct val="100000"/>
              </a:lnSpc>
              <a:spcBef>
                <a:spcPts val="95"/>
              </a:spcBef>
              <a:tabLst>
                <a:tab pos="346710" algn="l"/>
              </a:tabLst>
            </a:pPr>
            <a:r>
              <a:rPr sz="1000" b="1" spc="-5" dirty="0">
                <a:solidFill>
                  <a:srgbClr val="FFFFFF"/>
                </a:solidFill>
                <a:latin typeface="Arial"/>
                <a:cs typeface="Arial"/>
              </a:rPr>
              <a:t>-	</a:t>
            </a:r>
            <a:r>
              <a:rPr sz="1000" i="1" spc="-10" dirty="0">
                <a:latin typeface="Arial"/>
                <a:cs typeface="Arial"/>
              </a:rPr>
              <a:t>n/a</a:t>
            </a:r>
            <a:endParaRPr sz="1000">
              <a:latin typeface="Arial"/>
              <a:cs typeface="Arial"/>
            </a:endParaRPr>
          </a:p>
        </p:txBody>
      </p:sp>
      <p:sp>
        <p:nvSpPr>
          <p:cNvPr id="71" name="object 71"/>
          <p:cNvSpPr/>
          <p:nvPr/>
        </p:nvSpPr>
        <p:spPr>
          <a:xfrm>
            <a:off x="3494659" y="4116323"/>
            <a:ext cx="478790" cy="288925"/>
          </a:xfrm>
          <a:custGeom>
            <a:avLst/>
            <a:gdLst/>
            <a:ahLst/>
            <a:cxnLst/>
            <a:rect l="l" t="t" r="r" b="b"/>
            <a:pathLst>
              <a:path w="478789" h="288925">
                <a:moveTo>
                  <a:pt x="239394" y="0"/>
                </a:moveTo>
                <a:lnTo>
                  <a:pt x="184506" y="3813"/>
                </a:lnTo>
                <a:lnTo>
                  <a:pt x="134118" y="14675"/>
                </a:lnTo>
                <a:lnTo>
                  <a:pt x="89668" y="31720"/>
                </a:lnTo>
                <a:lnTo>
                  <a:pt x="52594" y="54082"/>
                </a:lnTo>
                <a:lnTo>
                  <a:pt x="24333" y="80893"/>
                </a:lnTo>
                <a:lnTo>
                  <a:pt x="0" y="144399"/>
                </a:lnTo>
                <a:lnTo>
                  <a:pt x="6322" y="177463"/>
                </a:lnTo>
                <a:lnTo>
                  <a:pt x="52594" y="234612"/>
                </a:lnTo>
                <a:lnTo>
                  <a:pt x="89668" y="256960"/>
                </a:lnTo>
                <a:lnTo>
                  <a:pt x="134118" y="273998"/>
                </a:lnTo>
                <a:lnTo>
                  <a:pt x="184506" y="284858"/>
                </a:lnTo>
                <a:lnTo>
                  <a:pt x="239394" y="288670"/>
                </a:lnTo>
                <a:lnTo>
                  <a:pt x="294283" y="284858"/>
                </a:lnTo>
                <a:lnTo>
                  <a:pt x="344671" y="273998"/>
                </a:lnTo>
                <a:lnTo>
                  <a:pt x="389121" y="256960"/>
                </a:lnTo>
                <a:lnTo>
                  <a:pt x="426195" y="234612"/>
                </a:lnTo>
                <a:lnTo>
                  <a:pt x="454456" y="207824"/>
                </a:lnTo>
                <a:lnTo>
                  <a:pt x="478789" y="144399"/>
                </a:lnTo>
                <a:lnTo>
                  <a:pt x="472467" y="111287"/>
                </a:lnTo>
                <a:lnTo>
                  <a:pt x="426195" y="54082"/>
                </a:lnTo>
                <a:lnTo>
                  <a:pt x="389121" y="31720"/>
                </a:lnTo>
                <a:lnTo>
                  <a:pt x="344671" y="14675"/>
                </a:lnTo>
                <a:lnTo>
                  <a:pt x="294283" y="3813"/>
                </a:lnTo>
                <a:lnTo>
                  <a:pt x="239394" y="0"/>
                </a:lnTo>
                <a:close/>
              </a:path>
            </a:pathLst>
          </a:custGeom>
          <a:solidFill>
            <a:srgbClr val="051F79"/>
          </a:solidFill>
        </p:spPr>
        <p:txBody>
          <a:bodyPr wrap="square" lIns="0" tIns="0" rIns="0" bIns="0" rtlCol="0"/>
          <a:lstStyle/>
          <a:p>
            <a:endParaRPr/>
          </a:p>
        </p:txBody>
      </p:sp>
      <p:sp>
        <p:nvSpPr>
          <p:cNvPr id="72" name="object 72"/>
          <p:cNvSpPr txBox="1"/>
          <p:nvPr/>
        </p:nvSpPr>
        <p:spPr>
          <a:xfrm>
            <a:off x="3686936" y="4169409"/>
            <a:ext cx="95885"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FFFFFF"/>
                </a:solidFill>
                <a:latin typeface="Arial"/>
                <a:cs typeface="Arial"/>
              </a:rPr>
              <a:t>2</a:t>
            </a:r>
            <a:endParaRPr sz="1000">
              <a:latin typeface="Arial"/>
              <a:cs typeface="Arial"/>
            </a:endParaRPr>
          </a:p>
        </p:txBody>
      </p:sp>
      <p:sp>
        <p:nvSpPr>
          <p:cNvPr id="73" name="object 73"/>
          <p:cNvSpPr txBox="1"/>
          <p:nvPr/>
        </p:nvSpPr>
        <p:spPr>
          <a:xfrm>
            <a:off x="11144757" y="2029206"/>
            <a:ext cx="436245" cy="239395"/>
          </a:xfrm>
          <a:prstGeom prst="rect">
            <a:avLst/>
          </a:prstGeom>
        </p:spPr>
        <p:txBody>
          <a:bodyPr vert="horz" wrap="square" lIns="0" tIns="13335" rIns="0" bIns="0" rtlCol="0">
            <a:spAutoFit/>
          </a:bodyPr>
          <a:lstStyle/>
          <a:p>
            <a:pPr marL="12700">
              <a:lnSpc>
                <a:spcPct val="100000"/>
              </a:lnSpc>
              <a:spcBef>
                <a:spcPts val="105"/>
              </a:spcBef>
            </a:pPr>
            <a:r>
              <a:rPr sz="1400" b="1" spc="-114" dirty="0">
                <a:latin typeface="Arial"/>
                <a:cs typeface="Arial"/>
              </a:rPr>
              <a:t>T</a:t>
            </a:r>
            <a:r>
              <a:rPr sz="1400" b="1" spc="-10" dirty="0">
                <a:latin typeface="Arial"/>
                <a:cs typeface="Arial"/>
              </a:rPr>
              <a:t>o</a:t>
            </a:r>
            <a:r>
              <a:rPr sz="1400" b="1" dirty="0">
                <a:latin typeface="Arial"/>
                <a:cs typeface="Arial"/>
              </a:rPr>
              <a:t>tal</a:t>
            </a:r>
            <a:endParaRPr sz="1400">
              <a:latin typeface="Arial"/>
              <a:cs typeface="Arial"/>
            </a:endParaRPr>
          </a:p>
        </p:txBody>
      </p:sp>
      <p:sp>
        <p:nvSpPr>
          <p:cNvPr id="74" name="object 74"/>
          <p:cNvSpPr/>
          <p:nvPr/>
        </p:nvSpPr>
        <p:spPr>
          <a:xfrm>
            <a:off x="11156060" y="5680760"/>
            <a:ext cx="478790" cy="288925"/>
          </a:xfrm>
          <a:custGeom>
            <a:avLst/>
            <a:gdLst/>
            <a:ahLst/>
            <a:cxnLst/>
            <a:rect l="l" t="t" r="r" b="b"/>
            <a:pathLst>
              <a:path w="478790" h="288925">
                <a:moveTo>
                  <a:pt x="239395" y="0"/>
                </a:moveTo>
                <a:lnTo>
                  <a:pt x="184506" y="3813"/>
                </a:lnTo>
                <a:lnTo>
                  <a:pt x="134118" y="14675"/>
                </a:lnTo>
                <a:lnTo>
                  <a:pt x="89668" y="31718"/>
                </a:lnTo>
                <a:lnTo>
                  <a:pt x="52594" y="54077"/>
                </a:lnTo>
                <a:lnTo>
                  <a:pt x="24333" y="80883"/>
                </a:lnTo>
                <a:lnTo>
                  <a:pt x="0" y="144373"/>
                </a:lnTo>
                <a:lnTo>
                  <a:pt x="6322" y="177480"/>
                </a:lnTo>
                <a:lnTo>
                  <a:pt x="52594" y="234680"/>
                </a:lnTo>
                <a:lnTo>
                  <a:pt x="89668" y="257040"/>
                </a:lnTo>
                <a:lnTo>
                  <a:pt x="134118" y="274084"/>
                </a:lnTo>
                <a:lnTo>
                  <a:pt x="184506" y="284946"/>
                </a:lnTo>
                <a:lnTo>
                  <a:pt x="239395" y="288759"/>
                </a:lnTo>
                <a:lnTo>
                  <a:pt x="294283" y="284946"/>
                </a:lnTo>
                <a:lnTo>
                  <a:pt x="344671" y="274084"/>
                </a:lnTo>
                <a:lnTo>
                  <a:pt x="389121" y="257040"/>
                </a:lnTo>
                <a:lnTo>
                  <a:pt x="426195" y="234680"/>
                </a:lnTo>
                <a:lnTo>
                  <a:pt x="454456" y="207871"/>
                </a:lnTo>
                <a:lnTo>
                  <a:pt x="478790" y="144373"/>
                </a:lnTo>
                <a:lnTo>
                  <a:pt x="472467" y="111271"/>
                </a:lnTo>
                <a:lnTo>
                  <a:pt x="426195" y="54077"/>
                </a:lnTo>
                <a:lnTo>
                  <a:pt x="389121" y="31718"/>
                </a:lnTo>
                <a:lnTo>
                  <a:pt x="344671" y="14675"/>
                </a:lnTo>
                <a:lnTo>
                  <a:pt x="294283" y="3813"/>
                </a:lnTo>
                <a:lnTo>
                  <a:pt x="239395" y="0"/>
                </a:lnTo>
                <a:close/>
              </a:path>
            </a:pathLst>
          </a:custGeom>
          <a:solidFill>
            <a:srgbClr val="051F79"/>
          </a:solidFill>
        </p:spPr>
        <p:txBody>
          <a:bodyPr wrap="square" lIns="0" tIns="0" rIns="0" bIns="0" rtlCol="0"/>
          <a:lstStyle/>
          <a:p>
            <a:endParaRPr/>
          </a:p>
        </p:txBody>
      </p:sp>
      <p:sp>
        <p:nvSpPr>
          <p:cNvPr id="75" name="object 75"/>
          <p:cNvSpPr txBox="1"/>
          <p:nvPr/>
        </p:nvSpPr>
        <p:spPr>
          <a:xfrm>
            <a:off x="11314303" y="5734303"/>
            <a:ext cx="165735" cy="177800"/>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FFFFFF"/>
                </a:solidFill>
                <a:latin typeface="Arial"/>
                <a:cs typeface="Arial"/>
              </a:rPr>
              <a:t>13</a:t>
            </a:r>
            <a:endParaRPr sz="1000">
              <a:latin typeface="Arial"/>
              <a:cs typeface="Arial"/>
            </a:endParaRPr>
          </a:p>
        </p:txBody>
      </p:sp>
      <p:sp>
        <p:nvSpPr>
          <p:cNvPr id="76" name="object 76"/>
          <p:cNvSpPr/>
          <p:nvPr/>
        </p:nvSpPr>
        <p:spPr>
          <a:xfrm>
            <a:off x="11156060" y="2282698"/>
            <a:ext cx="478790" cy="0"/>
          </a:xfrm>
          <a:custGeom>
            <a:avLst/>
            <a:gdLst/>
            <a:ahLst/>
            <a:cxnLst/>
            <a:rect l="l" t="t" r="r" b="b"/>
            <a:pathLst>
              <a:path w="478790">
                <a:moveTo>
                  <a:pt x="0" y="0"/>
                </a:moveTo>
                <a:lnTo>
                  <a:pt x="478790" y="0"/>
                </a:lnTo>
              </a:path>
            </a:pathLst>
          </a:custGeom>
          <a:ln w="12700">
            <a:solidFill>
              <a:srgbClr val="757575"/>
            </a:solidFill>
          </a:ln>
        </p:spPr>
        <p:txBody>
          <a:bodyPr wrap="square" lIns="0" tIns="0" rIns="0" bIns="0" rtlCol="0"/>
          <a:lstStyle/>
          <a:p>
            <a:endParaRPr/>
          </a:p>
        </p:txBody>
      </p:sp>
      <p:sp>
        <p:nvSpPr>
          <p:cNvPr id="77" name="object 77"/>
          <p:cNvSpPr/>
          <p:nvPr/>
        </p:nvSpPr>
        <p:spPr>
          <a:xfrm>
            <a:off x="11156060" y="5208015"/>
            <a:ext cx="478790" cy="288925"/>
          </a:xfrm>
          <a:custGeom>
            <a:avLst/>
            <a:gdLst/>
            <a:ahLst/>
            <a:cxnLst/>
            <a:rect l="l" t="t" r="r" b="b"/>
            <a:pathLst>
              <a:path w="478790" h="288925">
                <a:moveTo>
                  <a:pt x="239395" y="0"/>
                </a:moveTo>
                <a:lnTo>
                  <a:pt x="184506" y="3813"/>
                </a:lnTo>
                <a:lnTo>
                  <a:pt x="134118" y="14675"/>
                </a:lnTo>
                <a:lnTo>
                  <a:pt x="89668" y="31720"/>
                </a:lnTo>
                <a:lnTo>
                  <a:pt x="52594" y="54082"/>
                </a:lnTo>
                <a:lnTo>
                  <a:pt x="24333" y="80893"/>
                </a:lnTo>
                <a:lnTo>
                  <a:pt x="0" y="144398"/>
                </a:lnTo>
                <a:lnTo>
                  <a:pt x="6322" y="177510"/>
                </a:lnTo>
                <a:lnTo>
                  <a:pt x="52594" y="234715"/>
                </a:lnTo>
                <a:lnTo>
                  <a:pt x="89668" y="257077"/>
                </a:lnTo>
                <a:lnTo>
                  <a:pt x="134118" y="274122"/>
                </a:lnTo>
                <a:lnTo>
                  <a:pt x="184506" y="284984"/>
                </a:lnTo>
                <a:lnTo>
                  <a:pt x="239395" y="288797"/>
                </a:lnTo>
                <a:lnTo>
                  <a:pt x="294283" y="284984"/>
                </a:lnTo>
                <a:lnTo>
                  <a:pt x="344671" y="274122"/>
                </a:lnTo>
                <a:lnTo>
                  <a:pt x="389121" y="257077"/>
                </a:lnTo>
                <a:lnTo>
                  <a:pt x="426195" y="234715"/>
                </a:lnTo>
                <a:lnTo>
                  <a:pt x="454456" y="207904"/>
                </a:lnTo>
                <a:lnTo>
                  <a:pt x="478790" y="144398"/>
                </a:lnTo>
                <a:lnTo>
                  <a:pt x="472467" y="111287"/>
                </a:lnTo>
                <a:lnTo>
                  <a:pt x="426195" y="54082"/>
                </a:lnTo>
                <a:lnTo>
                  <a:pt x="389121" y="31720"/>
                </a:lnTo>
                <a:lnTo>
                  <a:pt x="344671" y="14675"/>
                </a:lnTo>
                <a:lnTo>
                  <a:pt x="294283" y="3813"/>
                </a:lnTo>
                <a:lnTo>
                  <a:pt x="239395" y="0"/>
                </a:lnTo>
                <a:close/>
              </a:path>
            </a:pathLst>
          </a:custGeom>
          <a:solidFill>
            <a:srgbClr val="051F79"/>
          </a:solidFill>
        </p:spPr>
        <p:txBody>
          <a:bodyPr wrap="square" lIns="0" tIns="0" rIns="0" bIns="0" rtlCol="0"/>
          <a:lstStyle/>
          <a:p>
            <a:endParaRPr/>
          </a:p>
        </p:txBody>
      </p:sp>
      <p:sp>
        <p:nvSpPr>
          <p:cNvPr id="78" name="object 78"/>
          <p:cNvSpPr txBox="1"/>
          <p:nvPr/>
        </p:nvSpPr>
        <p:spPr>
          <a:xfrm>
            <a:off x="11312779" y="5261609"/>
            <a:ext cx="168275" cy="177800"/>
          </a:xfrm>
          <a:prstGeom prst="rect">
            <a:avLst/>
          </a:prstGeom>
        </p:spPr>
        <p:txBody>
          <a:bodyPr vert="horz" wrap="square" lIns="0" tIns="12065" rIns="0" bIns="0" rtlCol="0">
            <a:spAutoFit/>
          </a:bodyPr>
          <a:lstStyle/>
          <a:p>
            <a:pPr marL="12700">
              <a:lnSpc>
                <a:spcPct val="100000"/>
              </a:lnSpc>
              <a:spcBef>
                <a:spcPts val="95"/>
              </a:spcBef>
            </a:pPr>
            <a:r>
              <a:rPr sz="1000" b="1" spc="-15" dirty="0">
                <a:solidFill>
                  <a:srgbClr val="FFFFFF"/>
                </a:solidFill>
                <a:latin typeface="Arial"/>
                <a:cs typeface="Arial"/>
              </a:rPr>
              <a:t>~2</a:t>
            </a:r>
            <a:endParaRPr sz="1000">
              <a:latin typeface="Arial"/>
              <a:cs typeface="Arial"/>
            </a:endParaRPr>
          </a:p>
        </p:txBody>
      </p:sp>
      <p:sp>
        <p:nvSpPr>
          <p:cNvPr id="79" name="object 79"/>
          <p:cNvSpPr/>
          <p:nvPr/>
        </p:nvSpPr>
        <p:spPr>
          <a:xfrm>
            <a:off x="11156060" y="2478658"/>
            <a:ext cx="478790" cy="288925"/>
          </a:xfrm>
          <a:custGeom>
            <a:avLst/>
            <a:gdLst/>
            <a:ahLst/>
            <a:cxnLst/>
            <a:rect l="l" t="t" r="r" b="b"/>
            <a:pathLst>
              <a:path w="478790" h="288925">
                <a:moveTo>
                  <a:pt x="239395" y="0"/>
                </a:moveTo>
                <a:lnTo>
                  <a:pt x="184506" y="3813"/>
                </a:lnTo>
                <a:lnTo>
                  <a:pt x="134118" y="14675"/>
                </a:lnTo>
                <a:lnTo>
                  <a:pt x="89668" y="31720"/>
                </a:lnTo>
                <a:lnTo>
                  <a:pt x="52594" y="54082"/>
                </a:lnTo>
                <a:lnTo>
                  <a:pt x="24333" y="80893"/>
                </a:lnTo>
                <a:lnTo>
                  <a:pt x="0" y="144399"/>
                </a:lnTo>
                <a:lnTo>
                  <a:pt x="6322" y="177510"/>
                </a:lnTo>
                <a:lnTo>
                  <a:pt x="52594" y="234715"/>
                </a:lnTo>
                <a:lnTo>
                  <a:pt x="89668" y="257077"/>
                </a:lnTo>
                <a:lnTo>
                  <a:pt x="134118" y="274122"/>
                </a:lnTo>
                <a:lnTo>
                  <a:pt x="184506" y="284984"/>
                </a:lnTo>
                <a:lnTo>
                  <a:pt x="239395" y="288798"/>
                </a:lnTo>
                <a:lnTo>
                  <a:pt x="294283" y="284984"/>
                </a:lnTo>
                <a:lnTo>
                  <a:pt x="344671" y="274122"/>
                </a:lnTo>
                <a:lnTo>
                  <a:pt x="389121" y="257077"/>
                </a:lnTo>
                <a:lnTo>
                  <a:pt x="426195" y="234715"/>
                </a:lnTo>
                <a:lnTo>
                  <a:pt x="454456" y="207904"/>
                </a:lnTo>
                <a:lnTo>
                  <a:pt x="478790" y="144399"/>
                </a:lnTo>
                <a:lnTo>
                  <a:pt x="472467" y="111287"/>
                </a:lnTo>
                <a:lnTo>
                  <a:pt x="426195" y="54082"/>
                </a:lnTo>
                <a:lnTo>
                  <a:pt x="389121" y="31720"/>
                </a:lnTo>
                <a:lnTo>
                  <a:pt x="344671" y="14675"/>
                </a:lnTo>
                <a:lnTo>
                  <a:pt x="294283" y="3813"/>
                </a:lnTo>
                <a:lnTo>
                  <a:pt x="239395" y="0"/>
                </a:lnTo>
                <a:close/>
              </a:path>
            </a:pathLst>
          </a:custGeom>
          <a:solidFill>
            <a:srgbClr val="051F79"/>
          </a:solidFill>
        </p:spPr>
        <p:txBody>
          <a:bodyPr wrap="square" lIns="0" tIns="0" rIns="0" bIns="0" rtlCol="0"/>
          <a:lstStyle/>
          <a:p>
            <a:endParaRPr/>
          </a:p>
        </p:txBody>
      </p:sp>
      <p:sp>
        <p:nvSpPr>
          <p:cNvPr id="80" name="object 80"/>
          <p:cNvSpPr txBox="1"/>
          <p:nvPr/>
        </p:nvSpPr>
        <p:spPr>
          <a:xfrm>
            <a:off x="11312779" y="2531186"/>
            <a:ext cx="168275" cy="177800"/>
          </a:xfrm>
          <a:prstGeom prst="rect">
            <a:avLst/>
          </a:prstGeom>
        </p:spPr>
        <p:txBody>
          <a:bodyPr vert="horz" wrap="square" lIns="0" tIns="12065" rIns="0" bIns="0" rtlCol="0">
            <a:spAutoFit/>
          </a:bodyPr>
          <a:lstStyle/>
          <a:p>
            <a:pPr marL="12700">
              <a:lnSpc>
                <a:spcPct val="100000"/>
              </a:lnSpc>
              <a:spcBef>
                <a:spcPts val="95"/>
              </a:spcBef>
            </a:pPr>
            <a:r>
              <a:rPr sz="1000" b="1" spc="-15" dirty="0">
                <a:solidFill>
                  <a:srgbClr val="FFFFFF"/>
                </a:solidFill>
                <a:latin typeface="Arial"/>
                <a:cs typeface="Arial"/>
              </a:rPr>
              <a:t>~5</a:t>
            </a:r>
            <a:endParaRPr sz="1000">
              <a:latin typeface="Arial"/>
              <a:cs typeface="Arial"/>
            </a:endParaRPr>
          </a:p>
        </p:txBody>
      </p:sp>
      <p:sp>
        <p:nvSpPr>
          <p:cNvPr id="81" name="object 81"/>
          <p:cNvSpPr/>
          <p:nvPr/>
        </p:nvSpPr>
        <p:spPr>
          <a:xfrm>
            <a:off x="11156060" y="3024504"/>
            <a:ext cx="478790" cy="288925"/>
          </a:xfrm>
          <a:custGeom>
            <a:avLst/>
            <a:gdLst/>
            <a:ahLst/>
            <a:cxnLst/>
            <a:rect l="l" t="t" r="r" b="b"/>
            <a:pathLst>
              <a:path w="478790" h="288925">
                <a:moveTo>
                  <a:pt x="239395" y="0"/>
                </a:moveTo>
                <a:lnTo>
                  <a:pt x="184506" y="3813"/>
                </a:lnTo>
                <a:lnTo>
                  <a:pt x="134118" y="14675"/>
                </a:lnTo>
                <a:lnTo>
                  <a:pt x="89668" y="31720"/>
                </a:lnTo>
                <a:lnTo>
                  <a:pt x="52594" y="54082"/>
                </a:lnTo>
                <a:lnTo>
                  <a:pt x="24333" y="80893"/>
                </a:lnTo>
                <a:lnTo>
                  <a:pt x="0" y="144399"/>
                </a:lnTo>
                <a:lnTo>
                  <a:pt x="6322" y="177510"/>
                </a:lnTo>
                <a:lnTo>
                  <a:pt x="52594" y="234715"/>
                </a:lnTo>
                <a:lnTo>
                  <a:pt x="89668" y="257077"/>
                </a:lnTo>
                <a:lnTo>
                  <a:pt x="134118" y="274122"/>
                </a:lnTo>
                <a:lnTo>
                  <a:pt x="184506" y="284984"/>
                </a:lnTo>
                <a:lnTo>
                  <a:pt x="239395" y="288798"/>
                </a:lnTo>
                <a:lnTo>
                  <a:pt x="294283" y="284984"/>
                </a:lnTo>
                <a:lnTo>
                  <a:pt x="344671" y="274122"/>
                </a:lnTo>
                <a:lnTo>
                  <a:pt x="389121" y="257077"/>
                </a:lnTo>
                <a:lnTo>
                  <a:pt x="426195" y="234715"/>
                </a:lnTo>
                <a:lnTo>
                  <a:pt x="454456" y="207904"/>
                </a:lnTo>
                <a:lnTo>
                  <a:pt x="478790" y="144399"/>
                </a:lnTo>
                <a:lnTo>
                  <a:pt x="472467" y="111287"/>
                </a:lnTo>
                <a:lnTo>
                  <a:pt x="426195" y="54082"/>
                </a:lnTo>
                <a:lnTo>
                  <a:pt x="389121" y="31720"/>
                </a:lnTo>
                <a:lnTo>
                  <a:pt x="344671" y="14675"/>
                </a:lnTo>
                <a:lnTo>
                  <a:pt x="294283" y="3813"/>
                </a:lnTo>
                <a:lnTo>
                  <a:pt x="239395" y="0"/>
                </a:lnTo>
                <a:close/>
              </a:path>
            </a:pathLst>
          </a:custGeom>
          <a:solidFill>
            <a:srgbClr val="051F79"/>
          </a:solidFill>
        </p:spPr>
        <p:txBody>
          <a:bodyPr wrap="square" lIns="0" tIns="0" rIns="0" bIns="0" rtlCol="0"/>
          <a:lstStyle/>
          <a:p>
            <a:endParaRPr/>
          </a:p>
        </p:txBody>
      </p:sp>
      <p:sp>
        <p:nvSpPr>
          <p:cNvPr id="82" name="object 82"/>
          <p:cNvSpPr txBox="1"/>
          <p:nvPr/>
        </p:nvSpPr>
        <p:spPr>
          <a:xfrm>
            <a:off x="11349355" y="3077717"/>
            <a:ext cx="95885" cy="177800"/>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FFFFFF"/>
                </a:solidFill>
                <a:latin typeface="Arial"/>
                <a:cs typeface="Arial"/>
              </a:rPr>
              <a:t>2</a:t>
            </a:r>
            <a:endParaRPr sz="1000">
              <a:latin typeface="Arial"/>
              <a:cs typeface="Arial"/>
            </a:endParaRPr>
          </a:p>
        </p:txBody>
      </p:sp>
      <p:sp>
        <p:nvSpPr>
          <p:cNvPr id="83" name="object 83"/>
          <p:cNvSpPr/>
          <p:nvPr/>
        </p:nvSpPr>
        <p:spPr>
          <a:xfrm>
            <a:off x="11156060" y="3570351"/>
            <a:ext cx="478790" cy="288925"/>
          </a:xfrm>
          <a:custGeom>
            <a:avLst/>
            <a:gdLst/>
            <a:ahLst/>
            <a:cxnLst/>
            <a:rect l="l" t="t" r="r" b="b"/>
            <a:pathLst>
              <a:path w="478790" h="288925">
                <a:moveTo>
                  <a:pt x="239395" y="0"/>
                </a:moveTo>
                <a:lnTo>
                  <a:pt x="184506" y="3813"/>
                </a:lnTo>
                <a:lnTo>
                  <a:pt x="134118" y="14675"/>
                </a:lnTo>
                <a:lnTo>
                  <a:pt x="89668" y="31720"/>
                </a:lnTo>
                <a:lnTo>
                  <a:pt x="52594" y="54082"/>
                </a:lnTo>
                <a:lnTo>
                  <a:pt x="24333" y="80893"/>
                </a:lnTo>
                <a:lnTo>
                  <a:pt x="0" y="144399"/>
                </a:lnTo>
                <a:lnTo>
                  <a:pt x="6322" y="177510"/>
                </a:lnTo>
                <a:lnTo>
                  <a:pt x="52594" y="234715"/>
                </a:lnTo>
                <a:lnTo>
                  <a:pt x="89668" y="257077"/>
                </a:lnTo>
                <a:lnTo>
                  <a:pt x="134118" y="274122"/>
                </a:lnTo>
                <a:lnTo>
                  <a:pt x="184506" y="284984"/>
                </a:lnTo>
                <a:lnTo>
                  <a:pt x="239395" y="288798"/>
                </a:lnTo>
                <a:lnTo>
                  <a:pt x="294283" y="284984"/>
                </a:lnTo>
                <a:lnTo>
                  <a:pt x="344671" y="274122"/>
                </a:lnTo>
                <a:lnTo>
                  <a:pt x="389121" y="257077"/>
                </a:lnTo>
                <a:lnTo>
                  <a:pt x="426195" y="234715"/>
                </a:lnTo>
                <a:lnTo>
                  <a:pt x="454456" y="207904"/>
                </a:lnTo>
                <a:lnTo>
                  <a:pt x="478790" y="144399"/>
                </a:lnTo>
                <a:lnTo>
                  <a:pt x="472467" y="111287"/>
                </a:lnTo>
                <a:lnTo>
                  <a:pt x="426195" y="54082"/>
                </a:lnTo>
                <a:lnTo>
                  <a:pt x="389121" y="31720"/>
                </a:lnTo>
                <a:lnTo>
                  <a:pt x="344671" y="14675"/>
                </a:lnTo>
                <a:lnTo>
                  <a:pt x="294283" y="3813"/>
                </a:lnTo>
                <a:lnTo>
                  <a:pt x="239395" y="0"/>
                </a:lnTo>
                <a:close/>
              </a:path>
            </a:pathLst>
          </a:custGeom>
          <a:solidFill>
            <a:srgbClr val="051F79"/>
          </a:solidFill>
        </p:spPr>
        <p:txBody>
          <a:bodyPr wrap="square" lIns="0" tIns="0" rIns="0" bIns="0" rtlCol="0"/>
          <a:lstStyle/>
          <a:p>
            <a:endParaRPr/>
          </a:p>
        </p:txBody>
      </p:sp>
      <p:sp>
        <p:nvSpPr>
          <p:cNvPr id="84" name="object 84"/>
          <p:cNvSpPr txBox="1"/>
          <p:nvPr/>
        </p:nvSpPr>
        <p:spPr>
          <a:xfrm>
            <a:off x="11312779" y="3623564"/>
            <a:ext cx="168275" cy="177800"/>
          </a:xfrm>
          <a:prstGeom prst="rect">
            <a:avLst/>
          </a:prstGeom>
        </p:spPr>
        <p:txBody>
          <a:bodyPr vert="horz" wrap="square" lIns="0" tIns="12065" rIns="0" bIns="0" rtlCol="0">
            <a:spAutoFit/>
          </a:bodyPr>
          <a:lstStyle/>
          <a:p>
            <a:pPr marL="12700">
              <a:lnSpc>
                <a:spcPct val="100000"/>
              </a:lnSpc>
              <a:spcBef>
                <a:spcPts val="95"/>
              </a:spcBef>
            </a:pPr>
            <a:r>
              <a:rPr sz="1000" b="1" spc="-15" dirty="0">
                <a:solidFill>
                  <a:srgbClr val="FFFFFF"/>
                </a:solidFill>
                <a:latin typeface="Arial"/>
                <a:cs typeface="Arial"/>
              </a:rPr>
              <a:t>~1</a:t>
            </a:r>
            <a:endParaRPr sz="1000">
              <a:latin typeface="Arial"/>
              <a:cs typeface="Arial"/>
            </a:endParaRPr>
          </a:p>
        </p:txBody>
      </p:sp>
      <p:sp>
        <p:nvSpPr>
          <p:cNvPr id="85" name="object 85"/>
          <p:cNvSpPr/>
          <p:nvPr/>
        </p:nvSpPr>
        <p:spPr>
          <a:xfrm>
            <a:off x="11156060" y="4662170"/>
            <a:ext cx="478790" cy="288925"/>
          </a:xfrm>
          <a:custGeom>
            <a:avLst/>
            <a:gdLst/>
            <a:ahLst/>
            <a:cxnLst/>
            <a:rect l="l" t="t" r="r" b="b"/>
            <a:pathLst>
              <a:path w="478790" h="288925">
                <a:moveTo>
                  <a:pt x="239395" y="0"/>
                </a:moveTo>
                <a:lnTo>
                  <a:pt x="184506" y="3813"/>
                </a:lnTo>
                <a:lnTo>
                  <a:pt x="134118" y="14675"/>
                </a:lnTo>
                <a:lnTo>
                  <a:pt x="89668" y="31720"/>
                </a:lnTo>
                <a:lnTo>
                  <a:pt x="52594" y="54082"/>
                </a:lnTo>
                <a:lnTo>
                  <a:pt x="24333" y="80893"/>
                </a:lnTo>
                <a:lnTo>
                  <a:pt x="0" y="144398"/>
                </a:lnTo>
                <a:lnTo>
                  <a:pt x="6322" y="177510"/>
                </a:lnTo>
                <a:lnTo>
                  <a:pt x="52594" y="234715"/>
                </a:lnTo>
                <a:lnTo>
                  <a:pt x="89668" y="257077"/>
                </a:lnTo>
                <a:lnTo>
                  <a:pt x="134118" y="274122"/>
                </a:lnTo>
                <a:lnTo>
                  <a:pt x="184506" y="284984"/>
                </a:lnTo>
                <a:lnTo>
                  <a:pt x="239395" y="288797"/>
                </a:lnTo>
                <a:lnTo>
                  <a:pt x="294283" y="284984"/>
                </a:lnTo>
                <a:lnTo>
                  <a:pt x="344671" y="274122"/>
                </a:lnTo>
                <a:lnTo>
                  <a:pt x="389121" y="257077"/>
                </a:lnTo>
                <a:lnTo>
                  <a:pt x="426195" y="234715"/>
                </a:lnTo>
                <a:lnTo>
                  <a:pt x="454456" y="207904"/>
                </a:lnTo>
                <a:lnTo>
                  <a:pt x="478790" y="144398"/>
                </a:lnTo>
                <a:lnTo>
                  <a:pt x="472467" y="111287"/>
                </a:lnTo>
                <a:lnTo>
                  <a:pt x="426195" y="54082"/>
                </a:lnTo>
                <a:lnTo>
                  <a:pt x="389121" y="31720"/>
                </a:lnTo>
                <a:lnTo>
                  <a:pt x="344671" y="14675"/>
                </a:lnTo>
                <a:lnTo>
                  <a:pt x="294283" y="3813"/>
                </a:lnTo>
                <a:lnTo>
                  <a:pt x="239395" y="0"/>
                </a:lnTo>
                <a:close/>
              </a:path>
            </a:pathLst>
          </a:custGeom>
          <a:solidFill>
            <a:srgbClr val="051F79"/>
          </a:solidFill>
        </p:spPr>
        <p:txBody>
          <a:bodyPr wrap="square" lIns="0" tIns="0" rIns="0" bIns="0" rtlCol="0"/>
          <a:lstStyle/>
          <a:p>
            <a:endParaRPr/>
          </a:p>
        </p:txBody>
      </p:sp>
      <p:sp>
        <p:nvSpPr>
          <p:cNvPr id="86" name="object 86"/>
          <p:cNvSpPr txBox="1"/>
          <p:nvPr/>
        </p:nvSpPr>
        <p:spPr>
          <a:xfrm>
            <a:off x="11312779" y="4715636"/>
            <a:ext cx="168275" cy="177800"/>
          </a:xfrm>
          <a:prstGeom prst="rect">
            <a:avLst/>
          </a:prstGeom>
        </p:spPr>
        <p:txBody>
          <a:bodyPr vert="horz" wrap="square" lIns="0" tIns="12065" rIns="0" bIns="0" rtlCol="0">
            <a:spAutoFit/>
          </a:bodyPr>
          <a:lstStyle/>
          <a:p>
            <a:pPr marL="12700">
              <a:lnSpc>
                <a:spcPct val="100000"/>
              </a:lnSpc>
              <a:spcBef>
                <a:spcPts val="95"/>
              </a:spcBef>
            </a:pPr>
            <a:r>
              <a:rPr sz="1000" b="1" spc="-15" dirty="0">
                <a:solidFill>
                  <a:srgbClr val="FFFFFF"/>
                </a:solidFill>
                <a:latin typeface="Arial"/>
                <a:cs typeface="Arial"/>
              </a:rPr>
              <a:t>~1</a:t>
            </a:r>
            <a:endParaRPr sz="1000">
              <a:latin typeface="Arial"/>
              <a:cs typeface="Arial"/>
            </a:endParaRPr>
          </a:p>
        </p:txBody>
      </p:sp>
      <p:sp>
        <p:nvSpPr>
          <p:cNvPr id="87" name="object 87"/>
          <p:cNvSpPr/>
          <p:nvPr/>
        </p:nvSpPr>
        <p:spPr>
          <a:xfrm>
            <a:off x="11156060" y="4116323"/>
            <a:ext cx="478790" cy="288925"/>
          </a:xfrm>
          <a:custGeom>
            <a:avLst/>
            <a:gdLst/>
            <a:ahLst/>
            <a:cxnLst/>
            <a:rect l="l" t="t" r="r" b="b"/>
            <a:pathLst>
              <a:path w="478790" h="288925">
                <a:moveTo>
                  <a:pt x="239395" y="0"/>
                </a:moveTo>
                <a:lnTo>
                  <a:pt x="184506" y="3813"/>
                </a:lnTo>
                <a:lnTo>
                  <a:pt x="134118" y="14675"/>
                </a:lnTo>
                <a:lnTo>
                  <a:pt x="89668" y="31720"/>
                </a:lnTo>
                <a:lnTo>
                  <a:pt x="52594" y="54082"/>
                </a:lnTo>
                <a:lnTo>
                  <a:pt x="24333" y="80893"/>
                </a:lnTo>
                <a:lnTo>
                  <a:pt x="0" y="144399"/>
                </a:lnTo>
                <a:lnTo>
                  <a:pt x="6322" y="177463"/>
                </a:lnTo>
                <a:lnTo>
                  <a:pt x="52594" y="234612"/>
                </a:lnTo>
                <a:lnTo>
                  <a:pt x="89668" y="256960"/>
                </a:lnTo>
                <a:lnTo>
                  <a:pt x="134118" y="273998"/>
                </a:lnTo>
                <a:lnTo>
                  <a:pt x="184506" y="284858"/>
                </a:lnTo>
                <a:lnTo>
                  <a:pt x="239395" y="288670"/>
                </a:lnTo>
                <a:lnTo>
                  <a:pt x="294283" y="284858"/>
                </a:lnTo>
                <a:lnTo>
                  <a:pt x="344671" y="273998"/>
                </a:lnTo>
                <a:lnTo>
                  <a:pt x="389121" y="256960"/>
                </a:lnTo>
                <a:lnTo>
                  <a:pt x="426195" y="234612"/>
                </a:lnTo>
                <a:lnTo>
                  <a:pt x="454456" y="207824"/>
                </a:lnTo>
                <a:lnTo>
                  <a:pt x="478790" y="144399"/>
                </a:lnTo>
                <a:lnTo>
                  <a:pt x="472467" y="111287"/>
                </a:lnTo>
                <a:lnTo>
                  <a:pt x="426195" y="54082"/>
                </a:lnTo>
                <a:lnTo>
                  <a:pt x="389121" y="31720"/>
                </a:lnTo>
                <a:lnTo>
                  <a:pt x="344671" y="14675"/>
                </a:lnTo>
                <a:lnTo>
                  <a:pt x="294283" y="3813"/>
                </a:lnTo>
                <a:lnTo>
                  <a:pt x="239395" y="0"/>
                </a:lnTo>
                <a:close/>
              </a:path>
            </a:pathLst>
          </a:custGeom>
          <a:solidFill>
            <a:srgbClr val="051F79"/>
          </a:solidFill>
        </p:spPr>
        <p:txBody>
          <a:bodyPr wrap="square" lIns="0" tIns="0" rIns="0" bIns="0" rtlCol="0"/>
          <a:lstStyle/>
          <a:p>
            <a:endParaRPr/>
          </a:p>
        </p:txBody>
      </p:sp>
      <p:sp>
        <p:nvSpPr>
          <p:cNvPr id="88" name="object 88"/>
          <p:cNvSpPr txBox="1"/>
          <p:nvPr/>
        </p:nvSpPr>
        <p:spPr>
          <a:xfrm>
            <a:off x="11312779" y="4169409"/>
            <a:ext cx="168275" cy="177800"/>
          </a:xfrm>
          <a:prstGeom prst="rect">
            <a:avLst/>
          </a:prstGeom>
        </p:spPr>
        <p:txBody>
          <a:bodyPr vert="horz" wrap="square" lIns="0" tIns="12065" rIns="0" bIns="0" rtlCol="0">
            <a:spAutoFit/>
          </a:bodyPr>
          <a:lstStyle/>
          <a:p>
            <a:pPr marL="12700">
              <a:lnSpc>
                <a:spcPct val="100000"/>
              </a:lnSpc>
              <a:spcBef>
                <a:spcPts val="95"/>
              </a:spcBef>
            </a:pPr>
            <a:r>
              <a:rPr sz="1000" b="1" spc="-15" dirty="0">
                <a:solidFill>
                  <a:srgbClr val="FFFFFF"/>
                </a:solidFill>
                <a:latin typeface="Arial"/>
                <a:cs typeface="Arial"/>
              </a:rPr>
              <a:t>~2</a:t>
            </a:r>
            <a:endParaRPr sz="1000">
              <a:latin typeface="Arial"/>
              <a:cs typeface="Arial"/>
            </a:endParaRPr>
          </a:p>
        </p:txBody>
      </p:sp>
      <p:sp>
        <p:nvSpPr>
          <p:cNvPr id="89" name="object 89"/>
          <p:cNvSpPr/>
          <p:nvPr/>
        </p:nvSpPr>
        <p:spPr>
          <a:xfrm>
            <a:off x="2687320" y="5220385"/>
            <a:ext cx="294121" cy="263982"/>
          </a:xfrm>
          <a:prstGeom prst="rect">
            <a:avLst/>
          </a:prstGeom>
          <a:blipFill>
            <a:blip r:embed="rId5" cstate="print"/>
            <a:stretch>
              <a:fillRect/>
            </a:stretch>
          </a:blipFill>
        </p:spPr>
        <p:txBody>
          <a:bodyPr wrap="square" lIns="0" tIns="0" rIns="0" bIns="0" rtlCol="0"/>
          <a:lstStyle/>
          <a:p>
            <a:endParaRPr/>
          </a:p>
        </p:txBody>
      </p:sp>
      <p:sp>
        <p:nvSpPr>
          <p:cNvPr id="90" name="object 90"/>
          <p:cNvSpPr/>
          <p:nvPr/>
        </p:nvSpPr>
        <p:spPr>
          <a:xfrm>
            <a:off x="2687320" y="2491028"/>
            <a:ext cx="294121" cy="263982"/>
          </a:xfrm>
          <a:prstGeom prst="rect">
            <a:avLst/>
          </a:prstGeom>
          <a:blipFill>
            <a:blip r:embed="rId5" cstate="print"/>
            <a:stretch>
              <a:fillRect/>
            </a:stretch>
          </a:blipFill>
        </p:spPr>
        <p:txBody>
          <a:bodyPr wrap="square" lIns="0" tIns="0" rIns="0" bIns="0" rtlCol="0"/>
          <a:lstStyle/>
          <a:p>
            <a:endParaRPr/>
          </a:p>
        </p:txBody>
      </p:sp>
      <p:sp>
        <p:nvSpPr>
          <p:cNvPr id="91" name="object 91"/>
          <p:cNvSpPr/>
          <p:nvPr/>
        </p:nvSpPr>
        <p:spPr>
          <a:xfrm>
            <a:off x="2537967" y="2996107"/>
            <a:ext cx="294121" cy="263982"/>
          </a:xfrm>
          <a:prstGeom prst="rect">
            <a:avLst/>
          </a:prstGeom>
          <a:blipFill>
            <a:blip r:embed="rId5" cstate="print"/>
            <a:stretch>
              <a:fillRect/>
            </a:stretch>
          </a:blipFill>
        </p:spPr>
        <p:txBody>
          <a:bodyPr wrap="square" lIns="0" tIns="0" rIns="0" bIns="0" rtlCol="0"/>
          <a:lstStyle/>
          <a:p>
            <a:endParaRPr/>
          </a:p>
        </p:txBody>
      </p:sp>
      <p:sp>
        <p:nvSpPr>
          <p:cNvPr id="92" name="object 92"/>
          <p:cNvSpPr/>
          <p:nvPr/>
        </p:nvSpPr>
        <p:spPr>
          <a:xfrm>
            <a:off x="2807017" y="3260597"/>
            <a:ext cx="267970" cy="81280"/>
          </a:xfrm>
          <a:custGeom>
            <a:avLst/>
            <a:gdLst/>
            <a:ahLst/>
            <a:cxnLst/>
            <a:rect l="l" t="t" r="r" b="b"/>
            <a:pathLst>
              <a:path w="267969" h="81279">
                <a:moveTo>
                  <a:pt x="255560" y="39971"/>
                </a:moveTo>
                <a:lnTo>
                  <a:pt x="63482" y="39971"/>
                </a:lnTo>
                <a:lnTo>
                  <a:pt x="73167" y="40655"/>
                </a:lnTo>
                <a:lnTo>
                  <a:pt x="87258" y="43936"/>
                </a:lnTo>
                <a:lnTo>
                  <a:pt x="104076" y="51562"/>
                </a:lnTo>
                <a:lnTo>
                  <a:pt x="122037" y="61682"/>
                </a:lnTo>
                <a:lnTo>
                  <a:pt x="139842" y="70707"/>
                </a:lnTo>
                <a:lnTo>
                  <a:pt x="156243" y="77493"/>
                </a:lnTo>
                <a:lnTo>
                  <a:pt x="169989" y="80899"/>
                </a:lnTo>
                <a:lnTo>
                  <a:pt x="185040" y="79752"/>
                </a:lnTo>
                <a:lnTo>
                  <a:pt x="232600" y="62356"/>
                </a:lnTo>
                <a:lnTo>
                  <a:pt x="254111" y="41608"/>
                </a:lnTo>
                <a:lnTo>
                  <a:pt x="255560" y="39971"/>
                </a:lnTo>
                <a:close/>
              </a:path>
              <a:path w="267969" h="81279">
                <a:moveTo>
                  <a:pt x="110426" y="0"/>
                </a:moveTo>
                <a:lnTo>
                  <a:pt x="91590" y="291"/>
                </a:lnTo>
                <a:lnTo>
                  <a:pt x="78136" y="3286"/>
                </a:lnTo>
                <a:lnTo>
                  <a:pt x="70064" y="6732"/>
                </a:lnTo>
                <a:lnTo>
                  <a:pt x="67373" y="8381"/>
                </a:lnTo>
                <a:lnTo>
                  <a:pt x="59932" y="12678"/>
                </a:lnTo>
                <a:lnTo>
                  <a:pt x="23332" y="35653"/>
                </a:lnTo>
                <a:lnTo>
                  <a:pt x="0" y="60880"/>
                </a:lnTo>
                <a:lnTo>
                  <a:pt x="567" y="64863"/>
                </a:lnTo>
                <a:lnTo>
                  <a:pt x="4254" y="66548"/>
                </a:lnTo>
                <a:lnTo>
                  <a:pt x="11945" y="65018"/>
                </a:lnTo>
                <a:lnTo>
                  <a:pt x="22447" y="60880"/>
                </a:lnTo>
                <a:lnTo>
                  <a:pt x="32615" y="55957"/>
                </a:lnTo>
                <a:lnTo>
                  <a:pt x="39306" y="52069"/>
                </a:lnTo>
                <a:lnTo>
                  <a:pt x="44513" y="48513"/>
                </a:lnTo>
                <a:lnTo>
                  <a:pt x="59880" y="40131"/>
                </a:lnTo>
                <a:lnTo>
                  <a:pt x="63482" y="39971"/>
                </a:lnTo>
                <a:lnTo>
                  <a:pt x="255560" y="39971"/>
                </a:lnTo>
                <a:lnTo>
                  <a:pt x="263586" y="30906"/>
                </a:lnTo>
                <a:lnTo>
                  <a:pt x="265900" y="28193"/>
                </a:lnTo>
                <a:lnTo>
                  <a:pt x="253809" y="28193"/>
                </a:lnTo>
                <a:lnTo>
                  <a:pt x="244030" y="26924"/>
                </a:lnTo>
                <a:lnTo>
                  <a:pt x="235152" y="25245"/>
                </a:lnTo>
                <a:lnTo>
                  <a:pt x="223869" y="22351"/>
                </a:lnTo>
                <a:lnTo>
                  <a:pt x="211204" y="18887"/>
                </a:lnTo>
                <a:lnTo>
                  <a:pt x="198183" y="15493"/>
                </a:lnTo>
                <a:lnTo>
                  <a:pt x="181221" y="11626"/>
                </a:lnTo>
                <a:lnTo>
                  <a:pt x="158591" y="7032"/>
                </a:lnTo>
                <a:lnTo>
                  <a:pt x="133818" y="2795"/>
                </a:lnTo>
                <a:lnTo>
                  <a:pt x="110426" y="0"/>
                </a:lnTo>
                <a:close/>
              </a:path>
              <a:path w="267969" h="81279">
                <a:moveTo>
                  <a:pt x="267525" y="26288"/>
                </a:moveTo>
                <a:lnTo>
                  <a:pt x="253809" y="28193"/>
                </a:lnTo>
                <a:lnTo>
                  <a:pt x="265900" y="28193"/>
                </a:lnTo>
                <a:lnTo>
                  <a:pt x="267525" y="26288"/>
                </a:lnTo>
                <a:close/>
              </a:path>
            </a:pathLst>
          </a:custGeom>
          <a:solidFill>
            <a:srgbClr val="051F79"/>
          </a:solidFill>
        </p:spPr>
        <p:txBody>
          <a:bodyPr wrap="square" lIns="0" tIns="0" rIns="0" bIns="0" rtlCol="0"/>
          <a:lstStyle/>
          <a:p>
            <a:endParaRPr/>
          </a:p>
        </p:txBody>
      </p:sp>
      <p:sp>
        <p:nvSpPr>
          <p:cNvPr id="93" name="object 93"/>
          <p:cNvSpPr/>
          <p:nvPr/>
        </p:nvSpPr>
        <p:spPr>
          <a:xfrm>
            <a:off x="2811272" y="3118357"/>
            <a:ext cx="324072" cy="208787"/>
          </a:xfrm>
          <a:prstGeom prst="rect">
            <a:avLst/>
          </a:prstGeom>
          <a:blipFill>
            <a:blip r:embed="rId6" cstate="print"/>
            <a:stretch>
              <a:fillRect/>
            </a:stretch>
          </a:blipFill>
        </p:spPr>
        <p:txBody>
          <a:bodyPr wrap="square" lIns="0" tIns="0" rIns="0" bIns="0" rtlCol="0"/>
          <a:lstStyle/>
          <a:p>
            <a:endParaRPr/>
          </a:p>
        </p:txBody>
      </p:sp>
      <p:sp>
        <p:nvSpPr>
          <p:cNvPr id="94" name="object 94"/>
          <p:cNvSpPr/>
          <p:nvPr/>
        </p:nvSpPr>
        <p:spPr>
          <a:xfrm>
            <a:off x="2818653" y="3845940"/>
            <a:ext cx="267970" cy="81280"/>
          </a:xfrm>
          <a:custGeom>
            <a:avLst/>
            <a:gdLst/>
            <a:ahLst/>
            <a:cxnLst/>
            <a:rect l="l" t="t" r="r" b="b"/>
            <a:pathLst>
              <a:path w="267969" h="81279">
                <a:moveTo>
                  <a:pt x="255513" y="40096"/>
                </a:moveTo>
                <a:lnTo>
                  <a:pt x="63511" y="40096"/>
                </a:lnTo>
                <a:lnTo>
                  <a:pt x="73167" y="40766"/>
                </a:lnTo>
                <a:lnTo>
                  <a:pt x="87252" y="44009"/>
                </a:lnTo>
                <a:lnTo>
                  <a:pt x="104124" y="51561"/>
                </a:lnTo>
                <a:lnTo>
                  <a:pt x="122066" y="61755"/>
                </a:lnTo>
                <a:lnTo>
                  <a:pt x="139842" y="70818"/>
                </a:lnTo>
                <a:lnTo>
                  <a:pt x="156237" y="77618"/>
                </a:lnTo>
                <a:lnTo>
                  <a:pt x="170037" y="81025"/>
                </a:lnTo>
                <a:lnTo>
                  <a:pt x="185015" y="79877"/>
                </a:lnTo>
                <a:lnTo>
                  <a:pt x="232521" y="62356"/>
                </a:lnTo>
                <a:lnTo>
                  <a:pt x="254079" y="41719"/>
                </a:lnTo>
                <a:lnTo>
                  <a:pt x="255513" y="40096"/>
                </a:lnTo>
                <a:close/>
              </a:path>
              <a:path w="267969" h="81279">
                <a:moveTo>
                  <a:pt x="110347" y="0"/>
                </a:moveTo>
                <a:lnTo>
                  <a:pt x="91531" y="291"/>
                </a:lnTo>
                <a:lnTo>
                  <a:pt x="78120" y="3286"/>
                </a:lnTo>
                <a:lnTo>
                  <a:pt x="70092" y="6732"/>
                </a:lnTo>
                <a:lnTo>
                  <a:pt x="67421" y="8381"/>
                </a:lnTo>
                <a:lnTo>
                  <a:pt x="59979" y="12805"/>
                </a:lnTo>
                <a:lnTo>
                  <a:pt x="23379" y="35780"/>
                </a:lnTo>
                <a:lnTo>
                  <a:pt x="0" y="61007"/>
                </a:lnTo>
                <a:lnTo>
                  <a:pt x="597" y="64990"/>
                </a:lnTo>
                <a:lnTo>
                  <a:pt x="4302" y="66674"/>
                </a:lnTo>
                <a:lnTo>
                  <a:pt x="11937" y="65145"/>
                </a:lnTo>
                <a:lnTo>
                  <a:pt x="22431" y="61007"/>
                </a:lnTo>
                <a:lnTo>
                  <a:pt x="32591" y="56084"/>
                </a:lnTo>
                <a:lnTo>
                  <a:pt x="39227" y="52196"/>
                </a:lnTo>
                <a:lnTo>
                  <a:pt x="44434" y="48640"/>
                </a:lnTo>
                <a:lnTo>
                  <a:pt x="59928" y="40258"/>
                </a:lnTo>
                <a:lnTo>
                  <a:pt x="63511" y="40096"/>
                </a:lnTo>
                <a:lnTo>
                  <a:pt x="255513" y="40096"/>
                </a:lnTo>
                <a:lnTo>
                  <a:pt x="263525" y="31031"/>
                </a:lnTo>
                <a:lnTo>
                  <a:pt x="265935" y="28193"/>
                </a:lnTo>
                <a:lnTo>
                  <a:pt x="253730" y="28193"/>
                </a:lnTo>
                <a:lnTo>
                  <a:pt x="243951" y="27050"/>
                </a:lnTo>
                <a:lnTo>
                  <a:pt x="235073" y="25318"/>
                </a:lnTo>
                <a:lnTo>
                  <a:pt x="223789" y="22431"/>
                </a:lnTo>
                <a:lnTo>
                  <a:pt x="211125" y="18996"/>
                </a:lnTo>
                <a:lnTo>
                  <a:pt x="198104" y="15620"/>
                </a:lnTo>
                <a:lnTo>
                  <a:pt x="181195" y="11751"/>
                </a:lnTo>
                <a:lnTo>
                  <a:pt x="158559" y="7143"/>
                </a:lnTo>
                <a:lnTo>
                  <a:pt x="133756" y="2869"/>
                </a:lnTo>
                <a:lnTo>
                  <a:pt x="110347" y="0"/>
                </a:lnTo>
                <a:close/>
              </a:path>
              <a:path w="267969" h="81279">
                <a:moveTo>
                  <a:pt x="267446" y="26415"/>
                </a:moveTo>
                <a:lnTo>
                  <a:pt x="253730" y="28193"/>
                </a:lnTo>
                <a:lnTo>
                  <a:pt x="265935" y="28193"/>
                </a:lnTo>
                <a:lnTo>
                  <a:pt x="267446" y="26415"/>
                </a:lnTo>
                <a:close/>
              </a:path>
            </a:pathLst>
          </a:custGeom>
          <a:solidFill>
            <a:srgbClr val="051F79"/>
          </a:solidFill>
        </p:spPr>
        <p:txBody>
          <a:bodyPr wrap="square" lIns="0" tIns="0" rIns="0" bIns="0" rtlCol="0"/>
          <a:lstStyle/>
          <a:p>
            <a:endParaRPr/>
          </a:p>
        </p:txBody>
      </p:sp>
      <p:sp>
        <p:nvSpPr>
          <p:cNvPr id="95" name="object 95"/>
          <p:cNvSpPr/>
          <p:nvPr/>
        </p:nvSpPr>
        <p:spPr>
          <a:xfrm>
            <a:off x="2822955" y="3885962"/>
            <a:ext cx="55880" cy="26670"/>
          </a:xfrm>
          <a:custGeom>
            <a:avLst/>
            <a:gdLst/>
            <a:ahLst/>
            <a:cxnLst/>
            <a:rect l="l" t="t" r="r" b="b"/>
            <a:pathLst>
              <a:path w="55880" h="26670">
                <a:moveTo>
                  <a:pt x="43037" y="0"/>
                </a:moveTo>
                <a:lnTo>
                  <a:pt x="32105" y="1256"/>
                </a:lnTo>
                <a:lnTo>
                  <a:pt x="22351" y="4810"/>
                </a:lnTo>
                <a:lnTo>
                  <a:pt x="15323" y="10937"/>
                </a:lnTo>
                <a:lnTo>
                  <a:pt x="9842" y="17827"/>
                </a:lnTo>
                <a:lnTo>
                  <a:pt x="5028" y="23669"/>
                </a:lnTo>
                <a:lnTo>
                  <a:pt x="0" y="26654"/>
                </a:lnTo>
                <a:lnTo>
                  <a:pt x="7635" y="25124"/>
                </a:lnTo>
                <a:lnTo>
                  <a:pt x="18129" y="20986"/>
                </a:lnTo>
                <a:lnTo>
                  <a:pt x="28289" y="16063"/>
                </a:lnTo>
                <a:lnTo>
                  <a:pt x="34925" y="12176"/>
                </a:lnTo>
                <a:lnTo>
                  <a:pt x="40131" y="8620"/>
                </a:lnTo>
                <a:lnTo>
                  <a:pt x="55625" y="238"/>
                </a:lnTo>
                <a:lnTo>
                  <a:pt x="51944" y="5"/>
                </a:lnTo>
                <a:lnTo>
                  <a:pt x="43037" y="0"/>
                </a:lnTo>
                <a:close/>
              </a:path>
            </a:pathLst>
          </a:custGeom>
          <a:solidFill>
            <a:srgbClr val="005479"/>
          </a:solidFill>
        </p:spPr>
        <p:txBody>
          <a:bodyPr wrap="square" lIns="0" tIns="0" rIns="0" bIns="0" rtlCol="0"/>
          <a:lstStyle/>
          <a:p>
            <a:endParaRPr/>
          </a:p>
        </p:txBody>
      </p:sp>
      <p:sp>
        <p:nvSpPr>
          <p:cNvPr id="96" name="object 96"/>
          <p:cNvSpPr/>
          <p:nvPr/>
        </p:nvSpPr>
        <p:spPr>
          <a:xfrm>
            <a:off x="3021457" y="3703701"/>
            <a:ext cx="27940" cy="11430"/>
          </a:xfrm>
          <a:custGeom>
            <a:avLst/>
            <a:gdLst/>
            <a:ahLst/>
            <a:cxnLst/>
            <a:rect l="l" t="t" r="r" b="b"/>
            <a:pathLst>
              <a:path w="27939" h="11429">
                <a:moveTo>
                  <a:pt x="26416" y="0"/>
                </a:moveTo>
                <a:lnTo>
                  <a:pt x="762" y="0"/>
                </a:lnTo>
                <a:lnTo>
                  <a:pt x="0" y="10287"/>
                </a:lnTo>
                <a:lnTo>
                  <a:pt x="27940" y="11175"/>
                </a:lnTo>
                <a:lnTo>
                  <a:pt x="26416" y="0"/>
                </a:lnTo>
                <a:close/>
              </a:path>
            </a:pathLst>
          </a:custGeom>
          <a:solidFill>
            <a:srgbClr val="82A6C8"/>
          </a:solidFill>
        </p:spPr>
        <p:txBody>
          <a:bodyPr wrap="square" lIns="0" tIns="0" rIns="0" bIns="0" rtlCol="0"/>
          <a:lstStyle/>
          <a:p>
            <a:endParaRPr/>
          </a:p>
        </p:txBody>
      </p:sp>
      <p:sp>
        <p:nvSpPr>
          <p:cNvPr id="97" name="object 97"/>
          <p:cNvSpPr/>
          <p:nvPr/>
        </p:nvSpPr>
        <p:spPr>
          <a:xfrm>
            <a:off x="2886075" y="3711321"/>
            <a:ext cx="183515" cy="160655"/>
          </a:xfrm>
          <a:custGeom>
            <a:avLst/>
            <a:gdLst/>
            <a:ahLst/>
            <a:cxnLst/>
            <a:rect l="l" t="t" r="r" b="b"/>
            <a:pathLst>
              <a:path w="183514" h="160654">
                <a:moveTo>
                  <a:pt x="178715" y="135127"/>
                </a:moveTo>
                <a:lnTo>
                  <a:pt x="43052" y="135127"/>
                </a:lnTo>
                <a:lnTo>
                  <a:pt x="43814" y="135254"/>
                </a:lnTo>
                <a:lnTo>
                  <a:pt x="45212" y="135254"/>
                </a:lnTo>
                <a:lnTo>
                  <a:pt x="53544" y="136114"/>
                </a:lnTo>
                <a:lnTo>
                  <a:pt x="63579" y="137652"/>
                </a:lnTo>
                <a:lnTo>
                  <a:pt x="74876" y="139737"/>
                </a:lnTo>
                <a:lnTo>
                  <a:pt x="86994" y="142239"/>
                </a:lnTo>
                <a:lnTo>
                  <a:pt x="87502" y="142239"/>
                </a:lnTo>
                <a:lnTo>
                  <a:pt x="87756" y="142366"/>
                </a:lnTo>
                <a:lnTo>
                  <a:pt x="94487" y="143763"/>
                </a:lnTo>
                <a:lnTo>
                  <a:pt x="95631" y="144017"/>
                </a:lnTo>
                <a:lnTo>
                  <a:pt x="96900" y="144271"/>
                </a:lnTo>
                <a:lnTo>
                  <a:pt x="97662" y="144525"/>
                </a:lnTo>
                <a:lnTo>
                  <a:pt x="99187" y="144779"/>
                </a:lnTo>
                <a:lnTo>
                  <a:pt x="100330" y="145033"/>
                </a:lnTo>
                <a:lnTo>
                  <a:pt x="101600" y="145287"/>
                </a:lnTo>
                <a:lnTo>
                  <a:pt x="102743" y="145668"/>
                </a:lnTo>
                <a:lnTo>
                  <a:pt x="103250" y="145668"/>
                </a:lnTo>
                <a:lnTo>
                  <a:pt x="106806" y="146557"/>
                </a:lnTo>
                <a:lnTo>
                  <a:pt x="111632" y="147573"/>
                </a:lnTo>
                <a:lnTo>
                  <a:pt x="112394" y="147827"/>
                </a:lnTo>
                <a:lnTo>
                  <a:pt x="113792" y="148081"/>
                </a:lnTo>
                <a:lnTo>
                  <a:pt x="118744" y="149224"/>
                </a:lnTo>
                <a:lnTo>
                  <a:pt x="120142" y="149605"/>
                </a:lnTo>
                <a:lnTo>
                  <a:pt x="121412" y="149859"/>
                </a:lnTo>
                <a:lnTo>
                  <a:pt x="122681" y="150240"/>
                </a:lnTo>
                <a:lnTo>
                  <a:pt x="124206" y="150494"/>
                </a:lnTo>
                <a:lnTo>
                  <a:pt x="124968" y="150748"/>
                </a:lnTo>
                <a:lnTo>
                  <a:pt x="125730" y="150875"/>
                </a:lnTo>
                <a:lnTo>
                  <a:pt x="126618" y="151129"/>
                </a:lnTo>
                <a:lnTo>
                  <a:pt x="128016" y="151383"/>
                </a:lnTo>
                <a:lnTo>
                  <a:pt x="128650" y="151637"/>
                </a:lnTo>
                <a:lnTo>
                  <a:pt x="130048" y="151891"/>
                </a:lnTo>
                <a:lnTo>
                  <a:pt x="130810" y="152145"/>
                </a:lnTo>
                <a:lnTo>
                  <a:pt x="131572" y="152272"/>
                </a:lnTo>
                <a:lnTo>
                  <a:pt x="136906" y="153542"/>
                </a:lnTo>
                <a:lnTo>
                  <a:pt x="139319" y="154050"/>
                </a:lnTo>
                <a:lnTo>
                  <a:pt x="140335" y="154304"/>
                </a:lnTo>
                <a:lnTo>
                  <a:pt x="141224" y="154558"/>
                </a:lnTo>
                <a:lnTo>
                  <a:pt x="142112" y="154685"/>
                </a:lnTo>
                <a:lnTo>
                  <a:pt x="149098" y="156336"/>
                </a:lnTo>
                <a:lnTo>
                  <a:pt x="159766" y="158749"/>
                </a:lnTo>
                <a:lnTo>
                  <a:pt x="162179" y="159257"/>
                </a:lnTo>
                <a:lnTo>
                  <a:pt x="164211" y="159638"/>
                </a:lnTo>
                <a:lnTo>
                  <a:pt x="165735" y="159892"/>
                </a:lnTo>
                <a:lnTo>
                  <a:pt x="166116" y="159892"/>
                </a:lnTo>
                <a:lnTo>
                  <a:pt x="166497" y="160019"/>
                </a:lnTo>
                <a:lnTo>
                  <a:pt x="167258" y="160019"/>
                </a:lnTo>
                <a:lnTo>
                  <a:pt x="167386" y="160146"/>
                </a:lnTo>
                <a:lnTo>
                  <a:pt x="168275" y="160146"/>
                </a:lnTo>
                <a:lnTo>
                  <a:pt x="168656" y="160273"/>
                </a:lnTo>
                <a:lnTo>
                  <a:pt x="169291" y="160273"/>
                </a:lnTo>
                <a:lnTo>
                  <a:pt x="169672" y="160400"/>
                </a:lnTo>
                <a:lnTo>
                  <a:pt x="171069" y="160400"/>
                </a:lnTo>
                <a:lnTo>
                  <a:pt x="171450" y="160527"/>
                </a:lnTo>
                <a:lnTo>
                  <a:pt x="173736" y="160527"/>
                </a:lnTo>
                <a:lnTo>
                  <a:pt x="176402" y="160654"/>
                </a:lnTo>
                <a:lnTo>
                  <a:pt x="178715" y="135127"/>
                </a:lnTo>
                <a:close/>
              </a:path>
              <a:path w="183514" h="160654">
                <a:moveTo>
                  <a:pt x="147574" y="0"/>
                </a:moveTo>
                <a:lnTo>
                  <a:pt x="146050" y="0"/>
                </a:lnTo>
                <a:lnTo>
                  <a:pt x="140372" y="192"/>
                </a:lnTo>
                <a:lnTo>
                  <a:pt x="131206" y="777"/>
                </a:lnTo>
                <a:lnTo>
                  <a:pt x="119207" y="2053"/>
                </a:lnTo>
                <a:lnTo>
                  <a:pt x="103505" y="4571"/>
                </a:lnTo>
                <a:lnTo>
                  <a:pt x="101854" y="4952"/>
                </a:lnTo>
                <a:lnTo>
                  <a:pt x="100202" y="5206"/>
                </a:lnTo>
                <a:lnTo>
                  <a:pt x="99313" y="5460"/>
                </a:lnTo>
                <a:lnTo>
                  <a:pt x="98425" y="5587"/>
                </a:lnTo>
                <a:lnTo>
                  <a:pt x="97536" y="5841"/>
                </a:lnTo>
                <a:lnTo>
                  <a:pt x="53848" y="20700"/>
                </a:lnTo>
                <a:lnTo>
                  <a:pt x="13017" y="61309"/>
                </a:lnTo>
                <a:lnTo>
                  <a:pt x="1500" y="107017"/>
                </a:lnTo>
                <a:lnTo>
                  <a:pt x="0" y="143128"/>
                </a:lnTo>
                <a:lnTo>
                  <a:pt x="2750" y="141771"/>
                </a:lnTo>
                <a:lnTo>
                  <a:pt x="10763" y="138842"/>
                </a:lnTo>
                <a:lnTo>
                  <a:pt x="23681" y="136056"/>
                </a:lnTo>
                <a:lnTo>
                  <a:pt x="41148" y="135127"/>
                </a:lnTo>
                <a:lnTo>
                  <a:pt x="178715" y="135127"/>
                </a:lnTo>
                <a:lnTo>
                  <a:pt x="181641" y="96488"/>
                </a:lnTo>
                <a:lnTo>
                  <a:pt x="183332" y="57142"/>
                </a:lnTo>
                <a:lnTo>
                  <a:pt x="181737" y="32130"/>
                </a:lnTo>
                <a:lnTo>
                  <a:pt x="173988" y="19020"/>
                </a:lnTo>
                <a:lnTo>
                  <a:pt x="162512" y="8874"/>
                </a:lnTo>
                <a:lnTo>
                  <a:pt x="152108" y="2323"/>
                </a:lnTo>
                <a:lnTo>
                  <a:pt x="147574" y="0"/>
                </a:lnTo>
                <a:close/>
              </a:path>
            </a:pathLst>
          </a:custGeom>
          <a:solidFill>
            <a:srgbClr val="051F79"/>
          </a:solidFill>
        </p:spPr>
        <p:txBody>
          <a:bodyPr wrap="square" lIns="0" tIns="0" rIns="0" bIns="0" rtlCol="0"/>
          <a:lstStyle/>
          <a:p>
            <a:endParaRPr/>
          </a:p>
        </p:txBody>
      </p:sp>
      <p:sp>
        <p:nvSpPr>
          <p:cNvPr id="98" name="object 98"/>
          <p:cNvSpPr/>
          <p:nvPr/>
        </p:nvSpPr>
        <p:spPr>
          <a:xfrm>
            <a:off x="3033648" y="3711321"/>
            <a:ext cx="113664" cy="167640"/>
          </a:xfrm>
          <a:custGeom>
            <a:avLst/>
            <a:gdLst/>
            <a:ahLst/>
            <a:cxnLst/>
            <a:rect l="l" t="t" r="r" b="b"/>
            <a:pathLst>
              <a:path w="113664" h="167639">
                <a:moveTo>
                  <a:pt x="110680" y="160555"/>
                </a:moveTo>
                <a:lnTo>
                  <a:pt x="33881" y="160555"/>
                </a:lnTo>
                <a:lnTo>
                  <a:pt x="46577" y="160623"/>
                </a:lnTo>
                <a:lnTo>
                  <a:pt x="63226" y="161405"/>
                </a:lnTo>
                <a:lnTo>
                  <a:pt x="80137" y="163448"/>
                </a:lnTo>
                <a:lnTo>
                  <a:pt x="91033" y="165548"/>
                </a:lnTo>
                <a:lnTo>
                  <a:pt x="100155" y="167195"/>
                </a:lnTo>
                <a:lnTo>
                  <a:pt x="106729" y="167413"/>
                </a:lnTo>
                <a:lnTo>
                  <a:pt x="109981" y="165226"/>
                </a:lnTo>
                <a:lnTo>
                  <a:pt x="110680" y="160555"/>
                </a:lnTo>
                <a:close/>
              </a:path>
              <a:path w="113664" h="167639">
                <a:moveTo>
                  <a:pt x="0" y="0"/>
                </a:moveTo>
                <a:lnTo>
                  <a:pt x="34162" y="32130"/>
                </a:lnTo>
                <a:lnTo>
                  <a:pt x="35758" y="57142"/>
                </a:lnTo>
                <a:lnTo>
                  <a:pt x="34067" y="96488"/>
                </a:lnTo>
                <a:lnTo>
                  <a:pt x="31091" y="135786"/>
                </a:lnTo>
                <a:lnTo>
                  <a:pt x="28828" y="160654"/>
                </a:lnTo>
                <a:lnTo>
                  <a:pt x="33881" y="160555"/>
                </a:lnTo>
                <a:lnTo>
                  <a:pt x="110680" y="160555"/>
                </a:lnTo>
                <a:lnTo>
                  <a:pt x="111801" y="153060"/>
                </a:lnTo>
                <a:lnTo>
                  <a:pt x="113299" y="128476"/>
                </a:lnTo>
                <a:lnTo>
                  <a:pt x="112535" y="98200"/>
                </a:lnTo>
                <a:lnTo>
                  <a:pt x="99758" y="50434"/>
                </a:lnTo>
                <a:lnTo>
                  <a:pt x="67182" y="19430"/>
                </a:lnTo>
                <a:lnTo>
                  <a:pt x="25159" y="4411"/>
                </a:lnTo>
                <a:lnTo>
                  <a:pt x="0" y="0"/>
                </a:lnTo>
                <a:close/>
              </a:path>
            </a:pathLst>
          </a:custGeom>
          <a:solidFill>
            <a:srgbClr val="051F79"/>
          </a:solidFill>
        </p:spPr>
        <p:txBody>
          <a:bodyPr wrap="square" lIns="0" tIns="0" rIns="0" bIns="0" rtlCol="0"/>
          <a:lstStyle/>
          <a:p>
            <a:endParaRPr/>
          </a:p>
        </p:txBody>
      </p:sp>
      <p:sp>
        <p:nvSpPr>
          <p:cNvPr id="99" name="object 99"/>
          <p:cNvSpPr/>
          <p:nvPr/>
        </p:nvSpPr>
        <p:spPr>
          <a:xfrm>
            <a:off x="2886710" y="3711321"/>
            <a:ext cx="156845" cy="132715"/>
          </a:xfrm>
          <a:custGeom>
            <a:avLst/>
            <a:gdLst/>
            <a:ahLst/>
            <a:cxnLst/>
            <a:rect l="l" t="t" r="r" b="b"/>
            <a:pathLst>
              <a:path w="156844" h="132714">
                <a:moveTo>
                  <a:pt x="146938" y="0"/>
                </a:moveTo>
                <a:lnTo>
                  <a:pt x="145414" y="0"/>
                </a:lnTo>
                <a:lnTo>
                  <a:pt x="139737" y="192"/>
                </a:lnTo>
                <a:lnTo>
                  <a:pt x="130571" y="777"/>
                </a:lnTo>
                <a:lnTo>
                  <a:pt x="118572" y="2053"/>
                </a:lnTo>
                <a:lnTo>
                  <a:pt x="102869" y="4571"/>
                </a:lnTo>
                <a:lnTo>
                  <a:pt x="101218" y="4952"/>
                </a:lnTo>
                <a:lnTo>
                  <a:pt x="99567" y="5206"/>
                </a:lnTo>
                <a:lnTo>
                  <a:pt x="98678" y="5460"/>
                </a:lnTo>
                <a:lnTo>
                  <a:pt x="97789" y="5587"/>
                </a:lnTo>
                <a:lnTo>
                  <a:pt x="96900" y="5841"/>
                </a:lnTo>
                <a:lnTo>
                  <a:pt x="53212" y="20700"/>
                </a:lnTo>
                <a:lnTo>
                  <a:pt x="12382" y="61309"/>
                </a:lnTo>
                <a:lnTo>
                  <a:pt x="1553" y="99802"/>
                </a:lnTo>
                <a:lnTo>
                  <a:pt x="0" y="122554"/>
                </a:lnTo>
                <a:lnTo>
                  <a:pt x="20675" y="128720"/>
                </a:lnTo>
                <a:lnTo>
                  <a:pt x="41862" y="132064"/>
                </a:lnTo>
                <a:lnTo>
                  <a:pt x="63168" y="132145"/>
                </a:lnTo>
                <a:lnTo>
                  <a:pt x="84200" y="128523"/>
                </a:lnTo>
                <a:lnTo>
                  <a:pt x="129635" y="102155"/>
                </a:lnTo>
                <a:lnTo>
                  <a:pt x="155066" y="55879"/>
                </a:lnTo>
                <a:lnTo>
                  <a:pt x="156575" y="32289"/>
                </a:lnTo>
                <a:lnTo>
                  <a:pt x="155227" y="20482"/>
                </a:lnTo>
                <a:lnTo>
                  <a:pt x="148335" y="634"/>
                </a:lnTo>
                <a:lnTo>
                  <a:pt x="146938" y="0"/>
                </a:lnTo>
                <a:close/>
              </a:path>
            </a:pathLst>
          </a:custGeom>
          <a:solidFill>
            <a:srgbClr val="00A9F4"/>
          </a:solidFill>
        </p:spPr>
        <p:txBody>
          <a:bodyPr wrap="square" lIns="0" tIns="0" rIns="0" bIns="0" rtlCol="0"/>
          <a:lstStyle/>
          <a:p>
            <a:endParaRPr/>
          </a:p>
        </p:txBody>
      </p:sp>
      <p:sp>
        <p:nvSpPr>
          <p:cNvPr id="100" name="object 100"/>
          <p:cNvSpPr/>
          <p:nvPr/>
        </p:nvSpPr>
        <p:spPr>
          <a:xfrm>
            <a:off x="2920364" y="3785536"/>
            <a:ext cx="69850" cy="29845"/>
          </a:xfrm>
          <a:custGeom>
            <a:avLst/>
            <a:gdLst/>
            <a:ahLst/>
            <a:cxnLst/>
            <a:rect l="l" t="t" r="r" b="b"/>
            <a:pathLst>
              <a:path w="69850" h="29845">
                <a:moveTo>
                  <a:pt x="62584" y="23989"/>
                </a:moveTo>
                <a:lnTo>
                  <a:pt x="17962" y="23989"/>
                </a:lnTo>
                <a:lnTo>
                  <a:pt x="32131" y="24098"/>
                </a:lnTo>
                <a:lnTo>
                  <a:pt x="46204" y="25945"/>
                </a:lnTo>
                <a:lnTo>
                  <a:pt x="60325" y="29543"/>
                </a:lnTo>
                <a:lnTo>
                  <a:pt x="62584" y="23989"/>
                </a:lnTo>
                <a:close/>
              </a:path>
              <a:path w="69850" h="29845">
                <a:moveTo>
                  <a:pt x="34893" y="0"/>
                </a:moveTo>
                <a:lnTo>
                  <a:pt x="17660" y="327"/>
                </a:lnTo>
                <a:lnTo>
                  <a:pt x="0" y="3381"/>
                </a:lnTo>
                <a:lnTo>
                  <a:pt x="1397" y="10747"/>
                </a:lnTo>
                <a:lnTo>
                  <a:pt x="2159" y="18240"/>
                </a:lnTo>
                <a:lnTo>
                  <a:pt x="3556" y="25606"/>
                </a:lnTo>
                <a:lnTo>
                  <a:pt x="17962" y="23989"/>
                </a:lnTo>
                <a:lnTo>
                  <a:pt x="62584" y="23989"/>
                </a:lnTo>
                <a:lnTo>
                  <a:pt x="63373" y="22050"/>
                </a:lnTo>
                <a:lnTo>
                  <a:pt x="66548" y="14430"/>
                </a:lnTo>
                <a:lnTo>
                  <a:pt x="69596" y="6810"/>
                </a:lnTo>
                <a:lnTo>
                  <a:pt x="52077" y="2220"/>
                </a:lnTo>
                <a:lnTo>
                  <a:pt x="34893" y="0"/>
                </a:lnTo>
                <a:close/>
              </a:path>
            </a:pathLst>
          </a:custGeom>
          <a:solidFill>
            <a:srgbClr val="051F79"/>
          </a:solidFill>
        </p:spPr>
        <p:txBody>
          <a:bodyPr wrap="square" lIns="0" tIns="0" rIns="0" bIns="0" rtlCol="0"/>
          <a:lstStyle/>
          <a:p>
            <a:endParaRPr/>
          </a:p>
        </p:txBody>
      </p:sp>
      <p:sp>
        <p:nvSpPr>
          <p:cNvPr id="101" name="object 101"/>
          <p:cNvSpPr/>
          <p:nvPr/>
        </p:nvSpPr>
        <p:spPr>
          <a:xfrm>
            <a:off x="2923920" y="3787775"/>
            <a:ext cx="66040" cy="27305"/>
          </a:xfrm>
          <a:custGeom>
            <a:avLst/>
            <a:gdLst/>
            <a:ahLst/>
            <a:cxnLst/>
            <a:rect l="l" t="t" r="r" b="b"/>
            <a:pathLst>
              <a:path w="66039" h="27304">
                <a:moveTo>
                  <a:pt x="59028" y="21750"/>
                </a:moveTo>
                <a:lnTo>
                  <a:pt x="14406" y="21750"/>
                </a:lnTo>
                <a:lnTo>
                  <a:pt x="28575" y="21859"/>
                </a:lnTo>
                <a:lnTo>
                  <a:pt x="42648" y="23707"/>
                </a:lnTo>
                <a:lnTo>
                  <a:pt x="56768" y="27305"/>
                </a:lnTo>
                <a:lnTo>
                  <a:pt x="59028" y="21750"/>
                </a:lnTo>
                <a:close/>
              </a:path>
              <a:path w="66039" h="27304">
                <a:moveTo>
                  <a:pt x="48387" y="0"/>
                </a:moveTo>
                <a:lnTo>
                  <a:pt x="28646" y="5062"/>
                </a:lnTo>
                <a:lnTo>
                  <a:pt x="14192" y="12017"/>
                </a:lnTo>
                <a:lnTo>
                  <a:pt x="4738" y="18805"/>
                </a:lnTo>
                <a:lnTo>
                  <a:pt x="0" y="23368"/>
                </a:lnTo>
                <a:lnTo>
                  <a:pt x="14406" y="21750"/>
                </a:lnTo>
                <a:lnTo>
                  <a:pt x="59028" y="21750"/>
                </a:lnTo>
                <a:lnTo>
                  <a:pt x="59817" y="19812"/>
                </a:lnTo>
                <a:lnTo>
                  <a:pt x="63061" y="12017"/>
                </a:lnTo>
                <a:lnTo>
                  <a:pt x="65995" y="4683"/>
                </a:lnTo>
                <a:lnTo>
                  <a:pt x="60071" y="2667"/>
                </a:lnTo>
                <a:lnTo>
                  <a:pt x="54229" y="1143"/>
                </a:lnTo>
                <a:lnTo>
                  <a:pt x="48387" y="0"/>
                </a:lnTo>
                <a:close/>
              </a:path>
            </a:pathLst>
          </a:custGeom>
          <a:solidFill>
            <a:srgbClr val="051F79"/>
          </a:solidFill>
        </p:spPr>
        <p:txBody>
          <a:bodyPr wrap="square" lIns="0" tIns="0" rIns="0" bIns="0" rtlCol="0"/>
          <a:lstStyle/>
          <a:p>
            <a:endParaRPr/>
          </a:p>
        </p:txBody>
      </p:sp>
      <p:sp>
        <p:nvSpPr>
          <p:cNvPr id="102" name="object 102"/>
          <p:cNvSpPr/>
          <p:nvPr/>
        </p:nvSpPr>
        <p:spPr>
          <a:xfrm>
            <a:off x="2919476" y="3784758"/>
            <a:ext cx="71755" cy="31750"/>
          </a:xfrm>
          <a:custGeom>
            <a:avLst/>
            <a:gdLst/>
            <a:ahLst/>
            <a:cxnLst/>
            <a:rect l="l" t="t" r="r" b="b"/>
            <a:pathLst>
              <a:path w="71755" h="31750">
                <a:moveTo>
                  <a:pt x="44361" y="25528"/>
                </a:moveTo>
                <a:lnTo>
                  <a:pt x="18903" y="25528"/>
                </a:lnTo>
                <a:lnTo>
                  <a:pt x="33019" y="25638"/>
                </a:lnTo>
                <a:lnTo>
                  <a:pt x="47041" y="27485"/>
                </a:lnTo>
                <a:lnTo>
                  <a:pt x="61087" y="31083"/>
                </a:lnTo>
                <a:lnTo>
                  <a:pt x="61594" y="31337"/>
                </a:lnTo>
                <a:lnTo>
                  <a:pt x="62367" y="29432"/>
                </a:lnTo>
                <a:lnTo>
                  <a:pt x="60832" y="29432"/>
                </a:lnTo>
                <a:lnTo>
                  <a:pt x="51897" y="27005"/>
                </a:lnTo>
                <a:lnTo>
                  <a:pt x="44361" y="25528"/>
                </a:lnTo>
                <a:close/>
              </a:path>
              <a:path w="71755" h="31750">
                <a:moveTo>
                  <a:pt x="46938" y="1492"/>
                </a:moveTo>
                <a:lnTo>
                  <a:pt x="34893" y="1492"/>
                </a:lnTo>
                <a:lnTo>
                  <a:pt x="51800" y="3544"/>
                </a:lnTo>
                <a:lnTo>
                  <a:pt x="69468" y="8096"/>
                </a:lnTo>
                <a:lnTo>
                  <a:pt x="60832" y="29432"/>
                </a:lnTo>
                <a:lnTo>
                  <a:pt x="62367" y="29432"/>
                </a:lnTo>
                <a:lnTo>
                  <a:pt x="71374" y="7207"/>
                </a:lnTo>
                <a:lnTo>
                  <a:pt x="70612" y="6953"/>
                </a:lnTo>
                <a:lnTo>
                  <a:pt x="52355" y="2166"/>
                </a:lnTo>
                <a:lnTo>
                  <a:pt x="46938" y="1492"/>
                </a:lnTo>
                <a:close/>
              </a:path>
              <a:path w="71755" h="31750">
                <a:moveTo>
                  <a:pt x="34956" y="0"/>
                </a:moveTo>
                <a:lnTo>
                  <a:pt x="17891" y="452"/>
                </a:lnTo>
                <a:lnTo>
                  <a:pt x="0" y="3651"/>
                </a:lnTo>
                <a:lnTo>
                  <a:pt x="208" y="4794"/>
                </a:lnTo>
                <a:lnTo>
                  <a:pt x="888" y="7969"/>
                </a:lnTo>
                <a:lnTo>
                  <a:pt x="1397" y="11779"/>
                </a:lnTo>
                <a:lnTo>
                  <a:pt x="2412" y="19018"/>
                </a:lnTo>
                <a:lnTo>
                  <a:pt x="3810" y="27273"/>
                </a:lnTo>
                <a:lnTo>
                  <a:pt x="4572" y="27146"/>
                </a:lnTo>
                <a:lnTo>
                  <a:pt x="18903" y="25528"/>
                </a:lnTo>
                <a:lnTo>
                  <a:pt x="44361" y="25528"/>
                </a:lnTo>
                <a:lnTo>
                  <a:pt x="44189" y="25495"/>
                </a:lnTo>
                <a:lnTo>
                  <a:pt x="4953" y="25495"/>
                </a:lnTo>
                <a:lnTo>
                  <a:pt x="4318" y="22066"/>
                </a:lnTo>
                <a:lnTo>
                  <a:pt x="3810" y="18510"/>
                </a:lnTo>
                <a:lnTo>
                  <a:pt x="3301" y="15208"/>
                </a:lnTo>
                <a:lnTo>
                  <a:pt x="2238" y="7969"/>
                </a:lnTo>
                <a:lnTo>
                  <a:pt x="1650" y="4794"/>
                </a:lnTo>
                <a:lnTo>
                  <a:pt x="18319" y="1916"/>
                </a:lnTo>
                <a:lnTo>
                  <a:pt x="34893" y="1492"/>
                </a:lnTo>
                <a:lnTo>
                  <a:pt x="46938" y="1492"/>
                </a:lnTo>
                <a:lnTo>
                  <a:pt x="34956" y="0"/>
                </a:lnTo>
                <a:close/>
              </a:path>
              <a:path w="71755" h="31750">
                <a:moveTo>
                  <a:pt x="25018" y="23844"/>
                </a:moveTo>
                <a:lnTo>
                  <a:pt x="18415" y="23844"/>
                </a:lnTo>
                <a:lnTo>
                  <a:pt x="11684" y="24352"/>
                </a:lnTo>
                <a:lnTo>
                  <a:pt x="4953" y="25495"/>
                </a:lnTo>
                <a:lnTo>
                  <a:pt x="44189" y="25495"/>
                </a:lnTo>
                <a:lnTo>
                  <a:pt x="42973" y="25257"/>
                </a:lnTo>
                <a:lnTo>
                  <a:pt x="34026" y="24199"/>
                </a:lnTo>
                <a:lnTo>
                  <a:pt x="25018" y="23844"/>
                </a:lnTo>
                <a:close/>
              </a:path>
            </a:pathLst>
          </a:custGeom>
          <a:solidFill>
            <a:srgbClr val="82A6C8"/>
          </a:solidFill>
        </p:spPr>
        <p:txBody>
          <a:bodyPr wrap="square" lIns="0" tIns="0" rIns="0" bIns="0" rtlCol="0"/>
          <a:lstStyle/>
          <a:p>
            <a:endParaRPr/>
          </a:p>
        </p:txBody>
      </p:sp>
      <p:sp>
        <p:nvSpPr>
          <p:cNvPr id="103" name="object 103"/>
          <p:cNvSpPr/>
          <p:nvPr/>
        </p:nvSpPr>
        <p:spPr>
          <a:xfrm>
            <a:off x="2526410" y="3502418"/>
            <a:ext cx="242217" cy="218173"/>
          </a:xfrm>
          <a:prstGeom prst="rect">
            <a:avLst/>
          </a:prstGeom>
          <a:blipFill>
            <a:blip r:embed="rId4" cstate="print"/>
            <a:stretch>
              <a:fillRect/>
            </a:stretch>
          </a:blipFill>
        </p:spPr>
        <p:txBody>
          <a:bodyPr wrap="square" lIns="0" tIns="0" rIns="0" bIns="0" rtlCol="0"/>
          <a:lstStyle/>
          <a:p>
            <a:endParaRPr/>
          </a:p>
        </p:txBody>
      </p:sp>
      <p:sp>
        <p:nvSpPr>
          <p:cNvPr id="104" name="object 104"/>
          <p:cNvSpPr/>
          <p:nvPr/>
        </p:nvSpPr>
        <p:spPr>
          <a:xfrm>
            <a:off x="2668270" y="3645915"/>
            <a:ext cx="328696" cy="177672"/>
          </a:xfrm>
          <a:prstGeom prst="rect">
            <a:avLst/>
          </a:prstGeom>
          <a:blipFill>
            <a:blip r:embed="rId7" cstate="print"/>
            <a:stretch>
              <a:fillRect/>
            </a:stretch>
          </a:blipFill>
        </p:spPr>
        <p:txBody>
          <a:bodyPr wrap="square" lIns="0" tIns="0" rIns="0" bIns="0" rtlCol="0"/>
          <a:lstStyle/>
          <a:p>
            <a:endParaRPr/>
          </a:p>
        </p:txBody>
      </p:sp>
      <p:sp>
        <p:nvSpPr>
          <p:cNvPr id="105" name="object 105"/>
          <p:cNvSpPr/>
          <p:nvPr/>
        </p:nvSpPr>
        <p:spPr>
          <a:xfrm>
            <a:off x="2601467" y="4645926"/>
            <a:ext cx="242217" cy="218173"/>
          </a:xfrm>
          <a:prstGeom prst="rect">
            <a:avLst/>
          </a:prstGeom>
          <a:blipFill>
            <a:blip r:embed="rId4" cstate="print"/>
            <a:stretch>
              <a:fillRect/>
            </a:stretch>
          </a:blipFill>
        </p:spPr>
        <p:txBody>
          <a:bodyPr wrap="square" lIns="0" tIns="0" rIns="0" bIns="0" rtlCol="0"/>
          <a:lstStyle/>
          <a:p>
            <a:endParaRPr/>
          </a:p>
        </p:txBody>
      </p:sp>
      <p:sp>
        <p:nvSpPr>
          <p:cNvPr id="106" name="object 106"/>
          <p:cNvSpPr/>
          <p:nvPr/>
        </p:nvSpPr>
        <p:spPr>
          <a:xfrm>
            <a:off x="2743326" y="4789423"/>
            <a:ext cx="328696" cy="177673"/>
          </a:xfrm>
          <a:prstGeom prst="rect">
            <a:avLst/>
          </a:prstGeom>
          <a:blipFill>
            <a:blip r:embed="rId8" cstate="print"/>
            <a:stretch>
              <a:fillRect/>
            </a:stretch>
          </a:blipFill>
        </p:spPr>
        <p:txBody>
          <a:bodyPr wrap="square" lIns="0" tIns="0" rIns="0" bIns="0" rtlCol="0"/>
          <a:lstStyle/>
          <a:p>
            <a:endParaRPr/>
          </a:p>
        </p:txBody>
      </p:sp>
      <p:sp>
        <p:nvSpPr>
          <p:cNvPr id="107" name="object 107"/>
          <p:cNvSpPr/>
          <p:nvPr/>
        </p:nvSpPr>
        <p:spPr>
          <a:xfrm>
            <a:off x="2687320" y="4128693"/>
            <a:ext cx="294121" cy="263982"/>
          </a:xfrm>
          <a:prstGeom prst="rect">
            <a:avLst/>
          </a:prstGeom>
          <a:blipFill>
            <a:blip r:embed="rId5" cstate="print"/>
            <a:stretch>
              <a:fillRect/>
            </a:stretch>
          </a:blipFill>
        </p:spPr>
        <p:txBody>
          <a:bodyPr wrap="square" lIns="0" tIns="0" rIns="0" bIns="0" rtlCol="0"/>
          <a:lstStyle/>
          <a:p>
            <a:endParaRPr/>
          </a:p>
        </p:txBody>
      </p:sp>
      <p:sp>
        <p:nvSpPr>
          <p:cNvPr id="108" name="object 108"/>
          <p:cNvSpPr txBox="1"/>
          <p:nvPr/>
        </p:nvSpPr>
        <p:spPr>
          <a:xfrm>
            <a:off x="2305050" y="2029206"/>
            <a:ext cx="1044575" cy="239395"/>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Stakeholder</a:t>
            </a:r>
            <a:endParaRPr sz="1400">
              <a:latin typeface="Arial"/>
              <a:cs typeface="Arial"/>
            </a:endParaRPr>
          </a:p>
        </p:txBody>
      </p:sp>
      <p:sp>
        <p:nvSpPr>
          <p:cNvPr id="109" name="object 109"/>
          <p:cNvSpPr/>
          <p:nvPr/>
        </p:nvSpPr>
        <p:spPr>
          <a:xfrm>
            <a:off x="2317242" y="2282698"/>
            <a:ext cx="1029969" cy="0"/>
          </a:xfrm>
          <a:custGeom>
            <a:avLst/>
            <a:gdLst/>
            <a:ahLst/>
            <a:cxnLst/>
            <a:rect l="l" t="t" r="r" b="b"/>
            <a:pathLst>
              <a:path w="1029970">
                <a:moveTo>
                  <a:pt x="0" y="0"/>
                </a:moveTo>
                <a:lnTo>
                  <a:pt x="1029588" y="0"/>
                </a:lnTo>
              </a:path>
            </a:pathLst>
          </a:custGeom>
          <a:ln w="12700">
            <a:solidFill>
              <a:srgbClr val="757575"/>
            </a:solidFill>
          </a:ln>
        </p:spPr>
        <p:txBody>
          <a:bodyPr wrap="square" lIns="0" tIns="0" rIns="0" bIns="0" rtlCol="0"/>
          <a:lstStyle/>
          <a:p>
            <a:endParaRPr/>
          </a:p>
        </p:txBody>
      </p:sp>
      <p:sp>
        <p:nvSpPr>
          <p:cNvPr id="110" name="object 110"/>
          <p:cNvSpPr txBox="1"/>
          <p:nvPr/>
        </p:nvSpPr>
        <p:spPr>
          <a:xfrm>
            <a:off x="4030471" y="5292344"/>
            <a:ext cx="2515235" cy="177800"/>
          </a:xfrm>
          <a:prstGeom prst="rect">
            <a:avLst/>
          </a:prstGeom>
        </p:spPr>
        <p:txBody>
          <a:bodyPr vert="horz" wrap="square" lIns="0" tIns="12065" rIns="0" bIns="0" rtlCol="0">
            <a:spAutoFit/>
          </a:bodyPr>
          <a:lstStyle/>
          <a:p>
            <a:pPr marL="12700">
              <a:lnSpc>
                <a:spcPct val="100000"/>
              </a:lnSpc>
              <a:spcBef>
                <a:spcPts val="95"/>
              </a:spcBef>
            </a:pPr>
            <a:r>
              <a:rPr sz="1000" i="1" spc="-10" dirty="0">
                <a:latin typeface="Arial"/>
                <a:cs typeface="Arial"/>
              </a:rPr>
              <a:t>+1 </a:t>
            </a:r>
            <a:r>
              <a:rPr sz="1000" i="1" spc="-5" dirty="0">
                <a:latin typeface="Arial"/>
                <a:cs typeface="Arial"/>
              </a:rPr>
              <a:t>FTE (credit officer) for </a:t>
            </a:r>
            <a:r>
              <a:rPr sz="1000" i="1" spc="-10" dirty="0">
                <a:latin typeface="Arial"/>
                <a:cs typeface="Arial"/>
              </a:rPr>
              <a:t>additional</a:t>
            </a:r>
            <a:r>
              <a:rPr sz="1000" i="1" spc="15" dirty="0">
                <a:latin typeface="Arial"/>
                <a:cs typeface="Arial"/>
              </a:rPr>
              <a:t> </a:t>
            </a:r>
            <a:r>
              <a:rPr sz="1000" i="1" spc="-10" dirty="0">
                <a:latin typeface="Arial"/>
                <a:cs typeface="Arial"/>
              </a:rPr>
              <a:t>volumes</a:t>
            </a:r>
            <a:endParaRPr sz="1000">
              <a:latin typeface="Arial"/>
              <a:cs typeface="Arial"/>
            </a:endParaRPr>
          </a:p>
        </p:txBody>
      </p:sp>
      <p:sp>
        <p:nvSpPr>
          <p:cNvPr id="111" name="object 111"/>
          <p:cNvSpPr txBox="1"/>
          <p:nvPr/>
        </p:nvSpPr>
        <p:spPr>
          <a:xfrm>
            <a:off x="10134981" y="6497072"/>
            <a:ext cx="1151255" cy="153670"/>
          </a:xfrm>
          <a:prstGeom prst="rect">
            <a:avLst/>
          </a:prstGeom>
        </p:spPr>
        <p:txBody>
          <a:bodyPr vert="horz" wrap="square" lIns="0" tIns="1905" rIns="0" bIns="0" rtlCol="0">
            <a:spAutoFit/>
          </a:bodyPr>
          <a:lstStyle/>
          <a:p>
            <a:pPr marL="12700">
              <a:lnSpc>
                <a:spcPct val="100000"/>
              </a:lnSpc>
              <a:spcBef>
                <a:spcPts val="15"/>
              </a:spcBef>
            </a:pPr>
            <a:r>
              <a:rPr sz="900" spc="-5" dirty="0">
                <a:latin typeface="Arial"/>
                <a:cs typeface="Arial"/>
              </a:rPr>
              <a:t>McKinsey </a:t>
            </a:r>
            <a:r>
              <a:rPr sz="900" dirty="0">
                <a:latin typeface="Arial"/>
                <a:cs typeface="Arial"/>
              </a:rPr>
              <a:t>&amp;</a:t>
            </a:r>
            <a:r>
              <a:rPr sz="900" spc="-40" dirty="0">
                <a:latin typeface="Arial"/>
                <a:cs typeface="Arial"/>
              </a:rPr>
              <a:t> </a:t>
            </a:r>
            <a:r>
              <a:rPr sz="900" spc="-5" dirty="0">
                <a:latin typeface="Arial"/>
                <a:cs typeface="Arial"/>
              </a:rPr>
              <a:t>Company</a:t>
            </a:r>
            <a:endParaRPr sz="900">
              <a:latin typeface="Arial"/>
              <a:cs typeface="Arial"/>
            </a:endParaRPr>
          </a:p>
        </p:txBody>
      </p:sp>
      <p:sp>
        <p:nvSpPr>
          <p:cNvPr id="112" name="object 112"/>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dirty="0"/>
              <a:t>25</a:t>
            </a:fld>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85" rIns="0" bIns="0" rtlCol="0">
            <a:spAutoFit/>
          </a:bodyPr>
          <a:lstStyle/>
          <a:p>
            <a:pPr marL="12700" marR="5080">
              <a:lnSpc>
                <a:spcPts val="2800"/>
              </a:lnSpc>
              <a:spcBef>
                <a:spcPts val="355"/>
              </a:spcBef>
            </a:pPr>
            <a:r>
              <a:rPr spc="-5" dirty="0"/>
              <a:t>| </a:t>
            </a:r>
            <a:r>
              <a:rPr spc="-10" dirty="0"/>
              <a:t>Targeted </a:t>
            </a:r>
            <a:r>
              <a:rPr spc="-5" dirty="0"/>
              <a:t>€4-6M IT investment enables </a:t>
            </a:r>
            <a:r>
              <a:rPr dirty="0"/>
              <a:t>competitiveness,  </a:t>
            </a:r>
            <a:r>
              <a:rPr spc="-5" dirty="0"/>
              <a:t>leasing expansion, and digital</a:t>
            </a:r>
            <a:r>
              <a:rPr spc="40" dirty="0"/>
              <a:t> </a:t>
            </a:r>
            <a:r>
              <a:rPr spc="-5" dirty="0"/>
              <a:t>scale</a:t>
            </a:r>
          </a:p>
        </p:txBody>
      </p:sp>
      <p:sp>
        <p:nvSpPr>
          <p:cNvPr id="3" name="object 3"/>
          <p:cNvSpPr/>
          <p:nvPr/>
        </p:nvSpPr>
        <p:spPr>
          <a:xfrm>
            <a:off x="554736" y="3637660"/>
            <a:ext cx="1090295" cy="1569085"/>
          </a:xfrm>
          <a:custGeom>
            <a:avLst/>
            <a:gdLst/>
            <a:ahLst/>
            <a:cxnLst/>
            <a:rect l="l" t="t" r="r" b="b"/>
            <a:pathLst>
              <a:path w="1090295" h="1569085">
                <a:moveTo>
                  <a:pt x="0" y="1569084"/>
                </a:moveTo>
                <a:lnTo>
                  <a:pt x="1089672" y="1569084"/>
                </a:lnTo>
                <a:lnTo>
                  <a:pt x="1089672" y="0"/>
                </a:lnTo>
                <a:lnTo>
                  <a:pt x="0" y="0"/>
                </a:lnTo>
                <a:lnTo>
                  <a:pt x="0" y="1569084"/>
                </a:lnTo>
                <a:close/>
              </a:path>
            </a:pathLst>
          </a:custGeom>
          <a:solidFill>
            <a:srgbClr val="051F79"/>
          </a:solidFill>
        </p:spPr>
        <p:txBody>
          <a:bodyPr wrap="square" lIns="0" tIns="0" rIns="0" bIns="0" rtlCol="0"/>
          <a:lstStyle/>
          <a:p>
            <a:endParaRPr/>
          </a:p>
        </p:txBody>
      </p:sp>
      <p:sp>
        <p:nvSpPr>
          <p:cNvPr id="4" name="object 4"/>
          <p:cNvSpPr txBox="1"/>
          <p:nvPr/>
        </p:nvSpPr>
        <p:spPr>
          <a:xfrm>
            <a:off x="554736" y="3695827"/>
            <a:ext cx="1090295" cy="1354455"/>
          </a:xfrm>
          <a:prstGeom prst="rect">
            <a:avLst/>
          </a:prstGeom>
        </p:spPr>
        <p:txBody>
          <a:bodyPr vert="horz" wrap="square" lIns="0" tIns="12700" rIns="0" bIns="0" rtlCol="0">
            <a:spAutoFit/>
          </a:bodyPr>
          <a:lstStyle/>
          <a:p>
            <a:pPr marL="74295" marR="99695">
              <a:lnSpc>
                <a:spcPct val="100000"/>
              </a:lnSpc>
              <a:spcBef>
                <a:spcPts val="100"/>
              </a:spcBef>
            </a:pPr>
            <a:r>
              <a:rPr sz="1200" b="1" spc="-5" dirty="0">
                <a:solidFill>
                  <a:srgbClr val="FFFFFF"/>
                </a:solidFill>
                <a:latin typeface="Arial"/>
                <a:cs typeface="Arial"/>
              </a:rPr>
              <a:t>Future</a:t>
            </a:r>
            <a:r>
              <a:rPr sz="1200" b="1" spc="-60" dirty="0">
                <a:solidFill>
                  <a:srgbClr val="FFFFFF"/>
                </a:solidFill>
                <a:latin typeface="Arial"/>
                <a:cs typeface="Arial"/>
              </a:rPr>
              <a:t> </a:t>
            </a:r>
            <a:r>
              <a:rPr sz="1200" b="1" dirty="0">
                <a:solidFill>
                  <a:srgbClr val="FFFFFF"/>
                </a:solidFill>
                <a:latin typeface="Arial"/>
                <a:cs typeface="Arial"/>
              </a:rPr>
              <a:t>proof  </a:t>
            </a:r>
            <a:r>
              <a:rPr sz="1200" b="1" spc="-5" dirty="0">
                <a:solidFill>
                  <a:srgbClr val="FFFFFF"/>
                </a:solidFill>
                <a:latin typeface="Arial"/>
                <a:cs typeface="Arial"/>
              </a:rPr>
              <a:t>ERB</a:t>
            </a:r>
            <a:endParaRPr sz="1200">
              <a:latin typeface="Arial"/>
              <a:cs typeface="Arial"/>
            </a:endParaRPr>
          </a:p>
          <a:p>
            <a:pPr marL="74295">
              <a:lnSpc>
                <a:spcPct val="100000"/>
              </a:lnSpc>
            </a:pPr>
            <a:r>
              <a:rPr sz="1200" b="1" dirty="0">
                <a:solidFill>
                  <a:srgbClr val="FFFFFF"/>
                </a:solidFill>
                <a:latin typeface="Arial"/>
                <a:cs typeface="Arial"/>
              </a:rPr>
              <a:t>business</a:t>
            </a:r>
            <a:endParaRPr sz="1200">
              <a:latin typeface="Arial"/>
              <a:cs typeface="Arial"/>
            </a:endParaRPr>
          </a:p>
          <a:p>
            <a:pPr marL="74295">
              <a:lnSpc>
                <a:spcPct val="100000"/>
              </a:lnSpc>
            </a:pPr>
            <a:r>
              <a:rPr sz="1200" b="1" spc="-5" dirty="0">
                <a:solidFill>
                  <a:srgbClr val="FFFFFF"/>
                </a:solidFill>
                <a:latin typeface="Arial"/>
                <a:cs typeface="Arial"/>
              </a:rPr>
              <a:t>model</a:t>
            </a:r>
            <a:endParaRPr sz="1200">
              <a:latin typeface="Arial"/>
              <a:cs typeface="Arial"/>
            </a:endParaRPr>
          </a:p>
          <a:p>
            <a:pPr>
              <a:lnSpc>
                <a:spcPct val="100000"/>
              </a:lnSpc>
            </a:pPr>
            <a:endParaRPr sz="1300">
              <a:latin typeface="Arial"/>
              <a:cs typeface="Arial"/>
            </a:endParaRPr>
          </a:p>
          <a:p>
            <a:pPr>
              <a:lnSpc>
                <a:spcPct val="100000"/>
              </a:lnSpc>
              <a:spcBef>
                <a:spcPts val="40"/>
              </a:spcBef>
            </a:pPr>
            <a:endParaRPr sz="1500">
              <a:latin typeface="Arial"/>
              <a:cs typeface="Arial"/>
            </a:endParaRPr>
          </a:p>
          <a:p>
            <a:pPr marL="715010">
              <a:lnSpc>
                <a:spcPct val="100000"/>
              </a:lnSpc>
              <a:tabLst>
                <a:tab pos="967105" algn="l"/>
              </a:tabLst>
            </a:pPr>
            <a:r>
              <a:rPr sz="1200" b="1" u="sng" dirty="0">
                <a:uFill>
                  <a:solidFill>
                    <a:srgbClr val="FFFFFF"/>
                  </a:solidFill>
                </a:uFill>
                <a:latin typeface="Arial"/>
                <a:cs typeface="Arial"/>
              </a:rPr>
              <a:t> 	</a:t>
            </a:r>
            <a:endParaRPr sz="1200">
              <a:latin typeface="Arial"/>
              <a:cs typeface="Arial"/>
            </a:endParaRPr>
          </a:p>
        </p:txBody>
      </p:sp>
      <p:sp>
        <p:nvSpPr>
          <p:cNvPr id="5" name="object 5"/>
          <p:cNvSpPr txBox="1"/>
          <p:nvPr/>
        </p:nvSpPr>
        <p:spPr>
          <a:xfrm>
            <a:off x="1772792" y="4509071"/>
            <a:ext cx="1405890" cy="697865"/>
          </a:xfrm>
          <a:prstGeom prst="rect">
            <a:avLst/>
          </a:prstGeom>
          <a:solidFill>
            <a:srgbClr val="C3E6FC"/>
          </a:solidFill>
        </p:spPr>
        <p:txBody>
          <a:bodyPr vert="horz" wrap="square" lIns="0" tIns="1270" rIns="0" bIns="0" rtlCol="0">
            <a:spAutoFit/>
          </a:bodyPr>
          <a:lstStyle/>
          <a:p>
            <a:pPr>
              <a:lnSpc>
                <a:spcPct val="100000"/>
              </a:lnSpc>
              <a:spcBef>
                <a:spcPts val="10"/>
              </a:spcBef>
            </a:pPr>
            <a:endParaRPr sz="1100">
              <a:latin typeface="Times New Roman"/>
              <a:cs typeface="Times New Roman"/>
            </a:endParaRPr>
          </a:p>
          <a:p>
            <a:pPr marL="36830" marR="317500">
              <a:lnSpc>
                <a:spcPct val="100000"/>
              </a:lnSpc>
            </a:pPr>
            <a:r>
              <a:rPr sz="1200" b="1" dirty="0">
                <a:latin typeface="Arial"/>
                <a:cs typeface="Arial"/>
              </a:rPr>
              <a:t>Expand</a:t>
            </a:r>
            <a:r>
              <a:rPr sz="1200" b="1" spc="-95" dirty="0">
                <a:latin typeface="Arial"/>
                <a:cs typeface="Arial"/>
              </a:rPr>
              <a:t> </a:t>
            </a:r>
            <a:r>
              <a:rPr sz="1200" b="1" dirty="0">
                <a:latin typeface="Arial"/>
                <a:cs typeface="Arial"/>
              </a:rPr>
              <a:t>digital  presence</a:t>
            </a:r>
            <a:endParaRPr sz="1200">
              <a:latin typeface="Arial"/>
              <a:cs typeface="Arial"/>
            </a:endParaRPr>
          </a:p>
        </p:txBody>
      </p:sp>
      <p:sp>
        <p:nvSpPr>
          <p:cNvPr id="6" name="object 6"/>
          <p:cNvSpPr txBox="1"/>
          <p:nvPr/>
        </p:nvSpPr>
        <p:spPr>
          <a:xfrm>
            <a:off x="1772792" y="3637724"/>
            <a:ext cx="1405890" cy="697865"/>
          </a:xfrm>
          <a:prstGeom prst="rect">
            <a:avLst/>
          </a:prstGeom>
          <a:solidFill>
            <a:srgbClr val="0579C3"/>
          </a:solidFill>
        </p:spPr>
        <p:txBody>
          <a:bodyPr vert="horz" wrap="square" lIns="0" tIns="1270" rIns="0" bIns="0" rtlCol="0">
            <a:spAutoFit/>
          </a:bodyPr>
          <a:lstStyle/>
          <a:p>
            <a:pPr>
              <a:lnSpc>
                <a:spcPct val="100000"/>
              </a:lnSpc>
              <a:spcBef>
                <a:spcPts val="10"/>
              </a:spcBef>
            </a:pPr>
            <a:endParaRPr sz="1100">
              <a:latin typeface="Times New Roman"/>
              <a:cs typeface="Times New Roman"/>
            </a:endParaRPr>
          </a:p>
          <a:p>
            <a:pPr marL="73025" marR="254635">
              <a:lnSpc>
                <a:spcPct val="100000"/>
              </a:lnSpc>
            </a:pPr>
            <a:r>
              <a:rPr sz="1200" b="1" spc="-5" dirty="0">
                <a:solidFill>
                  <a:srgbClr val="FFFFFF"/>
                </a:solidFill>
                <a:latin typeface="Arial"/>
                <a:cs typeface="Arial"/>
              </a:rPr>
              <a:t>Enter retail  </a:t>
            </a:r>
            <a:r>
              <a:rPr sz="1200" b="1" dirty="0">
                <a:solidFill>
                  <a:srgbClr val="FFFFFF"/>
                </a:solidFill>
                <a:latin typeface="Arial"/>
                <a:cs typeface="Arial"/>
              </a:rPr>
              <a:t>leasing</a:t>
            </a:r>
            <a:r>
              <a:rPr sz="1200" b="1" spc="-75" dirty="0">
                <a:solidFill>
                  <a:srgbClr val="FFFFFF"/>
                </a:solidFill>
                <a:latin typeface="Arial"/>
                <a:cs typeface="Arial"/>
              </a:rPr>
              <a:t> </a:t>
            </a:r>
            <a:r>
              <a:rPr sz="1200" b="1" spc="-5" dirty="0">
                <a:solidFill>
                  <a:srgbClr val="FFFFFF"/>
                </a:solidFill>
                <a:latin typeface="Arial"/>
                <a:cs typeface="Arial"/>
              </a:rPr>
              <a:t>market</a:t>
            </a:r>
            <a:endParaRPr sz="1200">
              <a:latin typeface="Arial"/>
              <a:cs typeface="Arial"/>
            </a:endParaRPr>
          </a:p>
        </p:txBody>
      </p:sp>
      <p:sp>
        <p:nvSpPr>
          <p:cNvPr id="7" name="object 7"/>
          <p:cNvSpPr/>
          <p:nvPr/>
        </p:nvSpPr>
        <p:spPr>
          <a:xfrm>
            <a:off x="554736" y="1894839"/>
            <a:ext cx="1090295" cy="1569085"/>
          </a:xfrm>
          <a:custGeom>
            <a:avLst/>
            <a:gdLst/>
            <a:ahLst/>
            <a:cxnLst/>
            <a:rect l="l" t="t" r="r" b="b"/>
            <a:pathLst>
              <a:path w="1090295" h="1569085">
                <a:moveTo>
                  <a:pt x="0" y="1569085"/>
                </a:moveTo>
                <a:lnTo>
                  <a:pt x="1089672" y="1569085"/>
                </a:lnTo>
                <a:lnTo>
                  <a:pt x="1089672" y="0"/>
                </a:lnTo>
                <a:lnTo>
                  <a:pt x="0" y="0"/>
                </a:lnTo>
                <a:lnTo>
                  <a:pt x="0" y="1569085"/>
                </a:lnTo>
                <a:close/>
              </a:path>
            </a:pathLst>
          </a:custGeom>
          <a:solidFill>
            <a:srgbClr val="051F79"/>
          </a:solidFill>
        </p:spPr>
        <p:txBody>
          <a:bodyPr wrap="square" lIns="0" tIns="0" rIns="0" bIns="0" rtlCol="0"/>
          <a:lstStyle/>
          <a:p>
            <a:endParaRPr/>
          </a:p>
        </p:txBody>
      </p:sp>
      <p:sp>
        <p:nvSpPr>
          <p:cNvPr id="8" name="object 8"/>
          <p:cNvSpPr txBox="1"/>
          <p:nvPr/>
        </p:nvSpPr>
        <p:spPr>
          <a:xfrm>
            <a:off x="554736" y="1952625"/>
            <a:ext cx="1090295" cy="391795"/>
          </a:xfrm>
          <a:prstGeom prst="rect">
            <a:avLst/>
          </a:prstGeom>
        </p:spPr>
        <p:txBody>
          <a:bodyPr vert="horz" wrap="square" lIns="0" tIns="12700" rIns="0" bIns="0" rtlCol="0">
            <a:spAutoFit/>
          </a:bodyPr>
          <a:lstStyle/>
          <a:p>
            <a:pPr marL="74295">
              <a:lnSpc>
                <a:spcPct val="100000"/>
              </a:lnSpc>
              <a:spcBef>
                <a:spcPts val="100"/>
              </a:spcBef>
            </a:pPr>
            <a:r>
              <a:rPr sz="1200" b="1" dirty="0">
                <a:solidFill>
                  <a:srgbClr val="FFFFFF"/>
                </a:solidFill>
                <a:latin typeface="Arial"/>
                <a:cs typeface="Arial"/>
              </a:rPr>
              <a:t>Fight back</a:t>
            </a:r>
            <a:endParaRPr sz="1200">
              <a:latin typeface="Arial"/>
              <a:cs typeface="Arial"/>
            </a:endParaRPr>
          </a:p>
          <a:p>
            <a:pPr marL="74295">
              <a:lnSpc>
                <a:spcPct val="100000"/>
              </a:lnSpc>
            </a:pPr>
            <a:r>
              <a:rPr sz="1200" b="1" spc="-5" dirty="0">
                <a:solidFill>
                  <a:srgbClr val="FFFFFF"/>
                </a:solidFill>
                <a:latin typeface="Arial"/>
                <a:cs typeface="Arial"/>
              </a:rPr>
              <a:t>competition</a:t>
            </a:r>
            <a:endParaRPr sz="1200">
              <a:latin typeface="Arial"/>
              <a:cs typeface="Arial"/>
            </a:endParaRPr>
          </a:p>
        </p:txBody>
      </p:sp>
      <p:sp>
        <p:nvSpPr>
          <p:cNvPr id="9" name="object 9"/>
          <p:cNvSpPr txBox="1"/>
          <p:nvPr/>
        </p:nvSpPr>
        <p:spPr>
          <a:xfrm>
            <a:off x="660298" y="1275714"/>
            <a:ext cx="788670" cy="452755"/>
          </a:xfrm>
          <a:prstGeom prst="rect">
            <a:avLst/>
          </a:prstGeom>
        </p:spPr>
        <p:txBody>
          <a:bodyPr vert="horz" wrap="square" lIns="0" tIns="13335" rIns="0" bIns="0" rtlCol="0">
            <a:spAutoFit/>
          </a:bodyPr>
          <a:lstStyle/>
          <a:p>
            <a:pPr marL="161925" marR="5080" indent="-149860">
              <a:lnSpc>
                <a:spcPct val="100000"/>
              </a:lnSpc>
              <a:spcBef>
                <a:spcPts val="105"/>
              </a:spcBef>
            </a:pPr>
            <a:r>
              <a:rPr sz="1400" b="1" dirty="0">
                <a:latin typeface="Arial"/>
                <a:cs typeface="Arial"/>
              </a:rPr>
              <a:t>Str</a:t>
            </a:r>
            <a:r>
              <a:rPr sz="1400" b="1" spc="-5" dirty="0">
                <a:latin typeface="Arial"/>
                <a:cs typeface="Arial"/>
              </a:rPr>
              <a:t>ate</a:t>
            </a:r>
            <a:r>
              <a:rPr sz="1400" b="1" spc="-10" dirty="0">
                <a:latin typeface="Arial"/>
                <a:cs typeface="Arial"/>
              </a:rPr>
              <a:t>g</a:t>
            </a:r>
            <a:r>
              <a:rPr sz="1400" b="1" dirty="0">
                <a:latin typeface="Arial"/>
                <a:cs typeface="Arial"/>
              </a:rPr>
              <a:t>ic  </a:t>
            </a:r>
            <a:r>
              <a:rPr sz="1400" b="1" spc="-5" dirty="0">
                <a:latin typeface="Arial"/>
                <a:cs typeface="Arial"/>
              </a:rPr>
              <a:t>move</a:t>
            </a:r>
            <a:endParaRPr sz="1400">
              <a:latin typeface="Arial"/>
              <a:cs typeface="Arial"/>
            </a:endParaRPr>
          </a:p>
        </p:txBody>
      </p:sp>
      <p:sp>
        <p:nvSpPr>
          <p:cNvPr id="10" name="object 10"/>
          <p:cNvSpPr txBox="1"/>
          <p:nvPr/>
        </p:nvSpPr>
        <p:spPr>
          <a:xfrm>
            <a:off x="1859660" y="1275714"/>
            <a:ext cx="1231265" cy="452755"/>
          </a:xfrm>
          <a:prstGeom prst="rect">
            <a:avLst/>
          </a:prstGeom>
        </p:spPr>
        <p:txBody>
          <a:bodyPr vert="horz" wrap="square" lIns="0" tIns="13335" rIns="0" bIns="0" rtlCol="0">
            <a:spAutoFit/>
          </a:bodyPr>
          <a:lstStyle/>
          <a:p>
            <a:pPr marL="125095" marR="5080" indent="-113030">
              <a:lnSpc>
                <a:spcPct val="100000"/>
              </a:lnSpc>
              <a:spcBef>
                <a:spcPts val="105"/>
              </a:spcBef>
            </a:pPr>
            <a:r>
              <a:rPr sz="1400" b="1" spc="-20" dirty="0">
                <a:latin typeface="Arial"/>
                <a:cs typeface="Arial"/>
              </a:rPr>
              <a:t>Value</a:t>
            </a:r>
            <a:r>
              <a:rPr sz="1400" b="1" spc="-80" dirty="0">
                <a:latin typeface="Arial"/>
                <a:cs typeface="Arial"/>
              </a:rPr>
              <a:t> </a:t>
            </a:r>
            <a:r>
              <a:rPr sz="1400" b="1" spc="-5" dirty="0">
                <a:latin typeface="Arial"/>
                <a:cs typeface="Arial"/>
              </a:rPr>
              <a:t>creation  opportunity</a:t>
            </a:r>
            <a:endParaRPr sz="1400">
              <a:latin typeface="Arial"/>
              <a:cs typeface="Arial"/>
            </a:endParaRPr>
          </a:p>
        </p:txBody>
      </p:sp>
      <p:sp>
        <p:nvSpPr>
          <p:cNvPr id="11" name="object 11"/>
          <p:cNvSpPr txBox="1"/>
          <p:nvPr/>
        </p:nvSpPr>
        <p:spPr>
          <a:xfrm>
            <a:off x="1772792" y="1894903"/>
            <a:ext cx="1405890" cy="697865"/>
          </a:xfrm>
          <a:prstGeom prst="rect">
            <a:avLst/>
          </a:prstGeom>
          <a:solidFill>
            <a:srgbClr val="D2DCFF"/>
          </a:solidFill>
        </p:spPr>
        <p:txBody>
          <a:bodyPr vert="horz" wrap="square" lIns="0" tIns="635" rIns="0" bIns="0" rtlCol="0">
            <a:spAutoFit/>
          </a:bodyPr>
          <a:lstStyle/>
          <a:p>
            <a:pPr>
              <a:lnSpc>
                <a:spcPct val="100000"/>
              </a:lnSpc>
              <a:spcBef>
                <a:spcPts val="5"/>
              </a:spcBef>
            </a:pPr>
            <a:endParaRPr sz="1100">
              <a:latin typeface="Times New Roman"/>
              <a:cs typeface="Times New Roman"/>
            </a:endParaRPr>
          </a:p>
          <a:p>
            <a:pPr marL="36830" marR="74295">
              <a:lnSpc>
                <a:spcPct val="100000"/>
              </a:lnSpc>
              <a:spcBef>
                <a:spcPts val="5"/>
              </a:spcBef>
            </a:pPr>
            <a:r>
              <a:rPr sz="1200" b="1" dirty="0">
                <a:latin typeface="Arial"/>
                <a:cs typeface="Arial"/>
              </a:rPr>
              <a:t>Increase used</a:t>
            </a:r>
            <a:r>
              <a:rPr sz="1200" b="1" spc="-140" dirty="0">
                <a:latin typeface="Arial"/>
                <a:cs typeface="Arial"/>
              </a:rPr>
              <a:t> </a:t>
            </a:r>
            <a:r>
              <a:rPr sz="1200" b="1" dirty="0">
                <a:latin typeface="Arial"/>
                <a:cs typeface="Arial"/>
              </a:rPr>
              <a:t>car  financing</a:t>
            </a:r>
            <a:endParaRPr sz="1200">
              <a:latin typeface="Arial"/>
              <a:cs typeface="Arial"/>
            </a:endParaRPr>
          </a:p>
        </p:txBody>
      </p:sp>
      <p:sp>
        <p:nvSpPr>
          <p:cNvPr id="12" name="object 12"/>
          <p:cNvSpPr txBox="1"/>
          <p:nvPr/>
        </p:nvSpPr>
        <p:spPr>
          <a:xfrm>
            <a:off x="1772792" y="2766250"/>
            <a:ext cx="1405890" cy="697865"/>
          </a:xfrm>
          <a:prstGeom prst="rect">
            <a:avLst/>
          </a:prstGeom>
          <a:solidFill>
            <a:srgbClr val="E2FBF9"/>
          </a:solidFill>
        </p:spPr>
        <p:txBody>
          <a:bodyPr vert="horz" wrap="square" lIns="0" tIns="70485" rIns="0" bIns="0" rtlCol="0">
            <a:spAutoFit/>
          </a:bodyPr>
          <a:lstStyle/>
          <a:p>
            <a:pPr marL="36830" marR="447675">
              <a:lnSpc>
                <a:spcPct val="100000"/>
              </a:lnSpc>
              <a:spcBef>
                <a:spcPts val="555"/>
              </a:spcBef>
            </a:pPr>
            <a:r>
              <a:rPr sz="1200" b="1" spc="-5" dirty="0">
                <a:latin typeface="Arial"/>
                <a:cs typeface="Arial"/>
              </a:rPr>
              <a:t>Redesign  end-to-end  B2B</a:t>
            </a:r>
            <a:r>
              <a:rPr sz="1200" b="1" spc="-70" dirty="0">
                <a:latin typeface="Arial"/>
                <a:cs typeface="Arial"/>
              </a:rPr>
              <a:t> </a:t>
            </a:r>
            <a:r>
              <a:rPr sz="1200" b="1" spc="-5" dirty="0">
                <a:latin typeface="Arial"/>
                <a:cs typeface="Arial"/>
              </a:rPr>
              <a:t>offering</a:t>
            </a:r>
            <a:endParaRPr sz="1200">
              <a:latin typeface="Arial"/>
              <a:cs typeface="Arial"/>
            </a:endParaRPr>
          </a:p>
        </p:txBody>
      </p:sp>
      <p:sp>
        <p:nvSpPr>
          <p:cNvPr id="13" name="object 13"/>
          <p:cNvSpPr/>
          <p:nvPr/>
        </p:nvSpPr>
        <p:spPr>
          <a:xfrm>
            <a:off x="3457575" y="2557526"/>
            <a:ext cx="0" cy="247650"/>
          </a:xfrm>
          <a:custGeom>
            <a:avLst/>
            <a:gdLst/>
            <a:ahLst/>
            <a:cxnLst/>
            <a:rect l="l" t="t" r="r" b="b"/>
            <a:pathLst>
              <a:path h="247650">
                <a:moveTo>
                  <a:pt x="0" y="0"/>
                </a:moveTo>
                <a:lnTo>
                  <a:pt x="0" y="247650"/>
                </a:lnTo>
              </a:path>
            </a:pathLst>
          </a:custGeom>
          <a:ln w="9525">
            <a:solidFill>
              <a:srgbClr val="E6E6E6"/>
            </a:solidFill>
          </a:ln>
        </p:spPr>
        <p:txBody>
          <a:bodyPr wrap="square" lIns="0" tIns="0" rIns="0" bIns="0" rtlCol="0"/>
          <a:lstStyle/>
          <a:p>
            <a:endParaRPr/>
          </a:p>
        </p:txBody>
      </p:sp>
      <p:sp>
        <p:nvSpPr>
          <p:cNvPr id="14" name="object 14"/>
          <p:cNvSpPr/>
          <p:nvPr/>
        </p:nvSpPr>
        <p:spPr>
          <a:xfrm>
            <a:off x="4216400" y="3427348"/>
            <a:ext cx="0" cy="247650"/>
          </a:xfrm>
          <a:custGeom>
            <a:avLst/>
            <a:gdLst/>
            <a:ahLst/>
            <a:cxnLst/>
            <a:rect l="l" t="t" r="r" b="b"/>
            <a:pathLst>
              <a:path h="247650">
                <a:moveTo>
                  <a:pt x="0" y="0"/>
                </a:moveTo>
                <a:lnTo>
                  <a:pt x="0" y="247650"/>
                </a:lnTo>
              </a:path>
            </a:pathLst>
          </a:custGeom>
          <a:ln w="9525">
            <a:solidFill>
              <a:srgbClr val="E6E6E6"/>
            </a:solidFill>
          </a:ln>
        </p:spPr>
        <p:txBody>
          <a:bodyPr wrap="square" lIns="0" tIns="0" rIns="0" bIns="0" rtlCol="0"/>
          <a:lstStyle/>
          <a:p>
            <a:endParaRPr/>
          </a:p>
        </p:txBody>
      </p:sp>
      <p:sp>
        <p:nvSpPr>
          <p:cNvPr id="15" name="object 15"/>
          <p:cNvSpPr/>
          <p:nvPr/>
        </p:nvSpPr>
        <p:spPr>
          <a:xfrm>
            <a:off x="4519676" y="4298950"/>
            <a:ext cx="0" cy="247650"/>
          </a:xfrm>
          <a:custGeom>
            <a:avLst/>
            <a:gdLst/>
            <a:ahLst/>
            <a:cxnLst/>
            <a:rect l="l" t="t" r="r" b="b"/>
            <a:pathLst>
              <a:path h="247650">
                <a:moveTo>
                  <a:pt x="0" y="0"/>
                </a:moveTo>
                <a:lnTo>
                  <a:pt x="0" y="247650"/>
                </a:lnTo>
              </a:path>
            </a:pathLst>
          </a:custGeom>
          <a:ln w="9525">
            <a:solidFill>
              <a:srgbClr val="E6E6E6"/>
            </a:solidFill>
          </a:ln>
        </p:spPr>
        <p:txBody>
          <a:bodyPr wrap="square" lIns="0" tIns="0" rIns="0" bIns="0" rtlCol="0"/>
          <a:lstStyle/>
          <a:p>
            <a:endParaRPr/>
          </a:p>
        </p:txBody>
      </p:sp>
      <p:sp>
        <p:nvSpPr>
          <p:cNvPr id="16" name="object 16"/>
          <p:cNvSpPr/>
          <p:nvPr/>
        </p:nvSpPr>
        <p:spPr>
          <a:xfrm>
            <a:off x="4973701" y="5168900"/>
            <a:ext cx="0" cy="247650"/>
          </a:xfrm>
          <a:custGeom>
            <a:avLst/>
            <a:gdLst/>
            <a:ahLst/>
            <a:cxnLst/>
            <a:rect l="l" t="t" r="r" b="b"/>
            <a:pathLst>
              <a:path h="247650">
                <a:moveTo>
                  <a:pt x="0" y="0"/>
                </a:moveTo>
                <a:lnTo>
                  <a:pt x="0" y="247650"/>
                </a:lnTo>
              </a:path>
            </a:pathLst>
          </a:custGeom>
          <a:ln w="9525">
            <a:solidFill>
              <a:srgbClr val="E6E6E6"/>
            </a:solidFill>
          </a:ln>
        </p:spPr>
        <p:txBody>
          <a:bodyPr wrap="square" lIns="0" tIns="0" rIns="0" bIns="0" rtlCol="0"/>
          <a:lstStyle/>
          <a:p>
            <a:endParaRPr/>
          </a:p>
        </p:txBody>
      </p:sp>
      <p:sp>
        <p:nvSpPr>
          <p:cNvPr id="17" name="object 17"/>
          <p:cNvSpPr/>
          <p:nvPr/>
        </p:nvSpPr>
        <p:spPr>
          <a:xfrm>
            <a:off x="3306698" y="1934184"/>
            <a:ext cx="151765" cy="622300"/>
          </a:xfrm>
          <a:custGeom>
            <a:avLst/>
            <a:gdLst/>
            <a:ahLst/>
            <a:cxnLst/>
            <a:rect l="l" t="t" r="r" b="b"/>
            <a:pathLst>
              <a:path w="151764" h="622300">
                <a:moveTo>
                  <a:pt x="0" y="622071"/>
                </a:moveTo>
                <a:lnTo>
                  <a:pt x="151536" y="622071"/>
                </a:lnTo>
                <a:lnTo>
                  <a:pt x="151536" y="0"/>
                </a:lnTo>
                <a:lnTo>
                  <a:pt x="0" y="0"/>
                </a:lnTo>
                <a:lnTo>
                  <a:pt x="0" y="622071"/>
                </a:lnTo>
                <a:close/>
              </a:path>
            </a:pathLst>
          </a:custGeom>
          <a:solidFill>
            <a:srgbClr val="D2DCFF"/>
          </a:solidFill>
        </p:spPr>
        <p:txBody>
          <a:bodyPr wrap="square" lIns="0" tIns="0" rIns="0" bIns="0" rtlCol="0"/>
          <a:lstStyle/>
          <a:p>
            <a:endParaRPr/>
          </a:p>
        </p:txBody>
      </p:sp>
      <p:sp>
        <p:nvSpPr>
          <p:cNvPr id="18" name="object 18"/>
          <p:cNvSpPr/>
          <p:nvPr/>
        </p:nvSpPr>
        <p:spPr>
          <a:xfrm>
            <a:off x="3306698" y="1934184"/>
            <a:ext cx="151765" cy="622300"/>
          </a:xfrm>
          <a:custGeom>
            <a:avLst/>
            <a:gdLst/>
            <a:ahLst/>
            <a:cxnLst/>
            <a:rect l="l" t="t" r="r" b="b"/>
            <a:pathLst>
              <a:path w="151764" h="622300">
                <a:moveTo>
                  <a:pt x="0" y="622071"/>
                </a:moveTo>
                <a:lnTo>
                  <a:pt x="151536" y="622071"/>
                </a:lnTo>
                <a:lnTo>
                  <a:pt x="151536" y="0"/>
                </a:lnTo>
                <a:lnTo>
                  <a:pt x="0" y="0"/>
                </a:lnTo>
                <a:lnTo>
                  <a:pt x="0" y="622071"/>
                </a:lnTo>
                <a:close/>
              </a:path>
            </a:pathLst>
          </a:custGeom>
          <a:ln w="9525">
            <a:solidFill>
              <a:srgbClr val="FFFFFF"/>
            </a:solidFill>
          </a:ln>
        </p:spPr>
        <p:txBody>
          <a:bodyPr wrap="square" lIns="0" tIns="0" rIns="0" bIns="0" rtlCol="0"/>
          <a:lstStyle/>
          <a:p>
            <a:endParaRPr/>
          </a:p>
        </p:txBody>
      </p:sp>
      <p:sp>
        <p:nvSpPr>
          <p:cNvPr id="19" name="object 19"/>
          <p:cNvSpPr/>
          <p:nvPr/>
        </p:nvSpPr>
        <p:spPr>
          <a:xfrm>
            <a:off x="3306698" y="5417781"/>
            <a:ext cx="1666875" cy="622300"/>
          </a:xfrm>
          <a:custGeom>
            <a:avLst/>
            <a:gdLst/>
            <a:ahLst/>
            <a:cxnLst/>
            <a:rect l="l" t="t" r="r" b="b"/>
            <a:pathLst>
              <a:path w="1666875" h="622300">
                <a:moveTo>
                  <a:pt x="0" y="622071"/>
                </a:moveTo>
                <a:lnTo>
                  <a:pt x="1666875" y="622071"/>
                </a:lnTo>
                <a:lnTo>
                  <a:pt x="1666875" y="0"/>
                </a:lnTo>
                <a:lnTo>
                  <a:pt x="0" y="0"/>
                </a:lnTo>
                <a:lnTo>
                  <a:pt x="0" y="622071"/>
                </a:lnTo>
                <a:close/>
              </a:path>
            </a:pathLst>
          </a:custGeom>
          <a:solidFill>
            <a:srgbClr val="051F79"/>
          </a:solidFill>
        </p:spPr>
        <p:txBody>
          <a:bodyPr wrap="square" lIns="0" tIns="0" rIns="0" bIns="0" rtlCol="0"/>
          <a:lstStyle/>
          <a:p>
            <a:endParaRPr/>
          </a:p>
        </p:txBody>
      </p:sp>
      <p:sp>
        <p:nvSpPr>
          <p:cNvPr id="20" name="object 20"/>
          <p:cNvSpPr/>
          <p:nvPr/>
        </p:nvSpPr>
        <p:spPr>
          <a:xfrm>
            <a:off x="3306698" y="5417781"/>
            <a:ext cx="1666875" cy="622300"/>
          </a:xfrm>
          <a:custGeom>
            <a:avLst/>
            <a:gdLst/>
            <a:ahLst/>
            <a:cxnLst/>
            <a:rect l="l" t="t" r="r" b="b"/>
            <a:pathLst>
              <a:path w="1666875" h="622300">
                <a:moveTo>
                  <a:pt x="0" y="622071"/>
                </a:moveTo>
                <a:lnTo>
                  <a:pt x="1666875" y="622071"/>
                </a:lnTo>
                <a:lnTo>
                  <a:pt x="1666875" y="0"/>
                </a:lnTo>
                <a:lnTo>
                  <a:pt x="0" y="0"/>
                </a:lnTo>
                <a:lnTo>
                  <a:pt x="0" y="622071"/>
                </a:lnTo>
                <a:close/>
              </a:path>
            </a:pathLst>
          </a:custGeom>
          <a:ln w="9525">
            <a:solidFill>
              <a:srgbClr val="FFFFFF"/>
            </a:solidFill>
          </a:ln>
        </p:spPr>
        <p:txBody>
          <a:bodyPr wrap="square" lIns="0" tIns="0" rIns="0" bIns="0" rtlCol="0"/>
          <a:lstStyle/>
          <a:p>
            <a:endParaRPr/>
          </a:p>
        </p:txBody>
      </p:sp>
      <p:sp>
        <p:nvSpPr>
          <p:cNvPr id="21" name="object 21"/>
          <p:cNvSpPr/>
          <p:nvPr/>
        </p:nvSpPr>
        <p:spPr>
          <a:xfrm>
            <a:off x="4216019" y="3675989"/>
            <a:ext cx="303530" cy="622300"/>
          </a:xfrm>
          <a:custGeom>
            <a:avLst/>
            <a:gdLst/>
            <a:ahLst/>
            <a:cxnLst/>
            <a:rect l="l" t="t" r="r" b="b"/>
            <a:pathLst>
              <a:path w="303529" h="622300">
                <a:moveTo>
                  <a:pt x="0" y="622071"/>
                </a:moveTo>
                <a:lnTo>
                  <a:pt x="303072" y="622071"/>
                </a:lnTo>
                <a:lnTo>
                  <a:pt x="303072" y="0"/>
                </a:lnTo>
                <a:lnTo>
                  <a:pt x="0" y="0"/>
                </a:lnTo>
                <a:lnTo>
                  <a:pt x="0" y="622071"/>
                </a:lnTo>
                <a:close/>
              </a:path>
            </a:pathLst>
          </a:custGeom>
          <a:solidFill>
            <a:srgbClr val="0579C3"/>
          </a:solidFill>
        </p:spPr>
        <p:txBody>
          <a:bodyPr wrap="square" lIns="0" tIns="0" rIns="0" bIns="0" rtlCol="0"/>
          <a:lstStyle/>
          <a:p>
            <a:endParaRPr/>
          </a:p>
        </p:txBody>
      </p:sp>
      <p:sp>
        <p:nvSpPr>
          <p:cNvPr id="22" name="object 22"/>
          <p:cNvSpPr/>
          <p:nvPr/>
        </p:nvSpPr>
        <p:spPr>
          <a:xfrm>
            <a:off x="4216019" y="3675989"/>
            <a:ext cx="303530" cy="622300"/>
          </a:xfrm>
          <a:custGeom>
            <a:avLst/>
            <a:gdLst/>
            <a:ahLst/>
            <a:cxnLst/>
            <a:rect l="l" t="t" r="r" b="b"/>
            <a:pathLst>
              <a:path w="303529" h="622300">
                <a:moveTo>
                  <a:pt x="0" y="622071"/>
                </a:moveTo>
                <a:lnTo>
                  <a:pt x="303072" y="622071"/>
                </a:lnTo>
                <a:lnTo>
                  <a:pt x="303072" y="0"/>
                </a:lnTo>
                <a:lnTo>
                  <a:pt x="0" y="0"/>
                </a:lnTo>
                <a:lnTo>
                  <a:pt x="0" y="622071"/>
                </a:lnTo>
                <a:close/>
              </a:path>
            </a:pathLst>
          </a:custGeom>
          <a:ln w="9525">
            <a:solidFill>
              <a:srgbClr val="FFFFFF"/>
            </a:solidFill>
          </a:ln>
        </p:spPr>
        <p:txBody>
          <a:bodyPr wrap="square" lIns="0" tIns="0" rIns="0" bIns="0" rtlCol="0"/>
          <a:lstStyle/>
          <a:p>
            <a:endParaRPr/>
          </a:p>
        </p:txBody>
      </p:sp>
      <p:sp>
        <p:nvSpPr>
          <p:cNvPr id="23" name="object 23"/>
          <p:cNvSpPr/>
          <p:nvPr/>
        </p:nvSpPr>
        <p:spPr>
          <a:xfrm>
            <a:off x="4519040" y="4546828"/>
            <a:ext cx="454659" cy="622300"/>
          </a:xfrm>
          <a:custGeom>
            <a:avLst/>
            <a:gdLst/>
            <a:ahLst/>
            <a:cxnLst/>
            <a:rect l="l" t="t" r="r" b="b"/>
            <a:pathLst>
              <a:path w="454660" h="622300">
                <a:moveTo>
                  <a:pt x="0" y="622071"/>
                </a:moveTo>
                <a:lnTo>
                  <a:pt x="454596" y="622071"/>
                </a:lnTo>
                <a:lnTo>
                  <a:pt x="454596" y="0"/>
                </a:lnTo>
                <a:lnTo>
                  <a:pt x="0" y="0"/>
                </a:lnTo>
                <a:lnTo>
                  <a:pt x="0" y="622071"/>
                </a:lnTo>
                <a:close/>
              </a:path>
            </a:pathLst>
          </a:custGeom>
          <a:solidFill>
            <a:srgbClr val="C3E6FC"/>
          </a:solidFill>
        </p:spPr>
        <p:txBody>
          <a:bodyPr wrap="square" lIns="0" tIns="0" rIns="0" bIns="0" rtlCol="0"/>
          <a:lstStyle/>
          <a:p>
            <a:endParaRPr/>
          </a:p>
        </p:txBody>
      </p:sp>
      <p:sp>
        <p:nvSpPr>
          <p:cNvPr id="24" name="object 24"/>
          <p:cNvSpPr/>
          <p:nvPr/>
        </p:nvSpPr>
        <p:spPr>
          <a:xfrm>
            <a:off x="4519040" y="4546828"/>
            <a:ext cx="454659" cy="622300"/>
          </a:xfrm>
          <a:custGeom>
            <a:avLst/>
            <a:gdLst/>
            <a:ahLst/>
            <a:cxnLst/>
            <a:rect l="l" t="t" r="r" b="b"/>
            <a:pathLst>
              <a:path w="454660" h="622300">
                <a:moveTo>
                  <a:pt x="0" y="622071"/>
                </a:moveTo>
                <a:lnTo>
                  <a:pt x="454596" y="622071"/>
                </a:lnTo>
                <a:lnTo>
                  <a:pt x="454596" y="0"/>
                </a:lnTo>
                <a:lnTo>
                  <a:pt x="0" y="0"/>
                </a:lnTo>
                <a:lnTo>
                  <a:pt x="0" y="622071"/>
                </a:lnTo>
                <a:close/>
              </a:path>
            </a:pathLst>
          </a:custGeom>
          <a:ln w="9525">
            <a:solidFill>
              <a:srgbClr val="FFFFFF"/>
            </a:solidFill>
          </a:ln>
        </p:spPr>
        <p:txBody>
          <a:bodyPr wrap="square" lIns="0" tIns="0" rIns="0" bIns="0" rtlCol="0"/>
          <a:lstStyle/>
          <a:p>
            <a:endParaRPr/>
          </a:p>
        </p:txBody>
      </p:sp>
      <p:sp>
        <p:nvSpPr>
          <p:cNvPr id="25" name="object 25"/>
          <p:cNvSpPr/>
          <p:nvPr/>
        </p:nvSpPr>
        <p:spPr>
          <a:xfrm>
            <a:off x="3457955" y="2805683"/>
            <a:ext cx="757555" cy="622300"/>
          </a:xfrm>
          <a:custGeom>
            <a:avLst/>
            <a:gdLst/>
            <a:ahLst/>
            <a:cxnLst/>
            <a:rect l="l" t="t" r="r" b="b"/>
            <a:pathLst>
              <a:path w="757554" h="622300">
                <a:moveTo>
                  <a:pt x="0" y="621791"/>
                </a:moveTo>
                <a:lnTo>
                  <a:pt x="757427" y="621791"/>
                </a:lnTo>
                <a:lnTo>
                  <a:pt x="757427" y="0"/>
                </a:lnTo>
                <a:lnTo>
                  <a:pt x="0" y="0"/>
                </a:lnTo>
                <a:lnTo>
                  <a:pt x="0" y="621791"/>
                </a:lnTo>
                <a:close/>
              </a:path>
            </a:pathLst>
          </a:custGeom>
          <a:solidFill>
            <a:srgbClr val="E2FBF9"/>
          </a:solidFill>
        </p:spPr>
        <p:txBody>
          <a:bodyPr wrap="square" lIns="0" tIns="0" rIns="0" bIns="0" rtlCol="0"/>
          <a:lstStyle/>
          <a:p>
            <a:endParaRPr/>
          </a:p>
        </p:txBody>
      </p:sp>
      <p:sp>
        <p:nvSpPr>
          <p:cNvPr id="26" name="object 26"/>
          <p:cNvSpPr/>
          <p:nvPr/>
        </p:nvSpPr>
        <p:spPr>
          <a:xfrm>
            <a:off x="3457955" y="2805683"/>
            <a:ext cx="757555" cy="622300"/>
          </a:xfrm>
          <a:custGeom>
            <a:avLst/>
            <a:gdLst/>
            <a:ahLst/>
            <a:cxnLst/>
            <a:rect l="l" t="t" r="r" b="b"/>
            <a:pathLst>
              <a:path w="757554" h="622300">
                <a:moveTo>
                  <a:pt x="0" y="621791"/>
                </a:moveTo>
                <a:lnTo>
                  <a:pt x="757427" y="621791"/>
                </a:lnTo>
                <a:lnTo>
                  <a:pt x="757427" y="0"/>
                </a:lnTo>
                <a:lnTo>
                  <a:pt x="0" y="0"/>
                </a:lnTo>
                <a:lnTo>
                  <a:pt x="0" y="621791"/>
                </a:lnTo>
                <a:close/>
              </a:path>
            </a:pathLst>
          </a:custGeom>
          <a:ln w="9524">
            <a:solidFill>
              <a:srgbClr val="FFFFFF"/>
            </a:solidFill>
          </a:ln>
        </p:spPr>
        <p:txBody>
          <a:bodyPr wrap="square" lIns="0" tIns="0" rIns="0" bIns="0" rtlCol="0"/>
          <a:lstStyle/>
          <a:p>
            <a:endParaRPr/>
          </a:p>
        </p:txBody>
      </p:sp>
      <p:sp>
        <p:nvSpPr>
          <p:cNvPr id="27" name="object 27"/>
          <p:cNvSpPr/>
          <p:nvPr/>
        </p:nvSpPr>
        <p:spPr>
          <a:xfrm>
            <a:off x="3306826" y="1809750"/>
            <a:ext cx="0" cy="4354830"/>
          </a:xfrm>
          <a:custGeom>
            <a:avLst/>
            <a:gdLst/>
            <a:ahLst/>
            <a:cxnLst/>
            <a:rect l="l" t="t" r="r" b="b"/>
            <a:pathLst>
              <a:path h="4354830">
                <a:moveTo>
                  <a:pt x="0" y="0"/>
                </a:moveTo>
                <a:lnTo>
                  <a:pt x="0" y="4354512"/>
                </a:lnTo>
              </a:path>
            </a:pathLst>
          </a:custGeom>
          <a:ln w="9525">
            <a:solidFill>
              <a:srgbClr val="000000"/>
            </a:solidFill>
          </a:ln>
        </p:spPr>
        <p:txBody>
          <a:bodyPr wrap="square" lIns="0" tIns="0" rIns="0" bIns="0" rtlCol="0"/>
          <a:lstStyle/>
          <a:p>
            <a:endParaRPr/>
          </a:p>
        </p:txBody>
      </p:sp>
      <p:sp>
        <p:nvSpPr>
          <p:cNvPr id="28" name="object 28"/>
          <p:cNvSpPr txBox="1"/>
          <p:nvPr/>
        </p:nvSpPr>
        <p:spPr>
          <a:xfrm>
            <a:off x="3457955" y="2991357"/>
            <a:ext cx="757555" cy="239395"/>
          </a:xfrm>
          <a:prstGeom prst="rect">
            <a:avLst/>
          </a:prstGeom>
        </p:spPr>
        <p:txBody>
          <a:bodyPr vert="horz" wrap="square" lIns="0" tIns="13335" rIns="0" bIns="0" rtlCol="0">
            <a:spAutoFit/>
          </a:bodyPr>
          <a:lstStyle/>
          <a:p>
            <a:pPr marL="252095">
              <a:lnSpc>
                <a:spcPct val="100000"/>
              </a:lnSpc>
              <a:spcBef>
                <a:spcPts val="105"/>
              </a:spcBef>
            </a:pPr>
            <a:r>
              <a:rPr sz="1400" dirty="0">
                <a:latin typeface="Arial"/>
                <a:cs typeface="Arial"/>
              </a:rPr>
              <a:t>2-3</a:t>
            </a:r>
            <a:endParaRPr sz="1400">
              <a:latin typeface="Arial"/>
              <a:cs typeface="Arial"/>
            </a:endParaRPr>
          </a:p>
        </p:txBody>
      </p:sp>
      <p:sp>
        <p:nvSpPr>
          <p:cNvPr id="29" name="object 29"/>
          <p:cNvSpPr txBox="1"/>
          <p:nvPr/>
        </p:nvSpPr>
        <p:spPr>
          <a:xfrm>
            <a:off x="4216019" y="3861561"/>
            <a:ext cx="303530" cy="239395"/>
          </a:xfrm>
          <a:prstGeom prst="rect">
            <a:avLst/>
          </a:prstGeom>
        </p:spPr>
        <p:txBody>
          <a:bodyPr vert="horz" wrap="square" lIns="0" tIns="12700" rIns="0" bIns="0" rtlCol="0">
            <a:spAutoFit/>
          </a:bodyPr>
          <a:lstStyle/>
          <a:p>
            <a:pPr marL="51435">
              <a:lnSpc>
                <a:spcPct val="100000"/>
              </a:lnSpc>
              <a:spcBef>
                <a:spcPts val="100"/>
              </a:spcBef>
            </a:pPr>
            <a:r>
              <a:rPr sz="1400" spc="-5" dirty="0">
                <a:solidFill>
                  <a:srgbClr val="FFFFFF"/>
                </a:solidFill>
                <a:latin typeface="Arial"/>
                <a:cs typeface="Arial"/>
              </a:rPr>
              <a:t>~1</a:t>
            </a:r>
            <a:endParaRPr sz="1400">
              <a:latin typeface="Arial"/>
              <a:cs typeface="Arial"/>
            </a:endParaRPr>
          </a:p>
        </p:txBody>
      </p:sp>
      <p:sp>
        <p:nvSpPr>
          <p:cNvPr id="30" name="object 30"/>
          <p:cNvSpPr txBox="1"/>
          <p:nvPr/>
        </p:nvSpPr>
        <p:spPr>
          <a:xfrm>
            <a:off x="4519040" y="4733290"/>
            <a:ext cx="454659" cy="239395"/>
          </a:xfrm>
          <a:prstGeom prst="rect">
            <a:avLst/>
          </a:prstGeom>
        </p:spPr>
        <p:txBody>
          <a:bodyPr vert="horz" wrap="square" lIns="0" tIns="12700" rIns="0" bIns="0" rtlCol="0">
            <a:spAutoFit/>
          </a:bodyPr>
          <a:lstStyle/>
          <a:p>
            <a:pPr marL="24765">
              <a:lnSpc>
                <a:spcPct val="100000"/>
              </a:lnSpc>
              <a:spcBef>
                <a:spcPts val="100"/>
              </a:spcBef>
            </a:pPr>
            <a:r>
              <a:rPr sz="1400" dirty="0">
                <a:latin typeface="Arial"/>
                <a:cs typeface="Arial"/>
              </a:rPr>
              <a:t>1-1.5</a:t>
            </a:r>
            <a:endParaRPr sz="1400">
              <a:latin typeface="Arial"/>
              <a:cs typeface="Arial"/>
            </a:endParaRPr>
          </a:p>
        </p:txBody>
      </p:sp>
      <p:sp>
        <p:nvSpPr>
          <p:cNvPr id="31" name="object 31"/>
          <p:cNvSpPr txBox="1"/>
          <p:nvPr/>
        </p:nvSpPr>
        <p:spPr>
          <a:xfrm>
            <a:off x="3496183" y="2119630"/>
            <a:ext cx="377825" cy="239395"/>
          </a:xfrm>
          <a:prstGeom prst="rect">
            <a:avLst/>
          </a:prstGeom>
        </p:spPr>
        <p:txBody>
          <a:bodyPr vert="horz" wrap="square" lIns="0" tIns="13335" rIns="0" bIns="0" rtlCol="0">
            <a:spAutoFit/>
          </a:bodyPr>
          <a:lstStyle/>
          <a:p>
            <a:pPr marL="12700">
              <a:lnSpc>
                <a:spcPct val="100000"/>
              </a:lnSpc>
              <a:spcBef>
                <a:spcPts val="105"/>
              </a:spcBef>
            </a:pPr>
            <a:r>
              <a:rPr sz="1400" dirty="0">
                <a:latin typeface="Arial"/>
                <a:cs typeface="Arial"/>
              </a:rPr>
              <a:t>&lt;</a:t>
            </a:r>
            <a:r>
              <a:rPr sz="1400" spc="-5" dirty="0">
                <a:latin typeface="Arial"/>
                <a:cs typeface="Arial"/>
              </a:rPr>
              <a:t>0</a:t>
            </a:r>
            <a:r>
              <a:rPr sz="1400" dirty="0">
                <a:latin typeface="Arial"/>
                <a:cs typeface="Arial"/>
              </a:rPr>
              <a:t>.5</a:t>
            </a:r>
            <a:endParaRPr sz="1400">
              <a:latin typeface="Arial"/>
              <a:cs typeface="Arial"/>
            </a:endParaRPr>
          </a:p>
        </p:txBody>
      </p:sp>
      <p:sp>
        <p:nvSpPr>
          <p:cNvPr id="32" name="object 32"/>
          <p:cNvSpPr txBox="1"/>
          <p:nvPr/>
        </p:nvSpPr>
        <p:spPr>
          <a:xfrm>
            <a:off x="5012563" y="5602935"/>
            <a:ext cx="283845" cy="240029"/>
          </a:xfrm>
          <a:prstGeom prst="rect">
            <a:avLst/>
          </a:prstGeom>
        </p:spPr>
        <p:txBody>
          <a:bodyPr vert="horz" wrap="square" lIns="0" tIns="13335" rIns="0" bIns="0" rtlCol="0">
            <a:spAutoFit/>
          </a:bodyPr>
          <a:lstStyle/>
          <a:p>
            <a:pPr marL="12700">
              <a:lnSpc>
                <a:spcPct val="100000"/>
              </a:lnSpc>
              <a:spcBef>
                <a:spcPts val="105"/>
              </a:spcBef>
            </a:pPr>
            <a:r>
              <a:rPr sz="1400" b="1" spc="-5" dirty="0">
                <a:latin typeface="Arial"/>
                <a:cs typeface="Arial"/>
              </a:rPr>
              <a:t>4-</a:t>
            </a:r>
            <a:r>
              <a:rPr sz="1400" b="1" dirty="0">
                <a:latin typeface="Arial"/>
                <a:cs typeface="Arial"/>
              </a:rPr>
              <a:t>6</a:t>
            </a:r>
            <a:endParaRPr sz="1400">
              <a:latin typeface="Arial"/>
              <a:cs typeface="Arial"/>
            </a:endParaRPr>
          </a:p>
        </p:txBody>
      </p:sp>
      <p:sp>
        <p:nvSpPr>
          <p:cNvPr id="33" name="object 33"/>
          <p:cNvSpPr txBox="1"/>
          <p:nvPr/>
        </p:nvSpPr>
        <p:spPr>
          <a:xfrm>
            <a:off x="554736" y="5399494"/>
            <a:ext cx="2476500" cy="659130"/>
          </a:xfrm>
          <a:prstGeom prst="rect">
            <a:avLst/>
          </a:prstGeom>
          <a:solidFill>
            <a:srgbClr val="051F79"/>
          </a:solidFill>
        </p:spPr>
        <p:txBody>
          <a:bodyPr vert="horz" wrap="square" lIns="0" tIns="635" rIns="0" bIns="0" rtlCol="0">
            <a:spAutoFit/>
          </a:bodyPr>
          <a:lstStyle/>
          <a:p>
            <a:pPr>
              <a:lnSpc>
                <a:spcPct val="100000"/>
              </a:lnSpc>
              <a:spcBef>
                <a:spcPts val="5"/>
              </a:spcBef>
            </a:pPr>
            <a:endParaRPr sz="1600">
              <a:latin typeface="Times New Roman"/>
              <a:cs typeface="Times New Roman"/>
            </a:endParaRPr>
          </a:p>
          <a:p>
            <a:pPr algn="ctr">
              <a:lnSpc>
                <a:spcPct val="100000"/>
              </a:lnSpc>
            </a:pPr>
            <a:r>
              <a:rPr sz="1200" b="1" spc="-20" dirty="0">
                <a:solidFill>
                  <a:srgbClr val="FFFFFF"/>
                </a:solidFill>
                <a:latin typeface="Arial"/>
                <a:cs typeface="Arial"/>
              </a:rPr>
              <a:t>Total</a:t>
            </a:r>
            <a:endParaRPr sz="1200">
              <a:latin typeface="Arial"/>
              <a:cs typeface="Arial"/>
            </a:endParaRPr>
          </a:p>
        </p:txBody>
      </p:sp>
      <p:sp>
        <p:nvSpPr>
          <p:cNvPr id="34" name="object 34"/>
          <p:cNvSpPr/>
          <p:nvPr/>
        </p:nvSpPr>
        <p:spPr>
          <a:xfrm>
            <a:off x="1772792" y="2680716"/>
            <a:ext cx="9864725" cy="0"/>
          </a:xfrm>
          <a:custGeom>
            <a:avLst/>
            <a:gdLst/>
            <a:ahLst/>
            <a:cxnLst/>
            <a:rect l="l" t="t" r="r" b="b"/>
            <a:pathLst>
              <a:path w="9864725">
                <a:moveTo>
                  <a:pt x="0" y="0"/>
                </a:moveTo>
                <a:lnTo>
                  <a:pt x="9864471" y="0"/>
                </a:lnTo>
              </a:path>
            </a:pathLst>
          </a:custGeom>
          <a:ln w="6350">
            <a:solidFill>
              <a:srgbClr val="757575"/>
            </a:solidFill>
          </a:ln>
        </p:spPr>
        <p:txBody>
          <a:bodyPr wrap="square" lIns="0" tIns="0" rIns="0" bIns="0" rtlCol="0"/>
          <a:lstStyle/>
          <a:p>
            <a:endParaRPr/>
          </a:p>
        </p:txBody>
      </p:sp>
      <p:sp>
        <p:nvSpPr>
          <p:cNvPr id="35" name="object 35"/>
          <p:cNvSpPr/>
          <p:nvPr/>
        </p:nvSpPr>
        <p:spPr>
          <a:xfrm>
            <a:off x="553973" y="3551554"/>
            <a:ext cx="11083290" cy="0"/>
          </a:xfrm>
          <a:custGeom>
            <a:avLst/>
            <a:gdLst/>
            <a:ahLst/>
            <a:cxnLst/>
            <a:rect l="l" t="t" r="r" b="b"/>
            <a:pathLst>
              <a:path w="11083290">
                <a:moveTo>
                  <a:pt x="0" y="0"/>
                </a:moveTo>
                <a:lnTo>
                  <a:pt x="11083290" y="0"/>
                </a:lnTo>
              </a:path>
            </a:pathLst>
          </a:custGeom>
          <a:ln w="6350">
            <a:solidFill>
              <a:srgbClr val="757575"/>
            </a:solidFill>
          </a:ln>
        </p:spPr>
        <p:txBody>
          <a:bodyPr wrap="square" lIns="0" tIns="0" rIns="0" bIns="0" rtlCol="0"/>
          <a:lstStyle/>
          <a:p>
            <a:endParaRPr/>
          </a:p>
        </p:txBody>
      </p:sp>
      <p:sp>
        <p:nvSpPr>
          <p:cNvPr id="36" name="object 36"/>
          <p:cNvSpPr/>
          <p:nvPr/>
        </p:nvSpPr>
        <p:spPr>
          <a:xfrm>
            <a:off x="1772792" y="4422521"/>
            <a:ext cx="9864725" cy="0"/>
          </a:xfrm>
          <a:custGeom>
            <a:avLst/>
            <a:gdLst/>
            <a:ahLst/>
            <a:cxnLst/>
            <a:rect l="l" t="t" r="r" b="b"/>
            <a:pathLst>
              <a:path w="9864725">
                <a:moveTo>
                  <a:pt x="0" y="0"/>
                </a:moveTo>
                <a:lnTo>
                  <a:pt x="9864471" y="0"/>
                </a:lnTo>
              </a:path>
            </a:pathLst>
          </a:custGeom>
          <a:ln w="6350">
            <a:solidFill>
              <a:srgbClr val="757575"/>
            </a:solidFill>
          </a:ln>
        </p:spPr>
        <p:txBody>
          <a:bodyPr wrap="square" lIns="0" tIns="0" rIns="0" bIns="0" rtlCol="0"/>
          <a:lstStyle/>
          <a:p>
            <a:endParaRPr/>
          </a:p>
        </p:txBody>
      </p:sp>
      <p:sp>
        <p:nvSpPr>
          <p:cNvPr id="37" name="object 37"/>
          <p:cNvSpPr txBox="1"/>
          <p:nvPr/>
        </p:nvSpPr>
        <p:spPr>
          <a:xfrm>
            <a:off x="3315080" y="1472311"/>
            <a:ext cx="1267460" cy="269240"/>
          </a:xfrm>
          <a:prstGeom prst="rect">
            <a:avLst/>
          </a:prstGeom>
        </p:spPr>
        <p:txBody>
          <a:bodyPr vert="horz" wrap="square" lIns="0" tIns="12065" rIns="0" bIns="0" rtlCol="0">
            <a:spAutoFit/>
          </a:bodyPr>
          <a:lstStyle/>
          <a:p>
            <a:pPr marL="12700">
              <a:lnSpc>
                <a:spcPct val="100000"/>
              </a:lnSpc>
              <a:spcBef>
                <a:spcPts val="95"/>
              </a:spcBef>
            </a:pPr>
            <a:r>
              <a:rPr sz="1600" b="1" spc="-5" dirty="0">
                <a:latin typeface="Arial"/>
                <a:cs typeface="Arial"/>
              </a:rPr>
              <a:t>IT </a:t>
            </a:r>
            <a:r>
              <a:rPr sz="1600" b="1" spc="-10" dirty="0">
                <a:latin typeface="Arial"/>
                <a:cs typeface="Arial"/>
              </a:rPr>
              <a:t>Capex</a:t>
            </a:r>
            <a:r>
              <a:rPr sz="1600" spc="-10" dirty="0">
                <a:latin typeface="Arial"/>
                <a:cs typeface="Arial"/>
              </a:rPr>
              <a:t>,</a:t>
            </a:r>
            <a:r>
              <a:rPr sz="1600" spc="-40" dirty="0">
                <a:latin typeface="Arial"/>
                <a:cs typeface="Arial"/>
              </a:rPr>
              <a:t> </a:t>
            </a:r>
            <a:r>
              <a:rPr sz="1600" spc="-5" dirty="0">
                <a:latin typeface="Arial"/>
                <a:cs typeface="Arial"/>
              </a:rPr>
              <a:t>M€</a:t>
            </a:r>
            <a:endParaRPr sz="1600">
              <a:latin typeface="Arial"/>
              <a:cs typeface="Arial"/>
            </a:endParaRPr>
          </a:p>
        </p:txBody>
      </p:sp>
      <p:sp>
        <p:nvSpPr>
          <p:cNvPr id="38" name="object 38"/>
          <p:cNvSpPr/>
          <p:nvPr/>
        </p:nvSpPr>
        <p:spPr>
          <a:xfrm>
            <a:off x="554736" y="1759839"/>
            <a:ext cx="11082655" cy="0"/>
          </a:xfrm>
          <a:custGeom>
            <a:avLst/>
            <a:gdLst/>
            <a:ahLst/>
            <a:cxnLst/>
            <a:rect l="l" t="t" r="r" b="b"/>
            <a:pathLst>
              <a:path w="11082655">
                <a:moveTo>
                  <a:pt x="0" y="0"/>
                </a:moveTo>
                <a:lnTo>
                  <a:pt x="11082528" y="0"/>
                </a:lnTo>
              </a:path>
            </a:pathLst>
          </a:custGeom>
          <a:ln w="6350">
            <a:solidFill>
              <a:srgbClr val="757575"/>
            </a:solidFill>
          </a:ln>
        </p:spPr>
        <p:txBody>
          <a:bodyPr wrap="square" lIns="0" tIns="0" rIns="0" bIns="0" rtlCol="0"/>
          <a:lstStyle/>
          <a:p>
            <a:endParaRPr/>
          </a:p>
        </p:txBody>
      </p:sp>
      <p:sp>
        <p:nvSpPr>
          <p:cNvPr id="39" name="object 39"/>
          <p:cNvSpPr txBox="1"/>
          <p:nvPr/>
        </p:nvSpPr>
        <p:spPr>
          <a:xfrm>
            <a:off x="541426" y="6176645"/>
            <a:ext cx="7873365" cy="147955"/>
          </a:xfrm>
          <a:prstGeom prst="rect">
            <a:avLst/>
          </a:prstGeom>
        </p:spPr>
        <p:txBody>
          <a:bodyPr vert="horz" wrap="square" lIns="0" tIns="12700" rIns="0" bIns="0" rtlCol="0">
            <a:spAutoFit/>
          </a:bodyPr>
          <a:lstStyle/>
          <a:p>
            <a:pPr marL="12700">
              <a:lnSpc>
                <a:spcPct val="100000"/>
              </a:lnSpc>
              <a:spcBef>
                <a:spcPts val="100"/>
              </a:spcBef>
              <a:tabLst>
                <a:tab pos="225425" algn="l"/>
              </a:tabLst>
            </a:pPr>
            <a:r>
              <a:rPr sz="800" spc="-5" dirty="0">
                <a:latin typeface="Arial"/>
                <a:cs typeface="Arial"/>
              </a:rPr>
              <a:t>1.	~500k€</a:t>
            </a:r>
            <a:r>
              <a:rPr sz="800" spc="25" dirty="0">
                <a:latin typeface="Arial"/>
                <a:cs typeface="Arial"/>
              </a:rPr>
              <a:t> </a:t>
            </a:r>
            <a:r>
              <a:rPr sz="800" spc="-5" dirty="0">
                <a:latin typeface="Arial"/>
                <a:cs typeface="Arial"/>
              </a:rPr>
              <a:t>for</a:t>
            </a:r>
            <a:r>
              <a:rPr sz="800" spc="5" dirty="0">
                <a:latin typeface="Arial"/>
                <a:cs typeface="Arial"/>
              </a:rPr>
              <a:t> </a:t>
            </a:r>
            <a:r>
              <a:rPr sz="800" spc="-5" dirty="0">
                <a:latin typeface="Arial"/>
                <a:cs typeface="Arial"/>
              </a:rPr>
              <a:t>integration</a:t>
            </a:r>
            <a:r>
              <a:rPr sz="800" spc="35" dirty="0">
                <a:latin typeface="Arial"/>
                <a:cs typeface="Arial"/>
              </a:rPr>
              <a:t> </a:t>
            </a:r>
            <a:r>
              <a:rPr sz="800" dirty="0">
                <a:latin typeface="Arial"/>
                <a:cs typeface="Arial"/>
              </a:rPr>
              <a:t>to</a:t>
            </a:r>
            <a:r>
              <a:rPr sz="800" spc="15" dirty="0">
                <a:latin typeface="Arial"/>
                <a:cs typeface="Arial"/>
              </a:rPr>
              <a:t> </a:t>
            </a:r>
            <a:r>
              <a:rPr sz="800" spc="-5" dirty="0">
                <a:latin typeface="Arial"/>
                <a:cs typeface="Arial"/>
              </a:rPr>
              <a:t>corporate</a:t>
            </a:r>
            <a:r>
              <a:rPr sz="800" spc="25" dirty="0">
                <a:latin typeface="Arial"/>
                <a:cs typeface="Arial"/>
              </a:rPr>
              <a:t> </a:t>
            </a:r>
            <a:r>
              <a:rPr sz="800" spc="-5" dirty="0">
                <a:latin typeface="Arial"/>
                <a:cs typeface="Arial"/>
              </a:rPr>
              <a:t>dealers,</a:t>
            </a:r>
            <a:r>
              <a:rPr sz="800" spc="20" dirty="0">
                <a:latin typeface="Arial"/>
                <a:cs typeface="Arial"/>
              </a:rPr>
              <a:t> </a:t>
            </a:r>
            <a:r>
              <a:rPr sz="800" dirty="0">
                <a:latin typeface="Arial"/>
                <a:cs typeface="Arial"/>
              </a:rPr>
              <a:t>interest-free</a:t>
            </a:r>
            <a:r>
              <a:rPr sz="800" spc="20" dirty="0">
                <a:latin typeface="Arial"/>
                <a:cs typeface="Arial"/>
              </a:rPr>
              <a:t> </a:t>
            </a:r>
            <a:r>
              <a:rPr sz="800" spc="-5" dirty="0">
                <a:latin typeface="Arial"/>
                <a:cs typeface="Arial"/>
              </a:rPr>
              <a:t>period,</a:t>
            </a:r>
            <a:r>
              <a:rPr sz="800" spc="35" dirty="0">
                <a:latin typeface="Arial"/>
                <a:cs typeface="Arial"/>
              </a:rPr>
              <a:t> </a:t>
            </a:r>
            <a:r>
              <a:rPr sz="800" spc="-5" dirty="0">
                <a:latin typeface="Arial"/>
                <a:cs typeface="Arial"/>
              </a:rPr>
              <a:t>digital</a:t>
            </a:r>
            <a:r>
              <a:rPr sz="800" spc="20" dirty="0">
                <a:latin typeface="Arial"/>
                <a:cs typeface="Arial"/>
              </a:rPr>
              <a:t> </a:t>
            </a:r>
            <a:r>
              <a:rPr sz="800" spc="-5" dirty="0">
                <a:latin typeface="Arial"/>
                <a:cs typeface="Arial"/>
              </a:rPr>
              <a:t>credit</a:t>
            </a:r>
            <a:r>
              <a:rPr sz="800" spc="10" dirty="0">
                <a:latin typeface="Arial"/>
                <a:cs typeface="Arial"/>
              </a:rPr>
              <a:t> </a:t>
            </a:r>
            <a:r>
              <a:rPr sz="800" spc="-5" dirty="0">
                <a:latin typeface="Arial"/>
                <a:cs typeface="Arial"/>
              </a:rPr>
              <a:t>notice;</a:t>
            </a:r>
            <a:r>
              <a:rPr sz="800" spc="20" dirty="0">
                <a:latin typeface="Arial"/>
                <a:cs typeface="Arial"/>
              </a:rPr>
              <a:t> </a:t>
            </a:r>
            <a:r>
              <a:rPr sz="800" spc="-5" dirty="0">
                <a:latin typeface="Arial"/>
                <a:cs typeface="Arial"/>
              </a:rPr>
              <a:t>~500k</a:t>
            </a:r>
            <a:r>
              <a:rPr sz="800" spc="25" dirty="0">
                <a:latin typeface="Arial"/>
                <a:cs typeface="Arial"/>
              </a:rPr>
              <a:t> </a:t>
            </a:r>
            <a:r>
              <a:rPr sz="800" spc="-5" dirty="0">
                <a:latin typeface="Arial"/>
                <a:cs typeface="Arial"/>
              </a:rPr>
              <a:t>for</a:t>
            </a:r>
            <a:r>
              <a:rPr sz="800" spc="20" dirty="0">
                <a:latin typeface="Arial"/>
                <a:cs typeface="Arial"/>
              </a:rPr>
              <a:t> </a:t>
            </a:r>
            <a:r>
              <a:rPr sz="800" spc="-5" dirty="0">
                <a:latin typeface="Arial"/>
                <a:cs typeface="Arial"/>
              </a:rPr>
              <a:t>integration</a:t>
            </a:r>
            <a:r>
              <a:rPr sz="800" spc="25" dirty="0">
                <a:latin typeface="Arial"/>
                <a:cs typeface="Arial"/>
              </a:rPr>
              <a:t> </a:t>
            </a:r>
            <a:r>
              <a:rPr sz="800" spc="-5" dirty="0">
                <a:latin typeface="Arial"/>
                <a:cs typeface="Arial"/>
              </a:rPr>
              <a:t>into</a:t>
            </a:r>
            <a:r>
              <a:rPr sz="800" spc="15" dirty="0">
                <a:latin typeface="Arial"/>
                <a:cs typeface="Arial"/>
              </a:rPr>
              <a:t> </a:t>
            </a:r>
            <a:r>
              <a:rPr sz="800" spc="-5" dirty="0">
                <a:latin typeface="Arial"/>
                <a:cs typeface="Arial"/>
              </a:rPr>
              <a:t>Dealers’</a:t>
            </a:r>
            <a:r>
              <a:rPr sz="800" spc="20" dirty="0">
                <a:latin typeface="Arial"/>
                <a:cs typeface="Arial"/>
              </a:rPr>
              <a:t> </a:t>
            </a:r>
            <a:r>
              <a:rPr sz="800" dirty="0">
                <a:latin typeface="Arial"/>
                <a:cs typeface="Arial"/>
              </a:rPr>
              <a:t>management</a:t>
            </a:r>
            <a:r>
              <a:rPr sz="800" spc="10" dirty="0">
                <a:latin typeface="Arial"/>
                <a:cs typeface="Arial"/>
              </a:rPr>
              <a:t> </a:t>
            </a:r>
            <a:r>
              <a:rPr sz="800" dirty="0">
                <a:latin typeface="Arial"/>
                <a:cs typeface="Arial"/>
              </a:rPr>
              <a:t>systems</a:t>
            </a:r>
            <a:r>
              <a:rPr sz="800" spc="-15" dirty="0">
                <a:latin typeface="Arial"/>
                <a:cs typeface="Arial"/>
              </a:rPr>
              <a:t> </a:t>
            </a:r>
            <a:r>
              <a:rPr sz="800" spc="-5" dirty="0">
                <a:latin typeface="Arial"/>
                <a:cs typeface="Arial"/>
              </a:rPr>
              <a:t>(e.g.,</a:t>
            </a:r>
            <a:r>
              <a:rPr sz="800" spc="20" dirty="0">
                <a:latin typeface="Arial"/>
                <a:cs typeface="Arial"/>
              </a:rPr>
              <a:t> </a:t>
            </a:r>
            <a:r>
              <a:rPr sz="800" spc="-5" dirty="0">
                <a:latin typeface="Arial"/>
                <a:cs typeface="Arial"/>
              </a:rPr>
              <a:t>for</a:t>
            </a:r>
            <a:r>
              <a:rPr sz="800" spc="15" dirty="0">
                <a:latin typeface="Arial"/>
                <a:cs typeface="Arial"/>
              </a:rPr>
              <a:t> </a:t>
            </a:r>
            <a:r>
              <a:rPr sz="800" spc="-5" dirty="0">
                <a:latin typeface="Arial"/>
                <a:cs typeface="Arial"/>
              </a:rPr>
              <a:t>inventory</a:t>
            </a:r>
            <a:r>
              <a:rPr sz="800" spc="25" dirty="0">
                <a:latin typeface="Arial"/>
                <a:cs typeface="Arial"/>
              </a:rPr>
              <a:t> </a:t>
            </a:r>
            <a:r>
              <a:rPr sz="800" spc="-5" dirty="0">
                <a:latin typeface="Arial"/>
                <a:cs typeface="Arial"/>
              </a:rPr>
              <a:t>tracking)</a:t>
            </a:r>
            <a:endParaRPr sz="800">
              <a:latin typeface="Arial"/>
              <a:cs typeface="Arial"/>
            </a:endParaRPr>
          </a:p>
        </p:txBody>
      </p:sp>
      <p:sp>
        <p:nvSpPr>
          <p:cNvPr id="40" name="object 40"/>
          <p:cNvSpPr/>
          <p:nvPr/>
        </p:nvSpPr>
        <p:spPr>
          <a:xfrm>
            <a:off x="5264403" y="1579117"/>
            <a:ext cx="368935" cy="369570"/>
          </a:xfrm>
          <a:custGeom>
            <a:avLst/>
            <a:gdLst/>
            <a:ahLst/>
            <a:cxnLst/>
            <a:rect l="l" t="t" r="r" b="b"/>
            <a:pathLst>
              <a:path w="368935" h="369569">
                <a:moveTo>
                  <a:pt x="184404" y="0"/>
                </a:moveTo>
                <a:lnTo>
                  <a:pt x="135378" y="6595"/>
                </a:lnTo>
                <a:lnTo>
                  <a:pt x="91327" y="25207"/>
                </a:lnTo>
                <a:lnTo>
                  <a:pt x="54006" y="54070"/>
                </a:lnTo>
                <a:lnTo>
                  <a:pt x="25174" y="91421"/>
                </a:lnTo>
                <a:lnTo>
                  <a:pt x="6586" y="135496"/>
                </a:lnTo>
                <a:lnTo>
                  <a:pt x="0" y="184531"/>
                </a:lnTo>
                <a:lnTo>
                  <a:pt x="6586" y="233610"/>
                </a:lnTo>
                <a:lnTo>
                  <a:pt x="25174" y="277697"/>
                </a:lnTo>
                <a:lnTo>
                  <a:pt x="54006" y="315039"/>
                </a:lnTo>
                <a:lnTo>
                  <a:pt x="91327" y="343883"/>
                </a:lnTo>
                <a:lnTo>
                  <a:pt x="135378" y="362475"/>
                </a:lnTo>
                <a:lnTo>
                  <a:pt x="184404" y="369062"/>
                </a:lnTo>
                <a:lnTo>
                  <a:pt x="233483" y="362475"/>
                </a:lnTo>
                <a:lnTo>
                  <a:pt x="277570" y="343883"/>
                </a:lnTo>
                <a:lnTo>
                  <a:pt x="314912" y="315039"/>
                </a:lnTo>
                <a:lnTo>
                  <a:pt x="343756" y="277697"/>
                </a:lnTo>
                <a:lnTo>
                  <a:pt x="362348" y="233610"/>
                </a:lnTo>
                <a:lnTo>
                  <a:pt x="368935" y="184531"/>
                </a:lnTo>
                <a:lnTo>
                  <a:pt x="362348" y="135496"/>
                </a:lnTo>
                <a:lnTo>
                  <a:pt x="343756" y="91421"/>
                </a:lnTo>
                <a:lnTo>
                  <a:pt x="314912" y="54070"/>
                </a:lnTo>
                <a:lnTo>
                  <a:pt x="277570" y="25207"/>
                </a:lnTo>
                <a:lnTo>
                  <a:pt x="233483" y="6595"/>
                </a:lnTo>
                <a:lnTo>
                  <a:pt x="184404" y="0"/>
                </a:lnTo>
                <a:close/>
              </a:path>
            </a:pathLst>
          </a:custGeom>
          <a:solidFill>
            <a:srgbClr val="051F79"/>
          </a:solidFill>
        </p:spPr>
        <p:txBody>
          <a:bodyPr wrap="square" lIns="0" tIns="0" rIns="0" bIns="0" rtlCol="0"/>
          <a:lstStyle/>
          <a:p>
            <a:endParaRPr/>
          </a:p>
        </p:txBody>
      </p:sp>
      <p:sp>
        <p:nvSpPr>
          <p:cNvPr id="41" name="object 41"/>
          <p:cNvSpPr/>
          <p:nvPr/>
        </p:nvSpPr>
        <p:spPr>
          <a:xfrm>
            <a:off x="5416449" y="1696644"/>
            <a:ext cx="50165" cy="50165"/>
          </a:xfrm>
          <a:custGeom>
            <a:avLst/>
            <a:gdLst/>
            <a:ahLst/>
            <a:cxnLst/>
            <a:rect l="l" t="t" r="r" b="b"/>
            <a:pathLst>
              <a:path w="50164" h="50164">
                <a:moveTo>
                  <a:pt x="0" y="0"/>
                </a:moveTo>
                <a:lnTo>
                  <a:pt x="49732" y="49638"/>
                </a:lnTo>
              </a:path>
            </a:pathLst>
          </a:custGeom>
          <a:ln w="11816">
            <a:solidFill>
              <a:srgbClr val="FFFFFF"/>
            </a:solidFill>
          </a:ln>
        </p:spPr>
        <p:txBody>
          <a:bodyPr wrap="square" lIns="0" tIns="0" rIns="0" bIns="0" rtlCol="0"/>
          <a:lstStyle/>
          <a:p>
            <a:endParaRPr/>
          </a:p>
        </p:txBody>
      </p:sp>
      <p:sp>
        <p:nvSpPr>
          <p:cNvPr id="42" name="object 42"/>
          <p:cNvSpPr txBox="1"/>
          <p:nvPr/>
        </p:nvSpPr>
        <p:spPr>
          <a:xfrm>
            <a:off x="5805042" y="1472311"/>
            <a:ext cx="176911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Arial"/>
                <a:cs typeface="Arial"/>
              </a:rPr>
              <a:t>Use </a:t>
            </a:r>
            <a:r>
              <a:rPr sz="1600" b="1" spc="-5" dirty="0">
                <a:latin typeface="Arial"/>
                <a:cs typeface="Arial"/>
              </a:rPr>
              <a:t>of</a:t>
            </a:r>
            <a:r>
              <a:rPr sz="1600" b="1" spc="-35" dirty="0">
                <a:latin typeface="Arial"/>
                <a:cs typeface="Arial"/>
              </a:rPr>
              <a:t> </a:t>
            </a:r>
            <a:r>
              <a:rPr sz="1600" b="1" spc="-10" dirty="0">
                <a:latin typeface="Arial"/>
                <a:cs typeface="Arial"/>
              </a:rPr>
              <a:t>investment</a:t>
            </a:r>
            <a:endParaRPr sz="1600">
              <a:latin typeface="Arial"/>
              <a:cs typeface="Arial"/>
            </a:endParaRPr>
          </a:p>
        </p:txBody>
      </p:sp>
      <p:sp>
        <p:nvSpPr>
          <p:cNvPr id="43" name="object 43"/>
          <p:cNvSpPr/>
          <p:nvPr/>
        </p:nvSpPr>
        <p:spPr>
          <a:xfrm>
            <a:off x="553973" y="5293359"/>
            <a:ext cx="11083290" cy="0"/>
          </a:xfrm>
          <a:custGeom>
            <a:avLst/>
            <a:gdLst/>
            <a:ahLst/>
            <a:cxnLst/>
            <a:rect l="l" t="t" r="r" b="b"/>
            <a:pathLst>
              <a:path w="11083290">
                <a:moveTo>
                  <a:pt x="0" y="0"/>
                </a:moveTo>
                <a:lnTo>
                  <a:pt x="11083290" y="0"/>
                </a:lnTo>
              </a:path>
            </a:pathLst>
          </a:custGeom>
          <a:ln w="6350">
            <a:solidFill>
              <a:srgbClr val="757575"/>
            </a:solidFill>
          </a:ln>
        </p:spPr>
        <p:txBody>
          <a:bodyPr wrap="square" lIns="0" tIns="0" rIns="0" bIns="0" rtlCol="0"/>
          <a:lstStyle/>
          <a:p>
            <a:endParaRPr/>
          </a:p>
        </p:txBody>
      </p:sp>
      <p:sp>
        <p:nvSpPr>
          <p:cNvPr id="44" name="object 44"/>
          <p:cNvSpPr/>
          <p:nvPr/>
        </p:nvSpPr>
        <p:spPr>
          <a:xfrm>
            <a:off x="1130302" y="2978532"/>
            <a:ext cx="406907" cy="404877"/>
          </a:xfrm>
          <a:prstGeom prst="rect">
            <a:avLst/>
          </a:prstGeom>
          <a:blipFill>
            <a:blip r:embed="rId2" cstate="print"/>
            <a:stretch>
              <a:fillRect/>
            </a:stretch>
          </a:blipFill>
        </p:spPr>
        <p:txBody>
          <a:bodyPr wrap="square" lIns="0" tIns="0" rIns="0" bIns="0" rtlCol="0"/>
          <a:lstStyle/>
          <a:p>
            <a:endParaRPr/>
          </a:p>
        </p:txBody>
      </p:sp>
      <p:sp>
        <p:nvSpPr>
          <p:cNvPr id="45" name="object 45"/>
          <p:cNvSpPr/>
          <p:nvPr/>
        </p:nvSpPr>
        <p:spPr>
          <a:xfrm>
            <a:off x="1298635" y="4692451"/>
            <a:ext cx="99153" cy="235581"/>
          </a:xfrm>
          <a:prstGeom prst="rect">
            <a:avLst/>
          </a:prstGeom>
          <a:blipFill>
            <a:blip r:embed="rId3" cstate="print"/>
            <a:stretch>
              <a:fillRect/>
            </a:stretch>
          </a:blipFill>
        </p:spPr>
        <p:txBody>
          <a:bodyPr wrap="square" lIns="0" tIns="0" rIns="0" bIns="0" rtlCol="0"/>
          <a:lstStyle/>
          <a:p>
            <a:endParaRPr/>
          </a:p>
        </p:txBody>
      </p:sp>
      <p:sp>
        <p:nvSpPr>
          <p:cNvPr id="46" name="object 46"/>
          <p:cNvSpPr/>
          <p:nvPr/>
        </p:nvSpPr>
        <p:spPr>
          <a:xfrm>
            <a:off x="1184697" y="4626190"/>
            <a:ext cx="285750" cy="341630"/>
          </a:xfrm>
          <a:custGeom>
            <a:avLst/>
            <a:gdLst/>
            <a:ahLst/>
            <a:cxnLst/>
            <a:rect l="l" t="t" r="r" b="b"/>
            <a:pathLst>
              <a:path w="285750" h="341629">
                <a:moveTo>
                  <a:pt x="285267" y="341169"/>
                </a:moveTo>
                <a:lnTo>
                  <a:pt x="285267" y="42325"/>
                </a:lnTo>
                <a:lnTo>
                  <a:pt x="281893" y="25702"/>
                </a:lnTo>
                <a:lnTo>
                  <a:pt x="272738" y="12264"/>
                </a:lnTo>
                <a:lnTo>
                  <a:pt x="259246" y="3276"/>
                </a:lnTo>
                <a:lnTo>
                  <a:pt x="242862" y="0"/>
                </a:lnTo>
                <a:lnTo>
                  <a:pt x="0" y="0"/>
                </a:lnTo>
              </a:path>
            </a:pathLst>
          </a:custGeom>
          <a:ln w="8560">
            <a:solidFill>
              <a:srgbClr val="FFFFFF"/>
            </a:solidFill>
          </a:ln>
        </p:spPr>
        <p:txBody>
          <a:bodyPr wrap="square" lIns="0" tIns="0" rIns="0" bIns="0" rtlCol="0"/>
          <a:lstStyle/>
          <a:p>
            <a:endParaRPr/>
          </a:p>
        </p:txBody>
      </p:sp>
      <p:sp>
        <p:nvSpPr>
          <p:cNvPr id="47" name="object 47"/>
          <p:cNvSpPr/>
          <p:nvPr/>
        </p:nvSpPr>
        <p:spPr>
          <a:xfrm>
            <a:off x="1141650" y="4626190"/>
            <a:ext cx="384175" cy="398145"/>
          </a:xfrm>
          <a:custGeom>
            <a:avLst/>
            <a:gdLst/>
            <a:ahLst/>
            <a:cxnLst/>
            <a:rect l="l" t="t" r="r" b="b"/>
            <a:pathLst>
              <a:path w="384175" h="398145">
                <a:moveTo>
                  <a:pt x="85451" y="57075"/>
                </a:moveTo>
                <a:lnTo>
                  <a:pt x="0" y="57075"/>
                </a:lnTo>
                <a:lnTo>
                  <a:pt x="0" y="42325"/>
                </a:lnTo>
                <a:lnTo>
                  <a:pt x="3292" y="25972"/>
                </a:lnTo>
                <a:lnTo>
                  <a:pt x="12367" y="12505"/>
                </a:lnTo>
                <a:lnTo>
                  <a:pt x="26020" y="3366"/>
                </a:lnTo>
                <a:lnTo>
                  <a:pt x="43047" y="0"/>
                </a:lnTo>
                <a:lnTo>
                  <a:pt x="59701" y="3366"/>
                </a:lnTo>
                <a:lnTo>
                  <a:pt x="73163" y="12505"/>
                </a:lnTo>
                <a:lnTo>
                  <a:pt x="82168" y="25972"/>
                </a:lnTo>
                <a:lnTo>
                  <a:pt x="85451" y="42325"/>
                </a:lnTo>
                <a:lnTo>
                  <a:pt x="85451" y="355276"/>
                </a:lnTo>
                <a:lnTo>
                  <a:pt x="111472" y="394325"/>
                </a:lnTo>
                <a:lnTo>
                  <a:pt x="127856" y="397601"/>
                </a:lnTo>
                <a:lnTo>
                  <a:pt x="144510" y="394234"/>
                </a:lnTo>
                <a:lnTo>
                  <a:pt x="157973" y="385096"/>
                </a:lnTo>
                <a:lnTo>
                  <a:pt x="166978" y="371629"/>
                </a:lnTo>
                <a:lnTo>
                  <a:pt x="170260" y="355276"/>
                </a:lnTo>
                <a:lnTo>
                  <a:pt x="170260" y="341169"/>
                </a:lnTo>
                <a:lnTo>
                  <a:pt x="383568" y="341169"/>
                </a:lnTo>
                <a:lnTo>
                  <a:pt x="383568" y="355276"/>
                </a:lnTo>
                <a:lnTo>
                  <a:pt x="380195" y="371899"/>
                </a:lnTo>
                <a:lnTo>
                  <a:pt x="371039" y="385336"/>
                </a:lnTo>
                <a:lnTo>
                  <a:pt x="357547" y="394325"/>
                </a:lnTo>
                <a:lnTo>
                  <a:pt x="341164" y="397601"/>
                </a:lnTo>
              </a:path>
            </a:pathLst>
          </a:custGeom>
          <a:ln w="8558">
            <a:solidFill>
              <a:srgbClr val="FFFFFF"/>
            </a:solidFill>
          </a:ln>
        </p:spPr>
        <p:txBody>
          <a:bodyPr wrap="square" lIns="0" tIns="0" rIns="0" bIns="0" rtlCol="0"/>
          <a:lstStyle/>
          <a:p>
            <a:endParaRPr/>
          </a:p>
        </p:txBody>
      </p:sp>
      <p:sp>
        <p:nvSpPr>
          <p:cNvPr id="48" name="object 48"/>
          <p:cNvSpPr txBox="1"/>
          <p:nvPr/>
        </p:nvSpPr>
        <p:spPr>
          <a:xfrm>
            <a:off x="5808090" y="1835912"/>
            <a:ext cx="5621020" cy="239395"/>
          </a:xfrm>
          <a:prstGeom prst="rect">
            <a:avLst/>
          </a:prstGeom>
        </p:spPr>
        <p:txBody>
          <a:bodyPr vert="horz" wrap="square" lIns="0" tIns="13335" rIns="0" bIns="0" rtlCol="0">
            <a:spAutoFit/>
          </a:bodyPr>
          <a:lstStyle/>
          <a:p>
            <a:pPr marL="238125" indent="-226060">
              <a:lnSpc>
                <a:spcPct val="100000"/>
              </a:lnSpc>
              <a:spcBef>
                <a:spcPts val="105"/>
              </a:spcBef>
              <a:buFont typeface="Wingdings"/>
              <a:buChar char=""/>
              <a:tabLst>
                <a:tab pos="238125" algn="l"/>
                <a:tab pos="238760" algn="l"/>
              </a:tabLst>
            </a:pPr>
            <a:r>
              <a:rPr sz="1400" b="1" spc="-5" dirty="0">
                <a:latin typeface="Arial"/>
                <a:cs typeface="Arial"/>
              </a:rPr>
              <a:t>Update </a:t>
            </a:r>
            <a:r>
              <a:rPr sz="1400" b="1" spc="-10" dirty="0">
                <a:latin typeface="Arial"/>
                <a:cs typeface="Arial"/>
              </a:rPr>
              <a:t>systems </a:t>
            </a:r>
            <a:r>
              <a:rPr sz="1400" spc="-5" dirty="0">
                <a:latin typeface="Arial"/>
                <a:cs typeface="Arial"/>
              </a:rPr>
              <a:t>and </a:t>
            </a:r>
            <a:r>
              <a:rPr sz="1400" b="1" spc="-5" dirty="0">
                <a:latin typeface="Arial"/>
                <a:cs typeface="Arial"/>
              </a:rPr>
              <a:t>processes </a:t>
            </a:r>
            <a:r>
              <a:rPr sz="1400" dirty="0">
                <a:latin typeface="Arial"/>
                <a:cs typeface="Arial"/>
              </a:rPr>
              <a:t>to </a:t>
            </a:r>
            <a:r>
              <a:rPr sz="1400" spc="-5" dirty="0">
                <a:latin typeface="Arial"/>
                <a:cs typeface="Arial"/>
              </a:rPr>
              <a:t>launch ballon financing for</a:t>
            </a:r>
            <a:r>
              <a:rPr sz="1400" spc="-120" dirty="0">
                <a:latin typeface="Arial"/>
                <a:cs typeface="Arial"/>
              </a:rPr>
              <a:t> </a:t>
            </a:r>
            <a:r>
              <a:rPr sz="1400" spc="-5" dirty="0">
                <a:latin typeface="Arial"/>
                <a:cs typeface="Arial"/>
              </a:rPr>
              <a:t>used</a:t>
            </a:r>
            <a:endParaRPr sz="1400">
              <a:latin typeface="Arial"/>
              <a:cs typeface="Arial"/>
            </a:endParaRPr>
          </a:p>
        </p:txBody>
      </p:sp>
      <p:sp>
        <p:nvSpPr>
          <p:cNvPr id="53" name="object 53"/>
          <p:cNvSpPr txBox="1"/>
          <p:nvPr/>
        </p:nvSpPr>
        <p:spPr>
          <a:xfrm>
            <a:off x="10134981" y="6497072"/>
            <a:ext cx="1151255" cy="153670"/>
          </a:xfrm>
          <a:prstGeom prst="rect">
            <a:avLst/>
          </a:prstGeom>
        </p:spPr>
        <p:txBody>
          <a:bodyPr vert="horz" wrap="square" lIns="0" tIns="1905" rIns="0" bIns="0" rtlCol="0">
            <a:spAutoFit/>
          </a:bodyPr>
          <a:lstStyle/>
          <a:p>
            <a:pPr marL="12700">
              <a:lnSpc>
                <a:spcPct val="100000"/>
              </a:lnSpc>
              <a:spcBef>
                <a:spcPts val="15"/>
              </a:spcBef>
            </a:pPr>
            <a:r>
              <a:rPr sz="900" spc="-5" dirty="0">
                <a:latin typeface="Arial"/>
                <a:cs typeface="Arial"/>
              </a:rPr>
              <a:t>McKinsey </a:t>
            </a:r>
            <a:r>
              <a:rPr sz="900" dirty="0">
                <a:latin typeface="Arial"/>
                <a:cs typeface="Arial"/>
              </a:rPr>
              <a:t>&amp;</a:t>
            </a:r>
            <a:r>
              <a:rPr sz="900" spc="-40" dirty="0">
                <a:latin typeface="Arial"/>
                <a:cs typeface="Arial"/>
              </a:rPr>
              <a:t> </a:t>
            </a:r>
            <a:r>
              <a:rPr sz="900" spc="-5" dirty="0">
                <a:latin typeface="Arial"/>
                <a:cs typeface="Arial"/>
              </a:rPr>
              <a:t>Company</a:t>
            </a:r>
            <a:endParaRPr sz="900">
              <a:latin typeface="Arial"/>
              <a:cs typeface="Arial"/>
            </a:endParaRPr>
          </a:p>
        </p:txBody>
      </p:sp>
      <p:sp>
        <p:nvSpPr>
          <p:cNvPr id="54" name="object 54"/>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dirty="0"/>
              <a:t>26</a:t>
            </a:fld>
            <a:endParaRPr dirty="0"/>
          </a:p>
        </p:txBody>
      </p:sp>
      <p:sp>
        <p:nvSpPr>
          <p:cNvPr id="49" name="object 49"/>
          <p:cNvSpPr txBox="1"/>
          <p:nvPr/>
        </p:nvSpPr>
        <p:spPr>
          <a:xfrm>
            <a:off x="6033642" y="2048967"/>
            <a:ext cx="363220" cy="240029"/>
          </a:xfrm>
          <a:prstGeom prst="rect">
            <a:avLst/>
          </a:prstGeom>
        </p:spPr>
        <p:txBody>
          <a:bodyPr vert="horz" wrap="square" lIns="0" tIns="13335" rIns="0" bIns="0" rtlCol="0">
            <a:spAutoFit/>
          </a:bodyPr>
          <a:lstStyle/>
          <a:p>
            <a:pPr marL="12700">
              <a:lnSpc>
                <a:spcPct val="100000"/>
              </a:lnSpc>
              <a:spcBef>
                <a:spcPts val="105"/>
              </a:spcBef>
            </a:pPr>
            <a:r>
              <a:rPr sz="1400" dirty="0">
                <a:latin typeface="Arial"/>
                <a:cs typeface="Arial"/>
              </a:rPr>
              <a:t>c</a:t>
            </a:r>
            <a:r>
              <a:rPr sz="1400" spc="-5" dirty="0">
                <a:latin typeface="Arial"/>
                <a:cs typeface="Arial"/>
              </a:rPr>
              <a:t>ars</a:t>
            </a:r>
            <a:endParaRPr sz="1400">
              <a:latin typeface="Arial"/>
              <a:cs typeface="Arial"/>
            </a:endParaRPr>
          </a:p>
        </p:txBody>
      </p:sp>
      <p:sp>
        <p:nvSpPr>
          <p:cNvPr id="50" name="object 50"/>
          <p:cNvSpPr txBox="1"/>
          <p:nvPr/>
        </p:nvSpPr>
        <p:spPr>
          <a:xfrm>
            <a:off x="5808090" y="2667126"/>
            <a:ext cx="5768340" cy="879475"/>
          </a:xfrm>
          <a:prstGeom prst="rect">
            <a:avLst/>
          </a:prstGeom>
        </p:spPr>
        <p:txBody>
          <a:bodyPr vert="horz" wrap="square" lIns="0" tIns="13335" rIns="0" bIns="0" rtlCol="0">
            <a:spAutoFit/>
          </a:bodyPr>
          <a:lstStyle/>
          <a:p>
            <a:pPr marL="238125" marR="5715" indent="-226060">
              <a:lnSpc>
                <a:spcPct val="100000"/>
              </a:lnSpc>
              <a:spcBef>
                <a:spcPts val="105"/>
              </a:spcBef>
              <a:buFont typeface="Wingdings"/>
              <a:buChar char=""/>
              <a:tabLst>
                <a:tab pos="238125" algn="l"/>
                <a:tab pos="238760" algn="l"/>
              </a:tabLst>
            </a:pPr>
            <a:r>
              <a:rPr sz="1400" b="1" spc="-5" dirty="0">
                <a:latin typeface="Arial"/>
                <a:cs typeface="Arial"/>
              </a:rPr>
              <a:t>Enhance digital platform </a:t>
            </a:r>
            <a:r>
              <a:rPr sz="1400" dirty="0">
                <a:latin typeface="Arial"/>
                <a:cs typeface="Arial"/>
              </a:rPr>
              <a:t>to </a:t>
            </a:r>
            <a:r>
              <a:rPr sz="1400" spc="-5" dirty="0">
                <a:latin typeface="Arial"/>
                <a:cs typeface="Arial"/>
              </a:rPr>
              <a:t>streamline </a:t>
            </a:r>
            <a:r>
              <a:rPr sz="1400" dirty="0">
                <a:latin typeface="Arial"/>
                <a:cs typeface="Arial"/>
              </a:rPr>
              <a:t>credit </a:t>
            </a:r>
            <a:r>
              <a:rPr sz="1400" spc="-5" dirty="0">
                <a:latin typeface="Arial"/>
                <a:cs typeface="Arial"/>
              </a:rPr>
              <a:t>origination and  disbursement </a:t>
            </a:r>
            <a:r>
              <a:rPr sz="1400" dirty="0">
                <a:latin typeface="Arial"/>
                <a:cs typeface="Arial"/>
              </a:rPr>
              <a:t>(e.g., </a:t>
            </a:r>
            <a:r>
              <a:rPr sz="1400" spc="-5" dirty="0">
                <a:latin typeface="Arial"/>
                <a:cs typeface="Arial"/>
              </a:rPr>
              <a:t>dealer onboarding, disbursal, repayment</a:t>
            </a:r>
            <a:r>
              <a:rPr sz="1400" spc="215" dirty="0">
                <a:latin typeface="Arial"/>
                <a:cs typeface="Arial"/>
              </a:rPr>
              <a:t> </a:t>
            </a:r>
            <a:r>
              <a:rPr sz="1400" spc="-5" dirty="0">
                <a:latin typeface="Arial"/>
                <a:cs typeface="Arial"/>
              </a:rPr>
              <a:t>tracking)</a:t>
            </a:r>
            <a:endParaRPr sz="1400">
              <a:latin typeface="Arial"/>
              <a:cs typeface="Arial"/>
            </a:endParaRPr>
          </a:p>
          <a:p>
            <a:pPr marL="238125" marR="5080" indent="-226060">
              <a:lnSpc>
                <a:spcPct val="100000"/>
              </a:lnSpc>
              <a:buFont typeface="Wingdings"/>
              <a:buChar char=""/>
              <a:tabLst>
                <a:tab pos="238125" algn="l"/>
                <a:tab pos="238760" algn="l"/>
              </a:tabLst>
            </a:pPr>
            <a:r>
              <a:rPr sz="1400" b="1" spc="-5" dirty="0">
                <a:latin typeface="Arial"/>
                <a:cs typeface="Arial"/>
              </a:rPr>
              <a:t>Integrate the platform </a:t>
            </a:r>
            <a:r>
              <a:rPr sz="1400" b="1" spc="5" dirty="0">
                <a:latin typeface="Arial"/>
                <a:cs typeface="Arial"/>
              </a:rPr>
              <a:t>with </a:t>
            </a:r>
            <a:r>
              <a:rPr sz="1400" b="1" spc="-5" dirty="0">
                <a:latin typeface="Arial"/>
                <a:cs typeface="Arial"/>
              </a:rPr>
              <a:t>dealer management </a:t>
            </a:r>
            <a:r>
              <a:rPr sz="1400" b="1" spc="-10" dirty="0">
                <a:latin typeface="Arial"/>
                <a:cs typeface="Arial"/>
              </a:rPr>
              <a:t>systems </a:t>
            </a:r>
            <a:r>
              <a:rPr sz="1400" spc="-5" dirty="0">
                <a:latin typeface="Arial"/>
                <a:cs typeface="Arial"/>
              </a:rPr>
              <a:t>(DMS) for  </a:t>
            </a:r>
            <a:r>
              <a:rPr sz="1400" dirty="0">
                <a:latin typeface="Arial"/>
                <a:cs typeface="Arial"/>
              </a:rPr>
              <a:t>real-time </a:t>
            </a:r>
            <a:r>
              <a:rPr sz="1400" spc="-5" dirty="0">
                <a:latin typeface="Arial"/>
                <a:cs typeface="Arial"/>
              </a:rPr>
              <a:t>visibility on</a:t>
            </a:r>
            <a:r>
              <a:rPr sz="1400" spc="-60" dirty="0">
                <a:latin typeface="Arial"/>
                <a:cs typeface="Arial"/>
              </a:rPr>
              <a:t> </a:t>
            </a:r>
            <a:r>
              <a:rPr sz="1400" spc="-5" dirty="0">
                <a:latin typeface="Arial"/>
                <a:cs typeface="Arial"/>
              </a:rPr>
              <a:t>inventory</a:t>
            </a:r>
            <a:endParaRPr sz="1400">
              <a:latin typeface="Arial"/>
              <a:cs typeface="Arial"/>
            </a:endParaRPr>
          </a:p>
        </p:txBody>
      </p:sp>
      <p:sp>
        <p:nvSpPr>
          <p:cNvPr id="51" name="object 51"/>
          <p:cNvSpPr txBox="1"/>
          <p:nvPr/>
        </p:nvSpPr>
        <p:spPr>
          <a:xfrm>
            <a:off x="5808090" y="4516882"/>
            <a:ext cx="5721350" cy="239395"/>
          </a:xfrm>
          <a:prstGeom prst="rect">
            <a:avLst/>
          </a:prstGeom>
        </p:spPr>
        <p:txBody>
          <a:bodyPr vert="horz" wrap="square" lIns="0" tIns="12700" rIns="0" bIns="0" rtlCol="0">
            <a:spAutoFit/>
          </a:bodyPr>
          <a:lstStyle/>
          <a:p>
            <a:pPr marL="238125" indent="-226060">
              <a:lnSpc>
                <a:spcPct val="100000"/>
              </a:lnSpc>
              <a:spcBef>
                <a:spcPts val="100"/>
              </a:spcBef>
              <a:buFont typeface="Wingdings"/>
              <a:buChar char=""/>
              <a:tabLst>
                <a:tab pos="238125" algn="l"/>
                <a:tab pos="238760" algn="l"/>
              </a:tabLst>
            </a:pPr>
            <a:r>
              <a:rPr sz="1400" b="1" spc="-5" dirty="0">
                <a:latin typeface="Arial"/>
                <a:cs typeface="Arial"/>
              </a:rPr>
              <a:t>Integration </a:t>
            </a:r>
            <a:r>
              <a:rPr sz="1400" spc="-5" dirty="0">
                <a:latin typeface="Arial"/>
                <a:cs typeface="Arial"/>
              </a:rPr>
              <a:t>of </a:t>
            </a:r>
            <a:r>
              <a:rPr sz="1400" b="1" spc="-5" dirty="0">
                <a:latin typeface="Arial"/>
                <a:cs typeface="Arial"/>
              </a:rPr>
              <a:t>digital CJs </a:t>
            </a:r>
            <a:r>
              <a:rPr sz="1400" spc="-5" dirty="0">
                <a:latin typeface="Arial"/>
                <a:cs typeface="Arial"/>
              </a:rPr>
              <a:t>in </a:t>
            </a:r>
            <a:r>
              <a:rPr sz="1400" b="1" dirty="0">
                <a:latin typeface="Arial"/>
                <a:cs typeface="Arial"/>
              </a:rPr>
              <a:t>third-party platform </a:t>
            </a:r>
            <a:r>
              <a:rPr sz="1400" spc="-5" dirty="0">
                <a:latin typeface="Arial"/>
                <a:cs typeface="Arial"/>
              </a:rPr>
              <a:t>and</a:t>
            </a:r>
            <a:r>
              <a:rPr sz="1400" spc="-165" dirty="0">
                <a:latin typeface="Arial"/>
                <a:cs typeface="Arial"/>
              </a:rPr>
              <a:t> </a:t>
            </a:r>
            <a:r>
              <a:rPr sz="1400" b="1" spc="-5" dirty="0">
                <a:latin typeface="Arial"/>
                <a:cs typeface="Arial"/>
              </a:rPr>
              <a:t>marketplaces</a:t>
            </a:r>
            <a:endParaRPr sz="1400">
              <a:latin typeface="Arial"/>
              <a:cs typeface="Arial"/>
            </a:endParaRPr>
          </a:p>
        </p:txBody>
      </p:sp>
      <p:sp>
        <p:nvSpPr>
          <p:cNvPr id="52" name="object 52"/>
          <p:cNvSpPr txBox="1"/>
          <p:nvPr/>
        </p:nvSpPr>
        <p:spPr>
          <a:xfrm>
            <a:off x="5808090" y="3645789"/>
            <a:ext cx="5600700" cy="452755"/>
          </a:xfrm>
          <a:prstGeom prst="rect">
            <a:avLst/>
          </a:prstGeom>
        </p:spPr>
        <p:txBody>
          <a:bodyPr vert="horz" wrap="square" lIns="0" tIns="12700" rIns="0" bIns="0" rtlCol="0">
            <a:spAutoFit/>
          </a:bodyPr>
          <a:lstStyle/>
          <a:p>
            <a:pPr marL="238125" indent="-226060">
              <a:lnSpc>
                <a:spcPct val="100000"/>
              </a:lnSpc>
              <a:spcBef>
                <a:spcPts val="100"/>
              </a:spcBef>
              <a:buFont typeface="Wingdings"/>
              <a:buChar char=""/>
              <a:tabLst>
                <a:tab pos="238125" algn="l"/>
                <a:tab pos="238760" algn="l"/>
              </a:tabLst>
            </a:pPr>
            <a:r>
              <a:rPr sz="1400" b="1" spc="-5" dirty="0">
                <a:latin typeface="Arial"/>
                <a:cs typeface="Arial"/>
              </a:rPr>
              <a:t>Parametrization </a:t>
            </a:r>
            <a:r>
              <a:rPr sz="1400" spc="-5" dirty="0">
                <a:latin typeface="Arial"/>
                <a:cs typeface="Arial"/>
              </a:rPr>
              <a:t>of </a:t>
            </a:r>
            <a:r>
              <a:rPr sz="1400" b="1" spc="-5" dirty="0">
                <a:latin typeface="Arial"/>
                <a:cs typeface="Arial"/>
              </a:rPr>
              <a:t>operating lease module </a:t>
            </a:r>
            <a:r>
              <a:rPr sz="1400" spc="-5" dirty="0">
                <a:latin typeface="Arial"/>
                <a:cs typeface="Arial"/>
              </a:rPr>
              <a:t>within </a:t>
            </a:r>
            <a:r>
              <a:rPr sz="1400" b="1" spc="-5" dirty="0">
                <a:latin typeface="Arial"/>
                <a:cs typeface="Arial"/>
              </a:rPr>
              <a:t>ERB</a:t>
            </a:r>
            <a:r>
              <a:rPr sz="1400" b="1" spc="-80" dirty="0">
                <a:latin typeface="Arial"/>
                <a:cs typeface="Arial"/>
              </a:rPr>
              <a:t> </a:t>
            </a:r>
            <a:r>
              <a:rPr sz="1400" b="1" spc="-10" dirty="0">
                <a:latin typeface="Arial"/>
                <a:cs typeface="Arial"/>
              </a:rPr>
              <a:t>Leasing’s</a:t>
            </a:r>
            <a:endParaRPr sz="1400">
              <a:latin typeface="Arial"/>
              <a:cs typeface="Arial"/>
            </a:endParaRPr>
          </a:p>
          <a:p>
            <a:pPr marL="238125">
              <a:lnSpc>
                <a:spcPct val="100000"/>
              </a:lnSpc>
              <a:spcBef>
                <a:spcPts val="5"/>
              </a:spcBef>
            </a:pPr>
            <a:r>
              <a:rPr sz="1400" spc="-5" dirty="0">
                <a:latin typeface="Arial"/>
                <a:cs typeface="Arial"/>
              </a:rPr>
              <a:t>existing core leasing</a:t>
            </a:r>
            <a:r>
              <a:rPr sz="1400" spc="-75" dirty="0">
                <a:latin typeface="Arial"/>
                <a:cs typeface="Arial"/>
              </a:rPr>
              <a:t> </a:t>
            </a:r>
            <a:r>
              <a:rPr sz="1400" spc="-5" dirty="0">
                <a:latin typeface="Arial"/>
                <a:cs typeface="Arial"/>
              </a:rPr>
              <a:t>system</a:t>
            </a:r>
            <a:endParaRPr sz="1400">
              <a:latin typeface="Arial"/>
              <a:cs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8">
            <a:extLst>
              <a:ext uri="{FF2B5EF4-FFF2-40B4-BE49-F238E27FC236}">
                <a16:creationId xmlns:a16="http://schemas.microsoft.com/office/drawing/2014/main" id="{FEBDEC6B-619C-B1C2-2E8A-C848776EBF84}"/>
              </a:ext>
            </a:extLst>
          </p:cNvPr>
          <p:cNvSpPr txBox="1"/>
          <p:nvPr/>
        </p:nvSpPr>
        <p:spPr>
          <a:xfrm>
            <a:off x="266700" y="1222318"/>
            <a:ext cx="11658600" cy="1303562"/>
          </a:xfrm>
          <a:prstGeom prst="rect">
            <a:avLst/>
          </a:prstGeom>
        </p:spPr>
        <p:txBody>
          <a:bodyPr wrap="square" lIns="0" tIns="0" rIns="0" bIns="0" rtlCol="0" anchor="t">
            <a:spAutoFit/>
          </a:bodyPr>
          <a:lstStyle/>
          <a:p>
            <a:pPr>
              <a:lnSpc>
                <a:spcPts val="3499"/>
              </a:lnSpc>
            </a:pPr>
            <a:r>
              <a:rPr lang="en-US" b="1" u="sng" dirty="0">
                <a:latin typeface="Eurobank Sans" panose="02000503000000020004" pitchFamily="2" charset="0"/>
                <a:ea typeface="Georgia Pro Condensed"/>
                <a:cs typeface="Georgia Pro Condensed"/>
                <a:sym typeface="Georgia Pro Condensed"/>
              </a:rPr>
              <a:t>EU Automotive Leasing Market Size</a:t>
            </a:r>
          </a:p>
          <a:p>
            <a:pPr marL="0" lvl="0" indent="0" algn="l">
              <a:lnSpc>
                <a:spcPts val="3499"/>
              </a:lnSpc>
            </a:pPr>
            <a:r>
              <a:rPr lang="en-US" u="none" strike="noStrike" spc="-37" dirty="0">
                <a:latin typeface="Eurobank Sans" panose="02000503000000020004" pitchFamily="2" charset="0"/>
                <a:ea typeface="Helvetica World"/>
                <a:cs typeface="Helvetica World"/>
                <a:sym typeface="Helvetica World"/>
              </a:rPr>
              <a:t>In 2023, the EU automotive leasing market reached an impressive </a:t>
            </a:r>
            <a:r>
              <a:rPr lang="en-US" u="none" strike="noStrike" spc="-37" dirty="0">
                <a:latin typeface="Eurobank Sans" panose="02000503000000020004" pitchFamily="2" charset="0"/>
                <a:ea typeface="Helvetica World Bold"/>
                <a:cs typeface="Helvetica World Bold"/>
                <a:sym typeface="Helvetica World Bold"/>
              </a:rPr>
              <a:t>€330.5 billion</a:t>
            </a:r>
            <a:r>
              <a:rPr lang="en-US" u="none" strike="noStrike" spc="-37" dirty="0">
                <a:latin typeface="Eurobank Sans" panose="02000503000000020004" pitchFamily="2" charset="0"/>
                <a:ea typeface="Helvetica World"/>
                <a:cs typeface="Helvetica World"/>
                <a:sym typeface="Helvetica World"/>
              </a:rPr>
              <a:t>, demonstrating its significance as a core mobility financing channel and a key driver of economic growth in the sector.</a:t>
            </a:r>
          </a:p>
        </p:txBody>
      </p:sp>
      <p:sp>
        <p:nvSpPr>
          <p:cNvPr id="9" name="TextBox 8">
            <a:extLst>
              <a:ext uri="{FF2B5EF4-FFF2-40B4-BE49-F238E27FC236}">
                <a16:creationId xmlns:a16="http://schemas.microsoft.com/office/drawing/2014/main" id="{FBD06F73-B677-AC11-FF93-A7175FDF8314}"/>
              </a:ext>
            </a:extLst>
          </p:cNvPr>
          <p:cNvSpPr txBox="1"/>
          <p:nvPr/>
        </p:nvSpPr>
        <p:spPr>
          <a:xfrm>
            <a:off x="266700" y="2525880"/>
            <a:ext cx="11658600" cy="1752403"/>
          </a:xfrm>
          <a:prstGeom prst="rect">
            <a:avLst/>
          </a:prstGeom>
        </p:spPr>
        <p:txBody>
          <a:bodyPr wrap="square" lIns="0" tIns="0" rIns="0" bIns="0" rtlCol="0" anchor="t">
            <a:spAutoFit/>
          </a:bodyPr>
          <a:lstStyle/>
          <a:p>
            <a:pPr>
              <a:lnSpc>
                <a:spcPts val="3499"/>
              </a:lnSpc>
            </a:pPr>
            <a:r>
              <a:rPr lang="en-US" b="1" u="sng" dirty="0">
                <a:latin typeface="Eurobank Sans" panose="02000503000000020004" pitchFamily="2" charset="0"/>
                <a:ea typeface="Georgia Pro Condensed"/>
                <a:cs typeface="Georgia Pro Condensed"/>
                <a:sym typeface="Georgia Pro Condensed"/>
              </a:rPr>
              <a:t>Operating Leasing Dominates Western Europe</a:t>
            </a:r>
          </a:p>
          <a:p>
            <a:pPr marL="0" lvl="0" indent="0" algn="l">
              <a:lnSpc>
                <a:spcPts val="3499"/>
              </a:lnSpc>
            </a:pPr>
            <a:r>
              <a:rPr lang="en-US" u="none" strike="noStrike" spc="-37" dirty="0">
                <a:latin typeface="Eurobank Sans" panose="02000503000000020004" pitchFamily="2" charset="0"/>
                <a:ea typeface="Helvetica World"/>
                <a:cs typeface="Helvetica World"/>
                <a:sym typeface="Helvetica World"/>
              </a:rPr>
              <a:t>Operating leasing constitutes approximately 55 -60% of automotive leasing new business in Western Europe, reflecting the strong preference among corporations, SMEs, freelancers, and individuals, with demand from individuals steadily increasing over the past four years. </a:t>
            </a:r>
          </a:p>
        </p:txBody>
      </p:sp>
      <p:sp>
        <p:nvSpPr>
          <p:cNvPr id="10" name="TextBox 9">
            <a:extLst>
              <a:ext uri="{FF2B5EF4-FFF2-40B4-BE49-F238E27FC236}">
                <a16:creationId xmlns:a16="http://schemas.microsoft.com/office/drawing/2014/main" id="{91185728-983E-04B4-DAEA-DD55DA0E5671}"/>
              </a:ext>
            </a:extLst>
          </p:cNvPr>
          <p:cNvSpPr txBox="1"/>
          <p:nvPr/>
        </p:nvSpPr>
        <p:spPr>
          <a:xfrm>
            <a:off x="299357" y="4267397"/>
            <a:ext cx="11658600" cy="1752403"/>
          </a:xfrm>
          <a:prstGeom prst="rect">
            <a:avLst/>
          </a:prstGeom>
        </p:spPr>
        <p:txBody>
          <a:bodyPr wrap="square" lIns="0" tIns="0" rIns="0" bIns="0" rtlCol="0" anchor="t">
            <a:spAutoFit/>
          </a:bodyPr>
          <a:lstStyle/>
          <a:p>
            <a:pPr>
              <a:lnSpc>
                <a:spcPts val="3499"/>
              </a:lnSpc>
            </a:pPr>
            <a:r>
              <a:rPr lang="en-US" b="1" u="sng" dirty="0">
                <a:latin typeface="Eurobank Sans" panose="02000503000000020004" pitchFamily="2" charset="0"/>
                <a:ea typeface="Georgia Pro Condensed"/>
                <a:cs typeface="Georgia Pro Condensed"/>
                <a:sym typeface="Georgia Pro Condensed"/>
              </a:rPr>
              <a:t>Operating Leasing Dominates Western Europe</a:t>
            </a:r>
          </a:p>
          <a:p>
            <a:pPr marL="0" lvl="0" indent="0" algn="l">
              <a:lnSpc>
                <a:spcPts val="3499"/>
              </a:lnSpc>
            </a:pPr>
            <a:r>
              <a:rPr lang="en-US" u="none" strike="noStrike" spc="-37" dirty="0">
                <a:latin typeface="Eurobank Sans" panose="02000503000000020004" pitchFamily="2" charset="0"/>
                <a:ea typeface="Helvetica World"/>
                <a:cs typeface="Helvetica World"/>
                <a:sym typeface="Helvetica World"/>
              </a:rPr>
              <a:t>Operating leasing constitutes approximately 55 -60% of automotive leasing new business in Western Europe, reflecting the strong preference among corporations, SMEs, freelancers, and individuals, with demand from individuals steadily increasing over the past four years. </a:t>
            </a:r>
          </a:p>
        </p:txBody>
      </p:sp>
      <p:sp>
        <p:nvSpPr>
          <p:cNvPr id="13" name="TextBox 12">
            <a:extLst>
              <a:ext uri="{FF2B5EF4-FFF2-40B4-BE49-F238E27FC236}">
                <a16:creationId xmlns:a16="http://schemas.microsoft.com/office/drawing/2014/main" id="{F4851014-7377-EC93-26F1-9FB88436BBA7}"/>
              </a:ext>
            </a:extLst>
          </p:cNvPr>
          <p:cNvSpPr txBox="1"/>
          <p:nvPr/>
        </p:nvSpPr>
        <p:spPr>
          <a:xfrm>
            <a:off x="266700" y="294897"/>
            <a:ext cx="6096000" cy="523220"/>
          </a:xfrm>
          <a:prstGeom prst="rect">
            <a:avLst/>
          </a:prstGeom>
          <a:noFill/>
        </p:spPr>
        <p:txBody>
          <a:bodyPr wrap="square">
            <a:spAutoFit/>
          </a:bodyPr>
          <a:lstStyle/>
          <a:p>
            <a:r>
              <a:rPr lang="en-US" sz="2800" b="1" u="sng" dirty="0">
                <a:latin typeface="Eurobank Sans" panose="02000503000000020004" pitchFamily="2" charset="0"/>
                <a:ea typeface="Georgia Pro Condensed"/>
                <a:cs typeface="Georgia Pro Condensed"/>
                <a:sym typeface="Georgia Pro Condensed"/>
              </a:rPr>
              <a:t>Leasing Business</a:t>
            </a:r>
            <a:endParaRPr lang="el-GR" sz="2800" dirty="0"/>
          </a:p>
        </p:txBody>
      </p:sp>
    </p:spTree>
    <p:extLst>
      <p:ext uri="{BB962C8B-B14F-4D97-AF65-F5344CB8AC3E}">
        <p14:creationId xmlns:p14="http://schemas.microsoft.com/office/powerpoint/2010/main" val="4196671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75B7E-7EB2-D537-F34D-582E871E12E1}"/>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C223D121-5C7C-1FB8-094C-1803DCF48E6F}"/>
              </a:ext>
            </a:extLst>
          </p:cNvPr>
          <p:cNvSpPr txBox="1"/>
          <p:nvPr/>
        </p:nvSpPr>
        <p:spPr>
          <a:xfrm>
            <a:off x="266700" y="0"/>
            <a:ext cx="7886700" cy="523220"/>
          </a:xfrm>
          <a:prstGeom prst="rect">
            <a:avLst/>
          </a:prstGeom>
          <a:noFill/>
        </p:spPr>
        <p:txBody>
          <a:bodyPr wrap="square">
            <a:spAutoFit/>
          </a:bodyPr>
          <a:lstStyle/>
          <a:p>
            <a:r>
              <a:rPr lang="en-US" sz="2800" b="1" u="sng" dirty="0">
                <a:latin typeface="Eurobank Sans" panose="02000503000000020004" pitchFamily="2" charset="0"/>
                <a:ea typeface="Georgia Pro Condensed"/>
                <a:cs typeface="Georgia Pro Condensed"/>
                <a:sym typeface="Georgia Pro Condensed"/>
              </a:rPr>
              <a:t>Summary for Slide – Car Subscription</a:t>
            </a:r>
            <a:endParaRPr lang="el-GR" sz="2800" dirty="0"/>
          </a:p>
        </p:txBody>
      </p:sp>
      <p:sp>
        <p:nvSpPr>
          <p:cNvPr id="3" name="TextBox 2">
            <a:extLst>
              <a:ext uri="{FF2B5EF4-FFF2-40B4-BE49-F238E27FC236}">
                <a16:creationId xmlns:a16="http://schemas.microsoft.com/office/drawing/2014/main" id="{15309D17-188A-FE05-54E0-A8D36376665A}"/>
              </a:ext>
            </a:extLst>
          </p:cNvPr>
          <p:cNvSpPr txBox="1"/>
          <p:nvPr/>
        </p:nvSpPr>
        <p:spPr>
          <a:xfrm>
            <a:off x="0" y="665500"/>
            <a:ext cx="12192000" cy="6340197"/>
          </a:xfrm>
          <a:prstGeom prst="rect">
            <a:avLst/>
          </a:prstGeom>
          <a:noFill/>
        </p:spPr>
        <p:txBody>
          <a:bodyPr wrap="square">
            <a:spAutoFit/>
          </a:bodyPr>
          <a:lstStyle/>
          <a:p>
            <a:pPr>
              <a:buNone/>
            </a:pPr>
            <a:r>
              <a:rPr lang="en-US" sz="1400" b="1" dirty="0"/>
              <a:t>Product Definition &amp; Positioning</a:t>
            </a:r>
            <a:br>
              <a:rPr lang="en-US" sz="1400" dirty="0"/>
            </a:br>
            <a:r>
              <a:rPr lang="en-US" sz="1400" dirty="0"/>
              <a:t>Car Subscription provides access to a MaaS for a fixed monthly fee, positioned between rental and leasing.</a:t>
            </a:r>
          </a:p>
          <a:p>
            <a:pPr>
              <a:buNone/>
            </a:pPr>
            <a:endParaRPr lang="en-US" sz="1400" b="1" dirty="0"/>
          </a:p>
          <a:p>
            <a:pPr>
              <a:buNone/>
            </a:pPr>
            <a:r>
              <a:rPr lang="en-US" sz="1400" b="1" dirty="0"/>
              <a:t>Market Outlook</a:t>
            </a:r>
            <a:br>
              <a:rPr lang="en-US" sz="1400" dirty="0"/>
            </a:br>
            <a:r>
              <a:rPr lang="en-US" sz="1400" dirty="0"/>
              <a:t>The market has exhibited strong headline growth rates (CAGR 20%–30%), however, actual penetration is progressing slower than initially projected, with early optimistic forecasts being revised due to structural profitability constraints.</a:t>
            </a:r>
          </a:p>
          <a:p>
            <a:pPr>
              <a:buNone/>
            </a:pPr>
            <a:endParaRPr lang="en-US" sz="1400" b="1" dirty="0"/>
          </a:p>
          <a:p>
            <a:pPr>
              <a:buNone/>
            </a:pPr>
            <a:r>
              <a:rPr lang="en-US" sz="1400" b="1" dirty="0"/>
              <a:t>Key Demand Drivers</a:t>
            </a:r>
            <a:br>
              <a:rPr lang="en-US" sz="1400" dirty="0"/>
            </a:br>
            <a:r>
              <a:rPr lang="en-US" sz="1400" dirty="0"/>
              <a:t>Delivery delays has largely normalized and is no longer a structural demand driver.</a:t>
            </a:r>
          </a:p>
          <a:p>
            <a:pPr>
              <a:buNone/>
            </a:pPr>
            <a:endParaRPr lang="en-US" sz="1400" dirty="0"/>
          </a:p>
          <a:p>
            <a:pPr>
              <a:buNone/>
            </a:pPr>
            <a:r>
              <a:rPr lang="en-US" sz="1400" b="1" dirty="0"/>
              <a:t>Customer Insights</a:t>
            </a:r>
            <a:br>
              <a:rPr lang="en-US" sz="1400" dirty="0"/>
            </a:br>
            <a:r>
              <a:rPr lang="en-US" sz="1400" dirty="0"/>
              <a:t>Customers value flexibility, but willingness to pay a premium is limited (10%-20%). In practice, most subscribers rarely exercise the vehicle-swap option, despite it being a core selling proposition.</a:t>
            </a:r>
          </a:p>
          <a:p>
            <a:pPr>
              <a:buNone/>
            </a:pPr>
            <a:endParaRPr lang="en-US" sz="1400" b="1" dirty="0"/>
          </a:p>
          <a:p>
            <a:pPr>
              <a:buNone/>
            </a:pPr>
            <a:r>
              <a:rPr lang="en-US" sz="1400" b="1" dirty="0"/>
              <a:t>Competitive Landscape</a:t>
            </a:r>
            <a:br>
              <a:rPr lang="en-US" sz="1400" dirty="0"/>
            </a:br>
            <a:r>
              <a:rPr lang="en-US" sz="1400" dirty="0"/>
              <a:t>Highly fragmented ecosystem: OEM-backed players, finance-backed mobility providers, hybrid OEM + finance models, and independent start-ups. Many struggle to reach break-even even after 4–5 years, structurally advantaged players are those with OEM support (lower cost of capital, superior vehicle sourcing).</a:t>
            </a:r>
          </a:p>
          <a:p>
            <a:pPr>
              <a:buNone/>
            </a:pPr>
            <a:endParaRPr lang="en-US" sz="1400" b="1" dirty="0"/>
          </a:p>
          <a:p>
            <a:pPr>
              <a:buNone/>
            </a:pPr>
            <a:r>
              <a:rPr lang="en-US" sz="1400" b="1" dirty="0"/>
              <a:t>Business Model – Reality Check</a:t>
            </a:r>
            <a:br>
              <a:rPr lang="en-US" sz="1400" dirty="0"/>
            </a:br>
            <a:r>
              <a:rPr lang="en-US" sz="1400" dirty="0"/>
              <a:t>Profitability remains fragile due to (i) elevated operating costs (logistics, maintenance, remarketing) and (ii) adverse residual value dynamics, as subscription vehicles depreciate faster than market averages – multiple users, high usage. In practice, vehicles are often pushed into subscription at &gt;5 years of age but in that case the full lifetime economics of the subscription can turn negative.</a:t>
            </a:r>
          </a:p>
          <a:p>
            <a:pPr>
              <a:buNone/>
            </a:pPr>
            <a:endParaRPr lang="en-US" sz="1400" dirty="0"/>
          </a:p>
          <a:p>
            <a:pPr>
              <a:buNone/>
            </a:pPr>
            <a:r>
              <a:rPr lang="en-US" sz="1400" b="1" dirty="0"/>
              <a:t>Profitability Levers</a:t>
            </a:r>
            <a:br>
              <a:rPr lang="en-US" sz="1400" dirty="0"/>
            </a:br>
            <a:r>
              <a:rPr lang="en-US" sz="1400" dirty="0"/>
              <a:t>High remarketing costs (buy-backs, partnerships, resale channels), high insurance cost (increasingly challenging as insurers view the product as loss-making), condition-based maintenance are the reason for pure profitability.</a:t>
            </a:r>
          </a:p>
          <a:p>
            <a:pPr>
              <a:buNone/>
            </a:pPr>
            <a:endParaRPr lang="en-US" sz="1400" b="1" dirty="0"/>
          </a:p>
          <a:p>
            <a:pPr>
              <a:buNone/>
            </a:pPr>
            <a:r>
              <a:rPr lang="en-US" sz="1400" b="1" dirty="0"/>
              <a:t>Keynote </a:t>
            </a:r>
            <a:br>
              <a:rPr lang="en-US" sz="1400" dirty="0"/>
            </a:br>
            <a:r>
              <a:rPr lang="en-US" sz="1400" dirty="0"/>
              <a:t>Car Subscription creates maximum value when embedded within a broader mobility ecosystem (leasing, rental, fleet, MaaS). </a:t>
            </a:r>
          </a:p>
        </p:txBody>
      </p:sp>
    </p:spTree>
    <p:extLst>
      <p:ext uri="{BB962C8B-B14F-4D97-AF65-F5344CB8AC3E}">
        <p14:creationId xmlns:p14="http://schemas.microsoft.com/office/powerpoint/2010/main" val="3569334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39058</TotalTime>
  <Words>5379</Words>
  <Application>Microsoft Office PowerPoint</Application>
  <PresentationFormat>Widescreen</PresentationFormat>
  <Paragraphs>833</Paragraphs>
  <Slides>28</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Aptos</vt:lpstr>
      <vt:lpstr>Arial</vt:lpstr>
      <vt:lpstr>Calibri</vt:lpstr>
      <vt:lpstr>Eurobank Sans</vt:lpstr>
      <vt:lpstr>Eurobank Sans Light</vt:lpstr>
      <vt:lpstr>Georgia</vt:lpstr>
      <vt:lpstr>Times New Roman</vt:lpstr>
      <vt:lpstr>Wingdings</vt:lpstr>
      <vt:lpstr>Office Theme</vt:lpstr>
      <vt:lpstr>PowerPoint Presentation</vt:lpstr>
      <vt:lpstr>Executive summary</vt:lpstr>
      <vt:lpstr>1 | Strong position in Retail Auto Loans, capturing ~27%                            of value generated, yet only ~8% of the total market </vt:lpstr>
      <vt:lpstr>1i | The Greek auto finance value pool is expected to increase by 50%, reaching ~380M€ in RAR by 2030</vt:lpstr>
      <vt:lpstr>2 | Decline in auto loan applications and booking rate,                leading to ~10pp drop in MS since ’21 (Mainly due to Used cars)</vt:lpstr>
      <vt:lpstr>2i | MS decrease largely driven by tighter credit policy                       and lack of competitive B2B financing.</vt:lpstr>
      <vt:lpstr>3 | Risk Governance Framework in a B2B  Auto Finance Environment</vt:lpstr>
      <vt:lpstr>4 | Four strategic initiatives to be launched  in line with the vision</vt:lpstr>
      <vt:lpstr>4i | Initiatives to deliver 30-40M€ of incremental RAR  in addition to 5M€ from market growth</vt:lpstr>
      <vt:lpstr>5 | Winning requires dedicated value stream, repossession capabilities, enhanced credit policy, targeted investments.</vt:lpstr>
      <vt:lpstr>6 | Potential journey, leveraging external partners across   the value chain</vt:lpstr>
      <vt:lpstr>8i | Potential journey for ERB leveraging external partners across  the value chain</vt:lpstr>
      <vt:lpstr>8 | How the next 6-8 months look like</vt:lpstr>
      <vt:lpstr>PowerPoint Presentation</vt:lpstr>
      <vt:lpstr>PowerPoint Presentation</vt:lpstr>
      <vt:lpstr>PowerPoint Presentation</vt:lpstr>
      <vt:lpstr>PowerPoint Presentation</vt:lpstr>
      <vt:lpstr>| Overall program to generate additional 25-35M€ PBT in 2030</vt:lpstr>
      <vt:lpstr>| Initiatives to deliver 170-200M€ of additional disbursements by 2030</vt:lpstr>
      <vt:lpstr>| Large European banks have already established successful  repossession through partnership</vt:lpstr>
      <vt:lpstr>| Repossession: diversified remarketing engine to maximize value</vt:lpstr>
      <vt:lpstr>| Unlocking repossession value through fast recovery, strong</vt:lpstr>
      <vt:lpstr>| Deep dive on potential Partners – Preliminary assessment</vt:lpstr>
      <vt:lpstr>| Creating a dedicated auto finance value stream can enable  focus, accountability, and growth</vt:lpstr>
      <vt:lpstr>| Dedicated value stream requires ~13 additional FTEs to start</vt:lpstr>
      <vt:lpstr>| Targeted €4-6M IT investment enables competitiveness,  leasing expansion, and digital scale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Pouloupatis Vassileios</dc:creator>
  <cp:lastModifiedBy>Pouloupatis Vassileios</cp:lastModifiedBy>
  <cp:revision>179</cp:revision>
  <dcterms:created xsi:type="dcterms:W3CDTF">2026-02-09T11:31:23Z</dcterms:created>
  <dcterms:modified xsi:type="dcterms:W3CDTF">2026-07-06T06:20:50Z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2025-12-02T00:00:00Z</vt:filetime>
  </property>
  <property fmtid="{D5CDD505-2E9C-101B-9397-08002B2CF9AE}" pid="3" name="LastSaved">
    <vt:filetime>2026-02-09T00:00:00Z</vt:filetime>
  </property>
</Properties>
</file>