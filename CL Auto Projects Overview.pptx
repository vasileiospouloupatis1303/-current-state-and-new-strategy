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530" r:id="rId2"/>
    <p:sldId id="529" r:id="rId3"/>
    <p:sldId id="531" r:id="rId4"/>
  </p:sldIdLst>
  <p:sldSz cx="12192000" cy="6858000"/>
  <p:notesSz cx="6858000" cy="9144000"/>
  <p:defaultTextStyle>
    <a:defPPr>
      <a:defRPr lang="el-G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l-G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69751B-C0C7-452E-AE07-830EF4ED3CAC}" type="datetimeFigureOut">
              <a:rPr lang="el-GR" smtClean="0"/>
              <a:t>17/7/2025</a:t>
            </a:fld>
            <a:endParaRPr lang="el-G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l-G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l-G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F80FC4-BD32-4AC0-AE4F-89A0F3951019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6125262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4E0172-A2D2-233F-6991-14008EB56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D8D53E-FDFA-A489-5B3B-C43D101C07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3882E5-8D86-BFAC-411F-3CCB09A98B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6B7F5B-F156-BD13-BCD3-80C76D11D7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319422-5329-40D0-A419-5FC3F4452515}" type="slidenum">
              <a:rPr kumimoji="0" lang="el-G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l-G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91295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2479F1-9CCD-580C-F723-535B46244A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302473-1551-032D-31E1-8EC48C8375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69072C-12D3-7CF9-F701-1273419FD5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2C3B8B-86D3-F1B5-89E4-8D89EA163F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319422-5329-40D0-A419-5FC3F4452515}" type="slidenum">
              <a:rPr kumimoji="0" lang="el-G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l-G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766931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9BF3C2-E952-4E33-9395-E01A1D321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F51F44-5B91-C993-1A53-3B19E87D55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ADB085-2D33-7488-2561-6196A1E323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3B2201-87FB-510F-731E-7BE7D41F1A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319422-5329-40D0-A419-5FC3F4452515}" type="slidenum">
              <a:rPr kumimoji="0" lang="el-G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l-G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286214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4C5AC-3552-8488-EB70-163548ADA1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ADCF08-01FE-2E34-ED30-E874E6E78B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l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6865AA-DA45-F535-CE38-654532F99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F3FBE-D952-4540-B02E-70FDC6FDCBE6}" type="datetimeFigureOut">
              <a:rPr lang="el-GR" smtClean="0"/>
              <a:t>17/7/2025</a:t>
            </a:fld>
            <a:endParaRPr lang="el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2EA83B-8658-D560-F855-C4753AAEB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2D6301-7DB8-4924-450D-572C0E270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C8413-7AFB-492B-ADCB-F8B6A74886D3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41907353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BCF969-4ABE-D519-1EF0-9CCA04587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BE4D48-1B2F-A05A-D9AF-E91C84652E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1FA486-A814-9BD2-7A4C-F33917FEA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F3FBE-D952-4540-B02E-70FDC6FDCBE6}" type="datetimeFigureOut">
              <a:rPr lang="el-GR" smtClean="0"/>
              <a:t>17/7/2025</a:t>
            </a:fld>
            <a:endParaRPr lang="el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695E8E-252B-F5EC-4126-523EE3F97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DE36EB-5A88-18C6-4520-DBBB4ADF0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C8413-7AFB-492B-ADCB-F8B6A74886D3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6856319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1F94C-6B34-D6C5-28DD-54299D9B5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5231AA-DAD9-C28D-C6FC-6FEC4E5007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7FE229-4641-3C58-5B33-F0FB32596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F3FBE-D952-4540-B02E-70FDC6FDCBE6}" type="datetimeFigureOut">
              <a:rPr lang="el-GR" smtClean="0"/>
              <a:t>17/7/2025</a:t>
            </a:fld>
            <a:endParaRPr lang="el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C86790-43B3-B9DF-9481-76240C39A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864B0E-2E31-770E-BF52-030FA3737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C8413-7AFB-492B-ADCB-F8B6A74886D3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939960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6C34D-4923-0C56-8C3E-3307023154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459352-27EF-0F4C-6CBF-A2522C8A26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3900BF-36BC-C910-E47D-FC87E85A00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F2FE52-6758-FD66-D487-53A7965D1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F3FBE-D952-4540-B02E-70FDC6FDCBE6}" type="datetimeFigureOut">
              <a:rPr lang="el-GR" smtClean="0"/>
              <a:t>17/7/2025</a:t>
            </a:fld>
            <a:endParaRPr lang="el-G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1F18AE-9BE9-996B-18EB-9D07E0CA3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66E643-5D83-0B4B-B57B-2F0C13251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C8413-7AFB-492B-ADCB-F8B6A74886D3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9692620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38A2A-D6F4-8748-0AFE-DBB9BE1E4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97C5AC-95B2-A595-3F99-87EB58E458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290990-BA35-DF78-1BF6-6E3BEFB576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BB72AD-D609-7271-25D2-19DB4D8B0F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EFCEDD-08B9-4704-BA4E-F9A665D772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5B948A-F5DE-E6CF-F19B-5C10B9F7A7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F3FBE-D952-4540-B02E-70FDC6FDCBE6}" type="datetimeFigureOut">
              <a:rPr lang="el-GR" smtClean="0"/>
              <a:t>17/7/2025</a:t>
            </a:fld>
            <a:endParaRPr lang="el-G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9305BE-EB43-109F-996D-67BD1B427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710BF2-D38E-A1A7-748A-66C9FA0CA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C8413-7AFB-492B-ADCB-F8B6A74886D3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6771932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A9E35-C7B3-C31C-7E53-183EF6E9B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21FF31-C4B3-B2A7-4657-76E1774429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F3FBE-D952-4540-B02E-70FDC6FDCBE6}" type="datetimeFigureOut">
              <a:rPr lang="el-GR" smtClean="0"/>
              <a:t>17/7/2025</a:t>
            </a:fld>
            <a:endParaRPr lang="el-G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F3688F-5854-ED02-6AEF-1CE08163C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012FDB-EEA8-C4FC-B87D-139F00658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C8413-7AFB-492B-ADCB-F8B6A74886D3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059218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508739-75F7-68D0-0D65-F7830C056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F3FBE-D952-4540-B02E-70FDC6FDCBE6}" type="datetimeFigureOut">
              <a:rPr lang="el-GR" smtClean="0"/>
              <a:t>17/7/2025</a:t>
            </a:fld>
            <a:endParaRPr lang="el-G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AAD3F3-F401-FED6-1B1D-DA5774243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4B5539-7973-7A51-D488-ED9833C79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C8413-7AFB-492B-ADCB-F8B6A74886D3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0922235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97D0C-A9A6-CC34-AD86-7406B5850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DD5FE0-3FC1-E797-25C3-1159934C27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0CD4D4-BC85-1CD6-E291-4B4DDA52B8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53B61C-634D-4127-D832-933278576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F3FBE-D952-4540-B02E-70FDC6FDCBE6}" type="datetimeFigureOut">
              <a:rPr lang="el-GR" smtClean="0"/>
              <a:t>17/7/2025</a:t>
            </a:fld>
            <a:endParaRPr lang="el-G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943663-B866-5773-1973-A515739D8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BDB510-91F6-9066-4759-04DD1BBCA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C8413-7AFB-492B-ADCB-F8B6A74886D3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9098979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20611-5802-9BF1-8D53-9C7E392949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6E84328-D070-E21A-E3D8-8F1C6C329F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l-G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ECF69C-3DE0-BA61-8478-55D78E41C3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9CD95F-627C-3BC6-210C-091965C61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F3FBE-D952-4540-B02E-70FDC6FDCBE6}" type="datetimeFigureOut">
              <a:rPr lang="el-GR" smtClean="0"/>
              <a:t>17/7/2025</a:t>
            </a:fld>
            <a:endParaRPr lang="el-G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4DA0FF-FE7C-4979-9BC6-1C5CBE30B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449A06-5B21-261A-A061-AFE02011B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C8413-7AFB-492B-ADCB-F8B6A74886D3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4357061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85726-F25C-8E42-ABE6-5BFCB7D87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10B33C-3DFE-65AF-DC97-B25FD0B4BB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0B0C1-13FB-DEFF-B973-CA57024EE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F3FBE-D952-4540-B02E-70FDC6FDCBE6}" type="datetimeFigureOut">
              <a:rPr lang="el-GR" smtClean="0"/>
              <a:t>17/7/2025</a:t>
            </a:fld>
            <a:endParaRPr lang="el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D4FD22-FACC-58EC-ADD2-621ECB056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A67FAF-3CA5-AD61-7BA0-8DA291116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C8413-7AFB-492B-ADCB-F8B6A74886D3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3123230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A87C09-B1D3-3123-6D51-A5B778309A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4CAF12-05A6-1E73-D572-20D5B93811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347E5A-C1B0-BDF8-0A03-C67987A8F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F3FBE-D952-4540-B02E-70FDC6FDCBE6}" type="datetimeFigureOut">
              <a:rPr lang="el-GR" smtClean="0"/>
              <a:t>17/7/2025</a:t>
            </a:fld>
            <a:endParaRPr lang="el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BA1985-8FAE-34B0-0A9E-D7D3450AF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2F1C62-F1C2-7A8D-C1A5-090035D4E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C8413-7AFB-492B-ADCB-F8B6A74886D3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234766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rez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04800" y="246374"/>
            <a:ext cx="10113818" cy="471587"/>
          </a:xfrm>
          <a:prstGeom prst="rect">
            <a:avLst/>
          </a:prstGeom>
        </p:spPr>
        <p:txBody>
          <a:bodyPr/>
          <a:lstStyle>
            <a:lvl1pPr>
              <a:defRPr lang="en-US" sz="2000" b="1" i="0" spc="0" baseline="0" dirty="0">
                <a:solidFill>
                  <a:srgbClr val="021342"/>
                </a:solidFill>
                <a:latin typeface="Eurobank Sans" panose="02000503000000020004" pitchFamily="2" charset="0"/>
                <a:ea typeface="+mn-ea"/>
                <a:cs typeface="Averta Std PE Extrabold" pitchFamily="2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4" name="Slide_Number"/>
          <p:cNvSpPr txBox="1"/>
          <p:nvPr userDrawn="1"/>
        </p:nvSpPr>
        <p:spPr>
          <a:xfrm>
            <a:off x="11302314" y="6524368"/>
            <a:ext cx="733167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98B446DB-0502-4CDF-99C9-59ECDC31CDFC}" type="slidenum">
              <a:rPr lang="el-GR" sz="1300" smtClean="0">
                <a:solidFill>
                  <a:srgbClr val="808080"/>
                </a:solidFill>
                <a:latin typeface="Eurobank Sans" panose="02000503000000020004" pitchFamily="2" charset="0"/>
              </a:rPr>
              <a:pPr algn="r"/>
              <a:t>‹#›</a:t>
            </a:fld>
            <a:endParaRPr lang="el-GR" sz="1300">
              <a:solidFill>
                <a:srgbClr val="808080"/>
              </a:solidFill>
              <a:latin typeface="Eurobank Sans" panose="02000503000000020004" pitchFamily="2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6DD7620-D819-495C-8E08-87EBCBC04A9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03566"/>
            <a:ext cx="12204000" cy="61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99333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C81A8A-67C7-F5EA-75C7-3C50E2A81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9E24AE-97D0-44D0-A7F3-3DFCBA6D38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D700F2-33A3-57A8-240E-C45B05549B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DF3FBE-D952-4540-B02E-70FDC6FDCBE6}" type="datetimeFigureOut">
              <a:rPr lang="el-GR" smtClean="0"/>
              <a:t>17/7/2025</a:t>
            </a:fld>
            <a:endParaRPr lang="el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C4A756-434F-6166-D5D2-B4441B0929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l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C26C17-EBD5-3F53-8EE8-A8B17031B6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CC8413-7AFB-492B-ADCB-F8B6A74886D3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8437768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l-G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960321-D13E-B496-1903-341DE79EBB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A6642C00-D9AB-39FD-C385-EF671B8D1C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18" y="325974"/>
            <a:ext cx="10113818" cy="306475"/>
          </a:xfrm>
        </p:spPr>
        <p:txBody>
          <a:bodyPr>
            <a:normAutofit fontScale="90000"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CL Auto Projects Overview</a:t>
            </a:r>
            <a:endParaRPr lang="el-G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1A78E39-C80E-1454-287A-97DA00A79D0E}"/>
              </a:ext>
            </a:extLst>
          </p:cNvPr>
          <p:cNvSpPr/>
          <p:nvPr/>
        </p:nvSpPr>
        <p:spPr>
          <a:xfrm>
            <a:off x="2856271" y="3429000"/>
            <a:ext cx="6479458" cy="2669129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marL="342900" lvl="0" indent="-342900" algn="ctr">
              <a:lnSpc>
                <a:spcPct val="115000"/>
              </a:lnSpc>
              <a:buFont typeface="Wingdings" panose="05000000000000000000" pitchFamily="2" charset="2"/>
              <a:buChar char="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Digital Lending</a:t>
            </a:r>
            <a:endParaRPr lang="el-GR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 algn="ctr">
              <a:lnSpc>
                <a:spcPct val="115000"/>
              </a:lnSpc>
              <a:buFont typeface="Wingdings" panose="05000000000000000000" pitchFamily="2" charset="2"/>
              <a:buChar char="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Asset Management</a:t>
            </a:r>
            <a:endParaRPr lang="el-GR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 algn="ctr">
              <a:lnSpc>
                <a:spcPct val="115000"/>
              </a:lnSpc>
              <a:buFont typeface="Wingdings" panose="05000000000000000000" pitchFamily="2" charset="2"/>
              <a:buChar char="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New financing solution</a:t>
            </a:r>
            <a:endParaRPr lang="el-GR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 algn="ctr">
              <a:lnSpc>
                <a:spcPct val="115000"/>
              </a:lnSpc>
              <a:buFont typeface="Wingdings" panose="05000000000000000000" pitchFamily="2" charset="2"/>
              <a:buChar char="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Leasing business</a:t>
            </a:r>
            <a:endParaRPr lang="el-GR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6241B3F-6A7D-0F6E-FDE4-FEE52D207A4C}"/>
              </a:ext>
            </a:extLst>
          </p:cNvPr>
          <p:cNvSpPr/>
          <p:nvPr/>
        </p:nvSpPr>
        <p:spPr>
          <a:xfrm>
            <a:off x="2842417" y="1425677"/>
            <a:ext cx="6507167" cy="1445342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Creates a strategic moat by embedding the bank deeper in the </a:t>
            </a: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mobility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ecosystem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C75985C-085F-1FF4-7C4C-2419E13C8728}"/>
              </a:ext>
            </a:extLst>
          </p:cNvPr>
          <p:cNvSpPr txBox="1"/>
          <p:nvPr/>
        </p:nvSpPr>
        <p:spPr>
          <a:xfrm>
            <a:off x="3040626" y="3429000"/>
            <a:ext cx="61107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i="0" u="none" strike="noStrike" baseline="0" dirty="0">
                <a:latin typeface="Arial" panose="020B0604020202020204" pitchFamily="34" charset="0"/>
              </a:rPr>
              <a:t>Growth Areas</a:t>
            </a:r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41039083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4D73C-8D71-41D1-13DA-450EFACB94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BFF4DA48-5FC9-B636-ABE9-251A344D5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18" y="325974"/>
            <a:ext cx="10113818" cy="306475"/>
          </a:xfrm>
        </p:spPr>
        <p:txBody>
          <a:bodyPr>
            <a:normAutofit fontScale="90000"/>
          </a:bodyPr>
          <a:lstStyle/>
          <a:p>
            <a:r>
              <a:rPr lang="en-US" sz="16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CL Auto Projects Overview</a:t>
            </a:r>
            <a:endParaRPr lang="el-GR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34E3A7-E11F-822D-7B75-8BABEC6AA0BA}"/>
              </a:ext>
            </a:extLst>
          </p:cNvPr>
          <p:cNvSpPr txBox="1"/>
          <p:nvPr/>
        </p:nvSpPr>
        <p:spPr>
          <a:xfrm>
            <a:off x="117988" y="674629"/>
            <a:ext cx="714805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1. Digital Lending Expansion (B2C, C2C, D2C) – Strategic Initiative </a:t>
            </a:r>
          </a:p>
          <a:p>
            <a:endParaRPr lang="en-US" sz="1200" b="1" dirty="0"/>
          </a:p>
          <a:p>
            <a:r>
              <a:rPr lang="en-US" sz="1200" b="1" dirty="0"/>
              <a:t>Goal:</a:t>
            </a:r>
            <a:r>
              <a:rPr lang="en-US" sz="1200" dirty="0"/>
              <a:t> Enable loan journeys (fully digital or not) across all digital channels (3rd parties / ERB’s): </a:t>
            </a:r>
          </a:p>
          <a:p>
            <a:r>
              <a:rPr lang="en-US" sz="1200" dirty="0"/>
              <a:t>1. Presence in 3rd-party marketplaces (car.gr, cardom), offering financing solutions (car loan / cash loan)</a:t>
            </a:r>
          </a:p>
          <a:p>
            <a:r>
              <a:rPr lang="en-US" sz="1200" dirty="0"/>
              <a:t>2. Utilize are existing digital channels for a direct-cash-auto-loan to the end consumer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D9F6312-FC00-4865-1ED4-8D0571CC44BA}"/>
              </a:ext>
            </a:extLst>
          </p:cNvPr>
          <p:cNvSpPr txBox="1"/>
          <p:nvPr/>
        </p:nvSpPr>
        <p:spPr>
          <a:xfrm>
            <a:off x="7266039" y="713100"/>
            <a:ext cx="4925961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dirty="0"/>
              <a:t>Business Impact:</a:t>
            </a:r>
          </a:p>
          <a:p>
            <a:r>
              <a:rPr lang="en-US" sz="1100" dirty="0"/>
              <a:t>broader reach, seamless customer acquisition, scalable /low-cost onboarding</a:t>
            </a:r>
          </a:p>
          <a:p>
            <a:r>
              <a:rPr lang="en-US" sz="1100" b="1" dirty="0"/>
              <a:t>Financial Impact 2030: </a:t>
            </a:r>
          </a:p>
          <a:p>
            <a:r>
              <a:rPr lang="en-US" sz="1100" dirty="0"/>
              <a:t>3rd party marketplaces = c.€3m – Incremental RAR</a:t>
            </a:r>
          </a:p>
          <a:p>
            <a:r>
              <a:rPr lang="en-US" sz="1100" dirty="0"/>
              <a:t>ERB’s digital channels = c.€2m – Incremental RAR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C14CC2-D552-0B32-E905-9CC614964ECD}"/>
              </a:ext>
            </a:extLst>
          </p:cNvPr>
          <p:cNvSpPr txBox="1"/>
          <p:nvPr/>
        </p:nvSpPr>
        <p:spPr>
          <a:xfrm>
            <a:off x="117988" y="1702964"/>
            <a:ext cx="714805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2. Asset Management – Strategic Initiative (for car loans and leases)</a:t>
            </a:r>
          </a:p>
          <a:p>
            <a:endParaRPr lang="en-US" sz="1200" dirty="0"/>
          </a:p>
          <a:p>
            <a:r>
              <a:rPr lang="en-US" sz="1200" b="1" dirty="0"/>
              <a:t>Goal</a:t>
            </a:r>
            <a:r>
              <a:rPr lang="en-US" sz="1200" dirty="0"/>
              <a:t>: Strengthen asset lifecycle control, profitability and portfolio quality:</a:t>
            </a:r>
          </a:p>
          <a:p>
            <a:r>
              <a:rPr lang="en-US" sz="1200" dirty="0"/>
              <a:t>1. Reporting the financial impact of lease agreements on company’s books</a:t>
            </a:r>
          </a:p>
          <a:p>
            <a:r>
              <a:rPr lang="en-US" sz="1200" dirty="0"/>
              <a:t>2. Re-activate or enhance the SLA with doValue for the repossession service.</a:t>
            </a:r>
          </a:p>
          <a:p>
            <a:r>
              <a:rPr lang="en-US" sz="1200" dirty="0"/>
              <a:t>3. Connect with digital channels to re-market the repossessed assets &amp; phase #2 our own marketplace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B0BB38D-D857-2305-0F36-7B5475BF5658}"/>
              </a:ext>
            </a:extLst>
          </p:cNvPr>
          <p:cNvSpPr txBox="1"/>
          <p:nvPr/>
        </p:nvSpPr>
        <p:spPr>
          <a:xfrm>
            <a:off x="7266038" y="1765575"/>
            <a:ext cx="492596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dirty="0"/>
              <a:t>Business Impact:</a:t>
            </a:r>
          </a:p>
          <a:p>
            <a:r>
              <a:rPr lang="en-US" sz="1100" dirty="0"/>
              <a:t>Increase in approvals, competitive product pricing, decreased CoR.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CCFB09C-29E5-AB4F-4318-C58E73C4BEDE}"/>
              </a:ext>
            </a:extLst>
          </p:cNvPr>
          <p:cNvSpPr txBox="1"/>
          <p:nvPr/>
        </p:nvSpPr>
        <p:spPr>
          <a:xfrm>
            <a:off x="117988" y="2942150"/>
            <a:ext cx="714805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3. New Product Development – Strategic Initiative (for car loans and leases)</a:t>
            </a:r>
          </a:p>
          <a:p>
            <a:r>
              <a:rPr lang="en-US" sz="1200" b="1" dirty="0"/>
              <a:t> </a:t>
            </a:r>
          </a:p>
          <a:p>
            <a:r>
              <a:rPr lang="en-US" sz="1200" b="1" dirty="0"/>
              <a:t>3a. Balloon financing for used cars – Strategic Initiative</a:t>
            </a:r>
          </a:p>
          <a:p>
            <a:endParaRPr lang="en-US" sz="1200" b="1" dirty="0"/>
          </a:p>
          <a:p>
            <a:r>
              <a:rPr lang="en-US" sz="1200" b="1" dirty="0"/>
              <a:t>Goal</a:t>
            </a:r>
            <a:r>
              <a:rPr lang="en-US" sz="1200" dirty="0"/>
              <a:t>: decrease in rejections, driven by lower monthly installments that improve DTI ratios</a:t>
            </a:r>
            <a:r>
              <a:rPr lang="en-US" sz="1200" dirty="0">
                <a:solidFill>
                  <a:srgbClr val="FF0000"/>
                </a:solidFill>
              </a:rPr>
              <a:t>*</a:t>
            </a:r>
          </a:p>
          <a:p>
            <a:r>
              <a:rPr lang="en-US" sz="1200" dirty="0"/>
              <a:t>1. Launch ballon financing for used cars (dealers’ buy-back agreement)</a:t>
            </a:r>
          </a:p>
          <a:p>
            <a:r>
              <a:rPr lang="en-US" sz="1200" dirty="0">
                <a:solidFill>
                  <a:srgbClr val="FF0000"/>
                </a:solidFill>
              </a:rPr>
              <a:t>*</a:t>
            </a:r>
            <a:r>
              <a:rPr lang="en-US" sz="1200" dirty="0"/>
              <a:t> Car considered as collateral via dealer buyback agreement, customer DTI assessed excluding balloon payment</a:t>
            </a:r>
          </a:p>
          <a:p>
            <a:endParaRPr lang="en-US" sz="12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5600637-02CF-0682-1084-B4EEDF15C02F}"/>
              </a:ext>
            </a:extLst>
          </p:cNvPr>
          <p:cNvSpPr txBox="1"/>
          <p:nvPr/>
        </p:nvSpPr>
        <p:spPr>
          <a:xfrm>
            <a:off x="7266039" y="3332173"/>
            <a:ext cx="492596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dirty="0"/>
              <a:t>Business Impact:</a:t>
            </a:r>
          </a:p>
          <a:p>
            <a:r>
              <a:rPr lang="en-US" sz="1100" dirty="0"/>
              <a:t>Enhance the overall value proposition and boost competitiveness.</a:t>
            </a:r>
          </a:p>
          <a:p>
            <a:r>
              <a:rPr lang="en-US" sz="1100" b="1" dirty="0"/>
              <a:t>Financial Impact 2030: </a:t>
            </a:r>
          </a:p>
          <a:p>
            <a:r>
              <a:rPr lang="en-US" sz="1100" dirty="0"/>
              <a:t>c.€1m – Incremental RAR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9528D18-B965-7AF4-1F07-5C18C43BBECA}"/>
              </a:ext>
            </a:extLst>
          </p:cNvPr>
          <p:cNvSpPr txBox="1"/>
          <p:nvPr/>
        </p:nvSpPr>
        <p:spPr>
          <a:xfrm>
            <a:off x="117987" y="4526311"/>
            <a:ext cx="610583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3b. Customer good behavior interest incentive</a:t>
            </a:r>
          </a:p>
          <a:p>
            <a:endParaRPr lang="en-US" sz="1200" b="1" dirty="0"/>
          </a:p>
          <a:p>
            <a:r>
              <a:rPr lang="en-US" sz="1200" b="1" dirty="0"/>
              <a:t>Goal</a:t>
            </a:r>
            <a:r>
              <a:rPr lang="en-US" sz="1200" dirty="0"/>
              <a:t>: Incentivize and reward customers for consistent positive transaction behavior</a:t>
            </a:r>
          </a:p>
          <a:p>
            <a:r>
              <a:rPr lang="en-US" sz="1200" dirty="0"/>
              <a:t>1. Development of functionality through which the customer's good transaction behavior will be rewarded every 12 months, with an interest rate reduction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9812BF5-E501-5F74-2FE5-845DD6659032}"/>
              </a:ext>
            </a:extLst>
          </p:cNvPr>
          <p:cNvSpPr txBox="1"/>
          <p:nvPr/>
        </p:nvSpPr>
        <p:spPr>
          <a:xfrm>
            <a:off x="7266038" y="4566730"/>
            <a:ext cx="4925961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dirty="0"/>
              <a:t>Business Impact: </a:t>
            </a:r>
          </a:p>
          <a:p>
            <a:r>
              <a:rPr lang="en-US" sz="1100" dirty="0"/>
              <a:t>Sustained positive transaction behavior, leading to increased customer retention and increased portfolio health.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1024F82-6898-0F30-1BAC-894074556831}"/>
              </a:ext>
            </a:extLst>
          </p:cNvPr>
          <p:cNvSpPr txBox="1"/>
          <p:nvPr/>
        </p:nvSpPr>
        <p:spPr>
          <a:xfrm>
            <a:off x="117987" y="5544118"/>
            <a:ext cx="714805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3c. Merchant-Backed Low-Start Financing</a:t>
            </a:r>
          </a:p>
          <a:p>
            <a:endParaRPr lang="en-US" sz="1200" dirty="0"/>
          </a:p>
          <a:p>
            <a:r>
              <a:rPr lang="en-US" sz="1200" b="1" dirty="0"/>
              <a:t>Goal</a:t>
            </a:r>
            <a:r>
              <a:rPr lang="en-US" sz="1200" dirty="0"/>
              <a:t>: Improving customer affordability and accelerating loan adoption without increasing financial risk</a:t>
            </a:r>
          </a:p>
          <a:p>
            <a:r>
              <a:rPr lang="en-US" sz="1200" dirty="0"/>
              <a:t>1. Functionality development, the main feature of which is the low initial installment, with simultaneous compensation of the Bank by the merchant due to the application of a reduced interest rate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41593B5-83D2-3E1D-CE2C-2AFC10980818}"/>
              </a:ext>
            </a:extLst>
          </p:cNvPr>
          <p:cNvSpPr txBox="1"/>
          <p:nvPr/>
        </p:nvSpPr>
        <p:spPr>
          <a:xfrm>
            <a:off x="7266039" y="5555626"/>
            <a:ext cx="4925961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dirty="0"/>
              <a:t>Business Impact: </a:t>
            </a:r>
          </a:p>
          <a:p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Increased loan uptake / customer acquisition. enhances competitive positioning.</a:t>
            </a:r>
            <a:endParaRPr lang="en-US" sz="110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B1B3471-C408-77B6-2A9C-9F200EE41E73}"/>
              </a:ext>
            </a:extLst>
          </p:cNvPr>
          <p:cNvSpPr/>
          <p:nvPr/>
        </p:nvSpPr>
        <p:spPr>
          <a:xfrm>
            <a:off x="58995" y="713100"/>
            <a:ext cx="12074012" cy="987720"/>
          </a:xfrm>
          <a:prstGeom prst="rect">
            <a:avLst/>
          </a:prstGeom>
          <a:noFill/>
          <a:ln w="19050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30E4A35-D0BC-197B-DC26-829887EB7925}"/>
              </a:ext>
            </a:extLst>
          </p:cNvPr>
          <p:cNvSpPr/>
          <p:nvPr/>
        </p:nvSpPr>
        <p:spPr>
          <a:xfrm>
            <a:off x="58995" y="1750388"/>
            <a:ext cx="12074012" cy="1191762"/>
          </a:xfrm>
          <a:prstGeom prst="rect">
            <a:avLst/>
          </a:prstGeom>
          <a:noFill/>
          <a:ln w="19050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AC0810C-C8B2-3A9F-BA38-8F644E5300C9}"/>
              </a:ext>
            </a:extLst>
          </p:cNvPr>
          <p:cNvSpPr/>
          <p:nvPr/>
        </p:nvSpPr>
        <p:spPr>
          <a:xfrm>
            <a:off x="58994" y="2986961"/>
            <a:ext cx="12074012" cy="3572819"/>
          </a:xfrm>
          <a:prstGeom prst="rect">
            <a:avLst/>
          </a:prstGeom>
          <a:noFill/>
          <a:ln w="19050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pic>
        <p:nvPicPr>
          <p:cNvPr id="36" name="Graphic 35" descr="Chevron arrows with solid fill">
            <a:extLst>
              <a:ext uri="{FF2B5EF4-FFF2-40B4-BE49-F238E27FC236}">
                <a16:creationId xmlns:a16="http://schemas.microsoft.com/office/drawing/2014/main" id="{A7F3B387-8ECF-99ED-57BB-2F0FBF866B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67832" y="759022"/>
            <a:ext cx="457200" cy="207531"/>
          </a:xfrm>
          <a:prstGeom prst="rect">
            <a:avLst/>
          </a:prstGeom>
        </p:spPr>
      </p:pic>
      <p:pic>
        <p:nvPicPr>
          <p:cNvPr id="37" name="Graphic 36" descr="Chevron arrows with solid fill">
            <a:extLst>
              <a:ext uri="{FF2B5EF4-FFF2-40B4-BE49-F238E27FC236}">
                <a16:creationId xmlns:a16="http://schemas.microsoft.com/office/drawing/2014/main" id="{79A82C8B-1251-D732-EB11-A169907679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67832" y="1786920"/>
            <a:ext cx="457200" cy="207531"/>
          </a:xfrm>
          <a:prstGeom prst="rect">
            <a:avLst/>
          </a:prstGeom>
        </p:spPr>
      </p:pic>
      <p:pic>
        <p:nvPicPr>
          <p:cNvPr id="38" name="Graphic 37" descr="Chevron arrows with solid fill">
            <a:extLst>
              <a:ext uri="{FF2B5EF4-FFF2-40B4-BE49-F238E27FC236}">
                <a16:creationId xmlns:a16="http://schemas.microsoft.com/office/drawing/2014/main" id="{5C3E111F-C027-4D87-30FB-AA83AD2E9A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28503" y="3367383"/>
            <a:ext cx="457200" cy="207531"/>
          </a:xfrm>
          <a:prstGeom prst="rect">
            <a:avLst/>
          </a:prstGeom>
        </p:spPr>
      </p:pic>
      <p:pic>
        <p:nvPicPr>
          <p:cNvPr id="39" name="Graphic 38" descr="Chevron arrows with solid fill">
            <a:extLst>
              <a:ext uri="{FF2B5EF4-FFF2-40B4-BE49-F238E27FC236}">
                <a16:creationId xmlns:a16="http://schemas.microsoft.com/office/drawing/2014/main" id="{508033E5-8FD8-B3AC-712D-E59B9BEA31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67832" y="4598499"/>
            <a:ext cx="457200" cy="207531"/>
          </a:xfrm>
          <a:prstGeom prst="rect">
            <a:avLst/>
          </a:prstGeom>
        </p:spPr>
      </p:pic>
      <p:pic>
        <p:nvPicPr>
          <p:cNvPr id="40" name="Graphic 39" descr="Chevron arrows with solid fill">
            <a:extLst>
              <a:ext uri="{FF2B5EF4-FFF2-40B4-BE49-F238E27FC236}">
                <a16:creationId xmlns:a16="http://schemas.microsoft.com/office/drawing/2014/main" id="{D4604DF9-5A3D-6E37-BBD5-9AFA7A569F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87496" y="5584526"/>
            <a:ext cx="457200" cy="207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81834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0CBA50-B2FD-E33F-2C05-668AE5637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27599456-782D-371D-35CE-A7599D55C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18" y="325974"/>
            <a:ext cx="10113818" cy="306475"/>
          </a:xfrm>
        </p:spPr>
        <p:txBody>
          <a:bodyPr>
            <a:normAutofit fontScale="90000"/>
          </a:bodyPr>
          <a:lstStyle/>
          <a:p>
            <a:r>
              <a:rPr lang="en-US" sz="16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CL Auto Projects Overview</a:t>
            </a:r>
            <a:endParaRPr lang="el-GR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23AFF2-15CE-BD99-541B-C4E7B138E24A}"/>
              </a:ext>
            </a:extLst>
          </p:cNvPr>
          <p:cNvSpPr txBox="1"/>
          <p:nvPr/>
        </p:nvSpPr>
        <p:spPr>
          <a:xfrm>
            <a:off x="117988" y="674629"/>
            <a:ext cx="714805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4. Financial &amp; Operating Leasing (Individuals &amp; SMEs) – Strategic Initiative</a:t>
            </a:r>
            <a:endParaRPr lang="el-GR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en-US" sz="1200" b="1" dirty="0"/>
          </a:p>
          <a:p>
            <a:endParaRPr lang="en-US" sz="1200" b="1" dirty="0"/>
          </a:p>
          <a:p>
            <a:r>
              <a:rPr lang="en-US" sz="1200" b="1" dirty="0"/>
              <a:t>Goal:</a:t>
            </a:r>
            <a:r>
              <a:rPr lang="en-US" sz="1200" dirty="0"/>
              <a:t> Develop branded leasing propositions through dealers.</a:t>
            </a:r>
          </a:p>
          <a:p>
            <a:endParaRPr lang="en-US" sz="1200" dirty="0"/>
          </a:p>
          <a:p>
            <a:r>
              <a:rPr lang="en-US" sz="1200" b="1" dirty="0"/>
              <a:t>Scope</a:t>
            </a:r>
            <a:r>
              <a:rPr lang="en-US" sz="1200" dirty="0"/>
              <a:t>: Includes product devel., dealer contracts, RV/pricing models, risk frameworks, system integration.</a:t>
            </a:r>
          </a:p>
          <a:p>
            <a:endParaRPr lang="en-US" sz="1200" dirty="0"/>
          </a:p>
          <a:p>
            <a:r>
              <a:rPr lang="en-US" sz="1200" b="1" dirty="0"/>
              <a:t>Synergies</a:t>
            </a:r>
            <a:r>
              <a:rPr lang="en-US" sz="1200" dirty="0"/>
              <a:t>: Leverages dealer ecosystems and supports full value chain monetization.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A105791-78E6-7915-0975-E3B5073515C9}"/>
              </a:ext>
            </a:extLst>
          </p:cNvPr>
          <p:cNvSpPr txBox="1"/>
          <p:nvPr/>
        </p:nvSpPr>
        <p:spPr>
          <a:xfrm>
            <a:off x="7266039" y="713100"/>
            <a:ext cx="4925961" cy="24048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dirty="0"/>
              <a:t>Business Impact:</a:t>
            </a:r>
          </a:p>
          <a:p>
            <a:r>
              <a:rPr lang="en-US" sz="1100" dirty="0"/>
              <a:t>Opens new income streams, deepens partnerships with dealers via co-branded offers and shared revenue models, creates a strategic moat by embedding ERB deeper in the mobility ecosystem.</a:t>
            </a:r>
          </a:p>
          <a:p>
            <a:r>
              <a:rPr lang="en-US" sz="1100" b="1" dirty="0"/>
              <a:t>Financial Impact 2030: 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Scenario #1 - Start with financial leasing and progressively build an operating lease offering: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endParaRPr lang="en-US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Scenario #2 - Kick-start with both financial and operating lease focusing on individuals: </a:t>
            </a:r>
            <a:endParaRPr lang="el-GR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endParaRPr lang="el-GR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A black and white rectangular object with numbers&#10;&#10;AI-generated content may be incorrect.">
            <a:extLst>
              <a:ext uri="{FF2B5EF4-FFF2-40B4-BE49-F238E27FC236}">
                <a16:creationId xmlns:a16="http://schemas.microsoft.com/office/drawing/2014/main" id="{3FBA796A-CED8-4291-C7A5-707964EB03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1867" y="1895648"/>
            <a:ext cx="1920240" cy="438150"/>
          </a:xfrm>
          <a:prstGeom prst="rect">
            <a:avLst/>
          </a:prstGeom>
        </p:spPr>
      </p:pic>
      <p:pic>
        <p:nvPicPr>
          <p:cNvPr id="3" name="Picture 2" descr="A black numbers and a white background&#10;&#10;AI-generated content may be incorrect.">
            <a:extLst>
              <a:ext uri="{FF2B5EF4-FFF2-40B4-BE49-F238E27FC236}">
                <a16:creationId xmlns:a16="http://schemas.microsoft.com/office/drawing/2014/main" id="{A0D0D659-334E-6052-481D-92FA4D75BB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3708" y="2620318"/>
            <a:ext cx="1874520" cy="417830"/>
          </a:xfrm>
          <a:prstGeom prst="rect">
            <a:avLst/>
          </a:prstGeom>
        </p:spPr>
      </p:pic>
      <p:pic>
        <p:nvPicPr>
          <p:cNvPr id="4" name="Graphic 3" descr="Chevron arrows with solid fill">
            <a:extLst>
              <a:ext uri="{FF2B5EF4-FFF2-40B4-BE49-F238E27FC236}">
                <a16:creationId xmlns:a16="http://schemas.microsoft.com/office/drawing/2014/main" id="{0CF8E37B-114E-77D6-2966-794DD7C9278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808839" y="758002"/>
            <a:ext cx="457200" cy="20753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D4FD341-3845-3061-4743-B80361B6BE54}"/>
              </a:ext>
            </a:extLst>
          </p:cNvPr>
          <p:cNvSpPr/>
          <p:nvPr/>
        </p:nvSpPr>
        <p:spPr>
          <a:xfrm>
            <a:off x="58995" y="713099"/>
            <a:ext cx="12074012" cy="2404889"/>
          </a:xfrm>
          <a:prstGeom prst="rect">
            <a:avLst/>
          </a:prstGeom>
          <a:noFill/>
          <a:ln w="19050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7900446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1332</TotalTime>
  <Words>580</Words>
  <Application>Microsoft Office PowerPoint</Application>
  <PresentationFormat>Widescreen</PresentationFormat>
  <Paragraphs>67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Aptos</vt:lpstr>
      <vt:lpstr>Aptos Display</vt:lpstr>
      <vt:lpstr>Arial</vt:lpstr>
      <vt:lpstr>Calibri</vt:lpstr>
      <vt:lpstr>Eurobank Sans</vt:lpstr>
      <vt:lpstr>Wingdings</vt:lpstr>
      <vt:lpstr>Office Theme</vt:lpstr>
      <vt:lpstr>CL Auto Projects Overview</vt:lpstr>
      <vt:lpstr>CL Auto Projects Overview</vt:lpstr>
      <vt:lpstr>CL Auto Projects Overview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Pouloupatis Vassileios</dc:creator>
  <cp:lastModifiedBy>Pouloupatis Vassileios</cp:lastModifiedBy>
  <cp:revision>18</cp:revision>
  <dcterms:created xsi:type="dcterms:W3CDTF">2025-07-17T12:30:14Z</dcterms:created>
  <dcterms:modified xsi:type="dcterms:W3CDTF">2025-07-18T10:42:37Z</dcterms:modified>
</cp:coreProperties>
</file>